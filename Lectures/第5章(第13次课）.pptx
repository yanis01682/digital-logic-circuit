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115"/>
  </p:handoutMasterIdLst>
  <p:sldIdLst>
    <p:sldId id="612" r:id="rId3"/>
    <p:sldId id="961" r:id="rId4"/>
    <p:sldId id="836" r:id="rId5"/>
    <p:sldId id="837" r:id="rId7"/>
    <p:sldId id="838" r:id="rId8"/>
    <p:sldId id="839" r:id="rId9"/>
    <p:sldId id="840" r:id="rId10"/>
    <p:sldId id="841" r:id="rId11"/>
    <p:sldId id="842" r:id="rId12"/>
    <p:sldId id="843" r:id="rId13"/>
    <p:sldId id="844" r:id="rId14"/>
    <p:sldId id="845" r:id="rId15"/>
    <p:sldId id="846" r:id="rId16"/>
    <p:sldId id="847" r:id="rId17"/>
    <p:sldId id="848" r:id="rId18"/>
    <p:sldId id="849" r:id="rId19"/>
    <p:sldId id="850" r:id="rId20"/>
    <p:sldId id="851" r:id="rId21"/>
    <p:sldId id="852" r:id="rId22"/>
    <p:sldId id="853" r:id="rId23"/>
    <p:sldId id="854" r:id="rId24"/>
    <p:sldId id="855" r:id="rId25"/>
    <p:sldId id="963" r:id="rId26"/>
    <p:sldId id="964" r:id="rId27"/>
    <p:sldId id="965" r:id="rId28"/>
    <p:sldId id="966" r:id="rId29"/>
    <p:sldId id="967" r:id="rId30"/>
    <p:sldId id="856" r:id="rId31"/>
    <p:sldId id="857" r:id="rId32"/>
    <p:sldId id="858" r:id="rId33"/>
    <p:sldId id="859" r:id="rId34"/>
    <p:sldId id="860" r:id="rId35"/>
    <p:sldId id="861" r:id="rId36"/>
    <p:sldId id="862" r:id="rId37"/>
    <p:sldId id="863" r:id="rId38"/>
    <p:sldId id="864" r:id="rId39"/>
    <p:sldId id="866" r:id="rId40"/>
    <p:sldId id="865" r:id="rId41"/>
    <p:sldId id="867" r:id="rId42"/>
    <p:sldId id="868" r:id="rId43"/>
    <p:sldId id="525" r:id="rId44"/>
    <p:sldId id="385" r:id="rId45"/>
    <p:sldId id="386" r:id="rId46"/>
    <p:sldId id="526" r:id="rId47"/>
    <p:sldId id="644" r:id="rId48"/>
    <p:sldId id="654" r:id="rId49"/>
    <p:sldId id="655" r:id="rId50"/>
    <p:sldId id="657" r:id="rId51"/>
    <p:sldId id="659" r:id="rId52"/>
    <p:sldId id="408" r:id="rId53"/>
    <p:sldId id="409" r:id="rId54"/>
    <p:sldId id="410" r:id="rId55"/>
    <p:sldId id="583" r:id="rId56"/>
    <p:sldId id="584" r:id="rId57"/>
    <p:sldId id="585" r:id="rId58"/>
    <p:sldId id="586" r:id="rId59"/>
    <p:sldId id="420" r:id="rId60"/>
    <p:sldId id="422" r:id="rId61"/>
    <p:sldId id="423" r:id="rId62"/>
    <p:sldId id="588" r:id="rId63"/>
    <p:sldId id="589" r:id="rId64"/>
    <p:sldId id="513" r:id="rId65"/>
    <p:sldId id="515" r:id="rId66"/>
    <p:sldId id="516" r:id="rId67"/>
    <p:sldId id="517" r:id="rId68"/>
    <p:sldId id="519" r:id="rId69"/>
    <p:sldId id="518" r:id="rId70"/>
    <p:sldId id="520" r:id="rId71"/>
    <p:sldId id="521" r:id="rId72"/>
    <p:sldId id="522" r:id="rId73"/>
    <p:sldId id="523" r:id="rId74"/>
    <p:sldId id="524" r:id="rId75"/>
    <p:sldId id="599" r:id="rId76"/>
    <p:sldId id="606" r:id="rId77"/>
    <p:sldId id="601" r:id="rId78"/>
    <p:sldId id="602" r:id="rId79"/>
    <p:sldId id="603" r:id="rId80"/>
    <p:sldId id="592" r:id="rId81"/>
    <p:sldId id="594" r:id="rId82"/>
    <p:sldId id="614" r:id="rId83"/>
    <p:sldId id="616" r:id="rId84"/>
    <p:sldId id="617" r:id="rId85"/>
    <p:sldId id="618" r:id="rId86"/>
    <p:sldId id="619" r:id="rId87"/>
    <p:sldId id="620" r:id="rId88"/>
    <p:sldId id="621" r:id="rId89"/>
    <p:sldId id="622" r:id="rId90"/>
    <p:sldId id="623" r:id="rId91"/>
    <p:sldId id="624" r:id="rId92"/>
    <p:sldId id="625" r:id="rId93"/>
    <p:sldId id="626" r:id="rId94"/>
    <p:sldId id="695" r:id="rId95"/>
    <p:sldId id="627" r:id="rId96"/>
    <p:sldId id="667" r:id="rId97"/>
    <p:sldId id="629" r:id="rId98"/>
    <p:sldId id="630" r:id="rId99"/>
    <p:sldId id="631" r:id="rId100"/>
    <p:sldId id="670" r:id="rId101"/>
    <p:sldId id="671" r:id="rId102"/>
    <p:sldId id="672" r:id="rId103"/>
    <p:sldId id="673" r:id="rId104"/>
    <p:sldId id="674" r:id="rId105"/>
    <p:sldId id="675" r:id="rId106"/>
    <p:sldId id="688" r:id="rId107"/>
    <p:sldId id="689" r:id="rId108"/>
    <p:sldId id="690" r:id="rId109"/>
    <p:sldId id="691" r:id="rId110"/>
    <p:sldId id="692" r:id="rId111"/>
    <p:sldId id="693" r:id="rId112"/>
    <p:sldId id="694" r:id="rId113"/>
    <p:sldId id="642" r:id="rId114"/>
  </p:sldIdLst>
  <p:sldSz cx="9144000" cy="6858000" type="screen4x3"/>
  <p:notesSz cx="6858000" cy="9144000"/>
  <p:embeddedFontLst>
    <p:embeddedFont>
      <p:font typeface="Tahoma" panose="020B0604030504040204" pitchFamily="34" charset="0"/>
      <p:regular r:id="rId119"/>
      <p:bold r:id="rId120"/>
    </p:embeddedFont>
    <p:embeddedFont>
      <p:font typeface="华文行楷" panose="02010800040101010101" pitchFamily="2" charset="-122"/>
      <p:regular r:id="rId121"/>
    </p:embeddedFont>
    <p:embeddedFont>
      <p:font typeface="Monotype Corsiva" panose="03010101010201010101" pitchFamily="66" charset="0"/>
      <p:italic r:id="rId122"/>
    </p:embeddedFont>
    <p:embeddedFont>
      <p:font typeface="Wingdings 3" panose="05040102010807070707" pitchFamily="18" charset="2"/>
      <p:regular r:id="rId123"/>
    </p:embeddedFont>
    <p:embeddedFont>
      <p:font typeface="Georgia" panose="02040502050405020303" pitchFamily="18" charset="0"/>
      <p:regular r:id="rId124"/>
      <p:bold r:id="rId125"/>
      <p:italic r:id="rId126"/>
      <p:boldItalic r:id="rId127"/>
    </p:embeddedFont>
    <p:embeddedFont>
      <p:font typeface="Cambria Math" panose="02040503050406030204" pitchFamily="18" charset="0"/>
      <p:regular r:id="rId128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FF3300"/>
    <a:srgbClr val="00CC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715"/>
    <p:restoredTop sz="95229"/>
  </p:normalViewPr>
  <p:slideViewPr>
    <p:cSldViewPr showGuides="1">
      <p:cViewPr varScale="1">
        <p:scale>
          <a:sx n="87" d="100"/>
          <a:sy n="87" d="100"/>
        </p:scale>
        <p:origin x="612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8" Type="http://schemas.openxmlformats.org/officeDocument/2006/relationships/font" Target="fonts/font10.fntdata"/><Relationship Id="rId127" Type="http://schemas.openxmlformats.org/officeDocument/2006/relationships/font" Target="fonts/font9.fntdata"/><Relationship Id="rId126" Type="http://schemas.openxmlformats.org/officeDocument/2006/relationships/font" Target="fonts/font8.fntdata"/><Relationship Id="rId125" Type="http://schemas.openxmlformats.org/officeDocument/2006/relationships/font" Target="fonts/font7.fntdata"/><Relationship Id="rId124" Type="http://schemas.openxmlformats.org/officeDocument/2006/relationships/font" Target="fonts/font6.fntdata"/><Relationship Id="rId123" Type="http://schemas.openxmlformats.org/officeDocument/2006/relationships/font" Target="fonts/font5.fntdata"/><Relationship Id="rId122" Type="http://schemas.openxmlformats.org/officeDocument/2006/relationships/font" Target="fonts/font4.fntdata"/><Relationship Id="rId121" Type="http://schemas.openxmlformats.org/officeDocument/2006/relationships/font" Target="fonts/font3.fntdata"/><Relationship Id="rId120" Type="http://schemas.openxmlformats.org/officeDocument/2006/relationships/font" Target="fonts/font2.fntdata"/><Relationship Id="rId12" Type="http://schemas.openxmlformats.org/officeDocument/2006/relationships/slide" Target="slides/slide9.xml"/><Relationship Id="rId119" Type="http://schemas.openxmlformats.org/officeDocument/2006/relationships/font" Target="fonts/font1.fntdata"/><Relationship Id="rId118" Type="http://schemas.openxmlformats.org/officeDocument/2006/relationships/tableStyles" Target="tableStyles.xml"/><Relationship Id="rId117" Type="http://schemas.openxmlformats.org/officeDocument/2006/relationships/viewProps" Target="viewProps.xml"/><Relationship Id="rId116" Type="http://schemas.openxmlformats.org/officeDocument/2006/relationships/presProps" Target="presProps.xml"/><Relationship Id="rId115" Type="http://schemas.openxmlformats.org/officeDocument/2006/relationships/handoutMaster" Target="handoutMasters/handoutMaster1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5362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3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有</a:t>
            </a:r>
            <a:r>
              <a:rPr lang="en-US" altLang="zh-CN" dirty="0"/>
              <a:t>Hold</a:t>
            </a:r>
            <a:r>
              <a:rPr lang="zh-CN" altLang="en-US" dirty="0"/>
              <a:t>功能的</a:t>
            </a:r>
            <a:r>
              <a:rPr lang="en-US" altLang="zh-CN" dirty="0"/>
              <a:t>4D Reg</a:t>
            </a:r>
            <a:r>
              <a:rPr lang="zh-CN" altLang="en-US" dirty="0"/>
              <a:t>的逻辑图：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4578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要求每个触发器的输出传输延迟大于下一个触发器的数据保持时间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7650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9698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0962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3010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5058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7106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0178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226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4274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6322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4514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W—word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A—Address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0658" name="Rectangle 2"/>
          <p:cNvSpPr>
            <a:spLocks noRot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2051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2052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5773" y="3159"/>
                  </a:cxn>
                  <a:cxn ang="0">
                    <a:pos x="5773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3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626" y="3159"/>
                  </a:cxn>
                  <a:cxn ang="0">
                    <a:pos x="62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5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86" y="12"/>
                </a:cxn>
                <a:cxn ang="0">
                  <a:pos x="286" y="0"/>
                </a:cxn>
                <a:cxn ang="0">
                  <a:pos x="286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31429835" y="12"/>
                </a:cxn>
                <a:cxn ang="0">
                  <a:pos x="3142983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57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2058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9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0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5277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5277" y="12"/>
                  </a:cxn>
                  <a:cxn ang="0">
                    <a:pos x="5277" y="0"/>
                  </a:cxn>
                  <a:cxn ang="0">
                    <a:pos x="5277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1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2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115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9115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1450"/>
            <a:ext cx="4000500" cy="4648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441450"/>
            <a:ext cx="4000500" cy="4648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298450"/>
            <a:ext cx="2038350" cy="5791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98450"/>
            <a:ext cx="5962650" cy="5791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98450"/>
            <a:ext cx="8153400" cy="990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1450"/>
            <a:ext cx="4000500" cy="4648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441450"/>
            <a:ext cx="4000500" cy="4648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38"/>
          <p:cNvGrpSpPr/>
          <p:nvPr userDrawn="1"/>
        </p:nvGrpSpPr>
        <p:grpSpPr>
          <a:xfrm>
            <a:off x="0" y="0"/>
            <a:ext cx="9140825" cy="6851650"/>
            <a:chOff x="0" y="4"/>
            <a:chExt cx="5758" cy="4316"/>
          </a:xfrm>
        </p:grpSpPr>
        <p:sp>
          <p:nvSpPr>
            <p:cNvPr id="1027" name="Freeform 39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5773" y="3159"/>
                </a:cxn>
                <a:cxn ang="0">
                  <a:pos x="5773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Freeform 40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626" y="3159"/>
                </a:cxn>
                <a:cxn ang="0">
                  <a:pos x="62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9" name="Group 41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0" name="Freeform 42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1" name="Freeform 43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2" name="Freeform 44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5277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5277" y="12"/>
                  </a:cxn>
                  <a:cxn ang="0">
                    <a:pos x="5277" y="0"/>
                  </a:cxn>
                  <a:cxn ang="0">
                    <a:pos x="5277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3" name="Freeform 45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4" name="Freeform 46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59" name="Freeform 47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48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31429835" y="12"/>
                  </a:cxn>
                  <a:cxn ang="0">
                    <a:pos x="31429835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7" name="Freeform 49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286" y="12"/>
                  </a:cxn>
                  <a:cxn ang="0">
                    <a:pos x="286" y="0"/>
                  </a:cxn>
                  <a:cxn ang="0">
                    <a:pos x="286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62" name="Freeform 50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0163" name="Rectangle 5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98450"/>
            <a:ext cx="815340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90164" name="Rectangle 5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1450"/>
            <a:ext cx="81534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en-US" altLang="zh-CN" strike="noStrike" noProof="1"/>
              <a:t>Click to 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</p:txBody>
      </p:sp>
      <p:sp>
        <p:nvSpPr>
          <p:cNvPr id="90165" name="Rectangle 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20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66" name="Rectangle 5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205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67" name="Rectangle 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20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v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5.png"/><Relationship Id="rId7" Type="http://schemas.openxmlformats.org/officeDocument/2006/relationships/oleObject" Target="../embeddings/oleObject9.bin"/><Relationship Id="rId6" Type="http://schemas.openxmlformats.org/officeDocument/2006/relationships/image" Target="../media/image4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png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13.xml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1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1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990600"/>
            <a:ext cx="76962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提醒同学们注意：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所有作业必须在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16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周星期一之前交齐，否则期末考试无效。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计数器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问题：由于计数器一直不停的计数，如何将计数器的当前结果记录下来？（类似于钟表在不停地走动，如何记录当前的时间？）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56"/>
          <p:cNvGrpSpPr/>
          <p:nvPr/>
        </p:nvGrpSpPr>
        <p:grpSpPr>
          <a:xfrm>
            <a:off x="2352675" y="2884488"/>
            <a:ext cx="2838450" cy="838200"/>
            <a:chOff x="1183" y="1822"/>
            <a:chExt cx="2880" cy="528"/>
          </a:xfrm>
        </p:grpSpPr>
        <p:sp>
          <p:nvSpPr>
            <p:cNvPr id="6149" name="Rectangle 54"/>
            <p:cNvSpPr/>
            <p:nvPr/>
          </p:nvSpPr>
          <p:spPr>
            <a:xfrm>
              <a:off x="1183" y="1822"/>
              <a:ext cx="2880" cy="52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0" name="Text Box 55"/>
            <p:cNvSpPr txBox="1"/>
            <p:nvPr/>
          </p:nvSpPr>
          <p:spPr>
            <a:xfrm>
              <a:off x="1343" y="1907"/>
              <a:ext cx="25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3200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3200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寄    存    器</a:t>
              </a:r>
              <a:endPara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" name="Group 6"/>
          <p:cNvGrpSpPr/>
          <p:nvPr/>
        </p:nvGrpSpPr>
        <p:grpSpPr>
          <a:xfrm>
            <a:off x="1979613" y="3722688"/>
            <a:ext cx="5334000" cy="2286000"/>
            <a:chOff x="672" y="1680"/>
            <a:chExt cx="3360" cy="1440"/>
          </a:xfrm>
        </p:grpSpPr>
        <p:grpSp>
          <p:nvGrpSpPr>
            <p:cNvPr id="6152" name="Group 7"/>
            <p:cNvGrpSpPr/>
            <p:nvPr/>
          </p:nvGrpSpPr>
          <p:grpSpPr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6153" name="Rectangle 8"/>
              <p:cNvSpPr/>
              <p:nvPr/>
            </p:nvSpPr>
            <p:spPr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4" name="Text Box 9"/>
              <p:cNvSpPr txBox="1"/>
              <p:nvPr/>
            </p:nvSpPr>
            <p:spPr>
              <a:xfrm>
                <a:off x="1872" y="2304"/>
                <a:ext cx="81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A  B  C  D</a:t>
                </a:r>
                <a:endPara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5" name="Text Box 10"/>
              <p:cNvSpPr txBox="1"/>
              <p:nvPr/>
            </p:nvSpPr>
            <p:spPr>
              <a:xfrm>
                <a:off x="864" y="1680"/>
                <a:ext cx="28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 Q</a:t>
                </a:r>
                <a:r>
                  <a:rPr lang="en-US" altLang="zh-CN" sz="24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B</a:t>
                </a: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 Q</a:t>
                </a:r>
                <a:r>
                  <a:rPr lang="en-US" altLang="zh-CN" sz="24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 Q</a:t>
                </a:r>
                <a:r>
                  <a:rPr lang="en-US" altLang="zh-CN" sz="24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D                             </a:t>
                </a: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RC</a:t>
                </a:r>
                <a:endPara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6" name="Text Box 11"/>
              <p:cNvSpPr txBox="1"/>
              <p:nvPr/>
            </p:nvSpPr>
            <p:spPr>
              <a:xfrm>
                <a:off x="816" y="2314"/>
                <a:ext cx="192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CP   CLR   L</a:t>
                </a:r>
                <a:endPara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7" name="Rectangle 12"/>
              <p:cNvSpPr/>
              <p:nvPr/>
            </p:nvSpPr>
            <p:spPr>
              <a:xfrm>
                <a:off x="3168" y="2304"/>
                <a:ext cx="44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T   P</a:t>
                </a:r>
                <a:endPara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8" name="Line 13"/>
              <p:cNvSpPr/>
              <p:nvPr/>
            </p:nvSpPr>
            <p:spPr>
              <a:xfrm>
                <a:off x="960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59" name="Line 14"/>
              <p:cNvSpPr/>
              <p:nvPr/>
            </p:nvSpPr>
            <p:spPr>
              <a:xfrm>
                <a:off x="1344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0" name="Line 15"/>
              <p:cNvSpPr/>
              <p:nvPr/>
            </p:nvSpPr>
            <p:spPr>
              <a:xfrm>
                <a:off x="1680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1" name="Line 16"/>
              <p:cNvSpPr/>
              <p:nvPr/>
            </p:nvSpPr>
            <p:spPr>
              <a:xfrm>
                <a:off x="1968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2" name="Line 17"/>
              <p:cNvSpPr/>
              <p:nvPr/>
            </p:nvSpPr>
            <p:spPr>
              <a:xfrm>
                <a:off x="2160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3" name="Line 18"/>
              <p:cNvSpPr/>
              <p:nvPr/>
            </p:nvSpPr>
            <p:spPr>
              <a:xfrm>
                <a:off x="2352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4" name="Line 19"/>
              <p:cNvSpPr/>
              <p:nvPr/>
            </p:nvSpPr>
            <p:spPr>
              <a:xfrm>
                <a:off x="2544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5" name="Line 20"/>
              <p:cNvSpPr/>
              <p:nvPr/>
            </p:nvSpPr>
            <p:spPr>
              <a:xfrm>
                <a:off x="3264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6" name="Line 21"/>
              <p:cNvSpPr/>
              <p:nvPr/>
            </p:nvSpPr>
            <p:spPr>
              <a:xfrm>
                <a:off x="3504" y="25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7" name="Line 22"/>
              <p:cNvSpPr/>
              <p:nvPr/>
            </p:nvSpPr>
            <p:spPr>
              <a:xfrm>
                <a:off x="960" y="13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8" name="Line 23"/>
              <p:cNvSpPr/>
              <p:nvPr/>
            </p:nvSpPr>
            <p:spPr>
              <a:xfrm>
                <a:off x="1296" y="13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69" name="Line 24"/>
              <p:cNvSpPr/>
              <p:nvPr/>
            </p:nvSpPr>
            <p:spPr>
              <a:xfrm>
                <a:off x="1632" y="13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70" name="Line 25"/>
              <p:cNvSpPr/>
              <p:nvPr/>
            </p:nvSpPr>
            <p:spPr>
              <a:xfrm>
                <a:off x="1968" y="13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71" name="Line 26"/>
              <p:cNvSpPr/>
              <p:nvPr/>
            </p:nvSpPr>
            <p:spPr>
              <a:xfrm>
                <a:off x="3360" y="139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72" name="Group 27"/>
            <p:cNvGrpSpPr/>
            <p:nvPr/>
          </p:nvGrpSpPr>
          <p:grpSpPr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6173" name="Text Box 28"/>
              <p:cNvSpPr txBox="1"/>
              <p:nvPr/>
            </p:nvSpPr>
            <p:spPr>
              <a:xfrm>
                <a:off x="576" y="3696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D</a:t>
                </a:r>
                <a:endParaRPr lang="en-US" altLang="zh-CN" sz="2400" baseline="-25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74" name="Line 29"/>
              <p:cNvSpPr/>
              <p:nvPr/>
            </p:nvSpPr>
            <p:spPr>
              <a:xfrm flipH="1">
                <a:off x="720" y="374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75" name="Line 30"/>
            <p:cNvSpPr/>
            <p:nvPr/>
          </p:nvSpPr>
          <p:spPr>
            <a:xfrm flipH="1">
              <a:off x="672" y="2352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第四章 同步时序电路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746499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Synchronous  Sequential Logic Circuit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6500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§1. </a:t>
            </a:r>
            <a:r>
              <a:rPr kumimoji="0" lang="zh-CN" altLang="en-US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0" lang="zh-CN" altLang="en-US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§2. </a:t>
            </a:r>
            <a:r>
              <a:rPr kumimoji="0" lang="zh-CN" altLang="en-US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同步时序电路的分析与设计方法</a:t>
            </a:r>
            <a:endParaRPr kumimoji="0" lang="zh-CN" altLang="en-US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§3. </a:t>
            </a:r>
            <a:r>
              <a:rPr kumimoji="0" lang="zh-CN" altLang="en-US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计数器</a:t>
            </a:r>
            <a:endParaRPr kumimoji="0" lang="zh-CN" altLang="en-US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§4. </a:t>
            </a:r>
            <a:r>
              <a:rPr kumimoji="0" lang="zh-CN" altLang="en-US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6501" name="Rectangle 5"/>
          <p:cNvSpPr/>
          <p:nvPr/>
        </p:nvSpPr>
        <p:spPr>
          <a:xfrm>
            <a:off x="762000" y="461645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4752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981200"/>
            <a:ext cx="8145463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寄存器的作用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在计算机中用于存储指令、数据、运算结果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寄存器的数量多少，是计算机结构的重要区别之一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外存、内存、缓存、寄存四类中，寄存器速度最快，但容量最小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8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485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48548" name="Rectangle 4"/>
          <p:cNvSpPr/>
          <p:nvPr/>
        </p:nvSpPr>
        <p:spPr>
          <a:xfrm>
            <a:off x="304800" y="19050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Text Box 3"/>
          <p:cNvSpPr/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marL="101600" indent="-101600" eaLnBrk="1" hangingPunct="1">
              <a:spcBef>
                <a:spcPct val="50000"/>
              </a:spcBef>
            </a:pPr>
            <a:r>
              <a:rPr lang="zh-CN" altLang="en-US" b="1" dirty="0">
                <a:effectLst/>
                <a:latin typeface="Georgia" panose="02040502050405020303" pitchFamily="18" charset="0"/>
              </a:rPr>
              <a:t>（</a:t>
            </a:r>
            <a:r>
              <a:rPr lang="en-US" altLang="zh-CN" b="1" dirty="0">
                <a:effectLst/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effectLst/>
                <a:latin typeface="Georgia" panose="02040502050405020303" pitchFamily="18" charset="0"/>
              </a:rPr>
              <a:t>）</a:t>
            </a:r>
            <a:r>
              <a:rPr lang="en-US" altLang="zh-CN" b="1" dirty="0">
                <a:effectLst/>
                <a:latin typeface="Georgia" panose="02040502050405020303" pitchFamily="18" charset="0"/>
              </a:rPr>
              <a:t>4D</a:t>
            </a:r>
            <a:r>
              <a:rPr lang="zh-CN" altLang="en-US" b="1" dirty="0">
                <a:effectLst/>
                <a:latin typeface="Georgia" panose="02040502050405020303" pitchFamily="18" charset="0"/>
              </a:rPr>
              <a:t>触发器构成的寄存器</a:t>
            </a:r>
            <a:endParaRPr lang="zh-CN" altLang="en-US" b="1" dirty="0">
              <a:effectLst/>
              <a:latin typeface="Georgia" panose="02040502050405020303" pitchFamily="18" charset="0"/>
            </a:endParaRPr>
          </a:p>
          <a:p>
            <a:pPr marL="1225550" lvl="1" indent="-457200" eaLnBrk="1" hangingPunct="1">
              <a:spcBef>
                <a:spcPct val="50000"/>
              </a:spcBef>
            </a:pPr>
            <a:r>
              <a:rPr lang="zh-CN" altLang="en-US" b="1" dirty="0">
                <a:effectLst/>
                <a:latin typeface="Georgia" panose="02040502050405020303" pitchFamily="18" charset="0"/>
              </a:rPr>
              <a:t>寄存器的基本功能是存储。</a:t>
            </a:r>
            <a:endParaRPr lang="zh-CN" altLang="en-US" b="1" dirty="0">
              <a:effectLst/>
              <a:latin typeface="Georgia" panose="02040502050405020303" pitchFamily="18" charset="0"/>
            </a:endParaRPr>
          </a:p>
        </p:txBody>
      </p:sp>
      <p:sp>
        <p:nvSpPr>
          <p:cNvPr id="749604" name="Text Box 36"/>
          <p:cNvSpPr txBox="1"/>
          <p:nvPr/>
        </p:nvSpPr>
        <p:spPr>
          <a:xfrm>
            <a:off x="1600200" y="3505200"/>
            <a:ext cx="533400" cy="1373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功能表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9605" name="Text Box 37"/>
          <p:cNvSpPr txBox="1"/>
          <p:nvPr/>
        </p:nvSpPr>
        <p:spPr>
          <a:xfrm>
            <a:off x="5791200" y="39624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异步置零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9606" name="Text Box 38"/>
          <p:cNvSpPr txBox="1"/>
          <p:nvPr/>
        </p:nvSpPr>
        <p:spPr>
          <a:xfrm>
            <a:off x="5791200" y="44958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置数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33600" y="3352800"/>
            <a:ext cx="3657600" cy="1676400"/>
            <a:chOff x="2133600" y="3352800"/>
            <a:chExt cx="3657600" cy="1676400"/>
          </a:xfrm>
        </p:grpSpPr>
        <p:grpSp>
          <p:nvGrpSpPr>
            <p:cNvPr id="11272" name="组合 1"/>
            <p:cNvGrpSpPr/>
            <p:nvPr/>
          </p:nvGrpSpPr>
          <p:grpSpPr>
            <a:xfrm>
              <a:off x="2133600" y="3352800"/>
              <a:ext cx="3657600" cy="1676400"/>
              <a:chOff x="2133600" y="3352800"/>
              <a:chExt cx="3657600" cy="1676400"/>
            </a:xfrm>
          </p:grpSpPr>
          <p:grpSp>
            <p:nvGrpSpPr>
              <p:cNvPr id="11273" name="Group 39"/>
              <p:cNvGrpSpPr/>
              <p:nvPr/>
            </p:nvGrpSpPr>
            <p:grpSpPr>
              <a:xfrm>
                <a:off x="2133600" y="3352800"/>
                <a:ext cx="3657600" cy="1676400"/>
                <a:chOff x="1344" y="2112"/>
                <a:chExt cx="2304" cy="1056"/>
              </a:xfrm>
            </p:grpSpPr>
            <p:sp>
              <p:nvSpPr>
                <p:cNvPr id="11274" name="Rectangle 5"/>
                <p:cNvSpPr/>
                <p:nvPr/>
              </p:nvSpPr>
              <p:spPr>
                <a:xfrm>
                  <a:off x="3264" y="2823"/>
                  <a:ext cx="384" cy="3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75" name="Rectangle 6"/>
                <p:cNvSpPr/>
                <p:nvPr/>
              </p:nvSpPr>
              <p:spPr>
                <a:xfrm>
                  <a:off x="2880" y="2823"/>
                  <a:ext cx="384" cy="3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76" name="Rectangle 7"/>
                <p:cNvSpPr/>
                <p:nvPr/>
              </p:nvSpPr>
              <p:spPr>
                <a:xfrm>
                  <a:off x="2496" y="2823"/>
                  <a:ext cx="384" cy="3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77" name="Rectangle 8"/>
                <p:cNvSpPr/>
                <p:nvPr/>
              </p:nvSpPr>
              <p:spPr>
                <a:xfrm>
                  <a:off x="2112" y="2823"/>
                  <a:ext cx="384" cy="3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9577" name="Rectangle 9"/>
                <p:cNvSpPr>
                  <a:spLocks noChangeArrowheads="1"/>
                </p:cNvSpPr>
                <p:nvPr/>
              </p:nvSpPr>
              <p:spPr bwMode="auto">
                <a:xfrm>
                  <a:off x="1728" y="2823"/>
                  <a:ext cx="384" cy="3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78" name="Rectangle 10"/>
                <p:cNvSpPr>
                  <a:spLocks noChangeArrowheads="1"/>
                </p:cNvSpPr>
                <p:nvPr/>
              </p:nvSpPr>
              <p:spPr bwMode="auto">
                <a:xfrm>
                  <a:off x="1344" y="2823"/>
                  <a:ext cx="384" cy="3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79" name="Rectangle 11"/>
                <p:cNvSpPr>
                  <a:spLocks noChangeArrowheads="1"/>
                </p:cNvSpPr>
                <p:nvPr/>
              </p:nvSpPr>
              <p:spPr bwMode="auto">
                <a:xfrm>
                  <a:off x="3264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80" name="Rectangle 12"/>
                <p:cNvSpPr>
                  <a:spLocks noChangeArrowheads="1"/>
                </p:cNvSpPr>
                <p:nvPr/>
              </p:nvSpPr>
              <p:spPr bwMode="auto">
                <a:xfrm>
                  <a:off x="2880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81" name="Rectangle 13"/>
                <p:cNvSpPr>
                  <a:spLocks noChangeArrowheads="1"/>
                </p:cNvSpPr>
                <p:nvPr/>
              </p:nvSpPr>
              <p:spPr bwMode="auto">
                <a:xfrm>
                  <a:off x="2496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82" name="Rectangle 14"/>
                <p:cNvSpPr>
                  <a:spLocks noChangeArrowheads="1"/>
                </p:cNvSpPr>
                <p:nvPr/>
              </p:nvSpPr>
              <p:spPr bwMode="auto">
                <a:xfrm>
                  <a:off x="2112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83" name="Rectangle 15"/>
                <p:cNvSpPr>
                  <a:spLocks noChangeArrowheads="1"/>
                </p:cNvSpPr>
                <p:nvPr/>
              </p:nvSpPr>
              <p:spPr bwMode="auto">
                <a:xfrm>
                  <a:off x="1728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84" name="Rectangle 16"/>
                <p:cNvSpPr>
                  <a:spLocks noChangeArrowheads="1"/>
                </p:cNvSpPr>
                <p:nvPr/>
              </p:nvSpPr>
              <p:spPr bwMode="auto">
                <a:xfrm>
                  <a:off x="1344" y="2501"/>
                  <a:ext cx="384" cy="3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286" name="Rectangle 17"/>
                <p:cNvSpPr/>
                <p:nvPr/>
              </p:nvSpPr>
              <p:spPr>
                <a:xfrm>
                  <a:off x="3264" y="2112"/>
                  <a:ext cx="384" cy="3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87" name="Rectangle 18"/>
                <p:cNvSpPr/>
                <p:nvPr/>
              </p:nvSpPr>
              <p:spPr>
                <a:xfrm>
                  <a:off x="2880" y="2112"/>
                  <a:ext cx="384" cy="3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88" name="Rectangle 19"/>
                <p:cNvSpPr/>
                <p:nvPr/>
              </p:nvSpPr>
              <p:spPr>
                <a:xfrm>
                  <a:off x="2496" y="2112"/>
                  <a:ext cx="384" cy="3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89" name="Rectangle 20"/>
                <p:cNvSpPr/>
                <p:nvPr/>
              </p:nvSpPr>
              <p:spPr>
                <a:xfrm>
                  <a:off x="2112" y="2112"/>
                  <a:ext cx="384" cy="3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76200" rIns="0" bIns="0" anchor="t" anchorCtr="0"/>
                <a:p>
                  <a:pPr algn="ctr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9589" name="Rectangle 21"/>
                <p:cNvSpPr>
                  <a:spLocks noChangeArrowheads="1"/>
                </p:cNvSpPr>
                <p:nvPr/>
              </p:nvSpPr>
              <p:spPr bwMode="auto">
                <a:xfrm>
                  <a:off x="1728" y="2112"/>
                  <a:ext cx="384" cy="3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CP 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9590" name="Rectangle 22"/>
                <p:cNvSpPr>
                  <a:spLocks noChangeArrowheads="1"/>
                </p:cNvSpPr>
                <p:nvPr/>
              </p:nvSpPr>
              <p:spPr bwMode="auto">
                <a:xfrm>
                  <a:off x="1344" y="2112"/>
                  <a:ext cx="384" cy="3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lIns="0" tIns="76200" rIns="0" bIns="0"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292" name="Line 23"/>
                <p:cNvSpPr/>
                <p:nvPr/>
              </p:nvSpPr>
              <p:spPr>
                <a:xfrm>
                  <a:off x="1344" y="2112"/>
                  <a:ext cx="230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3" name="Line 24"/>
                <p:cNvSpPr/>
                <p:nvPr/>
              </p:nvSpPr>
              <p:spPr>
                <a:xfrm>
                  <a:off x="1344" y="2501"/>
                  <a:ext cx="230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4" name="Line 25"/>
                <p:cNvSpPr/>
                <p:nvPr/>
              </p:nvSpPr>
              <p:spPr>
                <a:xfrm>
                  <a:off x="1344" y="2823"/>
                  <a:ext cx="230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5" name="Line 26"/>
                <p:cNvSpPr/>
                <p:nvPr/>
              </p:nvSpPr>
              <p:spPr>
                <a:xfrm>
                  <a:off x="1344" y="3168"/>
                  <a:ext cx="230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6" name="Line 27"/>
                <p:cNvSpPr/>
                <p:nvPr/>
              </p:nvSpPr>
              <p:spPr>
                <a:xfrm>
                  <a:off x="1344" y="2112"/>
                  <a:ext cx="0" cy="1056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7" name="Line 28"/>
                <p:cNvSpPr/>
                <p:nvPr/>
              </p:nvSpPr>
              <p:spPr>
                <a:xfrm>
                  <a:off x="1728" y="2112"/>
                  <a:ext cx="0" cy="10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8" name="Line 29"/>
                <p:cNvSpPr/>
                <p:nvPr/>
              </p:nvSpPr>
              <p:spPr>
                <a:xfrm>
                  <a:off x="2112" y="2112"/>
                  <a:ext cx="0" cy="10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299" name="Line 30"/>
                <p:cNvSpPr/>
                <p:nvPr/>
              </p:nvSpPr>
              <p:spPr>
                <a:xfrm>
                  <a:off x="2496" y="2112"/>
                  <a:ext cx="0" cy="10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300" name="Line 31"/>
                <p:cNvSpPr/>
                <p:nvPr/>
              </p:nvSpPr>
              <p:spPr>
                <a:xfrm>
                  <a:off x="2880" y="2112"/>
                  <a:ext cx="0" cy="10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301" name="Line 32"/>
                <p:cNvSpPr/>
                <p:nvPr/>
              </p:nvSpPr>
              <p:spPr>
                <a:xfrm>
                  <a:off x="3264" y="2112"/>
                  <a:ext cx="0" cy="10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302" name="Line 33"/>
                <p:cNvSpPr/>
                <p:nvPr/>
              </p:nvSpPr>
              <p:spPr>
                <a:xfrm>
                  <a:off x="3648" y="2112"/>
                  <a:ext cx="0" cy="1056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303" name="文本框 1"/>
              <p:cNvSpPr txBox="1"/>
              <p:nvPr/>
            </p:nvSpPr>
            <p:spPr>
              <a:xfrm>
                <a:off x="2857500" y="4552950"/>
                <a:ext cx="431800" cy="4016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304" name="文本框 2"/>
            <p:cNvSpPr txBox="1"/>
            <p:nvPr/>
          </p:nvSpPr>
          <p:spPr>
            <a:xfrm>
              <a:off x="2223615" y="3355033"/>
              <a:ext cx="504056" cy="5684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9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49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9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604" grpId="0"/>
      <p:bldP spid="749605" grpId="0"/>
      <p:bldP spid="7496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3"/>
          <p:cNvSpPr>
            <a:spLocks noGrp="1"/>
          </p:cNvSpPr>
          <p:nvPr>
            <p:ph idx="1"/>
          </p:nvPr>
        </p:nvSpPr>
        <p:spPr>
          <a:xfrm>
            <a:off x="677863" y="992188"/>
            <a:ext cx="7924800" cy="46482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b="1" dirty="0">
                <a:effectLst/>
                <a:latin typeface="Georgia" panose="02040502050405020303" pitchFamily="18" charset="0"/>
              </a:rPr>
              <a:t>4D</a:t>
            </a:r>
            <a:r>
              <a:rPr lang="zh-CN" altLang="en-US" sz="2800" b="1" dirty="0">
                <a:effectLst/>
                <a:latin typeface="Georgia" panose="02040502050405020303" pitchFamily="18" charset="0"/>
              </a:rPr>
              <a:t>触发器构成的寄存器</a:t>
            </a:r>
            <a:endParaRPr lang="zh-CN" altLang="en-US" sz="2800" b="1" dirty="0">
              <a:effectLst/>
              <a:latin typeface="Georgia" panose="02040502050405020303" pitchFamily="18" charset="0"/>
            </a:endParaRPr>
          </a:p>
        </p:txBody>
      </p:sp>
      <p:grpSp>
        <p:nvGrpSpPr>
          <p:cNvPr id="12290" name="Group 148"/>
          <p:cNvGrpSpPr/>
          <p:nvPr/>
        </p:nvGrpSpPr>
        <p:grpSpPr>
          <a:xfrm>
            <a:off x="1066800" y="4389438"/>
            <a:ext cx="4191000" cy="1676400"/>
            <a:chOff x="720" y="3168"/>
            <a:chExt cx="2640" cy="1056"/>
          </a:xfrm>
        </p:grpSpPr>
        <p:grpSp>
          <p:nvGrpSpPr>
            <p:cNvPr id="12291" name="Group 115"/>
            <p:cNvGrpSpPr/>
            <p:nvPr/>
          </p:nvGrpSpPr>
          <p:grpSpPr>
            <a:xfrm>
              <a:off x="1056" y="3168"/>
              <a:ext cx="2304" cy="1056"/>
              <a:chOff x="1344" y="2112"/>
              <a:chExt cx="2304" cy="1056"/>
            </a:xfrm>
          </p:grpSpPr>
          <p:sp>
            <p:nvSpPr>
              <p:cNvPr id="12292" name="Rectangle 116"/>
              <p:cNvSpPr/>
              <p:nvPr/>
            </p:nvSpPr>
            <p:spPr>
              <a:xfrm>
                <a:off x="3264" y="2823"/>
                <a:ext cx="384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93" name="Rectangle 117"/>
              <p:cNvSpPr/>
              <p:nvPr/>
            </p:nvSpPr>
            <p:spPr>
              <a:xfrm>
                <a:off x="2880" y="2823"/>
                <a:ext cx="384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94" name="Rectangle 118"/>
              <p:cNvSpPr/>
              <p:nvPr/>
            </p:nvSpPr>
            <p:spPr>
              <a:xfrm>
                <a:off x="2496" y="2823"/>
                <a:ext cx="384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95" name="Rectangle 119"/>
              <p:cNvSpPr/>
              <p:nvPr/>
            </p:nvSpPr>
            <p:spPr>
              <a:xfrm>
                <a:off x="2112" y="2823"/>
                <a:ext cx="384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0712" name="Rectangle 120"/>
              <p:cNvSpPr>
                <a:spLocks noChangeArrowheads="1"/>
              </p:cNvSpPr>
              <p:nvPr/>
            </p:nvSpPr>
            <p:spPr bwMode="auto">
              <a:xfrm>
                <a:off x="1728" y="2823"/>
                <a:ext cx="384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3" name="Rectangle 121"/>
              <p:cNvSpPr>
                <a:spLocks noChangeArrowheads="1"/>
              </p:cNvSpPr>
              <p:nvPr/>
            </p:nvSpPr>
            <p:spPr bwMode="auto">
              <a:xfrm>
                <a:off x="1344" y="2823"/>
                <a:ext cx="384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4" name="Rectangle 122"/>
              <p:cNvSpPr>
                <a:spLocks noChangeArrowheads="1"/>
              </p:cNvSpPr>
              <p:nvPr/>
            </p:nvSpPr>
            <p:spPr bwMode="auto">
              <a:xfrm>
                <a:off x="3264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5" name="Rectangle 123"/>
              <p:cNvSpPr>
                <a:spLocks noChangeArrowheads="1"/>
              </p:cNvSpPr>
              <p:nvPr/>
            </p:nvSpPr>
            <p:spPr bwMode="auto">
              <a:xfrm>
                <a:off x="2880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6" name="Rectangle 124"/>
              <p:cNvSpPr>
                <a:spLocks noChangeArrowheads="1"/>
              </p:cNvSpPr>
              <p:nvPr/>
            </p:nvSpPr>
            <p:spPr bwMode="auto">
              <a:xfrm>
                <a:off x="2496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7" name="Rectangle 125"/>
              <p:cNvSpPr>
                <a:spLocks noChangeArrowheads="1"/>
              </p:cNvSpPr>
              <p:nvPr/>
            </p:nvSpPr>
            <p:spPr bwMode="auto">
              <a:xfrm>
                <a:off x="2112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8" name="Rectangle 126"/>
              <p:cNvSpPr>
                <a:spLocks noChangeArrowheads="1"/>
              </p:cNvSpPr>
              <p:nvPr/>
            </p:nvSpPr>
            <p:spPr bwMode="auto">
              <a:xfrm>
                <a:off x="1728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×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19" name="Rectangle 127"/>
              <p:cNvSpPr>
                <a:spLocks noChangeArrowheads="1"/>
              </p:cNvSpPr>
              <p:nvPr/>
            </p:nvSpPr>
            <p:spPr bwMode="auto">
              <a:xfrm>
                <a:off x="1344" y="2501"/>
                <a:ext cx="384" cy="3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04" name="Rectangle 128"/>
              <p:cNvSpPr/>
              <p:nvPr/>
            </p:nvSpPr>
            <p:spPr>
              <a:xfrm>
                <a:off x="3264" y="2112"/>
                <a:ext cx="384" cy="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5" name="Rectangle 129"/>
              <p:cNvSpPr/>
              <p:nvPr/>
            </p:nvSpPr>
            <p:spPr>
              <a:xfrm>
                <a:off x="2880" y="2112"/>
                <a:ext cx="384" cy="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6" name="Rectangle 130"/>
              <p:cNvSpPr/>
              <p:nvPr/>
            </p:nvSpPr>
            <p:spPr>
              <a:xfrm>
                <a:off x="2496" y="2112"/>
                <a:ext cx="384" cy="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7" name="Rectangle 131"/>
              <p:cNvSpPr/>
              <p:nvPr/>
            </p:nvSpPr>
            <p:spPr>
              <a:xfrm>
                <a:off x="2112" y="2112"/>
                <a:ext cx="384" cy="3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76200" rIns="0" bIns="0" anchor="t" anchorCtr="0"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0724" name="Rectangle 132"/>
              <p:cNvSpPr>
                <a:spLocks noChangeArrowheads="1"/>
              </p:cNvSpPr>
              <p:nvPr/>
            </p:nvSpPr>
            <p:spPr bwMode="auto">
              <a:xfrm>
                <a:off x="1728" y="2112"/>
                <a:ext cx="384" cy="3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CP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0725" name="Rectangle 133"/>
              <p:cNvSpPr>
                <a:spLocks noChangeArrowheads="1"/>
              </p:cNvSpPr>
              <p:nvPr/>
            </p:nvSpPr>
            <p:spPr bwMode="auto">
              <a:xfrm>
                <a:off x="1344" y="2112"/>
                <a:ext cx="384" cy="3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76200" rIns="0" bIns="0"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10" name="Line 134"/>
              <p:cNvSpPr/>
              <p:nvPr/>
            </p:nvSpPr>
            <p:spPr>
              <a:xfrm>
                <a:off x="1344" y="2112"/>
                <a:ext cx="230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1" name="Line 135"/>
              <p:cNvSpPr/>
              <p:nvPr/>
            </p:nvSpPr>
            <p:spPr>
              <a:xfrm>
                <a:off x="1344" y="2501"/>
                <a:ext cx="230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2" name="Line 136"/>
              <p:cNvSpPr/>
              <p:nvPr/>
            </p:nvSpPr>
            <p:spPr>
              <a:xfrm>
                <a:off x="1344" y="2823"/>
                <a:ext cx="230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3" name="Line 137"/>
              <p:cNvSpPr/>
              <p:nvPr/>
            </p:nvSpPr>
            <p:spPr>
              <a:xfrm>
                <a:off x="1344" y="3168"/>
                <a:ext cx="230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4" name="Line 138"/>
              <p:cNvSpPr/>
              <p:nvPr/>
            </p:nvSpPr>
            <p:spPr>
              <a:xfrm>
                <a:off x="1344" y="2112"/>
                <a:ext cx="0" cy="105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5" name="Line 139"/>
              <p:cNvSpPr/>
              <p:nvPr/>
            </p:nvSpPr>
            <p:spPr>
              <a:xfrm>
                <a:off x="1728" y="2112"/>
                <a:ext cx="0" cy="10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6" name="Line 140"/>
              <p:cNvSpPr/>
              <p:nvPr/>
            </p:nvSpPr>
            <p:spPr>
              <a:xfrm>
                <a:off x="2112" y="2112"/>
                <a:ext cx="0" cy="10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7" name="Line 141"/>
              <p:cNvSpPr/>
              <p:nvPr/>
            </p:nvSpPr>
            <p:spPr>
              <a:xfrm>
                <a:off x="2496" y="2112"/>
                <a:ext cx="0" cy="10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8" name="Line 142"/>
              <p:cNvSpPr/>
              <p:nvPr/>
            </p:nvSpPr>
            <p:spPr>
              <a:xfrm>
                <a:off x="2880" y="2112"/>
                <a:ext cx="0" cy="10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9" name="Line 143"/>
              <p:cNvSpPr/>
              <p:nvPr/>
            </p:nvSpPr>
            <p:spPr>
              <a:xfrm>
                <a:off x="3264" y="2112"/>
                <a:ext cx="0" cy="10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20" name="Line 144"/>
              <p:cNvSpPr/>
              <p:nvPr/>
            </p:nvSpPr>
            <p:spPr>
              <a:xfrm>
                <a:off x="3648" y="2112"/>
                <a:ext cx="0" cy="105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321" name="Text Box 147"/>
            <p:cNvSpPr txBox="1"/>
            <p:nvPr/>
          </p:nvSpPr>
          <p:spPr>
            <a:xfrm>
              <a:off x="720" y="3264"/>
              <a:ext cx="336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功能表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77038" y="6226175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750701" name="Group 109"/>
          <p:cNvGrpSpPr/>
          <p:nvPr/>
        </p:nvGrpSpPr>
        <p:grpSpPr>
          <a:xfrm>
            <a:off x="6248400" y="4084638"/>
            <a:ext cx="2971800" cy="1981200"/>
            <a:chOff x="3696" y="2880"/>
            <a:chExt cx="1872" cy="1248"/>
          </a:xfrm>
        </p:grpSpPr>
        <p:sp>
          <p:nvSpPr>
            <p:cNvPr id="12325" name="Text Box 110"/>
            <p:cNvSpPr txBox="1"/>
            <p:nvPr/>
          </p:nvSpPr>
          <p:spPr>
            <a:xfrm>
              <a:off x="3696" y="3840"/>
              <a:ext cx="18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减少对外的负载</a:t>
              </a:r>
              <a:endPara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6" name="Line 111"/>
            <p:cNvSpPr/>
            <p:nvPr/>
          </p:nvSpPr>
          <p:spPr>
            <a:xfrm flipV="1">
              <a:off x="3936" y="3456"/>
              <a:ext cx="288" cy="432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27" name="Line 112"/>
            <p:cNvSpPr/>
            <p:nvPr/>
          </p:nvSpPr>
          <p:spPr>
            <a:xfrm flipV="1">
              <a:off x="3936" y="2928"/>
              <a:ext cx="240" cy="96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28" name="Line 113"/>
            <p:cNvSpPr/>
            <p:nvPr/>
          </p:nvSpPr>
          <p:spPr>
            <a:xfrm flipV="1">
              <a:off x="3936" y="2880"/>
              <a:ext cx="1008" cy="1008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29" name="Line 114"/>
            <p:cNvSpPr/>
            <p:nvPr/>
          </p:nvSpPr>
          <p:spPr>
            <a:xfrm flipV="1">
              <a:off x="3936" y="3408"/>
              <a:ext cx="1056" cy="48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2330" name="文本框 3"/>
          <p:cNvSpPr txBox="1"/>
          <p:nvPr/>
        </p:nvSpPr>
        <p:spPr>
          <a:xfrm>
            <a:off x="2355850" y="5595938"/>
            <a:ext cx="312738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31" name="文本框 119"/>
          <p:cNvSpPr txBox="1"/>
          <p:nvPr/>
        </p:nvSpPr>
        <p:spPr>
          <a:xfrm>
            <a:off x="1704975" y="4433888"/>
            <a:ext cx="504825" cy="466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0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6538" y="1341438"/>
            <a:ext cx="8602662" cy="4119562"/>
            <a:chOff x="236538" y="1341438"/>
            <a:chExt cx="8602662" cy="4119526"/>
          </a:xfrm>
        </p:grpSpPr>
        <p:grpSp>
          <p:nvGrpSpPr>
            <p:cNvPr id="12333" name="Group 149"/>
            <p:cNvGrpSpPr/>
            <p:nvPr/>
          </p:nvGrpSpPr>
          <p:grpSpPr>
            <a:xfrm>
              <a:off x="236538" y="1341438"/>
              <a:ext cx="8602662" cy="4114800"/>
              <a:chOff x="197" y="1248"/>
              <a:chExt cx="5419" cy="2592"/>
            </a:xfrm>
          </p:grpSpPr>
          <p:sp>
            <p:nvSpPr>
              <p:cNvPr id="12334" name="Text Box 5"/>
              <p:cNvSpPr txBox="1"/>
              <p:nvPr/>
            </p:nvSpPr>
            <p:spPr>
              <a:xfrm>
                <a:off x="5244" y="3504"/>
                <a:ext cx="3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35" name="Text Box 6"/>
              <p:cNvSpPr txBox="1"/>
              <p:nvPr/>
            </p:nvSpPr>
            <p:spPr>
              <a:xfrm>
                <a:off x="197" y="2640"/>
                <a:ext cx="33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36" name="Text Box 7"/>
              <p:cNvSpPr txBox="1"/>
              <p:nvPr/>
            </p:nvSpPr>
            <p:spPr>
              <a:xfrm>
                <a:off x="1344" y="2640"/>
                <a:ext cx="3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37" name="Text Box 8"/>
              <p:cNvSpPr txBox="1"/>
              <p:nvPr/>
            </p:nvSpPr>
            <p:spPr>
              <a:xfrm>
                <a:off x="2421" y="2640"/>
                <a:ext cx="31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38" name="Text Box 9"/>
              <p:cNvSpPr txBox="1"/>
              <p:nvPr/>
            </p:nvSpPr>
            <p:spPr>
              <a:xfrm>
                <a:off x="3504" y="2640"/>
                <a:ext cx="33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339" name="Group 10"/>
              <p:cNvGrpSpPr/>
              <p:nvPr/>
            </p:nvGrpSpPr>
            <p:grpSpPr>
              <a:xfrm>
                <a:off x="4992" y="2592"/>
                <a:ext cx="576" cy="336"/>
                <a:chOff x="4704" y="2352"/>
                <a:chExt cx="576" cy="336"/>
              </a:xfrm>
            </p:grpSpPr>
            <p:sp>
              <p:nvSpPr>
                <p:cNvPr id="12340" name="Rectangle 11"/>
                <p:cNvSpPr/>
                <p:nvPr/>
              </p:nvSpPr>
              <p:spPr>
                <a:xfrm>
                  <a:off x="4704" y="2448"/>
                  <a:ext cx="57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41" name="Oval 12"/>
                <p:cNvSpPr/>
                <p:nvPr/>
              </p:nvSpPr>
              <p:spPr>
                <a:xfrm>
                  <a:off x="4944" y="2352"/>
                  <a:ext cx="96" cy="96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342" name="Group 13"/>
              <p:cNvGrpSpPr/>
              <p:nvPr/>
            </p:nvGrpSpPr>
            <p:grpSpPr>
              <a:xfrm>
                <a:off x="3538" y="1248"/>
                <a:ext cx="771" cy="918"/>
                <a:chOff x="3538" y="1248"/>
                <a:chExt cx="771" cy="918"/>
              </a:xfrm>
            </p:grpSpPr>
            <p:sp>
              <p:nvSpPr>
                <p:cNvPr id="12343" name="Line 14"/>
                <p:cNvSpPr/>
                <p:nvPr/>
              </p:nvSpPr>
              <p:spPr>
                <a:xfrm flipV="1">
                  <a:off x="3648" y="1392"/>
                  <a:ext cx="0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4" name="Text Box 15"/>
                <p:cNvSpPr txBox="1"/>
                <p:nvPr/>
              </p:nvSpPr>
              <p:spPr>
                <a:xfrm>
                  <a:off x="3646" y="1248"/>
                  <a:ext cx="33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45" name="Rectangle 17"/>
                <p:cNvSpPr/>
                <p:nvPr/>
              </p:nvSpPr>
              <p:spPr>
                <a:xfrm>
                  <a:off x="3538" y="1622"/>
                  <a:ext cx="771" cy="5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         CP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346" name="Group 19"/>
              <p:cNvGrpSpPr/>
              <p:nvPr/>
            </p:nvGrpSpPr>
            <p:grpSpPr>
              <a:xfrm>
                <a:off x="2445" y="1248"/>
                <a:ext cx="771" cy="918"/>
                <a:chOff x="3538" y="1248"/>
                <a:chExt cx="771" cy="918"/>
              </a:xfrm>
            </p:grpSpPr>
            <p:sp>
              <p:nvSpPr>
                <p:cNvPr id="12347" name="Line 20"/>
                <p:cNvSpPr/>
                <p:nvPr/>
              </p:nvSpPr>
              <p:spPr>
                <a:xfrm flipV="1">
                  <a:off x="3648" y="1392"/>
                  <a:ext cx="0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48" name="Text Box 21"/>
                <p:cNvSpPr txBox="1"/>
                <p:nvPr/>
              </p:nvSpPr>
              <p:spPr>
                <a:xfrm>
                  <a:off x="3646" y="1248"/>
                  <a:ext cx="33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49" name="Rectangle 23"/>
                <p:cNvSpPr/>
                <p:nvPr/>
              </p:nvSpPr>
              <p:spPr>
                <a:xfrm>
                  <a:off x="3538" y="1622"/>
                  <a:ext cx="771" cy="5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         CP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350" name="Group 25"/>
              <p:cNvGrpSpPr/>
              <p:nvPr/>
            </p:nvGrpSpPr>
            <p:grpSpPr>
              <a:xfrm>
                <a:off x="1344" y="1248"/>
                <a:ext cx="771" cy="918"/>
                <a:chOff x="3538" y="1248"/>
                <a:chExt cx="771" cy="918"/>
              </a:xfrm>
            </p:grpSpPr>
            <p:sp>
              <p:nvSpPr>
                <p:cNvPr id="12351" name="Line 26"/>
                <p:cNvSpPr/>
                <p:nvPr/>
              </p:nvSpPr>
              <p:spPr>
                <a:xfrm flipV="1">
                  <a:off x="3648" y="1392"/>
                  <a:ext cx="0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2" name="Text Box 27"/>
                <p:cNvSpPr txBox="1"/>
                <p:nvPr/>
              </p:nvSpPr>
              <p:spPr>
                <a:xfrm>
                  <a:off x="3646" y="1248"/>
                  <a:ext cx="33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53" name="Rectangle 29"/>
                <p:cNvSpPr/>
                <p:nvPr/>
              </p:nvSpPr>
              <p:spPr>
                <a:xfrm>
                  <a:off x="3538" y="1622"/>
                  <a:ext cx="771" cy="5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         CP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354" name="Group 31"/>
              <p:cNvGrpSpPr/>
              <p:nvPr/>
            </p:nvGrpSpPr>
            <p:grpSpPr>
              <a:xfrm>
                <a:off x="240" y="1248"/>
                <a:ext cx="771" cy="918"/>
                <a:chOff x="3538" y="1248"/>
                <a:chExt cx="771" cy="918"/>
              </a:xfrm>
            </p:grpSpPr>
            <p:sp>
              <p:nvSpPr>
                <p:cNvPr id="12355" name="Line 32"/>
                <p:cNvSpPr/>
                <p:nvPr/>
              </p:nvSpPr>
              <p:spPr>
                <a:xfrm flipV="1">
                  <a:off x="3648" y="1392"/>
                  <a:ext cx="0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56" name="Text Box 33"/>
                <p:cNvSpPr txBox="1"/>
                <p:nvPr/>
              </p:nvSpPr>
              <p:spPr>
                <a:xfrm>
                  <a:off x="3646" y="1248"/>
                  <a:ext cx="33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57" name="Rectangle 35"/>
                <p:cNvSpPr/>
                <p:nvPr/>
              </p:nvSpPr>
              <p:spPr>
                <a:xfrm>
                  <a:off x="3538" y="1622"/>
                  <a:ext cx="771" cy="5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  <a:p>
                  <a:pPr>
                    <a:buClrTx/>
                    <a:buFontTx/>
                  </a:pPr>
                  <a:r>
                    <a:rPr lang="en-US" altLang="zh-CN" sz="2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         CP</a:t>
                  </a:r>
                  <a:endPara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358" name="Line 37"/>
              <p:cNvSpPr/>
              <p:nvPr/>
            </p:nvSpPr>
            <p:spPr>
              <a:xfrm>
                <a:off x="5280" y="2928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2359" name="Group 38"/>
              <p:cNvGrpSpPr/>
              <p:nvPr/>
            </p:nvGrpSpPr>
            <p:grpSpPr>
              <a:xfrm>
                <a:off x="4992" y="3120"/>
                <a:ext cx="576" cy="336"/>
                <a:chOff x="4704" y="2352"/>
                <a:chExt cx="576" cy="336"/>
              </a:xfrm>
            </p:grpSpPr>
            <p:sp>
              <p:nvSpPr>
                <p:cNvPr id="12360" name="Rectangle 39"/>
                <p:cNvSpPr/>
                <p:nvPr/>
              </p:nvSpPr>
              <p:spPr>
                <a:xfrm>
                  <a:off x="4704" y="2448"/>
                  <a:ext cx="57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61" name="Oval 40"/>
                <p:cNvSpPr/>
                <p:nvPr/>
              </p:nvSpPr>
              <p:spPr>
                <a:xfrm>
                  <a:off x="4944" y="2352"/>
                  <a:ext cx="96" cy="96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362" name="Group 41"/>
              <p:cNvGrpSpPr/>
              <p:nvPr/>
            </p:nvGrpSpPr>
            <p:grpSpPr>
              <a:xfrm>
                <a:off x="4224" y="2592"/>
                <a:ext cx="576" cy="336"/>
                <a:chOff x="4704" y="2352"/>
                <a:chExt cx="576" cy="336"/>
              </a:xfrm>
            </p:grpSpPr>
            <p:sp>
              <p:nvSpPr>
                <p:cNvPr id="12363" name="Rectangle 42"/>
                <p:cNvSpPr/>
                <p:nvPr/>
              </p:nvSpPr>
              <p:spPr>
                <a:xfrm>
                  <a:off x="4704" y="2448"/>
                  <a:ext cx="57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64" name="Oval 43"/>
                <p:cNvSpPr/>
                <p:nvPr/>
              </p:nvSpPr>
              <p:spPr>
                <a:xfrm>
                  <a:off x="4944" y="2352"/>
                  <a:ext cx="96" cy="96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365" name="Line 44"/>
              <p:cNvSpPr/>
              <p:nvPr/>
            </p:nvSpPr>
            <p:spPr>
              <a:xfrm>
                <a:off x="4512" y="2928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2366" name="Group 45"/>
              <p:cNvGrpSpPr/>
              <p:nvPr/>
            </p:nvGrpSpPr>
            <p:grpSpPr>
              <a:xfrm>
                <a:off x="4224" y="3120"/>
                <a:ext cx="576" cy="336"/>
                <a:chOff x="4704" y="2352"/>
                <a:chExt cx="576" cy="336"/>
              </a:xfrm>
            </p:grpSpPr>
            <p:sp>
              <p:nvSpPr>
                <p:cNvPr id="12367" name="Rectangle 46"/>
                <p:cNvSpPr/>
                <p:nvPr/>
              </p:nvSpPr>
              <p:spPr>
                <a:xfrm>
                  <a:off x="4704" y="2448"/>
                  <a:ext cx="576" cy="24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68" name="Oval 47"/>
                <p:cNvSpPr/>
                <p:nvPr/>
              </p:nvSpPr>
              <p:spPr>
                <a:xfrm>
                  <a:off x="4944" y="2352"/>
                  <a:ext cx="96" cy="96"/>
                </a:xfrm>
                <a:prstGeom prst="ellipse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369" name="Line 48"/>
              <p:cNvSpPr/>
              <p:nvPr/>
            </p:nvSpPr>
            <p:spPr>
              <a:xfrm flipV="1">
                <a:off x="4512" y="1824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0" name="Line 49"/>
              <p:cNvSpPr/>
              <p:nvPr/>
            </p:nvSpPr>
            <p:spPr>
              <a:xfrm>
                <a:off x="1200" y="2352"/>
                <a:ext cx="331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1" name="Line 50"/>
              <p:cNvSpPr/>
              <p:nvPr/>
            </p:nvSpPr>
            <p:spPr>
              <a:xfrm flipV="1">
                <a:off x="1200" y="1824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2" name="Line 51"/>
              <p:cNvSpPr/>
              <p:nvPr/>
            </p:nvSpPr>
            <p:spPr>
              <a:xfrm flipV="1">
                <a:off x="2304" y="1824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3" name="Line 52"/>
              <p:cNvSpPr/>
              <p:nvPr/>
            </p:nvSpPr>
            <p:spPr>
              <a:xfrm flipV="1">
                <a:off x="3408" y="1824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4" name="Line 53"/>
              <p:cNvSpPr/>
              <p:nvPr/>
            </p:nvSpPr>
            <p:spPr>
              <a:xfrm flipH="1">
                <a:off x="1008" y="182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5" name="Line 54"/>
              <p:cNvSpPr/>
              <p:nvPr/>
            </p:nvSpPr>
            <p:spPr>
              <a:xfrm flipH="1">
                <a:off x="2112" y="182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6" name="Line 55"/>
              <p:cNvSpPr/>
              <p:nvPr/>
            </p:nvSpPr>
            <p:spPr>
              <a:xfrm flipH="1">
                <a:off x="3216" y="182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7" name="Line 56"/>
              <p:cNvSpPr/>
              <p:nvPr/>
            </p:nvSpPr>
            <p:spPr>
              <a:xfrm flipH="1">
                <a:off x="4320" y="182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78" name="Oval 57"/>
              <p:cNvSpPr/>
              <p:nvPr/>
            </p:nvSpPr>
            <p:spPr>
              <a:xfrm>
                <a:off x="2256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79" name="Oval 58"/>
              <p:cNvSpPr/>
              <p:nvPr/>
            </p:nvSpPr>
            <p:spPr>
              <a:xfrm>
                <a:off x="3360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80" name="Oval 59"/>
              <p:cNvSpPr/>
              <p:nvPr/>
            </p:nvSpPr>
            <p:spPr>
              <a:xfrm>
                <a:off x="4464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81" name="Line 60"/>
              <p:cNvSpPr/>
              <p:nvPr/>
            </p:nvSpPr>
            <p:spPr>
              <a:xfrm>
                <a:off x="864" y="2544"/>
                <a:ext cx="44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2" name="Line 61"/>
              <p:cNvSpPr/>
              <p:nvPr/>
            </p:nvSpPr>
            <p:spPr>
              <a:xfrm>
                <a:off x="5280" y="2544"/>
                <a:ext cx="0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3" name="Line 62"/>
              <p:cNvSpPr/>
              <p:nvPr/>
            </p:nvSpPr>
            <p:spPr>
              <a:xfrm>
                <a:off x="864" y="2160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4" name="Line 63"/>
              <p:cNvSpPr/>
              <p:nvPr/>
            </p:nvSpPr>
            <p:spPr>
              <a:xfrm>
                <a:off x="1968" y="2160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5" name="Line 64"/>
              <p:cNvSpPr/>
              <p:nvPr/>
            </p:nvSpPr>
            <p:spPr>
              <a:xfrm>
                <a:off x="3072" y="2160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6" name="Line 65"/>
              <p:cNvSpPr/>
              <p:nvPr/>
            </p:nvSpPr>
            <p:spPr>
              <a:xfrm>
                <a:off x="4176" y="2160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87" name="Oval 66"/>
              <p:cNvSpPr/>
              <p:nvPr/>
            </p:nvSpPr>
            <p:spPr>
              <a:xfrm>
                <a:off x="1920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88" name="Oval 67"/>
              <p:cNvSpPr/>
              <p:nvPr/>
            </p:nvSpPr>
            <p:spPr>
              <a:xfrm>
                <a:off x="3024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89" name="Oval 68"/>
              <p:cNvSpPr/>
              <p:nvPr/>
            </p:nvSpPr>
            <p:spPr>
              <a:xfrm>
                <a:off x="4128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0" name="Line 69"/>
              <p:cNvSpPr/>
              <p:nvPr/>
            </p:nvSpPr>
            <p:spPr>
              <a:xfrm>
                <a:off x="336" y="216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91" name="Line 70"/>
              <p:cNvSpPr/>
              <p:nvPr/>
            </p:nvSpPr>
            <p:spPr>
              <a:xfrm>
                <a:off x="1440" y="216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92" name="Line 71"/>
              <p:cNvSpPr/>
              <p:nvPr/>
            </p:nvSpPr>
            <p:spPr>
              <a:xfrm>
                <a:off x="2544" y="216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93" name="Line 72"/>
              <p:cNvSpPr/>
              <p:nvPr/>
            </p:nvSpPr>
            <p:spPr>
              <a:xfrm>
                <a:off x="3648" y="216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94" name="Line 73"/>
              <p:cNvSpPr/>
              <p:nvPr/>
            </p:nvSpPr>
            <p:spPr>
              <a:xfrm>
                <a:off x="4512" y="3456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95" name="Line 74"/>
              <p:cNvSpPr/>
              <p:nvPr/>
            </p:nvSpPr>
            <p:spPr>
              <a:xfrm>
                <a:off x="5280" y="3456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396" name="文本框 114"/>
            <p:cNvSpPr txBox="1"/>
            <p:nvPr/>
          </p:nvSpPr>
          <p:spPr>
            <a:xfrm>
              <a:off x="1117009" y="1963285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7" name="文本框 115"/>
            <p:cNvSpPr txBox="1"/>
            <p:nvPr/>
          </p:nvSpPr>
          <p:spPr>
            <a:xfrm>
              <a:off x="2880493" y="2022536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" name="文本框 116"/>
            <p:cNvSpPr txBox="1"/>
            <p:nvPr/>
          </p:nvSpPr>
          <p:spPr>
            <a:xfrm>
              <a:off x="4580048" y="2018153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9" name="文本框 118"/>
            <p:cNvSpPr txBox="1"/>
            <p:nvPr/>
          </p:nvSpPr>
          <p:spPr>
            <a:xfrm>
              <a:off x="6334802" y="2047265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00" name="文本框 120"/>
            <p:cNvSpPr txBox="1"/>
            <p:nvPr/>
          </p:nvSpPr>
          <p:spPr>
            <a:xfrm>
              <a:off x="7103495" y="4994361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75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04013" y="5865813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161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065213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4D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触发器构成的寄存器存在的问题：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数据撤销，输出不能保持数据。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）设计具有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保持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Hold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功能的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1656" name="Text Box 40"/>
          <p:cNvSpPr txBox="1"/>
          <p:nvPr/>
        </p:nvSpPr>
        <p:spPr>
          <a:xfrm>
            <a:off x="4951413" y="3656013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异步置零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1657" name="Text Box 41"/>
          <p:cNvSpPr txBox="1"/>
          <p:nvPr/>
        </p:nvSpPr>
        <p:spPr>
          <a:xfrm>
            <a:off x="4989513" y="4160838"/>
            <a:ext cx="22479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置数（</a:t>
            </a: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Store</a:t>
            </a: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1658" name="Text Box 42"/>
          <p:cNvSpPr txBox="1"/>
          <p:nvPr/>
        </p:nvSpPr>
        <p:spPr>
          <a:xfrm>
            <a:off x="5024438" y="4592638"/>
            <a:ext cx="20780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保持（</a:t>
            </a: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Hold</a:t>
            </a: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1659" name="Text Box 43"/>
          <p:cNvSpPr txBox="1"/>
          <p:nvPr/>
        </p:nvSpPr>
        <p:spPr>
          <a:xfrm>
            <a:off x="1979613" y="2589213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功能表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4213" y="3148013"/>
            <a:ext cx="4038600" cy="1941512"/>
            <a:chOff x="684213" y="3147523"/>
            <a:chExt cx="4038600" cy="1942002"/>
          </a:xfrm>
        </p:grpSpPr>
        <p:grpSp>
          <p:nvGrpSpPr>
            <p:cNvPr id="13321" name="组合 2"/>
            <p:cNvGrpSpPr/>
            <p:nvPr/>
          </p:nvGrpSpPr>
          <p:grpSpPr>
            <a:xfrm>
              <a:off x="684213" y="3155950"/>
              <a:ext cx="4038600" cy="1933575"/>
              <a:chOff x="684213" y="3183095"/>
              <a:chExt cx="4038600" cy="1933419"/>
            </a:xfrm>
          </p:grpSpPr>
          <p:grpSp>
            <p:nvGrpSpPr>
              <p:cNvPr id="13322" name="Group 45"/>
              <p:cNvGrpSpPr/>
              <p:nvPr/>
            </p:nvGrpSpPr>
            <p:grpSpPr>
              <a:xfrm>
                <a:off x="684213" y="3183095"/>
                <a:ext cx="4038600" cy="1933419"/>
                <a:chOff x="432" y="2256"/>
                <a:chExt cx="2544" cy="1208"/>
              </a:xfrm>
            </p:grpSpPr>
            <p:sp>
              <p:nvSpPr>
                <p:cNvPr id="751621" name="Rectangle 5"/>
                <p:cNvSpPr>
                  <a:spLocks noChangeArrowheads="1"/>
                </p:cNvSpPr>
                <p:nvPr/>
              </p:nvSpPr>
              <p:spPr bwMode="auto">
                <a:xfrm>
                  <a:off x="1958" y="314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2" name="Rectangle 6"/>
                <p:cNvSpPr>
                  <a:spLocks noChangeArrowheads="1"/>
                </p:cNvSpPr>
                <p:nvPr/>
              </p:nvSpPr>
              <p:spPr bwMode="auto">
                <a:xfrm>
                  <a:off x="1958" y="286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3" name="Rectangle 7"/>
                <p:cNvSpPr>
                  <a:spLocks noChangeArrowheads="1"/>
                </p:cNvSpPr>
                <p:nvPr/>
              </p:nvSpPr>
              <p:spPr bwMode="auto">
                <a:xfrm>
                  <a:off x="1958" y="2531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4" name="Rectangle 8"/>
                <p:cNvSpPr>
                  <a:spLocks noChangeArrowheads="1"/>
                </p:cNvSpPr>
                <p:nvPr/>
              </p:nvSpPr>
              <p:spPr bwMode="auto">
                <a:xfrm>
                  <a:off x="1958" y="225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5" name="Rectangle 9"/>
                <p:cNvSpPr>
                  <a:spLocks noChangeArrowheads="1"/>
                </p:cNvSpPr>
                <p:nvPr/>
              </p:nvSpPr>
              <p:spPr bwMode="auto">
                <a:xfrm>
                  <a:off x="2467" y="314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n</a:t>
                  </a:r>
                  <a:endParaRPr kumimoji="0" lang="en-US" altLang="zh-CN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6" name="Rectangle 10"/>
                <p:cNvSpPr>
                  <a:spLocks noChangeArrowheads="1"/>
                </p:cNvSpPr>
                <p:nvPr/>
              </p:nvSpPr>
              <p:spPr bwMode="auto">
                <a:xfrm>
                  <a:off x="1450" y="3148"/>
                  <a:ext cx="508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7" name="Rectangle 11"/>
                <p:cNvSpPr>
                  <a:spLocks noChangeArrowheads="1"/>
                </p:cNvSpPr>
                <p:nvPr/>
              </p:nvSpPr>
              <p:spPr bwMode="auto">
                <a:xfrm>
                  <a:off x="941" y="314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8" name="Rectangle 12"/>
                <p:cNvSpPr>
                  <a:spLocks noChangeArrowheads="1"/>
                </p:cNvSpPr>
                <p:nvPr/>
              </p:nvSpPr>
              <p:spPr bwMode="auto">
                <a:xfrm>
                  <a:off x="432" y="314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29" name="Rectangle 13"/>
                <p:cNvSpPr>
                  <a:spLocks noChangeArrowheads="1"/>
                </p:cNvSpPr>
                <p:nvPr/>
              </p:nvSpPr>
              <p:spPr bwMode="auto">
                <a:xfrm>
                  <a:off x="2467" y="286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0" name="Rectangle 14"/>
                <p:cNvSpPr>
                  <a:spLocks noChangeArrowheads="1"/>
                </p:cNvSpPr>
                <p:nvPr/>
              </p:nvSpPr>
              <p:spPr bwMode="auto">
                <a:xfrm>
                  <a:off x="1450" y="2860"/>
                  <a:ext cx="5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1" name="Rectangle 15"/>
                <p:cNvSpPr>
                  <a:spLocks noChangeArrowheads="1"/>
                </p:cNvSpPr>
                <p:nvPr/>
              </p:nvSpPr>
              <p:spPr bwMode="auto">
                <a:xfrm>
                  <a:off x="941" y="286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2" name="Rectangle 16"/>
                <p:cNvSpPr>
                  <a:spLocks noChangeArrowheads="1"/>
                </p:cNvSpPr>
                <p:nvPr/>
              </p:nvSpPr>
              <p:spPr bwMode="auto">
                <a:xfrm>
                  <a:off x="432" y="286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67" y="2531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4" name="Rectangle 18"/>
                <p:cNvSpPr>
                  <a:spLocks noChangeArrowheads="1"/>
                </p:cNvSpPr>
                <p:nvPr/>
              </p:nvSpPr>
              <p:spPr bwMode="auto">
                <a:xfrm>
                  <a:off x="1450" y="2531"/>
                  <a:ext cx="508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5" name="Rectangle 19"/>
                <p:cNvSpPr>
                  <a:spLocks noChangeArrowheads="1"/>
                </p:cNvSpPr>
                <p:nvPr/>
              </p:nvSpPr>
              <p:spPr bwMode="auto">
                <a:xfrm>
                  <a:off x="941" y="2531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2" y="2531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467" y="225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n+1</a:t>
                  </a:r>
                  <a:endParaRPr kumimoji="0" lang="en-US" altLang="zh-CN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8" name="Rectangle 22"/>
                <p:cNvSpPr>
                  <a:spLocks noChangeArrowheads="1"/>
                </p:cNvSpPr>
                <p:nvPr/>
              </p:nvSpPr>
              <p:spPr bwMode="auto">
                <a:xfrm>
                  <a:off x="1450" y="2256"/>
                  <a:ext cx="5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39" name="Rectangle 23"/>
                <p:cNvSpPr>
                  <a:spLocks noChangeArrowheads="1"/>
                </p:cNvSpPr>
                <p:nvPr/>
              </p:nvSpPr>
              <p:spPr bwMode="auto">
                <a:xfrm>
                  <a:off x="941" y="225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1640" name="Rectangle 24"/>
                <p:cNvSpPr>
                  <a:spLocks noChangeArrowheads="1"/>
                </p:cNvSpPr>
                <p:nvPr/>
              </p:nvSpPr>
              <p:spPr bwMode="auto">
                <a:xfrm>
                  <a:off x="432" y="225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43" name="Line 25"/>
                <p:cNvSpPr/>
                <p:nvPr/>
              </p:nvSpPr>
              <p:spPr>
                <a:xfrm>
                  <a:off x="432" y="2256"/>
                  <a:ext cx="254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4" name="Line 26"/>
                <p:cNvSpPr/>
                <p:nvPr/>
              </p:nvSpPr>
              <p:spPr>
                <a:xfrm>
                  <a:off x="432" y="2544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5" name="Line 27"/>
                <p:cNvSpPr/>
                <p:nvPr/>
              </p:nvSpPr>
              <p:spPr>
                <a:xfrm>
                  <a:off x="432" y="2860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6" name="Line 28"/>
                <p:cNvSpPr/>
                <p:nvPr/>
              </p:nvSpPr>
              <p:spPr>
                <a:xfrm>
                  <a:off x="432" y="3148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7" name="Line 29"/>
                <p:cNvSpPr/>
                <p:nvPr/>
              </p:nvSpPr>
              <p:spPr>
                <a:xfrm>
                  <a:off x="432" y="3464"/>
                  <a:ext cx="254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8" name="Line 30"/>
                <p:cNvSpPr/>
                <p:nvPr/>
              </p:nvSpPr>
              <p:spPr>
                <a:xfrm>
                  <a:off x="432" y="2256"/>
                  <a:ext cx="0" cy="1208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49" name="Line 31"/>
                <p:cNvSpPr/>
                <p:nvPr/>
              </p:nvSpPr>
              <p:spPr>
                <a:xfrm>
                  <a:off x="941" y="225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0" name="Line 32"/>
                <p:cNvSpPr/>
                <p:nvPr/>
              </p:nvSpPr>
              <p:spPr>
                <a:xfrm>
                  <a:off x="1450" y="225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1" name="Line 33"/>
                <p:cNvSpPr/>
                <p:nvPr/>
              </p:nvSpPr>
              <p:spPr>
                <a:xfrm>
                  <a:off x="2467" y="225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2" name="Line 34"/>
                <p:cNvSpPr/>
                <p:nvPr/>
              </p:nvSpPr>
              <p:spPr>
                <a:xfrm>
                  <a:off x="2976" y="2256"/>
                  <a:ext cx="0" cy="1208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3" name="Line 35"/>
                <p:cNvSpPr/>
                <p:nvPr/>
              </p:nvSpPr>
              <p:spPr>
                <a:xfrm>
                  <a:off x="1958" y="225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54" name="文本框 2"/>
              <p:cNvSpPr txBox="1"/>
              <p:nvPr/>
            </p:nvSpPr>
            <p:spPr>
              <a:xfrm>
                <a:off x="2490788" y="4190147"/>
                <a:ext cx="4222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55" name="文本框 47"/>
              <p:cNvSpPr txBox="1"/>
              <p:nvPr/>
            </p:nvSpPr>
            <p:spPr>
              <a:xfrm>
                <a:off x="2492375" y="4667250"/>
                <a:ext cx="420688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56" name="文本框 47"/>
            <p:cNvSpPr txBox="1"/>
            <p:nvPr/>
          </p:nvSpPr>
          <p:spPr>
            <a:xfrm>
              <a:off x="837317" y="3147523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7" name="文本框 48"/>
            <p:cNvSpPr txBox="1"/>
            <p:nvPr/>
          </p:nvSpPr>
          <p:spPr>
            <a:xfrm>
              <a:off x="1658505" y="3153142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620838" y="5346700"/>
            <a:ext cx="4899025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—          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=D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    + 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E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1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56" grpId="0"/>
      <p:bldP spid="751657" grpId="0"/>
      <p:bldP spid="751658" grpId="0"/>
      <p:bldP spid="751659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54813" y="6134100"/>
            <a:ext cx="1931988" cy="420688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17488"/>
            <a:ext cx="7543800" cy="6524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2643" name="Text Box 3"/>
          <p:cNvSpPr txBox="1">
            <a:spLocks noChangeArrowheads="1"/>
          </p:cNvSpPr>
          <p:nvPr/>
        </p:nvSpPr>
        <p:spPr bwMode="auto">
          <a:xfrm>
            <a:off x="287338" y="709613"/>
            <a:ext cx="4535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具有</a:t>
            </a: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Hold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功能的</a:t>
            </a: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4D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2644" name="Group 4"/>
          <p:cNvGrpSpPr/>
          <p:nvPr/>
        </p:nvGrpSpPr>
        <p:grpSpPr>
          <a:xfrm>
            <a:off x="309563" y="1812925"/>
            <a:ext cx="8424862" cy="4154488"/>
            <a:chOff x="218" y="1490"/>
            <a:chExt cx="5307" cy="2617"/>
          </a:xfrm>
        </p:grpSpPr>
        <p:sp>
          <p:nvSpPr>
            <p:cNvPr id="14341" name="Text Box 5"/>
            <p:cNvSpPr txBox="1"/>
            <p:nvPr/>
          </p:nvSpPr>
          <p:spPr>
            <a:xfrm>
              <a:off x="509" y="3767"/>
              <a:ext cx="3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2" name="Text Box 6"/>
            <p:cNvSpPr txBox="1"/>
            <p:nvPr/>
          </p:nvSpPr>
          <p:spPr>
            <a:xfrm>
              <a:off x="1611" y="3802"/>
              <a:ext cx="3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3" name="Text Box 7"/>
            <p:cNvSpPr txBox="1"/>
            <p:nvPr/>
          </p:nvSpPr>
          <p:spPr>
            <a:xfrm>
              <a:off x="2771" y="3817"/>
              <a:ext cx="3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Text Box 8"/>
            <p:cNvSpPr txBox="1"/>
            <p:nvPr/>
          </p:nvSpPr>
          <p:spPr>
            <a:xfrm>
              <a:off x="3830" y="3819"/>
              <a:ext cx="33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345" name="Group 9"/>
            <p:cNvGrpSpPr/>
            <p:nvPr/>
          </p:nvGrpSpPr>
          <p:grpSpPr>
            <a:xfrm>
              <a:off x="293" y="2931"/>
              <a:ext cx="727" cy="296"/>
              <a:chOff x="294" y="2999"/>
              <a:chExt cx="727" cy="296"/>
            </a:xfrm>
          </p:grpSpPr>
          <p:sp>
            <p:nvSpPr>
              <p:cNvPr id="14346" name="Rectangle 10"/>
              <p:cNvSpPr/>
              <p:nvPr/>
            </p:nvSpPr>
            <p:spPr>
              <a:xfrm>
                <a:off x="294" y="2999"/>
                <a:ext cx="727" cy="15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47" name="Rectangle 11"/>
              <p:cNvSpPr/>
              <p:nvPr/>
            </p:nvSpPr>
            <p:spPr>
              <a:xfrm>
                <a:off x="294" y="3157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48" name="Rectangle 12"/>
              <p:cNvSpPr/>
              <p:nvPr/>
            </p:nvSpPr>
            <p:spPr>
              <a:xfrm>
                <a:off x="656" y="3158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49" name="Group 13"/>
            <p:cNvGrpSpPr/>
            <p:nvPr/>
          </p:nvGrpSpPr>
          <p:grpSpPr>
            <a:xfrm>
              <a:off x="1382" y="2931"/>
              <a:ext cx="727" cy="296"/>
              <a:chOff x="294" y="2999"/>
              <a:chExt cx="727" cy="296"/>
            </a:xfrm>
          </p:grpSpPr>
          <p:sp>
            <p:nvSpPr>
              <p:cNvPr id="14350" name="Rectangle 14"/>
              <p:cNvSpPr/>
              <p:nvPr/>
            </p:nvSpPr>
            <p:spPr>
              <a:xfrm>
                <a:off x="294" y="2999"/>
                <a:ext cx="727" cy="15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51" name="Rectangle 15"/>
              <p:cNvSpPr/>
              <p:nvPr/>
            </p:nvSpPr>
            <p:spPr>
              <a:xfrm>
                <a:off x="294" y="3157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52" name="Rectangle 16"/>
              <p:cNvSpPr/>
              <p:nvPr/>
            </p:nvSpPr>
            <p:spPr>
              <a:xfrm>
                <a:off x="656" y="3158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53" name="Group 17"/>
            <p:cNvGrpSpPr/>
            <p:nvPr/>
          </p:nvGrpSpPr>
          <p:grpSpPr>
            <a:xfrm>
              <a:off x="2516" y="2931"/>
              <a:ext cx="727" cy="296"/>
              <a:chOff x="294" y="2999"/>
              <a:chExt cx="727" cy="296"/>
            </a:xfrm>
          </p:grpSpPr>
          <p:sp>
            <p:nvSpPr>
              <p:cNvPr id="14354" name="Rectangle 18"/>
              <p:cNvSpPr/>
              <p:nvPr/>
            </p:nvSpPr>
            <p:spPr>
              <a:xfrm>
                <a:off x="294" y="2999"/>
                <a:ext cx="727" cy="15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55" name="Rectangle 19"/>
              <p:cNvSpPr/>
              <p:nvPr/>
            </p:nvSpPr>
            <p:spPr>
              <a:xfrm>
                <a:off x="294" y="3157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56" name="Rectangle 20"/>
              <p:cNvSpPr/>
              <p:nvPr/>
            </p:nvSpPr>
            <p:spPr>
              <a:xfrm>
                <a:off x="656" y="3158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57" name="Group 21"/>
            <p:cNvGrpSpPr/>
            <p:nvPr/>
          </p:nvGrpSpPr>
          <p:grpSpPr>
            <a:xfrm>
              <a:off x="3650" y="2931"/>
              <a:ext cx="727" cy="296"/>
              <a:chOff x="294" y="2999"/>
              <a:chExt cx="727" cy="296"/>
            </a:xfrm>
          </p:grpSpPr>
          <p:sp>
            <p:nvSpPr>
              <p:cNvPr id="14358" name="Rectangle 22"/>
              <p:cNvSpPr/>
              <p:nvPr/>
            </p:nvSpPr>
            <p:spPr>
              <a:xfrm>
                <a:off x="294" y="2999"/>
                <a:ext cx="727" cy="15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59" name="Rectangle 23"/>
              <p:cNvSpPr/>
              <p:nvPr/>
            </p:nvSpPr>
            <p:spPr>
              <a:xfrm>
                <a:off x="294" y="3157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0" name="Rectangle 24"/>
              <p:cNvSpPr/>
              <p:nvPr/>
            </p:nvSpPr>
            <p:spPr>
              <a:xfrm>
                <a:off x="656" y="3158"/>
                <a:ext cx="364" cy="13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361" name="Line 25"/>
            <p:cNvSpPr/>
            <p:nvPr/>
          </p:nvSpPr>
          <p:spPr>
            <a:xfrm>
              <a:off x="748" y="3227"/>
              <a:ext cx="0" cy="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2" name="Line 26"/>
            <p:cNvSpPr/>
            <p:nvPr/>
          </p:nvSpPr>
          <p:spPr>
            <a:xfrm>
              <a:off x="1837" y="3203"/>
              <a:ext cx="0" cy="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3" name="Line 27"/>
            <p:cNvSpPr/>
            <p:nvPr/>
          </p:nvSpPr>
          <p:spPr>
            <a:xfrm>
              <a:off x="2971" y="3203"/>
              <a:ext cx="0" cy="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4" name="Line 28"/>
            <p:cNvSpPr/>
            <p:nvPr/>
          </p:nvSpPr>
          <p:spPr>
            <a:xfrm>
              <a:off x="4128" y="3216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365" name="Group 29"/>
            <p:cNvGrpSpPr/>
            <p:nvPr/>
          </p:nvGrpSpPr>
          <p:grpSpPr>
            <a:xfrm>
              <a:off x="218" y="1490"/>
              <a:ext cx="4281" cy="1985"/>
              <a:chOff x="218" y="1417"/>
              <a:chExt cx="4281" cy="2121"/>
            </a:xfrm>
          </p:grpSpPr>
          <p:sp>
            <p:nvSpPr>
              <p:cNvPr id="14366" name="Line 30"/>
              <p:cNvSpPr/>
              <p:nvPr/>
            </p:nvSpPr>
            <p:spPr>
              <a:xfrm flipH="1">
                <a:off x="1347" y="1417"/>
                <a:ext cx="8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67" name="Line 31"/>
              <p:cNvSpPr/>
              <p:nvPr/>
            </p:nvSpPr>
            <p:spPr>
              <a:xfrm flipH="1">
                <a:off x="1338" y="1417"/>
                <a:ext cx="9" cy="21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68" name="Line 32"/>
              <p:cNvSpPr/>
              <p:nvPr/>
            </p:nvSpPr>
            <p:spPr>
              <a:xfrm>
                <a:off x="1338" y="3521"/>
                <a:ext cx="13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69" name="Line 33"/>
              <p:cNvSpPr/>
              <p:nvPr/>
            </p:nvSpPr>
            <p:spPr>
              <a:xfrm flipV="1">
                <a:off x="1474" y="3227"/>
                <a:ext cx="0" cy="29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0" name="Line 34"/>
              <p:cNvSpPr/>
              <p:nvPr/>
            </p:nvSpPr>
            <p:spPr>
              <a:xfrm flipH="1">
                <a:off x="227" y="1417"/>
                <a:ext cx="8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1" name="Line 35"/>
              <p:cNvSpPr/>
              <p:nvPr/>
            </p:nvSpPr>
            <p:spPr>
              <a:xfrm flipH="1">
                <a:off x="218" y="1417"/>
                <a:ext cx="9" cy="21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2" name="Line 36"/>
              <p:cNvSpPr/>
              <p:nvPr/>
            </p:nvSpPr>
            <p:spPr>
              <a:xfrm>
                <a:off x="218" y="3521"/>
                <a:ext cx="16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3" name="Line 37"/>
              <p:cNvSpPr/>
              <p:nvPr/>
            </p:nvSpPr>
            <p:spPr>
              <a:xfrm flipV="1">
                <a:off x="385" y="3227"/>
                <a:ext cx="0" cy="29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4" name="Line 38"/>
              <p:cNvSpPr/>
              <p:nvPr/>
            </p:nvSpPr>
            <p:spPr>
              <a:xfrm flipH="1">
                <a:off x="2481" y="1417"/>
                <a:ext cx="8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5" name="Line 39"/>
              <p:cNvSpPr/>
              <p:nvPr/>
            </p:nvSpPr>
            <p:spPr>
              <a:xfrm flipH="1">
                <a:off x="2472" y="1417"/>
                <a:ext cx="9" cy="21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6" name="Line 40"/>
              <p:cNvSpPr/>
              <p:nvPr/>
            </p:nvSpPr>
            <p:spPr>
              <a:xfrm>
                <a:off x="2472" y="3521"/>
                <a:ext cx="1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7" name="Line 41"/>
              <p:cNvSpPr/>
              <p:nvPr/>
            </p:nvSpPr>
            <p:spPr>
              <a:xfrm flipV="1">
                <a:off x="2592" y="3227"/>
                <a:ext cx="0" cy="29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8" name="Line 42"/>
              <p:cNvSpPr/>
              <p:nvPr/>
            </p:nvSpPr>
            <p:spPr>
              <a:xfrm flipH="1">
                <a:off x="3615" y="1434"/>
                <a:ext cx="8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9" name="Line 43"/>
              <p:cNvSpPr/>
              <p:nvPr/>
            </p:nvSpPr>
            <p:spPr>
              <a:xfrm flipH="1">
                <a:off x="3606" y="1434"/>
                <a:ext cx="9" cy="21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0" name="Line 44"/>
              <p:cNvSpPr/>
              <p:nvPr/>
            </p:nvSpPr>
            <p:spPr>
              <a:xfrm>
                <a:off x="3606" y="3538"/>
                <a:ext cx="1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1" name="Line 45"/>
              <p:cNvSpPr/>
              <p:nvPr/>
            </p:nvSpPr>
            <p:spPr>
              <a:xfrm flipV="1">
                <a:off x="3726" y="3244"/>
                <a:ext cx="0" cy="29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382" name="Line 46"/>
            <p:cNvSpPr/>
            <p:nvPr/>
          </p:nvSpPr>
          <p:spPr>
            <a:xfrm flipV="1">
              <a:off x="4944" y="35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3" name="Line 47"/>
            <p:cNvSpPr/>
            <p:nvPr/>
          </p:nvSpPr>
          <p:spPr>
            <a:xfrm>
              <a:off x="5239" y="3544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4" name="Line 48"/>
            <p:cNvSpPr/>
            <p:nvPr/>
          </p:nvSpPr>
          <p:spPr>
            <a:xfrm>
              <a:off x="4992" y="355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385" name="Group 49"/>
            <p:cNvGrpSpPr/>
            <p:nvPr/>
          </p:nvGrpSpPr>
          <p:grpSpPr>
            <a:xfrm>
              <a:off x="939" y="3225"/>
              <a:ext cx="4073" cy="659"/>
              <a:chOff x="939" y="3225"/>
              <a:chExt cx="4073" cy="659"/>
            </a:xfrm>
          </p:grpSpPr>
          <p:sp>
            <p:nvSpPr>
              <p:cNvPr id="14386" name="Line 50"/>
              <p:cNvSpPr/>
              <p:nvPr/>
            </p:nvSpPr>
            <p:spPr>
              <a:xfrm flipH="1">
                <a:off x="939" y="3840"/>
                <a:ext cx="407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7" name="Line 51"/>
              <p:cNvSpPr/>
              <p:nvPr/>
            </p:nvSpPr>
            <p:spPr>
              <a:xfrm>
                <a:off x="939" y="3227"/>
                <a:ext cx="0" cy="6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8" name="Line 52"/>
              <p:cNvSpPr/>
              <p:nvPr/>
            </p:nvSpPr>
            <p:spPr>
              <a:xfrm>
                <a:off x="1973" y="3225"/>
                <a:ext cx="0" cy="6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9" name="Line 53"/>
              <p:cNvSpPr/>
              <p:nvPr/>
            </p:nvSpPr>
            <p:spPr>
              <a:xfrm>
                <a:off x="3107" y="3225"/>
                <a:ext cx="0" cy="6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0" name="Line 54"/>
              <p:cNvSpPr/>
              <p:nvPr/>
            </p:nvSpPr>
            <p:spPr>
              <a:xfrm>
                <a:off x="4286" y="3225"/>
                <a:ext cx="0" cy="6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pic>
            <p:nvPicPr>
              <p:cNvPr id="14391" name="Picture 55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958" y="3824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92" name="Picture 56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272" y="3824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93" name="Picture 57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092" y="3824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4394" name="Group 58"/>
            <p:cNvGrpSpPr/>
            <p:nvPr/>
          </p:nvGrpSpPr>
          <p:grpSpPr>
            <a:xfrm>
              <a:off x="521" y="3202"/>
              <a:ext cx="4219" cy="380"/>
              <a:chOff x="521" y="3202"/>
              <a:chExt cx="4219" cy="380"/>
            </a:xfrm>
          </p:grpSpPr>
          <p:sp>
            <p:nvSpPr>
              <p:cNvPr id="14395" name="Line 59"/>
              <p:cNvSpPr/>
              <p:nvPr/>
            </p:nvSpPr>
            <p:spPr>
              <a:xfrm flipH="1">
                <a:off x="521" y="3544"/>
                <a:ext cx="421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pic>
            <p:nvPicPr>
              <p:cNvPr id="14396" name="Picture 60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714" y="3522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4397" name="Picture 61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818" y="3521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98" name="Line 62"/>
              <p:cNvSpPr/>
              <p:nvPr/>
            </p:nvSpPr>
            <p:spPr>
              <a:xfrm flipV="1">
                <a:off x="521" y="3225"/>
                <a:ext cx="0" cy="3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9" name="Line 63"/>
              <p:cNvSpPr/>
              <p:nvPr/>
            </p:nvSpPr>
            <p:spPr>
              <a:xfrm flipV="1">
                <a:off x="1610" y="3203"/>
                <a:ext cx="0" cy="3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00" name="Line 64"/>
              <p:cNvSpPr/>
              <p:nvPr/>
            </p:nvSpPr>
            <p:spPr>
              <a:xfrm flipV="1">
                <a:off x="2744" y="3202"/>
                <a:ext cx="0" cy="3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01" name="Line 65"/>
              <p:cNvSpPr/>
              <p:nvPr/>
            </p:nvSpPr>
            <p:spPr>
              <a:xfrm flipV="1">
                <a:off x="3833" y="3203"/>
                <a:ext cx="0" cy="3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pic>
            <p:nvPicPr>
              <p:cNvPr id="14402" name="Picture 66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95" y="3521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4403" name="Text Box 67"/>
            <p:cNvSpPr txBox="1"/>
            <p:nvPr/>
          </p:nvSpPr>
          <p:spPr>
            <a:xfrm>
              <a:off x="5284" y="3067"/>
              <a:ext cx="24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404" name="Group 68"/>
            <p:cNvGrpSpPr/>
            <p:nvPr/>
          </p:nvGrpSpPr>
          <p:grpSpPr>
            <a:xfrm>
              <a:off x="4752" y="3408"/>
              <a:ext cx="192" cy="288"/>
              <a:chOff x="4944" y="1728"/>
              <a:chExt cx="144" cy="240"/>
            </a:xfrm>
          </p:grpSpPr>
          <p:sp>
            <p:nvSpPr>
              <p:cNvPr id="14405" name="Rectangle 69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06" name="Oval 70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07" name="Group 71"/>
            <p:cNvGrpSpPr/>
            <p:nvPr/>
          </p:nvGrpSpPr>
          <p:grpSpPr>
            <a:xfrm>
              <a:off x="5040" y="3408"/>
              <a:ext cx="192" cy="288"/>
              <a:chOff x="4944" y="1728"/>
              <a:chExt cx="144" cy="240"/>
            </a:xfrm>
          </p:grpSpPr>
          <p:sp>
            <p:nvSpPr>
              <p:cNvPr id="14408" name="Rectangle 72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09" name="Oval 73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52714" name="Group 74"/>
          <p:cNvGrpSpPr/>
          <p:nvPr/>
        </p:nvGrpSpPr>
        <p:grpSpPr>
          <a:xfrm>
            <a:off x="573088" y="1200150"/>
            <a:ext cx="8272462" cy="2881313"/>
            <a:chOff x="384" y="1117"/>
            <a:chExt cx="5211" cy="1815"/>
          </a:xfrm>
        </p:grpSpPr>
        <p:sp>
          <p:nvSpPr>
            <p:cNvPr id="14411" name="Rectangle 75"/>
            <p:cNvSpPr/>
            <p:nvPr/>
          </p:nvSpPr>
          <p:spPr>
            <a:xfrm>
              <a:off x="522" y="1571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2" name="Rectangle 76"/>
            <p:cNvSpPr/>
            <p:nvPr/>
          </p:nvSpPr>
          <p:spPr>
            <a:xfrm>
              <a:off x="1610" y="1571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3" name="Rectangle 77"/>
            <p:cNvSpPr/>
            <p:nvPr/>
          </p:nvSpPr>
          <p:spPr>
            <a:xfrm>
              <a:off x="2744" y="1571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4" name="Rectangle 78"/>
            <p:cNvSpPr/>
            <p:nvPr/>
          </p:nvSpPr>
          <p:spPr>
            <a:xfrm>
              <a:off x="3878" y="1571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5" name="Line 79"/>
            <p:cNvSpPr/>
            <p:nvPr/>
          </p:nvSpPr>
          <p:spPr>
            <a:xfrm>
              <a:off x="658" y="211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6" name="Line 80"/>
            <p:cNvSpPr/>
            <p:nvPr/>
          </p:nvSpPr>
          <p:spPr>
            <a:xfrm>
              <a:off x="1111" y="211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7" name="Line 81"/>
            <p:cNvSpPr/>
            <p:nvPr/>
          </p:nvSpPr>
          <p:spPr>
            <a:xfrm>
              <a:off x="2245" y="211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8" name="Line 82"/>
            <p:cNvSpPr/>
            <p:nvPr/>
          </p:nvSpPr>
          <p:spPr>
            <a:xfrm>
              <a:off x="3379" y="211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9" name="Line 83"/>
            <p:cNvSpPr/>
            <p:nvPr/>
          </p:nvSpPr>
          <p:spPr>
            <a:xfrm>
              <a:off x="4513" y="211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0" name="Line 84"/>
            <p:cNvSpPr/>
            <p:nvPr/>
          </p:nvSpPr>
          <p:spPr>
            <a:xfrm>
              <a:off x="1111" y="2342"/>
              <a:ext cx="36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1" name="Line 85"/>
            <p:cNvSpPr/>
            <p:nvPr/>
          </p:nvSpPr>
          <p:spPr>
            <a:xfrm>
              <a:off x="3742" y="1843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2" name="Line 86"/>
            <p:cNvSpPr/>
            <p:nvPr/>
          </p:nvSpPr>
          <p:spPr>
            <a:xfrm>
              <a:off x="3742" y="1843"/>
              <a:ext cx="0" cy="8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3" name="Line 87"/>
            <p:cNvSpPr/>
            <p:nvPr/>
          </p:nvSpPr>
          <p:spPr>
            <a:xfrm>
              <a:off x="1746" y="211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4" name="Line 88"/>
            <p:cNvSpPr/>
            <p:nvPr/>
          </p:nvSpPr>
          <p:spPr>
            <a:xfrm>
              <a:off x="2880" y="211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5" name="Line 89"/>
            <p:cNvSpPr/>
            <p:nvPr/>
          </p:nvSpPr>
          <p:spPr>
            <a:xfrm>
              <a:off x="4014" y="211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6" name="Line 90"/>
            <p:cNvSpPr/>
            <p:nvPr/>
          </p:nvSpPr>
          <p:spPr>
            <a:xfrm>
              <a:off x="4944" y="23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7" name="Line 91"/>
            <p:cNvSpPr/>
            <p:nvPr/>
          </p:nvSpPr>
          <p:spPr>
            <a:xfrm>
              <a:off x="5239" y="2342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8" name="Line 92"/>
            <p:cNvSpPr/>
            <p:nvPr/>
          </p:nvSpPr>
          <p:spPr>
            <a:xfrm flipV="1">
              <a:off x="4944" y="273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9" name="Line 93"/>
            <p:cNvSpPr/>
            <p:nvPr/>
          </p:nvSpPr>
          <p:spPr>
            <a:xfrm>
              <a:off x="5239" y="2728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30" name="Line 94"/>
            <p:cNvSpPr/>
            <p:nvPr/>
          </p:nvSpPr>
          <p:spPr>
            <a:xfrm flipH="1" flipV="1">
              <a:off x="384" y="2736"/>
              <a:ext cx="4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4431" name="Picture 95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1" y="2327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432" name="Picture 96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65" y="2327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433" name="Picture 97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99" y="2327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434" name="Picture 98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27" y="2705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435" name="Text Box 99"/>
            <p:cNvSpPr txBox="1"/>
            <p:nvPr/>
          </p:nvSpPr>
          <p:spPr>
            <a:xfrm>
              <a:off x="5239" y="207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36" name="Text Box 100"/>
            <p:cNvSpPr txBox="1"/>
            <p:nvPr/>
          </p:nvSpPr>
          <p:spPr>
            <a:xfrm>
              <a:off x="5239" y="2206"/>
              <a:ext cx="34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37" name="Line 101"/>
            <p:cNvSpPr/>
            <p:nvPr/>
          </p:nvSpPr>
          <p:spPr>
            <a:xfrm flipV="1">
              <a:off x="1111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38" name="Text Box 102"/>
            <p:cNvSpPr txBox="1"/>
            <p:nvPr/>
          </p:nvSpPr>
          <p:spPr>
            <a:xfrm>
              <a:off x="1053" y="1129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39" name="Line 103"/>
            <p:cNvSpPr/>
            <p:nvPr/>
          </p:nvSpPr>
          <p:spPr>
            <a:xfrm flipV="1">
              <a:off x="2237" y="133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0" name="Text Box 104"/>
            <p:cNvSpPr txBox="1"/>
            <p:nvPr/>
          </p:nvSpPr>
          <p:spPr>
            <a:xfrm>
              <a:off x="2179" y="1117"/>
              <a:ext cx="3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1" name="Line 105"/>
            <p:cNvSpPr/>
            <p:nvPr/>
          </p:nvSpPr>
          <p:spPr>
            <a:xfrm flipV="1">
              <a:off x="3371" y="133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2" name="Text Box 106"/>
            <p:cNvSpPr txBox="1"/>
            <p:nvPr/>
          </p:nvSpPr>
          <p:spPr>
            <a:xfrm>
              <a:off x="3313" y="1117"/>
              <a:ext cx="3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3" name="Line 107"/>
            <p:cNvSpPr/>
            <p:nvPr/>
          </p:nvSpPr>
          <p:spPr>
            <a:xfrm flipV="1">
              <a:off x="4505" y="133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4" name="Text Box 108"/>
            <p:cNvSpPr txBox="1"/>
            <p:nvPr/>
          </p:nvSpPr>
          <p:spPr>
            <a:xfrm>
              <a:off x="4447" y="1117"/>
              <a:ext cx="3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45" name="Line 109"/>
            <p:cNvSpPr/>
            <p:nvPr/>
          </p:nvSpPr>
          <p:spPr>
            <a:xfrm>
              <a:off x="2607" y="1842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6" name="Line 110"/>
            <p:cNvSpPr/>
            <p:nvPr/>
          </p:nvSpPr>
          <p:spPr>
            <a:xfrm>
              <a:off x="2607" y="1842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4447" name="Picture 111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92" y="270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448" name="Line 112"/>
            <p:cNvSpPr/>
            <p:nvPr/>
          </p:nvSpPr>
          <p:spPr>
            <a:xfrm>
              <a:off x="1473" y="1842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49" name="Line 113"/>
            <p:cNvSpPr/>
            <p:nvPr/>
          </p:nvSpPr>
          <p:spPr>
            <a:xfrm>
              <a:off x="1473" y="1842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4450" name="Picture 11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58" y="270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451" name="Line 115"/>
            <p:cNvSpPr/>
            <p:nvPr/>
          </p:nvSpPr>
          <p:spPr>
            <a:xfrm>
              <a:off x="384" y="1842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52" name="Line 116"/>
            <p:cNvSpPr/>
            <p:nvPr/>
          </p:nvSpPr>
          <p:spPr>
            <a:xfrm>
              <a:off x="384" y="1842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453" name="Group 117"/>
            <p:cNvGrpSpPr/>
            <p:nvPr/>
          </p:nvGrpSpPr>
          <p:grpSpPr>
            <a:xfrm>
              <a:off x="4752" y="2208"/>
              <a:ext cx="192" cy="288"/>
              <a:chOff x="4944" y="1728"/>
              <a:chExt cx="144" cy="240"/>
            </a:xfrm>
          </p:grpSpPr>
          <p:sp>
            <p:nvSpPr>
              <p:cNvPr id="14454" name="Rectangle 118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55" name="Oval 119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56" name="Group 120"/>
            <p:cNvGrpSpPr/>
            <p:nvPr/>
          </p:nvGrpSpPr>
          <p:grpSpPr>
            <a:xfrm>
              <a:off x="5040" y="2208"/>
              <a:ext cx="192" cy="288"/>
              <a:chOff x="4944" y="1728"/>
              <a:chExt cx="144" cy="240"/>
            </a:xfrm>
          </p:grpSpPr>
          <p:sp>
            <p:nvSpPr>
              <p:cNvPr id="14457" name="Rectangle 121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58" name="Oval 122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59" name="Group 123"/>
            <p:cNvGrpSpPr/>
            <p:nvPr/>
          </p:nvGrpSpPr>
          <p:grpSpPr>
            <a:xfrm>
              <a:off x="4752" y="2592"/>
              <a:ext cx="192" cy="288"/>
              <a:chOff x="4944" y="1728"/>
              <a:chExt cx="144" cy="240"/>
            </a:xfrm>
          </p:grpSpPr>
          <p:sp>
            <p:nvSpPr>
              <p:cNvPr id="14460" name="Rectangle 124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61" name="Oval 125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62" name="Group 126"/>
            <p:cNvGrpSpPr/>
            <p:nvPr/>
          </p:nvGrpSpPr>
          <p:grpSpPr>
            <a:xfrm>
              <a:off x="5040" y="2592"/>
              <a:ext cx="192" cy="288"/>
              <a:chOff x="4944" y="1728"/>
              <a:chExt cx="144" cy="240"/>
            </a:xfrm>
          </p:grpSpPr>
          <p:sp>
            <p:nvSpPr>
              <p:cNvPr id="14463" name="Rectangle 127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64" name="Oval 128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1" name="文本框 130"/>
          <p:cNvSpPr txBox="1"/>
          <p:nvPr/>
        </p:nvSpPr>
        <p:spPr>
          <a:xfrm>
            <a:off x="5543550" y="674688"/>
            <a:ext cx="3421063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—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—              —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=D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E    +  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E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5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5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4755" name="Rectangle 67"/>
          <p:cNvSpPr>
            <a:spLocks noChangeArrowheads="1"/>
          </p:cNvSpPr>
          <p:nvPr/>
        </p:nvSpPr>
        <p:spPr bwMode="auto">
          <a:xfrm>
            <a:off x="381000" y="1295400"/>
            <a:ext cx="74676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）具有置数和保持功能的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4D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4756" name="Rectangle 68"/>
          <p:cNvSpPr>
            <a:spLocks noChangeArrowheads="1"/>
          </p:cNvSpPr>
          <p:nvPr/>
        </p:nvSpPr>
        <p:spPr bwMode="auto">
          <a:xfrm>
            <a:off x="6172200" y="1752600"/>
            <a:ext cx="19812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逻辑符号图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4757" name="Text Box 69"/>
          <p:cNvSpPr txBox="1"/>
          <p:nvPr/>
        </p:nvSpPr>
        <p:spPr>
          <a:xfrm>
            <a:off x="528638" y="4908550"/>
            <a:ext cx="50292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如果每个输出是两个输入之一，需要对输入进行控制，如何设计？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7200" y="2209800"/>
            <a:ext cx="5370513" cy="2527300"/>
            <a:chOff x="457200" y="2209800"/>
            <a:chExt cx="5370513" cy="2527300"/>
          </a:xfrm>
        </p:grpSpPr>
        <p:grpSp>
          <p:nvGrpSpPr>
            <p:cNvPr id="16391" name="组合 1"/>
            <p:cNvGrpSpPr/>
            <p:nvPr/>
          </p:nvGrpSpPr>
          <p:grpSpPr>
            <a:xfrm>
              <a:off x="457200" y="2209800"/>
              <a:ext cx="5370513" cy="2527300"/>
              <a:chOff x="457200" y="2209800"/>
              <a:chExt cx="5370513" cy="2527300"/>
            </a:xfrm>
          </p:grpSpPr>
          <p:grpSp>
            <p:nvGrpSpPr>
              <p:cNvPr id="16392" name="Group 70"/>
              <p:cNvGrpSpPr/>
              <p:nvPr/>
            </p:nvGrpSpPr>
            <p:grpSpPr>
              <a:xfrm>
                <a:off x="457200" y="2209800"/>
                <a:ext cx="5370513" cy="2527300"/>
                <a:chOff x="288" y="1392"/>
                <a:chExt cx="3383" cy="1592"/>
              </a:xfrm>
            </p:grpSpPr>
            <p:sp>
              <p:nvSpPr>
                <p:cNvPr id="16393" name="Text Box 4"/>
                <p:cNvSpPr txBox="1"/>
                <p:nvPr/>
              </p:nvSpPr>
              <p:spPr>
                <a:xfrm>
                  <a:off x="2784" y="2382"/>
                  <a:ext cx="86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置数</a:t>
                  </a:r>
                  <a:endParaRPr lang="zh-CN" altLang="en-US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4693" name="Rectangle 5"/>
                <p:cNvSpPr>
                  <a:spLocks noChangeArrowheads="1"/>
                </p:cNvSpPr>
                <p:nvPr/>
              </p:nvSpPr>
              <p:spPr bwMode="auto">
                <a:xfrm>
                  <a:off x="1814" y="266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4" name="Rectangle 6"/>
                <p:cNvSpPr>
                  <a:spLocks noChangeArrowheads="1"/>
                </p:cNvSpPr>
                <p:nvPr/>
              </p:nvSpPr>
              <p:spPr bwMode="auto">
                <a:xfrm>
                  <a:off x="1814" y="238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5" name="Rectangle 7"/>
                <p:cNvSpPr>
                  <a:spLocks noChangeArrowheads="1"/>
                </p:cNvSpPr>
                <p:nvPr/>
              </p:nvSpPr>
              <p:spPr bwMode="auto">
                <a:xfrm>
                  <a:off x="1814" y="2064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6" name="Rectangle 8"/>
                <p:cNvSpPr>
                  <a:spLocks noChangeArrowheads="1"/>
                </p:cNvSpPr>
                <p:nvPr/>
              </p:nvSpPr>
              <p:spPr bwMode="auto">
                <a:xfrm>
                  <a:off x="1814" y="177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7" name="Rectangle 9"/>
                <p:cNvSpPr>
                  <a:spLocks noChangeArrowheads="1"/>
                </p:cNvSpPr>
                <p:nvPr/>
              </p:nvSpPr>
              <p:spPr bwMode="auto">
                <a:xfrm>
                  <a:off x="2323" y="266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n</a:t>
                  </a:r>
                  <a:endParaRPr kumimoji="0" lang="en-US" altLang="zh-CN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8" name="Rectangle 10"/>
                <p:cNvSpPr>
                  <a:spLocks noChangeArrowheads="1"/>
                </p:cNvSpPr>
                <p:nvPr/>
              </p:nvSpPr>
              <p:spPr bwMode="auto">
                <a:xfrm>
                  <a:off x="1306" y="2668"/>
                  <a:ext cx="508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699" name="Rectangle 11"/>
                <p:cNvSpPr>
                  <a:spLocks noChangeArrowheads="1"/>
                </p:cNvSpPr>
                <p:nvPr/>
              </p:nvSpPr>
              <p:spPr bwMode="auto">
                <a:xfrm>
                  <a:off x="797" y="266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0" name="Rectangle 12"/>
                <p:cNvSpPr>
                  <a:spLocks noChangeArrowheads="1"/>
                </p:cNvSpPr>
                <p:nvPr/>
              </p:nvSpPr>
              <p:spPr bwMode="auto">
                <a:xfrm>
                  <a:off x="288" y="2668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1" name="Rectangle 13"/>
                <p:cNvSpPr>
                  <a:spLocks noChangeArrowheads="1"/>
                </p:cNvSpPr>
                <p:nvPr/>
              </p:nvSpPr>
              <p:spPr bwMode="auto">
                <a:xfrm>
                  <a:off x="2323" y="238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2" name="Rectangle 14"/>
                <p:cNvSpPr>
                  <a:spLocks noChangeArrowheads="1"/>
                </p:cNvSpPr>
                <p:nvPr/>
              </p:nvSpPr>
              <p:spPr bwMode="auto">
                <a:xfrm>
                  <a:off x="1306" y="2380"/>
                  <a:ext cx="5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3" name="Rectangle 15"/>
                <p:cNvSpPr>
                  <a:spLocks noChangeArrowheads="1"/>
                </p:cNvSpPr>
                <p:nvPr/>
              </p:nvSpPr>
              <p:spPr bwMode="auto">
                <a:xfrm>
                  <a:off x="797" y="238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4" name="Rectangle 16"/>
                <p:cNvSpPr>
                  <a:spLocks noChangeArrowheads="1"/>
                </p:cNvSpPr>
                <p:nvPr/>
              </p:nvSpPr>
              <p:spPr bwMode="auto">
                <a:xfrm>
                  <a:off x="288" y="2380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5" name="Rectangle 17"/>
                <p:cNvSpPr>
                  <a:spLocks noChangeArrowheads="1"/>
                </p:cNvSpPr>
                <p:nvPr/>
              </p:nvSpPr>
              <p:spPr bwMode="auto">
                <a:xfrm>
                  <a:off x="2323" y="2064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6" name="Rectangle 18"/>
                <p:cNvSpPr>
                  <a:spLocks noChangeArrowheads="1"/>
                </p:cNvSpPr>
                <p:nvPr/>
              </p:nvSpPr>
              <p:spPr bwMode="auto">
                <a:xfrm>
                  <a:off x="1306" y="2064"/>
                  <a:ext cx="508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7" name="Rectangle 19"/>
                <p:cNvSpPr>
                  <a:spLocks noChangeArrowheads="1"/>
                </p:cNvSpPr>
                <p:nvPr/>
              </p:nvSpPr>
              <p:spPr bwMode="auto">
                <a:xfrm>
                  <a:off x="797" y="2064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×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8" name="Rectangle 20"/>
                <p:cNvSpPr>
                  <a:spLocks noChangeArrowheads="1"/>
                </p:cNvSpPr>
                <p:nvPr/>
              </p:nvSpPr>
              <p:spPr bwMode="auto">
                <a:xfrm>
                  <a:off x="288" y="2064"/>
                  <a:ext cx="509" cy="3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09" name="Rectangle 21"/>
                <p:cNvSpPr>
                  <a:spLocks noChangeArrowheads="1"/>
                </p:cNvSpPr>
                <p:nvPr/>
              </p:nvSpPr>
              <p:spPr bwMode="auto">
                <a:xfrm>
                  <a:off x="2323" y="177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n+1</a:t>
                  </a:r>
                  <a:endParaRPr kumimoji="0" lang="en-US" altLang="zh-CN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10" name="Rectangle 22"/>
                <p:cNvSpPr>
                  <a:spLocks noChangeArrowheads="1"/>
                </p:cNvSpPr>
                <p:nvPr/>
              </p:nvSpPr>
              <p:spPr bwMode="auto">
                <a:xfrm>
                  <a:off x="1306" y="1776"/>
                  <a:ext cx="5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11" name="Rectangle 23"/>
                <p:cNvSpPr>
                  <a:spLocks noChangeArrowheads="1"/>
                </p:cNvSpPr>
                <p:nvPr/>
              </p:nvSpPr>
              <p:spPr bwMode="auto">
                <a:xfrm>
                  <a:off x="797" y="177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4712" name="Rectangle 24"/>
                <p:cNvSpPr>
                  <a:spLocks noChangeArrowheads="1"/>
                </p:cNvSpPr>
                <p:nvPr/>
              </p:nvSpPr>
              <p:spPr bwMode="auto">
                <a:xfrm>
                  <a:off x="288" y="1776"/>
                  <a:ext cx="50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zh-CN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414" name="Line 25"/>
                <p:cNvSpPr/>
                <p:nvPr/>
              </p:nvSpPr>
              <p:spPr>
                <a:xfrm>
                  <a:off x="288" y="1776"/>
                  <a:ext cx="254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5" name="Line 26"/>
                <p:cNvSpPr/>
                <p:nvPr/>
              </p:nvSpPr>
              <p:spPr>
                <a:xfrm>
                  <a:off x="288" y="2064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6" name="Line 27"/>
                <p:cNvSpPr/>
                <p:nvPr/>
              </p:nvSpPr>
              <p:spPr>
                <a:xfrm>
                  <a:off x="288" y="2380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7" name="Line 28"/>
                <p:cNvSpPr/>
                <p:nvPr/>
              </p:nvSpPr>
              <p:spPr>
                <a:xfrm>
                  <a:off x="288" y="2668"/>
                  <a:ext cx="25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8" name="Line 29"/>
                <p:cNvSpPr/>
                <p:nvPr/>
              </p:nvSpPr>
              <p:spPr>
                <a:xfrm>
                  <a:off x="288" y="2984"/>
                  <a:ext cx="254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9" name="Line 30"/>
                <p:cNvSpPr/>
                <p:nvPr/>
              </p:nvSpPr>
              <p:spPr>
                <a:xfrm>
                  <a:off x="288" y="1776"/>
                  <a:ext cx="0" cy="1208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0" name="Line 31"/>
                <p:cNvSpPr/>
                <p:nvPr/>
              </p:nvSpPr>
              <p:spPr>
                <a:xfrm>
                  <a:off x="797" y="177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1" name="Line 32"/>
                <p:cNvSpPr/>
                <p:nvPr/>
              </p:nvSpPr>
              <p:spPr>
                <a:xfrm>
                  <a:off x="1306" y="177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2" name="Line 33"/>
                <p:cNvSpPr/>
                <p:nvPr/>
              </p:nvSpPr>
              <p:spPr>
                <a:xfrm>
                  <a:off x="2323" y="177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3" name="Line 34"/>
                <p:cNvSpPr/>
                <p:nvPr/>
              </p:nvSpPr>
              <p:spPr>
                <a:xfrm>
                  <a:off x="2832" y="1776"/>
                  <a:ext cx="0" cy="1208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4" name="Line 35"/>
                <p:cNvSpPr/>
                <p:nvPr/>
              </p:nvSpPr>
              <p:spPr>
                <a:xfrm>
                  <a:off x="1814" y="1776"/>
                  <a:ext cx="0" cy="120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5" name="Text Box 40"/>
                <p:cNvSpPr txBox="1"/>
                <p:nvPr/>
              </p:nvSpPr>
              <p:spPr>
                <a:xfrm>
                  <a:off x="2787" y="2074"/>
                  <a:ext cx="88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异步置零</a:t>
                  </a:r>
                  <a:endParaRPr lang="zh-CN" altLang="en-US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26" name="Text Box 41"/>
                <p:cNvSpPr txBox="1"/>
                <p:nvPr/>
              </p:nvSpPr>
              <p:spPr>
                <a:xfrm>
                  <a:off x="2784" y="2642"/>
                  <a:ext cx="50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保持</a:t>
                  </a:r>
                  <a:endParaRPr lang="zh-CN" altLang="en-US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27" name="Text Box 42"/>
                <p:cNvSpPr txBox="1"/>
                <p:nvPr/>
              </p:nvSpPr>
              <p:spPr>
                <a:xfrm>
                  <a:off x="1104" y="1392"/>
                  <a:ext cx="105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功能表</a:t>
                  </a: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428" name="文本框 74"/>
              <p:cNvSpPr txBox="1"/>
              <p:nvPr/>
            </p:nvSpPr>
            <p:spPr>
              <a:xfrm>
                <a:off x="2281238" y="3800475"/>
                <a:ext cx="4222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29" name="文本框 75"/>
              <p:cNvSpPr txBox="1"/>
              <p:nvPr/>
            </p:nvSpPr>
            <p:spPr>
              <a:xfrm>
                <a:off x="2278063" y="4276725"/>
                <a:ext cx="420687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430" name="文本框 72"/>
            <p:cNvSpPr txBox="1"/>
            <p:nvPr/>
          </p:nvSpPr>
          <p:spPr>
            <a:xfrm>
              <a:off x="647291" y="2797297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1" name="文本框 73"/>
            <p:cNvSpPr txBox="1"/>
            <p:nvPr/>
          </p:nvSpPr>
          <p:spPr>
            <a:xfrm>
              <a:off x="1455328" y="2819912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62600" y="2362200"/>
            <a:ext cx="3581400" cy="2819400"/>
            <a:chOff x="5562600" y="2362200"/>
            <a:chExt cx="3581400" cy="2819400"/>
          </a:xfrm>
        </p:grpSpPr>
        <p:grpSp>
          <p:nvGrpSpPr>
            <p:cNvPr id="16433" name="Group 71"/>
            <p:cNvGrpSpPr/>
            <p:nvPr/>
          </p:nvGrpSpPr>
          <p:grpSpPr>
            <a:xfrm>
              <a:off x="5562600" y="2362200"/>
              <a:ext cx="3581400" cy="2819400"/>
              <a:chOff x="3504" y="1488"/>
              <a:chExt cx="2256" cy="1776"/>
            </a:xfrm>
          </p:grpSpPr>
          <p:sp>
            <p:nvSpPr>
              <p:cNvPr id="16434" name="Rectangle 44"/>
              <p:cNvSpPr/>
              <p:nvPr/>
            </p:nvSpPr>
            <p:spPr>
              <a:xfrm>
                <a:off x="3792" y="1824"/>
                <a:ext cx="1680" cy="110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5" name="Rectangle 45"/>
              <p:cNvSpPr/>
              <p:nvPr/>
            </p:nvSpPr>
            <p:spPr>
              <a:xfrm>
                <a:off x="4032" y="2592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6" name="Rectangle 46"/>
              <p:cNvSpPr/>
              <p:nvPr/>
            </p:nvSpPr>
            <p:spPr>
              <a:xfrm>
                <a:off x="4320" y="2601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7" name="Rectangle 47"/>
              <p:cNvSpPr/>
              <p:nvPr/>
            </p:nvSpPr>
            <p:spPr>
              <a:xfrm>
                <a:off x="4608" y="2601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8" name="Rectangle 48"/>
              <p:cNvSpPr/>
              <p:nvPr/>
            </p:nvSpPr>
            <p:spPr>
              <a:xfrm>
                <a:off x="4878" y="2592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9" name="Rectangle 49"/>
              <p:cNvSpPr/>
              <p:nvPr/>
            </p:nvSpPr>
            <p:spPr>
              <a:xfrm>
                <a:off x="4032" y="1824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0" name="Rectangle 50"/>
              <p:cNvSpPr/>
              <p:nvPr/>
            </p:nvSpPr>
            <p:spPr>
              <a:xfrm>
                <a:off x="4320" y="1833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1" name="Rectangle 51"/>
              <p:cNvSpPr/>
              <p:nvPr/>
            </p:nvSpPr>
            <p:spPr>
              <a:xfrm>
                <a:off x="4608" y="1833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2" name="Rectangle 52"/>
              <p:cNvSpPr/>
              <p:nvPr/>
            </p:nvSpPr>
            <p:spPr>
              <a:xfrm>
                <a:off x="4878" y="1824"/>
                <a:ext cx="35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4743" name="Rectangle 55"/>
              <p:cNvSpPr>
                <a:spLocks noChangeArrowheads="1"/>
              </p:cNvSpPr>
              <p:nvPr/>
            </p:nvSpPr>
            <p:spPr bwMode="auto">
              <a:xfrm>
                <a:off x="5060" y="2256"/>
                <a:ext cx="50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44" name="Line 56"/>
              <p:cNvSpPr/>
              <p:nvPr/>
            </p:nvSpPr>
            <p:spPr>
              <a:xfrm>
                <a:off x="4176" y="292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5" name="Line 57"/>
              <p:cNvSpPr/>
              <p:nvPr/>
            </p:nvSpPr>
            <p:spPr>
              <a:xfrm>
                <a:off x="4464" y="292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6" name="Line 58"/>
              <p:cNvSpPr/>
              <p:nvPr/>
            </p:nvSpPr>
            <p:spPr>
              <a:xfrm>
                <a:off x="4752" y="292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7" name="Line 59"/>
              <p:cNvSpPr/>
              <p:nvPr/>
            </p:nvSpPr>
            <p:spPr>
              <a:xfrm>
                <a:off x="5040" y="292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8" name="Line 60"/>
              <p:cNvSpPr/>
              <p:nvPr/>
            </p:nvSpPr>
            <p:spPr>
              <a:xfrm>
                <a:off x="4176" y="148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9" name="Line 61"/>
              <p:cNvSpPr/>
              <p:nvPr/>
            </p:nvSpPr>
            <p:spPr>
              <a:xfrm>
                <a:off x="4464" y="148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0" name="Line 62"/>
              <p:cNvSpPr/>
              <p:nvPr/>
            </p:nvSpPr>
            <p:spPr>
              <a:xfrm>
                <a:off x="4752" y="148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1" name="Line 63"/>
              <p:cNvSpPr/>
              <p:nvPr/>
            </p:nvSpPr>
            <p:spPr>
              <a:xfrm>
                <a:off x="5040" y="148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2" name="Line 64"/>
              <p:cNvSpPr/>
              <p:nvPr/>
            </p:nvSpPr>
            <p:spPr>
              <a:xfrm flipH="1">
                <a:off x="3504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3" name="Line 65"/>
              <p:cNvSpPr/>
              <p:nvPr/>
            </p:nvSpPr>
            <p:spPr>
              <a:xfrm flipH="1">
                <a:off x="3504" y="2544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4" name="Line 66"/>
              <p:cNvSpPr/>
              <p:nvPr/>
            </p:nvSpPr>
            <p:spPr>
              <a:xfrm flipH="1">
                <a:off x="5472" y="240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6455" name="文本框 74"/>
            <p:cNvSpPr txBox="1"/>
            <p:nvPr/>
          </p:nvSpPr>
          <p:spPr>
            <a:xfrm>
              <a:off x="6001519" y="3835522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56" name="文本框 75"/>
            <p:cNvSpPr txBox="1"/>
            <p:nvPr/>
          </p:nvSpPr>
          <p:spPr>
            <a:xfrm>
              <a:off x="5972175" y="3285245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756" grpId="0"/>
      <p:bldP spid="7547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834188" y="5867400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57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82296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）设计具有置数、保持和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选择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功能的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功能表：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5730" name="Text Box 18"/>
          <p:cNvSpPr txBox="1"/>
          <p:nvPr/>
        </p:nvSpPr>
        <p:spPr>
          <a:xfrm>
            <a:off x="5478463" y="3001963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异步置零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5731" name="Text Box 19"/>
          <p:cNvSpPr txBox="1"/>
          <p:nvPr/>
        </p:nvSpPr>
        <p:spPr>
          <a:xfrm>
            <a:off x="5516563" y="3506788"/>
            <a:ext cx="11763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Store A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5732" name="Text Box 20"/>
          <p:cNvSpPr txBox="1"/>
          <p:nvPr/>
        </p:nvSpPr>
        <p:spPr>
          <a:xfrm>
            <a:off x="5551488" y="4495800"/>
            <a:ext cx="858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Hold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5738" name="Text Box 26"/>
          <p:cNvSpPr txBox="1"/>
          <p:nvPr/>
        </p:nvSpPr>
        <p:spPr>
          <a:xfrm>
            <a:off x="5549900" y="3948113"/>
            <a:ext cx="11715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Store B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55740" name="Text Box 28"/>
          <p:cNvSpPr txBox="1"/>
          <p:nvPr/>
        </p:nvSpPr>
        <p:spPr>
          <a:xfrm>
            <a:off x="7215188" y="3048000"/>
            <a:ext cx="1828800" cy="1552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有些应用需要对输出进行控制，如何设计？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9588" y="2138363"/>
            <a:ext cx="4633912" cy="2768600"/>
            <a:chOff x="509588" y="2138363"/>
            <a:chExt cx="4633912" cy="2768600"/>
          </a:xfrm>
        </p:grpSpPr>
        <p:sp>
          <p:nvSpPr>
            <p:cNvPr id="17418" name="文本框 29"/>
            <p:cNvSpPr txBox="1"/>
            <p:nvPr/>
          </p:nvSpPr>
          <p:spPr>
            <a:xfrm>
              <a:off x="2998788" y="3570288"/>
              <a:ext cx="371475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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9" name="文本框 31"/>
            <p:cNvSpPr txBox="1"/>
            <p:nvPr/>
          </p:nvSpPr>
          <p:spPr>
            <a:xfrm>
              <a:off x="2965450" y="4008438"/>
              <a:ext cx="422275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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0" name="文本框 32"/>
            <p:cNvSpPr txBox="1"/>
            <p:nvPr/>
          </p:nvSpPr>
          <p:spPr>
            <a:xfrm>
              <a:off x="2971800" y="4506913"/>
              <a:ext cx="420688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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421" name="组合 1"/>
            <p:cNvGrpSpPr/>
            <p:nvPr/>
          </p:nvGrpSpPr>
          <p:grpSpPr>
            <a:xfrm>
              <a:off x="509588" y="2138363"/>
              <a:ext cx="4633912" cy="2768600"/>
              <a:chOff x="509588" y="2138363"/>
              <a:chExt cx="4633912" cy="2768600"/>
            </a:xfrm>
          </p:grpSpPr>
          <p:grpSp>
            <p:nvGrpSpPr>
              <p:cNvPr id="17422" name="Group 29"/>
              <p:cNvGrpSpPr/>
              <p:nvPr/>
            </p:nvGrpSpPr>
            <p:grpSpPr>
              <a:xfrm>
                <a:off x="509588" y="2138363"/>
                <a:ext cx="4633912" cy="2768600"/>
                <a:chOff x="240" y="1587"/>
                <a:chExt cx="2919" cy="1744"/>
              </a:xfrm>
            </p:grpSpPr>
            <p:sp>
              <p:nvSpPr>
                <p:cNvPr id="755717" name="Rectangle 5"/>
                <p:cNvSpPr>
                  <a:spLocks noChangeArrowheads="1"/>
                </p:cNvSpPr>
                <p:nvPr/>
              </p:nvSpPr>
              <p:spPr bwMode="auto">
                <a:xfrm>
                  <a:off x="2112" y="2121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18" name="Rectangle 6"/>
                <p:cNvSpPr>
                  <a:spLocks noChangeArrowheads="1"/>
                </p:cNvSpPr>
                <p:nvPr/>
              </p:nvSpPr>
              <p:spPr bwMode="auto">
                <a:xfrm>
                  <a:off x="240" y="2150"/>
                  <a:ext cx="259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0      X      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 X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19" name="Rectangle 7"/>
                <p:cNvSpPr>
                  <a:spLocks noChangeArrowheads="1"/>
                </p:cNvSpPr>
                <p:nvPr/>
              </p:nvSpPr>
              <p:spPr bwMode="auto">
                <a:xfrm>
                  <a:off x="2160" y="2408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endPara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20" name="Rectangle 8"/>
                <p:cNvSpPr>
                  <a:spLocks noChangeArrowheads="1"/>
                </p:cNvSpPr>
                <p:nvPr/>
              </p:nvSpPr>
              <p:spPr bwMode="auto">
                <a:xfrm>
                  <a:off x="240" y="2437"/>
                  <a:ext cx="235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1      0      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21" name="Rectangle 9"/>
                <p:cNvSpPr>
                  <a:spLocks noChangeArrowheads="1"/>
                </p:cNvSpPr>
                <p:nvPr/>
              </p:nvSpPr>
              <p:spPr bwMode="auto">
                <a:xfrm>
                  <a:off x="2160" y="2695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22" name="Rectangle 10"/>
                <p:cNvSpPr>
                  <a:spLocks noChangeArrowheads="1"/>
                </p:cNvSpPr>
                <p:nvPr/>
              </p:nvSpPr>
              <p:spPr bwMode="auto">
                <a:xfrm>
                  <a:off x="241" y="3044"/>
                  <a:ext cx="2057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1      1      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5723" name="Rectangle 11"/>
                <p:cNvSpPr>
                  <a:spLocks noChangeArrowheads="1"/>
                </p:cNvSpPr>
                <p:nvPr/>
              </p:nvSpPr>
              <p:spPr bwMode="auto">
                <a:xfrm>
                  <a:off x="240" y="1587"/>
                  <a:ext cx="2544" cy="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             S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CP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430" name="Line 12"/>
                <p:cNvSpPr/>
                <p:nvPr/>
              </p:nvSpPr>
              <p:spPr>
                <a:xfrm>
                  <a:off x="240" y="2150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31" name="Line 13"/>
                <p:cNvSpPr/>
                <p:nvPr/>
              </p:nvSpPr>
              <p:spPr>
                <a:xfrm>
                  <a:off x="2212" y="1875"/>
                  <a:ext cx="1" cy="136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32" name="Line 14"/>
                <p:cNvSpPr/>
                <p:nvPr/>
              </p:nvSpPr>
              <p:spPr>
                <a:xfrm>
                  <a:off x="240" y="2724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33" name="Line 15"/>
                <p:cNvSpPr/>
                <p:nvPr/>
              </p:nvSpPr>
              <p:spPr>
                <a:xfrm>
                  <a:off x="240" y="2437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34" name="Text Box 21"/>
                <p:cNvSpPr txBox="1"/>
                <p:nvPr/>
              </p:nvSpPr>
              <p:spPr>
                <a:xfrm>
                  <a:off x="2400" y="1872"/>
                  <a:ext cx="25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5734" name="Rectangle 22"/>
                <p:cNvSpPr>
                  <a:spLocks noChangeArrowheads="1"/>
                </p:cNvSpPr>
                <p:nvPr/>
              </p:nvSpPr>
              <p:spPr bwMode="auto">
                <a:xfrm>
                  <a:off x="241" y="2721"/>
                  <a:ext cx="2159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1      0      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436" name="Line 23"/>
                <p:cNvSpPr/>
                <p:nvPr/>
              </p:nvSpPr>
              <p:spPr>
                <a:xfrm>
                  <a:off x="240" y="3015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5737" name="Rectangle 25"/>
                <p:cNvSpPr>
                  <a:spLocks noChangeArrowheads="1"/>
                </p:cNvSpPr>
                <p:nvPr/>
              </p:nvSpPr>
              <p:spPr bwMode="auto">
                <a:xfrm>
                  <a:off x="2208" y="3024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Hold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7438" name="文本框 29"/>
              <p:cNvSpPr txBox="1"/>
              <p:nvPr/>
            </p:nvSpPr>
            <p:spPr>
              <a:xfrm>
                <a:off x="777441" y="2551659"/>
                <a:ext cx="504056" cy="4666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lnSpc>
                    <a:spcPts val="1400"/>
                  </a:lnSpc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—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0" hangingPunct="0">
                  <a:lnSpc>
                    <a:spcPts val="1400"/>
                  </a:lnSpc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zh-CN" altLang="en-US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9" name="文本框 31"/>
              <p:cNvSpPr txBox="1"/>
              <p:nvPr/>
            </p:nvSpPr>
            <p:spPr>
              <a:xfrm>
                <a:off x="1479935" y="2556853"/>
                <a:ext cx="504056" cy="4666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lnSpc>
                    <a:spcPts val="1400"/>
                  </a:lnSpc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—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0" hangingPunct="0">
                  <a:lnSpc>
                    <a:spcPts val="1400"/>
                  </a:lnSpc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endParaRPr lang="zh-CN" altLang="en-US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1527175" y="4953000"/>
            <a:ext cx="6357938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—                   —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—  —                   —       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    + 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S 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 +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 E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55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5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55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5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55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5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55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5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5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55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30" grpId="0"/>
      <p:bldP spid="755731" grpId="0"/>
      <p:bldP spid="755732" grpId="0"/>
      <p:bldP spid="755738" grpId="0"/>
      <p:bldP spid="755740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67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75438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(4)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有输入输出使能的寄存器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功能表：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6758" name="Rectangle 22"/>
          <p:cNvSpPr>
            <a:spLocks noChangeArrowheads="1"/>
          </p:cNvSpPr>
          <p:nvPr/>
        </p:nvSpPr>
        <p:spPr bwMode="auto">
          <a:xfrm>
            <a:off x="1258888" y="5381625"/>
            <a:ext cx="42386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实现有控制的输入和输出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00200" y="2362200"/>
            <a:ext cx="4876800" cy="2768600"/>
            <a:chOff x="1600200" y="2362200"/>
            <a:chExt cx="4876800" cy="2768600"/>
          </a:xfrm>
        </p:grpSpPr>
        <p:grpSp>
          <p:nvGrpSpPr>
            <p:cNvPr id="18438" name="组合 1"/>
            <p:cNvGrpSpPr/>
            <p:nvPr/>
          </p:nvGrpSpPr>
          <p:grpSpPr>
            <a:xfrm>
              <a:off x="1600200" y="2362200"/>
              <a:ext cx="4876800" cy="2768600"/>
              <a:chOff x="1600200" y="2362200"/>
              <a:chExt cx="4876800" cy="2768600"/>
            </a:xfrm>
          </p:grpSpPr>
          <p:grpSp>
            <p:nvGrpSpPr>
              <p:cNvPr id="18439" name="Group 23"/>
              <p:cNvGrpSpPr/>
              <p:nvPr/>
            </p:nvGrpSpPr>
            <p:grpSpPr>
              <a:xfrm>
                <a:off x="1600200" y="2362200"/>
                <a:ext cx="4876800" cy="2768600"/>
                <a:chOff x="1008" y="1488"/>
                <a:chExt cx="3072" cy="1744"/>
              </a:xfrm>
            </p:grpSpPr>
            <p:sp>
              <p:nvSpPr>
                <p:cNvPr id="756741" name="Rectangle 5"/>
                <p:cNvSpPr>
                  <a:spLocks noChangeArrowheads="1"/>
                </p:cNvSpPr>
                <p:nvPr/>
              </p:nvSpPr>
              <p:spPr bwMode="auto">
                <a:xfrm>
                  <a:off x="3121" y="2051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2" name="Rectangle 6"/>
                <p:cNvSpPr>
                  <a:spLocks noChangeArrowheads="1"/>
                </p:cNvSpPr>
                <p:nvPr/>
              </p:nvSpPr>
              <p:spPr bwMode="auto">
                <a:xfrm>
                  <a:off x="1020" y="2051"/>
                  <a:ext cx="2916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     X     </a:t>
                  </a:r>
                  <a:r>
                    <a:rPr kumimoji="0" lang="en-US" altLang="zh-CN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</a:t>
                  </a:r>
                  <a:r>
                    <a:rPr kumimoji="0" lang="en-US" altLang="zh-CN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</a:t>
                  </a:r>
                  <a:r>
                    <a:rPr kumimoji="0" lang="en-US" altLang="zh-CN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3" name="Rectangle 7"/>
                <p:cNvSpPr>
                  <a:spLocks noChangeArrowheads="1"/>
                </p:cNvSpPr>
                <p:nvPr/>
              </p:nvSpPr>
              <p:spPr bwMode="auto">
                <a:xfrm>
                  <a:off x="3122" y="2667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4" name="Rectangle 8"/>
                <p:cNvSpPr>
                  <a:spLocks noChangeArrowheads="1"/>
                </p:cNvSpPr>
                <p:nvPr/>
              </p:nvSpPr>
              <p:spPr bwMode="auto">
                <a:xfrm>
                  <a:off x="1020" y="2338"/>
                  <a:ext cx="2868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     1            X     0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5" name="Rectangle 9"/>
                <p:cNvSpPr>
                  <a:spLocks noChangeArrowheads="1"/>
                </p:cNvSpPr>
                <p:nvPr/>
              </p:nvSpPr>
              <p:spPr bwMode="auto">
                <a:xfrm>
                  <a:off x="3122" y="2335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Q</a:t>
                  </a:r>
                  <a:r>
                    <a:rPr kumimoji="0" lang="en-US" altLang="zh-CN" sz="2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n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6" name="Rectangle 10"/>
                <p:cNvSpPr>
                  <a:spLocks noChangeArrowheads="1"/>
                </p:cNvSpPr>
                <p:nvPr/>
              </p:nvSpPr>
              <p:spPr bwMode="auto">
                <a:xfrm>
                  <a:off x="1020" y="2625"/>
                  <a:ext cx="277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     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       D     0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47" name="Rectangle 11"/>
                <p:cNvSpPr>
                  <a:spLocks noChangeArrowheads="1"/>
                </p:cNvSpPr>
                <p:nvPr/>
              </p:nvSpPr>
              <p:spPr bwMode="auto">
                <a:xfrm>
                  <a:off x="1020" y="1488"/>
                  <a:ext cx="3060" cy="5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       CP    D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447" name="Line 12"/>
                <p:cNvSpPr/>
                <p:nvPr/>
              </p:nvSpPr>
              <p:spPr>
                <a:xfrm>
                  <a:off x="1020" y="2051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48" name="Line 13"/>
                <p:cNvSpPr/>
                <p:nvPr/>
              </p:nvSpPr>
              <p:spPr>
                <a:xfrm>
                  <a:off x="3121" y="1805"/>
                  <a:ext cx="0" cy="136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49" name="Line 14"/>
                <p:cNvSpPr/>
                <p:nvPr/>
              </p:nvSpPr>
              <p:spPr>
                <a:xfrm>
                  <a:off x="1020" y="2625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50" name="Line 15"/>
                <p:cNvSpPr/>
                <p:nvPr/>
              </p:nvSpPr>
              <p:spPr>
                <a:xfrm>
                  <a:off x="1020" y="2338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51" name="Text Box 17"/>
                <p:cNvSpPr txBox="1"/>
                <p:nvPr/>
              </p:nvSpPr>
              <p:spPr>
                <a:xfrm>
                  <a:off x="3405" y="1754"/>
                  <a:ext cx="25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52" name="Line 18"/>
                <p:cNvSpPr/>
                <p:nvPr/>
              </p:nvSpPr>
              <p:spPr>
                <a:xfrm>
                  <a:off x="1036" y="2916"/>
                  <a:ext cx="2919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56755" name="Rectangle 19"/>
                <p:cNvSpPr>
                  <a:spLocks noChangeArrowheads="1"/>
                </p:cNvSpPr>
                <p:nvPr/>
              </p:nvSpPr>
              <p:spPr bwMode="auto">
                <a:xfrm>
                  <a:off x="1008" y="2945"/>
                  <a:ext cx="259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     X     </a:t>
                  </a:r>
                  <a:r>
                    <a:rPr kumimoji="0" lang="en-US" altLang="zh-CN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 </a:t>
                  </a:r>
                  <a:r>
                    <a:rPr kumimoji="0" lang="en-US" altLang="zh-CN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X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     </a:t>
                  </a: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56756" name="Rectangle 20"/>
                <p:cNvSpPr>
                  <a:spLocks noChangeArrowheads="1"/>
                </p:cNvSpPr>
                <p:nvPr/>
              </p:nvSpPr>
              <p:spPr bwMode="auto">
                <a:xfrm>
                  <a:off x="3121" y="2941"/>
                  <a:ext cx="862" cy="2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Z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8455" name="文本框 23"/>
              <p:cNvSpPr txBox="1"/>
              <p:nvPr/>
            </p:nvSpPr>
            <p:spPr>
              <a:xfrm>
                <a:off x="2914650" y="3752850"/>
                <a:ext cx="4222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56" name="文本框 25"/>
              <p:cNvSpPr txBox="1"/>
              <p:nvPr/>
            </p:nvSpPr>
            <p:spPr>
              <a:xfrm>
                <a:off x="2913063" y="4246563"/>
                <a:ext cx="422275" cy="4000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</a:t>
                </a: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457" name="文本框 26"/>
            <p:cNvSpPr txBox="1"/>
            <p:nvPr/>
          </p:nvSpPr>
          <p:spPr>
            <a:xfrm>
              <a:off x="1644650" y="2754313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8" name="文本框 27"/>
            <p:cNvSpPr txBox="1"/>
            <p:nvPr/>
          </p:nvSpPr>
          <p:spPr>
            <a:xfrm>
              <a:off x="2201322" y="2763166"/>
              <a:ext cx="504056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9" name="文本框 28"/>
            <p:cNvSpPr txBox="1"/>
            <p:nvPr/>
          </p:nvSpPr>
          <p:spPr>
            <a:xfrm>
              <a:off x="4029244" y="2743446"/>
              <a:ext cx="821110" cy="4666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—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OE</a:t>
              </a:r>
              <a:endParaRPr lang="zh-CN" altLang="en-US" sz="18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81800" y="6153150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7762" name="Group 2"/>
          <p:cNvGrpSpPr/>
          <p:nvPr/>
        </p:nvGrpSpPr>
        <p:grpSpPr>
          <a:xfrm>
            <a:off x="323850" y="1628775"/>
            <a:ext cx="8535988" cy="4446588"/>
            <a:chOff x="218" y="1319"/>
            <a:chExt cx="5377" cy="2801"/>
          </a:xfrm>
        </p:grpSpPr>
        <p:sp>
          <p:nvSpPr>
            <p:cNvPr id="19459" name="Rectangle 3"/>
            <p:cNvSpPr/>
            <p:nvPr/>
          </p:nvSpPr>
          <p:spPr>
            <a:xfrm>
              <a:off x="522" y="1558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0" name="Rectangle 4"/>
            <p:cNvSpPr/>
            <p:nvPr/>
          </p:nvSpPr>
          <p:spPr>
            <a:xfrm>
              <a:off x="1610" y="1558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1" name="Rectangle 5"/>
            <p:cNvSpPr/>
            <p:nvPr/>
          </p:nvSpPr>
          <p:spPr>
            <a:xfrm>
              <a:off x="2744" y="1558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2" name="Rectangle 6"/>
            <p:cNvSpPr/>
            <p:nvPr/>
          </p:nvSpPr>
          <p:spPr>
            <a:xfrm>
              <a:off x="3878" y="1558"/>
              <a:ext cx="771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_              </a:t>
              </a: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D         CP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3" name="Line 7"/>
            <p:cNvSpPr/>
            <p:nvPr/>
          </p:nvSpPr>
          <p:spPr>
            <a:xfrm>
              <a:off x="658" y="2102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4" name="Line 8"/>
            <p:cNvSpPr/>
            <p:nvPr/>
          </p:nvSpPr>
          <p:spPr>
            <a:xfrm>
              <a:off x="1111" y="21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5" name="Line 9"/>
            <p:cNvSpPr/>
            <p:nvPr/>
          </p:nvSpPr>
          <p:spPr>
            <a:xfrm>
              <a:off x="2245" y="21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6" name="Line 10"/>
            <p:cNvSpPr/>
            <p:nvPr/>
          </p:nvSpPr>
          <p:spPr>
            <a:xfrm>
              <a:off x="3379" y="21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7" name="Line 11"/>
            <p:cNvSpPr/>
            <p:nvPr/>
          </p:nvSpPr>
          <p:spPr>
            <a:xfrm>
              <a:off x="4513" y="21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8" name="Line 12"/>
            <p:cNvSpPr/>
            <p:nvPr/>
          </p:nvSpPr>
          <p:spPr>
            <a:xfrm>
              <a:off x="1111" y="2329"/>
              <a:ext cx="36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69" name="Line 13"/>
            <p:cNvSpPr/>
            <p:nvPr/>
          </p:nvSpPr>
          <p:spPr>
            <a:xfrm>
              <a:off x="3742" y="1830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0" name="Line 14"/>
            <p:cNvSpPr/>
            <p:nvPr/>
          </p:nvSpPr>
          <p:spPr>
            <a:xfrm>
              <a:off x="3742" y="1830"/>
              <a:ext cx="0" cy="8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1" name="Line 15"/>
            <p:cNvSpPr/>
            <p:nvPr/>
          </p:nvSpPr>
          <p:spPr>
            <a:xfrm>
              <a:off x="1746" y="2102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2" name="Line 16"/>
            <p:cNvSpPr/>
            <p:nvPr/>
          </p:nvSpPr>
          <p:spPr>
            <a:xfrm>
              <a:off x="2880" y="2102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3" name="Line 17"/>
            <p:cNvSpPr/>
            <p:nvPr/>
          </p:nvSpPr>
          <p:spPr>
            <a:xfrm>
              <a:off x="4014" y="2102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4" name="Line 18"/>
            <p:cNvSpPr/>
            <p:nvPr/>
          </p:nvSpPr>
          <p:spPr>
            <a:xfrm>
              <a:off x="4944" y="2339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5" name="Line 19"/>
            <p:cNvSpPr/>
            <p:nvPr/>
          </p:nvSpPr>
          <p:spPr>
            <a:xfrm>
              <a:off x="5239" y="2329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6" name="Line 20"/>
            <p:cNvSpPr/>
            <p:nvPr/>
          </p:nvSpPr>
          <p:spPr>
            <a:xfrm flipV="1">
              <a:off x="4944" y="2723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7" name="Line 21"/>
            <p:cNvSpPr/>
            <p:nvPr/>
          </p:nvSpPr>
          <p:spPr>
            <a:xfrm>
              <a:off x="5239" y="2715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8" name="Line 22"/>
            <p:cNvSpPr/>
            <p:nvPr/>
          </p:nvSpPr>
          <p:spPr>
            <a:xfrm flipH="1" flipV="1">
              <a:off x="384" y="2723"/>
              <a:ext cx="43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9479" name="Picture 23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1" y="231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0" name="Picture 2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65" y="231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1" name="Picture 25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99" y="231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2" name="Picture 26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27" y="269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83" name="Text Box 27"/>
            <p:cNvSpPr txBox="1"/>
            <p:nvPr/>
          </p:nvSpPr>
          <p:spPr>
            <a:xfrm>
              <a:off x="5239" y="2057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4" name="Text Box 28"/>
            <p:cNvSpPr txBox="1"/>
            <p:nvPr/>
          </p:nvSpPr>
          <p:spPr>
            <a:xfrm>
              <a:off x="5239" y="2193"/>
              <a:ext cx="34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5" name="Line 29"/>
            <p:cNvSpPr/>
            <p:nvPr/>
          </p:nvSpPr>
          <p:spPr>
            <a:xfrm flipV="1">
              <a:off x="1111" y="1331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6" name="Line 30"/>
            <p:cNvSpPr/>
            <p:nvPr/>
          </p:nvSpPr>
          <p:spPr>
            <a:xfrm flipV="1">
              <a:off x="2237" y="131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7" name="Line 31"/>
            <p:cNvSpPr/>
            <p:nvPr/>
          </p:nvSpPr>
          <p:spPr>
            <a:xfrm flipV="1">
              <a:off x="3371" y="131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8" name="Line 32"/>
            <p:cNvSpPr/>
            <p:nvPr/>
          </p:nvSpPr>
          <p:spPr>
            <a:xfrm flipV="1">
              <a:off x="4505" y="131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9" name="Line 33"/>
            <p:cNvSpPr/>
            <p:nvPr/>
          </p:nvSpPr>
          <p:spPr>
            <a:xfrm>
              <a:off x="2607" y="1829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0" name="Line 34"/>
            <p:cNvSpPr/>
            <p:nvPr/>
          </p:nvSpPr>
          <p:spPr>
            <a:xfrm>
              <a:off x="2607" y="1829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9491" name="Picture 35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92" y="2691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92" name="Line 36"/>
            <p:cNvSpPr/>
            <p:nvPr/>
          </p:nvSpPr>
          <p:spPr>
            <a:xfrm>
              <a:off x="1473" y="1829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3" name="Line 37"/>
            <p:cNvSpPr/>
            <p:nvPr/>
          </p:nvSpPr>
          <p:spPr>
            <a:xfrm>
              <a:off x="1473" y="1829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9494" name="Picture 38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58" y="2691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95" name="Line 39"/>
            <p:cNvSpPr/>
            <p:nvPr/>
          </p:nvSpPr>
          <p:spPr>
            <a:xfrm>
              <a:off x="384" y="1829"/>
              <a:ext cx="1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6" name="Line 40"/>
            <p:cNvSpPr/>
            <p:nvPr/>
          </p:nvSpPr>
          <p:spPr>
            <a:xfrm>
              <a:off x="384" y="1829"/>
              <a:ext cx="0" cy="89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9497" name="Group 41"/>
            <p:cNvGrpSpPr/>
            <p:nvPr/>
          </p:nvGrpSpPr>
          <p:grpSpPr>
            <a:xfrm>
              <a:off x="4752" y="2195"/>
              <a:ext cx="192" cy="288"/>
              <a:chOff x="4944" y="1728"/>
              <a:chExt cx="144" cy="240"/>
            </a:xfrm>
          </p:grpSpPr>
          <p:sp>
            <p:nvSpPr>
              <p:cNvPr id="19498" name="Rectangle 42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99" name="Oval 43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500" name="Group 44"/>
            <p:cNvGrpSpPr/>
            <p:nvPr/>
          </p:nvGrpSpPr>
          <p:grpSpPr>
            <a:xfrm>
              <a:off x="5040" y="2195"/>
              <a:ext cx="192" cy="288"/>
              <a:chOff x="4944" y="1728"/>
              <a:chExt cx="144" cy="240"/>
            </a:xfrm>
          </p:grpSpPr>
          <p:sp>
            <p:nvSpPr>
              <p:cNvPr id="19501" name="Rectangle 45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02" name="Oval 46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503" name="Group 47"/>
            <p:cNvGrpSpPr/>
            <p:nvPr/>
          </p:nvGrpSpPr>
          <p:grpSpPr>
            <a:xfrm>
              <a:off x="4752" y="2579"/>
              <a:ext cx="192" cy="288"/>
              <a:chOff x="4944" y="1728"/>
              <a:chExt cx="144" cy="240"/>
            </a:xfrm>
          </p:grpSpPr>
          <p:sp>
            <p:nvSpPr>
              <p:cNvPr id="19504" name="Rectangle 48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05" name="Oval 49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506" name="Group 50"/>
            <p:cNvGrpSpPr/>
            <p:nvPr/>
          </p:nvGrpSpPr>
          <p:grpSpPr>
            <a:xfrm>
              <a:off x="5040" y="2579"/>
              <a:ext cx="192" cy="288"/>
              <a:chOff x="4944" y="1728"/>
              <a:chExt cx="144" cy="240"/>
            </a:xfrm>
          </p:grpSpPr>
          <p:sp>
            <p:nvSpPr>
              <p:cNvPr id="19507" name="Rectangle 51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08" name="Oval 52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509" name="Group 53"/>
            <p:cNvGrpSpPr/>
            <p:nvPr/>
          </p:nvGrpSpPr>
          <p:grpSpPr>
            <a:xfrm>
              <a:off x="218" y="1490"/>
              <a:ext cx="5307" cy="2630"/>
              <a:chOff x="218" y="1490"/>
              <a:chExt cx="5307" cy="2630"/>
            </a:xfrm>
          </p:grpSpPr>
          <p:sp>
            <p:nvSpPr>
              <p:cNvPr id="19510" name="Text Box 54"/>
              <p:cNvSpPr txBox="1"/>
              <p:nvPr/>
            </p:nvSpPr>
            <p:spPr>
              <a:xfrm>
                <a:off x="517" y="3757"/>
                <a:ext cx="350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11" name="Text Box 55"/>
              <p:cNvSpPr txBox="1"/>
              <p:nvPr/>
            </p:nvSpPr>
            <p:spPr>
              <a:xfrm>
                <a:off x="1575" y="3800"/>
                <a:ext cx="3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12" name="Text Box 56"/>
              <p:cNvSpPr txBox="1"/>
              <p:nvPr/>
            </p:nvSpPr>
            <p:spPr>
              <a:xfrm>
                <a:off x="2735" y="3832"/>
                <a:ext cx="31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13" name="Text Box 57"/>
              <p:cNvSpPr txBox="1"/>
              <p:nvPr/>
            </p:nvSpPr>
            <p:spPr>
              <a:xfrm>
                <a:off x="3834" y="3810"/>
                <a:ext cx="33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514" name="Group 58"/>
              <p:cNvGrpSpPr/>
              <p:nvPr/>
            </p:nvGrpSpPr>
            <p:grpSpPr>
              <a:xfrm>
                <a:off x="293" y="2931"/>
                <a:ext cx="727" cy="296"/>
                <a:chOff x="294" y="2999"/>
                <a:chExt cx="727" cy="296"/>
              </a:xfrm>
            </p:grpSpPr>
            <p:sp>
              <p:nvSpPr>
                <p:cNvPr id="19515" name="Rectangle 59"/>
                <p:cNvSpPr/>
                <p:nvPr/>
              </p:nvSpPr>
              <p:spPr>
                <a:xfrm>
                  <a:off x="294" y="2999"/>
                  <a:ext cx="727" cy="15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6" name="Rectangle 60"/>
                <p:cNvSpPr/>
                <p:nvPr/>
              </p:nvSpPr>
              <p:spPr>
                <a:xfrm>
                  <a:off x="294" y="3157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7" name="Rectangle 61"/>
                <p:cNvSpPr/>
                <p:nvPr/>
              </p:nvSpPr>
              <p:spPr>
                <a:xfrm>
                  <a:off x="656" y="3158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18" name="Group 62"/>
              <p:cNvGrpSpPr/>
              <p:nvPr/>
            </p:nvGrpSpPr>
            <p:grpSpPr>
              <a:xfrm>
                <a:off x="1382" y="2931"/>
                <a:ext cx="727" cy="296"/>
                <a:chOff x="294" y="2999"/>
                <a:chExt cx="727" cy="296"/>
              </a:xfrm>
            </p:grpSpPr>
            <p:sp>
              <p:nvSpPr>
                <p:cNvPr id="19519" name="Rectangle 63"/>
                <p:cNvSpPr/>
                <p:nvPr/>
              </p:nvSpPr>
              <p:spPr>
                <a:xfrm>
                  <a:off x="294" y="2999"/>
                  <a:ext cx="727" cy="15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0" name="Rectangle 64"/>
                <p:cNvSpPr/>
                <p:nvPr/>
              </p:nvSpPr>
              <p:spPr>
                <a:xfrm>
                  <a:off x="294" y="3157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1" name="Rectangle 65"/>
                <p:cNvSpPr/>
                <p:nvPr/>
              </p:nvSpPr>
              <p:spPr>
                <a:xfrm>
                  <a:off x="656" y="3158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22" name="Group 66"/>
              <p:cNvGrpSpPr/>
              <p:nvPr/>
            </p:nvGrpSpPr>
            <p:grpSpPr>
              <a:xfrm>
                <a:off x="2516" y="2931"/>
                <a:ext cx="727" cy="296"/>
                <a:chOff x="294" y="2999"/>
                <a:chExt cx="727" cy="296"/>
              </a:xfrm>
            </p:grpSpPr>
            <p:sp>
              <p:nvSpPr>
                <p:cNvPr id="19523" name="Rectangle 67"/>
                <p:cNvSpPr/>
                <p:nvPr/>
              </p:nvSpPr>
              <p:spPr>
                <a:xfrm>
                  <a:off x="294" y="2999"/>
                  <a:ext cx="727" cy="15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4" name="Rectangle 68"/>
                <p:cNvSpPr/>
                <p:nvPr/>
              </p:nvSpPr>
              <p:spPr>
                <a:xfrm>
                  <a:off x="294" y="3157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5" name="Rectangle 69"/>
                <p:cNvSpPr/>
                <p:nvPr/>
              </p:nvSpPr>
              <p:spPr>
                <a:xfrm>
                  <a:off x="656" y="3158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26" name="Group 70"/>
              <p:cNvGrpSpPr/>
              <p:nvPr/>
            </p:nvGrpSpPr>
            <p:grpSpPr>
              <a:xfrm>
                <a:off x="3650" y="2931"/>
                <a:ext cx="727" cy="296"/>
                <a:chOff x="294" y="2999"/>
                <a:chExt cx="727" cy="296"/>
              </a:xfrm>
            </p:grpSpPr>
            <p:sp>
              <p:nvSpPr>
                <p:cNvPr id="19527" name="Rectangle 71"/>
                <p:cNvSpPr/>
                <p:nvPr/>
              </p:nvSpPr>
              <p:spPr>
                <a:xfrm>
                  <a:off x="294" y="2999"/>
                  <a:ext cx="727" cy="15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8" name="Rectangle 72"/>
                <p:cNvSpPr/>
                <p:nvPr/>
              </p:nvSpPr>
              <p:spPr>
                <a:xfrm>
                  <a:off x="294" y="3157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29" name="Rectangle 73"/>
                <p:cNvSpPr/>
                <p:nvPr/>
              </p:nvSpPr>
              <p:spPr>
                <a:xfrm>
                  <a:off x="656" y="3158"/>
                  <a:ext cx="364" cy="13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530" name="Line 74"/>
              <p:cNvSpPr/>
              <p:nvPr/>
            </p:nvSpPr>
            <p:spPr>
              <a:xfrm>
                <a:off x="748" y="3227"/>
                <a:ext cx="0" cy="7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31" name="Line 75"/>
              <p:cNvSpPr/>
              <p:nvPr/>
            </p:nvSpPr>
            <p:spPr>
              <a:xfrm>
                <a:off x="1837" y="3203"/>
                <a:ext cx="0" cy="7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32" name="Line 76"/>
              <p:cNvSpPr/>
              <p:nvPr/>
            </p:nvSpPr>
            <p:spPr>
              <a:xfrm>
                <a:off x="2971" y="3203"/>
                <a:ext cx="0" cy="7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33" name="Line 77"/>
              <p:cNvSpPr/>
              <p:nvPr/>
            </p:nvSpPr>
            <p:spPr>
              <a:xfrm>
                <a:off x="4128" y="3216"/>
                <a:ext cx="0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9534" name="Group 78"/>
              <p:cNvGrpSpPr/>
              <p:nvPr/>
            </p:nvGrpSpPr>
            <p:grpSpPr>
              <a:xfrm>
                <a:off x="218" y="1490"/>
                <a:ext cx="4281" cy="1985"/>
                <a:chOff x="218" y="1417"/>
                <a:chExt cx="4281" cy="2121"/>
              </a:xfrm>
            </p:grpSpPr>
            <p:sp>
              <p:nvSpPr>
                <p:cNvPr id="19535" name="Line 79"/>
                <p:cNvSpPr/>
                <p:nvPr/>
              </p:nvSpPr>
              <p:spPr>
                <a:xfrm flipH="1">
                  <a:off x="1347" y="1417"/>
                  <a:ext cx="8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36" name="Line 80"/>
                <p:cNvSpPr/>
                <p:nvPr/>
              </p:nvSpPr>
              <p:spPr>
                <a:xfrm flipH="1">
                  <a:off x="1338" y="1417"/>
                  <a:ext cx="9" cy="210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37" name="Line 81"/>
                <p:cNvSpPr/>
                <p:nvPr/>
              </p:nvSpPr>
              <p:spPr>
                <a:xfrm>
                  <a:off x="1338" y="3521"/>
                  <a:ext cx="135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38" name="Line 82"/>
                <p:cNvSpPr/>
                <p:nvPr/>
              </p:nvSpPr>
              <p:spPr>
                <a:xfrm flipV="1">
                  <a:off x="1474" y="3227"/>
                  <a:ext cx="0" cy="29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39" name="Line 83"/>
                <p:cNvSpPr/>
                <p:nvPr/>
              </p:nvSpPr>
              <p:spPr>
                <a:xfrm flipH="1">
                  <a:off x="227" y="1417"/>
                  <a:ext cx="8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0" name="Line 84"/>
                <p:cNvSpPr/>
                <p:nvPr/>
              </p:nvSpPr>
              <p:spPr>
                <a:xfrm flipH="1">
                  <a:off x="218" y="1417"/>
                  <a:ext cx="9" cy="210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1" name="Line 85"/>
                <p:cNvSpPr/>
                <p:nvPr/>
              </p:nvSpPr>
              <p:spPr>
                <a:xfrm>
                  <a:off x="218" y="3521"/>
                  <a:ext cx="16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2" name="Line 86"/>
                <p:cNvSpPr/>
                <p:nvPr/>
              </p:nvSpPr>
              <p:spPr>
                <a:xfrm flipV="1">
                  <a:off x="385" y="3227"/>
                  <a:ext cx="0" cy="29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3" name="Line 87"/>
                <p:cNvSpPr/>
                <p:nvPr/>
              </p:nvSpPr>
              <p:spPr>
                <a:xfrm flipH="1">
                  <a:off x="2481" y="1417"/>
                  <a:ext cx="8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4" name="Line 88"/>
                <p:cNvSpPr/>
                <p:nvPr/>
              </p:nvSpPr>
              <p:spPr>
                <a:xfrm flipH="1">
                  <a:off x="2472" y="1417"/>
                  <a:ext cx="9" cy="210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5" name="Line 89"/>
                <p:cNvSpPr/>
                <p:nvPr/>
              </p:nvSpPr>
              <p:spPr>
                <a:xfrm>
                  <a:off x="2472" y="3521"/>
                  <a:ext cx="1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6" name="Line 90"/>
                <p:cNvSpPr/>
                <p:nvPr/>
              </p:nvSpPr>
              <p:spPr>
                <a:xfrm flipV="1">
                  <a:off x="2592" y="3227"/>
                  <a:ext cx="0" cy="29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7" name="Line 91"/>
                <p:cNvSpPr/>
                <p:nvPr/>
              </p:nvSpPr>
              <p:spPr>
                <a:xfrm flipH="1">
                  <a:off x="3615" y="1434"/>
                  <a:ext cx="8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8" name="Line 92"/>
                <p:cNvSpPr/>
                <p:nvPr/>
              </p:nvSpPr>
              <p:spPr>
                <a:xfrm flipH="1">
                  <a:off x="3606" y="1434"/>
                  <a:ext cx="9" cy="210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49" name="Line 93"/>
                <p:cNvSpPr/>
                <p:nvPr/>
              </p:nvSpPr>
              <p:spPr>
                <a:xfrm>
                  <a:off x="3606" y="3538"/>
                  <a:ext cx="1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50" name="Line 94"/>
                <p:cNvSpPr/>
                <p:nvPr/>
              </p:nvSpPr>
              <p:spPr>
                <a:xfrm flipV="1">
                  <a:off x="3726" y="3244"/>
                  <a:ext cx="0" cy="29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9551" name="Line 95"/>
              <p:cNvSpPr/>
              <p:nvPr/>
            </p:nvSpPr>
            <p:spPr>
              <a:xfrm flipV="1">
                <a:off x="4944" y="3552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52" name="Line 96"/>
              <p:cNvSpPr/>
              <p:nvPr/>
            </p:nvSpPr>
            <p:spPr>
              <a:xfrm>
                <a:off x="5239" y="3544"/>
                <a:ext cx="2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53" name="Line 97"/>
              <p:cNvSpPr/>
              <p:nvPr/>
            </p:nvSpPr>
            <p:spPr>
              <a:xfrm>
                <a:off x="4992" y="3552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9554" name="Group 98"/>
              <p:cNvGrpSpPr/>
              <p:nvPr/>
            </p:nvGrpSpPr>
            <p:grpSpPr>
              <a:xfrm>
                <a:off x="939" y="3225"/>
                <a:ext cx="4073" cy="659"/>
                <a:chOff x="939" y="3225"/>
                <a:chExt cx="4073" cy="659"/>
              </a:xfrm>
            </p:grpSpPr>
            <p:sp>
              <p:nvSpPr>
                <p:cNvPr id="19555" name="Line 99"/>
                <p:cNvSpPr/>
                <p:nvPr/>
              </p:nvSpPr>
              <p:spPr>
                <a:xfrm flipH="1">
                  <a:off x="939" y="3840"/>
                  <a:ext cx="4073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56" name="Line 100"/>
                <p:cNvSpPr/>
                <p:nvPr/>
              </p:nvSpPr>
              <p:spPr>
                <a:xfrm>
                  <a:off x="939" y="3227"/>
                  <a:ext cx="0" cy="61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57" name="Line 101"/>
                <p:cNvSpPr/>
                <p:nvPr/>
              </p:nvSpPr>
              <p:spPr>
                <a:xfrm>
                  <a:off x="1973" y="3225"/>
                  <a:ext cx="0" cy="61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58" name="Line 102"/>
                <p:cNvSpPr/>
                <p:nvPr/>
              </p:nvSpPr>
              <p:spPr>
                <a:xfrm>
                  <a:off x="3107" y="3225"/>
                  <a:ext cx="0" cy="61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59" name="Line 103"/>
                <p:cNvSpPr/>
                <p:nvPr/>
              </p:nvSpPr>
              <p:spPr>
                <a:xfrm>
                  <a:off x="4286" y="3225"/>
                  <a:ext cx="0" cy="61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pic>
              <p:nvPicPr>
                <p:cNvPr id="19560" name="Picture 104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958" y="3824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9561" name="Picture 105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4272" y="3824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9562" name="Picture 106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092" y="3824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19563" name="Group 107"/>
              <p:cNvGrpSpPr/>
              <p:nvPr/>
            </p:nvGrpSpPr>
            <p:grpSpPr>
              <a:xfrm>
                <a:off x="521" y="3202"/>
                <a:ext cx="4219" cy="380"/>
                <a:chOff x="521" y="3202"/>
                <a:chExt cx="4219" cy="380"/>
              </a:xfrm>
            </p:grpSpPr>
            <p:sp>
              <p:nvSpPr>
                <p:cNvPr id="19564" name="Line 108"/>
                <p:cNvSpPr/>
                <p:nvPr/>
              </p:nvSpPr>
              <p:spPr>
                <a:xfrm flipH="1">
                  <a:off x="521" y="3544"/>
                  <a:ext cx="421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pic>
              <p:nvPicPr>
                <p:cNvPr id="19565" name="Picture 109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2714" y="3522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9566" name="Picture 11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818" y="3521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9567" name="Line 111"/>
                <p:cNvSpPr/>
                <p:nvPr/>
              </p:nvSpPr>
              <p:spPr>
                <a:xfrm flipV="1">
                  <a:off x="521" y="3225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68" name="Line 112"/>
                <p:cNvSpPr/>
                <p:nvPr/>
              </p:nvSpPr>
              <p:spPr>
                <a:xfrm flipV="1">
                  <a:off x="1610" y="3203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69" name="Line 113"/>
                <p:cNvSpPr/>
                <p:nvPr/>
              </p:nvSpPr>
              <p:spPr>
                <a:xfrm flipV="1">
                  <a:off x="2744" y="3202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70" name="Line 114"/>
                <p:cNvSpPr/>
                <p:nvPr/>
              </p:nvSpPr>
              <p:spPr>
                <a:xfrm flipV="1">
                  <a:off x="3833" y="3203"/>
                  <a:ext cx="0" cy="31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pic>
              <p:nvPicPr>
                <p:cNvPr id="19571" name="Picture 115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595" y="3521"/>
                  <a:ext cx="60" cy="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19572" name="Text Box 116"/>
              <p:cNvSpPr txBox="1"/>
              <p:nvPr/>
            </p:nvSpPr>
            <p:spPr>
              <a:xfrm>
                <a:off x="5284" y="3067"/>
                <a:ext cx="241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9573" name="Group 117"/>
              <p:cNvGrpSpPr/>
              <p:nvPr/>
            </p:nvGrpSpPr>
            <p:grpSpPr>
              <a:xfrm>
                <a:off x="4752" y="3408"/>
                <a:ext cx="192" cy="288"/>
                <a:chOff x="4944" y="1728"/>
                <a:chExt cx="144" cy="240"/>
              </a:xfrm>
            </p:grpSpPr>
            <p:sp>
              <p:nvSpPr>
                <p:cNvPr id="19574" name="Rectangle 118"/>
                <p:cNvSpPr/>
                <p:nvPr/>
              </p:nvSpPr>
              <p:spPr>
                <a:xfrm>
                  <a:off x="4992" y="1728"/>
                  <a:ext cx="9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75" name="Oval 119"/>
                <p:cNvSpPr/>
                <p:nvPr/>
              </p:nvSpPr>
              <p:spPr>
                <a:xfrm>
                  <a:off x="4944" y="1824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576" name="Group 120"/>
              <p:cNvGrpSpPr/>
              <p:nvPr/>
            </p:nvGrpSpPr>
            <p:grpSpPr>
              <a:xfrm>
                <a:off x="5040" y="3408"/>
                <a:ext cx="192" cy="288"/>
                <a:chOff x="4944" y="1728"/>
                <a:chExt cx="144" cy="240"/>
              </a:xfrm>
            </p:grpSpPr>
            <p:sp>
              <p:nvSpPr>
                <p:cNvPr id="19577" name="Rectangle 121"/>
                <p:cNvSpPr/>
                <p:nvPr/>
              </p:nvSpPr>
              <p:spPr>
                <a:xfrm>
                  <a:off x="4992" y="1728"/>
                  <a:ext cx="9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78" name="Oval 122"/>
                <p:cNvSpPr/>
                <p:nvPr/>
              </p:nvSpPr>
              <p:spPr>
                <a:xfrm>
                  <a:off x="4944" y="1824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757917" name="Rectangle 157"/>
          <p:cNvSpPr>
            <a:spLocks noChangeArrowheads="1"/>
          </p:cNvSpPr>
          <p:nvPr/>
        </p:nvSpPr>
        <p:spPr bwMode="auto">
          <a:xfrm>
            <a:off x="1925638" y="12700"/>
            <a:ext cx="515143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有输入输出使能的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497013" y="411163"/>
            <a:ext cx="7216775" cy="1319212"/>
            <a:chOff x="1497714" y="411164"/>
            <a:chExt cx="7215852" cy="1319211"/>
          </a:xfrm>
        </p:grpSpPr>
        <p:sp>
          <p:nvSpPr>
            <p:cNvPr id="19581" name="Text Box 125"/>
            <p:cNvSpPr txBox="1"/>
            <p:nvPr/>
          </p:nvSpPr>
          <p:spPr>
            <a:xfrm>
              <a:off x="1797050" y="423864"/>
              <a:ext cx="52387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82" name="Text Box 126"/>
            <p:cNvSpPr txBox="1"/>
            <p:nvPr/>
          </p:nvSpPr>
          <p:spPr>
            <a:xfrm>
              <a:off x="3538028" y="411164"/>
              <a:ext cx="525463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83" name="Text Box 127"/>
            <p:cNvSpPr txBox="1"/>
            <p:nvPr/>
          </p:nvSpPr>
          <p:spPr>
            <a:xfrm>
              <a:off x="5443538" y="467520"/>
              <a:ext cx="49847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84" name="Text Box 128"/>
            <p:cNvSpPr txBox="1"/>
            <p:nvPr/>
          </p:nvSpPr>
          <p:spPr>
            <a:xfrm>
              <a:off x="7188633" y="459583"/>
              <a:ext cx="53657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9585" name="组合 38"/>
            <p:cNvGrpSpPr/>
            <p:nvPr/>
          </p:nvGrpSpPr>
          <p:grpSpPr>
            <a:xfrm>
              <a:off x="1497714" y="593791"/>
              <a:ext cx="7215852" cy="1136584"/>
              <a:chOff x="1497714" y="593791"/>
              <a:chExt cx="7215852" cy="1136584"/>
            </a:xfrm>
          </p:grpSpPr>
          <p:sp>
            <p:nvSpPr>
              <p:cNvPr id="19586" name="Line 146"/>
              <p:cNvSpPr/>
              <p:nvPr/>
            </p:nvSpPr>
            <p:spPr>
              <a:xfrm flipV="1">
                <a:off x="2252663" y="1425575"/>
                <a:ext cx="0" cy="3048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87" name="Line 147"/>
              <p:cNvSpPr/>
              <p:nvPr/>
            </p:nvSpPr>
            <p:spPr>
              <a:xfrm flipH="1">
                <a:off x="1947863" y="1425575"/>
                <a:ext cx="3048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9588" name="组合 15"/>
              <p:cNvGrpSpPr/>
              <p:nvPr/>
            </p:nvGrpSpPr>
            <p:grpSpPr>
              <a:xfrm>
                <a:off x="1497714" y="609954"/>
                <a:ext cx="459563" cy="1057137"/>
                <a:chOff x="1497714" y="594080"/>
                <a:chExt cx="459563" cy="1057137"/>
              </a:xfrm>
            </p:grpSpPr>
            <p:cxnSp>
              <p:nvCxnSpPr>
                <p:cNvPr id="4" name="直接连接符 3"/>
                <p:cNvCxnSpPr/>
                <p:nvPr/>
              </p:nvCxnSpPr>
              <p:spPr>
                <a:xfrm flipH="1">
                  <a:off x="1500889" y="1643064"/>
                  <a:ext cx="45714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590" name="组合 9"/>
                <p:cNvGrpSpPr/>
                <p:nvPr/>
              </p:nvGrpSpPr>
              <p:grpSpPr>
                <a:xfrm>
                  <a:off x="1497714" y="594080"/>
                  <a:ext cx="459563" cy="1057137"/>
                  <a:chOff x="1497714" y="594080"/>
                  <a:chExt cx="459563" cy="1057137"/>
                </a:xfrm>
              </p:grpSpPr>
              <p:sp>
                <p:nvSpPr>
                  <p:cNvPr id="19591" name="Oval 143"/>
                  <p:cNvSpPr/>
                  <p:nvPr/>
                </p:nvSpPr>
                <p:spPr>
                  <a:xfrm>
                    <a:off x="1793553" y="1307161"/>
                    <a:ext cx="152400" cy="152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>
                      <a:buClrTx/>
                      <a:buFontTx/>
                    </a:pPr>
                    <a:endParaRPr lang="zh-CN" altLang="en-US" sz="2000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92" name="Line 144"/>
                  <p:cNvSpPr/>
                  <p:nvPr/>
                </p:nvSpPr>
                <p:spPr>
                  <a:xfrm flipV="1">
                    <a:off x="1721644" y="594080"/>
                    <a:ext cx="0" cy="68580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cxnSp>
                <p:nvCxnSpPr>
                  <p:cNvPr id="3" name="直接连接符 2"/>
                  <p:cNvCxnSpPr/>
                  <p:nvPr/>
                </p:nvCxnSpPr>
                <p:spPr>
                  <a:xfrm flipH="1">
                    <a:off x="1497714" y="1273176"/>
                    <a:ext cx="220634" cy="37782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1719935" y="1277939"/>
                    <a:ext cx="238094" cy="36671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9595" name="组合 16"/>
              <p:cNvGrpSpPr/>
              <p:nvPr/>
            </p:nvGrpSpPr>
            <p:grpSpPr>
              <a:xfrm>
                <a:off x="3320349" y="593791"/>
                <a:ext cx="459563" cy="1057137"/>
                <a:chOff x="1497714" y="594080"/>
                <a:chExt cx="459563" cy="1057137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 flipH="1">
                  <a:off x="1500471" y="1643352"/>
                  <a:ext cx="45714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597" name="组合 18"/>
                <p:cNvGrpSpPr/>
                <p:nvPr/>
              </p:nvGrpSpPr>
              <p:grpSpPr>
                <a:xfrm>
                  <a:off x="1497714" y="594080"/>
                  <a:ext cx="459563" cy="1057137"/>
                  <a:chOff x="1497714" y="594080"/>
                  <a:chExt cx="459563" cy="1057137"/>
                </a:xfrm>
              </p:grpSpPr>
              <p:sp>
                <p:nvSpPr>
                  <p:cNvPr id="19598" name="Oval 143"/>
                  <p:cNvSpPr/>
                  <p:nvPr/>
                </p:nvSpPr>
                <p:spPr>
                  <a:xfrm>
                    <a:off x="1793553" y="1307161"/>
                    <a:ext cx="152400" cy="152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algn="ctr">
                      <a:buClrTx/>
                      <a:buFontTx/>
                    </a:pPr>
                    <a:endParaRPr lang="zh-CN" altLang="en-US" sz="2000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99" name="Line 144"/>
                  <p:cNvSpPr/>
                  <p:nvPr/>
                </p:nvSpPr>
                <p:spPr>
                  <a:xfrm flipV="1">
                    <a:off x="1721644" y="594080"/>
                    <a:ext cx="0" cy="68580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cxnSp>
                <p:nvCxnSpPr>
                  <p:cNvPr id="22" name="直接连接符 21"/>
                  <p:cNvCxnSpPr/>
                  <p:nvPr/>
                </p:nvCxnSpPr>
                <p:spPr>
                  <a:xfrm flipH="1">
                    <a:off x="1497296" y="1273464"/>
                    <a:ext cx="220634" cy="37782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1719518" y="1278227"/>
                    <a:ext cx="238094" cy="36671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9602" name="组合 37"/>
              <p:cNvGrpSpPr/>
              <p:nvPr/>
            </p:nvGrpSpPr>
            <p:grpSpPr>
              <a:xfrm>
                <a:off x="2252663" y="594441"/>
                <a:ext cx="6460903" cy="1135934"/>
                <a:chOff x="2252663" y="578567"/>
                <a:chExt cx="6460903" cy="1135934"/>
              </a:xfrm>
            </p:grpSpPr>
            <p:sp>
              <p:nvSpPr>
                <p:cNvPr id="19603" name="Line 145"/>
                <p:cNvSpPr/>
                <p:nvPr/>
              </p:nvSpPr>
              <p:spPr>
                <a:xfrm>
                  <a:off x="2252663" y="1714501"/>
                  <a:ext cx="6324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4" name="Line 148"/>
                <p:cNvSpPr/>
                <p:nvPr/>
              </p:nvSpPr>
              <p:spPr>
                <a:xfrm flipV="1">
                  <a:off x="4081463" y="1333501"/>
                  <a:ext cx="0" cy="38100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5" name="Line 149"/>
                <p:cNvSpPr/>
                <p:nvPr/>
              </p:nvSpPr>
              <p:spPr>
                <a:xfrm flipH="1">
                  <a:off x="3776663" y="1333501"/>
                  <a:ext cx="3048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6" name="Line 150"/>
                <p:cNvSpPr/>
                <p:nvPr/>
              </p:nvSpPr>
              <p:spPr>
                <a:xfrm flipV="1">
                  <a:off x="5834063" y="1333501"/>
                  <a:ext cx="0" cy="38100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7" name="Line 151"/>
                <p:cNvSpPr/>
                <p:nvPr/>
              </p:nvSpPr>
              <p:spPr>
                <a:xfrm flipH="1">
                  <a:off x="5529263" y="1333501"/>
                  <a:ext cx="3048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8" name="Line 152"/>
                <p:cNvSpPr/>
                <p:nvPr/>
              </p:nvSpPr>
              <p:spPr>
                <a:xfrm flipV="1">
                  <a:off x="7662863" y="1333501"/>
                  <a:ext cx="0" cy="38100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609" name="Line 153"/>
                <p:cNvSpPr/>
                <p:nvPr/>
              </p:nvSpPr>
              <p:spPr>
                <a:xfrm flipH="1">
                  <a:off x="7358063" y="1333501"/>
                  <a:ext cx="3048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9610" name="Group 154"/>
                <p:cNvGrpSpPr/>
                <p:nvPr/>
              </p:nvGrpSpPr>
              <p:grpSpPr>
                <a:xfrm>
                  <a:off x="8103966" y="1257301"/>
                  <a:ext cx="609600" cy="457200"/>
                  <a:chOff x="5184" y="1104"/>
                  <a:chExt cx="384" cy="288"/>
                </a:xfrm>
              </p:grpSpPr>
              <p:sp>
                <p:nvSpPr>
                  <p:cNvPr id="19611" name="Text Box 155"/>
                  <p:cNvSpPr txBox="1"/>
                  <p:nvPr/>
                </p:nvSpPr>
                <p:spPr>
                  <a:xfrm>
                    <a:off x="5184" y="1104"/>
                    <a:ext cx="384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OE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612" name="Line 156"/>
                  <p:cNvSpPr/>
                  <p:nvPr/>
                </p:nvSpPr>
                <p:spPr>
                  <a:xfrm>
                    <a:off x="5232" y="1152"/>
                    <a:ext cx="28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613" name="组合 23"/>
                <p:cNvGrpSpPr/>
                <p:nvPr/>
              </p:nvGrpSpPr>
              <p:grpSpPr>
                <a:xfrm>
                  <a:off x="5082244" y="578567"/>
                  <a:ext cx="459563" cy="1057137"/>
                  <a:chOff x="1497714" y="594080"/>
                  <a:chExt cx="459563" cy="1057137"/>
                </a:xfrm>
              </p:grpSpPr>
              <p:cxnSp>
                <p:nvCxnSpPr>
                  <p:cNvPr id="25" name="直接连接符 24"/>
                  <p:cNvCxnSpPr/>
                  <p:nvPr/>
                </p:nvCxnSpPr>
                <p:spPr>
                  <a:xfrm flipH="1">
                    <a:off x="1500475" y="1642702"/>
                    <a:ext cx="45714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615" name="组合 25"/>
                  <p:cNvGrpSpPr/>
                  <p:nvPr/>
                </p:nvGrpSpPr>
                <p:grpSpPr>
                  <a:xfrm>
                    <a:off x="1497714" y="594080"/>
                    <a:ext cx="459563" cy="1057137"/>
                    <a:chOff x="1497714" y="594080"/>
                    <a:chExt cx="459563" cy="1057137"/>
                  </a:xfrm>
                </p:grpSpPr>
                <p:sp>
                  <p:nvSpPr>
                    <p:cNvPr id="19616" name="Oval 143"/>
                    <p:cNvSpPr/>
                    <p:nvPr/>
                  </p:nvSpPr>
                  <p:spPr>
                    <a:xfrm>
                      <a:off x="1793553" y="1307161"/>
                      <a:ext cx="152400" cy="152400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>
                        <a:buClrTx/>
                        <a:buFontTx/>
                      </a:pPr>
                      <a:endParaRPr lang="zh-CN" altLang="en-US" sz="2000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9617" name="Line 144"/>
                    <p:cNvSpPr/>
                    <p:nvPr/>
                  </p:nvSpPr>
                  <p:spPr>
                    <a:xfrm flipV="1">
                      <a:off x="1721644" y="594080"/>
                      <a:ext cx="0" cy="68580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cxnSp>
                  <p:nvCxnSpPr>
                    <p:cNvPr id="29" name="直接连接符 28"/>
                    <p:cNvCxnSpPr/>
                    <p:nvPr/>
                  </p:nvCxnSpPr>
                  <p:spPr>
                    <a:xfrm flipH="1">
                      <a:off x="1497300" y="1272814"/>
                      <a:ext cx="220634" cy="37782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直接连接符 29"/>
                    <p:cNvCxnSpPr/>
                    <p:nvPr/>
                  </p:nvCxnSpPr>
                  <p:spPr>
                    <a:xfrm>
                      <a:off x="1719522" y="1277577"/>
                      <a:ext cx="238094" cy="36671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9620" name="组合 30"/>
                <p:cNvGrpSpPr/>
                <p:nvPr/>
              </p:nvGrpSpPr>
              <p:grpSpPr>
                <a:xfrm>
                  <a:off x="6897688" y="579077"/>
                  <a:ext cx="459563" cy="1057137"/>
                  <a:chOff x="1497714" y="594080"/>
                  <a:chExt cx="459563" cy="1057137"/>
                </a:xfrm>
              </p:grpSpPr>
              <p:cxnSp>
                <p:nvCxnSpPr>
                  <p:cNvPr id="32" name="直接连接符 31"/>
                  <p:cNvCxnSpPr/>
                  <p:nvPr/>
                </p:nvCxnSpPr>
                <p:spPr>
                  <a:xfrm flipH="1">
                    <a:off x="1500899" y="1643779"/>
                    <a:ext cx="45714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622" name="组合 32"/>
                  <p:cNvGrpSpPr/>
                  <p:nvPr/>
                </p:nvGrpSpPr>
                <p:grpSpPr>
                  <a:xfrm>
                    <a:off x="1497714" y="594080"/>
                    <a:ext cx="459563" cy="1057137"/>
                    <a:chOff x="1497714" y="594080"/>
                    <a:chExt cx="459563" cy="1057137"/>
                  </a:xfrm>
                </p:grpSpPr>
                <p:sp>
                  <p:nvSpPr>
                    <p:cNvPr id="19623" name="Oval 143"/>
                    <p:cNvSpPr/>
                    <p:nvPr/>
                  </p:nvSpPr>
                  <p:spPr>
                    <a:xfrm>
                      <a:off x="1793553" y="1307161"/>
                      <a:ext cx="152400" cy="152400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>
                        <a:buClrTx/>
                        <a:buFontTx/>
                      </a:pPr>
                      <a:endParaRPr lang="zh-CN" altLang="en-US" sz="2000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9624" name="Line 144"/>
                    <p:cNvSpPr/>
                    <p:nvPr/>
                  </p:nvSpPr>
                  <p:spPr>
                    <a:xfrm flipV="1">
                      <a:off x="1721644" y="594080"/>
                      <a:ext cx="0" cy="68580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cxnSp>
                  <p:nvCxnSpPr>
                    <p:cNvPr id="36" name="直接连接符 35"/>
                    <p:cNvCxnSpPr/>
                    <p:nvPr/>
                  </p:nvCxnSpPr>
                  <p:spPr>
                    <a:xfrm flipH="1">
                      <a:off x="1497724" y="1273892"/>
                      <a:ext cx="220634" cy="37782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连接符 36"/>
                    <p:cNvCxnSpPr/>
                    <p:nvPr/>
                  </p:nvCxnSpPr>
                  <p:spPr>
                    <a:xfrm>
                      <a:off x="1719945" y="1278654"/>
                      <a:ext cx="238094" cy="36671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38938" y="6092825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8" y="-36512"/>
            <a:ext cx="8382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寄存器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(Register)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8787" name="Rectangle 3"/>
          <p:cNvSpPr>
            <a:spLocks noGrp="1" noChangeArrowheads="1"/>
          </p:cNvSpPr>
          <p:nvPr>
            <p:ph idx="1"/>
          </p:nvPr>
        </p:nvSpPr>
        <p:spPr>
          <a:xfrm>
            <a:off x="414338" y="588963"/>
            <a:ext cx="7543800" cy="4508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应用举例：用有输入输出使能的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寄存器组成双向总线寄存器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8788" name="AutoShape 4"/>
          <p:cNvSpPr/>
          <p:nvPr/>
        </p:nvSpPr>
        <p:spPr>
          <a:xfrm>
            <a:off x="1649413" y="3141663"/>
            <a:ext cx="1079500" cy="976312"/>
          </a:xfrm>
          <a:custGeom>
            <a:avLst/>
            <a:gdLst/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58789" name="AutoShape 5"/>
          <p:cNvSpPr/>
          <p:nvPr/>
        </p:nvSpPr>
        <p:spPr>
          <a:xfrm>
            <a:off x="1649413" y="5378450"/>
            <a:ext cx="1079500" cy="417513"/>
          </a:xfrm>
          <a:prstGeom prst="leftArrow">
            <a:avLst>
              <a:gd name="adj1" fmla="val 50000"/>
              <a:gd name="adj2" fmla="val 6462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58790" name="Group 6"/>
          <p:cNvGrpSpPr/>
          <p:nvPr/>
        </p:nvGrpSpPr>
        <p:grpSpPr>
          <a:xfrm>
            <a:off x="185738" y="1731963"/>
            <a:ext cx="8758237" cy="4191000"/>
            <a:chOff x="144" y="1584"/>
            <a:chExt cx="5517" cy="2640"/>
          </a:xfrm>
        </p:grpSpPr>
        <p:sp>
          <p:nvSpPr>
            <p:cNvPr id="20487" name="Rectangle 7"/>
            <p:cNvSpPr/>
            <p:nvPr/>
          </p:nvSpPr>
          <p:spPr>
            <a:xfrm>
              <a:off x="2568" y="1791"/>
              <a:ext cx="595" cy="90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      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         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        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   __   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OE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Rectangle 8"/>
            <p:cNvSpPr/>
            <p:nvPr/>
          </p:nvSpPr>
          <p:spPr>
            <a:xfrm>
              <a:off x="2568" y="3066"/>
              <a:ext cx="595" cy="90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     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       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       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   __   </a:t>
              </a: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 D</a:t>
              </a:r>
              <a:r>
                <a:rPr lang="en-US" altLang="zh-CN" sz="16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  <a:buClrTx/>
                <a:buFontTx/>
              </a:pPr>
              <a:r>
                <a:rPr lang="en-US" altLang="zh-CN" sz="1600" dirty="0">
                  <a:latin typeface="Georgia" panose="02040502050405020303" pitchFamily="18" charset="0"/>
                  <a:ea typeface="宋体" panose="02010600030101010101" pitchFamily="2" charset="-122"/>
                </a:rPr>
                <a:t>OE</a:t>
              </a:r>
              <a:endParaRPr lang="en-US" altLang="zh-CN" sz="16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89" name="Line 9"/>
            <p:cNvSpPr/>
            <p:nvPr/>
          </p:nvSpPr>
          <p:spPr>
            <a:xfrm flipH="1">
              <a:off x="924" y="3322"/>
              <a:ext cx="16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0" name="Line 10"/>
            <p:cNvSpPr/>
            <p:nvPr/>
          </p:nvSpPr>
          <p:spPr>
            <a:xfrm flipH="1">
              <a:off x="924" y="3464"/>
              <a:ext cx="16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1" name="Line 11"/>
            <p:cNvSpPr/>
            <p:nvPr/>
          </p:nvSpPr>
          <p:spPr>
            <a:xfrm flipH="1">
              <a:off x="924" y="3606"/>
              <a:ext cx="16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2" name="Line 12"/>
            <p:cNvSpPr/>
            <p:nvPr/>
          </p:nvSpPr>
          <p:spPr>
            <a:xfrm flipH="1">
              <a:off x="924" y="3748"/>
              <a:ext cx="16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3" name="Line 13"/>
            <p:cNvSpPr/>
            <p:nvPr/>
          </p:nvSpPr>
          <p:spPr>
            <a:xfrm flipV="1">
              <a:off x="2426" y="2472"/>
              <a:ext cx="0" cy="12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4" name="Line 14"/>
            <p:cNvSpPr/>
            <p:nvPr/>
          </p:nvSpPr>
          <p:spPr>
            <a:xfrm flipV="1">
              <a:off x="2030" y="2046"/>
              <a:ext cx="0" cy="12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5" name="Line 15"/>
            <p:cNvSpPr/>
            <p:nvPr/>
          </p:nvSpPr>
          <p:spPr>
            <a:xfrm flipV="1">
              <a:off x="2143" y="2188"/>
              <a:ext cx="0" cy="12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6" name="Line 16"/>
            <p:cNvSpPr/>
            <p:nvPr/>
          </p:nvSpPr>
          <p:spPr>
            <a:xfrm flipV="1">
              <a:off x="2285" y="2330"/>
              <a:ext cx="0" cy="12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7" name="Line 17"/>
            <p:cNvSpPr/>
            <p:nvPr/>
          </p:nvSpPr>
          <p:spPr>
            <a:xfrm>
              <a:off x="2426" y="2472"/>
              <a:ext cx="1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8" name="Line 18"/>
            <p:cNvSpPr/>
            <p:nvPr/>
          </p:nvSpPr>
          <p:spPr>
            <a:xfrm>
              <a:off x="2285" y="2330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499" name="Line 19"/>
            <p:cNvSpPr/>
            <p:nvPr/>
          </p:nvSpPr>
          <p:spPr>
            <a:xfrm>
              <a:off x="2143" y="2188"/>
              <a:ext cx="4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0" name="Line 20"/>
            <p:cNvSpPr/>
            <p:nvPr/>
          </p:nvSpPr>
          <p:spPr>
            <a:xfrm>
              <a:off x="2030" y="2046"/>
              <a:ext cx="5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20501" name="Picture 21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01" y="3291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02" name="Picture 22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14" y="343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03" name="Picture 23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53" y="3574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04" name="Picture 2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95" y="3716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05" name="Line 25"/>
            <p:cNvSpPr/>
            <p:nvPr/>
          </p:nvSpPr>
          <p:spPr>
            <a:xfrm>
              <a:off x="2880" y="1584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6" name="Line 26"/>
            <p:cNvSpPr/>
            <p:nvPr/>
          </p:nvSpPr>
          <p:spPr>
            <a:xfrm>
              <a:off x="2880" y="3974"/>
              <a:ext cx="0" cy="1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7" name="Line 27"/>
            <p:cNvSpPr/>
            <p:nvPr/>
          </p:nvSpPr>
          <p:spPr>
            <a:xfrm>
              <a:off x="2880" y="1584"/>
              <a:ext cx="1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8" name="Line 28"/>
            <p:cNvSpPr/>
            <p:nvPr/>
          </p:nvSpPr>
          <p:spPr>
            <a:xfrm>
              <a:off x="2880" y="4144"/>
              <a:ext cx="20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9" name="Line 29"/>
            <p:cNvSpPr/>
            <p:nvPr/>
          </p:nvSpPr>
          <p:spPr>
            <a:xfrm flipH="1">
              <a:off x="4080" y="1584"/>
              <a:ext cx="0" cy="2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0" name="Line 30"/>
            <p:cNvSpPr/>
            <p:nvPr/>
          </p:nvSpPr>
          <p:spPr>
            <a:xfrm flipV="1">
              <a:off x="4080" y="369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1" name="Line 31"/>
            <p:cNvSpPr/>
            <p:nvPr/>
          </p:nvSpPr>
          <p:spPr>
            <a:xfrm>
              <a:off x="4752" y="369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2" name="Line 32"/>
            <p:cNvSpPr/>
            <p:nvPr/>
          </p:nvSpPr>
          <p:spPr>
            <a:xfrm>
              <a:off x="5280" y="369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3" name="Line 33"/>
            <p:cNvSpPr/>
            <p:nvPr/>
          </p:nvSpPr>
          <p:spPr>
            <a:xfrm flipV="1">
              <a:off x="4893" y="3709"/>
              <a:ext cx="0" cy="4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4" name="Line 34"/>
            <p:cNvSpPr/>
            <p:nvPr/>
          </p:nvSpPr>
          <p:spPr>
            <a:xfrm>
              <a:off x="3163" y="2188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5" name="Line 35"/>
            <p:cNvSpPr/>
            <p:nvPr/>
          </p:nvSpPr>
          <p:spPr>
            <a:xfrm>
              <a:off x="3163" y="2358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6" name="Line 36"/>
            <p:cNvSpPr/>
            <p:nvPr/>
          </p:nvSpPr>
          <p:spPr>
            <a:xfrm>
              <a:off x="3163" y="2500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7" name="Line 37"/>
            <p:cNvSpPr/>
            <p:nvPr/>
          </p:nvSpPr>
          <p:spPr>
            <a:xfrm>
              <a:off x="3163" y="3322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8" name="Line 38"/>
            <p:cNvSpPr/>
            <p:nvPr/>
          </p:nvSpPr>
          <p:spPr>
            <a:xfrm>
              <a:off x="3163" y="3464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19" name="Line 39"/>
            <p:cNvSpPr/>
            <p:nvPr/>
          </p:nvSpPr>
          <p:spPr>
            <a:xfrm>
              <a:off x="3163" y="3634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20" name="Line 40"/>
            <p:cNvSpPr/>
            <p:nvPr/>
          </p:nvSpPr>
          <p:spPr>
            <a:xfrm>
              <a:off x="3163" y="3776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21" name="Text Box 41"/>
            <p:cNvSpPr txBox="1"/>
            <p:nvPr/>
          </p:nvSpPr>
          <p:spPr>
            <a:xfrm>
              <a:off x="5024" y="3087"/>
              <a:ext cx="63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_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E/OE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2" name="Text Box 42"/>
            <p:cNvSpPr txBox="1"/>
            <p:nvPr/>
          </p:nvSpPr>
          <p:spPr>
            <a:xfrm>
              <a:off x="3532" y="1905"/>
              <a:ext cx="397" cy="7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输出总线</a:t>
              </a:r>
              <a:endParaRPr lang="zh-CN" altLang="en-US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3" name="Text Box 43"/>
            <p:cNvSpPr txBox="1"/>
            <p:nvPr/>
          </p:nvSpPr>
          <p:spPr>
            <a:xfrm>
              <a:off x="3532" y="3196"/>
              <a:ext cx="397" cy="7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输入总线</a:t>
              </a:r>
              <a:endParaRPr lang="zh-CN" altLang="en-US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4" name="Line 44"/>
            <p:cNvSpPr/>
            <p:nvPr/>
          </p:nvSpPr>
          <p:spPr>
            <a:xfrm>
              <a:off x="3163" y="2047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25" name="Line 45"/>
            <p:cNvSpPr/>
            <p:nvPr/>
          </p:nvSpPr>
          <p:spPr>
            <a:xfrm>
              <a:off x="3163" y="2188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26" name="Line 46"/>
            <p:cNvSpPr/>
            <p:nvPr/>
          </p:nvSpPr>
          <p:spPr>
            <a:xfrm>
              <a:off x="3163" y="2358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27" name="Line 47"/>
            <p:cNvSpPr/>
            <p:nvPr/>
          </p:nvSpPr>
          <p:spPr>
            <a:xfrm>
              <a:off x="3163" y="2500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28" name="Line 48"/>
            <p:cNvSpPr/>
            <p:nvPr/>
          </p:nvSpPr>
          <p:spPr>
            <a:xfrm flipH="1">
              <a:off x="3163" y="3322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29" name="Line 49"/>
            <p:cNvSpPr/>
            <p:nvPr/>
          </p:nvSpPr>
          <p:spPr>
            <a:xfrm flipH="1">
              <a:off x="3163" y="346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30" name="Line 50"/>
            <p:cNvSpPr/>
            <p:nvPr/>
          </p:nvSpPr>
          <p:spPr>
            <a:xfrm flipH="1">
              <a:off x="3163" y="363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31" name="Line 51"/>
            <p:cNvSpPr/>
            <p:nvPr/>
          </p:nvSpPr>
          <p:spPr>
            <a:xfrm flipH="1">
              <a:off x="3163" y="3776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32" name="Line 52"/>
            <p:cNvSpPr/>
            <p:nvPr/>
          </p:nvSpPr>
          <p:spPr>
            <a:xfrm>
              <a:off x="3163" y="2047"/>
              <a:ext cx="1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33" name="Rectangle 53"/>
            <p:cNvSpPr/>
            <p:nvPr/>
          </p:nvSpPr>
          <p:spPr>
            <a:xfrm>
              <a:off x="144" y="2688"/>
              <a:ext cx="768" cy="15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34" name="Text Box 54"/>
            <p:cNvSpPr txBox="1"/>
            <p:nvPr/>
          </p:nvSpPr>
          <p:spPr>
            <a:xfrm>
              <a:off x="240" y="331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0535" name="Group 55"/>
            <p:cNvGrpSpPr/>
            <p:nvPr/>
          </p:nvGrpSpPr>
          <p:grpSpPr>
            <a:xfrm>
              <a:off x="4464" y="3504"/>
              <a:ext cx="288" cy="384"/>
              <a:chOff x="4560" y="2544"/>
              <a:chExt cx="288" cy="384"/>
            </a:xfrm>
          </p:grpSpPr>
          <p:sp>
            <p:nvSpPr>
              <p:cNvPr id="20536" name="Rectangle 56"/>
              <p:cNvSpPr/>
              <p:nvPr/>
            </p:nvSpPr>
            <p:spPr>
              <a:xfrm>
                <a:off x="4656" y="2544"/>
                <a:ext cx="192" cy="38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7" name="Oval 57"/>
              <p:cNvSpPr/>
              <p:nvPr/>
            </p:nvSpPr>
            <p:spPr>
              <a:xfrm>
                <a:off x="4560" y="2688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38" name="Group 58"/>
            <p:cNvGrpSpPr/>
            <p:nvPr/>
          </p:nvGrpSpPr>
          <p:grpSpPr>
            <a:xfrm>
              <a:off x="4992" y="3504"/>
              <a:ext cx="288" cy="384"/>
              <a:chOff x="4560" y="2544"/>
              <a:chExt cx="288" cy="384"/>
            </a:xfrm>
          </p:grpSpPr>
          <p:sp>
            <p:nvSpPr>
              <p:cNvPr id="20539" name="Rectangle 59"/>
              <p:cNvSpPr/>
              <p:nvPr/>
            </p:nvSpPr>
            <p:spPr>
              <a:xfrm>
                <a:off x="4656" y="2544"/>
                <a:ext cx="192" cy="38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40" name="Oval 60"/>
              <p:cNvSpPr/>
              <p:nvPr/>
            </p:nvSpPr>
            <p:spPr>
              <a:xfrm>
                <a:off x="4560" y="2688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58845" name="Group 61"/>
          <p:cNvGrpSpPr/>
          <p:nvPr/>
        </p:nvGrpSpPr>
        <p:grpSpPr>
          <a:xfrm>
            <a:off x="6815138" y="1654175"/>
            <a:ext cx="2133600" cy="1373188"/>
            <a:chOff x="4320" y="1776"/>
            <a:chExt cx="1344" cy="865"/>
          </a:xfrm>
        </p:grpSpPr>
        <p:sp>
          <p:nvSpPr>
            <p:cNvPr id="20542" name="Text Box 62"/>
            <p:cNvSpPr txBox="1"/>
            <p:nvPr/>
          </p:nvSpPr>
          <p:spPr>
            <a:xfrm>
              <a:off x="4320" y="1776"/>
              <a:ext cx="1344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OE=1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E=0, (E/OE=0)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写操作。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3" name="Line 63"/>
            <p:cNvSpPr/>
            <p:nvPr/>
          </p:nvSpPr>
          <p:spPr>
            <a:xfrm>
              <a:off x="4416" y="182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4" name="Line 64"/>
            <p:cNvSpPr/>
            <p:nvPr/>
          </p:nvSpPr>
          <p:spPr>
            <a:xfrm>
              <a:off x="5136" y="18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5" name="Line 65"/>
            <p:cNvSpPr/>
            <p:nvPr/>
          </p:nvSpPr>
          <p:spPr>
            <a:xfrm>
              <a:off x="4464" y="206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58850" name="Group 66"/>
          <p:cNvGrpSpPr/>
          <p:nvPr/>
        </p:nvGrpSpPr>
        <p:grpSpPr>
          <a:xfrm>
            <a:off x="6891338" y="3103563"/>
            <a:ext cx="2209800" cy="1373187"/>
            <a:chOff x="4368" y="2448"/>
            <a:chExt cx="1392" cy="865"/>
          </a:xfrm>
        </p:grpSpPr>
        <p:sp>
          <p:nvSpPr>
            <p:cNvPr id="20547" name="Text Box 67"/>
            <p:cNvSpPr txBox="1"/>
            <p:nvPr/>
          </p:nvSpPr>
          <p:spPr>
            <a:xfrm>
              <a:off x="4368" y="2448"/>
              <a:ext cx="1392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OE=0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E=1, (E/OE=1)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读操作。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Line 68"/>
            <p:cNvSpPr/>
            <p:nvPr/>
          </p:nvSpPr>
          <p:spPr>
            <a:xfrm>
              <a:off x="4416" y="249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49" name="Line 69"/>
            <p:cNvSpPr/>
            <p:nvPr/>
          </p:nvSpPr>
          <p:spPr>
            <a:xfrm>
              <a:off x="5184" y="249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50" name="Line 70"/>
            <p:cNvSpPr/>
            <p:nvPr/>
          </p:nvSpPr>
          <p:spPr>
            <a:xfrm>
              <a:off x="4464" y="27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5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75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598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9812" name="Rectangle 4"/>
          <p:cNvSpPr/>
          <p:nvPr/>
        </p:nvSpPr>
        <p:spPr>
          <a:xfrm>
            <a:off x="381000" y="23622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在计算机中，需要寄存器有移位功能。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乘法运算：将部分积移位。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除法运算：余数移位。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移位寄存器定义：具有移位功能的寄存器。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设计移位寄存器的要求：每来一个时钟脉冲（移位命令），寄存器中的数据就顺序左（右）移动一位，所以必须采用边沿触发器或主从触发器。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移位方式：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左移和右移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4651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18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串入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并出的移位寄存器（右移）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61860" name="Group 4"/>
          <p:cNvGrpSpPr/>
          <p:nvPr/>
        </p:nvGrpSpPr>
        <p:grpSpPr>
          <a:xfrm>
            <a:off x="381000" y="1295400"/>
            <a:ext cx="8132763" cy="3059113"/>
            <a:chOff x="140" y="1248"/>
            <a:chExt cx="5123" cy="1927"/>
          </a:xfrm>
        </p:grpSpPr>
        <p:grpSp>
          <p:nvGrpSpPr>
            <p:cNvPr id="23557" name="Group 5"/>
            <p:cNvGrpSpPr/>
            <p:nvPr/>
          </p:nvGrpSpPr>
          <p:grpSpPr>
            <a:xfrm>
              <a:off x="1122" y="2082"/>
              <a:ext cx="983" cy="839"/>
              <a:chOff x="1642" y="2157"/>
              <a:chExt cx="1238" cy="969"/>
            </a:xfrm>
          </p:grpSpPr>
          <p:sp>
            <p:nvSpPr>
              <p:cNvPr id="23558" name="AutoShape 6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59" name="Rectangle 7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0" name="Rectangle 8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1" name="Rectangle 9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2" name="Line 10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63" name="Line 11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3564" name="Group 12"/>
            <p:cNvGrpSpPr/>
            <p:nvPr/>
          </p:nvGrpSpPr>
          <p:grpSpPr>
            <a:xfrm>
              <a:off x="1944" y="2082"/>
              <a:ext cx="983" cy="839"/>
              <a:chOff x="1642" y="2157"/>
              <a:chExt cx="1238" cy="969"/>
            </a:xfrm>
          </p:grpSpPr>
          <p:sp>
            <p:nvSpPr>
              <p:cNvPr id="23565" name="AutoShape 13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6" name="Rectangle 14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7" name="Rectangle 15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8" name="Rectangle 16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9" name="Line 17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70" name="Line 18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3571" name="Group 19"/>
            <p:cNvGrpSpPr/>
            <p:nvPr/>
          </p:nvGrpSpPr>
          <p:grpSpPr>
            <a:xfrm>
              <a:off x="2767" y="2082"/>
              <a:ext cx="983" cy="839"/>
              <a:chOff x="1642" y="2157"/>
              <a:chExt cx="1238" cy="969"/>
            </a:xfrm>
          </p:grpSpPr>
          <p:sp>
            <p:nvSpPr>
              <p:cNvPr id="23572" name="AutoShape 20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3" name="Rectangle 21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4" name="Rectangle 22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5" name="Rectangle 23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6" name="Line 24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77" name="Line 25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3578" name="Group 26"/>
            <p:cNvGrpSpPr/>
            <p:nvPr/>
          </p:nvGrpSpPr>
          <p:grpSpPr>
            <a:xfrm>
              <a:off x="3589" y="2082"/>
              <a:ext cx="983" cy="839"/>
              <a:chOff x="1642" y="2157"/>
              <a:chExt cx="1238" cy="969"/>
            </a:xfrm>
          </p:grpSpPr>
          <p:sp>
            <p:nvSpPr>
              <p:cNvPr id="23579" name="AutoShape 27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0" name="Rectangle 28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1" name="Rectangle 29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2" name="Rectangle 30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3" name="Line 31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84" name="Line 32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3585" name="Line 33"/>
            <p:cNvSpPr/>
            <p:nvPr/>
          </p:nvSpPr>
          <p:spPr>
            <a:xfrm flipH="1">
              <a:off x="1122" y="2711"/>
              <a:ext cx="2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6" name="Line 34"/>
            <p:cNvSpPr/>
            <p:nvPr/>
          </p:nvSpPr>
          <p:spPr>
            <a:xfrm>
              <a:off x="672" y="3091"/>
              <a:ext cx="29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7" name="Line 35"/>
            <p:cNvSpPr/>
            <p:nvPr/>
          </p:nvSpPr>
          <p:spPr>
            <a:xfrm>
              <a:off x="3591" y="2711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8" name="Line 36"/>
            <p:cNvSpPr/>
            <p:nvPr/>
          </p:nvSpPr>
          <p:spPr>
            <a:xfrm>
              <a:off x="2767" y="2722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9" name="Line 37"/>
            <p:cNvSpPr/>
            <p:nvPr/>
          </p:nvSpPr>
          <p:spPr>
            <a:xfrm>
              <a:off x="1944" y="2722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90" name="Line 38"/>
            <p:cNvSpPr/>
            <p:nvPr/>
          </p:nvSpPr>
          <p:spPr>
            <a:xfrm flipH="1">
              <a:off x="672" y="2269"/>
              <a:ext cx="5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91" name="Text Box 39"/>
            <p:cNvSpPr txBox="1"/>
            <p:nvPr/>
          </p:nvSpPr>
          <p:spPr>
            <a:xfrm>
              <a:off x="614" y="1994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2" name="Text Box 40"/>
            <p:cNvSpPr txBox="1"/>
            <p:nvPr/>
          </p:nvSpPr>
          <p:spPr>
            <a:xfrm>
              <a:off x="356" y="2887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3" name="Line 41"/>
            <p:cNvSpPr/>
            <p:nvPr/>
          </p:nvSpPr>
          <p:spPr>
            <a:xfrm flipV="1">
              <a:off x="1946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23594" name="Picture 42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14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5" name="Line 43"/>
            <p:cNvSpPr/>
            <p:nvPr/>
          </p:nvSpPr>
          <p:spPr>
            <a:xfrm flipV="1">
              <a:off x="2770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23596" name="Picture 4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38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7" name="Line 45"/>
            <p:cNvSpPr/>
            <p:nvPr/>
          </p:nvSpPr>
          <p:spPr>
            <a:xfrm flipV="1">
              <a:off x="3589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23598" name="Picture 46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57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9" name="Line 47"/>
            <p:cNvSpPr/>
            <p:nvPr/>
          </p:nvSpPr>
          <p:spPr>
            <a:xfrm flipV="1">
              <a:off x="4553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23600" name="Picture 48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24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601" name="Picture 49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1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602" name="Picture 50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16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603" name="Picture 51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35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604" name="Line 52"/>
            <p:cNvSpPr/>
            <p:nvPr/>
          </p:nvSpPr>
          <p:spPr>
            <a:xfrm>
              <a:off x="4572" y="2282"/>
              <a:ext cx="5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05" name="Text Box 53"/>
            <p:cNvSpPr txBox="1"/>
            <p:nvPr/>
          </p:nvSpPr>
          <p:spPr>
            <a:xfrm>
              <a:off x="5147" y="2085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endParaRPr lang="zh-CN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06" name="AutoShape 54"/>
            <p:cNvSpPr/>
            <p:nvPr/>
          </p:nvSpPr>
          <p:spPr>
            <a:xfrm rot="5400000">
              <a:off x="3151" y="326"/>
              <a:ext cx="168" cy="2582"/>
            </a:xfrm>
            <a:prstGeom prst="leftBrace">
              <a:avLst>
                <a:gd name="adj1" fmla="val 128004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07" name="Text Box 55"/>
            <p:cNvSpPr txBox="1"/>
            <p:nvPr/>
          </p:nvSpPr>
          <p:spPr>
            <a:xfrm>
              <a:off x="3004" y="1248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并出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08" name="Text Box 56"/>
            <p:cNvSpPr txBox="1"/>
            <p:nvPr/>
          </p:nvSpPr>
          <p:spPr>
            <a:xfrm>
              <a:off x="140" y="207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串入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1913" name="Text Box 57"/>
          <p:cNvSpPr txBox="1"/>
          <p:nvPr/>
        </p:nvSpPr>
        <p:spPr>
          <a:xfrm>
            <a:off x="823913" y="4592638"/>
            <a:ext cx="5711825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应用：串行变并行</a:t>
            </a: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如果要并行变串行，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                                </a:t>
            </a: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应该有并行输入功能</a:t>
            </a: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761914" name="Group 58"/>
          <p:cNvGrpSpPr/>
          <p:nvPr/>
        </p:nvGrpSpPr>
        <p:grpSpPr>
          <a:xfrm>
            <a:off x="3295650" y="2057400"/>
            <a:ext cx="4533900" cy="533400"/>
            <a:chOff x="2076" y="1296"/>
            <a:chExt cx="2856" cy="336"/>
          </a:xfrm>
        </p:grpSpPr>
        <p:sp>
          <p:nvSpPr>
            <p:cNvPr id="23611" name="Rectangle 59"/>
            <p:cNvSpPr/>
            <p:nvPr/>
          </p:nvSpPr>
          <p:spPr>
            <a:xfrm>
              <a:off x="2076" y="129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12" name="Rectangle 60"/>
            <p:cNvSpPr/>
            <p:nvPr/>
          </p:nvSpPr>
          <p:spPr>
            <a:xfrm>
              <a:off x="2880" y="129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13" name="Rectangle 61"/>
            <p:cNvSpPr/>
            <p:nvPr/>
          </p:nvSpPr>
          <p:spPr>
            <a:xfrm>
              <a:off x="3696" y="129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14" name="Rectangle 62"/>
            <p:cNvSpPr/>
            <p:nvPr/>
          </p:nvSpPr>
          <p:spPr>
            <a:xfrm>
              <a:off x="4656" y="134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61919" name="Group 63"/>
          <p:cNvGrpSpPr/>
          <p:nvPr/>
        </p:nvGrpSpPr>
        <p:grpSpPr>
          <a:xfrm>
            <a:off x="6999288" y="3724275"/>
            <a:ext cx="1828800" cy="1676400"/>
            <a:chOff x="2592" y="2832"/>
            <a:chExt cx="1152" cy="1056"/>
          </a:xfrm>
        </p:grpSpPr>
        <p:sp>
          <p:nvSpPr>
            <p:cNvPr id="23616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17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18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19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20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21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22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23" name="Line 71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24" name="Line 72"/>
            <p:cNvSpPr/>
            <p:nvPr/>
          </p:nvSpPr>
          <p:spPr>
            <a:xfrm>
              <a:off x="350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25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26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27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628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1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1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9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39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串入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并出的右移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Shift Reg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63967" name="Group 63"/>
          <p:cNvGrpSpPr/>
          <p:nvPr/>
        </p:nvGrpSpPr>
        <p:grpSpPr>
          <a:xfrm>
            <a:off x="684213" y="3352800"/>
            <a:ext cx="6173787" cy="457200"/>
            <a:chOff x="431" y="2112"/>
            <a:chExt cx="3793" cy="288"/>
          </a:xfrm>
        </p:grpSpPr>
        <p:sp>
          <p:nvSpPr>
            <p:cNvPr id="25605" name="Text Box 64"/>
            <p:cNvSpPr txBox="1"/>
            <p:nvPr/>
          </p:nvSpPr>
          <p:spPr>
            <a:xfrm>
              <a:off x="431" y="2112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06" name="Group 65"/>
            <p:cNvGrpSpPr/>
            <p:nvPr/>
          </p:nvGrpSpPr>
          <p:grpSpPr>
            <a:xfrm>
              <a:off x="912" y="2160"/>
              <a:ext cx="3312" cy="144"/>
              <a:chOff x="864" y="2160"/>
              <a:chExt cx="3312" cy="144"/>
            </a:xfrm>
          </p:grpSpPr>
          <p:sp>
            <p:nvSpPr>
              <p:cNvPr id="25607" name="Line 66"/>
              <p:cNvSpPr/>
              <p:nvPr/>
            </p:nvSpPr>
            <p:spPr>
              <a:xfrm>
                <a:off x="864" y="2304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08" name="Line 67"/>
              <p:cNvSpPr/>
              <p:nvPr/>
            </p:nvSpPr>
            <p:spPr>
              <a:xfrm flipV="1">
                <a:off x="1344" y="21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09" name="Line 68"/>
              <p:cNvSpPr/>
              <p:nvPr/>
            </p:nvSpPr>
            <p:spPr>
              <a:xfrm>
                <a:off x="1344" y="216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0" name="Line 69"/>
              <p:cNvSpPr/>
              <p:nvPr/>
            </p:nvSpPr>
            <p:spPr>
              <a:xfrm>
                <a:off x="1632" y="21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1" name="Line 70"/>
              <p:cNvSpPr/>
              <p:nvPr/>
            </p:nvSpPr>
            <p:spPr>
              <a:xfrm>
                <a:off x="1632" y="230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2" name="Line 71"/>
              <p:cNvSpPr/>
              <p:nvPr/>
            </p:nvSpPr>
            <p:spPr>
              <a:xfrm flipV="1">
                <a:off x="2160" y="21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3" name="Line 72"/>
              <p:cNvSpPr/>
              <p:nvPr/>
            </p:nvSpPr>
            <p:spPr>
              <a:xfrm>
                <a:off x="2160" y="2160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4" name="Line 73"/>
              <p:cNvSpPr/>
              <p:nvPr/>
            </p:nvSpPr>
            <p:spPr>
              <a:xfrm>
                <a:off x="2976" y="21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5" name="Line 74"/>
              <p:cNvSpPr/>
              <p:nvPr/>
            </p:nvSpPr>
            <p:spPr>
              <a:xfrm>
                <a:off x="2976" y="2304"/>
                <a:ext cx="12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3979" name="Group 75"/>
          <p:cNvGrpSpPr/>
          <p:nvPr/>
        </p:nvGrpSpPr>
        <p:grpSpPr>
          <a:xfrm>
            <a:off x="685800" y="3962400"/>
            <a:ext cx="6629400" cy="457200"/>
            <a:chOff x="432" y="2496"/>
            <a:chExt cx="4080" cy="288"/>
          </a:xfrm>
        </p:grpSpPr>
        <p:sp>
          <p:nvSpPr>
            <p:cNvPr id="25617" name="Text Box 76"/>
            <p:cNvSpPr txBox="1"/>
            <p:nvPr/>
          </p:nvSpPr>
          <p:spPr>
            <a:xfrm>
              <a:off x="432" y="2496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18" name="Group 77"/>
            <p:cNvGrpSpPr/>
            <p:nvPr/>
          </p:nvGrpSpPr>
          <p:grpSpPr>
            <a:xfrm>
              <a:off x="912" y="2544"/>
              <a:ext cx="3600" cy="144"/>
              <a:chOff x="864" y="2496"/>
              <a:chExt cx="3600" cy="144"/>
            </a:xfrm>
          </p:grpSpPr>
          <p:sp>
            <p:nvSpPr>
              <p:cNvPr id="25619" name="Line 78"/>
              <p:cNvSpPr/>
              <p:nvPr/>
            </p:nvSpPr>
            <p:spPr>
              <a:xfrm>
                <a:off x="864" y="2640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0" name="Line 79"/>
              <p:cNvSpPr/>
              <p:nvPr/>
            </p:nvSpPr>
            <p:spPr>
              <a:xfrm flipV="1">
                <a:off x="1632" y="249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1" name="Line 80"/>
              <p:cNvSpPr/>
              <p:nvPr/>
            </p:nvSpPr>
            <p:spPr>
              <a:xfrm>
                <a:off x="1632" y="2496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2" name="Line 81"/>
              <p:cNvSpPr/>
              <p:nvPr/>
            </p:nvSpPr>
            <p:spPr>
              <a:xfrm>
                <a:off x="1920" y="249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3" name="Line 82"/>
              <p:cNvSpPr/>
              <p:nvPr/>
            </p:nvSpPr>
            <p:spPr>
              <a:xfrm>
                <a:off x="1920" y="2640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4" name="Line 83"/>
              <p:cNvSpPr/>
              <p:nvPr/>
            </p:nvSpPr>
            <p:spPr>
              <a:xfrm flipV="1">
                <a:off x="2448" y="249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5" name="Line 84"/>
              <p:cNvSpPr/>
              <p:nvPr/>
            </p:nvSpPr>
            <p:spPr>
              <a:xfrm>
                <a:off x="2448" y="2496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6" name="Line 85"/>
              <p:cNvSpPr/>
              <p:nvPr/>
            </p:nvSpPr>
            <p:spPr>
              <a:xfrm>
                <a:off x="3264" y="2496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27" name="Line 86"/>
              <p:cNvSpPr/>
              <p:nvPr/>
            </p:nvSpPr>
            <p:spPr>
              <a:xfrm>
                <a:off x="3264" y="2640"/>
                <a:ext cx="12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3991" name="Group 87"/>
          <p:cNvGrpSpPr/>
          <p:nvPr/>
        </p:nvGrpSpPr>
        <p:grpSpPr>
          <a:xfrm>
            <a:off x="685800" y="4495800"/>
            <a:ext cx="7010400" cy="457200"/>
            <a:chOff x="432" y="2832"/>
            <a:chExt cx="4368" cy="288"/>
          </a:xfrm>
        </p:grpSpPr>
        <p:sp>
          <p:nvSpPr>
            <p:cNvPr id="25629" name="Text Box 88"/>
            <p:cNvSpPr txBox="1"/>
            <p:nvPr/>
          </p:nvSpPr>
          <p:spPr>
            <a:xfrm>
              <a:off x="432" y="2832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30" name="Group 89"/>
            <p:cNvGrpSpPr/>
            <p:nvPr/>
          </p:nvGrpSpPr>
          <p:grpSpPr>
            <a:xfrm>
              <a:off x="912" y="2928"/>
              <a:ext cx="3888" cy="144"/>
              <a:chOff x="864" y="2880"/>
              <a:chExt cx="3888" cy="144"/>
            </a:xfrm>
          </p:grpSpPr>
          <p:sp>
            <p:nvSpPr>
              <p:cNvPr id="25631" name="Line 90"/>
              <p:cNvSpPr/>
              <p:nvPr/>
            </p:nvSpPr>
            <p:spPr>
              <a:xfrm>
                <a:off x="864" y="3024"/>
                <a:ext cx="10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2" name="Line 91"/>
              <p:cNvSpPr/>
              <p:nvPr/>
            </p:nvSpPr>
            <p:spPr>
              <a:xfrm flipV="1">
                <a:off x="1920" y="288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3" name="Line 92"/>
              <p:cNvSpPr/>
              <p:nvPr/>
            </p:nvSpPr>
            <p:spPr>
              <a:xfrm>
                <a:off x="1920" y="288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4" name="Line 93"/>
              <p:cNvSpPr/>
              <p:nvPr/>
            </p:nvSpPr>
            <p:spPr>
              <a:xfrm>
                <a:off x="2208" y="288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5" name="Line 94"/>
              <p:cNvSpPr/>
              <p:nvPr/>
            </p:nvSpPr>
            <p:spPr>
              <a:xfrm>
                <a:off x="2208" y="302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6" name="Line 95"/>
              <p:cNvSpPr/>
              <p:nvPr/>
            </p:nvSpPr>
            <p:spPr>
              <a:xfrm flipV="1">
                <a:off x="2736" y="288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7" name="Line 96"/>
              <p:cNvSpPr/>
              <p:nvPr/>
            </p:nvSpPr>
            <p:spPr>
              <a:xfrm>
                <a:off x="2736" y="2880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8" name="Line 97"/>
              <p:cNvSpPr/>
              <p:nvPr/>
            </p:nvSpPr>
            <p:spPr>
              <a:xfrm>
                <a:off x="3552" y="288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9" name="Line 98"/>
              <p:cNvSpPr/>
              <p:nvPr/>
            </p:nvSpPr>
            <p:spPr>
              <a:xfrm>
                <a:off x="3552" y="3024"/>
                <a:ext cx="12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4003" name="Group 99"/>
          <p:cNvGrpSpPr/>
          <p:nvPr/>
        </p:nvGrpSpPr>
        <p:grpSpPr>
          <a:xfrm>
            <a:off x="684213" y="5029200"/>
            <a:ext cx="7469187" cy="457200"/>
            <a:chOff x="431" y="3168"/>
            <a:chExt cx="4657" cy="288"/>
          </a:xfrm>
        </p:grpSpPr>
        <p:sp>
          <p:nvSpPr>
            <p:cNvPr id="25641" name="Text Box 100"/>
            <p:cNvSpPr txBox="1"/>
            <p:nvPr/>
          </p:nvSpPr>
          <p:spPr>
            <a:xfrm>
              <a:off x="431" y="3168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42" name="Group 101"/>
            <p:cNvGrpSpPr/>
            <p:nvPr/>
          </p:nvGrpSpPr>
          <p:grpSpPr>
            <a:xfrm>
              <a:off x="912" y="3264"/>
              <a:ext cx="4176" cy="144"/>
              <a:chOff x="912" y="3168"/>
              <a:chExt cx="4176" cy="144"/>
            </a:xfrm>
          </p:grpSpPr>
          <p:sp>
            <p:nvSpPr>
              <p:cNvPr id="25643" name="Line 102"/>
              <p:cNvSpPr/>
              <p:nvPr/>
            </p:nvSpPr>
            <p:spPr>
              <a:xfrm>
                <a:off x="912" y="3312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4" name="Line 103"/>
              <p:cNvSpPr/>
              <p:nvPr/>
            </p:nvSpPr>
            <p:spPr>
              <a:xfrm flipV="1">
                <a:off x="2256" y="316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5" name="Line 104"/>
              <p:cNvSpPr/>
              <p:nvPr/>
            </p:nvSpPr>
            <p:spPr>
              <a:xfrm>
                <a:off x="2256" y="316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6" name="Line 105"/>
              <p:cNvSpPr/>
              <p:nvPr/>
            </p:nvSpPr>
            <p:spPr>
              <a:xfrm>
                <a:off x="2544" y="316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7" name="Line 106"/>
              <p:cNvSpPr/>
              <p:nvPr/>
            </p:nvSpPr>
            <p:spPr>
              <a:xfrm>
                <a:off x="2544" y="3312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8" name="Line 107"/>
              <p:cNvSpPr/>
              <p:nvPr/>
            </p:nvSpPr>
            <p:spPr>
              <a:xfrm flipV="1">
                <a:off x="3072" y="316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49" name="Line 108"/>
              <p:cNvSpPr/>
              <p:nvPr/>
            </p:nvSpPr>
            <p:spPr>
              <a:xfrm>
                <a:off x="3072" y="3168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50" name="Line 109"/>
              <p:cNvSpPr/>
              <p:nvPr/>
            </p:nvSpPr>
            <p:spPr>
              <a:xfrm>
                <a:off x="3888" y="3168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51" name="Line 110"/>
              <p:cNvSpPr/>
              <p:nvPr/>
            </p:nvSpPr>
            <p:spPr>
              <a:xfrm>
                <a:off x="3888" y="3312"/>
                <a:ext cx="12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4015" name="Group 111"/>
          <p:cNvGrpSpPr/>
          <p:nvPr/>
        </p:nvGrpSpPr>
        <p:grpSpPr>
          <a:xfrm>
            <a:off x="1752600" y="2057400"/>
            <a:ext cx="4114800" cy="4038600"/>
            <a:chOff x="1104" y="1296"/>
            <a:chExt cx="2592" cy="2544"/>
          </a:xfrm>
        </p:grpSpPr>
        <p:sp>
          <p:nvSpPr>
            <p:cNvPr id="25653" name="Line 112"/>
            <p:cNvSpPr/>
            <p:nvPr/>
          </p:nvSpPr>
          <p:spPr>
            <a:xfrm>
              <a:off x="1104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4" name="Line 113"/>
            <p:cNvSpPr/>
            <p:nvPr/>
          </p:nvSpPr>
          <p:spPr>
            <a:xfrm>
              <a:off x="1392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5" name="Line 114"/>
            <p:cNvSpPr/>
            <p:nvPr/>
          </p:nvSpPr>
          <p:spPr>
            <a:xfrm>
              <a:off x="1680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6" name="Line 115"/>
            <p:cNvSpPr/>
            <p:nvPr/>
          </p:nvSpPr>
          <p:spPr>
            <a:xfrm>
              <a:off x="1968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7" name="Line 116"/>
            <p:cNvSpPr/>
            <p:nvPr/>
          </p:nvSpPr>
          <p:spPr>
            <a:xfrm>
              <a:off x="2256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8" name="Line 117"/>
            <p:cNvSpPr/>
            <p:nvPr/>
          </p:nvSpPr>
          <p:spPr>
            <a:xfrm>
              <a:off x="2544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59" name="Line 118"/>
            <p:cNvSpPr/>
            <p:nvPr/>
          </p:nvSpPr>
          <p:spPr>
            <a:xfrm>
              <a:off x="2832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60" name="Line 119"/>
            <p:cNvSpPr/>
            <p:nvPr/>
          </p:nvSpPr>
          <p:spPr>
            <a:xfrm>
              <a:off x="3120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61" name="Line 120"/>
            <p:cNvSpPr/>
            <p:nvPr/>
          </p:nvSpPr>
          <p:spPr>
            <a:xfrm>
              <a:off x="3408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62" name="Line 121"/>
            <p:cNvSpPr/>
            <p:nvPr/>
          </p:nvSpPr>
          <p:spPr>
            <a:xfrm>
              <a:off x="3696" y="1296"/>
              <a:ext cx="0" cy="254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764026" name="Group 122"/>
          <p:cNvGrpSpPr/>
          <p:nvPr/>
        </p:nvGrpSpPr>
        <p:grpSpPr>
          <a:xfrm>
            <a:off x="685800" y="2743200"/>
            <a:ext cx="7086600" cy="609600"/>
            <a:chOff x="432" y="1728"/>
            <a:chExt cx="4464" cy="384"/>
          </a:xfrm>
        </p:grpSpPr>
        <p:grpSp>
          <p:nvGrpSpPr>
            <p:cNvPr id="25664" name="Group 123"/>
            <p:cNvGrpSpPr/>
            <p:nvPr/>
          </p:nvGrpSpPr>
          <p:grpSpPr>
            <a:xfrm>
              <a:off x="432" y="1824"/>
              <a:ext cx="3600" cy="288"/>
              <a:chOff x="432" y="1824"/>
              <a:chExt cx="3600" cy="288"/>
            </a:xfrm>
          </p:grpSpPr>
          <p:grpSp>
            <p:nvGrpSpPr>
              <p:cNvPr id="25665" name="Group 124"/>
              <p:cNvGrpSpPr/>
              <p:nvPr/>
            </p:nvGrpSpPr>
            <p:grpSpPr>
              <a:xfrm>
                <a:off x="864" y="1824"/>
                <a:ext cx="3168" cy="144"/>
                <a:chOff x="864" y="1824"/>
                <a:chExt cx="3168" cy="144"/>
              </a:xfrm>
            </p:grpSpPr>
            <p:sp>
              <p:nvSpPr>
                <p:cNvPr id="25666" name="Line 125"/>
                <p:cNvSpPr/>
                <p:nvPr/>
              </p:nvSpPr>
              <p:spPr>
                <a:xfrm>
                  <a:off x="864" y="1968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67" name="Line 126"/>
                <p:cNvSpPr/>
                <p:nvPr/>
              </p:nvSpPr>
              <p:spPr>
                <a:xfrm flipV="1">
                  <a:off x="1200" y="1824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68" name="Line 127"/>
                <p:cNvSpPr/>
                <p:nvPr/>
              </p:nvSpPr>
              <p:spPr>
                <a:xfrm>
                  <a:off x="1200" y="1824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69" name="Line 128"/>
                <p:cNvSpPr/>
                <p:nvPr/>
              </p:nvSpPr>
              <p:spPr>
                <a:xfrm>
                  <a:off x="1488" y="1824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0" name="Line 129"/>
                <p:cNvSpPr/>
                <p:nvPr/>
              </p:nvSpPr>
              <p:spPr>
                <a:xfrm>
                  <a:off x="1488" y="1968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1" name="Line 130"/>
                <p:cNvSpPr/>
                <p:nvPr/>
              </p:nvSpPr>
              <p:spPr>
                <a:xfrm flipV="1">
                  <a:off x="2016" y="1824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2" name="Line 131"/>
                <p:cNvSpPr/>
                <p:nvPr/>
              </p:nvSpPr>
              <p:spPr>
                <a:xfrm>
                  <a:off x="2016" y="1824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3" name="Line 132"/>
                <p:cNvSpPr/>
                <p:nvPr/>
              </p:nvSpPr>
              <p:spPr>
                <a:xfrm>
                  <a:off x="2832" y="1824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4" name="Line 133"/>
                <p:cNvSpPr/>
                <p:nvPr/>
              </p:nvSpPr>
              <p:spPr>
                <a:xfrm>
                  <a:off x="2832" y="1968"/>
                  <a:ext cx="12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75" name="Rectangle 134"/>
              <p:cNvSpPr/>
              <p:nvPr/>
            </p:nvSpPr>
            <p:spPr>
              <a:xfrm>
                <a:off x="432" y="1824"/>
                <a:ext cx="29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5676" name="Text Box 135"/>
            <p:cNvSpPr txBox="1"/>
            <p:nvPr/>
          </p:nvSpPr>
          <p:spPr>
            <a:xfrm>
              <a:off x="960" y="1728"/>
              <a:ext cx="39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0  1   0  0   1    1   1   0    0   0</a:t>
              </a:r>
              <a:endPara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4040" name="Text Box 136"/>
          <p:cNvSpPr txBox="1"/>
          <p:nvPr/>
        </p:nvSpPr>
        <p:spPr>
          <a:xfrm>
            <a:off x="3124200" y="327660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4041" name="Text Box 137"/>
          <p:cNvSpPr txBox="1"/>
          <p:nvPr/>
        </p:nvSpPr>
        <p:spPr>
          <a:xfrm>
            <a:off x="3581400" y="328295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4042" name="Text Box 138"/>
          <p:cNvSpPr txBox="1"/>
          <p:nvPr/>
        </p:nvSpPr>
        <p:spPr>
          <a:xfrm>
            <a:off x="4038600" y="327660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4043" name="Text Box 139"/>
          <p:cNvSpPr txBox="1"/>
          <p:nvPr/>
        </p:nvSpPr>
        <p:spPr>
          <a:xfrm>
            <a:off x="4495800" y="327660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4044" name="Text Box 140"/>
          <p:cNvSpPr txBox="1"/>
          <p:nvPr/>
        </p:nvSpPr>
        <p:spPr>
          <a:xfrm>
            <a:off x="5029200" y="327660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4045" name="Text Box 141"/>
          <p:cNvSpPr txBox="1"/>
          <p:nvPr/>
        </p:nvSpPr>
        <p:spPr>
          <a:xfrm>
            <a:off x="5410200" y="3282950"/>
            <a:ext cx="457200" cy="235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4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0000"/>
              </a:spcBef>
              <a:buClrTx/>
              <a:buFontTx/>
            </a:pPr>
            <a:r>
              <a:rPr lang="en-US" altLang="zh-CN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31850" y="2286000"/>
            <a:ext cx="5949950" cy="468313"/>
            <a:chOff x="832362" y="2286000"/>
            <a:chExt cx="5949438" cy="468015"/>
          </a:xfrm>
        </p:grpSpPr>
        <p:grpSp>
          <p:nvGrpSpPr>
            <p:cNvPr id="25684" name="Group 6"/>
            <p:cNvGrpSpPr/>
            <p:nvPr/>
          </p:nvGrpSpPr>
          <p:grpSpPr>
            <a:xfrm>
              <a:off x="1371600" y="2286000"/>
              <a:ext cx="5410200" cy="284163"/>
              <a:chOff x="861" y="1533"/>
              <a:chExt cx="3220" cy="182"/>
            </a:xfrm>
          </p:grpSpPr>
          <p:grpSp>
            <p:nvGrpSpPr>
              <p:cNvPr id="25685" name="Group 7"/>
              <p:cNvGrpSpPr/>
              <p:nvPr/>
            </p:nvGrpSpPr>
            <p:grpSpPr>
              <a:xfrm>
                <a:off x="1088" y="1533"/>
                <a:ext cx="272" cy="182"/>
                <a:chOff x="657" y="1570"/>
                <a:chExt cx="545" cy="182"/>
              </a:xfrm>
            </p:grpSpPr>
            <p:sp>
              <p:nvSpPr>
                <p:cNvPr id="25686" name="Line 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87" name="Line 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88" name="Line 1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89" name="Line 1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90" name="Group 12"/>
              <p:cNvGrpSpPr/>
              <p:nvPr/>
            </p:nvGrpSpPr>
            <p:grpSpPr>
              <a:xfrm>
                <a:off x="1360" y="1533"/>
                <a:ext cx="272" cy="182"/>
                <a:chOff x="657" y="1570"/>
                <a:chExt cx="545" cy="182"/>
              </a:xfrm>
            </p:grpSpPr>
            <p:sp>
              <p:nvSpPr>
                <p:cNvPr id="25691" name="Line 13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2" name="Line 14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3" name="Line 15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4" name="Line 16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695" name="Group 17"/>
              <p:cNvGrpSpPr/>
              <p:nvPr/>
            </p:nvGrpSpPr>
            <p:grpSpPr>
              <a:xfrm>
                <a:off x="1633" y="1533"/>
                <a:ext cx="272" cy="182"/>
                <a:chOff x="657" y="1570"/>
                <a:chExt cx="545" cy="182"/>
              </a:xfrm>
            </p:grpSpPr>
            <p:sp>
              <p:nvSpPr>
                <p:cNvPr id="25696" name="Line 1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7" name="Line 1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8" name="Line 2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99" name="Line 2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00" name="Group 22"/>
              <p:cNvGrpSpPr/>
              <p:nvPr/>
            </p:nvGrpSpPr>
            <p:grpSpPr>
              <a:xfrm>
                <a:off x="1905" y="1533"/>
                <a:ext cx="272" cy="182"/>
                <a:chOff x="657" y="1570"/>
                <a:chExt cx="545" cy="182"/>
              </a:xfrm>
            </p:grpSpPr>
            <p:sp>
              <p:nvSpPr>
                <p:cNvPr id="25701" name="Line 23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2" name="Line 24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3" name="Line 25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4" name="Line 26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05" name="Group 27"/>
              <p:cNvGrpSpPr/>
              <p:nvPr/>
            </p:nvGrpSpPr>
            <p:grpSpPr>
              <a:xfrm>
                <a:off x="2177" y="1533"/>
                <a:ext cx="272" cy="182"/>
                <a:chOff x="657" y="1570"/>
                <a:chExt cx="545" cy="182"/>
              </a:xfrm>
            </p:grpSpPr>
            <p:sp>
              <p:nvSpPr>
                <p:cNvPr id="25706" name="Line 2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7" name="Line 2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8" name="Line 3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09" name="Line 3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10" name="Group 32"/>
              <p:cNvGrpSpPr/>
              <p:nvPr/>
            </p:nvGrpSpPr>
            <p:grpSpPr>
              <a:xfrm>
                <a:off x="2449" y="1533"/>
                <a:ext cx="272" cy="182"/>
                <a:chOff x="657" y="1570"/>
                <a:chExt cx="545" cy="182"/>
              </a:xfrm>
            </p:grpSpPr>
            <p:sp>
              <p:nvSpPr>
                <p:cNvPr id="25711" name="Line 33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2" name="Line 34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3" name="Line 35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4" name="Line 36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15" name="Group 37"/>
              <p:cNvGrpSpPr/>
              <p:nvPr/>
            </p:nvGrpSpPr>
            <p:grpSpPr>
              <a:xfrm>
                <a:off x="2722" y="1533"/>
                <a:ext cx="272" cy="182"/>
                <a:chOff x="657" y="1570"/>
                <a:chExt cx="545" cy="182"/>
              </a:xfrm>
            </p:grpSpPr>
            <p:sp>
              <p:nvSpPr>
                <p:cNvPr id="25716" name="Line 3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7" name="Line 3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8" name="Line 4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19" name="Line 4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20" name="Group 42"/>
              <p:cNvGrpSpPr/>
              <p:nvPr/>
            </p:nvGrpSpPr>
            <p:grpSpPr>
              <a:xfrm>
                <a:off x="2994" y="1533"/>
                <a:ext cx="272" cy="182"/>
                <a:chOff x="657" y="1570"/>
                <a:chExt cx="545" cy="182"/>
              </a:xfrm>
            </p:grpSpPr>
            <p:sp>
              <p:nvSpPr>
                <p:cNvPr id="25721" name="Line 43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2" name="Line 44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3" name="Line 45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4" name="Line 46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25" name="Group 47"/>
              <p:cNvGrpSpPr/>
              <p:nvPr/>
            </p:nvGrpSpPr>
            <p:grpSpPr>
              <a:xfrm>
                <a:off x="3264" y="1533"/>
                <a:ext cx="272" cy="182"/>
                <a:chOff x="657" y="1570"/>
                <a:chExt cx="545" cy="182"/>
              </a:xfrm>
            </p:grpSpPr>
            <p:sp>
              <p:nvSpPr>
                <p:cNvPr id="25726" name="Line 4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7" name="Line 4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8" name="Line 5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29" name="Line 5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30" name="Group 52"/>
              <p:cNvGrpSpPr/>
              <p:nvPr/>
            </p:nvGrpSpPr>
            <p:grpSpPr>
              <a:xfrm>
                <a:off x="3536" y="1533"/>
                <a:ext cx="272" cy="182"/>
                <a:chOff x="657" y="1570"/>
                <a:chExt cx="545" cy="182"/>
              </a:xfrm>
            </p:grpSpPr>
            <p:sp>
              <p:nvSpPr>
                <p:cNvPr id="25731" name="Line 53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2" name="Line 54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3" name="Line 55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4" name="Line 56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5735" name="Group 57"/>
              <p:cNvGrpSpPr/>
              <p:nvPr/>
            </p:nvGrpSpPr>
            <p:grpSpPr>
              <a:xfrm>
                <a:off x="3809" y="1533"/>
                <a:ext cx="272" cy="182"/>
                <a:chOff x="657" y="1570"/>
                <a:chExt cx="545" cy="182"/>
              </a:xfrm>
            </p:grpSpPr>
            <p:sp>
              <p:nvSpPr>
                <p:cNvPr id="25736" name="Line 58"/>
                <p:cNvSpPr/>
                <p:nvPr/>
              </p:nvSpPr>
              <p:spPr>
                <a:xfrm>
                  <a:off x="657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7" name="Line 59"/>
                <p:cNvSpPr/>
                <p:nvPr/>
              </p:nvSpPr>
              <p:spPr>
                <a:xfrm>
                  <a:off x="657" y="1570"/>
                  <a:ext cx="2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8" name="Line 60"/>
                <p:cNvSpPr/>
                <p:nvPr/>
              </p:nvSpPr>
              <p:spPr>
                <a:xfrm>
                  <a:off x="930" y="1570"/>
                  <a:ext cx="0" cy="18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739" name="Line 61"/>
                <p:cNvSpPr/>
                <p:nvPr/>
              </p:nvSpPr>
              <p:spPr>
                <a:xfrm>
                  <a:off x="930" y="1752"/>
                  <a:ext cx="27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740" name="Line 62"/>
              <p:cNvSpPr/>
              <p:nvPr/>
            </p:nvSpPr>
            <p:spPr>
              <a:xfrm flipH="1">
                <a:off x="861" y="1715"/>
                <a:ext cx="227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5741" name="文本框 1"/>
            <p:cNvSpPr txBox="1"/>
            <p:nvPr/>
          </p:nvSpPr>
          <p:spPr>
            <a:xfrm>
              <a:off x="832362" y="2292350"/>
              <a:ext cx="6480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6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4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4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4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4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76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6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76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76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6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6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6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6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6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6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64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64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040" grpId="0"/>
      <p:bldP spid="764041" grpId="0"/>
      <p:bldP spid="764042" grpId="0"/>
      <p:bldP spid="764043" grpId="0"/>
      <p:bldP spid="764044" grpId="0"/>
      <p:bldP spid="7640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4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）并入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并出的双向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Shift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Reg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6628" name="Group 25"/>
          <p:cNvGrpSpPr/>
          <p:nvPr/>
        </p:nvGrpSpPr>
        <p:grpSpPr>
          <a:xfrm>
            <a:off x="1646238" y="2133600"/>
            <a:ext cx="5938837" cy="3221038"/>
            <a:chOff x="1037" y="1344"/>
            <a:chExt cx="3741" cy="2029"/>
          </a:xfrm>
        </p:grpSpPr>
        <p:sp>
          <p:nvSpPr>
            <p:cNvPr id="764933" name="Rectangle 5"/>
            <p:cNvSpPr>
              <a:spLocks noChangeArrowheads="1"/>
            </p:cNvSpPr>
            <p:nvPr/>
          </p:nvSpPr>
          <p:spPr bwMode="auto">
            <a:xfrm>
              <a:off x="1037" y="1907"/>
              <a:ext cx="275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0      X     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4934" name="Rectangle 6"/>
            <p:cNvSpPr>
              <a:spLocks noChangeArrowheads="1"/>
            </p:cNvSpPr>
            <p:nvPr/>
          </p:nvSpPr>
          <p:spPr bwMode="auto">
            <a:xfrm>
              <a:off x="1037" y="2194"/>
              <a:ext cx="203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1      0     0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↑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4935" name="Rectangle 7"/>
            <p:cNvSpPr>
              <a:spLocks noChangeArrowheads="1"/>
            </p:cNvSpPr>
            <p:nvPr/>
          </p:nvSpPr>
          <p:spPr bwMode="auto">
            <a:xfrm>
              <a:off x="3120" y="2497"/>
              <a:ext cx="1440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Shift Right(Q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Ln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4936" name="Rectangle 8"/>
            <p:cNvSpPr>
              <a:spLocks noChangeArrowheads="1"/>
            </p:cNvSpPr>
            <p:nvPr/>
          </p:nvSpPr>
          <p:spPr bwMode="auto">
            <a:xfrm>
              <a:off x="1038" y="2801"/>
              <a:ext cx="1890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1      0     1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↑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4937" name="Rectangle 9"/>
            <p:cNvSpPr>
              <a:spLocks noChangeArrowheads="1"/>
            </p:cNvSpPr>
            <p:nvPr/>
          </p:nvSpPr>
          <p:spPr bwMode="auto">
            <a:xfrm>
              <a:off x="1037" y="1344"/>
              <a:ext cx="2467" cy="5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_          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R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  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 S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CP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4" name="Line 10"/>
            <p:cNvSpPr/>
            <p:nvPr/>
          </p:nvSpPr>
          <p:spPr>
            <a:xfrm>
              <a:off x="1037" y="1907"/>
              <a:ext cx="29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5" name="Line 11"/>
            <p:cNvSpPr/>
            <p:nvPr/>
          </p:nvSpPr>
          <p:spPr>
            <a:xfrm>
              <a:off x="3094" y="1661"/>
              <a:ext cx="1" cy="16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6" name="Line 12"/>
            <p:cNvSpPr/>
            <p:nvPr/>
          </p:nvSpPr>
          <p:spPr>
            <a:xfrm>
              <a:off x="1037" y="2481"/>
              <a:ext cx="29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7" name="Line 13"/>
            <p:cNvSpPr/>
            <p:nvPr/>
          </p:nvSpPr>
          <p:spPr>
            <a:xfrm>
              <a:off x="1037" y="2194"/>
              <a:ext cx="29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4942" name="Text Box 14"/>
            <p:cNvSpPr txBox="1">
              <a:spLocks noChangeArrowheads="1"/>
            </p:cNvSpPr>
            <p:nvPr/>
          </p:nvSpPr>
          <p:spPr bwMode="auto">
            <a:xfrm>
              <a:off x="3120" y="1632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 dirty="0"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功能</a:t>
              </a:r>
              <a:r>
                <a:rPr kumimoji="0" lang="en-US" altLang="zh-CN" sz="2400" kern="1200" cap="none" spc="0" normalizeH="0" baseline="0" noProof="0" dirty="0"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24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kern="1200" cap="none" spc="0" normalizeH="0" baseline="-2500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kern="1200" cap="none" spc="0" normalizeH="0" baseline="0" noProof="0" dirty="0"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en-US" altLang="zh-CN" sz="2400" kern="1200" cap="none" spc="0" normalizeH="0" baseline="0" noProof="0" dirty="0"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4943" name="Rectangle 15"/>
            <p:cNvSpPr>
              <a:spLocks noChangeArrowheads="1"/>
            </p:cNvSpPr>
            <p:nvPr/>
          </p:nvSpPr>
          <p:spPr bwMode="auto">
            <a:xfrm>
              <a:off x="1038" y="2478"/>
              <a:ext cx="1842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1      1     0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↑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0" name="Line 16"/>
            <p:cNvSpPr/>
            <p:nvPr/>
          </p:nvSpPr>
          <p:spPr>
            <a:xfrm>
              <a:off x="1037" y="2784"/>
              <a:ext cx="29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1" name="Line 17"/>
            <p:cNvSpPr/>
            <p:nvPr/>
          </p:nvSpPr>
          <p:spPr>
            <a:xfrm>
              <a:off x="1037" y="3073"/>
              <a:ext cx="29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4946" name="Rectangle 18"/>
            <p:cNvSpPr>
              <a:spLocks noChangeArrowheads="1"/>
            </p:cNvSpPr>
            <p:nvPr/>
          </p:nvSpPr>
          <p:spPr bwMode="auto">
            <a:xfrm>
              <a:off x="1037" y="3070"/>
              <a:ext cx="1843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1      1     1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↑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6643" name="Group 19"/>
            <p:cNvGrpSpPr/>
            <p:nvPr/>
          </p:nvGrpSpPr>
          <p:grpSpPr>
            <a:xfrm>
              <a:off x="3072" y="1920"/>
              <a:ext cx="1706" cy="1453"/>
              <a:chOff x="3094" y="1907"/>
              <a:chExt cx="1706" cy="1453"/>
            </a:xfrm>
          </p:grpSpPr>
          <p:sp>
            <p:nvSpPr>
              <p:cNvPr id="764948" name="Rectangle 20"/>
              <p:cNvSpPr>
                <a:spLocks noChangeArrowheads="1"/>
              </p:cNvSpPr>
              <p:nvPr/>
            </p:nvSpPr>
            <p:spPr bwMode="auto">
              <a:xfrm>
                <a:off x="3094" y="1907"/>
                <a:ext cx="862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置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“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”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4949" name="Rectangle 21"/>
              <p:cNvSpPr>
                <a:spLocks noChangeArrowheads="1"/>
              </p:cNvSpPr>
              <p:nvPr/>
            </p:nvSpPr>
            <p:spPr bwMode="auto">
              <a:xfrm>
                <a:off x="3094" y="2194"/>
                <a:ext cx="1178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Hold(Q</a:t>
                </a:r>
                <a:r>
                  <a:rPr kumimoji="0" lang="en-US" altLang="zh-CN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)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4950" name="Rectangle 22"/>
              <p:cNvSpPr>
                <a:spLocks noChangeArrowheads="1"/>
              </p:cNvSpPr>
              <p:nvPr/>
            </p:nvSpPr>
            <p:spPr bwMode="auto">
              <a:xfrm>
                <a:off x="3135" y="2797"/>
                <a:ext cx="142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Shift Left(</a:t>
                </a:r>
                <a:r>
                  <a:rPr kumimoji="0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Rn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)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4951" name="Rectangle 23"/>
              <p:cNvSpPr>
                <a:spLocks noChangeArrowheads="1"/>
              </p:cNvSpPr>
              <p:nvPr/>
            </p:nvSpPr>
            <p:spPr bwMode="auto">
              <a:xfrm>
                <a:off x="3135" y="3073"/>
                <a:ext cx="166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Load(Store)(D)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844550" y="5570538"/>
            <a:ext cx="7773988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—  —                —       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+ 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Ln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+S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11950" y="6269038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66979" name="Rectangle 3"/>
          <p:cNvSpPr>
            <a:spLocks noGrp="1" noChangeArrowheads="1"/>
          </p:cNvSpPr>
          <p:nvPr>
            <p:ph idx="1"/>
          </p:nvPr>
        </p:nvSpPr>
        <p:spPr>
          <a:xfrm>
            <a:off x="568325" y="860425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结构设计：寄存器＋数据选择器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66980" name="Group 4"/>
          <p:cNvGrpSpPr/>
          <p:nvPr/>
        </p:nvGrpSpPr>
        <p:grpSpPr>
          <a:xfrm>
            <a:off x="263525" y="2894013"/>
            <a:ext cx="5668963" cy="2420937"/>
            <a:chOff x="240" y="2193"/>
            <a:chExt cx="3571" cy="1525"/>
          </a:xfrm>
        </p:grpSpPr>
        <p:sp>
          <p:nvSpPr>
            <p:cNvPr id="28677" name="Line 5"/>
            <p:cNvSpPr/>
            <p:nvPr/>
          </p:nvSpPr>
          <p:spPr>
            <a:xfrm flipV="1">
              <a:off x="3022" y="3264"/>
              <a:ext cx="72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78" name="Line 6"/>
            <p:cNvSpPr/>
            <p:nvPr/>
          </p:nvSpPr>
          <p:spPr>
            <a:xfrm flipH="1" flipV="1">
              <a:off x="240" y="3264"/>
              <a:ext cx="133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679" name="Group 7"/>
            <p:cNvGrpSpPr/>
            <p:nvPr/>
          </p:nvGrpSpPr>
          <p:grpSpPr>
            <a:xfrm>
              <a:off x="1377" y="2193"/>
              <a:ext cx="1871" cy="1525"/>
              <a:chOff x="1377" y="2193"/>
              <a:chExt cx="1871" cy="1525"/>
            </a:xfrm>
          </p:grpSpPr>
          <p:sp>
            <p:nvSpPr>
              <p:cNvPr id="28680" name="Rectangle 8"/>
              <p:cNvSpPr/>
              <p:nvPr/>
            </p:nvSpPr>
            <p:spPr>
              <a:xfrm>
                <a:off x="1377" y="2476"/>
                <a:ext cx="1871" cy="22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1" name="Rectangle 9"/>
              <p:cNvSpPr/>
              <p:nvPr/>
            </p:nvSpPr>
            <p:spPr>
              <a:xfrm>
                <a:off x="1377" y="2704"/>
                <a:ext cx="468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solidFill>
                      <a:srgbClr val="FFFF00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S R</a:t>
                </a:r>
                <a:endParaRPr lang="en-US" altLang="zh-CN" sz="2400" dirty="0">
                  <a:solidFill>
                    <a:srgbClr val="FFFF00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2" name="Rectangle 10"/>
              <p:cNvSpPr/>
              <p:nvPr/>
            </p:nvSpPr>
            <p:spPr>
              <a:xfrm>
                <a:off x="1845" y="2704"/>
                <a:ext cx="468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Hold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3" name="Rectangle 11"/>
              <p:cNvSpPr/>
              <p:nvPr/>
            </p:nvSpPr>
            <p:spPr>
              <a:xfrm>
                <a:off x="2313" y="2704"/>
                <a:ext cx="467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Store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4" name="Rectangle 12"/>
              <p:cNvSpPr/>
              <p:nvPr/>
            </p:nvSpPr>
            <p:spPr>
              <a:xfrm>
                <a:off x="2780" y="2704"/>
                <a:ext cx="468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dirty="0">
                    <a:solidFill>
                      <a:srgbClr val="FFFF00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S L</a:t>
                </a:r>
                <a:endParaRPr lang="en-US" altLang="zh-CN" sz="2400" dirty="0">
                  <a:solidFill>
                    <a:srgbClr val="FFFF00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5" name="Line 13"/>
              <p:cNvSpPr/>
              <p:nvPr/>
            </p:nvSpPr>
            <p:spPr>
              <a:xfrm>
                <a:off x="3022" y="2953"/>
                <a:ext cx="0" cy="3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6" name="Line 14"/>
              <p:cNvSpPr/>
              <p:nvPr/>
            </p:nvSpPr>
            <p:spPr>
              <a:xfrm>
                <a:off x="1576" y="2953"/>
                <a:ext cx="0" cy="3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7" name="Line 15"/>
              <p:cNvSpPr/>
              <p:nvPr/>
            </p:nvSpPr>
            <p:spPr>
              <a:xfrm>
                <a:off x="2029" y="2953"/>
                <a:ext cx="0" cy="4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8" name="Line 16"/>
              <p:cNvSpPr/>
              <p:nvPr/>
            </p:nvSpPr>
            <p:spPr>
              <a:xfrm>
                <a:off x="2568" y="2953"/>
                <a:ext cx="0" cy="4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9" name="Line 17"/>
              <p:cNvSpPr/>
              <p:nvPr/>
            </p:nvSpPr>
            <p:spPr>
              <a:xfrm flipV="1">
                <a:off x="2313" y="2193"/>
                <a:ext cx="0" cy="28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90" name="Text Box 18"/>
              <p:cNvSpPr txBox="1"/>
              <p:nvPr/>
            </p:nvSpPr>
            <p:spPr>
              <a:xfrm>
                <a:off x="1787" y="3418"/>
                <a:ext cx="33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1" name="Text Box 19"/>
              <p:cNvSpPr txBox="1"/>
              <p:nvPr/>
            </p:nvSpPr>
            <p:spPr>
              <a:xfrm>
                <a:off x="2413" y="3430"/>
                <a:ext cx="29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692" name="Text Box 20"/>
            <p:cNvSpPr txBox="1"/>
            <p:nvPr/>
          </p:nvSpPr>
          <p:spPr>
            <a:xfrm>
              <a:off x="3168" y="2976"/>
              <a:ext cx="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右位</a:t>
              </a: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Text Box 21"/>
            <p:cNvSpPr txBox="1"/>
            <p:nvPr/>
          </p:nvSpPr>
          <p:spPr>
            <a:xfrm>
              <a:off x="672" y="2976"/>
              <a:ext cx="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左位</a:t>
              </a: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66998" name="Group 22"/>
          <p:cNvGrpSpPr/>
          <p:nvPr/>
        </p:nvGrpSpPr>
        <p:grpSpPr>
          <a:xfrm>
            <a:off x="3240088" y="1317625"/>
            <a:ext cx="2159000" cy="1576388"/>
            <a:chOff x="2115" y="1200"/>
            <a:chExt cx="1360" cy="993"/>
          </a:xfrm>
        </p:grpSpPr>
        <p:sp>
          <p:nvSpPr>
            <p:cNvPr id="28695" name="Rectangle 23"/>
            <p:cNvSpPr/>
            <p:nvPr/>
          </p:nvSpPr>
          <p:spPr>
            <a:xfrm>
              <a:off x="2115" y="1711"/>
              <a:ext cx="1360" cy="48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Q        __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D        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     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Line 24"/>
            <p:cNvSpPr/>
            <p:nvPr/>
          </p:nvSpPr>
          <p:spPr>
            <a:xfrm flipV="1">
              <a:off x="2313" y="1427"/>
              <a:ext cx="0" cy="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7" name="Text Box 25"/>
            <p:cNvSpPr txBox="1"/>
            <p:nvPr/>
          </p:nvSpPr>
          <p:spPr>
            <a:xfrm>
              <a:off x="2285" y="1200"/>
              <a:ext cx="3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67002" name="Group 26"/>
          <p:cNvGrpSpPr/>
          <p:nvPr/>
        </p:nvGrpSpPr>
        <p:grpSpPr>
          <a:xfrm>
            <a:off x="263525" y="1317625"/>
            <a:ext cx="2463800" cy="3276600"/>
            <a:chOff x="240" y="1200"/>
            <a:chExt cx="1552" cy="2064"/>
          </a:xfrm>
        </p:grpSpPr>
        <p:sp>
          <p:nvSpPr>
            <p:cNvPr id="28699" name="Rectangle 27"/>
            <p:cNvSpPr/>
            <p:nvPr/>
          </p:nvSpPr>
          <p:spPr>
            <a:xfrm>
              <a:off x="432" y="1680"/>
              <a:ext cx="1360" cy="48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Q        __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D        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     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Line 28"/>
            <p:cNvSpPr/>
            <p:nvPr/>
          </p:nvSpPr>
          <p:spPr>
            <a:xfrm flipV="1">
              <a:off x="624" y="1392"/>
              <a:ext cx="0" cy="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1" name="Text Box 29"/>
            <p:cNvSpPr txBox="1"/>
            <p:nvPr/>
          </p:nvSpPr>
          <p:spPr>
            <a:xfrm>
              <a:off x="624" y="1200"/>
              <a:ext cx="4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Ln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Line 30"/>
            <p:cNvSpPr/>
            <p:nvPr/>
          </p:nvSpPr>
          <p:spPr>
            <a:xfrm flipH="1">
              <a:off x="240" y="14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3" name="Line 31"/>
            <p:cNvSpPr/>
            <p:nvPr/>
          </p:nvSpPr>
          <p:spPr>
            <a:xfrm>
              <a:off x="240" y="1488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67008" name="Group 32"/>
          <p:cNvGrpSpPr/>
          <p:nvPr/>
        </p:nvGrpSpPr>
        <p:grpSpPr>
          <a:xfrm>
            <a:off x="5826125" y="1317625"/>
            <a:ext cx="2311400" cy="3276600"/>
            <a:chOff x="3744" y="1200"/>
            <a:chExt cx="1456" cy="2064"/>
          </a:xfrm>
        </p:grpSpPr>
        <p:sp>
          <p:nvSpPr>
            <p:cNvPr id="28705" name="Rectangle 33"/>
            <p:cNvSpPr/>
            <p:nvPr/>
          </p:nvSpPr>
          <p:spPr>
            <a:xfrm>
              <a:off x="3840" y="1680"/>
              <a:ext cx="1360" cy="48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Q        __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D        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     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Text Box 34"/>
            <p:cNvSpPr txBox="1"/>
            <p:nvPr/>
          </p:nvSpPr>
          <p:spPr>
            <a:xfrm>
              <a:off x="4080" y="1200"/>
              <a:ext cx="4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Rn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7" name="Line 35"/>
            <p:cNvSpPr/>
            <p:nvPr/>
          </p:nvSpPr>
          <p:spPr>
            <a:xfrm flipV="1">
              <a:off x="4032" y="1392"/>
              <a:ext cx="0" cy="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8" name="Line 36"/>
            <p:cNvSpPr/>
            <p:nvPr/>
          </p:nvSpPr>
          <p:spPr>
            <a:xfrm flipH="1">
              <a:off x="3744" y="14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9" name="Line 37"/>
            <p:cNvSpPr/>
            <p:nvPr/>
          </p:nvSpPr>
          <p:spPr>
            <a:xfrm>
              <a:off x="3744" y="1488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67014" name="Group 38"/>
          <p:cNvGrpSpPr/>
          <p:nvPr/>
        </p:nvGrpSpPr>
        <p:grpSpPr>
          <a:xfrm>
            <a:off x="6359525" y="3984625"/>
            <a:ext cx="2108200" cy="1219200"/>
            <a:chOff x="4336" y="2928"/>
            <a:chExt cx="1328" cy="768"/>
          </a:xfrm>
        </p:grpSpPr>
        <p:sp>
          <p:nvSpPr>
            <p:cNvPr id="28711" name="Text Box 39"/>
            <p:cNvSpPr txBox="1"/>
            <p:nvPr/>
          </p:nvSpPr>
          <p:spPr>
            <a:xfrm>
              <a:off x="5361" y="2928"/>
              <a:ext cx="3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2" name="Text Box 40"/>
            <p:cNvSpPr txBox="1"/>
            <p:nvPr/>
          </p:nvSpPr>
          <p:spPr>
            <a:xfrm>
              <a:off x="5361" y="3369"/>
              <a:ext cx="2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3" name="Line 41"/>
            <p:cNvSpPr/>
            <p:nvPr/>
          </p:nvSpPr>
          <p:spPr>
            <a:xfrm>
              <a:off x="4800" y="316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4" name="Line 42"/>
            <p:cNvSpPr/>
            <p:nvPr/>
          </p:nvSpPr>
          <p:spPr>
            <a:xfrm>
              <a:off x="5095" y="3158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5" name="Line 43"/>
            <p:cNvSpPr/>
            <p:nvPr/>
          </p:nvSpPr>
          <p:spPr>
            <a:xfrm flipV="1">
              <a:off x="4800" y="35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6" name="Line 44"/>
            <p:cNvSpPr/>
            <p:nvPr/>
          </p:nvSpPr>
          <p:spPr>
            <a:xfrm>
              <a:off x="5095" y="3544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717" name="Group 45"/>
            <p:cNvGrpSpPr/>
            <p:nvPr/>
          </p:nvGrpSpPr>
          <p:grpSpPr>
            <a:xfrm>
              <a:off x="4608" y="3024"/>
              <a:ext cx="192" cy="288"/>
              <a:chOff x="4944" y="1728"/>
              <a:chExt cx="144" cy="240"/>
            </a:xfrm>
          </p:grpSpPr>
          <p:sp>
            <p:nvSpPr>
              <p:cNvPr id="28718" name="Rectangle 46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9" name="Oval 47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20" name="Group 48"/>
            <p:cNvGrpSpPr/>
            <p:nvPr/>
          </p:nvGrpSpPr>
          <p:grpSpPr>
            <a:xfrm>
              <a:off x="4896" y="3024"/>
              <a:ext cx="192" cy="288"/>
              <a:chOff x="4944" y="1728"/>
              <a:chExt cx="144" cy="240"/>
            </a:xfrm>
          </p:grpSpPr>
          <p:sp>
            <p:nvSpPr>
              <p:cNvPr id="28721" name="Rectangle 49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22" name="Oval 50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23" name="Group 51"/>
            <p:cNvGrpSpPr/>
            <p:nvPr/>
          </p:nvGrpSpPr>
          <p:grpSpPr>
            <a:xfrm>
              <a:off x="4608" y="3408"/>
              <a:ext cx="192" cy="288"/>
              <a:chOff x="4944" y="1728"/>
              <a:chExt cx="144" cy="240"/>
            </a:xfrm>
          </p:grpSpPr>
          <p:sp>
            <p:nvSpPr>
              <p:cNvPr id="28724" name="Rectangle 52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25" name="Oval 53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26" name="Group 54"/>
            <p:cNvGrpSpPr/>
            <p:nvPr/>
          </p:nvGrpSpPr>
          <p:grpSpPr>
            <a:xfrm>
              <a:off x="4896" y="3408"/>
              <a:ext cx="192" cy="288"/>
              <a:chOff x="4944" y="1728"/>
              <a:chExt cx="144" cy="240"/>
            </a:xfrm>
          </p:grpSpPr>
          <p:sp>
            <p:nvSpPr>
              <p:cNvPr id="28727" name="Rectangle 55"/>
              <p:cNvSpPr/>
              <p:nvPr/>
            </p:nvSpPr>
            <p:spPr>
              <a:xfrm>
                <a:off x="4992" y="1728"/>
                <a:ext cx="96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28" name="Oval 56"/>
              <p:cNvSpPr/>
              <p:nvPr/>
            </p:nvSpPr>
            <p:spPr>
              <a:xfrm>
                <a:off x="4944" y="18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729" name="Line 57"/>
            <p:cNvSpPr/>
            <p:nvPr/>
          </p:nvSpPr>
          <p:spPr>
            <a:xfrm>
              <a:off x="4336" y="3168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30" name="Line 58"/>
            <p:cNvSpPr/>
            <p:nvPr/>
          </p:nvSpPr>
          <p:spPr>
            <a:xfrm>
              <a:off x="4336" y="3554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3" name="文本框 62"/>
          <p:cNvSpPr txBox="1"/>
          <p:nvPr/>
        </p:nvSpPr>
        <p:spPr>
          <a:xfrm>
            <a:off x="844550" y="5570538"/>
            <a:ext cx="7773988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—  —                —       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+ 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Ln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+S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6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22" name="Picture 2" descr="5-4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960563"/>
            <a:ext cx="9144000" cy="3654425"/>
          </a:xfrm>
          <a:ln/>
        </p:spPr>
      </p:pic>
      <p:sp>
        <p:nvSpPr>
          <p:cNvPr id="76902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00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(1)4D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触发器构成的寄存器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(2)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设计具有保持功能的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(3)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设计具有置数、保持和选择功能的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(4)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有输入输出使能的寄存器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串入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并出的右移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Shift Reg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(2)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并出的双向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Shift Reg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1074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应用举例（串转并的应用）：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用串入并出的移位寄存器设计一个同步时序逻辑电路，以检测输入信号序列是否为连续的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110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电路的输入为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，输出为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Z=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32772" name="Group 63"/>
          <p:cNvGrpSpPr/>
          <p:nvPr/>
        </p:nvGrpSpPr>
        <p:grpSpPr>
          <a:xfrm>
            <a:off x="6084888" y="4149725"/>
            <a:ext cx="1828800" cy="1676400"/>
            <a:chOff x="2592" y="2832"/>
            <a:chExt cx="1152" cy="1056"/>
          </a:xfrm>
        </p:grpSpPr>
        <p:sp>
          <p:nvSpPr>
            <p:cNvPr id="32773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5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6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7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78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0" name="Line 71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1" name="Line 72"/>
            <p:cNvSpPr/>
            <p:nvPr/>
          </p:nvSpPr>
          <p:spPr>
            <a:xfrm>
              <a:off x="350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2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3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4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5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794" name="Group 4"/>
          <p:cNvGrpSpPr/>
          <p:nvPr/>
        </p:nvGrpSpPr>
        <p:grpSpPr>
          <a:xfrm>
            <a:off x="630238" y="158750"/>
            <a:ext cx="8132762" cy="3059113"/>
            <a:chOff x="140" y="1248"/>
            <a:chExt cx="5123" cy="1927"/>
          </a:xfrm>
        </p:grpSpPr>
        <p:grpSp>
          <p:nvGrpSpPr>
            <p:cNvPr id="33795" name="Group 5"/>
            <p:cNvGrpSpPr/>
            <p:nvPr/>
          </p:nvGrpSpPr>
          <p:grpSpPr>
            <a:xfrm>
              <a:off x="1122" y="2082"/>
              <a:ext cx="983" cy="839"/>
              <a:chOff x="1642" y="2157"/>
              <a:chExt cx="1238" cy="969"/>
            </a:xfrm>
          </p:grpSpPr>
          <p:sp>
            <p:nvSpPr>
              <p:cNvPr id="33796" name="AutoShape 6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97" name="Rectangle 7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98" name="Rectangle 8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99" name="Rectangle 9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0" name="Line 10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1" name="Line 11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3802" name="Group 12"/>
            <p:cNvGrpSpPr/>
            <p:nvPr/>
          </p:nvGrpSpPr>
          <p:grpSpPr>
            <a:xfrm>
              <a:off x="1944" y="2082"/>
              <a:ext cx="983" cy="839"/>
              <a:chOff x="1642" y="2157"/>
              <a:chExt cx="1238" cy="969"/>
            </a:xfrm>
          </p:grpSpPr>
          <p:sp>
            <p:nvSpPr>
              <p:cNvPr id="33803" name="AutoShape 13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4" name="Rectangle 14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5" name="Rectangle 15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6" name="Rectangle 16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7" name="Line 17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8" name="Line 18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3809" name="Group 19"/>
            <p:cNvGrpSpPr/>
            <p:nvPr/>
          </p:nvGrpSpPr>
          <p:grpSpPr>
            <a:xfrm>
              <a:off x="2767" y="2082"/>
              <a:ext cx="983" cy="839"/>
              <a:chOff x="1642" y="2157"/>
              <a:chExt cx="1238" cy="969"/>
            </a:xfrm>
          </p:grpSpPr>
          <p:sp>
            <p:nvSpPr>
              <p:cNvPr id="33810" name="AutoShape 20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1" name="Rectangle 21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2" name="Rectangle 22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3" name="Rectangle 23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4" name="Line 24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5" name="Line 25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3816" name="Group 26"/>
            <p:cNvGrpSpPr/>
            <p:nvPr/>
          </p:nvGrpSpPr>
          <p:grpSpPr>
            <a:xfrm>
              <a:off x="3589" y="2082"/>
              <a:ext cx="983" cy="839"/>
              <a:chOff x="1642" y="2157"/>
              <a:chExt cx="1238" cy="969"/>
            </a:xfrm>
          </p:grpSpPr>
          <p:sp>
            <p:nvSpPr>
              <p:cNvPr id="33817" name="AutoShape 27"/>
              <p:cNvSpPr>
                <a:spLocks noChangeAspect="1" noTextEdit="1"/>
              </p:cNvSpPr>
              <p:nvPr/>
            </p:nvSpPr>
            <p:spPr>
              <a:xfrm>
                <a:off x="1644" y="2160"/>
                <a:ext cx="1236" cy="9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eaLnBrk="0" hangingPunct="0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8" name="Rectangle 28"/>
              <p:cNvSpPr/>
              <p:nvPr/>
            </p:nvSpPr>
            <p:spPr>
              <a:xfrm>
                <a:off x="1823" y="2157"/>
                <a:ext cx="681" cy="953"/>
              </a:xfrm>
              <a:prstGeom prst="rect">
                <a:avLst/>
              </a:prstGeom>
              <a:noFill/>
              <a:ln w="9525" cap="rnd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19" name="Rectangle 29"/>
              <p:cNvSpPr/>
              <p:nvPr/>
            </p:nvSpPr>
            <p:spPr>
              <a:xfrm>
                <a:off x="1890" y="2304"/>
                <a:ext cx="53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D   Q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0" name="Rectangle 30"/>
              <p:cNvSpPr/>
              <p:nvPr/>
            </p:nvSpPr>
            <p:spPr>
              <a:xfrm>
                <a:off x="1890" y="2766"/>
                <a:ext cx="302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1" name="Line 31"/>
              <p:cNvSpPr/>
              <p:nvPr/>
            </p:nvSpPr>
            <p:spPr>
              <a:xfrm>
                <a:off x="2503" y="2384"/>
                <a:ext cx="363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22" name="Line 32"/>
              <p:cNvSpPr/>
              <p:nvPr/>
            </p:nvSpPr>
            <p:spPr>
              <a:xfrm>
                <a:off x="1642" y="2883"/>
                <a:ext cx="181" cy="1"/>
              </a:xfrm>
              <a:prstGeom prst="line">
                <a:avLst/>
              </a:prstGeom>
              <a:ln w="28575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3823" name="Line 33"/>
            <p:cNvSpPr/>
            <p:nvPr/>
          </p:nvSpPr>
          <p:spPr>
            <a:xfrm flipH="1">
              <a:off x="1122" y="2711"/>
              <a:ext cx="2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4" name="Line 34"/>
            <p:cNvSpPr/>
            <p:nvPr/>
          </p:nvSpPr>
          <p:spPr>
            <a:xfrm>
              <a:off x="672" y="3091"/>
              <a:ext cx="29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5" name="Line 35"/>
            <p:cNvSpPr/>
            <p:nvPr/>
          </p:nvSpPr>
          <p:spPr>
            <a:xfrm>
              <a:off x="3591" y="2711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6" name="Line 36"/>
            <p:cNvSpPr/>
            <p:nvPr/>
          </p:nvSpPr>
          <p:spPr>
            <a:xfrm>
              <a:off x="2767" y="2722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7" name="Line 37"/>
            <p:cNvSpPr/>
            <p:nvPr/>
          </p:nvSpPr>
          <p:spPr>
            <a:xfrm>
              <a:off x="1944" y="2722"/>
              <a:ext cx="0" cy="3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8" name="Line 38"/>
            <p:cNvSpPr/>
            <p:nvPr/>
          </p:nvSpPr>
          <p:spPr>
            <a:xfrm flipH="1">
              <a:off x="672" y="2269"/>
              <a:ext cx="5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9" name="Text Box 39"/>
            <p:cNvSpPr txBox="1"/>
            <p:nvPr/>
          </p:nvSpPr>
          <p:spPr>
            <a:xfrm>
              <a:off x="614" y="1994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0" name="Text Box 40"/>
            <p:cNvSpPr txBox="1"/>
            <p:nvPr/>
          </p:nvSpPr>
          <p:spPr>
            <a:xfrm>
              <a:off x="356" y="2887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1" name="Line 41"/>
            <p:cNvSpPr/>
            <p:nvPr/>
          </p:nvSpPr>
          <p:spPr>
            <a:xfrm flipV="1">
              <a:off x="1946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33832" name="Picture 42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14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33" name="Line 43"/>
            <p:cNvSpPr/>
            <p:nvPr/>
          </p:nvSpPr>
          <p:spPr>
            <a:xfrm flipV="1">
              <a:off x="2770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33834" name="Picture 4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38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35" name="Line 45"/>
            <p:cNvSpPr/>
            <p:nvPr/>
          </p:nvSpPr>
          <p:spPr>
            <a:xfrm flipV="1">
              <a:off x="3589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33836" name="Picture 46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57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37" name="Line 47"/>
            <p:cNvSpPr/>
            <p:nvPr/>
          </p:nvSpPr>
          <p:spPr>
            <a:xfrm flipV="1">
              <a:off x="4553" y="1815"/>
              <a:ext cx="0" cy="4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33838" name="Picture 48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24" y="2252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Picture 49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1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Picture 50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16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Picture 51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35" y="306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42" name="Line 52"/>
            <p:cNvSpPr/>
            <p:nvPr/>
          </p:nvSpPr>
          <p:spPr>
            <a:xfrm>
              <a:off x="4572" y="2282"/>
              <a:ext cx="5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43" name="Text Box 53"/>
            <p:cNvSpPr txBox="1"/>
            <p:nvPr/>
          </p:nvSpPr>
          <p:spPr>
            <a:xfrm>
              <a:off x="5147" y="2085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endParaRPr lang="zh-CN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4" name="AutoShape 54"/>
            <p:cNvSpPr/>
            <p:nvPr/>
          </p:nvSpPr>
          <p:spPr>
            <a:xfrm rot="5400000">
              <a:off x="3151" y="326"/>
              <a:ext cx="168" cy="2582"/>
            </a:xfrm>
            <a:prstGeom prst="leftBrace">
              <a:avLst>
                <a:gd name="adj1" fmla="val 128004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45" name="Text Box 55"/>
            <p:cNvSpPr txBox="1"/>
            <p:nvPr/>
          </p:nvSpPr>
          <p:spPr>
            <a:xfrm>
              <a:off x="3004" y="1248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并出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6" name="Text Box 56"/>
            <p:cNvSpPr txBox="1"/>
            <p:nvPr/>
          </p:nvSpPr>
          <p:spPr>
            <a:xfrm>
              <a:off x="140" y="207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串入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1187450" y="3416300"/>
            <a:ext cx="7088188" cy="2952750"/>
            <a:chOff x="1187624" y="3416094"/>
            <a:chExt cx="7088188" cy="2953103"/>
          </a:xfrm>
        </p:grpSpPr>
        <p:grpSp>
          <p:nvGrpSpPr>
            <p:cNvPr id="33848" name="Group 63"/>
            <p:cNvGrpSpPr/>
            <p:nvPr/>
          </p:nvGrpSpPr>
          <p:grpSpPr>
            <a:xfrm>
              <a:off x="1187624" y="4600574"/>
              <a:ext cx="6173787" cy="457200"/>
              <a:chOff x="431" y="2112"/>
              <a:chExt cx="3793" cy="288"/>
            </a:xfrm>
          </p:grpSpPr>
          <p:sp>
            <p:nvSpPr>
              <p:cNvPr id="33849" name="Text Box 64"/>
              <p:cNvSpPr txBox="1"/>
              <p:nvPr/>
            </p:nvSpPr>
            <p:spPr>
              <a:xfrm>
                <a:off x="431" y="2112"/>
                <a:ext cx="49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3850" name="Group 65"/>
              <p:cNvGrpSpPr/>
              <p:nvPr/>
            </p:nvGrpSpPr>
            <p:grpSpPr>
              <a:xfrm>
                <a:off x="912" y="2160"/>
                <a:ext cx="3312" cy="144"/>
                <a:chOff x="864" y="2160"/>
                <a:chExt cx="3312" cy="144"/>
              </a:xfrm>
            </p:grpSpPr>
            <p:sp>
              <p:nvSpPr>
                <p:cNvPr id="33851" name="Line 66"/>
                <p:cNvSpPr/>
                <p:nvPr/>
              </p:nvSpPr>
              <p:spPr>
                <a:xfrm>
                  <a:off x="864" y="2304"/>
                  <a:ext cx="48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2" name="Line 67"/>
                <p:cNvSpPr/>
                <p:nvPr/>
              </p:nvSpPr>
              <p:spPr>
                <a:xfrm flipV="1">
                  <a:off x="1344" y="216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3" name="Line 68"/>
                <p:cNvSpPr/>
                <p:nvPr/>
              </p:nvSpPr>
              <p:spPr>
                <a:xfrm>
                  <a:off x="1344" y="2160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4" name="Line 69"/>
                <p:cNvSpPr/>
                <p:nvPr/>
              </p:nvSpPr>
              <p:spPr>
                <a:xfrm>
                  <a:off x="1632" y="216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5" name="Line 70"/>
                <p:cNvSpPr/>
                <p:nvPr/>
              </p:nvSpPr>
              <p:spPr>
                <a:xfrm>
                  <a:off x="1632" y="230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6" name="Line 71"/>
                <p:cNvSpPr/>
                <p:nvPr/>
              </p:nvSpPr>
              <p:spPr>
                <a:xfrm flipV="1">
                  <a:off x="2160" y="216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7" name="Line 72"/>
                <p:cNvSpPr/>
                <p:nvPr/>
              </p:nvSpPr>
              <p:spPr>
                <a:xfrm>
                  <a:off x="2160" y="2160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8" name="Line 73"/>
                <p:cNvSpPr/>
                <p:nvPr/>
              </p:nvSpPr>
              <p:spPr>
                <a:xfrm>
                  <a:off x="2976" y="216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59" name="Line 74"/>
                <p:cNvSpPr/>
                <p:nvPr/>
              </p:nvSpPr>
              <p:spPr>
                <a:xfrm>
                  <a:off x="2976" y="2304"/>
                  <a:ext cx="12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3860" name="Group 75"/>
            <p:cNvGrpSpPr/>
            <p:nvPr/>
          </p:nvGrpSpPr>
          <p:grpSpPr>
            <a:xfrm>
              <a:off x="1189211" y="5210174"/>
              <a:ext cx="6629400" cy="457200"/>
              <a:chOff x="432" y="2496"/>
              <a:chExt cx="4080" cy="288"/>
            </a:xfrm>
          </p:grpSpPr>
          <p:sp>
            <p:nvSpPr>
              <p:cNvPr id="33861" name="Text Box 76"/>
              <p:cNvSpPr txBox="1"/>
              <p:nvPr/>
            </p:nvSpPr>
            <p:spPr>
              <a:xfrm>
                <a:off x="432" y="2496"/>
                <a:ext cx="49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3862" name="Group 77"/>
              <p:cNvGrpSpPr/>
              <p:nvPr/>
            </p:nvGrpSpPr>
            <p:grpSpPr>
              <a:xfrm>
                <a:off x="912" y="2544"/>
                <a:ext cx="3600" cy="144"/>
                <a:chOff x="864" y="2496"/>
                <a:chExt cx="3600" cy="144"/>
              </a:xfrm>
            </p:grpSpPr>
            <p:sp>
              <p:nvSpPr>
                <p:cNvPr id="33863" name="Line 78"/>
                <p:cNvSpPr/>
                <p:nvPr/>
              </p:nvSpPr>
              <p:spPr>
                <a:xfrm>
                  <a:off x="864" y="2640"/>
                  <a:ext cx="76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4" name="Line 79"/>
                <p:cNvSpPr/>
                <p:nvPr/>
              </p:nvSpPr>
              <p:spPr>
                <a:xfrm flipV="1">
                  <a:off x="1632" y="2496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5" name="Line 80"/>
                <p:cNvSpPr/>
                <p:nvPr/>
              </p:nvSpPr>
              <p:spPr>
                <a:xfrm>
                  <a:off x="1632" y="2496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6" name="Line 81"/>
                <p:cNvSpPr/>
                <p:nvPr/>
              </p:nvSpPr>
              <p:spPr>
                <a:xfrm>
                  <a:off x="1920" y="2496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7" name="Line 82"/>
                <p:cNvSpPr/>
                <p:nvPr/>
              </p:nvSpPr>
              <p:spPr>
                <a:xfrm>
                  <a:off x="1920" y="2640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8" name="Line 83"/>
                <p:cNvSpPr/>
                <p:nvPr/>
              </p:nvSpPr>
              <p:spPr>
                <a:xfrm flipV="1">
                  <a:off x="2448" y="2496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69" name="Line 84"/>
                <p:cNvSpPr/>
                <p:nvPr/>
              </p:nvSpPr>
              <p:spPr>
                <a:xfrm>
                  <a:off x="2448" y="2496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0" name="Line 85"/>
                <p:cNvSpPr/>
                <p:nvPr/>
              </p:nvSpPr>
              <p:spPr>
                <a:xfrm>
                  <a:off x="3264" y="2496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1" name="Line 86"/>
                <p:cNvSpPr/>
                <p:nvPr/>
              </p:nvSpPr>
              <p:spPr>
                <a:xfrm>
                  <a:off x="3264" y="2640"/>
                  <a:ext cx="12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3872" name="Group 87"/>
            <p:cNvGrpSpPr/>
            <p:nvPr/>
          </p:nvGrpSpPr>
          <p:grpSpPr>
            <a:xfrm>
              <a:off x="1187624" y="5776223"/>
              <a:ext cx="7088187" cy="457200"/>
              <a:chOff x="432" y="2832"/>
              <a:chExt cx="4368" cy="288"/>
            </a:xfrm>
          </p:grpSpPr>
          <p:sp>
            <p:nvSpPr>
              <p:cNvPr id="33873" name="Text Box 88"/>
              <p:cNvSpPr txBox="1"/>
              <p:nvPr/>
            </p:nvSpPr>
            <p:spPr>
              <a:xfrm>
                <a:off x="432" y="2832"/>
                <a:ext cx="49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3874" name="Group 89"/>
              <p:cNvGrpSpPr/>
              <p:nvPr/>
            </p:nvGrpSpPr>
            <p:grpSpPr>
              <a:xfrm>
                <a:off x="912" y="2928"/>
                <a:ext cx="3888" cy="144"/>
                <a:chOff x="864" y="2880"/>
                <a:chExt cx="3888" cy="144"/>
              </a:xfrm>
            </p:grpSpPr>
            <p:sp>
              <p:nvSpPr>
                <p:cNvPr id="33875" name="Line 90"/>
                <p:cNvSpPr/>
                <p:nvPr/>
              </p:nvSpPr>
              <p:spPr>
                <a:xfrm>
                  <a:off x="864" y="3024"/>
                  <a:ext cx="105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6" name="Line 91"/>
                <p:cNvSpPr/>
                <p:nvPr/>
              </p:nvSpPr>
              <p:spPr>
                <a:xfrm flipV="1">
                  <a:off x="1920" y="288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7" name="Line 92"/>
                <p:cNvSpPr/>
                <p:nvPr/>
              </p:nvSpPr>
              <p:spPr>
                <a:xfrm>
                  <a:off x="1920" y="2880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8" name="Line 93"/>
                <p:cNvSpPr/>
                <p:nvPr/>
              </p:nvSpPr>
              <p:spPr>
                <a:xfrm>
                  <a:off x="2208" y="288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79" name="Line 94"/>
                <p:cNvSpPr/>
                <p:nvPr/>
              </p:nvSpPr>
              <p:spPr>
                <a:xfrm>
                  <a:off x="2208" y="302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80" name="Line 95"/>
                <p:cNvSpPr/>
                <p:nvPr/>
              </p:nvSpPr>
              <p:spPr>
                <a:xfrm flipV="1">
                  <a:off x="2736" y="288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81" name="Line 96"/>
                <p:cNvSpPr/>
                <p:nvPr/>
              </p:nvSpPr>
              <p:spPr>
                <a:xfrm>
                  <a:off x="2736" y="2880"/>
                  <a:ext cx="81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82" name="Line 97"/>
                <p:cNvSpPr/>
                <p:nvPr/>
              </p:nvSpPr>
              <p:spPr>
                <a:xfrm>
                  <a:off x="3552" y="2880"/>
                  <a:ext cx="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3883" name="Line 98"/>
                <p:cNvSpPr/>
                <p:nvPr/>
              </p:nvSpPr>
              <p:spPr>
                <a:xfrm>
                  <a:off x="3552" y="3024"/>
                  <a:ext cx="12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3884" name="Group 111"/>
            <p:cNvGrpSpPr/>
            <p:nvPr/>
          </p:nvGrpSpPr>
          <p:grpSpPr>
            <a:xfrm>
              <a:off x="2256011" y="3416094"/>
              <a:ext cx="4114800" cy="2953103"/>
              <a:chOff x="1104" y="1296"/>
              <a:chExt cx="2592" cy="2544"/>
            </a:xfrm>
          </p:grpSpPr>
          <p:sp>
            <p:nvSpPr>
              <p:cNvPr id="33885" name="Line 112"/>
              <p:cNvSpPr/>
              <p:nvPr/>
            </p:nvSpPr>
            <p:spPr>
              <a:xfrm>
                <a:off x="1104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86" name="Line 113"/>
              <p:cNvSpPr/>
              <p:nvPr/>
            </p:nvSpPr>
            <p:spPr>
              <a:xfrm>
                <a:off x="1392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87" name="Line 114"/>
              <p:cNvSpPr/>
              <p:nvPr/>
            </p:nvSpPr>
            <p:spPr>
              <a:xfrm>
                <a:off x="1680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88" name="Line 115"/>
              <p:cNvSpPr/>
              <p:nvPr/>
            </p:nvSpPr>
            <p:spPr>
              <a:xfrm>
                <a:off x="1968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89" name="Line 116"/>
              <p:cNvSpPr/>
              <p:nvPr/>
            </p:nvSpPr>
            <p:spPr>
              <a:xfrm>
                <a:off x="2256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90" name="Line 117"/>
              <p:cNvSpPr/>
              <p:nvPr/>
            </p:nvSpPr>
            <p:spPr>
              <a:xfrm>
                <a:off x="2544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91" name="Line 118"/>
              <p:cNvSpPr/>
              <p:nvPr/>
            </p:nvSpPr>
            <p:spPr>
              <a:xfrm>
                <a:off x="2832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92" name="Line 119"/>
              <p:cNvSpPr/>
              <p:nvPr/>
            </p:nvSpPr>
            <p:spPr>
              <a:xfrm>
                <a:off x="3120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93" name="Line 120"/>
              <p:cNvSpPr/>
              <p:nvPr/>
            </p:nvSpPr>
            <p:spPr>
              <a:xfrm>
                <a:off x="3408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94" name="Line 121"/>
              <p:cNvSpPr/>
              <p:nvPr/>
            </p:nvSpPr>
            <p:spPr>
              <a:xfrm>
                <a:off x="3696" y="1296"/>
                <a:ext cx="0" cy="25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3895" name="Group 122"/>
            <p:cNvGrpSpPr/>
            <p:nvPr/>
          </p:nvGrpSpPr>
          <p:grpSpPr>
            <a:xfrm>
              <a:off x="1189211" y="3990979"/>
              <a:ext cx="7086601" cy="609601"/>
              <a:chOff x="432" y="1728"/>
              <a:chExt cx="4464" cy="384"/>
            </a:xfrm>
          </p:grpSpPr>
          <p:grpSp>
            <p:nvGrpSpPr>
              <p:cNvPr id="33896" name="Group 123"/>
              <p:cNvGrpSpPr/>
              <p:nvPr/>
            </p:nvGrpSpPr>
            <p:grpSpPr>
              <a:xfrm>
                <a:off x="432" y="1824"/>
                <a:ext cx="3600" cy="288"/>
                <a:chOff x="432" y="1824"/>
                <a:chExt cx="3600" cy="288"/>
              </a:xfrm>
            </p:grpSpPr>
            <p:grpSp>
              <p:nvGrpSpPr>
                <p:cNvPr id="33897" name="Group 124"/>
                <p:cNvGrpSpPr/>
                <p:nvPr/>
              </p:nvGrpSpPr>
              <p:grpSpPr>
                <a:xfrm>
                  <a:off x="864" y="1824"/>
                  <a:ext cx="3168" cy="144"/>
                  <a:chOff x="864" y="1824"/>
                  <a:chExt cx="3168" cy="144"/>
                </a:xfrm>
              </p:grpSpPr>
              <p:sp>
                <p:nvSpPr>
                  <p:cNvPr id="33898" name="Line 125"/>
                  <p:cNvSpPr/>
                  <p:nvPr/>
                </p:nvSpPr>
                <p:spPr>
                  <a:xfrm>
                    <a:off x="864" y="1968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899" name="Line 126"/>
                  <p:cNvSpPr/>
                  <p:nvPr/>
                </p:nvSpPr>
                <p:spPr>
                  <a:xfrm flipV="1">
                    <a:off x="1200" y="1824"/>
                    <a:ext cx="0" cy="14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0" name="Line 127"/>
                  <p:cNvSpPr/>
                  <p:nvPr/>
                </p:nvSpPr>
                <p:spPr>
                  <a:xfrm>
                    <a:off x="1200" y="1824"/>
                    <a:ext cx="28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1" name="Line 128"/>
                  <p:cNvSpPr/>
                  <p:nvPr/>
                </p:nvSpPr>
                <p:spPr>
                  <a:xfrm>
                    <a:off x="1488" y="1824"/>
                    <a:ext cx="0" cy="14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2" name="Line 129"/>
                  <p:cNvSpPr/>
                  <p:nvPr/>
                </p:nvSpPr>
                <p:spPr>
                  <a:xfrm>
                    <a:off x="1488" y="1968"/>
                    <a:ext cx="52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3" name="Line 130"/>
                  <p:cNvSpPr/>
                  <p:nvPr/>
                </p:nvSpPr>
                <p:spPr>
                  <a:xfrm flipV="1">
                    <a:off x="2016" y="1824"/>
                    <a:ext cx="0" cy="14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4" name="Line 131"/>
                  <p:cNvSpPr/>
                  <p:nvPr/>
                </p:nvSpPr>
                <p:spPr>
                  <a:xfrm>
                    <a:off x="2016" y="1824"/>
                    <a:ext cx="81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5" name="Line 132"/>
                  <p:cNvSpPr/>
                  <p:nvPr/>
                </p:nvSpPr>
                <p:spPr>
                  <a:xfrm>
                    <a:off x="2832" y="1824"/>
                    <a:ext cx="0" cy="14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06" name="Line 133"/>
                  <p:cNvSpPr/>
                  <p:nvPr/>
                </p:nvSpPr>
                <p:spPr>
                  <a:xfrm>
                    <a:off x="2832" y="1968"/>
                    <a:ext cx="120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3907" name="Rectangle 134"/>
                <p:cNvSpPr/>
                <p:nvPr/>
              </p:nvSpPr>
              <p:spPr>
                <a:xfrm>
                  <a:off x="432" y="1824"/>
                  <a:ext cx="29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ClrTx/>
                    <a:buFontTx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D</a:t>
                  </a:r>
                  <a:r>
                    <a:rPr lang="en-US" altLang="zh-CN" sz="2400" baseline="-25000" dirty="0">
                      <a:latin typeface="Georgia" panose="02040502050405020303" pitchFamily="18" charset="0"/>
                      <a:ea typeface="宋体" panose="02010600030101010101" pitchFamily="2" charset="-122"/>
                    </a:rPr>
                    <a:t>i</a:t>
                  </a:r>
                  <a:endPara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3908" name="Text Box 135"/>
              <p:cNvSpPr txBox="1"/>
              <p:nvPr/>
            </p:nvSpPr>
            <p:spPr>
              <a:xfrm>
                <a:off x="960" y="1728"/>
                <a:ext cx="393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0  1   0  0   1    1   1   0    0   0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3909" name="Text Box 136"/>
            <p:cNvSpPr txBox="1"/>
            <p:nvPr/>
          </p:nvSpPr>
          <p:spPr>
            <a:xfrm>
              <a:off x="3627611" y="4524374"/>
              <a:ext cx="457200" cy="18158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6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910" name="Text Box 137"/>
            <p:cNvSpPr txBox="1"/>
            <p:nvPr/>
          </p:nvSpPr>
          <p:spPr>
            <a:xfrm>
              <a:off x="4084811" y="4530724"/>
              <a:ext cx="457200" cy="1729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911" name="Text Box 138"/>
            <p:cNvSpPr txBox="1"/>
            <p:nvPr/>
          </p:nvSpPr>
          <p:spPr>
            <a:xfrm>
              <a:off x="4542011" y="4524374"/>
              <a:ext cx="457200" cy="1729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912" name="Text Box 139"/>
            <p:cNvSpPr txBox="1"/>
            <p:nvPr/>
          </p:nvSpPr>
          <p:spPr>
            <a:xfrm>
              <a:off x="4995305" y="4554691"/>
              <a:ext cx="457200" cy="1729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913" name="Text Box 140"/>
            <p:cNvSpPr txBox="1"/>
            <p:nvPr/>
          </p:nvSpPr>
          <p:spPr>
            <a:xfrm>
              <a:off x="5532611" y="4524374"/>
              <a:ext cx="457200" cy="1729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solidFill>
                    <a:srgbClr val="FFC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solidFill>
                    <a:srgbClr val="FFC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solidFill>
                    <a:srgbClr val="FFC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914" name="Text Box 141"/>
            <p:cNvSpPr txBox="1"/>
            <p:nvPr/>
          </p:nvSpPr>
          <p:spPr>
            <a:xfrm>
              <a:off x="5913611" y="4530724"/>
              <a:ext cx="457200" cy="17297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4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3915" name="组合 136"/>
            <p:cNvGrpSpPr/>
            <p:nvPr/>
          </p:nvGrpSpPr>
          <p:grpSpPr>
            <a:xfrm>
              <a:off x="1335261" y="3533774"/>
              <a:ext cx="5949950" cy="468313"/>
              <a:chOff x="832362" y="2286000"/>
              <a:chExt cx="5949438" cy="468015"/>
            </a:xfrm>
          </p:grpSpPr>
          <p:grpSp>
            <p:nvGrpSpPr>
              <p:cNvPr id="33916" name="Group 6"/>
              <p:cNvGrpSpPr/>
              <p:nvPr/>
            </p:nvGrpSpPr>
            <p:grpSpPr>
              <a:xfrm>
                <a:off x="1371600" y="2286000"/>
                <a:ext cx="5410200" cy="284163"/>
                <a:chOff x="861" y="1533"/>
                <a:chExt cx="3220" cy="182"/>
              </a:xfrm>
            </p:grpSpPr>
            <p:grpSp>
              <p:nvGrpSpPr>
                <p:cNvPr id="33917" name="Group 7"/>
                <p:cNvGrpSpPr/>
                <p:nvPr/>
              </p:nvGrpSpPr>
              <p:grpSpPr>
                <a:xfrm>
                  <a:off x="1088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18" name="Line 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19" name="Line 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0" name="Line 1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1" name="Line 1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22" name="Group 12"/>
                <p:cNvGrpSpPr/>
                <p:nvPr/>
              </p:nvGrpSpPr>
              <p:grpSpPr>
                <a:xfrm>
                  <a:off x="1360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23" name="Line 13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4" name="Line 14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5" name="Line 15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6" name="Line 16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27" name="Group 17"/>
                <p:cNvGrpSpPr/>
                <p:nvPr/>
              </p:nvGrpSpPr>
              <p:grpSpPr>
                <a:xfrm>
                  <a:off x="1633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28" name="Line 1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29" name="Line 1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0" name="Line 2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1" name="Line 2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32" name="Group 22"/>
                <p:cNvGrpSpPr/>
                <p:nvPr/>
              </p:nvGrpSpPr>
              <p:grpSpPr>
                <a:xfrm>
                  <a:off x="1905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33" name="Line 23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4" name="Line 24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5" name="Line 25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6" name="Line 26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37" name="Group 27"/>
                <p:cNvGrpSpPr/>
                <p:nvPr/>
              </p:nvGrpSpPr>
              <p:grpSpPr>
                <a:xfrm>
                  <a:off x="2177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38" name="Line 2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39" name="Line 2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0" name="Line 3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1" name="Line 3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42" name="Group 32"/>
                <p:cNvGrpSpPr/>
                <p:nvPr/>
              </p:nvGrpSpPr>
              <p:grpSpPr>
                <a:xfrm>
                  <a:off x="2449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43" name="Line 33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4" name="Line 34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5" name="Line 35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6" name="Line 36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47" name="Group 37"/>
                <p:cNvGrpSpPr/>
                <p:nvPr/>
              </p:nvGrpSpPr>
              <p:grpSpPr>
                <a:xfrm>
                  <a:off x="2722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48" name="Line 3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49" name="Line 3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0" name="Line 4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1" name="Line 4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52" name="Group 42"/>
                <p:cNvGrpSpPr/>
                <p:nvPr/>
              </p:nvGrpSpPr>
              <p:grpSpPr>
                <a:xfrm>
                  <a:off x="2994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53" name="Line 43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4" name="Line 44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5" name="Line 45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6" name="Line 46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57" name="Group 47"/>
                <p:cNvGrpSpPr/>
                <p:nvPr/>
              </p:nvGrpSpPr>
              <p:grpSpPr>
                <a:xfrm>
                  <a:off x="3264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58" name="Line 4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59" name="Line 4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0" name="Line 5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1" name="Line 5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62" name="Group 52"/>
                <p:cNvGrpSpPr/>
                <p:nvPr/>
              </p:nvGrpSpPr>
              <p:grpSpPr>
                <a:xfrm>
                  <a:off x="3536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63" name="Line 53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4" name="Line 54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5" name="Line 55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6" name="Line 56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33967" name="Group 57"/>
                <p:cNvGrpSpPr/>
                <p:nvPr/>
              </p:nvGrpSpPr>
              <p:grpSpPr>
                <a:xfrm>
                  <a:off x="3809" y="1533"/>
                  <a:ext cx="272" cy="182"/>
                  <a:chOff x="657" y="1570"/>
                  <a:chExt cx="545" cy="182"/>
                </a:xfrm>
              </p:grpSpPr>
              <p:sp>
                <p:nvSpPr>
                  <p:cNvPr id="33968" name="Line 58"/>
                  <p:cNvSpPr/>
                  <p:nvPr/>
                </p:nvSpPr>
                <p:spPr>
                  <a:xfrm>
                    <a:off x="657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69" name="Line 59"/>
                  <p:cNvSpPr/>
                  <p:nvPr/>
                </p:nvSpPr>
                <p:spPr>
                  <a:xfrm>
                    <a:off x="657" y="1570"/>
                    <a:ext cx="273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70" name="Line 60"/>
                  <p:cNvSpPr/>
                  <p:nvPr/>
                </p:nvSpPr>
                <p:spPr>
                  <a:xfrm>
                    <a:off x="930" y="1570"/>
                    <a:ext cx="0" cy="182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3971" name="Line 61"/>
                  <p:cNvSpPr/>
                  <p:nvPr/>
                </p:nvSpPr>
                <p:spPr>
                  <a:xfrm>
                    <a:off x="930" y="1752"/>
                    <a:ext cx="272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3972" name="Line 62"/>
                <p:cNvSpPr/>
                <p:nvPr/>
              </p:nvSpPr>
              <p:spPr>
                <a:xfrm flipH="1">
                  <a:off x="861" y="1715"/>
                  <a:ext cx="227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3973" name="文本框 1"/>
              <p:cNvSpPr txBox="1"/>
              <p:nvPr/>
            </p:nvSpPr>
            <p:spPr>
              <a:xfrm>
                <a:off x="832362" y="2292350"/>
                <a:ext cx="648072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CP</a:t>
                </a: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电路的输入为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，输出为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Z=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4850" y="3932238"/>
            <a:ext cx="4572000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_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Group 63"/>
          <p:cNvGrpSpPr/>
          <p:nvPr/>
        </p:nvGrpSpPr>
        <p:grpSpPr>
          <a:xfrm>
            <a:off x="6011863" y="3141663"/>
            <a:ext cx="1828800" cy="1676400"/>
            <a:chOff x="2592" y="2832"/>
            <a:chExt cx="1152" cy="1056"/>
          </a:xfrm>
        </p:grpSpPr>
        <p:sp>
          <p:nvSpPr>
            <p:cNvPr id="34821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22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23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24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25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826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7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8" name="Line 71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29" name="Line 72"/>
            <p:cNvSpPr/>
            <p:nvPr/>
          </p:nvSpPr>
          <p:spPr>
            <a:xfrm>
              <a:off x="350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0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1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2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3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8" name="组合 47"/>
          <p:cNvGrpSpPr/>
          <p:nvPr/>
        </p:nvGrpSpPr>
        <p:grpSpPr>
          <a:xfrm>
            <a:off x="6038850" y="4810125"/>
            <a:ext cx="1636713" cy="1101725"/>
            <a:chOff x="6038504" y="4809677"/>
            <a:chExt cx="1637480" cy="1102035"/>
          </a:xfrm>
        </p:grpSpPr>
        <p:sp>
          <p:nvSpPr>
            <p:cNvPr id="34835" name="文本框 24"/>
            <p:cNvSpPr txBox="1"/>
            <p:nvPr/>
          </p:nvSpPr>
          <p:spPr>
            <a:xfrm>
              <a:off x="7243936" y="5388492"/>
              <a:ext cx="43204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stCxn id="34829" idx="1"/>
              <a:endCxn id="34835" idx="0"/>
            </p:cNvCxnSpPr>
            <p:nvPr/>
          </p:nvCxnSpPr>
          <p:spPr>
            <a:xfrm flipH="1">
              <a:off x="7459983" y="4817617"/>
              <a:ext cx="0" cy="5716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6392683" y="4809677"/>
              <a:ext cx="0" cy="5716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38" name="文本框 28"/>
            <p:cNvSpPr txBox="1"/>
            <p:nvPr/>
          </p:nvSpPr>
          <p:spPr>
            <a:xfrm>
              <a:off x="6038504" y="5368489"/>
              <a:ext cx="74103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102350" y="1071563"/>
            <a:ext cx="1206500" cy="2125662"/>
            <a:chOff x="6102424" y="1071320"/>
            <a:chExt cx="1205897" cy="2126072"/>
          </a:xfrm>
        </p:grpSpPr>
        <p:sp>
          <p:nvSpPr>
            <p:cNvPr id="34840" name="Rectangle 64"/>
            <p:cNvSpPr/>
            <p:nvPr/>
          </p:nvSpPr>
          <p:spPr>
            <a:xfrm>
              <a:off x="6102424" y="1910209"/>
              <a:ext cx="1205897" cy="38100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4841" name="组合 32"/>
            <p:cNvGrpSpPr/>
            <p:nvPr/>
          </p:nvGrpSpPr>
          <p:grpSpPr>
            <a:xfrm>
              <a:off x="6102424" y="2630765"/>
              <a:ext cx="557436" cy="517894"/>
              <a:chOff x="3078461" y="4077072"/>
              <a:chExt cx="557436" cy="517894"/>
            </a:xfrm>
          </p:grpSpPr>
          <p:sp>
            <p:nvSpPr>
              <p:cNvPr id="34842" name="Rectangle 64"/>
              <p:cNvSpPr/>
              <p:nvPr/>
            </p:nvSpPr>
            <p:spPr>
              <a:xfrm>
                <a:off x="3078461" y="4213966"/>
                <a:ext cx="557436" cy="38100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3275213" y="4076853"/>
                <a:ext cx="144391" cy="1444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cxnSp>
          <p:nvCxnSpPr>
            <p:cNvPr id="36" name="直接连接符 35"/>
            <p:cNvCxnSpPr/>
            <p:nvPr/>
          </p:nvCxnSpPr>
          <p:spPr>
            <a:xfrm>
              <a:off x="6372164" y="2316160"/>
              <a:ext cx="0" cy="31438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6776775" y="2290755"/>
              <a:ext cx="0" cy="9066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7152824" y="2316160"/>
              <a:ext cx="1587" cy="8463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6705372" y="1339659"/>
              <a:ext cx="0" cy="5700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48" name="文本框 46"/>
            <p:cNvSpPr txBox="1"/>
            <p:nvPr/>
          </p:nvSpPr>
          <p:spPr>
            <a:xfrm>
              <a:off x="6780982" y="1071320"/>
              <a:ext cx="394532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zh-CN" altLang="en-US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应用举例（串转并的应用）：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用串入并出的移位寄存器设计一个同步时序逻辑电路，以检测输入信号序列是否为连续的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101001”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844" name="Group 63"/>
          <p:cNvGrpSpPr/>
          <p:nvPr/>
        </p:nvGrpSpPr>
        <p:grpSpPr>
          <a:xfrm>
            <a:off x="6019800" y="4221163"/>
            <a:ext cx="1828800" cy="1676400"/>
            <a:chOff x="2592" y="2832"/>
            <a:chExt cx="1152" cy="1056"/>
          </a:xfrm>
        </p:grpSpPr>
        <p:sp>
          <p:nvSpPr>
            <p:cNvPr id="35845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6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7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8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9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50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Line 71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3" name="Line 72"/>
            <p:cNvSpPr/>
            <p:nvPr/>
          </p:nvSpPr>
          <p:spPr>
            <a:xfrm>
              <a:off x="350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4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5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6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7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Group 63"/>
          <p:cNvGrpSpPr/>
          <p:nvPr/>
        </p:nvGrpSpPr>
        <p:grpSpPr>
          <a:xfrm>
            <a:off x="4249738" y="3765550"/>
            <a:ext cx="1828800" cy="1868488"/>
            <a:chOff x="2592" y="2832"/>
            <a:chExt cx="1152" cy="1177"/>
          </a:xfrm>
        </p:grpSpPr>
        <p:sp>
          <p:nvSpPr>
            <p:cNvPr id="36866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7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68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69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0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1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2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3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4" name="Line 71"/>
            <p:cNvSpPr/>
            <p:nvPr/>
          </p:nvSpPr>
          <p:spPr>
            <a:xfrm>
              <a:off x="2818" y="3648"/>
              <a:ext cx="1" cy="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5" name="Line 72"/>
            <p:cNvSpPr/>
            <p:nvPr/>
          </p:nvSpPr>
          <p:spPr>
            <a:xfrm flipH="1">
              <a:off x="3503" y="3648"/>
              <a:ext cx="1" cy="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6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7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8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22" name="组合 121"/>
          <p:cNvGrpSpPr/>
          <p:nvPr/>
        </p:nvGrpSpPr>
        <p:grpSpPr>
          <a:xfrm>
            <a:off x="4200525" y="3743325"/>
            <a:ext cx="1941513" cy="452438"/>
            <a:chOff x="1773108" y="4005064"/>
            <a:chExt cx="1896989" cy="407707"/>
          </a:xfrm>
        </p:grpSpPr>
        <p:sp>
          <p:nvSpPr>
            <p:cNvPr id="36880" name="文本框 49"/>
            <p:cNvSpPr txBox="1"/>
            <p:nvPr/>
          </p:nvSpPr>
          <p:spPr>
            <a:xfrm>
              <a:off x="1773108" y="4012661"/>
              <a:ext cx="73610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1" name="文本框 50"/>
            <p:cNvSpPr txBox="1"/>
            <p:nvPr/>
          </p:nvSpPr>
          <p:spPr>
            <a:xfrm>
              <a:off x="2154586" y="4005064"/>
              <a:ext cx="73610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2" name="文本框 51"/>
            <p:cNvSpPr txBox="1"/>
            <p:nvPr/>
          </p:nvSpPr>
          <p:spPr>
            <a:xfrm>
              <a:off x="2551243" y="4005064"/>
              <a:ext cx="73610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3" name="文本框 52"/>
            <p:cNvSpPr txBox="1"/>
            <p:nvPr/>
          </p:nvSpPr>
          <p:spPr>
            <a:xfrm>
              <a:off x="2933993" y="4005064"/>
              <a:ext cx="73610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" name="Group 63"/>
          <p:cNvGrpSpPr/>
          <p:nvPr/>
        </p:nvGrpSpPr>
        <p:grpSpPr>
          <a:xfrm>
            <a:off x="6992938" y="3765550"/>
            <a:ext cx="1828800" cy="1676400"/>
            <a:chOff x="2592" y="2832"/>
            <a:chExt cx="1152" cy="1056"/>
          </a:xfrm>
        </p:grpSpPr>
        <p:sp>
          <p:nvSpPr>
            <p:cNvPr id="36886" name="Rectangle 64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87" name="Rectangle 65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8" name="Rectangle 66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9" name="Rectangle 67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90" name="Rectangle 68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91" name="Rectangle 69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2" name="Rectangle 70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3" name="Line 71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4" name="Line 72"/>
            <p:cNvSpPr/>
            <p:nvPr/>
          </p:nvSpPr>
          <p:spPr>
            <a:xfrm>
              <a:off x="3504" y="3648"/>
              <a:ext cx="0" cy="1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5" name="Line 73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6" name="Line 74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7" name="Line 75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8" name="Line 76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3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441450"/>
            <a:ext cx="8153400" cy="1216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电路的输入为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，输出为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求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Z=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59425" y="5602288"/>
            <a:ext cx="414338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文本框 28"/>
          <p:cNvSpPr txBox="1"/>
          <p:nvPr/>
        </p:nvSpPr>
        <p:spPr>
          <a:xfrm>
            <a:off x="4337050" y="5592763"/>
            <a:ext cx="739775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CP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4572000" y="5387975"/>
            <a:ext cx="2801938" cy="73025"/>
            <a:chOff x="603559" y="5369313"/>
            <a:chExt cx="2802253" cy="72008"/>
          </a:xfrm>
        </p:grpSpPr>
        <p:cxnSp>
          <p:nvCxnSpPr>
            <p:cNvPr id="37" name="直接连接符 36"/>
            <p:cNvCxnSpPr>
              <a:endCxn id="36893" idx="1"/>
            </p:cNvCxnSpPr>
            <p:nvPr/>
          </p:nvCxnSpPr>
          <p:spPr bwMode="auto">
            <a:xfrm>
              <a:off x="609910" y="5384967"/>
              <a:ext cx="2795902" cy="203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603559" y="5369313"/>
              <a:ext cx="6985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5729288" y="3913188"/>
            <a:ext cx="2741612" cy="1330325"/>
            <a:chOff x="573861" y="4471874"/>
            <a:chExt cx="2741693" cy="1329801"/>
          </a:xfrm>
        </p:grpSpPr>
        <p:sp>
          <p:nvSpPr>
            <p:cNvPr id="49" name="椭圆 48"/>
            <p:cNvSpPr/>
            <p:nvPr/>
          </p:nvSpPr>
          <p:spPr>
            <a:xfrm>
              <a:off x="573861" y="4471874"/>
              <a:ext cx="69852" cy="7140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6907" name="组合 120"/>
            <p:cNvGrpSpPr/>
            <p:nvPr/>
          </p:nvGrpSpPr>
          <p:grpSpPr>
            <a:xfrm>
              <a:off x="648555" y="4507878"/>
              <a:ext cx="2666999" cy="1293797"/>
              <a:chOff x="5774142" y="3955421"/>
              <a:chExt cx="2666999" cy="1293797"/>
            </a:xfrm>
          </p:grpSpPr>
          <p:cxnSp>
            <p:nvCxnSpPr>
              <p:cNvPr id="43" name="直接连接符 42"/>
              <p:cNvCxnSpPr/>
              <p:nvPr/>
            </p:nvCxnSpPr>
            <p:spPr bwMode="auto">
              <a:xfrm>
                <a:off x="5774062" y="3955915"/>
                <a:ext cx="63660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09" name="Line 72"/>
              <p:cNvSpPr/>
              <p:nvPr/>
            </p:nvSpPr>
            <p:spPr>
              <a:xfrm flipH="1">
                <a:off x="6402792" y="3973774"/>
                <a:ext cx="793" cy="12754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47" name="直接连接符 46"/>
              <p:cNvCxnSpPr/>
              <p:nvPr/>
            </p:nvCxnSpPr>
            <p:spPr bwMode="auto">
              <a:xfrm>
                <a:off x="6391618" y="5249218"/>
                <a:ext cx="2049523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组合 119"/>
          <p:cNvGrpSpPr/>
          <p:nvPr/>
        </p:nvGrpSpPr>
        <p:grpSpPr>
          <a:xfrm>
            <a:off x="6943725" y="3708400"/>
            <a:ext cx="1909763" cy="419100"/>
            <a:chOff x="6943782" y="3709162"/>
            <a:chExt cx="1909083" cy="418435"/>
          </a:xfrm>
        </p:grpSpPr>
        <p:grpSp>
          <p:nvGrpSpPr>
            <p:cNvPr id="36912" name="组合 118"/>
            <p:cNvGrpSpPr/>
            <p:nvPr/>
          </p:nvGrpSpPr>
          <p:grpSpPr>
            <a:xfrm>
              <a:off x="6943782" y="3709162"/>
              <a:ext cx="1541560" cy="404127"/>
              <a:chOff x="6943782" y="3709162"/>
              <a:chExt cx="1541560" cy="404127"/>
            </a:xfrm>
          </p:grpSpPr>
          <p:sp>
            <p:nvSpPr>
              <p:cNvPr id="36913" name="文本框 53"/>
              <p:cNvSpPr txBox="1"/>
              <p:nvPr/>
            </p:nvSpPr>
            <p:spPr>
              <a:xfrm>
                <a:off x="6943782" y="3709555"/>
                <a:ext cx="73610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zh-CN" altLang="en-US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14" name="文本框 54"/>
              <p:cNvSpPr txBox="1"/>
              <p:nvPr/>
            </p:nvSpPr>
            <p:spPr>
              <a:xfrm>
                <a:off x="7349190" y="3713179"/>
                <a:ext cx="73610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zh-CN" altLang="en-US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15" name="文本框 55"/>
              <p:cNvSpPr txBox="1"/>
              <p:nvPr/>
            </p:nvSpPr>
            <p:spPr>
              <a:xfrm>
                <a:off x="7749238" y="3709162"/>
                <a:ext cx="736104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zh-CN" altLang="en-US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916" name="文本框 56"/>
            <p:cNvSpPr txBox="1"/>
            <p:nvPr/>
          </p:nvSpPr>
          <p:spPr>
            <a:xfrm>
              <a:off x="8116761" y="3727487"/>
              <a:ext cx="73610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zh-CN" altLang="en-US" sz="20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684213" y="2705100"/>
            <a:ext cx="4572000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_        _  _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Z=Q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4630738" y="952500"/>
            <a:ext cx="3124200" cy="2825750"/>
            <a:chOff x="4630074" y="952945"/>
            <a:chExt cx="3125267" cy="2825126"/>
          </a:xfrm>
        </p:grpSpPr>
        <p:grpSp>
          <p:nvGrpSpPr>
            <p:cNvPr id="36919" name="组合 94"/>
            <p:cNvGrpSpPr/>
            <p:nvPr/>
          </p:nvGrpSpPr>
          <p:grpSpPr>
            <a:xfrm>
              <a:off x="6105334" y="952945"/>
              <a:ext cx="1206500" cy="1971999"/>
              <a:chOff x="6082187" y="1076230"/>
              <a:chExt cx="1206500" cy="1971999"/>
            </a:xfrm>
          </p:grpSpPr>
          <p:sp>
            <p:nvSpPr>
              <p:cNvPr id="36920" name="Rectangle 64"/>
              <p:cNvSpPr/>
              <p:nvPr/>
            </p:nvSpPr>
            <p:spPr>
              <a:xfrm>
                <a:off x="6082187" y="1914957"/>
                <a:ext cx="1206500" cy="38092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2" name="直接连接符 61"/>
              <p:cNvCxnSpPr/>
              <p:nvPr/>
            </p:nvCxnSpPr>
            <p:spPr bwMode="auto">
              <a:xfrm>
                <a:off x="6156856" y="2299922"/>
                <a:ext cx="0" cy="309494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 bwMode="auto">
              <a:xfrm flipH="1">
                <a:off x="6685674" y="1344459"/>
                <a:ext cx="0" cy="56978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23" name="文本框 46"/>
              <p:cNvSpPr txBox="1"/>
              <p:nvPr/>
            </p:nvSpPr>
            <p:spPr>
              <a:xfrm>
                <a:off x="6761084" y="1076230"/>
                <a:ext cx="394729" cy="5231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Z</a:t>
                </a:r>
                <a:endParaRPr lang="zh-CN" altLang="en-US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2" name="直接连接符 81"/>
              <p:cNvCxnSpPr/>
              <p:nvPr/>
            </p:nvCxnSpPr>
            <p:spPr bwMode="auto">
              <a:xfrm flipH="1">
                <a:off x="6368066" y="2295161"/>
                <a:ext cx="3176" cy="4459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 bwMode="auto">
              <a:xfrm>
                <a:off x="6588804" y="2295161"/>
                <a:ext cx="0" cy="57772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 bwMode="auto">
              <a:xfrm>
                <a:off x="6804778" y="2285638"/>
                <a:ext cx="0" cy="76183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 bwMode="auto">
              <a:xfrm>
                <a:off x="7020752" y="2295161"/>
                <a:ext cx="0" cy="44598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 bwMode="auto">
              <a:xfrm>
                <a:off x="7209728" y="2295161"/>
                <a:ext cx="0" cy="31425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929" name="组合 122"/>
            <p:cNvGrpSpPr/>
            <p:nvPr/>
          </p:nvGrpSpPr>
          <p:grpSpPr>
            <a:xfrm>
              <a:off x="4630074" y="2485680"/>
              <a:ext cx="3125267" cy="1292391"/>
              <a:chOff x="4630074" y="2485680"/>
              <a:chExt cx="3125267" cy="1292391"/>
            </a:xfrm>
          </p:grpSpPr>
          <p:cxnSp>
            <p:nvCxnSpPr>
              <p:cNvPr id="63" name="直接连接符 62"/>
              <p:cNvCxnSpPr/>
              <p:nvPr/>
            </p:nvCxnSpPr>
            <p:spPr bwMode="auto">
              <a:xfrm>
                <a:off x="5773464" y="2925772"/>
                <a:ext cx="0" cy="85229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 bwMode="auto">
              <a:xfrm flipH="1">
                <a:off x="5003263" y="2622626"/>
                <a:ext cx="1589" cy="84595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932" name="组合 32"/>
              <p:cNvGrpSpPr/>
              <p:nvPr/>
            </p:nvGrpSpPr>
            <p:grpSpPr>
              <a:xfrm>
                <a:off x="4858938" y="3461023"/>
                <a:ext cx="318608" cy="307367"/>
                <a:chOff x="3078461" y="4077072"/>
                <a:chExt cx="557436" cy="517894"/>
              </a:xfrm>
            </p:grpSpPr>
            <p:sp>
              <p:nvSpPr>
                <p:cNvPr id="36933" name="Rectangle 64"/>
                <p:cNvSpPr/>
                <p:nvPr/>
              </p:nvSpPr>
              <p:spPr>
                <a:xfrm>
                  <a:off x="3078461" y="4213966"/>
                  <a:ext cx="557436" cy="381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3275404" y="4076428"/>
                  <a:ext cx="144479" cy="14440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935" name="组合 32"/>
              <p:cNvGrpSpPr/>
              <p:nvPr/>
            </p:nvGrpSpPr>
            <p:grpSpPr>
              <a:xfrm>
                <a:off x="5228494" y="3453641"/>
                <a:ext cx="318608" cy="307367"/>
                <a:chOff x="3078461" y="4077072"/>
                <a:chExt cx="557436" cy="517894"/>
              </a:xfrm>
            </p:grpSpPr>
            <p:sp>
              <p:nvSpPr>
                <p:cNvPr id="36936" name="Rectangle 64"/>
                <p:cNvSpPr/>
                <p:nvPr/>
              </p:nvSpPr>
              <p:spPr>
                <a:xfrm>
                  <a:off x="3078461" y="4213966"/>
                  <a:ext cx="557436" cy="381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3276205" y="4078170"/>
                  <a:ext cx="141699" cy="14440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938" name="组合 32"/>
              <p:cNvGrpSpPr/>
              <p:nvPr/>
            </p:nvGrpSpPr>
            <p:grpSpPr>
              <a:xfrm>
                <a:off x="7220474" y="3448392"/>
                <a:ext cx="318608" cy="307367"/>
                <a:chOff x="3078461" y="4077072"/>
                <a:chExt cx="557436" cy="517894"/>
              </a:xfrm>
            </p:grpSpPr>
            <p:sp>
              <p:nvSpPr>
                <p:cNvPr id="36939" name="Rectangle 64"/>
                <p:cNvSpPr/>
                <p:nvPr/>
              </p:nvSpPr>
              <p:spPr>
                <a:xfrm>
                  <a:off x="3078461" y="4213966"/>
                  <a:ext cx="557436" cy="381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en-US" sz="20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3275199" y="4076317"/>
                  <a:ext cx="144479" cy="14440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941" name="Line 72"/>
              <p:cNvSpPr/>
              <p:nvPr/>
            </p:nvSpPr>
            <p:spPr>
              <a:xfrm flipH="1">
                <a:off x="4630074" y="2485680"/>
                <a:ext cx="793" cy="12754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84" name="直接连接符 83"/>
              <p:cNvCxnSpPr/>
              <p:nvPr/>
            </p:nvCxnSpPr>
            <p:spPr bwMode="auto">
              <a:xfrm flipH="1">
                <a:off x="5397098" y="2751185"/>
                <a:ext cx="3176" cy="71263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 bwMode="auto">
              <a:xfrm>
                <a:off x="7374211" y="2617865"/>
                <a:ext cx="4764" cy="83007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 bwMode="auto">
              <a:xfrm>
                <a:off x="7755341" y="2486131"/>
                <a:ext cx="0" cy="129194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 bwMode="auto">
              <a:xfrm>
                <a:off x="4645954" y="2486131"/>
                <a:ext cx="153404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 bwMode="auto">
              <a:xfrm>
                <a:off x="5012792" y="2617865"/>
                <a:ext cx="1378421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 bwMode="auto">
              <a:xfrm>
                <a:off x="5393922" y="2751185"/>
                <a:ext cx="121802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 bwMode="auto">
              <a:xfrm>
                <a:off x="5763936" y="2925772"/>
                <a:ext cx="106398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 bwMode="auto">
              <a:xfrm flipV="1">
                <a:off x="7043898" y="2617865"/>
                <a:ext cx="330313" cy="793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 bwMode="auto">
              <a:xfrm>
                <a:off x="7232875" y="2486131"/>
                <a:ext cx="5224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1074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应用举例：用移位寄存器设计信号发生器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信号发生器的用途：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通讯设备的同步系统中，需要产生一些顺序码，用于设备间的同步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复杂的控制系统，需要有特定的信号序列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设计方法：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能确定与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相连的组合逻辑函数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无堵塞：能自行进入工作循环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834188" y="6229350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2099" name="Rectangle 3"/>
          <p:cNvSpPr>
            <a:spLocks noGrp="1" noChangeArrowheads="1"/>
          </p:cNvSpPr>
          <p:nvPr>
            <p:ph idx="1"/>
          </p:nvPr>
        </p:nvSpPr>
        <p:spPr>
          <a:xfrm>
            <a:off x="681038" y="908050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例：用串入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并出的移位寄存器（右移）设计信号序列发生器，产生如下信号序列：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101000,101000...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72100" name="Text Box 4"/>
          <p:cNvSpPr txBox="1"/>
          <p:nvPr/>
        </p:nvSpPr>
        <p:spPr>
          <a:xfrm>
            <a:off x="223838" y="2432050"/>
            <a:ext cx="67818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1: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由于串入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并出移位寄存器的每个输出信号序列相同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差别只是输出的时间相差一个时钟周期。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72101" name="Group 5"/>
          <p:cNvGrpSpPr/>
          <p:nvPr/>
        </p:nvGrpSpPr>
        <p:grpSpPr>
          <a:xfrm>
            <a:off x="7005638" y="3422650"/>
            <a:ext cx="1828800" cy="1676400"/>
            <a:chOff x="2592" y="2832"/>
            <a:chExt cx="1152" cy="1056"/>
          </a:xfrm>
        </p:grpSpPr>
        <p:sp>
          <p:nvSpPr>
            <p:cNvPr id="38918" name="Rectangle 6"/>
            <p:cNvSpPr/>
            <p:nvPr/>
          </p:nvSpPr>
          <p:spPr>
            <a:xfrm>
              <a:off x="2592" y="3072"/>
              <a:ext cx="1152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19" name="Rectangle 7"/>
            <p:cNvSpPr/>
            <p:nvPr/>
          </p:nvSpPr>
          <p:spPr>
            <a:xfrm>
              <a:off x="268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0" name="Rectangle 8"/>
            <p:cNvSpPr/>
            <p:nvPr/>
          </p:nvSpPr>
          <p:spPr>
            <a:xfrm>
              <a:off x="292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1" name="Rectangle 9"/>
            <p:cNvSpPr/>
            <p:nvPr/>
          </p:nvSpPr>
          <p:spPr>
            <a:xfrm>
              <a:off x="316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2" name="Rectangle 10"/>
            <p:cNvSpPr/>
            <p:nvPr/>
          </p:nvSpPr>
          <p:spPr>
            <a:xfrm>
              <a:off x="3408" y="3024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  <a:r>
                <a:rPr lang="en-US" altLang="zh-CN" sz="2400" baseline="-250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3" name="Rectangle 11"/>
            <p:cNvSpPr/>
            <p:nvPr/>
          </p:nvSpPr>
          <p:spPr>
            <a:xfrm>
              <a:off x="3350" y="3360"/>
              <a:ext cx="2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Rectangle 12"/>
            <p:cNvSpPr/>
            <p:nvPr/>
          </p:nvSpPr>
          <p:spPr>
            <a:xfrm>
              <a:off x="2702" y="336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Line 13"/>
            <p:cNvSpPr/>
            <p:nvPr/>
          </p:nvSpPr>
          <p:spPr>
            <a:xfrm>
              <a:off x="2832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6" name="Line 14"/>
            <p:cNvSpPr/>
            <p:nvPr/>
          </p:nvSpPr>
          <p:spPr>
            <a:xfrm>
              <a:off x="350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7" name="Line 15"/>
            <p:cNvSpPr/>
            <p:nvPr/>
          </p:nvSpPr>
          <p:spPr>
            <a:xfrm>
              <a:off x="283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8" name="Line 16"/>
            <p:cNvSpPr/>
            <p:nvPr/>
          </p:nvSpPr>
          <p:spPr>
            <a:xfrm>
              <a:off x="307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9" name="Line 17"/>
            <p:cNvSpPr/>
            <p:nvPr/>
          </p:nvSpPr>
          <p:spPr>
            <a:xfrm>
              <a:off x="331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0" name="Line 18"/>
            <p:cNvSpPr/>
            <p:nvPr/>
          </p:nvSpPr>
          <p:spPr>
            <a:xfrm>
              <a:off x="3552" y="283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72115" name="Text Box 19"/>
          <p:cNvSpPr txBox="1"/>
          <p:nvPr/>
        </p:nvSpPr>
        <p:spPr>
          <a:xfrm>
            <a:off x="147638" y="3133725"/>
            <a:ext cx="6781800" cy="1187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：根据题意，每个输出产生的信号序列应为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101000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。根据信号序列确定移位寄存器的位数，输出信号可以从任意一个输出得到。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2116" name="Text Box 20"/>
          <p:cNvSpPr txBox="1"/>
          <p:nvPr/>
        </p:nvSpPr>
        <p:spPr>
          <a:xfrm>
            <a:off x="128588" y="4208463"/>
            <a:ext cx="6705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：可以根据每个输出产生的信号序列得到状态表和状态图。并根据状态表得到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的激励。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2117" name="Text Box 21"/>
          <p:cNvSpPr txBox="1"/>
          <p:nvPr/>
        </p:nvSpPr>
        <p:spPr>
          <a:xfrm>
            <a:off x="147638" y="4940300"/>
            <a:ext cx="67818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：由于信号发生器需要自启动，检查所有的状态是否已经被包含，否则要进行自启动设计。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2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2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2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2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2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2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00" grpId="0"/>
      <p:bldP spid="772115" grpId="0"/>
      <p:bldP spid="772116" grpId="0"/>
      <p:bldP spid="7721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942138" y="6308725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3123" name="Rectangle 3"/>
          <p:cNvSpPr>
            <a:spLocks noGrp="1" noChangeArrowheads="1"/>
          </p:cNvSpPr>
          <p:nvPr>
            <p:ph idx="1"/>
          </p:nvPr>
        </p:nvSpPr>
        <p:spPr>
          <a:xfrm>
            <a:off x="630238" y="908050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确定移位寄存器的位数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信号序列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101000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，信号长度为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m=6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移位寄存器的位数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必须满足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≥m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73124" name="Group 4"/>
          <p:cNvGraphicFramePr>
            <a:graphicFrameLocks noGrp="1"/>
          </p:cNvGraphicFramePr>
          <p:nvPr/>
        </p:nvGraphicFramePr>
        <p:xfrm>
          <a:off x="6194425" y="2813050"/>
          <a:ext cx="2327275" cy="2987675"/>
        </p:xfrm>
        <a:graphic>
          <a:graphicData uri="http://schemas.openxmlformats.org/drawingml/2006/table">
            <a:tbl>
              <a:tblPr/>
              <a:tblGrid>
                <a:gridCol w="776287"/>
                <a:gridCol w="774700"/>
                <a:gridCol w="776288"/>
              </a:tblGrid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3158" name="Rectangle 38"/>
          <p:cNvSpPr/>
          <p:nvPr/>
        </p:nvSpPr>
        <p:spPr>
          <a:xfrm>
            <a:off x="5956300" y="3741738"/>
            <a:ext cx="2835275" cy="27305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3159" name="Rectangle 39"/>
          <p:cNvSpPr/>
          <p:nvPr/>
        </p:nvSpPr>
        <p:spPr>
          <a:xfrm>
            <a:off x="5956300" y="4595813"/>
            <a:ext cx="2835275" cy="27305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773160" name="AutoShape 40"/>
          <p:cNvCxnSpPr>
            <a:stCxn id="773158" idx="1"/>
          </p:cNvCxnSpPr>
          <p:nvPr/>
        </p:nvCxnSpPr>
        <p:spPr>
          <a:xfrm rot="10800000" flipH="1" flipV="1">
            <a:off x="5956300" y="3878263"/>
            <a:ext cx="238125" cy="419100"/>
          </a:xfrm>
          <a:prstGeom prst="curvedConnector4">
            <a:avLst>
              <a:gd name="adj1" fmla="val -260667"/>
              <a:gd name="adj2" fmla="val 97347"/>
            </a:avLst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cxnSp>
        <p:nvCxnSpPr>
          <p:cNvPr id="773161" name="AutoShape 41"/>
          <p:cNvCxnSpPr/>
          <p:nvPr/>
        </p:nvCxnSpPr>
        <p:spPr>
          <a:xfrm rot="10800000" flipH="1" flipV="1">
            <a:off x="5956300" y="4719638"/>
            <a:ext cx="238125" cy="419100"/>
          </a:xfrm>
          <a:prstGeom prst="curvedConnector4">
            <a:avLst>
              <a:gd name="adj1" fmla="val -260667"/>
              <a:gd name="adj2" fmla="val 97347"/>
            </a:avLst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773162" name="Rectangle 42"/>
          <p:cNvSpPr>
            <a:spLocks noChangeArrowheads="1"/>
          </p:cNvSpPr>
          <p:nvPr/>
        </p:nvSpPr>
        <p:spPr bwMode="auto">
          <a:xfrm>
            <a:off x="554038" y="2965450"/>
            <a:ext cx="45720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状态中有两个相同状态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，下一个状态分别为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63" name="Rectangle 43"/>
          <p:cNvSpPr>
            <a:spLocks noChangeArrowheads="1"/>
          </p:cNvSpPr>
          <p:nvPr/>
        </p:nvSpPr>
        <p:spPr bwMode="auto">
          <a:xfrm>
            <a:off x="477838" y="5114925"/>
            <a:ext cx="47244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解决方法：增加移位寄存器位数对相同状态进行区分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64" name="Rectangle 44"/>
          <p:cNvSpPr>
            <a:spLocks noChangeArrowheads="1"/>
          </p:cNvSpPr>
          <p:nvPr/>
        </p:nvSpPr>
        <p:spPr bwMode="auto">
          <a:xfrm>
            <a:off x="554038" y="2432050"/>
            <a:ext cx="20462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先取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n=3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65" name="Rectangle 45"/>
          <p:cNvSpPr>
            <a:spLocks noChangeArrowheads="1"/>
          </p:cNvSpPr>
          <p:nvPr/>
        </p:nvSpPr>
        <p:spPr bwMode="auto">
          <a:xfrm>
            <a:off x="1011238" y="3803650"/>
            <a:ext cx="4191000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在设计时会出现问题：当前状态为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时，下一个状态时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呢？还是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3166" name="Text Box 46"/>
          <p:cNvSpPr txBox="1"/>
          <p:nvPr/>
        </p:nvSpPr>
        <p:spPr>
          <a:xfrm>
            <a:off x="6313488" y="2279650"/>
            <a:ext cx="2012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简化的状态图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3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3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3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3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7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73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3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3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3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7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7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58" grpId="0" animBg="1"/>
      <p:bldP spid="773159" grpId="0" animBg="1"/>
      <p:bldP spid="773162" grpId="0"/>
      <p:bldP spid="773163" grpId="0"/>
      <p:bldP spid="773164" grpId="0"/>
      <p:bldP spid="773165" grpId="0"/>
      <p:bldP spid="7731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51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再取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n=4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，按照移位寄存器原理写出状态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75172" name="Group 4"/>
          <p:cNvGraphicFramePr>
            <a:graphicFrameLocks noGrp="1"/>
          </p:cNvGraphicFramePr>
          <p:nvPr/>
        </p:nvGraphicFramePr>
        <p:xfrm>
          <a:off x="1563688" y="2590800"/>
          <a:ext cx="3319463" cy="2987675"/>
        </p:xfrm>
        <a:graphic>
          <a:graphicData uri="http://schemas.openxmlformats.org/drawingml/2006/table">
            <a:tbl>
              <a:tblPr/>
              <a:tblGrid>
                <a:gridCol w="830262"/>
                <a:gridCol w="830263"/>
                <a:gridCol w="830262"/>
                <a:gridCol w="828675"/>
              </a:tblGrid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8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5214" name="Text Box 46"/>
          <p:cNvSpPr txBox="1"/>
          <p:nvPr/>
        </p:nvSpPr>
        <p:spPr>
          <a:xfrm>
            <a:off x="5530850" y="5208588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无相同状态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775215" name="Group 47"/>
          <p:cNvGrpSpPr/>
          <p:nvPr/>
        </p:nvGrpSpPr>
        <p:grpSpPr>
          <a:xfrm>
            <a:off x="1212850" y="3228975"/>
            <a:ext cx="230188" cy="2205038"/>
            <a:chOff x="764" y="2034"/>
            <a:chExt cx="145" cy="1389"/>
          </a:xfrm>
        </p:grpSpPr>
        <p:sp>
          <p:nvSpPr>
            <p:cNvPr id="42032" name="Line 48"/>
            <p:cNvSpPr/>
            <p:nvPr/>
          </p:nvSpPr>
          <p:spPr>
            <a:xfrm>
              <a:off x="764" y="3423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33" name="Line 49"/>
            <p:cNvSpPr/>
            <p:nvPr/>
          </p:nvSpPr>
          <p:spPr>
            <a:xfrm flipV="1">
              <a:off x="764" y="2034"/>
              <a:ext cx="0" cy="13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34" name="Line 50"/>
            <p:cNvSpPr/>
            <p:nvPr/>
          </p:nvSpPr>
          <p:spPr>
            <a:xfrm>
              <a:off x="764" y="2034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75219" name="Group 51"/>
          <p:cNvGrpSpPr/>
          <p:nvPr/>
        </p:nvGrpSpPr>
        <p:grpSpPr>
          <a:xfrm>
            <a:off x="1219200" y="3505200"/>
            <a:ext cx="2835275" cy="1127125"/>
            <a:chOff x="768" y="2208"/>
            <a:chExt cx="1786" cy="710"/>
          </a:xfrm>
        </p:grpSpPr>
        <p:sp>
          <p:nvSpPr>
            <p:cNvPr id="42036" name="Rectangle 52"/>
            <p:cNvSpPr/>
            <p:nvPr/>
          </p:nvSpPr>
          <p:spPr>
            <a:xfrm>
              <a:off x="768" y="2208"/>
              <a:ext cx="1786" cy="172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37" name="Rectangle 53"/>
            <p:cNvSpPr/>
            <p:nvPr/>
          </p:nvSpPr>
          <p:spPr>
            <a:xfrm>
              <a:off x="768" y="2746"/>
              <a:ext cx="1786" cy="172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5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5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5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7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2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838950" y="6230938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7219" name="Rectangle 3"/>
          <p:cNvSpPr>
            <a:spLocks noGrp="1" noChangeArrowheads="1"/>
          </p:cNvSpPr>
          <p:nvPr>
            <p:ph idx="1"/>
          </p:nvPr>
        </p:nvSpPr>
        <p:spPr>
          <a:xfrm>
            <a:off x="757238" y="866775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做卡诺图：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4036" name="Group 4"/>
          <p:cNvGrpSpPr/>
          <p:nvPr/>
        </p:nvGrpSpPr>
        <p:grpSpPr>
          <a:xfrm>
            <a:off x="520700" y="2127250"/>
            <a:ext cx="3670300" cy="2978150"/>
            <a:chOff x="336" y="1680"/>
            <a:chExt cx="2312" cy="1876"/>
          </a:xfrm>
        </p:grpSpPr>
        <p:sp>
          <p:nvSpPr>
            <p:cNvPr id="777221" name="Rectangle 5"/>
            <p:cNvSpPr>
              <a:spLocks noChangeArrowheads="1"/>
            </p:cNvSpPr>
            <p:nvPr/>
          </p:nvSpPr>
          <p:spPr bwMode="auto">
            <a:xfrm>
              <a:off x="557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2" name="Rectangle 6"/>
            <p:cNvSpPr>
              <a:spLocks noChangeArrowheads="1"/>
            </p:cNvSpPr>
            <p:nvPr/>
          </p:nvSpPr>
          <p:spPr bwMode="auto">
            <a:xfrm>
              <a:off x="557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3" name="Rectangle 7"/>
            <p:cNvSpPr>
              <a:spLocks noChangeArrowheads="1"/>
            </p:cNvSpPr>
            <p:nvPr/>
          </p:nvSpPr>
          <p:spPr bwMode="auto">
            <a:xfrm>
              <a:off x="557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4" name="Rectangle 8"/>
            <p:cNvSpPr>
              <a:spLocks noChangeArrowheads="1"/>
            </p:cNvSpPr>
            <p:nvPr/>
          </p:nvSpPr>
          <p:spPr bwMode="auto">
            <a:xfrm>
              <a:off x="557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5" name="Rectangle 9"/>
            <p:cNvSpPr>
              <a:spLocks noChangeArrowheads="1"/>
            </p:cNvSpPr>
            <p:nvPr/>
          </p:nvSpPr>
          <p:spPr bwMode="auto">
            <a:xfrm>
              <a:off x="557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6" name="Rectangle 10"/>
            <p:cNvSpPr>
              <a:spLocks noChangeArrowheads="1"/>
            </p:cNvSpPr>
            <p:nvPr/>
          </p:nvSpPr>
          <p:spPr bwMode="auto">
            <a:xfrm>
              <a:off x="557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7" name="Rectangle 11"/>
            <p:cNvSpPr>
              <a:spLocks noChangeArrowheads="1"/>
            </p:cNvSpPr>
            <p:nvPr/>
          </p:nvSpPr>
          <p:spPr bwMode="auto">
            <a:xfrm>
              <a:off x="557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8" name="Rectangle 12"/>
            <p:cNvSpPr>
              <a:spLocks noChangeArrowheads="1"/>
            </p:cNvSpPr>
            <p:nvPr/>
          </p:nvSpPr>
          <p:spPr bwMode="auto">
            <a:xfrm>
              <a:off x="1080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29" name="Rectangle 13"/>
            <p:cNvSpPr>
              <a:spLocks noChangeArrowheads="1"/>
            </p:cNvSpPr>
            <p:nvPr/>
          </p:nvSpPr>
          <p:spPr bwMode="auto">
            <a:xfrm>
              <a:off x="1080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0" name="Rectangle 14"/>
            <p:cNvSpPr>
              <a:spLocks noChangeArrowheads="1"/>
            </p:cNvSpPr>
            <p:nvPr/>
          </p:nvSpPr>
          <p:spPr bwMode="auto">
            <a:xfrm>
              <a:off x="1080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1" name="Rectangle 15"/>
            <p:cNvSpPr>
              <a:spLocks noChangeArrowheads="1"/>
            </p:cNvSpPr>
            <p:nvPr/>
          </p:nvSpPr>
          <p:spPr bwMode="auto">
            <a:xfrm>
              <a:off x="1080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2" name="Rectangle 16"/>
            <p:cNvSpPr>
              <a:spLocks noChangeArrowheads="1"/>
            </p:cNvSpPr>
            <p:nvPr/>
          </p:nvSpPr>
          <p:spPr bwMode="auto">
            <a:xfrm>
              <a:off x="1080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3" name="Rectangle 17"/>
            <p:cNvSpPr>
              <a:spLocks noChangeArrowheads="1"/>
            </p:cNvSpPr>
            <p:nvPr/>
          </p:nvSpPr>
          <p:spPr bwMode="auto">
            <a:xfrm>
              <a:off x="1080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4" name="Rectangle 18"/>
            <p:cNvSpPr>
              <a:spLocks noChangeArrowheads="1"/>
            </p:cNvSpPr>
            <p:nvPr/>
          </p:nvSpPr>
          <p:spPr bwMode="auto">
            <a:xfrm>
              <a:off x="1080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5" name="Rectangle 19"/>
            <p:cNvSpPr>
              <a:spLocks noChangeArrowheads="1"/>
            </p:cNvSpPr>
            <p:nvPr/>
          </p:nvSpPr>
          <p:spPr bwMode="auto">
            <a:xfrm>
              <a:off x="1603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6" name="Rectangle 20"/>
            <p:cNvSpPr>
              <a:spLocks noChangeArrowheads="1"/>
            </p:cNvSpPr>
            <p:nvPr/>
          </p:nvSpPr>
          <p:spPr bwMode="auto">
            <a:xfrm>
              <a:off x="1603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7" name="Rectangle 21"/>
            <p:cNvSpPr>
              <a:spLocks noChangeArrowheads="1"/>
            </p:cNvSpPr>
            <p:nvPr/>
          </p:nvSpPr>
          <p:spPr bwMode="auto">
            <a:xfrm>
              <a:off x="1603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8" name="Rectangle 22"/>
            <p:cNvSpPr>
              <a:spLocks noChangeArrowheads="1"/>
            </p:cNvSpPr>
            <p:nvPr/>
          </p:nvSpPr>
          <p:spPr bwMode="auto">
            <a:xfrm>
              <a:off x="1603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39" name="Rectangle 23"/>
            <p:cNvSpPr>
              <a:spLocks noChangeArrowheads="1"/>
            </p:cNvSpPr>
            <p:nvPr/>
          </p:nvSpPr>
          <p:spPr bwMode="auto">
            <a:xfrm>
              <a:off x="1603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0" name="Rectangle 24"/>
            <p:cNvSpPr>
              <a:spLocks noChangeArrowheads="1"/>
            </p:cNvSpPr>
            <p:nvPr/>
          </p:nvSpPr>
          <p:spPr bwMode="auto">
            <a:xfrm>
              <a:off x="1603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1" name="Rectangle 25"/>
            <p:cNvSpPr>
              <a:spLocks noChangeArrowheads="1"/>
            </p:cNvSpPr>
            <p:nvPr/>
          </p:nvSpPr>
          <p:spPr bwMode="auto">
            <a:xfrm>
              <a:off x="1603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2" name="Rectangle 26"/>
            <p:cNvSpPr>
              <a:spLocks noChangeArrowheads="1"/>
            </p:cNvSpPr>
            <p:nvPr/>
          </p:nvSpPr>
          <p:spPr bwMode="auto">
            <a:xfrm>
              <a:off x="2126" y="328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3" name="Rectangle 27"/>
            <p:cNvSpPr>
              <a:spLocks noChangeArrowheads="1"/>
            </p:cNvSpPr>
            <p:nvPr/>
          </p:nvSpPr>
          <p:spPr bwMode="auto">
            <a:xfrm>
              <a:off x="2126" y="3020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4" name="Rectangle 28"/>
            <p:cNvSpPr>
              <a:spLocks noChangeArrowheads="1"/>
            </p:cNvSpPr>
            <p:nvPr/>
          </p:nvSpPr>
          <p:spPr bwMode="auto">
            <a:xfrm>
              <a:off x="2126" y="2752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5" name="Rectangle 29"/>
            <p:cNvSpPr>
              <a:spLocks noChangeArrowheads="1"/>
            </p:cNvSpPr>
            <p:nvPr/>
          </p:nvSpPr>
          <p:spPr bwMode="auto">
            <a:xfrm>
              <a:off x="2126" y="2484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6" name="Rectangle 30"/>
            <p:cNvSpPr>
              <a:spLocks noChangeArrowheads="1"/>
            </p:cNvSpPr>
            <p:nvPr/>
          </p:nvSpPr>
          <p:spPr bwMode="auto">
            <a:xfrm>
              <a:off x="2126" y="2216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7" name="Rectangle 31"/>
            <p:cNvSpPr>
              <a:spLocks noChangeArrowheads="1"/>
            </p:cNvSpPr>
            <p:nvPr/>
          </p:nvSpPr>
          <p:spPr bwMode="auto">
            <a:xfrm>
              <a:off x="2126" y="194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48" name="Rectangle 32"/>
            <p:cNvSpPr>
              <a:spLocks noChangeArrowheads="1"/>
            </p:cNvSpPr>
            <p:nvPr/>
          </p:nvSpPr>
          <p:spPr bwMode="auto">
            <a:xfrm>
              <a:off x="2126" y="1680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5" name="Line 33"/>
            <p:cNvSpPr/>
            <p:nvPr/>
          </p:nvSpPr>
          <p:spPr>
            <a:xfrm>
              <a:off x="557" y="1680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6" name="Line 34"/>
            <p:cNvSpPr/>
            <p:nvPr/>
          </p:nvSpPr>
          <p:spPr>
            <a:xfrm>
              <a:off x="557" y="1948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7" name="Line 35"/>
            <p:cNvSpPr/>
            <p:nvPr/>
          </p:nvSpPr>
          <p:spPr>
            <a:xfrm>
              <a:off x="557" y="2216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8" name="Line 36"/>
            <p:cNvSpPr/>
            <p:nvPr/>
          </p:nvSpPr>
          <p:spPr>
            <a:xfrm>
              <a:off x="557" y="2484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9" name="Line 37"/>
            <p:cNvSpPr/>
            <p:nvPr/>
          </p:nvSpPr>
          <p:spPr>
            <a:xfrm>
              <a:off x="557" y="2752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0" name="Line 38"/>
            <p:cNvSpPr/>
            <p:nvPr/>
          </p:nvSpPr>
          <p:spPr>
            <a:xfrm>
              <a:off x="557" y="3020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1" name="Line 39"/>
            <p:cNvSpPr/>
            <p:nvPr/>
          </p:nvSpPr>
          <p:spPr>
            <a:xfrm>
              <a:off x="557" y="3288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2" name="Line 40"/>
            <p:cNvSpPr/>
            <p:nvPr/>
          </p:nvSpPr>
          <p:spPr>
            <a:xfrm>
              <a:off x="557" y="3556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3" name="Line 41"/>
            <p:cNvSpPr/>
            <p:nvPr/>
          </p:nvSpPr>
          <p:spPr>
            <a:xfrm>
              <a:off x="557" y="1680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4" name="Line 42"/>
            <p:cNvSpPr/>
            <p:nvPr/>
          </p:nvSpPr>
          <p:spPr>
            <a:xfrm>
              <a:off x="2648" y="1680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5" name="Line 43"/>
            <p:cNvSpPr/>
            <p:nvPr/>
          </p:nvSpPr>
          <p:spPr>
            <a:xfrm>
              <a:off x="2126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6" name="Line 44"/>
            <p:cNvSpPr/>
            <p:nvPr/>
          </p:nvSpPr>
          <p:spPr>
            <a:xfrm>
              <a:off x="1603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7" name="Line 45"/>
            <p:cNvSpPr/>
            <p:nvPr/>
          </p:nvSpPr>
          <p:spPr>
            <a:xfrm>
              <a:off x="1080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8" name="Line 46"/>
            <p:cNvSpPr/>
            <p:nvPr/>
          </p:nvSpPr>
          <p:spPr>
            <a:xfrm>
              <a:off x="336" y="3471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79" name="Line 47"/>
            <p:cNvSpPr/>
            <p:nvPr/>
          </p:nvSpPr>
          <p:spPr>
            <a:xfrm flipV="1">
              <a:off x="336" y="2082"/>
              <a:ext cx="0" cy="13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80" name="Line 48"/>
            <p:cNvSpPr/>
            <p:nvPr/>
          </p:nvSpPr>
          <p:spPr>
            <a:xfrm>
              <a:off x="336" y="2082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77265" name="Group 49"/>
          <p:cNvGrpSpPr/>
          <p:nvPr/>
        </p:nvGrpSpPr>
        <p:grpSpPr>
          <a:xfrm>
            <a:off x="5008563" y="2303463"/>
            <a:ext cx="3376612" cy="3016250"/>
            <a:chOff x="3163" y="1791"/>
            <a:chExt cx="2127" cy="1900"/>
          </a:xfrm>
        </p:grpSpPr>
        <p:sp>
          <p:nvSpPr>
            <p:cNvPr id="777266" name="Rectangle 50"/>
            <p:cNvSpPr>
              <a:spLocks noChangeArrowheads="1"/>
            </p:cNvSpPr>
            <p:nvPr/>
          </p:nvSpPr>
          <p:spPr bwMode="auto">
            <a:xfrm>
              <a:off x="4900" y="3342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67" name="Rectangle 51"/>
            <p:cNvSpPr>
              <a:spLocks noChangeArrowheads="1"/>
            </p:cNvSpPr>
            <p:nvPr/>
          </p:nvSpPr>
          <p:spPr bwMode="auto">
            <a:xfrm>
              <a:off x="4511" y="3342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68" name="Rectangle 52"/>
            <p:cNvSpPr>
              <a:spLocks noChangeArrowheads="1"/>
            </p:cNvSpPr>
            <p:nvPr/>
          </p:nvSpPr>
          <p:spPr bwMode="auto">
            <a:xfrm>
              <a:off x="4150" y="3339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69" name="Rectangle 53"/>
            <p:cNvSpPr>
              <a:spLocks noChangeArrowheads="1"/>
            </p:cNvSpPr>
            <p:nvPr/>
          </p:nvSpPr>
          <p:spPr bwMode="auto">
            <a:xfrm>
              <a:off x="3731" y="3342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0" name="Rectangle 54"/>
            <p:cNvSpPr>
              <a:spLocks noChangeArrowheads="1"/>
            </p:cNvSpPr>
            <p:nvPr/>
          </p:nvSpPr>
          <p:spPr bwMode="auto">
            <a:xfrm>
              <a:off x="4900" y="2993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1" name="Rectangle 55"/>
            <p:cNvSpPr>
              <a:spLocks noChangeArrowheads="1"/>
            </p:cNvSpPr>
            <p:nvPr/>
          </p:nvSpPr>
          <p:spPr bwMode="auto">
            <a:xfrm>
              <a:off x="4511" y="2993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2" name="Rectangle 56"/>
            <p:cNvSpPr>
              <a:spLocks noChangeArrowheads="1"/>
            </p:cNvSpPr>
            <p:nvPr/>
          </p:nvSpPr>
          <p:spPr bwMode="auto">
            <a:xfrm>
              <a:off x="4121" y="2993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3" name="Rectangle 57"/>
            <p:cNvSpPr>
              <a:spLocks noChangeArrowheads="1"/>
            </p:cNvSpPr>
            <p:nvPr/>
          </p:nvSpPr>
          <p:spPr bwMode="auto">
            <a:xfrm>
              <a:off x="3731" y="2993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4" name="Rectangle 58"/>
            <p:cNvSpPr>
              <a:spLocks noChangeArrowheads="1"/>
            </p:cNvSpPr>
            <p:nvPr/>
          </p:nvSpPr>
          <p:spPr bwMode="auto">
            <a:xfrm>
              <a:off x="4900" y="2643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5" name="Rectangle 59"/>
            <p:cNvSpPr>
              <a:spLocks noChangeArrowheads="1"/>
            </p:cNvSpPr>
            <p:nvPr/>
          </p:nvSpPr>
          <p:spPr bwMode="auto">
            <a:xfrm>
              <a:off x="4511" y="2643"/>
              <a:ext cx="389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6" name="Rectangle 60"/>
            <p:cNvSpPr>
              <a:spLocks noChangeArrowheads="1"/>
            </p:cNvSpPr>
            <p:nvPr/>
          </p:nvSpPr>
          <p:spPr bwMode="auto">
            <a:xfrm>
              <a:off x="4121" y="2643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7" name="Rectangle 61"/>
            <p:cNvSpPr>
              <a:spLocks noChangeArrowheads="1"/>
            </p:cNvSpPr>
            <p:nvPr/>
          </p:nvSpPr>
          <p:spPr bwMode="auto">
            <a:xfrm>
              <a:off x="3731" y="2643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8" name="Rectangle 62"/>
            <p:cNvSpPr>
              <a:spLocks noChangeArrowheads="1"/>
            </p:cNvSpPr>
            <p:nvPr/>
          </p:nvSpPr>
          <p:spPr bwMode="auto">
            <a:xfrm>
              <a:off x="4900" y="2294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79" name="Rectangle 63"/>
            <p:cNvSpPr>
              <a:spLocks noChangeArrowheads="1"/>
            </p:cNvSpPr>
            <p:nvPr/>
          </p:nvSpPr>
          <p:spPr bwMode="auto">
            <a:xfrm>
              <a:off x="4511" y="2294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80" name="Rectangle 64"/>
            <p:cNvSpPr>
              <a:spLocks noChangeArrowheads="1"/>
            </p:cNvSpPr>
            <p:nvPr/>
          </p:nvSpPr>
          <p:spPr bwMode="auto">
            <a:xfrm>
              <a:off x="4121" y="2294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7281" name="Rectangle 65"/>
            <p:cNvSpPr>
              <a:spLocks noChangeArrowheads="1"/>
            </p:cNvSpPr>
            <p:nvPr/>
          </p:nvSpPr>
          <p:spPr bwMode="auto">
            <a:xfrm>
              <a:off x="3731" y="2294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l-G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98" name="Line 66"/>
            <p:cNvSpPr/>
            <p:nvPr/>
          </p:nvSpPr>
          <p:spPr>
            <a:xfrm>
              <a:off x="3731" y="2294"/>
              <a:ext cx="155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99" name="Line 67"/>
            <p:cNvSpPr/>
            <p:nvPr/>
          </p:nvSpPr>
          <p:spPr>
            <a:xfrm>
              <a:off x="3731" y="2643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0" name="Line 68"/>
            <p:cNvSpPr/>
            <p:nvPr/>
          </p:nvSpPr>
          <p:spPr>
            <a:xfrm>
              <a:off x="3731" y="2993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1" name="Line 69"/>
            <p:cNvSpPr/>
            <p:nvPr/>
          </p:nvSpPr>
          <p:spPr>
            <a:xfrm>
              <a:off x="3731" y="3342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2" name="Line 70"/>
            <p:cNvSpPr/>
            <p:nvPr/>
          </p:nvSpPr>
          <p:spPr>
            <a:xfrm>
              <a:off x="3731" y="3691"/>
              <a:ext cx="155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3" name="Line 71"/>
            <p:cNvSpPr/>
            <p:nvPr/>
          </p:nvSpPr>
          <p:spPr>
            <a:xfrm>
              <a:off x="3731" y="2294"/>
              <a:ext cx="0" cy="139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4" name="Line 72"/>
            <p:cNvSpPr/>
            <p:nvPr/>
          </p:nvSpPr>
          <p:spPr>
            <a:xfrm>
              <a:off x="4121" y="2294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5" name="Line 73"/>
            <p:cNvSpPr/>
            <p:nvPr/>
          </p:nvSpPr>
          <p:spPr>
            <a:xfrm>
              <a:off x="4511" y="2294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6" name="Line 74"/>
            <p:cNvSpPr/>
            <p:nvPr/>
          </p:nvSpPr>
          <p:spPr>
            <a:xfrm>
              <a:off x="4900" y="2294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7" name="Line 75"/>
            <p:cNvSpPr/>
            <p:nvPr/>
          </p:nvSpPr>
          <p:spPr>
            <a:xfrm>
              <a:off x="5290" y="2294"/>
              <a:ext cx="0" cy="139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8" name="Line 76"/>
            <p:cNvSpPr/>
            <p:nvPr/>
          </p:nvSpPr>
          <p:spPr>
            <a:xfrm flipH="1" flipV="1">
              <a:off x="3362" y="1877"/>
              <a:ext cx="369" cy="4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9" name="Text Box 77"/>
            <p:cNvSpPr txBox="1"/>
            <p:nvPr/>
          </p:nvSpPr>
          <p:spPr>
            <a:xfrm>
              <a:off x="3419" y="1791"/>
              <a:ext cx="1859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Q0  00   01      11       10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110" name="Text Box 78"/>
            <p:cNvSpPr txBox="1"/>
            <p:nvPr/>
          </p:nvSpPr>
          <p:spPr>
            <a:xfrm>
              <a:off x="3163" y="1905"/>
              <a:ext cx="517" cy="1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Q3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Q2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00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01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11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10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77295" name="Rectangle 79"/>
          <p:cNvSpPr>
            <a:spLocks noChangeAspect="1"/>
          </p:cNvSpPr>
          <p:nvPr/>
        </p:nvSpPr>
        <p:spPr>
          <a:xfrm>
            <a:off x="6083300" y="4337050"/>
            <a:ext cx="914400" cy="79057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7296" name="Rectangle 80"/>
          <p:cNvSpPr>
            <a:spLocks noChangeAspect="1"/>
          </p:cNvSpPr>
          <p:nvPr/>
        </p:nvSpPr>
        <p:spPr>
          <a:xfrm>
            <a:off x="7302500" y="3270250"/>
            <a:ext cx="914400" cy="79057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7298" name="Text Box 82"/>
          <p:cNvSpPr txBox="1">
            <a:spLocks noChangeArrowheads="1"/>
          </p:cNvSpPr>
          <p:nvPr/>
        </p:nvSpPr>
        <p:spPr bwMode="auto">
          <a:xfrm>
            <a:off x="5351463" y="1449388"/>
            <a:ext cx="34559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1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影响的是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6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，因此根据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的次态确定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Di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643438" y="5513388"/>
            <a:ext cx="4311650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7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7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7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7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95" grpId="0" animBg="1"/>
      <p:bldP spid="777296" grpId="0" animBg="1"/>
      <p:bldP spid="777298" grpId="0"/>
      <p:bldP spid="8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792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得到逻辑图：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79287" name="Text Box 23"/>
          <p:cNvSpPr txBox="1"/>
          <p:nvPr/>
        </p:nvSpPr>
        <p:spPr>
          <a:xfrm>
            <a:off x="5245100" y="4014788"/>
            <a:ext cx="3554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有无堵塞？能不能自启动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46085" name="组合 2"/>
          <p:cNvGrpSpPr/>
          <p:nvPr/>
        </p:nvGrpSpPr>
        <p:grpSpPr>
          <a:xfrm>
            <a:off x="1643063" y="2743200"/>
            <a:ext cx="3284537" cy="3081338"/>
            <a:chOff x="1643063" y="2743200"/>
            <a:chExt cx="3284537" cy="3081338"/>
          </a:xfrm>
        </p:grpSpPr>
        <p:grpSp>
          <p:nvGrpSpPr>
            <p:cNvPr id="46086" name="Group 4"/>
            <p:cNvGrpSpPr/>
            <p:nvPr/>
          </p:nvGrpSpPr>
          <p:grpSpPr>
            <a:xfrm>
              <a:off x="1643063" y="2743200"/>
              <a:ext cx="3284537" cy="3081338"/>
              <a:chOff x="1035" y="1728"/>
              <a:chExt cx="2069" cy="1941"/>
            </a:xfrm>
          </p:grpSpPr>
          <p:sp>
            <p:nvSpPr>
              <p:cNvPr id="46087" name="Rectangle 5"/>
              <p:cNvSpPr/>
              <p:nvPr/>
            </p:nvSpPr>
            <p:spPr>
              <a:xfrm>
                <a:off x="1035" y="2266"/>
                <a:ext cx="1516" cy="763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      D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3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      _</a:t>
                </a:r>
                <a:endParaRPr lang="en-US" altLang="zh-CN" sz="23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>
                  <a:buClrTx/>
                  <a:buFontTx/>
                </a:pP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      R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   Q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3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r>
                  <a:rPr lang="en-US" altLang="zh-CN" sz="23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 </a:t>
                </a:r>
                <a:endParaRPr lang="en-US" altLang="zh-CN" sz="23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88" name="Line 6"/>
              <p:cNvSpPr/>
              <p:nvPr/>
            </p:nvSpPr>
            <p:spPr>
              <a:xfrm>
                <a:off x="1800" y="3029"/>
                <a:ext cx="0" cy="6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89" name="Line 7"/>
              <p:cNvSpPr/>
              <p:nvPr/>
            </p:nvSpPr>
            <p:spPr>
              <a:xfrm>
                <a:off x="2027" y="3032"/>
                <a:ext cx="0" cy="6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0" name="Line 8"/>
              <p:cNvSpPr/>
              <p:nvPr/>
            </p:nvSpPr>
            <p:spPr>
              <a:xfrm>
                <a:off x="2226" y="3032"/>
                <a:ext cx="0" cy="6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1" name="Line 9"/>
              <p:cNvSpPr/>
              <p:nvPr/>
            </p:nvSpPr>
            <p:spPr>
              <a:xfrm>
                <a:off x="2453" y="3035"/>
                <a:ext cx="0" cy="6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2" name="Line 10"/>
              <p:cNvSpPr/>
              <p:nvPr/>
            </p:nvSpPr>
            <p:spPr>
              <a:xfrm flipV="1">
                <a:off x="1432" y="1926"/>
                <a:ext cx="0" cy="3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3" name="Line 11"/>
              <p:cNvSpPr/>
              <p:nvPr/>
            </p:nvSpPr>
            <p:spPr>
              <a:xfrm>
                <a:off x="1432" y="1926"/>
                <a:ext cx="17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4" name="Rectangle 13"/>
              <p:cNvSpPr/>
              <p:nvPr/>
            </p:nvSpPr>
            <p:spPr>
              <a:xfrm>
                <a:off x="1603" y="1728"/>
                <a:ext cx="198" cy="36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5" name="Line 15"/>
              <p:cNvSpPr/>
              <p:nvPr/>
            </p:nvSpPr>
            <p:spPr>
              <a:xfrm>
                <a:off x="2453" y="3174"/>
                <a:ext cx="31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6" name="Line 16"/>
              <p:cNvSpPr/>
              <p:nvPr/>
            </p:nvSpPr>
            <p:spPr>
              <a:xfrm>
                <a:off x="1800" y="2011"/>
                <a:ext cx="9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7" name="Line 17"/>
              <p:cNvSpPr/>
              <p:nvPr/>
            </p:nvSpPr>
            <p:spPr>
              <a:xfrm>
                <a:off x="2764" y="2011"/>
                <a:ext cx="0" cy="11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8" name="Line 18"/>
              <p:cNvSpPr/>
              <p:nvPr/>
            </p:nvSpPr>
            <p:spPr>
              <a:xfrm>
                <a:off x="2027" y="3344"/>
                <a:ext cx="107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099" name="Line 19"/>
              <p:cNvSpPr/>
              <p:nvPr/>
            </p:nvSpPr>
            <p:spPr>
              <a:xfrm flipV="1">
                <a:off x="3104" y="1785"/>
                <a:ext cx="0" cy="155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00" name="Line 20"/>
              <p:cNvSpPr/>
              <p:nvPr/>
            </p:nvSpPr>
            <p:spPr>
              <a:xfrm flipH="1">
                <a:off x="1800" y="1813"/>
                <a:ext cx="1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pic>
            <p:nvPicPr>
              <p:cNvPr id="46101" name="Picture 21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424" y="3145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6102" name="Picture 22" descr="dot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999" y="3315"/>
                <a:ext cx="60" cy="6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6103" name="文本框 1"/>
            <p:cNvSpPr txBox="1"/>
            <p:nvPr/>
          </p:nvSpPr>
          <p:spPr>
            <a:xfrm>
              <a:off x="2483619" y="2800396"/>
              <a:ext cx="504056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zh-CN" altLang="en-US" sz="2000" dirty="0">
                  <a:latin typeface="Cambria Math" panose="02040503050406030204" pitchFamily="18" charset="0"/>
                  <a:ea typeface="宋体" panose="02010600030101010101" pitchFamily="2" charset="-122"/>
                </a:rPr>
                <a:t>⊕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7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8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effectLst/>
              </a:rPr>
              <a:t>信号发生器需要自启动，检查所有的状态是否已经被包含，否则要进行自启动设计。</a:t>
            </a:r>
            <a:endParaRPr lang="zh-CN" altLang="en-US" sz="2800" dirty="0">
              <a:effectLst/>
            </a:endParaRPr>
          </a:p>
        </p:txBody>
      </p:sp>
      <p:grpSp>
        <p:nvGrpSpPr>
          <p:cNvPr id="781316" name="Group 4"/>
          <p:cNvGrpSpPr/>
          <p:nvPr/>
        </p:nvGrpSpPr>
        <p:grpSpPr>
          <a:xfrm>
            <a:off x="5410200" y="2971800"/>
            <a:ext cx="2895600" cy="2900363"/>
            <a:chOff x="3408" y="1872"/>
            <a:chExt cx="1824" cy="1827"/>
          </a:xfrm>
        </p:grpSpPr>
        <p:graphicFrame>
          <p:nvGraphicFramePr>
            <p:cNvPr id="48133" name="Object 5"/>
            <p:cNvGraphicFramePr>
              <a:graphicFrameLocks noChangeAspect="1"/>
            </p:cNvGraphicFramePr>
            <p:nvPr/>
          </p:nvGraphicFramePr>
          <p:xfrm>
            <a:off x="3408" y="1872"/>
            <a:ext cx="1808" cy="1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2333625" imgH="1762125" progId="Paint.Picture">
                    <p:embed/>
                  </p:oleObj>
                </mc:Choice>
                <mc:Fallback>
                  <p:oleObj name="" r:id="rId1" imgW="2333625" imgH="1762125" progId="Paint.Picture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08" y="1872"/>
                          <a:ext cx="1808" cy="15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1318" name="Text Box 6"/>
            <p:cNvSpPr txBox="1">
              <a:spLocks noChangeArrowheads="1"/>
            </p:cNvSpPr>
            <p:nvPr/>
          </p:nvSpPr>
          <p:spPr bwMode="auto">
            <a:xfrm>
              <a:off x="3826" y="3430"/>
              <a:ext cx="1406" cy="26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2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2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2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81319" name="Text Box 7"/>
          <p:cNvSpPr txBox="1"/>
          <p:nvPr/>
        </p:nvSpPr>
        <p:spPr>
          <a:xfrm>
            <a:off x="6096000" y="2362200"/>
            <a:ext cx="1728788" cy="457200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工作循环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781320" name="Group 8"/>
          <p:cNvGrpSpPr/>
          <p:nvPr/>
        </p:nvGrpSpPr>
        <p:grpSpPr>
          <a:xfrm>
            <a:off x="533400" y="2667000"/>
            <a:ext cx="3670300" cy="2978150"/>
            <a:chOff x="336" y="1680"/>
            <a:chExt cx="2312" cy="1876"/>
          </a:xfrm>
        </p:grpSpPr>
        <p:sp>
          <p:nvSpPr>
            <p:cNvPr id="781321" name="Rectangle 9"/>
            <p:cNvSpPr>
              <a:spLocks noChangeArrowheads="1"/>
            </p:cNvSpPr>
            <p:nvPr/>
          </p:nvSpPr>
          <p:spPr bwMode="auto">
            <a:xfrm>
              <a:off x="557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2" name="Rectangle 10"/>
            <p:cNvSpPr>
              <a:spLocks noChangeArrowheads="1"/>
            </p:cNvSpPr>
            <p:nvPr/>
          </p:nvSpPr>
          <p:spPr bwMode="auto">
            <a:xfrm>
              <a:off x="557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3" name="Rectangle 11"/>
            <p:cNvSpPr>
              <a:spLocks noChangeArrowheads="1"/>
            </p:cNvSpPr>
            <p:nvPr/>
          </p:nvSpPr>
          <p:spPr bwMode="auto">
            <a:xfrm>
              <a:off x="557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4" name="Rectangle 12"/>
            <p:cNvSpPr>
              <a:spLocks noChangeArrowheads="1"/>
            </p:cNvSpPr>
            <p:nvPr/>
          </p:nvSpPr>
          <p:spPr bwMode="auto">
            <a:xfrm>
              <a:off x="557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5" name="Rectangle 13"/>
            <p:cNvSpPr>
              <a:spLocks noChangeArrowheads="1"/>
            </p:cNvSpPr>
            <p:nvPr/>
          </p:nvSpPr>
          <p:spPr bwMode="auto">
            <a:xfrm>
              <a:off x="557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6" name="Rectangle 14"/>
            <p:cNvSpPr>
              <a:spLocks noChangeArrowheads="1"/>
            </p:cNvSpPr>
            <p:nvPr/>
          </p:nvSpPr>
          <p:spPr bwMode="auto">
            <a:xfrm>
              <a:off x="557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7" name="Rectangle 15"/>
            <p:cNvSpPr>
              <a:spLocks noChangeArrowheads="1"/>
            </p:cNvSpPr>
            <p:nvPr/>
          </p:nvSpPr>
          <p:spPr bwMode="auto">
            <a:xfrm>
              <a:off x="557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8" name="Rectangle 16"/>
            <p:cNvSpPr>
              <a:spLocks noChangeArrowheads="1"/>
            </p:cNvSpPr>
            <p:nvPr/>
          </p:nvSpPr>
          <p:spPr bwMode="auto">
            <a:xfrm>
              <a:off x="1080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29" name="Rectangle 17"/>
            <p:cNvSpPr>
              <a:spLocks noChangeArrowheads="1"/>
            </p:cNvSpPr>
            <p:nvPr/>
          </p:nvSpPr>
          <p:spPr bwMode="auto">
            <a:xfrm>
              <a:off x="1080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0" name="Rectangle 18"/>
            <p:cNvSpPr>
              <a:spLocks noChangeArrowheads="1"/>
            </p:cNvSpPr>
            <p:nvPr/>
          </p:nvSpPr>
          <p:spPr bwMode="auto">
            <a:xfrm>
              <a:off x="1080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1" name="Rectangle 19"/>
            <p:cNvSpPr>
              <a:spLocks noChangeArrowheads="1"/>
            </p:cNvSpPr>
            <p:nvPr/>
          </p:nvSpPr>
          <p:spPr bwMode="auto">
            <a:xfrm>
              <a:off x="1080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2" name="Rectangle 20"/>
            <p:cNvSpPr>
              <a:spLocks noChangeArrowheads="1"/>
            </p:cNvSpPr>
            <p:nvPr/>
          </p:nvSpPr>
          <p:spPr bwMode="auto">
            <a:xfrm>
              <a:off x="1080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3" name="Rectangle 21"/>
            <p:cNvSpPr>
              <a:spLocks noChangeArrowheads="1"/>
            </p:cNvSpPr>
            <p:nvPr/>
          </p:nvSpPr>
          <p:spPr bwMode="auto">
            <a:xfrm>
              <a:off x="1080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4" name="Rectangle 22"/>
            <p:cNvSpPr>
              <a:spLocks noChangeArrowheads="1"/>
            </p:cNvSpPr>
            <p:nvPr/>
          </p:nvSpPr>
          <p:spPr bwMode="auto">
            <a:xfrm>
              <a:off x="1080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5" name="Rectangle 23"/>
            <p:cNvSpPr>
              <a:spLocks noChangeArrowheads="1"/>
            </p:cNvSpPr>
            <p:nvPr/>
          </p:nvSpPr>
          <p:spPr bwMode="auto">
            <a:xfrm>
              <a:off x="1603" y="328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6" name="Rectangle 24"/>
            <p:cNvSpPr>
              <a:spLocks noChangeArrowheads="1"/>
            </p:cNvSpPr>
            <p:nvPr/>
          </p:nvSpPr>
          <p:spPr bwMode="auto">
            <a:xfrm>
              <a:off x="1603" y="302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7" name="Rectangle 25"/>
            <p:cNvSpPr>
              <a:spLocks noChangeArrowheads="1"/>
            </p:cNvSpPr>
            <p:nvPr/>
          </p:nvSpPr>
          <p:spPr bwMode="auto">
            <a:xfrm>
              <a:off x="1603" y="275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8" name="Rectangle 26"/>
            <p:cNvSpPr>
              <a:spLocks noChangeArrowheads="1"/>
            </p:cNvSpPr>
            <p:nvPr/>
          </p:nvSpPr>
          <p:spPr bwMode="auto">
            <a:xfrm>
              <a:off x="1603" y="248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39" name="Rectangle 27"/>
            <p:cNvSpPr>
              <a:spLocks noChangeArrowheads="1"/>
            </p:cNvSpPr>
            <p:nvPr/>
          </p:nvSpPr>
          <p:spPr bwMode="auto">
            <a:xfrm>
              <a:off x="1603" y="22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0" name="Rectangle 28"/>
            <p:cNvSpPr>
              <a:spLocks noChangeArrowheads="1"/>
            </p:cNvSpPr>
            <p:nvPr/>
          </p:nvSpPr>
          <p:spPr bwMode="auto">
            <a:xfrm>
              <a:off x="1603" y="19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1" name="Rectangle 29"/>
            <p:cNvSpPr>
              <a:spLocks noChangeArrowheads="1"/>
            </p:cNvSpPr>
            <p:nvPr/>
          </p:nvSpPr>
          <p:spPr bwMode="auto">
            <a:xfrm>
              <a:off x="1603" y="16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2" name="Rectangle 30"/>
            <p:cNvSpPr>
              <a:spLocks noChangeArrowheads="1"/>
            </p:cNvSpPr>
            <p:nvPr/>
          </p:nvSpPr>
          <p:spPr bwMode="auto">
            <a:xfrm>
              <a:off x="2126" y="328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3" name="Rectangle 31"/>
            <p:cNvSpPr>
              <a:spLocks noChangeArrowheads="1"/>
            </p:cNvSpPr>
            <p:nvPr/>
          </p:nvSpPr>
          <p:spPr bwMode="auto">
            <a:xfrm>
              <a:off x="2126" y="3020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4" name="Rectangle 32"/>
            <p:cNvSpPr>
              <a:spLocks noChangeArrowheads="1"/>
            </p:cNvSpPr>
            <p:nvPr/>
          </p:nvSpPr>
          <p:spPr bwMode="auto">
            <a:xfrm>
              <a:off x="2126" y="2752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5" name="Rectangle 33"/>
            <p:cNvSpPr>
              <a:spLocks noChangeArrowheads="1"/>
            </p:cNvSpPr>
            <p:nvPr/>
          </p:nvSpPr>
          <p:spPr bwMode="auto">
            <a:xfrm>
              <a:off x="2126" y="2484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6" name="Rectangle 34"/>
            <p:cNvSpPr>
              <a:spLocks noChangeArrowheads="1"/>
            </p:cNvSpPr>
            <p:nvPr/>
          </p:nvSpPr>
          <p:spPr bwMode="auto">
            <a:xfrm>
              <a:off x="2126" y="2216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7" name="Rectangle 35"/>
            <p:cNvSpPr>
              <a:spLocks noChangeArrowheads="1"/>
            </p:cNvSpPr>
            <p:nvPr/>
          </p:nvSpPr>
          <p:spPr bwMode="auto">
            <a:xfrm>
              <a:off x="2126" y="194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1348" name="Rectangle 36"/>
            <p:cNvSpPr>
              <a:spLocks noChangeArrowheads="1"/>
            </p:cNvSpPr>
            <p:nvPr/>
          </p:nvSpPr>
          <p:spPr bwMode="auto">
            <a:xfrm>
              <a:off x="2126" y="1680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165" name="Line 37"/>
            <p:cNvSpPr/>
            <p:nvPr/>
          </p:nvSpPr>
          <p:spPr>
            <a:xfrm>
              <a:off x="557" y="1680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6" name="Line 38"/>
            <p:cNvSpPr/>
            <p:nvPr/>
          </p:nvSpPr>
          <p:spPr>
            <a:xfrm>
              <a:off x="557" y="1948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7" name="Line 39"/>
            <p:cNvSpPr/>
            <p:nvPr/>
          </p:nvSpPr>
          <p:spPr>
            <a:xfrm>
              <a:off x="557" y="2216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8" name="Line 40"/>
            <p:cNvSpPr/>
            <p:nvPr/>
          </p:nvSpPr>
          <p:spPr>
            <a:xfrm>
              <a:off x="557" y="2484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9" name="Line 41"/>
            <p:cNvSpPr/>
            <p:nvPr/>
          </p:nvSpPr>
          <p:spPr>
            <a:xfrm>
              <a:off x="557" y="2752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0" name="Line 42"/>
            <p:cNvSpPr/>
            <p:nvPr/>
          </p:nvSpPr>
          <p:spPr>
            <a:xfrm>
              <a:off x="557" y="3020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1" name="Line 43"/>
            <p:cNvSpPr/>
            <p:nvPr/>
          </p:nvSpPr>
          <p:spPr>
            <a:xfrm>
              <a:off x="557" y="3288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2" name="Line 44"/>
            <p:cNvSpPr/>
            <p:nvPr/>
          </p:nvSpPr>
          <p:spPr>
            <a:xfrm>
              <a:off x="557" y="3556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3" name="Line 45"/>
            <p:cNvSpPr/>
            <p:nvPr/>
          </p:nvSpPr>
          <p:spPr>
            <a:xfrm>
              <a:off x="557" y="1680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4" name="Line 46"/>
            <p:cNvSpPr/>
            <p:nvPr/>
          </p:nvSpPr>
          <p:spPr>
            <a:xfrm>
              <a:off x="2648" y="1680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5" name="Line 47"/>
            <p:cNvSpPr/>
            <p:nvPr/>
          </p:nvSpPr>
          <p:spPr>
            <a:xfrm>
              <a:off x="2126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6" name="Line 48"/>
            <p:cNvSpPr/>
            <p:nvPr/>
          </p:nvSpPr>
          <p:spPr>
            <a:xfrm>
              <a:off x="1603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7" name="Line 49"/>
            <p:cNvSpPr/>
            <p:nvPr/>
          </p:nvSpPr>
          <p:spPr>
            <a:xfrm>
              <a:off x="1080" y="1680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8" name="Line 50"/>
            <p:cNvSpPr/>
            <p:nvPr/>
          </p:nvSpPr>
          <p:spPr>
            <a:xfrm>
              <a:off x="336" y="3471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79" name="Line 51"/>
            <p:cNvSpPr/>
            <p:nvPr/>
          </p:nvSpPr>
          <p:spPr>
            <a:xfrm flipV="1">
              <a:off x="336" y="2082"/>
              <a:ext cx="0" cy="13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80" name="Line 52"/>
            <p:cNvSpPr/>
            <p:nvPr/>
          </p:nvSpPr>
          <p:spPr>
            <a:xfrm>
              <a:off x="336" y="2082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704013" y="6288088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82339" name="Object 3"/>
          <p:cNvGraphicFramePr>
            <a:graphicFrameLocks noChangeAspect="1"/>
          </p:cNvGraphicFramePr>
          <p:nvPr/>
        </p:nvGraphicFramePr>
        <p:xfrm>
          <a:off x="1751013" y="4313238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00100" imgH="838200" progId="Paint.Picture">
                  <p:embed/>
                </p:oleObj>
              </mc:Choice>
              <mc:Fallback>
                <p:oleObj name="" r:id="rId1" imgW="800100" imgH="8382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1013" y="4313238"/>
                        <a:ext cx="800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40" name="Object 4"/>
          <p:cNvGraphicFramePr>
            <a:graphicFrameLocks noChangeAspect="1"/>
          </p:cNvGraphicFramePr>
          <p:nvPr/>
        </p:nvGraphicFramePr>
        <p:xfrm>
          <a:off x="3046413" y="3703638"/>
          <a:ext cx="2101850" cy="238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828800" imgH="2076450" progId="Paint.Picture">
                  <p:embed/>
                </p:oleObj>
              </mc:Choice>
              <mc:Fallback>
                <p:oleObj name="" r:id="rId3" imgW="1828800" imgH="207645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6413" y="3703638"/>
                        <a:ext cx="2101850" cy="2386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41" name="Object 5"/>
          <p:cNvGraphicFramePr>
            <a:graphicFrameLocks noChangeAspect="1"/>
          </p:cNvGraphicFramePr>
          <p:nvPr/>
        </p:nvGraphicFramePr>
        <p:xfrm>
          <a:off x="5637213" y="4008438"/>
          <a:ext cx="1619250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438275" imgH="1247775" progId="Paint.Picture">
                  <p:embed/>
                </p:oleObj>
              </mc:Choice>
              <mc:Fallback>
                <p:oleObj name="" r:id="rId5" imgW="1438275" imgH="12477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7213" y="4008438"/>
                        <a:ext cx="1619250" cy="1404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2342" name="Text Box 6"/>
          <p:cNvSpPr txBox="1"/>
          <p:nvPr/>
        </p:nvSpPr>
        <p:spPr>
          <a:xfrm>
            <a:off x="2284413" y="3117850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存在三个非工作循环：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82343" name="Rectangle 7"/>
          <p:cNvSpPr>
            <a:spLocks noGrp="1" noChangeArrowheads="1"/>
          </p:cNvSpPr>
          <p:nvPr>
            <p:ph idx="1"/>
          </p:nvPr>
        </p:nvSpPr>
        <p:spPr>
          <a:xfrm>
            <a:off x="684213" y="908050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检查其他的所有状态的次态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得到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的次态，依次得到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次态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状态表略，同学们自己完成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79613" y="2508250"/>
            <a:ext cx="4311650" cy="477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42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4387" name="Rectangle 3"/>
          <p:cNvSpPr>
            <a:spLocks noGrp="1" noChangeArrowheads="1"/>
          </p:cNvSpPr>
          <p:nvPr>
            <p:ph idx="1"/>
          </p:nvPr>
        </p:nvSpPr>
        <p:spPr>
          <a:xfrm>
            <a:off x="709613" y="1412875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需要改动设计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要求：如果信号发生器启动时进入非工作循环状态，则必须经过若干个时钟周期以后能进入工作循环。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84388" name="Rectangle 4"/>
          <p:cNvSpPr>
            <a:spLocks noChangeArrowheads="1"/>
          </p:cNvSpPr>
          <p:nvPr/>
        </p:nvSpPr>
        <p:spPr bwMode="auto">
          <a:xfrm>
            <a:off x="609600" y="2971800"/>
            <a:ext cx="82296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改动思路：在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端加逻辑电路，使之经过若干个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之后能进入工作循环。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4389" name="Rectangle 5"/>
          <p:cNvSpPr>
            <a:spLocks noChangeArrowheads="1"/>
          </p:cNvSpPr>
          <p:nvPr/>
        </p:nvSpPr>
        <p:spPr bwMode="auto">
          <a:xfrm>
            <a:off x="609600" y="3843338"/>
            <a:ext cx="7924800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修改方法：对于所有的非工作循环，取其中一个或多个非工作循环状态，令其的次态为工作循环。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e.g. 0000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，令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0000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1000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784390" name="Rectangle 6"/>
          <p:cNvSpPr>
            <a:spLocks noChangeArrowheads="1"/>
          </p:cNvSpPr>
          <p:nvPr/>
        </p:nvSpPr>
        <p:spPr bwMode="auto">
          <a:xfrm>
            <a:off x="533400" y="5181600"/>
            <a:ext cx="82343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再根据修改后的状态做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Di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的卡诺图，得到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Di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的表达式。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8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388" grpId="0"/>
      <p:bldP spid="784389" grpId="0"/>
      <p:bldP spid="78439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859588" y="6178550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788483" name="Group 3"/>
          <p:cNvGrpSpPr/>
          <p:nvPr/>
        </p:nvGrpSpPr>
        <p:grpSpPr>
          <a:xfrm>
            <a:off x="865188" y="1793875"/>
            <a:ext cx="3376612" cy="3030538"/>
            <a:chOff x="576" y="1245"/>
            <a:chExt cx="2127" cy="1909"/>
          </a:xfrm>
        </p:grpSpPr>
        <p:sp>
          <p:nvSpPr>
            <p:cNvPr id="788484" name="Rectangle 4"/>
            <p:cNvSpPr>
              <a:spLocks noChangeArrowheads="1"/>
            </p:cNvSpPr>
            <p:nvPr/>
          </p:nvSpPr>
          <p:spPr bwMode="auto">
            <a:xfrm>
              <a:off x="2313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85" name="Rectangle 5"/>
            <p:cNvSpPr>
              <a:spLocks noChangeArrowheads="1"/>
            </p:cNvSpPr>
            <p:nvPr/>
          </p:nvSpPr>
          <p:spPr bwMode="auto">
            <a:xfrm>
              <a:off x="1924" y="2796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86" name="Rectangle 6"/>
            <p:cNvSpPr>
              <a:spLocks noChangeArrowheads="1"/>
            </p:cNvSpPr>
            <p:nvPr/>
          </p:nvSpPr>
          <p:spPr bwMode="auto">
            <a:xfrm>
              <a:off x="1534" y="2805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87" name="Rectangle 7"/>
            <p:cNvSpPr>
              <a:spLocks noChangeArrowheads="1"/>
            </p:cNvSpPr>
            <p:nvPr/>
          </p:nvSpPr>
          <p:spPr bwMode="auto">
            <a:xfrm>
              <a:off x="1144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88" name="Rectangle 8"/>
            <p:cNvSpPr>
              <a:spLocks noChangeArrowheads="1"/>
            </p:cNvSpPr>
            <p:nvPr/>
          </p:nvSpPr>
          <p:spPr bwMode="auto">
            <a:xfrm>
              <a:off x="2313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89" name="Rectangle 9"/>
            <p:cNvSpPr>
              <a:spLocks noChangeArrowheads="1"/>
            </p:cNvSpPr>
            <p:nvPr/>
          </p:nvSpPr>
          <p:spPr bwMode="auto">
            <a:xfrm>
              <a:off x="1924" y="2447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0" name="Rectangle 10"/>
            <p:cNvSpPr>
              <a:spLocks noChangeArrowheads="1"/>
            </p:cNvSpPr>
            <p:nvPr/>
          </p:nvSpPr>
          <p:spPr bwMode="auto">
            <a:xfrm>
              <a:off x="153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1" name="Rectangle 11"/>
            <p:cNvSpPr>
              <a:spLocks noChangeArrowheads="1"/>
            </p:cNvSpPr>
            <p:nvPr/>
          </p:nvSpPr>
          <p:spPr bwMode="auto">
            <a:xfrm>
              <a:off x="114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2" name="Rectangle 12"/>
            <p:cNvSpPr>
              <a:spLocks noChangeArrowheads="1"/>
            </p:cNvSpPr>
            <p:nvPr/>
          </p:nvSpPr>
          <p:spPr bwMode="auto">
            <a:xfrm>
              <a:off x="2313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3" name="Rectangle 13"/>
            <p:cNvSpPr>
              <a:spLocks noChangeArrowheads="1"/>
            </p:cNvSpPr>
            <p:nvPr/>
          </p:nvSpPr>
          <p:spPr bwMode="auto">
            <a:xfrm>
              <a:off x="1924" y="2097"/>
              <a:ext cx="389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4" name="Rectangle 14"/>
            <p:cNvSpPr>
              <a:spLocks noChangeArrowheads="1"/>
            </p:cNvSpPr>
            <p:nvPr/>
          </p:nvSpPr>
          <p:spPr bwMode="auto">
            <a:xfrm>
              <a:off x="153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5" name="Rectangle 15"/>
            <p:cNvSpPr>
              <a:spLocks noChangeArrowheads="1"/>
            </p:cNvSpPr>
            <p:nvPr/>
          </p:nvSpPr>
          <p:spPr bwMode="auto">
            <a:xfrm>
              <a:off x="114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6" name="Rectangle 16"/>
            <p:cNvSpPr>
              <a:spLocks noChangeArrowheads="1"/>
            </p:cNvSpPr>
            <p:nvPr/>
          </p:nvSpPr>
          <p:spPr bwMode="auto">
            <a:xfrm>
              <a:off x="2313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7" name="Rectangle 17"/>
            <p:cNvSpPr>
              <a:spLocks noChangeArrowheads="1"/>
            </p:cNvSpPr>
            <p:nvPr/>
          </p:nvSpPr>
          <p:spPr bwMode="auto">
            <a:xfrm>
              <a:off x="1924" y="1748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l-GR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8" name="Rectangle 18"/>
            <p:cNvSpPr>
              <a:spLocks noChangeArrowheads="1"/>
            </p:cNvSpPr>
            <p:nvPr/>
          </p:nvSpPr>
          <p:spPr bwMode="auto">
            <a:xfrm>
              <a:off x="153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499" name="Rectangle 19"/>
            <p:cNvSpPr>
              <a:spLocks noChangeArrowheads="1"/>
            </p:cNvSpPr>
            <p:nvPr/>
          </p:nvSpPr>
          <p:spPr bwMode="auto">
            <a:xfrm>
              <a:off x="114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l-GR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68" name="Line 20"/>
            <p:cNvSpPr/>
            <p:nvPr/>
          </p:nvSpPr>
          <p:spPr>
            <a:xfrm>
              <a:off x="1144" y="1748"/>
              <a:ext cx="155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69" name="Line 21"/>
            <p:cNvSpPr/>
            <p:nvPr/>
          </p:nvSpPr>
          <p:spPr>
            <a:xfrm>
              <a:off x="1144" y="2097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0" name="Line 22"/>
            <p:cNvSpPr/>
            <p:nvPr/>
          </p:nvSpPr>
          <p:spPr>
            <a:xfrm>
              <a:off x="1144" y="2447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1" name="Line 23"/>
            <p:cNvSpPr/>
            <p:nvPr/>
          </p:nvSpPr>
          <p:spPr>
            <a:xfrm>
              <a:off x="1144" y="2796"/>
              <a:ext cx="15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2" name="Line 24"/>
            <p:cNvSpPr/>
            <p:nvPr/>
          </p:nvSpPr>
          <p:spPr>
            <a:xfrm>
              <a:off x="1144" y="3145"/>
              <a:ext cx="155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3" name="Line 25"/>
            <p:cNvSpPr/>
            <p:nvPr/>
          </p:nvSpPr>
          <p:spPr>
            <a:xfrm>
              <a:off x="1144" y="1748"/>
              <a:ext cx="0" cy="139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4" name="Line 26"/>
            <p:cNvSpPr/>
            <p:nvPr/>
          </p:nvSpPr>
          <p:spPr>
            <a:xfrm>
              <a:off x="1534" y="1748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5" name="Line 27"/>
            <p:cNvSpPr/>
            <p:nvPr/>
          </p:nvSpPr>
          <p:spPr>
            <a:xfrm>
              <a:off x="1924" y="1748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6" name="Line 28"/>
            <p:cNvSpPr/>
            <p:nvPr/>
          </p:nvSpPr>
          <p:spPr>
            <a:xfrm>
              <a:off x="2313" y="1748"/>
              <a:ext cx="0" cy="1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7" name="Line 29"/>
            <p:cNvSpPr/>
            <p:nvPr/>
          </p:nvSpPr>
          <p:spPr>
            <a:xfrm>
              <a:off x="2703" y="1748"/>
              <a:ext cx="0" cy="139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8" name="Line 30"/>
            <p:cNvSpPr/>
            <p:nvPr/>
          </p:nvSpPr>
          <p:spPr>
            <a:xfrm flipH="1" flipV="1">
              <a:off x="775" y="1331"/>
              <a:ext cx="369" cy="4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9" name="Text Box 31"/>
            <p:cNvSpPr txBox="1"/>
            <p:nvPr/>
          </p:nvSpPr>
          <p:spPr>
            <a:xfrm>
              <a:off x="832" y="1245"/>
              <a:ext cx="1859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Q0  00   01      11       10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0" name="Text Box 32"/>
            <p:cNvSpPr txBox="1"/>
            <p:nvPr/>
          </p:nvSpPr>
          <p:spPr>
            <a:xfrm>
              <a:off x="576" y="1359"/>
              <a:ext cx="517" cy="17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Q3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Q2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00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01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11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>
                <a:buClrTx/>
                <a:buFontTx/>
              </a:pPr>
              <a:r>
                <a: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rPr>
                <a:t>      10</a:t>
              </a:r>
              <a:endPara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88513" name="Rectangle 33"/>
          <p:cNvSpPr>
            <a:spLocks noChangeAspect="1"/>
          </p:cNvSpPr>
          <p:nvPr/>
        </p:nvSpPr>
        <p:spPr>
          <a:xfrm>
            <a:off x="3151188" y="2784475"/>
            <a:ext cx="914400" cy="79057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88515" name="Group 35"/>
          <p:cNvGrpSpPr/>
          <p:nvPr/>
        </p:nvGrpSpPr>
        <p:grpSpPr>
          <a:xfrm>
            <a:off x="1855788" y="2479675"/>
            <a:ext cx="442912" cy="2306638"/>
            <a:chOff x="1152" y="1872"/>
            <a:chExt cx="279" cy="1453"/>
          </a:xfrm>
        </p:grpSpPr>
        <p:sp>
          <p:nvSpPr>
            <p:cNvPr id="53283" name="Rectangle 36"/>
            <p:cNvSpPr/>
            <p:nvPr/>
          </p:nvSpPr>
          <p:spPr>
            <a:xfrm>
              <a:off x="1152" y="2976"/>
              <a:ext cx="231" cy="349"/>
            </a:xfrm>
            <a:prstGeom prst="rect">
              <a:avLst/>
            </a:prstGeom>
            <a:solidFill>
              <a:schemeClr val="accent1">
                <a:alpha val="30196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84" name="Rectangle 37"/>
            <p:cNvSpPr/>
            <p:nvPr/>
          </p:nvSpPr>
          <p:spPr>
            <a:xfrm>
              <a:off x="1200" y="1872"/>
              <a:ext cx="231" cy="349"/>
            </a:xfrm>
            <a:prstGeom prst="rect">
              <a:avLst/>
            </a:prstGeom>
            <a:solidFill>
              <a:schemeClr val="accent1">
                <a:alpha val="30196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285" name="Text Box 38"/>
          <p:cNvSpPr txBox="1"/>
          <p:nvPr/>
        </p:nvSpPr>
        <p:spPr>
          <a:xfrm>
            <a:off x="865188" y="1031875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0000</a:t>
            </a: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状态后进入工作循环</a:t>
            </a: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0001</a:t>
            </a: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，（其他的状态进入工作循环的功能表和卡诺图由同学们自己完成）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788519" name="Group 39"/>
          <p:cNvGrpSpPr/>
          <p:nvPr/>
        </p:nvGrpSpPr>
        <p:grpSpPr>
          <a:xfrm>
            <a:off x="4667250" y="2219325"/>
            <a:ext cx="3702050" cy="2978150"/>
            <a:chOff x="2923" y="1708"/>
            <a:chExt cx="2332" cy="1876"/>
          </a:xfrm>
        </p:grpSpPr>
        <p:sp>
          <p:nvSpPr>
            <p:cNvPr id="788520" name="Rectangle 40"/>
            <p:cNvSpPr>
              <a:spLocks noChangeArrowheads="1"/>
            </p:cNvSpPr>
            <p:nvPr/>
          </p:nvSpPr>
          <p:spPr bwMode="auto">
            <a:xfrm>
              <a:off x="3144" y="33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1" name="Rectangle 41"/>
            <p:cNvSpPr>
              <a:spLocks noChangeArrowheads="1"/>
            </p:cNvSpPr>
            <p:nvPr/>
          </p:nvSpPr>
          <p:spPr bwMode="auto">
            <a:xfrm>
              <a:off x="3144" y="30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2" name="Rectangle 42"/>
            <p:cNvSpPr>
              <a:spLocks noChangeArrowheads="1"/>
            </p:cNvSpPr>
            <p:nvPr/>
          </p:nvSpPr>
          <p:spPr bwMode="auto">
            <a:xfrm>
              <a:off x="3144" y="27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3" name="Rectangle 43"/>
            <p:cNvSpPr>
              <a:spLocks noChangeArrowheads="1"/>
            </p:cNvSpPr>
            <p:nvPr/>
          </p:nvSpPr>
          <p:spPr bwMode="auto">
            <a:xfrm>
              <a:off x="3144" y="251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4" name="Rectangle 44"/>
            <p:cNvSpPr>
              <a:spLocks noChangeArrowheads="1"/>
            </p:cNvSpPr>
            <p:nvPr/>
          </p:nvSpPr>
          <p:spPr bwMode="auto">
            <a:xfrm>
              <a:off x="3144" y="224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5" name="Rectangle 45"/>
            <p:cNvSpPr>
              <a:spLocks noChangeArrowheads="1"/>
            </p:cNvSpPr>
            <p:nvPr/>
          </p:nvSpPr>
          <p:spPr bwMode="auto">
            <a:xfrm>
              <a:off x="3144" y="197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6" name="Rectangle 46"/>
            <p:cNvSpPr>
              <a:spLocks noChangeArrowheads="1"/>
            </p:cNvSpPr>
            <p:nvPr/>
          </p:nvSpPr>
          <p:spPr bwMode="auto">
            <a:xfrm>
              <a:off x="3144" y="170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7" name="Rectangle 47"/>
            <p:cNvSpPr>
              <a:spLocks noChangeArrowheads="1"/>
            </p:cNvSpPr>
            <p:nvPr/>
          </p:nvSpPr>
          <p:spPr bwMode="auto">
            <a:xfrm>
              <a:off x="3667" y="33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8" name="Rectangle 48"/>
            <p:cNvSpPr>
              <a:spLocks noChangeArrowheads="1"/>
            </p:cNvSpPr>
            <p:nvPr/>
          </p:nvSpPr>
          <p:spPr bwMode="auto">
            <a:xfrm>
              <a:off x="3667" y="30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29" name="Rectangle 49"/>
            <p:cNvSpPr>
              <a:spLocks noChangeArrowheads="1"/>
            </p:cNvSpPr>
            <p:nvPr/>
          </p:nvSpPr>
          <p:spPr bwMode="auto">
            <a:xfrm>
              <a:off x="3667" y="27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0" name="Rectangle 50"/>
            <p:cNvSpPr>
              <a:spLocks noChangeArrowheads="1"/>
            </p:cNvSpPr>
            <p:nvPr/>
          </p:nvSpPr>
          <p:spPr bwMode="auto">
            <a:xfrm>
              <a:off x="3667" y="251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1" name="Rectangle 51"/>
            <p:cNvSpPr>
              <a:spLocks noChangeArrowheads="1"/>
            </p:cNvSpPr>
            <p:nvPr/>
          </p:nvSpPr>
          <p:spPr bwMode="auto">
            <a:xfrm>
              <a:off x="3667" y="224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2" name="Rectangle 52"/>
            <p:cNvSpPr>
              <a:spLocks noChangeArrowheads="1"/>
            </p:cNvSpPr>
            <p:nvPr/>
          </p:nvSpPr>
          <p:spPr bwMode="auto">
            <a:xfrm>
              <a:off x="3667" y="197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3" name="Rectangle 53"/>
            <p:cNvSpPr>
              <a:spLocks noChangeArrowheads="1"/>
            </p:cNvSpPr>
            <p:nvPr/>
          </p:nvSpPr>
          <p:spPr bwMode="auto">
            <a:xfrm>
              <a:off x="3667" y="170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4" name="Rectangle 54"/>
            <p:cNvSpPr>
              <a:spLocks noChangeArrowheads="1"/>
            </p:cNvSpPr>
            <p:nvPr/>
          </p:nvSpPr>
          <p:spPr bwMode="auto">
            <a:xfrm>
              <a:off x="4190" y="331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5" name="Rectangle 55"/>
            <p:cNvSpPr>
              <a:spLocks noChangeArrowheads="1"/>
            </p:cNvSpPr>
            <p:nvPr/>
          </p:nvSpPr>
          <p:spPr bwMode="auto">
            <a:xfrm>
              <a:off x="4190" y="304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6" name="Rectangle 56"/>
            <p:cNvSpPr>
              <a:spLocks noChangeArrowheads="1"/>
            </p:cNvSpPr>
            <p:nvPr/>
          </p:nvSpPr>
          <p:spPr bwMode="auto">
            <a:xfrm>
              <a:off x="4190" y="2780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7" name="Rectangle 57"/>
            <p:cNvSpPr>
              <a:spLocks noChangeArrowheads="1"/>
            </p:cNvSpPr>
            <p:nvPr/>
          </p:nvSpPr>
          <p:spPr bwMode="auto">
            <a:xfrm>
              <a:off x="4190" y="2512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8" name="Rectangle 58"/>
            <p:cNvSpPr>
              <a:spLocks noChangeArrowheads="1"/>
            </p:cNvSpPr>
            <p:nvPr/>
          </p:nvSpPr>
          <p:spPr bwMode="auto">
            <a:xfrm>
              <a:off x="4190" y="2244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39" name="Rectangle 59"/>
            <p:cNvSpPr>
              <a:spLocks noChangeArrowheads="1"/>
            </p:cNvSpPr>
            <p:nvPr/>
          </p:nvSpPr>
          <p:spPr bwMode="auto">
            <a:xfrm>
              <a:off x="4190" y="1976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0" name="Rectangle 60"/>
            <p:cNvSpPr>
              <a:spLocks noChangeArrowheads="1"/>
            </p:cNvSpPr>
            <p:nvPr/>
          </p:nvSpPr>
          <p:spPr bwMode="auto">
            <a:xfrm>
              <a:off x="4190" y="1708"/>
              <a:ext cx="523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1" name="Rectangle 61"/>
            <p:cNvSpPr>
              <a:spLocks noChangeArrowheads="1"/>
            </p:cNvSpPr>
            <p:nvPr/>
          </p:nvSpPr>
          <p:spPr bwMode="auto">
            <a:xfrm>
              <a:off x="4713" y="3316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2" name="Rectangle 62"/>
            <p:cNvSpPr>
              <a:spLocks noChangeArrowheads="1"/>
            </p:cNvSpPr>
            <p:nvPr/>
          </p:nvSpPr>
          <p:spPr bwMode="auto">
            <a:xfrm>
              <a:off x="4713" y="304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3" name="Rectangle 63"/>
            <p:cNvSpPr>
              <a:spLocks noChangeArrowheads="1"/>
            </p:cNvSpPr>
            <p:nvPr/>
          </p:nvSpPr>
          <p:spPr bwMode="auto">
            <a:xfrm>
              <a:off x="4713" y="2780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4" name="Rectangle 64"/>
            <p:cNvSpPr>
              <a:spLocks noChangeArrowheads="1"/>
            </p:cNvSpPr>
            <p:nvPr/>
          </p:nvSpPr>
          <p:spPr bwMode="auto">
            <a:xfrm>
              <a:off x="4713" y="2512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5" name="Rectangle 65"/>
            <p:cNvSpPr>
              <a:spLocks noChangeArrowheads="1"/>
            </p:cNvSpPr>
            <p:nvPr/>
          </p:nvSpPr>
          <p:spPr bwMode="auto">
            <a:xfrm>
              <a:off x="4713" y="2244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6" name="Rectangle 66"/>
            <p:cNvSpPr>
              <a:spLocks noChangeArrowheads="1"/>
            </p:cNvSpPr>
            <p:nvPr/>
          </p:nvSpPr>
          <p:spPr bwMode="auto">
            <a:xfrm>
              <a:off x="4713" y="1976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8547" name="Rectangle 67"/>
            <p:cNvSpPr>
              <a:spLocks noChangeArrowheads="1"/>
            </p:cNvSpPr>
            <p:nvPr/>
          </p:nvSpPr>
          <p:spPr bwMode="auto">
            <a:xfrm>
              <a:off x="4713" y="1708"/>
              <a:ext cx="522" cy="2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2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15" name="Line 68"/>
            <p:cNvSpPr/>
            <p:nvPr/>
          </p:nvSpPr>
          <p:spPr>
            <a:xfrm>
              <a:off x="3144" y="1708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16" name="Line 69"/>
            <p:cNvSpPr/>
            <p:nvPr/>
          </p:nvSpPr>
          <p:spPr>
            <a:xfrm>
              <a:off x="3144" y="1976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17" name="Line 70"/>
            <p:cNvSpPr/>
            <p:nvPr/>
          </p:nvSpPr>
          <p:spPr>
            <a:xfrm>
              <a:off x="3144" y="2244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18" name="Line 71"/>
            <p:cNvSpPr/>
            <p:nvPr/>
          </p:nvSpPr>
          <p:spPr>
            <a:xfrm>
              <a:off x="3144" y="2512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19" name="Line 72"/>
            <p:cNvSpPr/>
            <p:nvPr/>
          </p:nvSpPr>
          <p:spPr>
            <a:xfrm>
              <a:off x="3144" y="2780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0" name="Line 73"/>
            <p:cNvSpPr/>
            <p:nvPr/>
          </p:nvSpPr>
          <p:spPr>
            <a:xfrm>
              <a:off x="3144" y="3048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1" name="Line 74"/>
            <p:cNvSpPr/>
            <p:nvPr/>
          </p:nvSpPr>
          <p:spPr>
            <a:xfrm>
              <a:off x="3144" y="3316"/>
              <a:ext cx="20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2" name="Line 75"/>
            <p:cNvSpPr/>
            <p:nvPr/>
          </p:nvSpPr>
          <p:spPr>
            <a:xfrm>
              <a:off x="3144" y="3584"/>
              <a:ext cx="209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3" name="Line 76"/>
            <p:cNvSpPr/>
            <p:nvPr/>
          </p:nvSpPr>
          <p:spPr>
            <a:xfrm>
              <a:off x="3144" y="1708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4" name="Line 77"/>
            <p:cNvSpPr/>
            <p:nvPr/>
          </p:nvSpPr>
          <p:spPr>
            <a:xfrm>
              <a:off x="5235" y="1708"/>
              <a:ext cx="0" cy="187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5" name="Line 78"/>
            <p:cNvSpPr/>
            <p:nvPr/>
          </p:nvSpPr>
          <p:spPr>
            <a:xfrm>
              <a:off x="4713" y="1708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6" name="Line 79"/>
            <p:cNvSpPr/>
            <p:nvPr/>
          </p:nvSpPr>
          <p:spPr>
            <a:xfrm>
              <a:off x="4190" y="1708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7" name="Line 80"/>
            <p:cNvSpPr/>
            <p:nvPr/>
          </p:nvSpPr>
          <p:spPr>
            <a:xfrm>
              <a:off x="3667" y="1708"/>
              <a:ext cx="0" cy="18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8" name="Line 81"/>
            <p:cNvSpPr/>
            <p:nvPr/>
          </p:nvSpPr>
          <p:spPr>
            <a:xfrm>
              <a:off x="2923" y="3499"/>
              <a:ext cx="22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9" name="Line 82"/>
            <p:cNvSpPr/>
            <p:nvPr/>
          </p:nvSpPr>
          <p:spPr>
            <a:xfrm flipV="1">
              <a:off x="2923" y="2110"/>
              <a:ext cx="0" cy="13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30" name="Line 83"/>
            <p:cNvSpPr/>
            <p:nvPr/>
          </p:nvSpPr>
          <p:spPr>
            <a:xfrm>
              <a:off x="2923" y="2110"/>
              <a:ext cx="1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3331" name="Object 84"/>
            <p:cNvGraphicFramePr>
              <a:graphicFrameLocks noChangeAspect="1"/>
            </p:cNvGraphicFramePr>
            <p:nvPr/>
          </p:nvGraphicFramePr>
          <p:xfrm>
            <a:off x="5183" y="1923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14300" imgH="215900" progId="Equation.3">
                    <p:embed/>
                  </p:oleObj>
                </mc:Choice>
                <mc:Fallback>
                  <p:oleObj name="" r:id="rId1" imgW="114300" imgH="2159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183" y="1923"/>
                          <a:ext cx="72" cy="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8565" name="Group 85"/>
          <p:cNvGrpSpPr/>
          <p:nvPr/>
        </p:nvGrpSpPr>
        <p:grpSpPr>
          <a:xfrm>
            <a:off x="4897438" y="2857500"/>
            <a:ext cx="3471862" cy="2797175"/>
            <a:chOff x="3068" y="2110"/>
            <a:chExt cx="2187" cy="1762"/>
          </a:xfrm>
        </p:grpSpPr>
        <p:sp>
          <p:nvSpPr>
            <p:cNvPr id="53333" name="Text Box 86"/>
            <p:cNvSpPr txBox="1"/>
            <p:nvPr/>
          </p:nvSpPr>
          <p:spPr>
            <a:xfrm>
              <a:off x="3122" y="3584"/>
              <a:ext cx="21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   0         0         0         0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34" name="Line 87"/>
            <p:cNvSpPr/>
            <p:nvPr/>
          </p:nvSpPr>
          <p:spPr>
            <a:xfrm flipH="1">
              <a:off x="3068" y="3749"/>
              <a:ext cx="1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35" name="Line 88"/>
            <p:cNvSpPr/>
            <p:nvPr/>
          </p:nvSpPr>
          <p:spPr>
            <a:xfrm flipV="1">
              <a:off x="3068" y="2244"/>
              <a:ext cx="0" cy="15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36" name="Line 89"/>
            <p:cNvSpPr/>
            <p:nvPr/>
          </p:nvSpPr>
          <p:spPr>
            <a:xfrm flipV="1">
              <a:off x="3068" y="2110"/>
              <a:ext cx="76" cy="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91" name="文本框 90"/>
          <p:cNvSpPr txBox="1"/>
          <p:nvPr/>
        </p:nvSpPr>
        <p:spPr>
          <a:xfrm>
            <a:off x="1271588" y="5243513"/>
            <a:ext cx="3840162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 — —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" dur="500"/>
                                        <p:tgtEl>
                                          <p:spTgt spid="78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88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8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3" grpId="0" animBg="1"/>
      <p:bldP spid="9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540500" y="5551488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104775"/>
            <a:ext cx="8382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6435" name="Rectangle 3"/>
          <p:cNvSpPr>
            <a:spLocks noGrp="1" noChangeArrowheads="1"/>
          </p:cNvSpPr>
          <p:nvPr>
            <p:ph idx="1"/>
          </p:nvPr>
        </p:nvSpPr>
        <p:spPr>
          <a:xfrm>
            <a:off x="520700" y="750888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修改前的工作循环：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86436" name="Object 4"/>
          <p:cNvGraphicFramePr>
            <a:graphicFrameLocks noChangeAspect="1"/>
          </p:cNvGraphicFramePr>
          <p:nvPr/>
        </p:nvGraphicFramePr>
        <p:xfrm>
          <a:off x="1968500" y="3843338"/>
          <a:ext cx="6999288" cy="230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5448300" imgH="1790700" progId="Paint.Picture">
                  <p:embed/>
                </p:oleObj>
              </mc:Choice>
              <mc:Fallback>
                <p:oleObj name="" r:id="rId1" imgW="5448300" imgH="1790700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8500" y="3843338"/>
                        <a:ext cx="6999288" cy="2300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6437" name="Object 5"/>
          <p:cNvGraphicFramePr>
            <a:graphicFrameLocks noChangeAspect="1"/>
          </p:cNvGraphicFramePr>
          <p:nvPr/>
        </p:nvGraphicFramePr>
        <p:xfrm>
          <a:off x="444500" y="1360488"/>
          <a:ext cx="2870200" cy="242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2333625" imgH="1762125" progId="Paint.Picture">
                  <p:embed/>
                </p:oleObj>
              </mc:Choice>
              <mc:Fallback>
                <p:oleObj name="" r:id="rId3" imgW="2333625" imgH="176212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0" y="1360488"/>
                        <a:ext cx="2870200" cy="2427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6438" name="Group 6"/>
          <p:cNvGrpSpPr/>
          <p:nvPr/>
        </p:nvGrpSpPr>
        <p:grpSpPr>
          <a:xfrm>
            <a:off x="4608513" y="1189038"/>
            <a:ext cx="3778250" cy="2395537"/>
            <a:chOff x="3168" y="1248"/>
            <a:chExt cx="2380" cy="1509"/>
          </a:xfrm>
        </p:grpSpPr>
        <p:graphicFrame>
          <p:nvGraphicFramePr>
            <p:cNvPr id="55303" name="Object 7"/>
            <p:cNvGraphicFramePr>
              <a:graphicFrameLocks noChangeAspect="1"/>
            </p:cNvGraphicFramePr>
            <p:nvPr/>
          </p:nvGraphicFramePr>
          <p:xfrm>
            <a:off x="3600" y="1248"/>
            <a:ext cx="5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5" imgW="800100" imgH="838200" progId="Paint.Picture">
                    <p:embed/>
                  </p:oleObj>
                </mc:Choice>
                <mc:Fallback>
                  <p:oleObj name="" r:id="rId5" imgW="800100" imgH="838200" progId="Paint.Picture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00" y="1248"/>
                          <a:ext cx="50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4" name="Object 8"/>
            <p:cNvGraphicFramePr>
              <a:graphicFrameLocks noChangeAspect="1"/>
            </p:cNvGraphicFramePr>
            <p:nvPr/>
          </p:nvGraphicFramePr>
          <p:xfrm>
            <a:off x="4224" y="1248"/>
            <a:ext cx="1324" cy="1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7" imgW="1828800" imgH="2076450" progId="Paint.Picture">
                    <p:embed/>
                  </p:oleObj>
                </mc:Choice>
                <mc:Fallback>
                  <p:oleObj name="" r:id="rId7" imgW="1828800" imgH="2076450" progId="Paint.Picture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24" y="1248"/>
                          <a:ext cx="1324" cy="15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5" name="Object 9"/>
            <p:cNvGraphicFramePr>
              <a:graphicFrameLocks noChangeAspect="1"/>
            </p:cNvGraphicFramePr>
            <p:nvPr/>
          </p:nvGraphicFramePr>
          <p:xfrm>
            <a:off x="3168" y="1872"/>
            <a:ext cx="1020" cy="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9" imgW="1438275" imgH="1247775" progId="Paint.Picture">
                    <p:embed/>
                  </p:oleObj>
                </mc:Choice>
                <mc:Fallback>
                  <p:oleObj name="" r:id="rId9" imgW="1438275" imgH="1247775" progId="Paint.Picture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68" y="1872"/>
                          <a:ext cx="1020" cy="8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6442" name="Rectangle 10"/>
          <p:cNvSpPr>
            <a:spLocks noChangeArrowheads="1"/>
          </p:cNvSpPr>
          <p:nvPr/>
        </p:nvSpPr>
        <p:spPr bwMode="auto">
          <a:xfrm>
            <a:off x="292100" y="4103688"/>
            <a:ext cx="1447800" cy="1554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修改后的工作循环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8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0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移位寄存器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(Shift Register)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0532" name="Rectangle 4"/>
          <p:cNvSpPr>
            <a:spLocks noChangeArrowheads="1"/>
          </p:cNvSpPr>
          <p:nvPr/>
        </p:nvSpPr>
        <p:spPr bwMode="auto">
          <a:xfrm>
            <a:off x="609600" y="1441450"/>
            <a:ext cx="81534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画出逻辑图，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逻辑图略）设计完成。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35275" y="2708275"/>
            <a:ext cx="3840163" cy="477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0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 — — 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Q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155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第四章 同步时序电路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791555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Synchronous  Sequential Logic Circuit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1556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§1. 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  <a:endParaRPr kumimoji="0" lang="zh-CN" altLang="en-US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§2. 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同步时序电路的分析与设计方法</a:t>
            </a:r>
            <a:endParaRPr kumimoji="0" lang="zh-CN" altLang="en-US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§3. 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计数器</a:t>
            </a:r>
            <a:endParaRPr kumimoji="0" lang="zh-CN" altLang="en-US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§4. 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可编程逻辑电路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可编程逻辑电路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574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81200"/>
            <a:ext cx="8424863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硬件可重构”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思想的体现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用软件的方法设计硬件：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硬件描述语言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(HDL)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硬件设计的进步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方便、灵活、可修改设计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用户可编程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设计方便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易于实现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主要内容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可编程逻辑器件及应用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中小规模可编程逻辑器件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可编程逻辑器件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PLD (Programmable Logic Device)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是一大类器件的总称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包括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 (Read-Only Memory)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只读存储器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 (Programmable Logic Array)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可编程逻辑阵列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 (Programmable Array Logic)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可编程阵列逻辑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 (General Array Logic)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通用阵列逻辑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后面介绍大规模可编程逻辑电路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 可编程逻辑电路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6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中小规模可编程逻辑器件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只读存储器（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可编程逻辑阵列（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可编程阵列逻辑（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通用整列逻辑（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大规模可编程逻辑电路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6212" name="Rectangle 4"/>
          <p:cNvSpPr/>
          <p:nvPr/>
        </p:nvSpPr>
        <p:spPr>
          <a:xfrm>
            <a:off x="457200" y="19050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§1. ROM</a:t>
            </a:r>
            <a:endParaRPr kumimoji="0" lang="en-US" altLang="zh-CN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765300" y="2600325"/>
            <a:ext cx="2519363" cy="1836738"/>
            <a:chOff x="1112" y="1638"/>
            <a:chExt cx="1587" cy="1157"/>
          </a:xfrm>
        </p:grpSpPr>
        <p:sp>
          <p:nvSpPr>
            <p:cNvPr id="63492" name="Rectangle 4"/>
            <p:cNvSpPr/>
            <p:nvPr/>
          </p:nvSpPr>
          <p:spPr>
            <a:xfrm>
              <a:off x="1520" y="1706"/>
              <a:ext cx="680" cy="1089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dirty="0">
                  <a:solidFill>
                    <a:srgbClr val="FFFF99"/>
                  </a:solidFill>
                  <a:latin typeface="Georgia" panose="02040502050405020303" pitchFamily="18" charset="0"/>
                  <a:ea typeface="宋体" panose="02010600030101010101" pitchFamily="2" charset="-122"/>
                </a:rPr>
                <a:t>Address</a:t>
              </a:r>
              <a:endParaRPr lang="en-US" altLang="zh-CN" sz="2400" dirty="0">
                <a:solidFill>
                  <a:srgbClr val="FFFF99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solidFill>
                    <a:srgbClr val="FFFF99"/>
                  </a:solidFill>
                  <a:latin typeface="Georgia" panose="02040502050405020303" pitchFamily="18" charset="0"/>
                  <a:ea typeface="宋体" panose="02010600030101010101" pitchFamily="2" charset="-122"/>
                </a:rPr>
                <a:t>Decoder</a:t>
              </a:r>
              <a:endParaRPr lang="en-US" altLang="zh-CN" sz="2400" dirty="0">
                <a:solidFill>
                  <a:srgbClr val="FFFF99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3" name="Line 5"/>
            <p:cNvSpPr/>
            <p:nvPr/>
          </p:nvSpPr>
          <p:spPr>
            <a:xfrm>
              <a:off x="2200" y="1888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4" name="Line 6"/>
            <p:cNvSpPr/>
            <p:nvPr/>
          </p:nvSpPr>
          <p:spPr>
            <a:xfrm>
              <a:off x="2200" y="2160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5" name="Line 7"/>
            <p:cNvSpPr/>
            <p:nvPr/>
          </p:nvSpPr>
          <p:spPr>
            <a:xfrm>
              <a:off x="2200" y="2432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6" name="Line 8"/>
            <p:cNvSpPr/>
            <p:nvPr/>
          </p:nvSpPr>
          <p:spPr>
            <a:xfrm>
              <a:off x="2200" y="2704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7" name="Line 9"/>
            <p:cNvSpPr/>
            <p:nvPr/>
          </p:nvSpPr>
          <p:spPr>
            <a:xfrm>
              <a:off x="1112" y="2069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8" name="Line 10"/>
            <p:cNvSpPr/>
            <p:nvPr/>
          </p:nvSpPr>
          <p:spPr>
            <a:xfrm>
              <a:off x="1112" y="2568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3499" name="Group 11"/>
            <p:cNvGrpSpPr/>
            <p:nvPr/>
          </p:nvGrpSpPr>
          <p:grpSpPr>
            <a:xfrm>
              <a:off x="1118" y="1638"/>
              <a:ext cx="1490" cy="1044"/>
              <a:chOff x="437" y="1638"/>
              <a:chExt cx="1490" cy="1044"/>
            </a:xfrm>
          </p:grpSpPr>
          <p:sp>
            <p:nvSpPr>
              <p:cNvPr id="63500" name="Text Box 12"/>
              <p:cNvSpPr txBox="1"/>
              <p:nvPr/>
            </p:nvSpPr>
            <p:spPr>
              <a:xfrm>
                <a:off x="1591" y="1638"/>
                <a:ext cx="3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1" name="Text Box 13"/>
              <p:cNvSpPr txBox="1"/>
              <p:nvPr/>
            </p:nvSpPr>
            <p:spPr>
              <a:xfrm>
                <a:off x="1601" y="1910"/>
                <a:ext cx="3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2" name="Text Box 14"/>
              <p:cNvSpPr txBox="1"/>
              <p:nvPr/>
            </p:nvSpPr>
            <p:spPr>
              <a:xfrm>
                <a:off x="1594" y="2182"/>
                <a:ext cx="33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3" name="Text Box 15"/>
              <p:cNvSpPr txBox="1"/>
              <p:nvPr/>
            </p:nvSpPr>
            <p:spPr>
              <a:xfrm>
                <a:off x="1595" y="2432"/>
                <a:ext cx="32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4" name="Text Box 16"/>
              <p:cNvSpPr txBox="1"/>
              <p:nvPr/>
            </p:nvSpPr>
            <p:spPr>
              <a:xfrm>
                <a:off x="437" y="1797"/>
                <a:ext cx="28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5" name="Text Box 17"/>
              <p:cNvSpPr txBox="1"/>
              <p:nvPr/>
            </p:nvSpPr>
            <p:spPr>
              <a:xfrm>
                <a:off x="441" y="2296"/>
                <a:ext cx="26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Group 18"/>
          <p:cNvGrpSpPr/>
          <p:nvPr/>
        </p:nvGrpSpPr>
        <p:grpSpPr>
          <a:xfrm>
            <a:off x="4064000" y="2708275"/>
            <a:ext cx="1733550" cy="2379663"/>
            <a:chOff x="2560" y="1706"/>
            <a:chExt cx="1092" cy="1499"/>
          </a:xfrm>
        </p:grpSpPr>
        <p:sp>
          <p:nvSpPr>
            <p:cNvPr id="63507" name="Rectangle 19"/>
            <p:cNvSpPr/>
            <p:nvPr/>
          </p:nvSpPr>
          <p:spPr>
            <a:xfrm>
              <a:off x="2699" y="1706"/>
              <a:ext cx="953" cy="1089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sz="2400" b="1" dirty="0">
                  <a:solidFill>
                    <a:srgbClr val="FFFF99"/>
                  </a:solidFill>
                  <a:latin typeface="Georgia" panose="02040502050405020303" pitchFamily="18" charset="0"/>
                  <a:ea typeface="宋体" panose="02010600030101010101" pitchFamily="2" charset="-122"/>
                </a:rPr>
                <a:t>存储体</a:t>
              </a:r>
              <a:endParaRPr lang="zh-CN" altLang="en-US" sz="2400" b="1" dirty="0">
                <a:solidFill>
                  <a:srgbClr val="FFFF99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8" name="Line 20"/>
            <p:cNvSpPr/>
            <p:nvPr/>
          </p:nvSpPr>
          <p:spPr>
            <a:xfrm>
              <a:off x="2790" y="2795"/>
              <a:ext cx="0" cy="4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9" name="Line 21"/>
            <p:cNvSpPr/>
            <p:nvPr/>
          </p:nvSpPr>
          <p:spPr>
            <a:xfrm>
              <a:off x="3017" y="2795"/>
              <a:ext cx="0" cy="4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0" name="Line 22"/>
            <p:cNvSpPr/>
            <p:nvPr/>
          </p:nvSpPr>
          <p:spPr>
            <a:xfrm>
              <a:off x="3289" y="2795"/>
              <a:ext cx="0" cy="4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1" name="Line 23"/>
            <p:cNvSpPr/>
            <p:nvPr/>
          </p:nvSpPr>
          <p:spPr>
            <a:xfrm>
              <a:off x="3516" y="2795"/>
              <a:ext cx="0" cy="4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3512" name="Group 24"/>
            <p:cNvGrpSpPr/>
            <p:nvPr/>
          </p:nvGrpSpPr>
          <p:grpSpPr>
            <a:xfrm>
              <a:off x="2560" y="2838"/>
              <a:ext cx="1005" cy="252"/>
              <a:chOff x="1879" y="2838"/>
              <a:chExt cx="1005" cy="252"/>
            </a:xfrm>
          </p:grpSpPr>
          <p:sp>
            <p:nvSpPr>
              <p:cNvPr id="63513" name="Text Box 25"/>
              <p:cNvSpPr txBox="1"/>
              <p:nvPr/>
            </p:nvSpPr>
            <p:spPr>
              <a:xfrm>
                <a:off x="1879" y="2838"/>
                <a:ext cx="27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B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4" name="Text Box 26"/>
              <p:cNvSpPr txBox="1"/>
              <p:nvPr/>
            </p:nvSpPr>
            <p:spPr>
              <a:xfrm>
                <a:off x="2100" y="2840"/>
                <a:ext cx="27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B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5" name="Text Box 27"/>
              <p:cNvSpPr txBox="1"/>
              <p:nvPr/>
            </p:nvSpPr>
            <p:spPr>
              <a:xfrm>
                <a:off x="2380" y="2840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B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16" name="Text Box 28"/>
              <p:cNvSpPr txBox="1"/>
              <p:nvPr/>
            </p:nvSpPr>
            <p:spPr>
              <a:xfrm>
                <a:off x="2599" y="2840"/>
                <a:ext cx="2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B</a:t>
                </a:r>
                <a:r>
                  <a:rPr lang="en-US" altLang="zh-CN" sz="20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" name="Group 29"/>
          <p:cNvGrpSpPr/>
          <p:nvPr/>
        </p:nvGrpSpPr>
        <p:grpSpPr>
          <a:xfrm>
            <a:off x="4068763" y="5084763"/>
            <a:ext cx="1871662" cy="1538287"/>
            <a:chOff x="2563" y="3203"/>
            <a:chExt cx="1179" cy="969"/>
          </a:xfrm>
        </p:grpSpPr>
        <p:sp>
          <p:nvSpPr>
            <p:cNvPr id="63518" name="Rectangle 30"/>
            <p:cNvSpPr/>
            <p:nvPr/>
          </p:nvSpPr>
          <p:spPr>
            <a:xfrm>
              <a:off x="2563" y="3203"/>
              <a:ext cx="1179" cy="499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sz="2400" b="1" dirty="0">
                  <a:solidFill>
                    <a:srgbClr val="FFFF99"/>
                  </a:solidFill>
                  <a:latin typeface="Georgia" panose="02040502050405020303" pitchFamily="18" charset="0"/>
                  <a:ea typeface="宋体" panose="02010600030101010101" pitchFamily="2" charset="-122"/>
                </a:rPr>
                <a:t>读出放大器</a:t>
              </a:r>
              <a:endParaRPr lang="zh-CN" altLang="en-US" sz="2400" b="1" dirty="0">
                <a:solidFill>
                  <a:srgbClr val="FFFF99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19" name="Line 31"/>
            <p:cNvSpPr/>
            <p:nvPr/>
          </p:nvSpPr>
          <p:spPr>
            <a:xfrm>
              <a:off x="2698" y="37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20" name="Line 32"/>
            <p:cNvSpPr/>
            <p:nvPr/>
          </p:nvSpPr>
          <p:spPr>
            <a:xfrm>
              <a:off x="2971" y="37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21" name="Line 33"/>
            <p:cNvSpPr/>
            <p:nvPr/>
          </p:nvSpPr>
          <p:spPr>
            <a:xfrm>
              <a:off x="3243" y="37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22" name="Line 34"/>
            <p:cNvSpPr/>
            <p:nvPr/>
          </p:nvSpPr>
          <p:spPr>
            <a:xfrm>
              <a:off x="3516" y="3702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23" name="Text Box 35"/>
            <p:cNvSpPr txBox="1"/>
            <p:nvPr/>
          </p:nvSpPr>
          <p:spPr>
            <a:xfrm>
              <a:off x="2575" y="3884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4" name="Text Box 36"/>
            <p:cNvSpPr txBox="1"/>
            <p:nvPr/>
          </p:nvSpPr>
          <p:spPr>
            <a:xfrm>
              <a:off x="2847" y="3884"/>
              <a:ext cx="3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5" name="Text Box 37"/>
            <p:cNvSpPr txBox="1"/>
            <p:nvPr/>
          </p:nvSpPr>
          <p:spPr>
            <a:xfrm>
              <a:off x="3126" y="3884"/>
              <a:ext cx="2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26" name="Text Box 38"/>
            <p:cNvSpPr txBox="1"/>
            <p:nvPr/>
          </p:nvSpPr>
          <p:spPr>
            <a:xfrm>
              <a:off x="3391" y="3884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9"/>
          <p:cNvGrpSpPr/>
          <p:nvPr/>
        </p:nvGrpSpPr>
        <p:grpSpPr>
          <a:xfrm>
            <a:off x="4068763" y="1989138"/>
            <a:ext cx="4071937" cy="647700"/>
            <a:chOff x="2563" y="1253"/>
            <a:chExt cx="2565" cy="408"/>
          </a:xfrm>
        </p:grpSpPr>
        <p:grpSp>
          <p:nvGrpSpPr>
            <p:cNvPr id="63528" name="Group 40"/>
            <p:cNvGrpSpPr/>
            <p:nvPr/>
          </p:nvGrpSpPr>
          <p:grpSpPr>
            <a:xfrm>
              <a:off x="2563" y="1434"/>
              <a:ext cx="1996" cy="227"/>
              <a:chOff x="1882" y="1434"/>
              <a:chExt cx="1996" cy="227"/>
            </a:xfrm>
          </p:grpSpPr>
          <p:sp>
            <p:nvSpPr>
              <p:cNvPr id="63529" name="Line 41"/>
              <p:cNvSpPr/>
              <p:nvPr/>
            </p:nvSpPr>
            <p:spPr>
              <a:xfrm flipV="1">
                <a:off x="1882" y="1434"/>
                <a:ext cx="363" cy="227"/>
              </a:xfrm>
              <a:prstGeom prst="line">
                <a:avLst/>
              </a:prstGeom>
              <a:ln w="28575" cap="flat" cmpd="sng">
                <a:solidFill>
                  <a:srgbClr val="FFFF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30" name="Line 42"/>
              <p:cNvSpPr/>
              <p:nvPr/>
            </p:nvSpPr>
            <p:spPr>
              <a:xfrm>
                <a:off x="2245" y="1434"/>
                <a:ext cx="1633" cy="0"/>
              </a:xfrm>
              <a:prstGeom prst="line">
                <a:avLst/>
              </a:prstGeom>
              <a:ln w="28575" cap="flat" cmpd="sng">
                <a:solidFill>
                  <a:srgbClr val="FFFF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3531" name="Text Box 43"/>
            <p:cNvSpPr txBox="1"/>
            <p:nvPr/>
          </p:nvSpPr>
          <p:spPr>
            <a:xfrm>
              <a:off x="4626" y="1253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字线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44"/>
          <p:cNvGrpSpPr/>
          <p:nvPr/>
        </p:nvGrpSpPr>
        <p:grpSpPr>
          <a:xfrm>
            <a:off x="5797550" y="3068638"/>
            <a:ext cx="2381250" cy="1800225"/>
            <a:chOff x="3652" y="1933"/>
            <a:chExt cx="1500" cy="1134"/>
          </a:xfrm>
        </p:grpSpPr>
        <p:grpSp>
          <p:nvGrpSpPr>
            <p:cNvPr id="63533" name="Group 45"/>
            <p:cNvGrpSpPr/>
            <p:nvPr/>
          </p:nvGrpSpPr>
          <p:grpSpPr>
            <a:xfrm>
              <a:off x="3652" y="2115"/>
              <a:ext cx="907" cy="952"/>
              <a:chOff x="2971" y="2115"/>
              <a:chExt cx="907" cy="952"/>
            </a:xfrm>
          </p:grpSpPr>
          <p:sp>
            <p:nvSpPr>
              <p:cNvPr id="63534" name="Line 46"/>
              <p:cNvSpPr/>
              <p:nvPr/>
            </p:nvSpPr>
            <p:spPr>
              <a:xfrm flipV="1">
                <a:off x="2971" y="2115"/>
                <a:ext cx="499" cy="952"/>
              </a:xfrm>
              <a:prstGeom prst="line">
                <a:avLst/>
              </a:prstGeom>
              <a:ln w="28575" cap="flat" cmpd="sng">
                <a:solidFill>
                  <a:srgbClr val="FFFF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535" name="Line 47"/>
              <p:cNvSpPr/>
              <p:nvPr/>
            </p:nvSpPr>
            <p:spPr>
              <a:xfrm>
                <a:off x="3470" y="2115"/>
                <a:ext cx="408" cy="0"/>
              </a:xfrm>
              <a:prstGeom prst="line">
                <a:avLst/>
              </a:prstGeom>
              <a:ln w="28575" cap="flat" cmpd="sng">
                <a:solidFill>
                  <a:srgbClr val="FFFF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3536" name="Text Box 48"/>
            <p:cNvSpPr txBox="1"/>
            <p:nvPr/>
          </p:nvSpPr>
          <p:spPr>
            <a:xfrm>
              <a:off x="4650" y="1933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zh-CN" altLang="en-US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位线</a:t>
              </a:r>
              <a:endPara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9921" name="Text Box 49"/>
          <p:cNvSpPr txBox="1"/>
          <p:nvPr/>
        </p:nvSpPr>
        <p:spPr>
          <a:xfrm>
            <a:off x="6732588" y="4672013"/>
            <a:ext cx="14493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字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×4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9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2162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码制变换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8421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典型的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Gray Code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title"/>
          </p:nvPr>
        </p:nvSpPr>
        <p:spPr>
          <a:xfrm>
            <a:off x="142875" y="282575"/>
            <a:ext cx="4465638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§1. ROM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的应用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516188" y="3213100"/>
            <a:ext cx="2089150" cy="2305050"/>
            <a:chOff x="1701" y="2205"/>
            <a:chExt cx="1316" cy="1452"/>
          </a:xfrm>
        </p:grpSpPr>
        <p:sp>
          <p:nvSpPr>
            <p:cNvPr id="65541" name="Rectangle 5"/>
            <p:cNvSpPr/>
            <p:nvPr/>
          </p:nvSpPr>
          <p:spPr>
            <a:xfrm>
              <a:off x="2109" y="2205"/>
              <a:ext cx="908" cy="118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16 x 4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ROM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42" name="Line 6"/>
            <p:cNvSpPr/>
            <p:nvPr/>
          </p:nvSpPr>
          <p:spPr>
            <a:xfrm>
              <a:off x="1701" y="2523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3" name="Line 7"/>
            <p:cNvSpPr/>
            <p:nvPr/>
          </p:nvSpPr>
          <p:spPr>
            <a:xfrm>
              <a:off x="1701" y="2704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4" name="Line 8"/>
            <p:cNvSpPr/>
            <p:nvPr/>
          </p:nvSpPr>
          <p:spPr>
            <a:xfrm>
              <a:off x="1701" y="2886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5" name="Line 9"/>
            <p:cNvSpPr/>
            <p:nvPr/>
          </p:nvSpPr>
          <p:spPr>
            <a:xfrm>
              <a:off x="1701" y="3067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6" name="Line 10"/>
            <p:cNvSpPr/>
            <p:nvPr/>
          </p:nvSpPr>
          <p:spPr>
            <a:xfrm>
              <a:off x="2200" y="3385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7" name="Line 11"/>
            <p:cNvSpPr/>
            <p:nvPr/>
          </p:nvSpPr>
          <p:spPr>
            <a:xfrm>
              <a:off x="2426" y="3385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8" name="Line 12"/>
            <p:cNvSpPr/>
            <p:nvPr/>
          </p:nvSpPr>
          <p:spPr>
            <a:xfrm>
              <a:off x="2653" y="3385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9" name="Line 13"/>
            <p:cNvSpPr/>
            <p:nvPr/>
          </p:nvSpPr>
          <p:spPr>
            <a:xfrm>
              <a:off x="2880" y="3385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32174" name="Text Box 14"/>
          <p:cNvSpPr txBox="1"/>
          <p:nvPr/>
        </p:nvSpPr>
        <p:spPr>
          <a:xfrm>
            <a:off x="715963" y="3692525"/>
            <a:ext cx="159385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8421 Code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32175" name="Text Box 15"/>
          <p:cNvSpPr txBox="1"/>
          <p:nvPr/>
        </p:nvSpPr>
        <p:spPr>
          <a:xfrm>
            <a:off x="2443163" y="5611813"/>
            <a:ext cx="2200275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典型</a:t>
            </a: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Gray Code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08625" y="481013"/>
          <a:ext cx="2746375" cy="621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188"/>
                <a:gridCol w="1373188"/>
              </a:tblGrid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8421</a:t>
                      </a: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码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格雷码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  <a:tr h="3657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74" grpId="0"/>
      <p:bldP spid="73217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905000" y="762000"/>
            <a:ext cx="5715000" cy="2362200"/>
            <a:chOff x="1200" y="480"/>
            <a:chExt cx="3600" cy="1488"/>
          </a:xfrm>
        </p:grpSpPr>
        <p:sp>
          <p:nvSpPr>
            <p:cNvPr id="66563" name="Line 3"/>
            <p:cNvSpPr/>
            <p:nvPr/>
          </p:nvSpPr>
          <p:spPr>
            <a:xfrm>
              <a:off x="1200" y="480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4" name="Line 4"/>
            <p:cNvSpPr/>
            <p:nvPr/>
          </p:nvSpPr>
          <p:spPr>
            <a:xfrm>
              <a:off x="1200" y="672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5" name="Line 5"/>
            <p:cNvSpPr/>
            <p:nvPr/>
          </p:nvSpPr>
          <p:spPr>
            <a:xfrm>
              <a:off x="1200" y="912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6" name="Line 6"/>
            <p:cNvSpPr/>
            <p:nvPr/>
          </p:nvSpPr>
          <p:spPr>
            <a:xfrm>
              <a:off x="1200" y="1104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7" name="Line 7"/>
            <p:cNvSpPr/>
            <p:nvPr/>
          </p:nvSpPr>
          <p:spPr>
            <a:xfrm>
              <a:off x="1200" y="1344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8" name="Line 8"/>
            <p:cNvSpPr/>
            <p:nvPr/>
          </p:nvSpPr>
          <p:spPr>
            <a:xfrm>
              <a:off x="1200" y="1536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69" name="Line 9"/>
            <p:cNvSpPr/>
            <p:nvPr/>
          </p:nvSpPr>
          <p:spPr>
            <a:xfrm>
              <a:off x="1200" y="1776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0" name="Line 10"/>
            <p:cNvSpPr/>
            <p:nvPr/>
          </p:nvSpPr>
          <p:spPr>
            <a:xfrm>
              <a:off x="1200" y="1968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33195" name="Text Box 11"/>
          <p:cNvSpPr txBox="1"/>
          <p:nvPr/>
        </p:nvSpPr>
        <p:spPr>
          <a:xfrm>
            <a:off x="1219200" y="228600"/>
            <a:ext cx="6400800" cy="33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0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2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3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4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5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6 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7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8 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9 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10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11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12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13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14 </a:t>
            </a:r>
            <a:r>
              <a:rPr lang="en-US" altLang="zh-CN" sz="1600" b="1" dirty="0">
                <a:latin typeface="Georgia" panose="02040502050405020303" pitchFamily="18" charset="0"/>
                <a:ea typeface="宋体" panose="02010600030101010101" pitchFamily="2" charset="-122"/>
              </a:rPr>
              <a:t>W</a:t>
            </a:r>
            <a:r>
              <a:rPr lang="en-US" altLang="zh-CN" sz="1600" b="1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15</a:t>
            </a:r>
            <a:endParaRPr lang="en-US" altLang="zh-CN" sz="16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152400" y="457200"/>
            <a:ext cx="1752600" cy="762000"/>
            <a:chOff x="2400" y="432"/>
            <a:chExt cx="1104" cy="480"/>
          </a:xfrm>
        </p:grpSpPr>
        <p:sp>
          <p:nvSpPr>
            <p:cNvPr id="66573" name="Line 13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4" name="Line 14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5" name="Line 15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6" name="Oval 16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7" name="Line 17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8" name="Line 18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9" name="Line 19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0" name="Line 20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1" name="Rectangle 21"/>
            <p:cNvSpPr/>
            <p:nvPr/>
          </p:nvSpPr>
          <p:spPr>
            <a:xfrm>
              <a:off x="2400" y="432"/>
              <a:ext cx="3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152400" y="1143000"/>
            <a:ext cx="1752600" cy="762000"/>
            <a:chOff x="2400" y="432"/>
            <a:chExt cx="1104" cy="480"/>
          </a:xfrm>
        </p:grpSpPr>
        <p:sp>
          <p:nvSpPr>
            <p:cNvPr id="66583" name="Line 23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4" name="Line 24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5" name="Line 25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6" name="Oval 26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87" name="Line 27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8" name="Line 28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89" name="Line 29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0" name="Line 30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1" name="Rectangle 31"/>
            <p:cNvSpPr/>
            <p:nvPr/>
          </p:nvSpPr>
          <p:spPr>
            <a:xfrm>
              <a:off x="2400" y="432"/>
              <a:ext cx="3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32"/>
          <p:cNvGrpSpPr/>
          <p:nvPr/>
        </p:nvGrpSpPr>
        <p:grpSpPr>
          <a:xfrm>
            <a:off x="152400" y="1828800"/>
            <a:ext cx="1752600" cy="762000"/>
            <a:chOff x="2400" y="432"/>
            <a:chExt cx="1104" cy="480"/>
          </a:xfrm>
        </p:grpSpPr>
        <p:sp>
          <p:nvSpPr>
            <p:cNvPr id="66593" name="Line 33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4" name="Line 34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5" name="Line 35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6" name="Oval 36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97" name="Line 37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8" name="Line 38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99" name="Line 39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0" name="Line 40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1" name="Rectangle 41"/>
            <p:cNvSpPr/>
            <p:nvPr/>
          </p:nvSpPr>
          <p:spPr>
            <a:xfrm>
              <a:off x="2400" y="432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42"/>
          <p:cNvGrpSpPr/>
          <p:nvPr/>
        </p:nvGrpSpPr>
        <p:grpSpPr>
          <a:xfrm>
            <a:off x="152400" y="2514600"/>
            <a:ext cx="1752600" cy="762000"/>
            <a:chOff x="2400" y="432"/>
            <a:chExt cx="1104" cy="480"/>
          </a:xfrm>
        </p:grpSpPr>
        <p:sp>
          <p:nvSpPr>
            <p:cNvPr id="66603" name="Line 43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4" name="Line 44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5" name="Line 45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6" name="Oval 46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07" name="Line 47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8" name="Line 48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09" name="Line 49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0" name="Line 50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1" name="Rectangle 51"/>
            <p:cNvSpPr/>
            <p:nvPr/>
          </p:nvSpPr>
          <p:spPr>
            <a:xfrm>
              <a:off x="2400" y="432"/>
              <a:ext cx="3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52"/>
          <p:cNvGrpSpPr/>
          <p:nvPr/>
        </p:nvGrpSpPr>
        <p:grpSpPr>
          <a:xfrm>
            <a:off x="1524000" y="609600"/>
            <a:ext cx="5715000" cy="2819400"/>
            <a:chOff x="960" y="384"/>
            <a:chExt cx="3600" cy="1776"/>
          </a:xfrm>
        </p:grpSpPr>
        <p:sp>
          <p:nvSpPr>
            <p:cNvPr id="66613" name="Line 53"/>
            <p:cNvSpPr/>
            <p:nvPr/>
          </p:nvSpPr>
          <p:spPr>
            <a:xfrm flipH="1">
              <a:off x="120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4" name="Line 54"/>
            <p:cNvSpPr/>
            <p:nvPr/>
          </p:nvSpPr>
          <p:spPr>
            <a:xfrm>
              <a:off x="96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5" name="Line 55"/>
            <p:cNvSpPr/>
            <p:nvPr/>
          </p:nvSpPr>
          <p:spPr>
            <a:xfrm flipH="1">
              <a:off x="168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6" name="Line 56"/>
            <p:cNvSpPr/>
            <p:nvPr/>
          </p:nvSpPr>
          <p:spPr>
            <a:xfrm>
              <a:off x="144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7" name="Line 57"/>
            <p:cNvSpPr/>
            <p:nvPr/>
          </p:nvSpPr>
          <p:spPr>
            <a:xfrm flipH="1">
              <a:off x="216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8" name="Line 58"/>
            <p:cNvSpPr/>
            <p:nvPr/>
          </p:nvSpPr>
          <p:spPr>
            <a:xfrm>
              <a:off x="192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19" name="Line 59"/>
            <p:cNvSpPr/>
            <p:nvPr/>
          </p:nvSpPr>
          <p:spPr>
            <a:xfrm flipH="1">
              <a:off x="264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0" name="Line 60"/>
            <p:cNvSpPr/>
            <p:nvPr/>
          </p:nvSpPr>
          <p:spPr>
            <a:xfrm>
              <a:off x="240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1" name="Line 61"/>
            <p:cNvSpPr/>
            <p:nvPr/>
          </p:nvSpPr>
          <p:spPr>
            <a:xfrm flipH="1">
              <a:off x="312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2" name="Line 62"/>
            <p:cNvSpPr/>
            <p:nvPr/>
          </p:nvSpPr>
          <p:spPr>
            <a:xfrm>
              <a:off x="288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3" name="Line 63"/>
            <p:cNvSpPr/>
            <p:nvPr/>
          </p:nvSpPr>
          <p:spPr>
            <a:xfrm flipH="1">
              <a:off x="360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4" name="Line 64"/>
            <p:cNvSpPr/>
            <p:nvPr/>
          </p:nvSpPr>
          <p:spPr>
            <a:xfrm>
              <a:off x="336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5" name="Line 65"/>
            <p:cNvSpPr/>
            <p:nvPr/>
          </p:nvSpPr>
          <p:spPr>
            <a:xfrm flipH="1">
              <a:off x="408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6" name="Line 66"/>
            <p:cNvSpPr/>
            <p:nvPr/>
          </p:nvSpPr>
          <p:spPr>
            <a:xfrm>
              <a:off x="384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7" name="Line 67"/>
            <p:cNvSpPr/>
            <p:nvPr/>
          </p:nvSpPr>
          <p:spPr>
            <a:xfrm flipH="1">
              <a:off x="456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28" name="Line 68"/>
            <p:cNvSpPr/>
            <p:nvPr/>
          </p:nvSpPr>
          <p:spPr>
            <a:xfrm>
              <a:off x="4320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" name="Group 69"/>
          <p:cNvGrpSpPr/>
          <p:nvPr/>
        </p:nvGrpSpPr>
        <p:grpSpPr>
          <a:xfrm>
            <a:off x="1371600" y="3429000"/>
            <a:ext cx="6019800" cy="228600"/>
            <a:chOff x="864" y="2160"/>
            <a:chExt cx="3792" cy="144"/>
          </a:xfrm>
        </p:grpSpPr>
        <p:sp>
          <p:nvSpPr>
            <p:cNvPr id="66630" name="Rectangle 70"/>
            <p:cNvSpPr/>
            <p:nvPr/>
          </p:nvSpPr>
          <p:spPr>
            <a:xfrm>
              <a:off x="86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1" name="Rectangle 71"/>
            <p:cNvSpPr/>
            <p:nvPr/>
          </p:nvSpPr>
          <p:spPr>
            <a:xfrm>
              <a:off x="110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2" name="Rectangle 72"/>
            <p:cNvSpPr/>
            <p:nvPr/>
          </p:nvSpPr>
          <p:spPr>
            <a:xfrm>
              <a:off x="134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3" name="Rectangle 73"/>
            <p:cNvSpPr/>
            <p:nvPr/>
          </p:nvSpPr>
          <p:spPr>
            <a:xfrm>
              <a:off x="158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4" name="Rectangle 74"/>
            <p:cNvSpPr/>
            <p:nvPr/>
          </p:nvSpPr>
          <p:spPr>
            <a:xfrm>
              <a:off x="182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5" name="Rectangle 75"/>
            <p:cNvSpPr/>
            <p:nvPr/>
          </p:nvSpPr>
          <p:spPr>
            <a:xfrm>
              <a:off x="206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6" name="Rectangle 76"/>
            <p:cNvSpPr/>
            <p:nvPr/>
          </p:nvSpPr>
          <p:spPr>
            <a:xfrm>
              <a:off x="230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7" name="Rectangle 77"/>
            <p:cNvSpPr/>
            <p:nvPr/>
          </p:nvSpPr>
          <p:spPr>
            <a:xfrm>
              <a:off x="254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8" name="Rectangle 78"/>
            <p:cNvSpPr/>
            <p:nvPr/>
          </p:nvSpPr>
          <p:spPr>
            <a:xfrm>
              <a:off x="278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39" name="Rectangle 79"/>
            <p:cNvSpPr/>
            <p:nvPr/>
          </p:nvSpPr>
          <p:spPr>
            <a:xfrm>
              <a:off x="302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0" name="Rectangle 80"/>
            <p:cNvSpPr/>
            <p:nvPr/>
          </p:nvSpPr>
          <p:spPr>
            <a:xfrm>
              <a:off x="326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1" name="Rectangle 81"/>
            <p:cNvSpPr/>
            <p:nvPr/>
          </p:nvSpPr>
          <p:spPr>
            <a:xfrm>
              <a:off x="350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2" name="Rectangle 82"/>
            <p:cNvSpPr/>
            <p:nvPr/>
          </p:nvSpPr>
          <p:spPr>
            <a:xfrm>
              <a:off x="374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3" name="Rectangle 83"/>
            <p:cNvSpPr/>
            <p:nvPr/>
          </p:nvSpPr>
          <p:spPr>
            <a:xfrm>
              <a:off x="398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4" name="Rectangle 84"/>
            <p:cNvSpPr/>
            <p:nvPr/>
          </p:nvSpPr>
          <p:spPr>
            <a:xfrm>
              <a:off x="422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45" name="Rectangle 85"/>
            <p:cNvSpPr/>
            <p:nvPr/>
          </p:nvSpPr>
          <p:spPr>
            <a:xfrm>
              <a:off x="4464" y="2160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86"/>
          <p:cNvGrpSpPr/>
          <p:nvPr/>
        </p:nvGrpSpPr>
        <p:grpSpPr>
          <a:xfrm>
            <a:off x="1524000" y="3657600"/>
            <a:ext cx="5715000" cy="2286000"/>
            <a:chOff x="1488" y="2304"/>
            <a:chExt cx="3600" cy="960"/>
          </a:xfrm>
        </p:grpSpPr>
        <p:sp>
          <p:nvSpPr>
            <p:cNvPr id="66647" name="Line 87"/>
            <p:cNvSpPr/>
            <p:nvPr/>
          </p:nvSpPr>
          <p:spPr>
            <a:xfrm flipH="1">
              <a:off x="172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48" name="Line 88"/>
            <p:cNvSpPr/>
            <p:nvPr/>
          </p:nvSpPr>
          <p:spPr>
            <a:xfrm>
              <a:off x="148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49" name="Line 89"/>
            <p:cNvSpPr/>
            <p:nvPr/>
          </p:nvSpPr>
          <p:spPr>
            <a:xfrm flipH="1">
              <a:off x="220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0" name="Line 90"/>
            <p:cNvSpPr/>
            <p:nvPr/>
          </p:nvSpPr>
          <p:spPr>
            <a:xfrm>
              <a:off x="196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1" name="Line 91"/>
            <p:cNvSpPr/>
            <p:nvPr/>
          </p:nvSpPr>
          <p:spPr>
            <a:xfrm flipH="1">
              <a:off x="268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2" name="Line 92"/>
            <p:cNvSpPr/>
            <p:nvPr/>
          </p:nvSpPr>
          <p:spPr>
            <a:xfrm>
              <a:off x="244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3" name="Line 93"/>
            <p:cNvSpPr/>
            <p:nvPr/>
          </p:nvSpPr>
          <p:spPr>
            <a:xfrm flipH="1">
              <a:off x="316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4" name="Line 94"/>
            <p:cNvSpPr/>
            <p:nvPr/>
          </p:nvSpPr>
          <p:spPr>
            <a:xfrm>
              <a:off x="292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5" name="Line 95"/>
            <p:cNvSpPr/>
            <p:nvPr/>
          </p:nvSpPr>
          <p:spPr>
            <a:xfrm flipH="1">
              <a:off x="364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6" name="Line 96"/>
            <p:cNvSpPr/>
            <p:nvPr/>
          </p:nvSpPr>
          <p:spPr>
            <a:xfrm>
              <a:off x="340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7" name="Line 97"/>
            <p:cNvSpPr/>
            <p:nvPr/>
          </p:nvSpPr>
          <p:spPr>
            <a:xfrm flipH="1">
              <a:off x="412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8" name="Line 98"/>
            <p:cNvSpPr/>
            <p:nvPr/>
          </p:nvSpPr>
          <p:spPr>
            <a:xfrm>
              <a:off x="388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59" name="Line 99"/>
            <p:cNvSpPr/>
            <p:nvPr/>
          </p:nvSpPr>
          <p:spPr>
            <a:xfrm flipH="1">
              <a:off x="460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0" name="Line 100"/>
            <p:cNvSpPr/>
            <p:nvPr/>
          </p:nvSpPr>
          <p:spPr>
            <a:xfrm>
              <a:off x="436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1" name="Line 101"/>
            <p:cNvSpPr/>
            <p:nvPr/>
          </p:nvSpPr>
          <p:spPr>
            <a:xfrm flipH="1">
              <a:off x="508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2" name="Line 102"/>
            <p:cNvSpPr/>
            <p:nvPr/>
          </p:nvSpPr>
          <p:spPr>
            <a:xfrm>
              <a:off x="4848" y="2304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" name="Group 103"/>
          <p:cNvGrpSpPr/>
          <p:nvPr/>
        </p:nvGrpSpPr>
        <p:grpSpPr>
          <a:xfrm>
            <a:off x="1066800" y="4114800"/>
            <a:ext cx="6477000" cy="1447800"/>
            <a:chOff x="672" y="2592"/>
            <a:chExt cx="4080" cy="912"/>
          </a:xfrm>
        </p:grpSpPr>
        <p:sp>
          <p:nvSpPr>
            <p:cNvPr id="66664" name="Line 104"/>
            <p:cNvSpPr/>
            <p:nvPr/>
          </p:nvSpPr>
          <p:spPr>
            <a:xfrm>
              <a:off x="672" y="2592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5" name="Line 105"/>
            <p:cNvSpPr/>
            <p:nvPr/>
          </p:nvSpPr>
          <p:spPr>
            <a:xfrm>
              <a:off x="672" y="2880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6" name="Line 106"/>
            <p:cNvSpPr/>
            <p:nvPr/>
          </p:nvSpPr>
          <p:spPr>
            <a:xfrm>
              <a:off x="672" y="3216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67" name="Line 107"/>
            <p:cNvSpPr/>
            <p:nvPr/>
          </p:nvSpPr>
          <p:spPr>
            <a:xfrm>
              <a:off x="672" y="3504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1" name="Group 108"/>
          <p:cNvGrpSpPr/>
          <p:nvPr/>
        </p:nvGrpSpPr>
        <p:grpSpPr>
          <a:xfrm>
            <a:off x="7467600" y="3870325"/>
            <a:ext cx="762000" cy="1920875"/>
            <a:chOff x="4704" y="2438"/>
            <a:chExt cx="480" cy="1210"/>
          </a:xfrm>
        </p:grpSpPr>
        <p:grpSp>
          <p:nvGrpSpPr>
            <p:cNvPr id="66669" name="Group 109"/>
            <p:cNvGrpSpPr/>
            <p:nvPr/>
          </p:nvGrpSpPr>
          <p:grpSpPr>
            <a:xfrm>
              <a:off x="4704" y="2438"/>
              <a:ext cx="240" cy="250"/>
              <a:chOff x="4704" y="2438"/>
              <a:chExt cx="240" cy="250"/>
            </a:xfrm>
          </p:grpSpPr>
          <p:sp>
            <p:nvSpPr>
              <p:cNvPr id="66670" name="Rectangle 110"/>
              <p:cNvSpPr/>
              <p:nvPr/>
            </p:nvSpPr>
            <p:spPr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71" name="Text Box 111"/>
              <p:cNvSpPr txBox="1"/>
              <p:nvPr/>
            </p:nvSpPr>
            <p:spPr>
              <a:xfrm>
                <a:off x="4704" y="243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6672" name="Group 112"/>
            <p:cNvGrpSpPr/>
            <p:nvPr/>
          </p:nvGrpSpPr>
          <p:grpSpPr>
            <a:xfrm>
              <a:off x="4704" y="2774"/>
              <a:ext cx="240" cy="250"/>
              <a:chOff x="4704" y="2438"/>
              <a:chExt cx="240" cy="250"/>
            </a:xfrm>
          </p:grpSpPr>
          <p:sp>
            <p:nvSpPr>
              <p:cNvPr id="66673" name="Rectangle 113"/>
              <p:cNvSpPr/>
              <p:nvPr/>
            </p:nvSpPr>
            <p:spPr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74" name="Text Box 114"/>
              <p:cNvSpPr txBox="1"/>
              <p:nvPr/>
            </p:nvSpPr>
            <p:spPr>
              <a:xfrm>
                <a:off x="4704" y="243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6675" name="Group 115"/>
            <p:cNvGrpSpPr/>
            <p:nvPr/>
          </p:nvGrpSpPr>
          <p:grpSpPr>
            <a:xfrm>
              <a:off x="4704" y="3110"/>
              <a:ext cx="240" cy="250"/>
              <a:chOff x="4704" y="2438"/>
              <a:chExt cx="240" cy="250"/>
            </a:xfrm>
          </p:grpSpPr>
          <p:sp>
            <p:nvSpPr>
              <p:cNvPr id="66676" name="Rectangle 116"/>
              <p:cNvSpPr/>
              <p:nvPr/>
            </p:nvSpPr>
            <p:spPr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77" name="Text Box 117"/>
              <p:cNvSpPr txBox="1"/>
              <p:nvPr/>
            </p:nvSpPr>
            <p:spPr>
              <a:xfrm>
                <a:off x="4704" y="243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6678" name="Group 118"/>
            <p:cNvGrpSpPr/>
            <p:nvPr/>
          </p:nvGrpSpPr>
          <p:grpSpPr>
            <a:xfrm>
              <a:off x="4704" y="3398"/>
              <a:ext cx="240" cy="250"/>
              <a:chOff x="4704" y="2438"/>
              <a:chExt cx="240" cy="250"/>
            </a:xfrm>
          </p:grpSpPr>
          <p:sp>
            <p:nvSpPr>
              <p:cNvPr id="66679" name="Rectangle 119"/>
              <p:cNvSpPr/>
              <p:nvPr/>
            </p:nvSpPr>
            <p:spPr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80" name="Text Box 120"/>
              <p:cNvSpPr txBox="1"/>
              <p:nvPr/>
            </p:nvSpPr>
            <p:spPr>
              <a:xfrm>
                <a:off x="4704" y="243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681" name="Line 121"/>
            <p:cNvSpPr/>
            <p:nvPr/>
          </p:nvSpPr>
          <p:spPr>
            <a:xfrm>
              <a:off x="4944" y="2592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82" name="Line 122"/>
            <p:cNvSpPr/>
            <p:nvPr/>
          </p:nvSpPr>
          <p:spPr>
            <a:xfrm>
              <a:off x="4944" y="288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83" name="Line 123"/>
            <p:cNvSpPr/>
            <p:nvPr/>
          </p:nvSpPr>
          <p:spPr>
            <a:xfrm>
              <a:off x="4944" y="321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684" name="Line 124"/>
            <p:cNvSpPr/>
            <p:nvPr/>
          </p:nvSpPr>
          <p:spPr>
            <a:xfrm>
              <a:off x="4944" y="350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6" name="Group 125"/>
          <p:cNvGrpSpPr/>
          <p:nvPr/>
        </p:nvGrpSpPr>
        <p:grpSpPr>
          <a:xfrm>
            <a:off x="8229600" y="3886200"/>
            <a:ext cx="550863" cy="1905000"/>
            <a:chOff x="5184" y="2448"/>
            <a:chExt cx="347" cy="1200"/>
          </a:xfrm>
        </p:grpSpPr>
        <p:sp>
          <p:nvSpPr>
            <p:cNvPr id="66686" name="Rectangle 126"/>
            <p:cNvSpPr/>
            <p:nvPr/>
          </p:nvSpPr>
          <p:spPr>
            <a:xfrm>
              <a:off x="5184" y="2448"/>
              <a:ext cx="34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87" name="Rectangle 127"/>
            <p:cNvSpPr/>
            <p:nvPr/>
          </p:nvSpPr>
          <p:spPr>
            <a:xfrm>
              <a:off x="5184" y="2736"/>
              <a:ext cx="34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88" name="Rectangle 128"/>
            <p:cNvSpPr/>
            <p:nvPr/>
          </p:nvSpPr>
          <p:spPr>
            <a:xfrm>
              <a:off x="5184" y="3072"/>
              <a:ext cx="34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89" name="Rectangle 129"/>
            <p:cNvSpPr/>
            <p:nvPr/>
          </p:nvSpPr>
          <p:spPr>
            <a:xfrm>
              <a:off x="5184" y="3360"/>
              <a:ext cx="34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30"/>
          <p:cNvGrpSpPr/>
          <p:nvPr/>
        </p:nvGrpSpPr>
        <p:grpSpPr>
          <a:xfrm>
            <a:off x="1447800" y="990600"/>
            <a:ext cx="152400" cy="2209800"/>
            <a:chOff x="912" y="624"/>
            <a:chExt cx="96" cy="1392"/>
          </a:xfrm>
        </p:grpSpPr>
        <p:sp>
          <p:nvSpPr>
            <p:cNvPr id="66691" name="Oval 131"/>
            <p:cNvSpPr/>
            <p:nvPr/>
          </p:nvSpPr>
          <p:spPr>
            <a:xfrm>
              <a:off x="91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2" name="Oval 132"/>
            <p:cNvSpPr/>
            <p:nvPr/>
          </p:nvSpPr>
          <p:spPr>
            <a:xfrm>
              <a:off x="91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3" name="Oval 133"/>
            <p:cNvSpPr/>
            <p:nvPr/>
          </p:nvSpPr>
          <p:spPr>
            <a:xfrm>
              <a:off x="91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4" name="Oval 134"/>
            <p:cNvSpPr/>
            <p:nvPr/>
          </p:nvSpPr>
          <p:spPr>
            <a:xfrm>
              <a:off x="91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135"/>
          <p:cNvGrpSpPr/>
          <p:nvPr/>
        </p:nvGrpSpPr>
        <p:grpSpPr>
          <a:xfrm>
            <a:off x="1828800" y="685800"/>
            <a:ext cx="152400" cy="2514600"/>
            <a:chOff x="1152" y="432"/>
            <a:chExt cx="96" cy="1584"/>
          </a:xfrm>
        </p:grpSpPr>
        <p:sp>
          <p:nvSpPr>
            <p:cNvPr id="66696" name="Oval 136"/>
            <p:cNvSpPr/>
            <p:nvPr/>
          </p:nvSpPr>
          <p:spPr>
            <a:xfrm>
              <a:off x="115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7" name="Oval 137"/>
            <p:cNvSpPr/>
            <p:nvPr/>
          </p:nvSpPr>
          <p:spPr>
            <a:xfrm>
              <a:off x="115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8" name="Oval 138"/>
            <p:cNvSpPr/>
            <p:nvPr/>
          </p:nvSpPr>
          <p:spPr>
            <a:xfrm>
              <a:off x="115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699" name="Oval 139"/>
            <p:cNvSpPr/>
            <p:nvPr/>
          </p:nvSpPr>
          <p:spPr>
            <a:xfrm>
              <a:off x="115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40"/>
          <p:cNvGrpSpPr/>
          <p:nvPr/>
        </p:nvGrpSpPr>
        <p:grpSpPr>
          <a:xfrm>
            <a:off x="2209800" y="990600"/>
            <a:ext cx="152400" cy="2209800"/>
            <a:chOff x="1392" y="624"/>
            <a:chExt cx="96" cy="1392"/>
          </a:xfrm>
        </p:grpSpPr>
        <p:sp>
          <p:nvSpPr>
            <p:cNvPr id="66701" name="Oval 141"/>
            <p:cNvSpPr/>
            <p:nvPr/>
          </p:nvSpPr>
          <p:spPr>
            <a:xfrm>
              <a:off x="139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2" name="Oval 142"/>
            <p:cNvSpPr/>
            <p:nvPr/>
          </p:nvSpPr>
          <p:spPr>
            <a:xfrm>
              <a:off x="139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3" name="Oval 143"/>
            <p:cNvSpPr/>
            <p:nvPr/>
          </p:nvSpPr>
          <p:spPr>
            <a:xfrm>
              <a:off x="139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4" name="Oval 144"/>
            <p:cNvSpPr/>
            <p:nvPr/>
          </p:nvSpPr>
          <p:spPr>
            <a:xfrm>
              <a:off x="139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145"/>
          <p:cNvGrpSpPr/>
          <p:nvPr/>
        </p:nvGrpSpPr>
        <p:grpSpPr>
          <a:xfrm>
            <a:off x="2590800" y="685800"/>
            <a:ext cx="152400" cy="2514600"/>
            <a:chOff x="1632" y="432"/>
            <a:chExt cx="96" cy="1584"/>
          </a:xfrm>
        </p:grpSpPr>
        <p:sp>
          <p:nvSpPr>
            <p:cNvPr id="66706" name="Oval 146"/>
            <p:cNvSpPr/>
            <p:nvPr/>
          </p:nvSpPr>
          <p:spPr>
            <a:xfrm>
              <a:off x="163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7" name="Oval 147"/>
            <p:cNvSpPr/>
            <p:nvPr/>
          </p:nvSpPr>
          <p:spPr>
            <a:xfrm>
              <a:off x="163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8" name="Oval 148"/>
            <p:cNvSpPr/>
            <p:nvPr/>
          </p:nvSpPr>
          <p:spPr>
            <a:xfrm>
              <a:off x="163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09" name="Oval 149"/>
            <p:cNvSpPr/>
            <p:nvPr/>
          </p:nvSpPr>
          <p:spPr>
            <a:xfrm>
              <a:off x="163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150"/>
          <p:cNvGrpSpPr/>
          <p:nvPr/>
        </p:nvGrpSpPr>
        <p:grpSpPr>
          <a:xfrm>
            <a:off x="2971800" y="990600"/>
            <a:ext cx="152400" cy="2209800"/>
            <a:chOff x="1872" y="624"/>
            <a:chExt cx="96" cy="1392"/>
          </a:xfrm>
        </p:grpSpPr>
        <p:sp>
          <p:nvSpPr>
            <p:cNvPr id="66711" name="Oval 151"/>
            <p:cNvSpPr/>
            <p:nvPr/>
          </p:nvSpPr>
          <p:spPr>
            <a:xfrm>
              <a:off x="187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2" name="Oval 152"/>
            <p:cNvSpPr/>
            <p:nvPr/>
          </p:nvSpPr>
          <p:spPr>
            <a:xfrm>
              <a:off x="187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3" name="Oval 153"/>
            <p:cNvSpPr/>
            <p:nvPr/>
          </p:nvSpPr>
          <p:spPr>
            <a:xfrm>
              <a:off x="187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4" name="Oval 154"/>
            <p:cNvSpPr/>
            <p:nvPr/>
          </p:nvSpPr>
          <p:spPr>
            <a:xfrm>
              <a:off x="187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155"/>
          <p:cNvGrpSpPr/>
          <p:nvPr/>
        </p:nvGrpSpPr>
        <p:grpSpPr>
          <a:xfrm>
            <a:off x="3352800" y="685800"/>
            <a:ext cx="152400" cy="2514600"/>
            <a:chOff x="2112" y="432"/>
            <a:chExt cx="96" cy="1584"/>
          </a:xfrm>
        </p:grpSpPr>
        <p:sp>
          <p:nvSpPr>
            <p:cNvPr id="66716" name="Oval 156"/>
            <p:cNvSpPr/>
            <p:nvPr/>
          </p:nvSpPr>
          <p:spPr>
            <a:xfrm>
              <a:off x="211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7" name="Oval 157"/>
            <p:cNvSpPr/>
            <p:nvPr/>
          </p:nvSpPr>
          <p:spPr>
            <a:xfrm>
              <a:off x="211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8" name="Oval 158"/>
            <p:cNvSpPr/>
            <p:nvPr/>
          </p:nvSpPr>
          <p:spPr>
            <a:xfrm>
              <a:off x="211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19" name="Oval 159"/>
            <p:cNvSpPr/>
            <p:nvPr/>
          </p:nvSpPr>
          <p:spPr>
            <a:xfrm>
              <a:off x="211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160"/>
          <p:cNvGrpSpPr/>
          <p:nvPr/>
        </p:nvGrpSpPr>
        <p:grpSpPr>
          <a:xfrm>
            <a:off x="3733800" y="990600"/>
            <a:ext cx="152400" cy="2209800"/>
            <a:chOff x="2352" y="624"/>
            <a:chExt cx="96" cy="1392"/>
          </a:xfrm>
        </p:grpSpPr>
        <p:sp>
          <p:nvSpPr>
            <p:cNvPr id="66721" name="Oval 161"/>
            <p:cNvSpPr/>
            <p:nvPr/>
          </p:nvSpPr>
          <p:spPr>
            <a:xfrm>
              <a:off x="235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2" name="Oval 162"/>
            <p:cNvSpPr/>
            <p:nvPr/>
          </p:nvSpPr>
          <p:spPr>
            <a:xfrm>
              <a:off x="235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3" name="Oval 163"/>
            <p:cNvSpPr/>
            <p:nvPr/>
          </p:nvSpPr>
          <p:spPr>
            <a:xfrm>
              <a:off x="235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4" name="Oval 164"/>
            <p:cNvSpPr/>
            <p:nvPr/>
          </p:nvSpPr>
          <p:spPr>
            <a:xfrm>
              <a:off x="235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Group 165"/>
          <p:cNvGrpSpPr/>
          <p:nvPr/>
        </p:nvGrpSpPr>
        <p:grpSpPr>
          <a:xfrm>
            <a:off x="4114800" y="685800"/>
            <a:ext cx="152400" cy="2514600"/>
            <a:chOff x="2592" y="432"/>
            <a:chExt cx="96" cy="1584"/>
          </a:xfrm>
        </p:grpSpPr>
        <p:sp>
          <p:nvSpPr>
            <p:cNvPr id="66726" name="Oval 166"/>
            <p:cNvSpPr/>
            <p:nvPr/>
          </p:nvSpPr>
          <p:spPr>
            <a:xfrm>
              <a:off x="259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7" name="Oval 167"/>
            <p:cNvSpPr/>
            <p:nvPr/>
          </p:nvSpPr>
          <p:spPr>
            <a:xfrm>
              <a:off x="259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8" name="Oval 168"/>
            <p:cNvSpPr/>
            <p:nvPr/>
          </p:nvSpPr>
          <p:spPr>
            <a:xfrm>
              <a:off x="259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29" name="Oval 169"/>
            <p:cNvSpPr/>
            <p:nvPr/>
          </p:nvSpPr>
          <p:spPr>
            <a:xfrm>
              <a:off x="2592" y="192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Group 170"/>
          <p:cNvGrpSpPr/>
          <p:nvPr/>
        </p:nvGrpSpPr>
        <p:grpSpPr>
          <a:xfrm>
            <a:off x="4495800" y="990600"/>
            <a:ext cx="152400" cy="1905000"/>
            <a:chOff x="2832" y="624"/>
            <a:chExt cx="96" cy="1200"/>
          </a:xfrm>
        </p:grpSpPr>
        <p:sp>
          <p:nvSpPr>
            <p:cNvPr id="66731" name="Oval 171"/>
            <p:cNvSpPr/>
            <p:nvPr/>
          </p:nvSpPr>
          <p:spPr>
            <a:xfrm>
              <a:off x="283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2" name="Oval 172"/>
            <p:cNvSpPr/>
            <p:nvPr/>
          </p:nvSpPr>
          <p:spPr>
            <a:xfrm>
              <a:off x="283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3" name="Oval 173"/>
            <p:cNvSpPr/>
            <p:nvPr/>
          </p:nvSpPr>
          <p:spPr>
            <a:xfrm>
              <a:off x="283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4" name="Oval 174"/>
            <p:cNvSpPr/>
            <p:nvPr/>
          </p:nvSpPr>
          <p:spPr>
            <a:xfrm>
              <a:off x="283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175"/>
          <p:cNvGrpSpPr/>
          <p:nvPr/>
        </p:nvGrpSpPr>
        <p:grpSpPr>
          <a:xfrm>
            <a:off x="4876800" y="685800"/>
            <a:ext cx="152400" cy="2209800"/>
            <a:chOff x="3072" y="432"/>
            <a:chExt cx="96" cy="1392"/>
          </a:xfrm>
        </p:grpSpPr>
        <p:sp>
          <p:nvSpPr>
            <p:cNvPr id="66736" name="Oval 176"/>
            <p:cNvSpPr/>
            <p:nvPr/>
          </p:nvSpPr>
          <p:spPr>
            <a:xfrm>
              <a:off x="307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7" name="Oval 177"/>
            <p:cNvSpPr/>
            <p:nvPr/>
          </p:nvSpPr>
          <p:spPr>
            <a:xfrm>
              <a:off x="307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8" name="Oval 178"/>
            <p:cNvSpPr/>
            <p:nvPr/>
          </p:nvSpPr>
          <p:spPr>
            <a:xfrm>
              <a:off x="307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39" name="Oval 179"/>
            <p:cNvSpPr/>
            <p:nvPr/>
          </p:nvSpPr>
          <p:spPr>
            <a:xfrm>
              <a:off x="307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Group 180"/>
          <p:cNvGrpSpPr/>
          <p:nvPr/>
        </p:nvGrpSpPr>
        <p:grpSpPr>
          <a:xfrm>
            <a:off x="5257800" y="990600"/>
            <a:ext cx="152400" cy="1905000"/>
            <a:chOff x="3312" y="624"/>
            <a:chExt cx="96" cy="1200"/>
          </a:xfrm>
        </p:grpSpPr>
        <p:sp>
          <p:nvSpPr>
            <p:cNvPr id="66741" name="Oval 181"/>
            <p:cNvSpPr/>
            <p:nvPr/>
          </p:nvSpPr>
          <p:spPr>
            <a:xfrm>
              <a:off x="331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2" name="Oval 182"/>
            <p:cNvSpPr/>
            <p:nvPr/>
          </p:nvSpPr>
          <p:spPr>
            <a:xfrm>
              <a:off x="331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3" name="Oval 183"/>
            <p:cNvSpPr/>
            <p:nvPr/>
          </p:nvSpPr>
          <p:spPr>
            <a:xfrm>
              <a:off x="331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4" name="Oval 184"/>
            <p:cNvSpPr/>
            <p:nvPr/>
          </p:nvSpPr>
          <p:spPr>
            <a:xfrm>
              <a:off x="331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185"/>
          <p:cNvGrpSpPr/>
          <p:nvPr/>
        </p:nvGrpSpPr>
        <p:grpSpPr>
          <a:xfrm>
            <a:off x="5638800" y="685800"/>
            <a:ext cx="152400" cy="2209800"/>
            <a:chOff x="3552" y="432"/>
            <a:chExt cx="96" cy="1392"/>
          </a:xfrm>
        </p:grpSpPr>
        <p:sp>
          <p:nvSpPr>
            <p:cNvPr id="66746" name="Oval 186"/>
            <p:cNvSpPr/>
            <p:nvPr/>
          </p:nvSpPr>
          <p:spPr>
            <a:xfrm>
              <a:off x="355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7" name="Oval 187"/>
            <p:cNvSpPr/>
            <p:nvPr/>
          </p:nvSpPr>
          <p:spPr>
            <a:xfrm>
              <a:off x="355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8" name="Oval 188"/>
            <p:cNvSpPr/>
            <p:nvPr/>
          </p:nvSpPr>
          <p:spPr>
            <a:xfrm>
              <a:off x="3552" y="14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49" name="Oval 189"/>
            <p:cNvSpPr/>
            <p:nvPr/>
          </p:nvSpPr>
          <p:spPr>
            <a:xfrm>
              <a:off x="355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190"/>
          <p:cNvGrpSpPr/>
          <p:nvPr/>
        </p:nvGrpSpPr>
        <p:grpSpPr>
          <a:xfrm>
            <a:off x="6019800" y="990600"/>
            <a:ext cx="152400" cy="1905000"/>
            <a:chOff x="3792" y="624"/>
            <a:chExt cx="96" cy="1200"/>
          </a:xfrm>
        </p:grpSpPr>
        <p:sp>
          <p:nvSpPr>
            <p:cNvPr id="66751" name="Oval 191"/>
            <p:cNvSpPr/>
            <p:nvPr/>
          </p:nvSpPr>
          <p:spPr>
            <a:xfrm>
              <a:off x="379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2" name="Oval 192"/>
            <p:cNvSpPr/>
            <p:nvPr/>
          </p:nvSpPr>
          <p:spPr>
            <a:xfrm>
              <a:off x="379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3" name="Oval 193"/>
            <p:cNvSpPr/>
            <p:nvPr/>
          </p:nvSpPr>
          <p:spPr>
            <a:xfrm>
              <a:off x="379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4" name="Oval 194"/>
            <p:cNvSpPr/>
            <p:nvPr/>
          </p:nvSpPr>
          <p:spPr>
            <a:xfrm>
              <a:off x="379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oup 195"/>
          <p:cNvGrpSpPr/>
          <p:nvPr/>
        </p:nvGrpSpPr>
        <p:grpSpPr>
          <a:xfrm>
            <a:off x="6400800" y="685800"/>
            <a:ext cx="152400" cy="2209800"/>
            <a:chOff x="4032" y="432"/>
            <a:chExt cx="96" cy="1392"/>
          </a:xfrm>
        </p:grpSpPr>
        <p:sp>
          <p:nvSpPr>
            <p:cNvPr id="66756" name="Oval 196"/>
            <p:cNvSpPr/>
            <p:nvPr/>
          </p:nvSpPr>
          <p:spPr>
            <a:xfrm>
              <a:off x="403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7" name="Oval 197"/>
            <p:cNvSpPr/>
            <p:nvPr/>
          </p:nvSpPr>
          <p:spPr>
            <a:xfrm>
              <a:off x="4032" y="10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8" name="Oval 198"/>
            <p:cNvSpPr/>
            <p:nvPr/>
          </p:nvSpPr>
          <p:spPr>
            <a:xfrm>
              <a:off x="403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59" name="Oval 199"/>
            <p:cNvSpPr/>
            <p:nvPr/>
          </p:nvSpPr>
          <p:spPr>
            <a:xfrm>
              <a:off x="403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200"/>
          <p:cNvGrpSpPr/>
          <p:nvPr/>
        </p:nvGrpSpPr>
        <p:grpSpPr>
          <a:xfrm>
            <a:off x="6781800" y="990600"/>
            <a:ext cx="152400" cy="1905000"/>
            <a:chOff x="4272" y="624"/>
            <a:chExt cx="96" cy="1200"/>
          </a:xfrm>
        </p:grpSpPr>
        <p:sp>
          <p:nvSpPr>
            <p:cNvPr id="66761" name="Oval 201"/>
            <p:cNvSpPr/>
            <p:nvPr/>
          </p:nvSpPr>
          <p:spPr>
            <a:xfrm>
              <a:off x="4272" y="6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2" name="Oval 202"/>
            <p:cNvSpPr/>
            <p:nvPr/>
          </p:nvSpPr>
          <p:spPr>
            <a:xfrm>
              <a:off x="427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3" name="Oval 203"/>
            <p:cNvSpPr/>
            <p:nvPr/>
          </p:nvSpPr>
          <p:spPr>
            <a:xfrm>
              <a:off x="427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4" name="Oval 204"/>
            <p:cNvSpPr/>
            <p:nvPr/>
          </p:nvSpPr>
          <p:spPr>
            <a:xfrm>
              <a:off x="427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896" name="Group 205"/>
          <p:cNvGrpSpPr/>
          <p:nvPr/>
        </p:nvGrpSpPr>
        <p:grpSpPr>
          <a:xfrm>
            <a:off x="7162800" y="685800"/>
            <a:ext cx="152400" cy="2209800"/>
            <a:chOff x="4512" y="432"/>
            <a:chExt cx="96" cy="1392"/>
          </a:xfrm>
        </p:grpSpPr>
        <p:sp>
          <p:nvSpPr>
            <p:cNvPr id="66766" name="Oval 206"/>
            <p:cNvSpPr/>
            <p:nvPr/>
          </p:nvSpPr>
          <p:spPr>
            <a:xfrm>
              <a:off x="4512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7" name="Oval 207"/>
            <p:cNvSpPr/>
            <p:nvPr/>
          </p:nvSpPr>
          <p:spPr>
            <a:xfrm>
              <a:off x="4512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8" name="Oval 208"/>
            <p:cNvSpPr/>
            <p:nvPr/>
          </p:nvSpPr>
          <p:spPr>
            <a:xfrm>
              <a:off x="4512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69" name="Oval 209"/>
            <p:cNvSpPr/>
            <p:nvPr/>
          </p:nvSpPr>
          <p:spPr>
            <a:xfrm>
              <a:off x="4512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3394" name="Text Box 210"/>
          <p:cNvSpPr txBox="1"/>
          <p:nvPr/>
        </p:nvSpPr>
        <p:spPr>
          <a:xfrm>
            <a:off x="457200" y="6096000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与阵列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8×16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，或阵列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4×16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，总点数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192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3395" name="Oval 211"/>
          <p:cNvSpPr/>
          <p:nvPr/>
        </p:nvSpPr>
        <p:spPr>
          <a:xfrm>
            <a:off x="1828800" y="40386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6897" name="Group 212"/>
          <p:cNvGrpSpPr/>
          <p:nvPr/>
        </p:nvGrpSpPr>
        <p:grpSpPr>
          <a:xfrm>
            <a:off x="2209800" y="4038600"/>
            <a:ext cx="152400" cy="609600"/>
            <a:chOff x="1392" y="2544"/>
            <a:chExt cx="96" cy="384"/>
          </a:xfrm>
        </p:grpSpPr>
        <p:sp>
          <p:nvSpPr>
            <p:cNvPr id="66773" name="Oval 213"/>
            <p:cNvSpPr/>
            <p:nvPr/>
          </p:nvSpPr>
          <p:spPr>
            <a:xfrm>
              <a:off x="139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74" name="Oval 214"/>
            <p:cNvSpPr/>
            <p:nvPr/>
          </p:nvSpPr>
          <p:spPr>
            <a:xfrm>
              <a:off x="139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3399" name="Oval 215"/>
          <p:cNvSpPr/>
          <p:nvPr/>
        </p:nvSpPr>
        <p:spPr>
          <a:xfrm>
            <a:off x="2590800" y="44958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6898" name="Group 216"/>
          <p:cNvGrpSpPr/>
          <p:nvPr/>
        </p:nvGrpSpPr>
        <p:grpSpPr>
          <a:xfrm>
            <a:off x="2971800" y="4495800"/>
            <a:ext cx="152400" cy="685800"/>
            <a:chOff x="1872" y="2832"/>
            <a:chExt cx="96" cy="432"/>
          </a:xfrm>
        </p:grpSpPr>
        <p:sp>
          <p:nvSpPr>
            <p:cNvPr id="66777" name="Oval 217"/>
            <p:cNvSpPr/>
            <p:nvPr/>
          </p:nvSpPr>
          <p:spPr>
            <a:xfrm>
              <a:off x="187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78" name="Oval 218"/>
            <p:cNvSpPr/>
            <p:nvPr/>
          </p:nvSpPr>
          <p:spPr>
            <a:xfrm>
              <a:off x="187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899" name="Group 219"/>
          <p:cNvGrpSpPr/>
          <p:nvPr/>
        </p:nvGrpSpPr>
        <p:grpSpPr>
          <a:xfrm>
            <a:off x="3352800" y="4038600"/>
            <a:ext cx="152400" cy="1143000"/>
            <a:chOff x="2112" y="2544"/>
            <a:chExt cx="96" cy="720"/>
          </a:xfrm>
        </p:grpSpPr>
        <p:sp>
          <p:nvSpPr>
            <p:cNvPr id="66780" name="Oval 220"/>
            <p:cNvSpPr/>
            <p:nvPr/>
          </p:nvSpPr>
          <p:spPr>
            <a:xfrm>
              <a:off x="211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81" name="Oval 221"/>
            <p:cNvSpPr/>
            <p:nvPr/>
          </p:nvSpPr>
          <p:spPr>
            <a:xfrm>
              <a:off x="211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82" name="Oval 222"/>
            <p:cNvSpPr/>
            <p:nvPr/>
          </p:nvSpPr>
          <p:spPr>
            <a:xfrm>
              <a:off x="211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0" name="Group 223"/>
          <p:cNvGrpSpPr/>
          <p:nvPr/>
        </p:nvGrpSpPr>
        <p:grpSpPr>
          <a:xfrm>
            <a:off x="3733800" y="4038600"/>
            <a:ext cx="152400" cy="1143000"/>
            <a:chOff x="2352" y="2544"/>
            <a:chExt cx="96" cy="720"/>
          </a:xfrm>
        </p:grpSpPr>
        <p:sp>
          <p:nvSpPr>
            <p:cNvPr id="66784" name="Oval 224"/>
            <p:cNvSpPr/>
            <p:nvPr/>
          </p:nvSpPr>
          <p:spPr>
            <a:xfrm>
              <a:off x="235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85" name="Oval 225"/>
            <p:cNvSpPr/>
            <p:nvPr/>
          </p:nvSpPr>
          <p:spPr>
            <a:xfrm>
              <a:off x="235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3410" name="Oval 226"/>
          <p:cNvSpPr/>
          <p:nvPr/>
        </p:nvSpPr>
        <p:spPr>
          <a:xfrm>
            <a:off x="4114800" y="50292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6901" name="Group 227"/>
          <p:cNvGrpSpPr/>
          <p:nvPr/>
        </p:nvGrpSpPr>
        <p:grpSpPr>
          <a:xfrm>
            <a:off x="4495800" y="5029200"/>
            <a:ext cx="152400" cy="609600"/>
            <a:chOff x="2832" y="3168"/>
            <a:chExt cx="96" cy="384"/>
          </a:xfrm>
        </p:grpSpPr>
        <p:sp>
          <p:nvSpPr>
            <p:cNvPr id="66788" name="Oval 228"/>
            <p:cNvSpPr/>
            <p:nvPr/>
          </p:nvSpPr>
          <p:spPr>
            <a:xfrm>
              <a:off x="283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89" name="Oval 229"/>
            <p:cNvSpPr/>
            <p:nvPr/>
          </p:nvSpPr>
          <p:spPr>
            <a:xfrm>
              <a:off x="283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2" name="Group 230"/>
          <p:cNvGrpSpPr/>
          <p:nvPr/>
        </p:nvGrpSpPr>
        <p:grpSpPr>
          <a:xfrm>
            <a:off x="6781800" y="4038600"/>
            <a:ext cx="152400" cy="1600200"/>
            <a:chOff x="4272" y="2544"/>
            <a:chExt cx="96" cy="1008"/>
          </a:xfrm>
        </p:grpSpPr>
        <p:sp>
          <p:nvSpPr>
            <p:cNvPr id="66791" name="Oval 231"/>
            <p:cNvSpPr/>
            <p:nvPr/>
          </p:nvSpPr>
          <p:spPr>
            <a:xfrm>
              <a:off x="427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92" name="Oval 232"/>
            <p:cNvSpPr/>
            <p:nvPr/>
          </p:nvSpPr>
          <p:spPr>
            <a:xfrm>
              <a:off x="427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3417" name="Oval 233"/>
          <p:cNvSpPr/>
          <p:nvPr/>
        </p:nvSpPr>
        <p:spPr>
          <a:xfrm>
            <a:off x="7162800" y="54864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6903" name="Group 234"/>
          <p:cNvGrpSpPr/>
          <p:nvPr/>
        </p:nvGrpSpPr>
        <p:grpSpPr>
          <a:xfrm>
            <a:off x="4876800" y="4038600"/>
            <a:ext cx="152400" cy="1600200"/>
            <a:chOff x="3072" y="2544"/>
            <a:chExt cx="96" cy="1008"/>
          </a:xfrm>
        </p:grpSpPr>
        <p:sp>
          <p:nvSpPr>
            <p:cNvPr id="66795" name="Oval 235"/>
            <p:cNvSpPr/>
            <p:nvPr/>
          </p:nvSpPr>
          <p:spPr>
            <a:xfrm>
              <a:off x="307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96" name="Oval 236"/>
            <p:cNvSpPr/>
            <p:nvPr/>
          </p:nvSpPr>
          <p:spPr>
            <a:xfrm>
              <a:off x="307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797" name="Oval 237"/>
            <p:cNvSpPr/>
            <p:nvPr/>
          </p:nvSpPr>
          <p:spPr>
            <a:xfrm>
              <a:off x="307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4" name="Group 238"/>
          <p:cNvGrpSpPr/>
          <p:nvPr/>
        </p:nvGrpSpPr>
        <p:grpSpPr>
          <a:xfrm>
            <a:off x="5257800" y="4038600"/>
            <a:ext cx="152400" cy="1600200"/>
            <a:chOff x="3312" y="2544"/>
            <a:chExt cx="96" cy="1008"/>
          </a:xfrm>
        </p:grpSpPr>
        <p:sp>
          <p:nvSpPr>
            <p:cNvPr id="66799" name="Oval 239"/>
            <p:cNvSpPr/>
            <p:nvPr/>
          </p:nvSpPr>
          <p:spPr>
            <a:xfrm>
              <a:off x="331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0" name="Oval 240"/>
            <p:cNvSpPr/>
            <p:nvPr/>
          </p:nvSpPr>
          <p:spPr>
            <a:xfrm>
              <a:off x="331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1" name="Oval 241"/>
            <p:cNvSpPr/>
            <p:nvPr/>
          </p:nvSpPr>
          <p:spPr>
            <a:xfrm>
              <a:off x="331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2" name="Oval 242"/>
            <p:cNvSpPr/>
            <p:nvPr/>
          </p:nvSpPr>
          <p:spPr>
            <a:xfrm>
              <a:off x="331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5" name="Group 243"/>
          <p:cNvGrpSpPr/>
          <p:nvPr/>
        </p:nvGrpSpPr>
        <p:grpSpPr>
          <a:xfrm>
            <a:off x="5638800" y="4495800"/>
            <a:ext cx="152400" cy="1143000"/>
            <a:chOff x="3552" y="2832"/>
            <a:chExt cx="96" cy="720"/>
          </a:xfrm>
        </p:grpSpPr>
        <p:sp>
          <p:nvSpPr>
            <p:cNvPr id="66804" name="Oval 244"/>
            <p:cNvSpPr/>
            <p:nvPr/>
          </p:nvSpPr>
          <p:spPr>
            <a:xfrm>
              <a:off x="355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5" name="Oval 245"/>
            <p:cNvSpPr/>
            <p:nvPr/>
          </p:nvSpPr>
          <p:spPr>
            <a:xfrm>
              <a:off x="3552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6" name="Oval 246"/>
            <p:cNvSpPr/>
            <p:nvPr/>
          </p:nvSpPr>
          <p:spPr>
            <a:xfrm>
              <a:off x="355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6" name="Group 247"/>
          <p:cNvGrpSpPr/>
          <p:nvPr/>
        </p:nvGrpSpPr>
        <p:grpSpPr>
          <a:xfrm>
            <a:off x="6019800" y="4495800"/>
            <a:ext cx="152400" cy="1143000"/>
            <a:chOff x="3792" y="2832"/>
            <a:chExt cx="96" cy="720"/>
          </a:xfrm>
        </p:grpSpPr>
        <p:sp>
          <p:nvSpPr>
            <p:cNvPr id="66808" name="Oval 248"/>
            <p:cNvSpPr/>
            <p:nvPr/>
          </p:nvSpPr>
          <p:spPr>
            <a:xfrm>
              <a:off x="379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09" name="Oval 249"/>
            <p:cNvSpPr/>
            <p:nvPr/>
          </p:nvSpPr>
          <p:spPr>
            <a:xfrm>
              <a:off x="379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907" name="Group 250"/>
          <p:cNvGrpSpPr/>
          <p:nvPr/>
        </p:nvGrpSpPr>
        <p:grpSpPr>
          <a:xfrm>
            <a:off x="6400800" y="4038600"/>
            <a:ext cx="152400" cy="1600200"/>
            <a:chOff x="4032" y="2544"/>
            <a:chExt cx="96" cy="1008"/>
          </a:xfrm>
        </p:grpSpPr>
        <p:sp>
          <p:nvSpPr>
            <p:cNvPr id="66811" name="Oval 251"/>
            <p:cNvSpPr/>
            <p:nvPr/>
          </p:nvSpPr>
          <p:spPr>
            <a:xfrm>
              <a:off x="4032" y="254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12" name="Oval 252"/>
            <p:cNvSpPr/>
            <p:nvPr/>
          </p:nvSpPr>
          <p:spPr>
            <a:xfrm>
              <a:off x="4032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813" name="Oval 253"/>
            <p:cNvSpPr/>
            <p:nvPr/>
          </p:nvSpPr>
          <p:spPr>
            <a:xfrm>
              <a:off x="4032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33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33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6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33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33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6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73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73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6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6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6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6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6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36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36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36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3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3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73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3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73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195" grpId="0"/>
      <p:bldP spid="733394" grpId="0"/>
      <p:bldP spid="733395" grpId="0" animBg="1"/>
      <p:bldP spid="733399" grpId="0" animBg="1"/>
      <p:bldP spid="733410" grpId="0" animBg="1"/>
      <p:bldP spid="7334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8450"/>
            <a:ext cx="8153400" cy="11493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位二进制计数器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+ROM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实现</a:t>
            </a:r>
            <a:b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典型格雷码计数器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5235" name="Rectangle 3"/>
          <p:cNvSpPr/>
          <p:nvPr/>
        </p:nvSpPr>
        <p:spPr>
          <a:xfrm>
            <a:off x="4457700" y="2590800"/>
            <a:ext cx="1441450" cy="187325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16 x 4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 algn="ctr">
              <a:buClrTx/>
              <a:buFontTx/>
            </a:pP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ROM</a:t>
            </a:r>
            <a:endParaRPr lang="en-US" altLang="zh-CN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590800" y="3095625"/>
            <a:ext cx="1866900" cy="863600"/>
            <a:chOff x="2400" y="1662"/>
            <a:chExt cx="408" cy="544"/>
          </a:xfrm>
        </p:grpSpPr>
        <p:sp>
          <p:nvSpPr>
            <p:cNvPr id="67589" name="Line 5"/>
            <p:cNvSpPr/>
            <p:nvPr/>
          </p:nvSpPr>
          <p:spPr>
            <a:xfrm>
              <a:off x="2400" y="1662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0" name="Line 6"/>
            <p:cNvSpPr/>
            <p:nvPr/>
          </p:nvSpPr>
          <p:spPr>
            <a:xfrm>
              <a:off x="2400" y="1843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1" name="Line 7"/>
            <p:cNvSpPr/>
            <p:nvPr/>
          </p:nvSpPr>
          <p:spPr>
            <a:xfrm>
              <a:off x="2400" y="2025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2" name="Line 8"/>
            <p:cNvSpPr/>
            <p:nvPr/>
          </p:nvSpPr>
          <p:spPr>
            <a:xfrm>
              <a:off x="2400" y="2206"/>
              <a:ext cx="40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9"/>
          <p:cNvGrpSpPr/>
          <p:nvPr/>
        </p:nvGrpSpPr>
        <p:grpSpPr>
          <a:xfrm>
            <a:off x="4602163" y="4464050"/>
            <a:ext cx="1079500" cy="1022350"/>
            <a:chOff x="2899" y="2524"/>
            <a:chExt cx="680" cy="272"/>
          </a:xfrm>
        </p:grpSpPr>
        <p:sp>
          <p:nvSpPr>
            <p:cNvPr id="67594" name="Line 10"/>
            <p:cNvSpPr/>
            <p:nvPr/>
          </p:nvSpPr>
          <p:spPr>
            <a:xfrm>
              <a:off x="2899" y="2524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5" name="Line 11"/>
            <p:cNvSpPr/>
            <p:nvPr/>
          </p:nvSpPr>
          <p:spPr>
            <a:xfrm>
              <a:off x="3125" y="2524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6" name="Line 12"/>
            <p:cNvSpPr/>
            <p:nvPr/>
          </p:nvSpPr>
          <p:spPr>
            <a:xfrm>
              <a:off x="3352" y="2524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7" name="Line 13"/>
            <p:cNvSpPr/>
            <p:nvPr/>
          </p:nvSpPr>
          <p:spPr>
            <a:xfrm>
              <a:off x="3579" y="2524"/>
              <a:ext cx="0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35246" name="Text Box 14"/>
          <p:cNvSpPr txBox="1"/>
          <p:nvPr/>
        </p:nvSpPr>
        <p:spPr>
          <a:xfrm>
            <a:off x="2590800" y="2149475"/>
            <a:ext cx="1905000" cy="82232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循环计数的</a:t>
            </a:r>
            <a:r>
              <a: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rPr>
              <a:t>8421</a:t>
            </a: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码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35247" name="Text Box 15"/>
          <p:cNvSpPr txBox="1"/>
          <p:nvPr/>
        </p:nvSpPr>
        <p:spPr>
          <a:xfrm>
            <a:off x="3581400" y="5638800"/>
            <a:ext cx="323215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Georgia" panose="02040502050405020303" pitchFamily="18" charset="0"/>
                <a:ea typeface="宋体" panose="02010600030101010101" pitchFamily="2" charset="-122"/>
              </a:rPr>
              <a:t>循环计数的典型格雷码</a:t>
            </a:r>
            <a:endParaRPr lang="zh-CN" altLang="en-US" sz="24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1371600" y="2590800"/>
            <a:ext cx="1219200" cy="1905000"/>
            <a:chOff x="864" y="1344"/>
            <a:chExt cx="768" cy="1200"/>
          </a:xfrm>
        </p:grpSpPr>
        <p:sp>
          <p:nvSpPr>
            <p:cNvPr id="67601" name="Rectangle 17"/>
            <p:cNvSpPr/>
            <p:nvPr/>
          </p:nvSpPr>
          <p:spPr>
            <a:xfrm>
              <a:off x="864" y="1344"/>
              <a:ext cx="768" cy="120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2" name="Text Box 18"/>
            <p:cNvSpPr txBox="1"/>
            <p:nvPr/>
          </p:nvSpPr>
          <p:spPr>
            <a:xfrm>
              <a:off x="864" y="1344"/>
              <a:ext cx="672" cy="11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位二进制计数器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9"/>
          <p:cNvGrpSpPr/>
          <p:nvPr/>
        </p:nvGrpSpPr>
        <p:grpSpPr>
          <a:xfrm>
            <a:off x="5943600" y="3048000"/>
            <a:ext cx="2819400" cy="946150"/>
            <a:chOff x="3744" y="1920"/>
            <a:chExt cx="1776" cy="596"/>
          </a:xfrm>
        </p:grpSpPr>
        <p:sp>
          <p:nvSpPr>
            <p:cNvPr id="67604" name="Text Box 20"/>
            <p:cNvSpPr txBox="1"/>
            <p:nvPr/>
          </p:nvSpPr>
          <p:spPr>
            <a:xfrm>
              <a:off x="4128" y="1920"/>
              <a:ext cx="139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ROM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中存储典型格雷码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5" name="Line 21"/>
            <p:cNvSpPr/>
            <p:nvPr/>
          </p:nvSpPr>
          <p:spPr>
            <a:xfrm flipH="1">
              <a:off x="3744" y="2208"/>
              <a:ext cx="432" cy="192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5" grpId="0" animBg="1"/>
      <p:bldP spid="735246" grpId="0"/>
      <p:bldP spid="73524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 可编程逻辑电路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413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中小规模可编程逻辑器件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只读存储器（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可编程逻辑阵列（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可编程阵列逻辑（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通用整列逻辑（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大规模可编程逻辑电路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41380" name="Rectangle 4"/>
          <p:cNvSpPr/>
          <p:nvPr/>
        </p:nvSpPr>
        <p:spPr>
          <a:xfrm>
            <a:off x="533400" y="23622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8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6672263" y="5926138"/>
            <a:ext cx="1905000" cy="457200"/>
          </a:xfrm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§2.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可编程逻辑阵列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(PLA)</a:t>
            </a:r>
            <a:endParaRPr kumimoji="0" lang="en-US" altLang="zh-CN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idx="1"/>
          </p:nvPr>
        </p:nvSpPr>
        <p:spPr>
          <a:xfrm>
            <a:off x="576263" y="1125538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的特点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输入地址和存储信息一一对应。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与阵列是译码器，包括全部最小项，信息表完全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针对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这一特点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逻辑压缩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3396" name="Rectangle 4"/>
          <p:cNvSpPr>
            <a:spLocks noChangeArrowheads="1"/>
          </p:cNvSpPr>
          <p:nvPr/>
        </p:nvSpPr>
        <p:spPr bwMode="auto">
          <a:xfrm>
            <a:off x="576263" y="3357563"/>
            <a:ext cx="8229600" cy="28924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2000" indent="-304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52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从逻辑设计的角度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62000" marR="0" lvl="1" indent="-3048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与阵列产生的全部最小项（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62000" marR="0" lvl="1" indent="-3048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不管实际的逻辑函数需要多少个最小项，这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个最小项都存在与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芯片中。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762000" marR="0" lvl="1" indent="-3048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为了提高芯片的利用率，与阵列不一定产生所有的最小项，只需产生逻辑函数所需的乘积项即可。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5" grpId="0"/>
      <p:bldP spid="44339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682" name="Group 249"/>
          <p:cNvGrpSpPr/>
          <p:nvPr/>
        </p:nvGrpSpPr>
        <p:grpSpPr>
          <a:xfrm>
            <a:off x="107950" y="188913"/>
            <a:ext cx="4724400" cy="4775200"/>
            <a:chOff x="68" y="119"/>
            <a:chExt cx="2976" cy="3008"/>
          </a:xfrm>
        </p:grpSpPr>
        <p:sp>
          <p:nvSpPr>
            <p:cNvPr id="71683" name="Text Box 2"/>
            <p:cNvSpPr txBox="1"/>
            <p:nvPr/>
          </p:nvSpPr>
          <p:spPr>
            <a:xfrm>
              <a:off x="731" y="119"/>
              <a:ext cx="150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 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684" name="Text Box 3"/>
            <p:cNvSpPr txBox="1"/>
            <p:nvPr/>
          </p:nvSpPr>
          <p:spPr>
            <a:xfrm>
              <a:off x="68" y="441"/>
              <a:ext cx="32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1685" name="Group 4"/>
            <p:cNvGrpSpPr/>
            <p:nvPr/>
          </p:nvGrpSpPr>
          <p:grpSpPr>
            <a:xfrm>
              <a:off x="288" y="637"/>
              <a:ext cx="211" cy="176"/>
              <a:chOff x="794" y="2361"/>
              <a:chExt cx="254" cy="253"/>
            </a:xfrm>
          </p:grpSpPr>
          <p:sp>
            <p:nvSpPr>
              <p:cNvPr id="71686" name="AutoShape 5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87" name="Oval 6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688" name="Line 7"/>
            <p:cNvSpPr/>
            <p:nvPr/>
          </p:nvSpPr>
          <p:spPr>
            <a:xfrm>
              <a:off x="476" y="813"/>
              <a:ext cx="113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89" name="Line 8"/>
            <p:cNvSpPr/>
            <p:nvPr/>
          </p:nvSpPr>
          <p:spPr>
            <a:xfrm flipV="1">
              <a:off x="470" y="592"/>
              <a:ext cx="119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0" name="Line 9"/>
            <p:cNvSpPr/>
            <p:nvPr/>
          </p:nvSpPr>
          <p:spPr>
            <a:xfrm>
              <a:off x="175" y="718"/>
              <a:ext cx="22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691" name="Group 10"/>
            <p:cNvGrpSpPr/>
            <p:nvPr/>
          </p:nvGrpSpPr>
          <p:grpSpPr>
            <a:xfrm>
              <a:off x="251" y="1172"/>
              <a:ext cx="210" cy="175"/>
              <a:chOff x="794" y="2361"/>
              <a:chExt cx="254" cy="253"/>
            </a:xfrm>
          </p:grpSpPr>
          <p:sp>
            <p:nvSpPr>
              <p:cNvPr id="71692" name="AutoShape 11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93" name="Oval 12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694" name="Line 13"/>
            <p:cNvSpPr/>
            <p:nvPr/>
          </p:nvSpPr>
          <p:spPr>
            <a:xfrm>
              <a:off x="439" y="1347"/>
              <a:ext cx="113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5" name="Line 14"/>
            <p:cNvSpPr/>
            <p:nvPr/>
          </p:nvSpPr>
          <p:spPr>
            <a:xfrm flipV="1">
              <a:off x="432" y="1127"/>
              <a:ext cx="120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6" name="Line 15"/>
            <p:cNvSpPr/>
            <p:nvPr/>
          </p:nvSpPr>
          <p:spPr>
            <a:xfrm>
              <a:off x="138" y="1253"/>
              <a:ext cx="2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7" name="Line 16"/>
            <p:cNvSpPr/>
            <p:nvPr/>
          </p:nvSpPr>
          <p:spPr>
            <a:xfrm>
              <a:off x="589" y="592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8" name="Line 17"/>
            <p:cNvSpPr/>
            <p:nvPr/>
          </p:nvSpPr>
          <p:spPr>
            <a:xfrm>
              <a:off x="589" y="87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9" name="Line 18"/>
            <p:cNvSpPr/>
            <p:nvPr/>
          </p:nvSpPr>
          <p:spPr>
            <a:xfrm>
              <a:off x="551" y="112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0" name="Line 19"/>
            <p:cNvSpPr/>
            <p:nvPr/>
          </p:nvSpPr>
          <p:spPr>
            <a:xfrm>
              <a:off x="551" y="1410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1" name="Line 20"/>
            <p:cNvSpPr/>
            <p:nvPr/>
          </p:nvSpPr>
          <p:spPr>
            <a:xfrm>
              <a:off x="927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2" name="Line 21"/>
            <p:cNvSpPr/>
            <p:nvPr/>
          </p:nvSpPr>
          <p:spPr>
            <a:xfrm>
              <a:off x="1303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3" name="Line 22"/>
            <p:cNvSpPr/>
            <p:nvPr/>
          </p:nvSpPr>
          <p:spPr>
            <a:xfrm>
              <a:off x="1680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4" name="Line 23"/>
            <p:cNvSpPr/>
            <p:nvPr/>
          </p:nvSpPr>
          <p:spPr>
            <a:xfrm>
              <a:off x="2056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05" name="Oval 24"/>
            <p:cNvSpPr>
              <a:spLocks noChangeAspect="1"/>
            </p:cNvSpPr>
            <p:nvPr/>
          </p:nvSpPr>
          <p:spPr>
            <a:xfrm>
              <a:off x="883" y="844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06" name="Oval 25"/>
            <p:cNvSpPr>
              <a:spLocks noChangeAspect="1"/>
            </p:cNvSpPr>
            <p:nvPr/>
          </p:nvSpPr>
          <p:spPr>
            <a:xfrm>
              <a:off x="883" y="1378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07" name="Oval 26"/>
            <p:cNvSpPr>
              <a:spLocks noChangeAspect="1"/>
            </p:cNvSpPr>
            <p:nvPr/>
          </p:nvSpPr>
          <p:spPr>
            <a:xfrm>
              <a:off x="1260" y="561"/>
              <a:ext cx="75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08" name="Oval 27"/>
            <p:cNvSpPr>
              <a:spLocks noChangeAspect="1"/>
            </p:cNvSpPr>
            <p:nvPr/>
          </p:nvSpPr>
          <p:spPr>
            <a:xfrm>
              <a:off x="1260" y="1378"/>
              <a:ext cx="75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09" name="Oval 28"/>
            <p:cNvSpPr>
              <a:spLocks noChangeAspect="1"/>
            </p:cNvSpPr>
            <p:nvPr/>
          </p:nvSpPr>
          <p:spPr>
            <a:xfrm>
              <a:off x="1636" y="1095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0" name="Oval 29"/>
            <p:cNvSpPr>
              <a:spLocks noChangeAspect="1"/>
            </p:cNvSpPr>
            <p:nvPr/>
          </p:nvSpPr>
          <p:spPr>
            <a:xfrm>
              <a:off x="1636" y="844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1" name="Oval 30"/>
            <p:cNvSpPr>
              <a:spLocks noChangeAspect="1"/>
            </p:cNvSpPr>
            <p:nvPr/>
          </p:nvSpPr>
          <p:spPr>
            <a:xfrm>
              <a:off x="2012" y="561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2" name="Oval 31"/>
            <p:cNvSpPr>
              <a:spLocks noChangeAspect="1"/>
            </p:cNvSpPr>
            <p:nvPr/>
          </p:nvSpPr>
          <p:spPr>
            <a:xfrm>
              <a:off x="2012" y="1095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3" name="Rectangle 32"/>
            <p:cNvSpPr/>
            <p:nvPr/>
          </p:nvSpPr>
          <p:spPr>
            <a:xfrm>
              <a:off x="686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4" name="Rectangle 33"/>
            <p:cNvSpPr/>
            <p:nvPr/>
          </p:nvSpPr>
          <p:spPr>
            <a:xfrm>
              <a:off x="1094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5" name="Rectangle 34"/>
            <p:cNvSpPr/>
            <p:nvPr/>
          </p:nvSpPr>
          <p:spPr>
            <a:xfrm>
              <a:off x="1502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6" name="Rectangle 35"/>
            <p:cNvSpPr/>
            <p:nvPr/>
          </p:nvSpPr>
          <p:spPr>
            <a:xfrm>
              <a:off x="1910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17" name="Line 36"/>
            <p:cNvSpPr/>
            <p:nvPr/>
          </p:nvSpPr>
          <p:spPr>
            <a:xfrm>
              <a:off x="2046" y="1810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18" name="Line 37"/>
            <p:cNvSpPr/>
            <p:nvPr/>
          </p:nvSpPr>
          <p:spPr>
            <a:xfrm>
              <a:off x="1684" y="1811"/>
              <a:ext cx="0" cy="12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19" name="Line 38"/>
            <p:cNvSpPr/>
            <p:nvPr/>
          </p:nvSpPr>
          <p:spPr>
            <a:xfrm>
              <a:off x="1275" y="1811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20" name="Line 39"/>
            <p:cNvSpPr/>
            <p:nvPr/>
          </p:nvSpPr>
          <p:spPr>
            <a:xfrm>
              <a:off x="912" y="1811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21" name="Line 40"/>
            <p:cNvSpPr/>
            <p:nvPr/>
          </p:nvSpPr>
          <p:spPr>
            <a:xfrm>
              <a:off x="731" y="2038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22" name="Line 41"/>
            <p:cNvSpPr/>
            <p:nvPr/>
          </p:nvSpPr>
          <p:spPr>
            <a:xfrm>
              <a:off x="731" y="2356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23" name="Line 42"/>
            <p:cNvSpPr/>
            <p:nvPr/>
          </p:nvSpPr>
          <p:spPr>
            <a:xfrm>
              <a:off x="731" y="2673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24" name="Line 43"/>
            <p:cNvSpPr/>
            <p:nvPr/>
          </p:nvSpPr>
          <p:spPr>
            <a:xfrm>
              <a:off x="731" y="294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725" name="Group 44"/>
            <p:cNvGrpSpPr/>
            <p:nvPr/>
          </p:nvGrpSpPr>
          <p:grpSpPr>
            <a:xfrm>
              <a:off x="867" y="1993"/>
              <a:ext cx="91" cy="91"/>
              <a:chOff x="1610" y="3657"/>
              <a:chExt cx="91" cy="91"/>
            </a:xfrm>
          </p:grpSpPr>
          <p:sp>
            <p:nvSpPr>
              <p:cNvPr id="71726" name="Line 4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27" name="Line 4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28" name="Group 47"/>
            <p:cNvGrpSpPr/>
            <p:nvPr/>
          </p:nvGrpSpPr>
          <p:grpSpPr>
            <a:xfrm>
              <a:off x="1230" y="1993"/>
              <a:ext cx="91" cy="91"/>
              <a:chOff x="1610" y="3657"/>
              <a:chExt cx="91" cy="91"/>
            </a:xfrm>
          </p:grpSpPr>
          <p:sp>
            <p:nvSpPr>
              <p:cNvPr id="71729" name="Line 4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30" name="Line 4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31" name="Group 50"/>
            <p:cNvGrpSpPr/>
            <p:nvPr/>
          </p:nvGrpSpPr>
          <p:grpSpPr>
            <a:xfrm>
              <a:off x="1638" y="1993"/>
              <a:ext cx="91" cy="91"/>
              <a:chOff x="1610" y="3657"/>
              <a:chExt cx="91" cy="91"/>
            </a:xfrm>
          </p:grpSpPr>
          <p:sp>
            <p:nvSpPr>
              <p:cNvPr id="71732" name="Line 5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33" name="Line 5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34" name="Group 53"/>
            <p:cNvGrpSpPr/>
            <p:nvPr/>
          </p:nvGrpSpPr>
          <p:grpSpPr>
            <a:xfrm>
              <a:off x="2001" y="1993"/>
              <a:ext cx="91" cy="91"/>
              <a:chOff x="1610" y="3657"/>
              <a:chExt cx="91" cy="91"/>
            </a:xfrm>
          </p:grpSpPr>
          <p:sp>
            <p:nvSpPr>
              <p:cNvPr id="71735" name="Line 5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36" name="Line 5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37" name="Group 56"/>
            <p:cNvGrpSpPr/>
            <p:nvPr/>
          </p:nvGrpSpPr>
          <p:grpSpPr>
            <a:xfrm>
              <a:off x="867" y="2310"/>
              <a:ext cx="91" cy="91"/>
              <a:chOff x="1610" y="3657"/>
              <a:chExt cx="91" cy="91"/>
            </a:xfrm>
          </p:grpSpPr>
          <p:sp>
            <p:nvSpPr>
              <p:cNvPr id="71738" name="Line 5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39" name="Line 5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40" name="Group 59"/>
            <p:cNvGrpSpPr/>
            <p:nvPr/>
          </p:nvGrpSpPr>
          <p:grpSpPr>
            <a:xfrm>
              <a:off x="1230" y="2310"/>
              <a:ext cx="91" cy="91"/>
              <a:chOff x="1610" y="3657"/>
              <a:chExt cx="91" cy="91"/>
            </a:xfrm>
          </p:grpSpPr>
          <p:sp>
            <p:nvSpPr>
              <p:cNvPr id="71741" name="Line 6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42" name="Line 6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43" name="Group 62"/>
            <p:cNvGrpSpPr/>
            <p:nvPr/>
          </p:nvGrpSpPr>
          <p:grpSpPr>
            <a:xfrm>
              <a:off x="1638" y="2310"/>
              <a:ext cx="91" cy="91"/>
              <a:chOff x="1610" y="3657"/>
              <a:chExt cx="91" cy="91"/>
            </a:xfrm>
          </p:grpSpPr>
          <p:sp>
            <p:nvSpPr>
              <p:cNvPr id="71744" name="Line 63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45" name="Line 64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46" name="Group 65"/>
            <p:cNvGrpSpPr/>
            <p:nvPr/>
          </p:nvGrpSpPr>
          <p:grpSpPr>
            <a:xfrm>
              <a:off x="2001" y="2310"/>
              <a:ext cx="91" cy="91"/>
              <a:chOff x="1610" y="3657"/>
              <a:chExt cx="91" cy="91"/>
            </a:xfrm>
          </p:grpSpPr>
          <p:sp>
            <p:nvSpPr>
              <p:cNvPr id="71747" name="Line 6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48" name="Line 6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49" name="Group 68"/>
            <p:cNvGrpSpPr/>
            <p:nvPr/>
          </p:nvGrpSpPr>
          <p:grpSpPr>
            <a:xfrm>
              <a:off x="867" y="2628"/>
              <a:ext cx="91" cy="91"/>
              <a:chOff x="1610" y="3657"/>
              <a:chExt cx="91" cy="91"/>
            </a:xfrm>
          </p:grpSpPr>
          <p:sp>
            <p:nvSpPr>
              <p:cNvPr id="71750" name="Line 6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51" name="Line 7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52" name="Group 71"/>
            <p:cNvGrpSpPr/>
            <p:nvPr/>
          </p:nvGrpSpPr>
          <p:grpSpPr>
            <a:xfrm>
              <a:off x="1230" y="2628"/>
              <a:ext cx="91" cy="91"/>
              <a:chOff x="1610" y="3657"/>
              <a:chExt cx="91" cy="91"/>
            </a:xfrm>
          </p:grpSpPr>
          <p:sp>
            <p:nvSpPr>
              <p:cNvPr id="71753" name="Line 7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54" name="Line 7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55" name="Group 74"/>
            <p:cNvGrpSpPr/>
            <p:nvPr/>
          </p:nvGrpSpPr>
          <p:grpSpPr>
            <a:xfrm>
              <a:off x="1638" y="2628"/>
              <a:ext cx="91" cy="91"/>
              <a:chOff x="1610" y="3657"/>
              <a:chExt cx="91" cy="91"/>
            </a:xfrm>
          </p:grpSpPr>
          <p:sp>
            <p:nvSpPr>
              <p:cNvPr id="71756" name="Line 7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57" name="Line 7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58" name="Group 77"/>
            <p:cNvGrpSpPr/>
            <p:nvPr/>
          </p:nvGrpSpPr>
          <p:grpSpPr>
            <a:xfrm>
              <a:off x="2001" y="2628"/>
              <a:ext cx="91" cy="91"/>
              <a:chOff x="1610" y="3657"/>
              <a:chExt cx="91" cy="91"/>
            </a:xfrm>
          </p:grpSpPr>
          <p:sp>
            <p:nvSpPr>
              <p:cNvPr id="71759" name="Line 7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60" name="Line 7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61" name="Group 80"/>
            <p:cNvGrpSpPr/>
            <p:nvPr/>
          </p:nvGrpSpPr>
          <p:grpSpPr>
            <a:xfrm>
              <a:off x="867" y="2900"/>
              <a:ext cx="91" cy="91"/>
              <a:chOff x="1610" y="3657"/>
              <a:chExt cx="91" cy="91"/>
            </a:xfrm>
          </p:grpSpPr>
          <p:sp>
            <p:nvSpPr>
              <p:cNvPr id="71762" name="Line 8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63" name="Line 8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64" name="Group 83"/>
            <p:cNvGrpSpPr/>
            <p:nvPr/>
          </p:nvGrpSpPr>
          <p:grpSpPr>
            <a:xfrm>
              <a:off x="1230" y="2900"/>
              <a:ext cx="91" cy="91"/>
              <a:chOff x="1610" y="3657"/>
              <a:chExt cx="91" cy="91"/>
            </a:xfrm>
          </p:grpSpPr>
          <p:sp>
            <p:nvSpPr>
              <p:cNvPr id="71765" name="Line 8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66" name="Line 8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67" name="Group 86"/>
            <p:cNvGrpSpPr/>
            <p:nvPr/>
          </p:nvGrpSpPr>
          <p:grpSpPr>
            <a:xfrm>
              <a:off x="1638" y="2900"/>
              <a:ext cx="91" cy="91"/>
              <a:chOff x="1610" y="3657"/>
              <a:chExt cx="91" cy="91"/>
            </a:xfrm>
          </p:grpSpPr>
          <p:sp>
            <p:nvSpPr>
              <p:cNvPr id="71768" name="Line 8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69" name="Line 8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770" name="Group 89"/>
            <p:cNvGrpSpPr/>
            <p:nvPr/>
          </p:nvGrpSpPr>
          <p:grpSpPr>
            <a:xfrm>
              <a:off x="2001" y="2900"/>
              <a:ext cx="91" cy="91"/>
              <a:chOff x="1610" y="3657"/>
              <a:chExt cx="91" cy="91"/>
            </a:xfrm>
          </p:grpSpPr>
          <p:sp>
            <p:nvSpPr>
              <p:cNvPr id="71771" name="Line 9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72" name="Line 9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1773" name="Rectangle 92"/>
            <p:cNvSpPr/>
            <p:nvPr/>
          </p:nvSpPr>
          <p:spPr>
            <a:xfrm>
              <a:off x="2455" y="185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74" name="Rectangle 93"/>
            <p:cNvSpPr/>
            <p:nvPr/>
          </p:nvSpPr>
          <p:spPr>
            <a:xfrm>
              <a:off x="2455" y="2220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75" name="Rectangle 94"/>
            <p:cNvSpPr/>
            <p:nvPr/>
          </p:nvSpPr>
          <p:spPr>
            <a:xfrm>
              <a:off x="2455" y="253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76" name="Rectangle 95"/>
            <p:cNvSpPr/>
            <p:nvPr/>
          </p:nvSpPr>
          <p:spPr>
            <a:xfrm>
              <a:off x="2455" y="2855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77" name="Line 96"/>
            <p:cNvSpPr/>
            <p:nvPr/>
          </p:nvSpPr>
          <p:spPr>
            <a:xfrm flipV="1">
              <a:off x="2636" y="2038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78" name="Line 97"/>
            <p:cNvSpPr/>
            <p:nvPr/>
          </p:nvSpPr>
          <p:spPr>
            <a:xfrm flipV="1">
              <a:off x="2636" y="2356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79" name="Text Box 98"/>
            <p:cNvSpPr txBox="1"/>
            <p:nvPr/>
          </p:nvSpPr>
          <p:spPr>
            <a:xfrm>
              <a:off x="2636" y="1766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80" name="Text Box 99"/>
            <p:cNvSpPr txBox="1"/>
            <p:nvPr/>
          </p:nvSpPr>
          <p:spPr>
            <a:xfrm>
              <a:off x="2636" y="211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81" name="Text Box 100"/>
            <p:cNvSpPr txBox="1"/>
            <p:nvPr/>
          </p:nvSpPr>
          <p:spPr>
            <a:xfrm>
              <a:off x="2636" y="240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82" name="Line 101"/>
            <p:cNvSpPr/>
            <p:nvPr/>
          </p:nvSpPr>
          <p:spPr>
            <a:xfrm flipV="1">
              <a:off x="2636" y="2673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83" name="Line 102"/>
            <p:cNvSpPr/>
            <p:nvPr/>
          </p:nvSpPr>
          <p:spPr>
            <a:xfrm flipV="1">
              <a:off x="2636" y="2991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84" name="Text Box 103"/>
            <p:cNvSpPr txBox="1"/>
            <p:nvPr/>
          </p:nvSpPr>
          <p:spPr>
            <a:xfrm>
              <a:off x="2636" y="2719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5688" name="Group 248"/>
          <p:cNvGrpSpPr/>
          <p:nvPr/>
        </p:nvGrpSpPr>
        <p:grpSpPr>
          <a:xfrm>
            <a:off x="4560888" y="188913"/>
            <a:ext cx="4691062" cy="4775200"/>
            <a:chOff x="2873" y="119"/>
            <a:chExt cx="2955" cy="3008"/>
          </a:xfrm>
        </p:grpSpPr>
        <p:sp>
          <p:nvSpPr>
            <p:cNvPr id="71786" name="Text Box 104"/>
            <p:cNvSpPr txBox="1"/>
            <p:nvPr/>
          </p:nvSpPr>
          <p:spPr>
            <a:xfrm>
              <a:off x="3515" y="119"/>
              <a:ext cx="150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 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87" name="Text Box 105"/>
            <p:cNvSpPr txBox="1"/>
            <p:nvPr/>
          </p:nvSpPr>
          <p:spPr>
            <a:xfrm>
              <a:off x="2873" y="427"/>
              <a:ext cx="32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1788" name="Group 106"/>
            <p:cNvGrpSpPr/>
            <p:nvPr/>
          </p:nvGrpSpPr>
          <p:grpSpPr>
            <a:xfrm>
              <a:off x="3072" y="637"/>
              <a:ext cx="211" cy="176"/>
              <a:chOff x="794" y="2361"/>
              <a:chExt cx="254" cy="253"/>
            </a:xfrm>
          </p:grpSpPr>
          <p:sp>
            <p:nvSpPr>
              <p:cNvPr id="71789" name="AutoShape 107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90" name="Oval 108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91" name="Line 109"/>
            <p:cNvSpPr/>
            <p:nvPr/>
          </p:nvSpPr>
          <p:spPr>
            <a:xfrm>
              <a:off x="3260" y="813"/>
              <a:ext cx="113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92" name="Line 110"/>
            <p:cNvSpPr/>
            <p:nvPr/>
          </p:nvSpPr>
          <p:spPr>
            <a:xfrm flipV="1">
              <a:off x="3254" y="592"/>
              <a:ext cx="119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93" name="Line 111"/>
            <p:cNvSpPr/>
            <p:nvPr/>
          </p:nvSpPr>
          <p:spPr>
            <a:xfrm>
              <a:off x="2959" y="718"/>
              <a:ext cx="22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794" name="Group 112"/>
            <p:cNvGrpSpPr/>
            <p:nvPr/>
          </p:nvGrpSpPr>
          <p:grpSpPr>
            <a:xfrm>
              <a:off x="3035" y="1172"/>
              <a:ext cx="210" cy="175"/>
              <a:chOff x="794" y="2361"/>
              <a:chExt cx="254" cy="253"/>
            </a:xfrm>
          </p:grpSpPr>
          <p:sp>
            <p:nvSpPr>
              <p:cNvPr id="71795" name="AutoShape 113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96" name="Oval 114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97" name="Line 115"/>
            <p:cNvSpPr/>
            <p:nvPr/>
          </p:nvSpPr>
          <p:spPr>
            <a:xfrm>
              <a:off x="3223" y="1347"/>
              <a:ext cx="113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98" name="Line 116"/>
            <p:cNvSpPr/>
            <p:nvPr/>
          </p:nvSpPr>
          <p:spPr>
            <a:xfrm flipV="1">
              <a:off x="3216" y="1127"/>
              <a:ext cx="120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99" name="Line 117"/>
            <p:cNvSpPr/>
            <p:nvPr/>
          </p:nvSpPr>
          <p:spPr>
            <a:xfrm>
              <a:off x="2922" y="1253"/>
              <a:ext cx="2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0" name="Line 118"/>
            <p:cNvSpPr/>
            <p:nvPr/>
          </p:nvSpPr>
          <p:spPr>
            <a:xfrm>
              <a:off x="3373" y="592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1" name="Line 119"/>
            <p:cNvSpPr/>
            <p:nvPr/>
          </p:nvSpPr>
          <p:spPr>
            <a:xfrm>
              <a:off x="3373" y="87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2" name="Line 120"/>
            <p:cNvSpPr/>
            <p:nvPr/>
          </p:nvSpPr>
          <p:spPr>
            <a:xfrm>
              <a:off x="3335" y="112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3" name="Line 121"/>
            <p:cNvSpPr/>
            <p:nvPr/>
          </p:nvSpPr>
          <p:spPr>
            <a:xfrm>
              <a:off x="3335" y="1410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4" name="Line 122"/>
            <p:cNvSpPr/>
            <p:nvPr/>
          </p:nvSpPr>
          <p:spPr>
            <a:xfrm>
              <a:off x="3711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5" name="Line 123"/>
            <p:cNvSpPr/>
            <p:nvPr/>
          </p:nvSpPr>
          <p:spPr>
            <a:xfrm>
              <a:off x="4087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6" name="Line 124"/>
            <p:cNvSpPr/>
            <p:nvPr/>
          </p:nvSpPr>
          <p:spPr>
            <a:xfrm>
              <a:off x="4464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7" name="Line 125"/>
            <p:cNvSpPr/>
            <p:nvPr/>
          </p:nvSpPr>
          <p:spPr>
            <a:xfrm>
              <a:off x="4840" y="404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08" name="Rectangle 126"/>
            <p:cNvSpPr/>
            <p:nvPr/>
          </p:nvSpPr>
          <p:spPr>
            <a:xfrm>
              <a:off x="3470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09" name="Rectangle 127"/>
            <p:cNvSpPr/>
            <p:nvPr/>
          </p:nvSpPr>
          <p:spPr>
            <a:xfrm>
              <a:off x="3878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10" name="Rectangle 128"/>
            <p:cNvSpPr/>
            <p:nvPr/>
          </p:nvSpPr>
          <p:spPr>
            <a:xfrm>
              <a:off x="4286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11" name="Rectangle 129"/>
            <p:cNvSpPr/>
            <p:nvPr/>
          </p:nvSpPr>
          <p:spPr>
            <a:xfrm>
              <a:off x="4694" y="1630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12" name="Line 130"/>
            <p:cNvSpPr/>
            <p:nvPr/>
          </p:nvSpPr>
          <p:spPr>
            <a:xfrm>
              <a:off x="4830" y="1810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3" name="Line 131"/>
            <p:cNvSpPr/>
            <p:nvPr/>
          </p:nvSpPr>
          <p:spPr>
            <a:xfrm>
              <a:off x="4468" y="1811"/>
              <a:ext cx="0" cy="12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4" name="Line 132"/>
            <p:cNvSpPr/>
            <p:nvPr/>
          </p:nvSpPr>
          <p:spPr>
            <a:xfrm>
              <a:off x="4059" y="1811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5" name="Line 133"/>
            <p:cNvSpPr/>
            <p:nvPr/>
          </p:nvSpPr>
          <p:spPr>
            <a:xfrm>
              <a:off x="3696" y="1811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6" name="Line 134"/>
            <p:cNvSpPr/>
            <p:nvPr/>
          </p:nvSpPr>
          <p:spPr>
            <a:xfrm>
              <a:off x="3515" y="2038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7" name="Line 135"/>
            <p:cNvSpPr/>
            <p:nvPr/>
          </p:nvSpPr>
          <p:spPr>
            <a:xfrm>
              <a:off x="3515" y="2356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8" name="Line 136"/>
            <p:cNvSpPr/>
            <p:nvPr/>
          </p:nvSpPr>
          <p:spPr>
            <a:xfrm>
              <a:off x="3515" y="2673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19" name="Line 137"/>
            <p:cNvSpPr/>
            <p:nvPr/>
          </p:nvSpPr>
          <p:spPr>
            <a:xfrm>
              <a:off x="3515" y="294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820" name="Group 138"/>
            <p:cNvGrpSpPr/>
            <p:nvPr/>
          </p:nvGrpSpPr>
          <p:grpSpPr>
            <a:xfrm>
              <a:off x="3651" y="1993"/>
              <a:ext cx="91" cy="91"/>
              <a:chOff x="1610" y="3657"/>
              <a:chExt cx="91" cy="91"/>
            </a:xfrm>
          </p:grpSpPr>
          <p:sp>
            <p:nvSpPr>
              <p:cNvPr id="71821" name="Line 13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22" name="Line 14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23" name="Group 141"/>
            <p:cNvGrpSpPr/>
            <p:nvPr/>
          </p:nvGrpSpPr>
          <p:grpSpPr>
            <a:xfrm>
              <a:off x="4014" y="1993"/>
              <a:ext cx="91" cy="91"/>
              <a:chOff x="1610" y="3657"/>
              <a:chExt cx="91" cy="91"/>
            </a:xfrm>
          </p:grpSpPr>
          <p:sp>
            <p:nvSpPr>
              <p:cNvPr id="71824" name="Line 14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25" name="Line 14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26" name="Group 144"/>
            <p:cNvGrpSpPr/>
            <p:nvPr/>
          </p:nvGrpSpPr>
          <p:grpSpPr>
            <a:xfrm>
              <a:off x="4422" y="1993"/>
              <a:ext cx="91" cy="91"/>
              <a:chOff x="1610" y="3657"/>
              <a:chExt cx="91" cy="91"/>
            </a:xfrm>
          </p:grpSpPr>
          <p:sp>
            <p:nvSpPr>
              <p:cNvPr id="71827" name="Line 14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28" name="Line 14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29" name="Group 147"/>
            <p:cNvGrpSpPr/>
            <p:nvPr/>
          </p:nvGrpSpPr>
          <p:grpSpPr>
            <a:xfrm>
              <a:off x="4785" y="1993"/>
              <a:ext cx="91" cy="91"/>
              <a:chOff x="1610" y="3657"/>
              <a:chExt cx="91" cy="91"/>
            </a:xfrm>
          </p:grpSpPr>
          <p:sp>
            <p:nvSpPr>
              <p:cNvPr id="71830" name="Line 14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31" name="Line 14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32" name="Group 150"/>
            <p:cNvGrpSpPr/>
            <p:nvPr/>
          </p:nvGrpSpPr>
          <p:grpSpPr>
            <a:xfrm>
              <a:off x="3651" y="2310"/>
              <a:ext cx="91" cy="91"/>
              <a:chOff x="1610" y="3657"/>
              <a:chExt cx="91" cy="91"/>
            </a:xfrm>
          </p:grpSpPr>
          <p:sp>
            <p:nvSpPr>
              <p:cNvPr id="71833" name="Line 15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34" name="Line 15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35" name="Group 153"/>
            <p:cNvGrpSpPr/>
            <p:nvPr/>
          </p:nvGrpSpPr>
          <p:grpSpPr>
            <a:xfrm>
              <a:off x="4014" y="2310"/>
              <a:ext cx="91" cy="91"/>
              <a:chOff x="1610" y="3657"/>
              <a:chExt cx="91" cy="91"/>
            </a:xfrm>
          </p:grpSpPr>
          <p:sp>
            <p:nvSpPr>
              <p:cNvPr id="71836" name="Line 15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37" name="Line 15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38" name="Group 156"/>
            <p:cNvGrpSpPr/>
            <p:nvPr/>
          </p:nvGrpSpPr>
          <p:grpSpPr>
            <a:xfrm>
              <a:off x="4422" y="2310"/>
              <a:ext cx="91" cy="91"/>
              <a:chOff x="1610" y="3657"/>
              <a:chExt cx="91" cy="91"/>
            </a:xfrm>
          </p:grpSpPr>
          <p:sp>
            <p:nvSpPr>
              <p:cNvPr id="71839" name="Line 15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40" name="Line 15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41" name="Group 159"/>
            <p:cNvGrpSpPr/>
            <p:nvPr/>
          </p:nvGrpSpPr>
          <p:grpSpPr>
            <a:xfrm>
              <a:off x="4785" y="2310"/>
              <a:ext cx="91" cy="91"/>
              <a:chOff x="1610" y="3657"/>
              <a:chExt cx="91" cy="91"/>
            </a:xfrm>
          </p:grpSpPr>
          <p:sp>
            <p:nvSpPr>
              <p:cNvPr id="71842" name="Line 16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43" name="Line 16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44" name="Group 162"/>
            <p:cNvGrpSpPr/>
            <p:nvPr/>
          </p:nvGrpSpPr>
          <p:grpSpPr>
            <a:xfrm>
              <a:off x="3651" y="2628"/>
              <a:ext cx="91" cy="91"/>
              <a:chOff x="1610" y="3657"/>
              <a:chExt cx="91" cy="91"/>
            </a:xfrm>
          </p:grpSpPr>
          <p:sp>
            <p:nvSpPr>
              <p:cNvPr id="71845" name="Line 163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46" name="Line 164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47" name="Group 165"/>
            <p:cNvGrpSpPr/>
            <p:nvPr/>
          </p:nvGrpSpPr>
          <p:grpSpPr>
            <a:xfrm>
              <a:off x="4014" y="2628"/>
              <a:ext cx="91" cy="91"/>
              <a:chOff x="1610" y="3657"/>
              <a:chExt cx="91" cy="91"/>
            </a:xfrm>
          </p:grpSpPr>
          <p:sp>
            <p:nvSpPr>
              <p:cNvPr id="71848" name="Line 16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49" name="Line 16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50" name="Group 168"/>
            <p:cNvGrpSpPr/>
            <p:nvPr/>
          </p:nvGrpSpPr>
          <p:grpSpPr>
            <a:xfrm>
              <a:off x="4422" y="2628"/>
              <a:ext cx="91" cy="91"/>
              <a:chOff x="1610" y="3657"/>
              <a:chExt cx="91" cy="91"/>
            </a:xfrm>
          </p:grpSpPr>
          <p:sp>
            <p:nvSpPr>
              <p:cNvPr id="71851" name="Line 16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52" name="Line 17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53" name="Group 171"/>
            <p:cNvGrpSpPr/>
            <p:nvPr/>
          </p:nvGrpSpPr>
          <p:grpSpPr>
            <a:xfrm>
              <a:off x="4785" y="2628"/>
              <a:ext cx="91" cy="91"/>
              <a:chOff x="1610" y="3657"/>
              <a:chExt cx="91" cy="91"/>
            </a:xfrm>
          </p:grpSpPr>
          <p:sp>
            <p:nvSpPr>
              <p:cNvPr id="71854" name="Line 17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55" name="Line 17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56" name="Group 174"/>
            <p:cNvGrpSpPr/>
            <p:nvPr/>
          </p:nvGrpSpPr>
          <p:grpSpPr>
            <a:xfrm>
              <a:off x="3651" y="2900"/>
              <a:ext cx="91" cy="91"/>
              <a:chOff x="1610" y="3657"/>
              <a:chExt cx="91" cy="91"/>
            </a:xfrm>
          </p:grpSpPr>
          <p:sp>
            <p:nvSpPr>
              <p:cNvPr id="71857" name="Line 17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58" name="Line 17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59" name="Group 177"/>
            <p:cNvGrpSpPr/>
            <p:nvPr/>
          </p:nvGrpSpPr>
          <p:grpSpPr>
            <a:xfrm>
              <a:off x="4014" y="2900"/>
              <a:ext cx="91" cy="91"/>
              <a:chOff x="1610" y="3657"/>
              <a:chExt cx="91" cy="91"/>
            </a:xfrm>
          </p:grpSpPr>
          <p:sp>
            <p:nvSpPr>
              <p:cNvPr id="71860" name="Line 17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61" name="Line 17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62" name="Group 180"/>
            <p:cNvGrpSpPr/>
            <p:nvPr/>
          </p:nvGrpSpPr>
          <p:grpSpPr>
            <a:xfrm>
              <a:off x="4422" y="2900"/>
              <a:ext cx="91" cy="91"/>
              <a:chOff x="1610" y="3657"/>
              <a:chExt cx="91" cy="91"/>
            </a:xfrm>
          </p:grpSpPr>
          <p:sp>
            <p:nvSpPr>
              <p:cNvPr id="71863" name="Line 18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64" name="Line 18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65" name="Group 183"/>
            <p:cNvGrpSpPr/>
            <p:nvPr/>
          </p:nvGrpSpPr>
          <p:grpSpPr>
            <a:xfrm>
              <a:off x="4785" y="2900"/>
              <a:ext cx="91" cy="91"/>
              <a:chOff x="1610" y="3657"/>
              <a:chExt cx="91" cy="91"/>
            </a:xfrm>
          </p:grpSpPr>
          <p:sp>
            <p:nvSpPr>
              <p:cNvPr id="71866" name="Line 18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67" name="Line 18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1868" name="Rectangle 186"/>
            <p:cNvSpPr/>
            <p:nvPr/>
          </p:nvSpPr>
          <p:spPr>
            <a:xfrm>
              <a:off x="5239" y="185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69" name="Rectangle 187"/>
            <p:cNvSpPr/>
            <p:nvPr/>
          </p:nvSpPr>
          <p:spPr>
            <a:xfrm>
              <a:off x="5239" y="2220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0" name="Rectangle 188"/>
            <p:cNvSpPr/>
            <p:nvPr/>
          </p:nvSpPr>
          <p:spPr>
            <a:xfrm>
              <a:off x="5239" y="253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1" name="Rectangle 189"/>
            <p:cNvSpPr/>
            <p:nvPr/>
          </p:nvSpPr>
          <p:spPr>
            <a:xfrm>
              <a:off x="5239" y="2855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2" name="Line 190"/>
            <p:cNvSpPr/>
            <p:nvPr/>
          </p:nvSpPr>
          <p:spPr>
            <a:xfrm flipV="1">
              <a:off x="5420" y="2038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73" name="Line 191"/>
            <p:cNvSpPr/>
            <p:nvPr/>
          </p:nvSpPr>
          <p:spPr>
            <a:xfrm flipV="1">
              <a:off x="5420" y="2356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74" name="Text Box 192"/>
            <p:cNvSpPr txBox="1"/>
            <p:nvPr/>
          </p:nvSpPr>
          <p:spPr>
            <a:xfrm>
              <a:off x="5420" y="1766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5" name="Text Box 193"/>
            <p:cNvSpPr txBox="1"/>
            <p:nvPr/>
          </p:nvSpPr>
          <p:spPr>
            <a:xfrm>
              <a:off x="5420" y="211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6" name="Text Box 194"/>
            <p:cNvSpPr txBox="1"/>
            <p:nvPr/>
          </p:nvSpPr>
          <p:spPr>
            <a:xfrm>
              <a:off x="5420" y="240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7" name="Line 195"/>
            <p:cNvSpPr/>
            <p:nvPr/>
          </p:nvSpPr>
          <p:spPr>
            <a:xfrm flipV="1">
              <a:off x="5420" y="2673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78" name="Line 196"/>
            <p:cNvSpPr/>
            <p:nvPr/>
          </p:nvSpPr>
          <p:spPr>
            <a:xfrm flipV="1">
              <a:off x="5420" y="2991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79" name="Text Box 197"/>
            <p:cNvSpPr txBox="1"/>
            <p:nvPr/>
          </p:nvSpPr>
          <p:spPr>
            <a:xfrm>
              <a:off x="5420" y="2719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1880" name="Group 198"/>
            <p:cNvGrpSpPr/>
            <p:nvPr/>
          </p:nvGrpSpPr>
          <p:grpSpPr>
            <a:xfrm>
              <a:off x="3651" y="527"/>
              <a:ext cx="91" cy="91"/>
              <a:chOff x="1610" y="3657"/>
              <a:chExt cx="91" cy="91"/>
            </a:xfrm>
          </p:grpSpPr>
          <p:sp>
            <p:nvSpPr>
              <p:cNvPr id="71881" name="Line 19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82" name="Line 20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83" name="Group 201"/>
            <p:cNvGrpSpPr/>
            <p:nvPr/>
          </p:nvGrpSpPr>
          <p:grpSpPr>
            <a:xfrm>
              <a:off x="4014" y="527"/>
              <a:ext cx="91" cy="91"/>
              <a:chOff x="1610" y="3657"/>
              <a:chExt cx="91" cy="91"/>
            </a:xfrm>
          </p:grpSpPr>
          <p:sp>
            <p:nvSpPr>
              <p:cNvPr id="71884" name="Line 20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85" name="Line 20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86" name="Group 204"/>
            <p:cNvGrpSpPr/>
            <p:nvPr/>
          </p:nvGrpSpPr>
          <p:grpSpPr>
            <a:xfrm>
              <a:off x="4422" y="527"/>
              <a:ext cx="91" cy="91"/>
              <a:chOff x="1610" y="3657"/>
              <a:chExt cx="91" cy="91"/>
            </a:xfrm>
          </p:grpSpPr>
          <p:sp>
            <p:nvSpPr>
              <p:cNvPr id="71887" name="Line 20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88" name="Line 20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89" name="Group 207"/>
            <p:cNvGrpSpPr/>
            <p:nvPr/>
          </p:nvGrpSpPr>
          <p:grpSpPr>
            <a:xfrm>
              <a:off x="4785" y="527"/>
              <a:ext cx="91" cy="91"/>
              <a:chOff x="1610" y="3657"/>
              <a:chExt cx="91" cy="91"/>
            </a:xfrm>
          </p:grpSpPr>
          <p:sp>
            <p:nvSpPr>
              <p:cNvPr id="71890" name="Line 20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91" name="Line 20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92" name="Group 210"/>
            <p:cNvGrpSpPr/>
            <p:nvPr/>
          </p:nvGrpSpPr>
          <p:grpSpPr>
            <a:xfrm>
              <a:off x="3651" y="844"/>
              <a:ext cx="91" cy="91"/>
              <a:chOff x="1610" y="3657"/>
              <a:chExt cx="91" cy="91"/>
            </a:xfrm>
          </p:grpSpPr>
          <p:sp>
            <p:nvSpPr>
              <p:cNvPr id="71893" name="Line 21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94" name="Line 21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95" name="Group 213"/>
            <p:cNvGrpSpPr/>
            <p:nvPr/>
          </p:nvGrpSpPr>
          <p:grpSpPr>
            <a:xfrm>
              <a:off x="4014" y="844"/>
              <a:ext cx="91" cy="91"/>
              <a:chOff x="1610" y="3657"/>
              <a:chExt cx="91" cy="91"/>
            </a:xfrm>
          </p:grpSpPr>
          <p:sp>
            <p:nvSpPr>
              <p:cNvPr id="71896" name="Line 21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897" name="Line 21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898" name="Group 216"/>
            <p:cNvGrpSpPr/>
            <p:nvPr/>
          </p:nvGrpSpPr>
          <p:grpSpPr>
            <a:xfrm>
              <a:off x="4422" y="844"/>
              <a:ext cx="91" cy="91"/>
              <a:chOff x="1610" y="3657"/>
              <a:chExt cx="91" cy="91"/>
            </a:xfrm>
          </p:grpSpPr>
          <p:sp>
            <p:nvSpPr>
              <p:cNvPr id="71899" name="Line 21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00" name="Line 21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01" name="Group 219"/>
            <p:cNvGrpSpPr/>
            <p:nvPr/>
          </p:nvGrpSpPr>
          <p:grpSpPr>
            <a:xfrm>
              <a:off x="4785" y="844"/>
              <a:ext cx="91" cy="91"/>
              <a:chOff x="1610" y="3657"/>
              <a:chExt cx="91" cy="91"/>
            </a:xfrm>
          </p:grpSpPr>
          <p:sp>
            <p:nvSpPr>
              <p:cNvPr id="71902" name="Line 22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03" name="Line 22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04" name="Group 222"/>
            <p:cNvGrpSpPr/>
            <p:nvPr/>
          </p:nvGrpSpPr>
          <p:grpSpPr>
            <a:xfrm>
              <a:off x="3651" y="1071"/>
              <a:ext cx="91" cy="91"/>
              <a:chOff x="1610" y="3657"/>
              <a:chExt cx="91" cy="91"/>
            </a:xfrm>
          </p:grpSpPr>
          <p:sp>
            <p:nvSpPr>
              <p:cNvPr id="71905" name="Line 223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06" name="Line 224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07" name="Group 225"/>
            <p:cNvGrpSpPr/>
            <p:nvPr/>
          </p:nvGrpSpPr>
          <p:grpSpPr>
            <a:xfrm>
              <a:off x="4014" y="1071"/>
              <a:ext cx="91" cy="91"/>
              <a:chOff x="1610" y="3657"/>
              <a:chExt cx="91" cy="91"/>
            </a:xfrm>
          </p:grpSpPr>
          <p:sp>
            <p:nvSpPr>
              <p:cNvPr id="71908" name="Line 22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09" name="Line 22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10" name="Group 228"/>
            <p:cNvGrpSpPr/>
            <p:nvPr/>
          </p:nvGrpSpPr>
          <p:grpSpPr>
            <a:xfrm>
              <a:off x="4422" y="1071"/>
              <a:ext cx="91" cy="91"/>
              <a:chOff x="1610" y="3657"/>
              <a:chExt cx="91" cy="91"/>
            </a:xfrm>
          </p:grpSpPr>
          <p:sp>
            <p:nvSpPr>
              <p:cNvPr id="71911" name="Line 22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12" name="Line 23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13" name="Group 231"/>
            <p:cNvGrpSpPr/>
            <p:nvPr/>
          </p:nvGrpSpPr>
          <p:grpSpPr>
            <a:xfrm>
              <a:off x="4785" y="1071"/>
              <a:ext cx="91" cy="91"/>
              <a:chOff x="1610" y="3657"/>
              <a:chExt cx="91" cy="91"/>
            </a:xfrm>
          </p:grpSpPr>
          <p:sp>
            <p:nvSpPr>
              <p:cNvPr id="71914" name="Line 23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15" name="Line 23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16" name="Group 234"/>
            <p:cNvGrpSpPr/>
            <p:nvPr/>
          </p:nvGrpSpPr>
          <p:grpSpPr>
            <a:xfrm>
              <a:off x="3651" y="1344"/>
              <a:ext cx="91" cy="91"/>
              <a:chOff x="1610" y="3657"/>
              <a:chExt cx="91" cy="91"/>
            </a:xfrm>
          </p:grpSpPr>
          <p:sp>
            <p:nvSpPr>
              <p:cNvPr id="71917" name="Line 23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18" name="Line 23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19" name="Group 237"/>
            <p:cNvGrpSpPr/>
            <p:nvPr/>
          </p:nvGrpSpPr>
          <p:grpSpPr>
            <a:xfrm>
              <a:off x="4014" y="1344"/>
              <a:ext cx="91" cy="91"/>
              <a:chOff x="1610" y="3657"/>
              <a:chExt cx="91" cy="91"/>
            </a:xfrm>
          </p:grpSpPr>
          <p:sp>
            <p:nvSpPr>
              <p:cNvPr id="71920" name="Line 23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21" name="Line 23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22" name="Group 240"/>
            <p:cNvGrpSpPr/>
            <p:nvPr/>
          </p:nvGrpSpPr>
          <p:grpSpPr>
            <a:xfrm>
              <a:off x="4422" y="1344"/>
              <a:ext cx="91" cy="91"/>
              <a:chOff x="1610" y="3657"/>
              <a:chExt cx="91" cy="91"/>
            </a:xfrm>
          </p:grpSpPr>
          <p:sp>
            <p:nvSpPr>
              <p:cNvPr id="71923" name="Line 24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24" name="Line 24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1925" name="Group 243"/>
            <p:cNvGrpSpPr/>
            <p:nvPr/>
          </p:nvGrpSpPr>
          <p:grpSpPr>
            <a:xfrm>
              <a:off x="4785" y="1344"/>
              <a:ext cx="91" cy="91"/>
              <a:chOff x="1610" y="3657"/>
              <a:chExt cx="91" cy="91"/>
            </a:xfrm>
          </p:grpSpPr>
          <p:sp>
            <p:nvSpPr>
              <p:cNvPr id="71926" name="Line 24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927" name="Line 24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71928" name="Text Box 246"/>
          <p:cNvSpPr txBox="1"/>
          <p:nvPr/>
        </p:nvSpPr>
        <p:spPr>
          <a:xfrm>
            <a:off x="712788" y="4918075"/>
            <a:ext cx="4103687" cy="1004888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PROM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与阵列固定、或阵列可编程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445687" name="Text Box 247"/>
          <p:cNvSpPr txBox="1"/>
          <p:nvPr/>
        </p:nvSpPr>
        <p:spPr>
          <a:xfrm>
            <a:off x="5651500" y="4994275"/>
            <a:ext cx="3024188" cy="1004888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PLA 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与、或阵列均可编程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68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706" name="Group 249"/>
          <p:cNvGrpSpPr/>
          <p:nvPr/>
        </p:nvGrpSpPr>
        <p:grpSpPr>
          <a:xfrm>
            <a:off x="107950" y="525463"/>
            <a:ext cx="4691063" cy="4775200"/>
            <a:chOff x="68" y="331"/>
            <a:chExt cx="2955" cy="3008"/>
          </a:xfrm>
        </p:grpSpPr>
        <p:sp>
          <p:nvSpPr>
            <p:cNvPr id="72707" name="Text Box 184"/>
            <p:cNvSpPr txBox="1"/>
            <p:nvPr/>
          </p:nvSpPr>
          <p:spPr>
            <a:xfrm>
              <a:off x="2615" y="1978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08" name="Text Box 185"/>
            <p:cNvSpPr txBox="1"/>
            <p:nvPr/>
          </p:nvSpPr>
          <p:spPr>
            <a:xfrm>
              <a:off x="2615" y="232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09" name="Text Box 186"/>
            <p:cNvSpPr txBox="1"/>
            <p:nvPr/>
          </p:nvSpPr>
          <p:spPr>
            <a:xfrm>
              <a:off x="2615" y="261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10" name="Text Box 189"/>
            <p:cNvSpPr txBox="1"/>
            <p:nvPr/>
          </p:nvSpPr>
          <p:spPr>
            <a:xfrm>
              <a:off x="2615" y="293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2711" name="Group 248"/>
            <p:cNvGrpSpPr/>
            <p:nvPr/>
          </p:nvGrpSpPr>
          <p:grpSpPr>
            <a:xfrm>
              <a:off x="68" y="331"/>
              <a:ext cx="2819" cy="3008"/>
              <a:chOff x="68" y="331"/>
              <a:chExt cx="2819" cy="3008"/>
            </a:xfrm>
          </p:grpSpPr>
          <p:sp>
            <p:nvSpPr>
              <p:cNvPr id="72712" name="Text Box 96"/>
              <p:cNvSpPr txBox="1"/>
              <p:nvPr/>
            </p:nvSpPr>
            <p:spPr>
              <a:xfrm>
                <a:off x="710" y="331"/>
                <a:ext cx="150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18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8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       </a:t>
                </a:r>
                <a:r>
                  <a:rPr lang="en-US" altLang="zh-CN" sz="18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8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        </a:t>
                </a:r>
                <a:r>
                  <a:rPr lang="en-US" altLang="zh-CN" sz="18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8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      </a:t>
                </a:r>
                <a:r>
                  <a:rPr lang="en-US" altLang="zh-CN" sz="18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8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3" name="Text Box 97"/>
              <p:cNvSpPr txBox="1"/>
              <p:nvPr/>
            </p:nvSpPr>
            <p:spPr>
              <a:xfrm>
                <a:off x="68" y="639"/>
                <a:ext cx="324" cy="8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 algn="ctr">
                  <a:buClrTx/>
                  <a:buFontTx/>
                </a:pP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 algn="ctr">
                  <a:buClrTx/>
                  <a:buFontTx/>
                </a:pPr>
                <a:endPara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  <a:p>
                <a:pPr algn="ctr">
                  <a:buClrTx/>
                  <a:buFontTx/>
                </a:pPr>
                <a:r>
                  <a:rPr lang="en-US" altLang="zh-CN" sz="24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714" name="Group 98"/>
              <p:cNvGrpSpPr/>
              <p:nvPr/>
            </p:nvGrpSpPr>
            <p:grpSpPr>
              <a:xfrm>
                <a:off x="267" y="849"/>
                <a:ext cx="211" cy="176"/>
                <a:chOff x="794" y="2361"/>
                <a:chExt cx="254" cy="253"/>
              </a:xfrm>
            </p:grpSpPr>
            <p:sp>
              <p:nvSpPr>
                <p:cNvPr id="72715" name="AutoShape 99"/>
                <p:cNvSpPr>
                  <a:spLocks noChangeAspect="1"/>
                </p:cNvSpPr>
                <p:nvPr/>
              </p:nvSpPr>
              <p:spPr>
                <a:xfrm rot="-8100000">
                  <a:off x="793" y="2360"/>
                  <a:ext cx="231" cy="231"/>
                </a:xfrm>
                <a:prstGeom prst="rtTriangl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716" name="Oval 100"/>
                <p:cNvSpPr>
                  <a:spLocks noChangeAspect="1"/>
                </p:cNvSpPr>
                <p:nvPr/>
              </p:nvSpPr>
              <p:spPr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2717" name="Line 101"/>
              <p:cNvSpPr/>
              <p:nvPr/>
            </p:nvSpPr>
            <p:spPr>
              <a:xfrm>
                <a:off x="455" y="1025"/>
                <a:ext cx="113" cy="6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8" name="Line 102"/>
              <p:cNvSpPr/>
              <p:nvPr/>
            </p:nvSpPr>
            <p:spPr>
              <a:xfrm flipV="1">
                <a:off x="449" y="804"/>
                <a:ext cx="119" cy="6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19" name="Line 103"/>
              <p:cNvSpPr/>
              <p:nvPr/>
            </p:nvSpPr>
            <p:spPr>
              <a:xfrm>
                <a:off x="154" y="930"/>
                <a:ext cx="22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2720" name="Group 104"/>
              <p:cNvGrpSpPr/>
              <p:nvPr/>
            </p:nvGrpSpPr>
            <p:grpSpPr>
              <a:xfrm>
                <a:off x="230" y="1384"/>
                <a:ext cx="210" cy="175"/>
                <a:chOff x="794" y="2361"/>
                <a:chExt cx="254" cy="253"/>
              </a:xfrm>
            </p:grpSpPr>
            <p:sp>
              <p:nvSpPr>
                <p:cNvPr id="72721" name="AutoShape 105"/>
                <p:cNvSpPr>
                  <a:spLocks noChangeAspect="1"/>
                </p:cNvSpPr>
                <p:nvPr/>
              </p:nvSpPr>
              <p:spPr>
                <a:xfrm rot="-8100000">
                  <a:off x="793" y="2360"/>
                  <a:ext cx="231" cy="231"/>
                </a:xfrm>
                <a:prstGeom prst="rtTriangl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722" name="Oval 106"/>
                <p:cNvSpPr>
                  <a:spLocks noChangeAspect="1"/>
                </p:cNvSpPr>
                <p:nvPr/>
              </p:nvSpPr>
              <p:spPr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2723" name="Line 107"/>
              <p:cNvSpPr/>
              <p:nvPr/>
            </p:nvSpPr>
            <p:spPr>
              <a:xfrm>
                <a:off x="418" y="1559"/>
                <a:ext cx="113" cy="6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4" name="Line 108"/>
              <p:cNvSpPr/>
              <p:nvPr/>
            </p:nvSpPr>
            <p:spPr>
              <a:xfrm flipV="1">
                <a:off x="411" y="1339"/>
                <a:ext cx="120" cy="6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5" name="Line 109"/>
              <p:cNvSpPr/>
              <p:nvPr/>
            </p:nvSpPr>
            <p:spPr>
              <a:xfrm>
                <a:off x="117" y="1465"/>
                <a:ext cx="2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6" name="Line 110"/>
              <p:cNvSpPr/>
              <p:nvPr/>
            </p:nvSpPr>
            <p:spPr>
              <a:xfrm>
                <a:off x="568" y="804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7" name="Line 111"/>
              <p:cNvSpPr/>
              <p:nvPr/>
            </p:nvSpPr>
            <p:spPr>
              <a:xfrm>
                <a:off x="568" y="1087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8" name="Line 112"/>
              <p:cNvSpPr/>
              <p:nvPr/>
            </p:nvSpPr>
            <p:spPr>
              <a:xfrm>
                <a:off x="530" y="1339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29" name="Line 113"/>
              <p:cNvSpPr/>
              <p:nvPr/>
            </p:nvSpPr>
            <p:spPr>
              <a:xfrm>
                <a:off x="530" y="1622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0" name="Line 114"/>
              <p:cNvSpPr/>
              <p:nvPr/>
            </p:nvSpPr>
            <p:spPr>
              <a:xfrm>
                <a:off x="906" y="616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1" name="Line 115"/>
              <p:cNvSpPr/>
              <p:nvPr/>
            </p:nvSpPr>
            <p:spPr>
              <a:xfrm>
                <a:off x="1282" y="616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2" name="Line 116"/>
              <p:cNvSpPr/>
              <p:nvPr/>
            </p:nvSpPr>
            <p:spPr>
              <a:xfrm>
                <a:off x="1659" y="616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3" name="Line 117"/>
              <p:cNvSpPr/>
              <p:nvPr/>
            </p:nvSpPr>
            <p:spPr>
              <a:xfrm>
                <a:off x="2035" y="616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4" name="Rectangle 118"/>
              <p:cNvSpPr/>
              <p:nvPr/>
            </p:nvSpPr>
            <p:spPr>
              <a:xfrm>
                <a:off x="665" y="1842"/>
                <a:ext cx="363" cy="181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5" name="Rectangle 119"/>
              <p:cNvSpPr/>
              <p:nvPr/>
            </p:nvSpPr>
            <p:spPr>
              <a:xfrm>
                <a:off x="1073" y="1842"/>
                <a:ext cx="363" cy="181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6" name="Rectangle 120"/>
              <p:cNvSpPr/>
              <p:nvPr/>
            </p:nvSpPr>
            <p:spPr>
              <a:xfrm>
                <a:off x="1481" y="1842"/>
                <a:ext cx="363" cy="181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7" name="Rectangle 121"/>
              <p:cNvSpPr/>
              <p:nvPr/>
            </p:nvSpPr>
            <p:spPr>
              <a:xfrm>
                <a:off x="1889" y="1842"/>
                <a:ext cx="363" cy="181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8" name="Line 122"/>
              <p:cNvSpPr/>
              <p:nvPr/>
            </p:nvSpPr>
            <p:spPr>
              <a:xfrm>
                <a:off x="2025" y="2022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39" name="Line 123"/>
              <p:cNvSpPr/>
              <p:nvPr/>
            </p:nvSpPr>
            <p:spPr>
              <a:xfrm>
                <a:off x="1663" y="2023"/>
                <a:ext cx="0" cy="122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0" name="Line 124"/>
              <p:cNvSpPr/>
              <p:nvPr/>
            </p:nvSpPr>
            <p:spPr>
              <a:xfrm>
                <a:off x="1254" y="2023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1" name="Line 125"/>
              <p:cNvSpPr/>
              <p:nvPr/>
            </p:nvSpPr>
            <p:spPr>
              <a:xfrm>
                <a:off x="891" y="2023"/>
                <a:ext cx="0" cy="122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2" name="Line 126"/>
              <p:cNvSpPr/>
              <p:nvPr/>
            </p:nvSpPr>
            <p:spPr>
              <a:xfrm>
                <a:off x="710" y="2250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3" name="Line 127"/>
              <p:cNvSpPr/>
              <p:nvPr/>
            </p:nvSpPr>
            <p:spPr>
              <a:xfrm>
                <a:off x="710" y="2568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4" name="Line 128"/>
              <p:cNvSpPr/>
              <p:nvPr/>
            </p:nvSpPr>
            <p:spPr>
              <a:xfrm>
                <a:off x="710" y="2885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45" name="Line 129"/>
              <p:cNvSpPr/>
              <p:nvPr/>
            </p:nvSpPr>
            <p:spPr>
              <a:xfrm>
                <a:off x="710" y="3157"/>
                <a:ext cx="173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2746" name="Group 130"/>
              <p:cNvGrpSpPr/>
              <p:nvPr/>
            </p:nvGrpSpPr>
            <p:grpSpPr>
              <a:xfrm>
                <a:off x="846" y="2205"/>
                <a:ext cx="91" cy="91"/>
                <a:chOff x="1610" y="3657"/>
                <a:chExt cx="91" cy="91"/>
              </a:xfrm>
            </p:grpSpPr>
            <p:sp>
              <p:nvSpPr>
                <p:cNvPr id="72747" name="Line 131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48" name="Line 132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49" name="Group 133"/>
              <p:cNvGrpSpPr/>
              <p:nvPr/>
            </p:nvGrpSpPr>
            <p:grpSpPr>
              <a:xfrm>
                <a:off x="1209" y="2205"/>
                <a:ext cx="91" cy="91"/>
                <a:chOff x="1610" y="3657"/>
                <a:chExt cx="91" cy="91"/>
              </a:xfrm>
            </p:grpSpPr>
            <p:sp>
              <p:nvSpPr>
                <p:cNvPr id="72750" name="Line 134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51" name="Line 135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52" name="Group 136"/>
              <p:cNvGrpSpPr/>
              <p:nvPr/>
            </p:nvGrpSpPr>
            <p:grpSpPr>
              <a:xfrm>
                <a:off x="1617" y="2205"/>
                <a:ext cx="91" cy="91"/>
                <a:chOff x="1610" y="3657"/>
                <a:chExt cx="91" cy="91"/>
              </a:xfrm>
            </p:grpSpPr>
            <p:sp>
              <p:nvSpPr>
                <p:cNvPr id="72753" name="Line 137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54" name="Line 138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55" name="Group 139"/>
              <p:cNvGrpSpPr/>
              <p:nvPr/>
            </p:nvGrpSpPr>
            <p:grpSpPr>
              <a:xfrm>
                <a:off x="1980" y="2205"/>
                <a:ext cx="91" cy="91"/>
                <a:chOff x="1610" y="3657"/>
                <a:chExt cx="91" cy="91"/>
              </a:xfrm>
            </p:grpSpPr>
            <p:sp>
              <p:nvSpPr>
                <p:cNvPr id="72756" name="Line 140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57" name="Line 141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58" name="Group 142"/>
              <p:cNvGrpSpPr/>
              <p:nvPr/>
            </p:nvGrpSpPr>
            <p:grpSpPr>
              <a:xfrm>
                <a:off x="846" y="2522"/>
                <a:ext cx="91" cy="91"/>
                <a:chOff x="1610" y="3657"/>
                <a:chExt cx="91" cy="91"/>
              </a:xfrm>
            </p:grpSpPr>
            <p:sp>
              <p:nvSpPr>
                <p:cNvPr id="72759" name="Line 143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60" name="Line 144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61" name="Group 145"/>
              <p:cNvGrpSpPr/>
              <p:nvPr/>
            </p:nvGrpSpPr>
            <p:grpSpPr>
              <a:xfrm>
                <a:off x="1209" y="2522"/>
                <a:ext cx="91" cy="91"/>
                <a:chOff x="1610" y="3657"/>
                <a:chExt cx="91" cy="91"/>
              </a:xfrm>
            </p:grpSpPr>
            <p:sp>
              <p:nvSpPr>
                <p:cNvPr id="72762" name="Line 146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63" name="Line 147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64" name="Group 148"/>
              <p:cNvGrpSpPr/>
              <p:nvPr/>
            </p:nvGrpSpPr>
            <p:grpSpPr>
              <a:xfrm>
                <a:off x="1617" y="2522"/>
                <a:ext cx="91" cy="91"/>
                <a:chOff x="1610" y="3657"/>
                <a:chExt cx="91" cy="91"/>
              </a:xfrm>
            </p:grpSpPr>
            <p:sp>
              <p:nvSpPr>
                <p:cNvPr id="72765" name="Line 149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66" name="Line 150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67" name="Group 151"/>
              <p:cNvGrpSpPr/>
              <p:nvPr/>
            </p:nvGrpSpPr>
            <p:grpSpPr>
              <a:xfrm>
                <a:off x="1980" y="2522"/>
                <a:ext cx="91" cy="91"/>
                <a:chOff x="1610" y="3657"/>
                <a:chExt cx="91" cy="91"/>
              </a:xfrm>
            </p:grpSpPr>
            <p:sp>
              <p:nvSpPr>
                <p:cNvPr id="72768" name="Line 152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69" name="Line 153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70" name="Group 154"/>
              <p:cNvGrpSpPr/>
              <p:nvPr/>
            </p:nvGrpSpPr>
            <p:grpSpPr>
              <a:xfrm>
                <a:off x="846" y="2840"/>
                <a:ext cx="91" cy="91"/>
                <a:chOff x="1610" y="3657"/>
                <a:chExt cx="91" cy="91"/>
              </a:xfrm>
            </p:grpSpPr>
            <p:sp>
              <p:nvSpPr>
                <p:cNvPr id="72771" name="Line 155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72" name="Line 156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73" name="Group 157"/>
              <p:cNvGrpSpPr/>
              <p:nvPr/>
            </p:nvGrpSpPr>
            <p:grpSpPr>
              <a:xfrm>
                <a:off x="1209" y="2840"/>
                <a:ext cx="91" cy="91"/>
                <a:chOff x="1610" y="3657"/>
                <a:chExt cx="91" cy="91"/>
              </a:xfrm>
            </p:grpSpPr>
            <p:sp>
              <p:nvSpPr>
                <p:cNvPr id="72774" name="Line 158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75" name="Line 159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76" name="Group 160"/>
              <p:cNvGrpSpPr/>
              <p:nvPr/>
            </p:nvGrpSpPr>
            <p:grpSpPr>
              <a:xfrm>
                <a:off x="1617" y="2840"/>
                <a:ext cx="91" cy="91"/>
                <a:chOff x="1610" y="3657"/>
                <a:chExt cx="91" cy="91"/>
              </a:xfrm>
            </p:grpSpPr>
            <p:sp>
              <p:nvSpPr>
                <p:cNvPr id="72777" name="Line 161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78" name="Line 162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79" name="Group 163"/>
              <p:cNvGrpSpPr/>
              <p:nvPr/>
            </p:nvGrpSpPr>
            <p:grpSpPr>
              <a:xfrm>
                <a:off x="1980" y="2840"/>
                <a:ext cx="91" cy="91"/>
                <a:chOff x="1610" y="3657"/>
                <a:chExt cx="91" cy="91"/>
              </a:xfrm>
            </p:grpSpPr>
            <p:sp>
              <p:nvSpPr>
                <p:cNvPr id="72780" name="Line 164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81" name="Line 165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82" name="Group 166"/>
              <p:cNvGrpSpPr/>
              <p:nvPr/>
            </p:nvGrpSpPr>
            <p:grpSpPr>
              <a:xfrm>
                <a:off x="846" y="3112"/>
                <a:ext cx="91" cy="91"/>
                <a:chOff x="1610" y="3657"/>
                <a:chExt cx="91" cy="91"/>
              </a:xfrm>
            </p:grpSpPr>
            <p:sp>
              <p:nvSpPr>
                <p:cNvPr id="72783" name="Line 167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84" name="Line 168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85" name="Group 169"/>
              <p:cNvGrpSpPr/>
              <p:nvPr/>
            </p:nvGrpSpPr>
            <p:grpSpPr>
              <a:xfrm>
                <a:off x="1209" y="3112"/>
                <a:ext cx="91" cy="91"/>
                <a:chOff x="1610" y="3657"/>
                <a:chExt cx="91" cy="91"/>
              </a:xfrm>
            </p:grpSpPr>
            <p:sp>
              <p:nvSpPr>
                <p:cNvPr id="72786" name="Line 170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87" name="Line 171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88" name="Group 172"/>
              <p:cNvGrpSpPr/>
              <p:nvPr/>
            </p:nvGrpSpPr>
            <p:grpSpPr>
              <a:xfrm>
                <a:off x="1617" y="3112"/>
                <a:ext cx="91" cy="91"/>
                <a:chOff x="1610" y="3657"/>
                <a:chExt cx="91" cy="91"/>
              </a:xfrm>
            </p:grpSpPr>
            <p:sp>
              <p:nvSpPr>
                <p:cNvPr id="72789" name="Line 173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90" name="Line 174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791" name="Group 175"/>
              <p:cNvGrpSpPr/>
              <p:nvPr/>
            </p:nvGrpSpPr>
            <p:grpSpPr>
              <a:xfrm>
                <a:off x="1980" y="3112"/>
                <a:ext cx="91" cy="91"/>
                <a:chOff x="1610" y="3657"/>
                <a:chExt cx="91" cy="91"/>
              </a:xfrm>
            </p:grpSpPr>
            <p:sp>
              <p:nvSpPr>
                <p:cNvPr id="72792" name="Line 176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93" name="Line 177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794" name="Rectangle 178"/>
              <p:cNvSpPr/>
              <p:nvPr/>
            </p:nvSpPr>
            <p:spPr>
              <a:xfrm>
                <a:off x="2434" y="2069"/>
                <a:ext cx="181" cy="2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95" name="Rectangle 179"/>
              <p:cNvSpPr/>
              <p:nvPr/>
            </p:nvSpPr>
            <p:spPr>
              <a:xfrm>
                <a:off x="2434" y="2432"/>
                <a:ext cx="181" cy="2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96" name="Rectangle 180"/>
              <p:cNvSpPr/>
              <p:nvPr/>
            </p:nvSpPr>
            <p:spPr>
              <a:xfrm>
                <a:off x="2434" y="2749"/>
                <a:ext cx="181" cy="2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97" name="Rectangle 181"/>
              <p:cNvSpPr/>
              <p:nvPr/>
            </p:nvSpPr>
            <p:spPr>
              <a:xfrm>
                <a:off x="2434" y="3067"/>
                <a:ext cx="181" cy="2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98" name="Line 182"/>
              <p:cNvSpPr/>
              <p:nvPr/>
            </p:nvSpPr>
            <p:spPr>
              <a:xfrm flipV="1">
                <a:off x="2615" y="2250"/>
                <a:ext cx="27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799" name="Line 183"/>
              <p:cNvSpPr/>
              <p:nvPr/>
            </p:nvSpPr>
            <p:spPr>
              <a:xfrm flipV="1">
                <a:off x="2615" y="2568"/>
                <a:ext cx="27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800" name="Line 187"/>
              <p:cNvSpPr/>
              <p:nvPr/>
            </p:nvSpPr>
            <p:spPr>
              <a:xfrm flipV="1">
                <a:off x="2615" y="2885"/>
                <a:ext cx="27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801" name="Line 188"/>
              <p:cNvSpPr/>
              <p:nvPr/>
            </p:nvSpPr>
            <p:spPr>
              <a:xfrm flipV="1">
                <a:off x="2615" y="3203"/>
                <a:ext cx="27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2802" name="Group 190"/>
              <p:cNvGrpSpPr/>
              <p:nvPr/>
            </p:nvGrpSpPr>
            <p:grpSpPr>
              <a:xfrm>
                <a:off x="846" y="739"/>
                <a:ext cx="91" cy="91"/>
                <a:chOff x="1610" y="3657"/>
                <a:chExt cx="91" cy="91"/>
              </a:xfrm>
            </p:grpSpPr>
            <p:sp>
              <p:nvSpPr>
                <p:cNvPr id="72803" name="Line 191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04" name="Line 192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05" name="Group 193"/>
              <p:cNvGrpSpPr/>
              <p:nvPr/>
            </p:nvGrpSpPr>
            <p:grpSpPr>
              <a:xfrm>
                <a:off x="1209" y="739"/>
                <a:ext cx="91" cy="91"/>
                <a:chOff x="1610" y="3657"/>
                <a:chExt cx="91" cy="91"/>
              </a:xfrm>
            </p:grpSpPr>
            <p:sp>
              <p:nvSpPr>
                <p:cNvPr id="72806" name="Line 194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07" name="Line 195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08" name="Group 196"/>
              <p:cNvGrpSpPr/>
              <p:nvPr/>
            </p:nvGrpSpPr>
            <p:grpSpPr>
              <a:xfrm>
                <a:off x="1617" y="739"/>
                <a:ext cx="91" cy="91"/>
                <a:chOff x="1610" y="3657"/>
                <a:chExt cx="91" cy="91"/>
              </a:xfrm>
            </p:grpSpPr>
            <p:sp>
              <p:nvSpPr>
                <p:cNvPr id="72809" name="Line 197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10" name="Line 198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11" name="Group 199"/>
              <p:cNvGrpSpPr/>
              <p:nvPr/>
            </p:nvGrpSpPr>
            <p:grpSpPr>
              <a:xfrm>
                <a:off x="1980" y="739"/>
                <a:ext cx="91" cy="91"/>
                <a:chOff x="1610" y="3657"/>
                <a:chExt cx="91" cy="91"/>
              </a:xfrm>
            </p:grpSpPr>
            <p:sp>
              <p:nvSpPr>
                <p:cNvPr id="72812" name="Line 200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13" name="Line 201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14" name="Group 202"/>
              <p:cNvGrpSpPr/>
              <p:nvPr/>
            </p:nvGrpSpPr>
            <p:grpSpPr>
              <a:xfrm>
                <a:off x="846" y="1056"/>
                <a:ext cx="91" cy="91"/>
                <a:chOff x="1610" y="3657"/>
                <a:chExt cx="91" cy="91"/>
              </a:xfrm>
            </p:grpSpPr>
            <p:sp>
              <p:nvSpPr>
                <p:cNvPr id="72815" name="Line 203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16" name="Line 204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17" name="Group 205"/>
              <p:cNvGrpSpPr/>
              <p:nvPr/>
            </p:nvGrpSpPr>
            <p:grpSpPr>
              <a:xfrm>
                <a:off x="1209" y="1056"/>
                <a:ext cx="91" cy="91"/>
                <a:chOff x="1610" y="3657"/>
                <a:chExt cx="91" cy="91"/>
              </a:xfrm>
            </p:grpSpPr>
            <p:sp>
              <p:nvSpPr>
                <p:cNvPr id="72818" name="Line 206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19" name="Line 207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20" name="Group 208"/>
              <p:cNvGrpSpPr/>
              <p:nvPr/>
            </p:nvGrpSpPr>
            <p:grpSpPr>
              <a:xfrm>
                <a:off x="1617" y="1056"/>
                <a:ext cx="91" cy="91"/>
                <a:chOff x="1610" y="3657"/>
                <a:chExt cx="91" cy="91"/>
              </a:xfrm>
            </p:grpSpPr>
            <p:sp>
              <p:nvSpPr>
                <p:cNvPr id="72821" name="Line 209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22" name="Line 210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23" name="Group 211"/>
              <p:cNvGrpSpPr/>
              <p:nvPr/>
            </p:nvGrpSpPr>
            <p:grpSpPr>
              <a:xfrm>
                <a:off x="1980" y="1056"/>
                <a:ext cx="91" cy="91"/>
                <a:chOff x="1610" y="3657"/>
                <a:chExt cx="91" cy="91"/>
              </a:xfrm>
            </p:grpSpPr>
            <p:sp>
              <p:nvSpPr>
                <p:cNvPr id="72824" name="Line 212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25" name="Line 213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26" name="Group 214"/>
              <p:cNvGrpSpPr/>
              <p:nvPr/>
            </p:nvGrpSpPr>
            <p:grpSpPr>
              <a:xfrm>
                <a:off x="846" y="1283"/>
                <a:ext cx="91" cy="91"/>
                <a:chOff x="1610" y="3657"/>
                <a:chExt cx="91" cy="91"/>
              </a:xfrm>
            </p:grpSpPr>
            <p:sp>
              <p:nvSpPr>
                <p:cNvPr id="72827" name="Line 215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28" name="Line 216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29" name="Group 217"/>
              <p:cNvGrpSpPr/>
              <p:nvPr/>
            </p:nvGrpSpPr>
            <p:grpSpPr>
              <a:xfrm>
                <a:off x="1209" y="1283"/>
                <a:ext cx="91" cy="91"/>
                <a:chOff x="1610" y="3657"/>
                <a:chExt cx="91" cy="91"/>
              </a:xfrm>
            </p:grpSpPr>
            <p:sp>
              <p:nvSpPr>
                <p:cNvPr id="72830" name="Line 218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31" name="Line 219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32" name="Group 220"/>
              <p:cNvGrpSpPr/>
              <p:nvPr/>
            </p:nvGrpSpPr>
            <p:grpSpPr>
              <a:xfrm>
                <a:off x="1617" y="1283"/>
                <a:ext cx="91" cy="91"/>
                <a:chOff x="1610" y="3657"/>
                <a:chExt cx="91" cy="91"/>
              </a:xfrm>
            </p:grpSpPr>
            <p:sp>
              <p:nvSpPr>
                <p:cNvPr id="72833" name="Line 221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34" name="Line 222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35" name="Group 223"/>
              <p:cNvGrpSpPr/>
              <p:nvPr/>
            </p:nvGrpSpPr>
            <p:grpSpPr>
              <a:xfrm>
                <a:off x="1980" y="1283"/>
                <a:ext cx="91" cy="91"/>
                <a:chOff x="1610" y="3657"/>
                <a:chExt cx="91" cy="91"/>
              </a:xfrm>
            </p:grpSpPr>
            <p:sp>
              <p:nvSpPr>
                <p:cNvPr id="72836" name="Line 224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37" name="Line 225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38" name="Group 226"/>
              <p:cNvGrpSpPr/>
              <p:nvPr/>
            </p:nvGrpSpPr>
            <p:grpSpPr>
              <a:xfrm>
                <a:off x="846" y="1556"/>
                <a:ext cx="91" cy="91"/>
                <a:chOff x="1610" y="3657"/>
                <a:chExt cx="91" cy="91"/>
              </a:xfrm>
            </p:grpSpPr>
            <p:sp>
              <p:nvSpPr>
                <p:cNvPr id="72839" name="Line 227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40" name="Line 228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41" name="Group 229"/>
              <p:cNvGrpSpPr/>
              <p:nvPr/>
            </p:nvGrpSpPr>
            <p:grpSpPr>
              <a:xfrm>
                <a:off x="1209" y="1556"/>
                <a:ext cx="91" cy="91"/>
                <a:chOff x="1610" y="3657"/>
                <a:chExt cx="91" cy="91"/>
              </a:xfrm>
            </p:grpSpPr>
            <p:sp>
              <p:nvSpPr>
                <p:cNvPr id="72842" name="Line 230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43" name="Line 231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44" name="Group 232"/>
              <p:cNvGrpSpPr/>
              <p:nvPr/>
            </p:nvGrpSpPr>
            <p:grpSpPr>
              <a:xfrm>
                <a:off x="1617" y="1556"/>
                <a:ext cx="91" cy="91"/>
                <a:chOff x="1610" y="3657"/>
                <a:chExt cx="91" cy="91"/>
              </a:xfrm>
            </p:grpSpPr>
            <p:sp>
              <p:nvSpPr>
                <p:cNvPr id="72845" name="Line 233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46" name="Line 234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847" name="Group 235"/>
              <p:cNvGrpSpPr/>
              <p:nvPr/>
            </p:nvGrpSpPr>
            <p:grpSpPr>
              <a:xfrm>
                <a:off x="1980" y="1556"/>
                <a:ext cx="91" cy="91"/>
                <a:chOff x="1610" y="3657"/>
                <a:chExt cx="91" cy="91"/>
              </a:xfrm>
            </p:grpSpPr>
            <p:sp>
              <p:nvSpPr>
                <p:cNvPr id="72848" name="Line 236"/>
                <p:cNvSpPr/>
                <p:nvPr/>
              </p:nvSpPr>
              <p:spPr>
                <a:xfrm flipH="1">
                  <a:off x="1610" y="3657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49" name="Line 237"/>
                <p:cNvSpPr/>
                <p:nvPr/>
              </p:nvSpPr>
              <p:spPr>
                <a:xfrm rot="5400000" flipH="1">
                  <a:off x="1609" y="3656"/>
                  <a:ext cx="91" cy="91"/>
                </a:xfrm>
                <a:prstGeom prst="line">
                  <a:avLst/>
                </a:prstGeom>
                <a:ln w="254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446706" name="Text Box 242"/>
          <p:cNvSpPr txBox="1"/>
          <p:nvPr/>
        </p:nvSpPr>
        <p:spPr>
          <a:xfrm>
            <a:off x="4864100" y="5084763"/>
            <a:ext cx="3924300" cy="1004887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PAL 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与阵列可编程、或阵列固定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72851" name="Text Box 243"/>
          <p:cNvSpPr txBox="1"/>
          <p:nvPr/>
        </p:nvSpPr>
        <p:spPr>
          <a:xfrm>
            <a:off x="754063" y="5081588"/>
            <a:ext cx="3024187" cy="1004887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PLA </a:t>
            </a:r>
            <a:endParaRPr lang="en-US" altLang="zh-CN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与、或阵列均可编程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446714" name="Group 250"/>
          <p:cNvGrpSpPr/>
          <p:nvPr/>
        </p:nvGrpSpPr>
        <p:grpSpPr>
          <a:xfrm>
            <a:off x="4284663" y="525463"/>
            <a:ext cx="4691062" cy="4775200"/>
            <a:chOff x="2699" y="331"/>
            <a:chExt cx="2955" cy="3008"/>
          </a:xfrm>
        </p:grpSpPr>
        <p:sp>
          <p:nvSpPr>
            <p:cNvPr id="72853" name="Text Box 2"/>
            <p:cNvSpPr txBox="1"/>
            <p:nvPr/>
          </p:nvSpPr>
          <p:spPr>
            <a:xfrm>
              <a:off x="3341" y="331"/>
              <a:ext cx="150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 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54" name="Text Box 3"/>
            <p:cNvSpPr txBox="1"/>
            <p:nvPr/>
          </p:nvSpPr>
          <p:spPr>
            <a:xfrm>
              <a:off x="2699" y="639"/>
              <a:ext cx="32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2855" name="Group 4"/>
            <p:cNvGrpSpPr/>
            <p:nvPr/>
          </p:nvGrpSpPr>
          <p:grpSpPr>
            <a:xfrm>
              <a:off x="2898" y="849"/>
              <a:ext cx="211" cy="176"/>
              <a:chOff x="794" y="2361"/>
              <a:chExt cx="254" cy="253"/>
            </a:xfrm>
          </p:grpSpPr>
          <p:sp>
            <p:nvSpPr>
              <p:cNvPr id="72856" name="AutoShape 5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57" name="Oval 6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858" name="Line 7"/>
            <p:cNvSpPr/>
            <p:nvPr/>
          </p:nvSpPr>
          <p:spPr>
            <a:xfrm>
              <a:off x="3086" y="1025"/>
              <a:ext cx="113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59" name="Line 8"/>
            <p:cNvSpPr/>
            <p:nvPr/>
          </p:nvSpPr>
          <p:spPr>
            <a:xfrm flipV="1">
              <a:off x="3080" y="804"/>
              <a:ext cx="119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0" name="Line 9"/>
            <p:cNvSpPr/>
            <p:nvPr/>
          </p:nvSpPr>
          <p:spPr>
            <a:xfrm>
              <a:off x="2785" y="930"/>
              <a:ext cx="22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2861" name="Group 10"/>
            <p:cNvGrpSpPr/>
            <p:nvPr/>
          </p:nvGrpSpPr>
          <p:grpSpPr>
            <a:xfrm>
              <a:off x="2861" y="1384"/>
              <a:ext cx="210" cy="175"/>
              <a:chOff x="794" y="2361"/>
              <a:chExt cx="254" cy="253"/>
            </a:xfrm>
          </p:grpSpPr>
          <p:sp>
            <p:nvSpPr>
              <p:cNvPr id="72862" name="AutoShape 11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63" name="Oval 12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2864" name="Line 13"/>
            <p:cNvSpPr/>
            <p:nvPr/>
          </p:nvSpPr>
          <p:spPr>
            <a:xfrm>
              <a:off x="3049" y="1559"/>
              <a:ext cx="113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5" name="Line 14"/>
            <p:cNvSpPr/>
            <p:nvPr/>
          </p:nvSpPr>
          <p:spPr>
            <a:xfrm flipV="1">
              <a:off x="3042" y="1339"/>
              <a:ext cx="120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6" name="Line 15"/>
            <p:cNvSpPr/>
            <p:nvPr/>
          </p:nvSpPr>
          <p:spPr>
            <a:xfrm>
              <a:off x="2748" y="1465"/>
              <a:ext cx="2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7" name="Line 16"/>
            <p:cNvSpPr/>
            <p:nvPr/>
          </p:nvSpPr>
          <p:spPr>
            <a:xfrm>
              <a:off x="3199" y="804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8" name="Line 17"/>
            <p:cNvSpPr/>
            <p:nvPr/>
          </p:nvSpPr>
          <p:spPr>
            <a:xfrm>
              <a:off x="3199" y="108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69" name="Line 18"/>
            <p:cNvSpPr/>
            <p:nvPr/>
          </p:nvSpPr>
          <p:spPr>
            <a:xfrm>
              <a:off x="3161" y="1339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0" name="Line 19"/>
            <p:cNvSpPr/>
            <p:nvPr/>
          </p:nvSpPr>
          <p:spPr>
            <a:xfrm>
              <a:off x="3161" y="1622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1" name="Line 20"/>
            <p:cNvSpPr/>
            <p:nvPr/>
          </p:nvSpPr>
          <p:spPr>
            <a:xfrm>
              <a:off x="3537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2" name="Line 21"/>
            <p:cNvSpPr/>
            <p:nvPr/>
          </p:nvSpPr>
          <p:spPr>
            <a:xfrm>
              <a:off x="3913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3" name="Line 22"/>
            <p:cNvSpPr/>
            <p:nvPr/>
          </p:nvSpPr>
          <p:spPr>
            <a:xfrm>
              <a:off x="4290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4" name="Line 23"/>
            <p:cNvSpPr/>
            <p:nvPr/>
          </p:nvSpPr>
          <p:spPr>
            <a:xfrm>
              <a:off x="4666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75" name="Rectangle 24"/>
            <p:cNvSpPr/>
            <p:nvPr/>
          </p:nvSpPr>
          <p:spPr>
            <a:xfrm>
              <a:off x="3296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76" name="Rectangle 25"/>
            <p:cNvSpPr/>
            <p:nvPr/>
          </p:nvSpPr>
          <p:spPr>
            <a:xfrm>
              <a:off x="3704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77" name="Rectangle 26"/>
            <p:cNvSpPr/>
            <p:nvPr/>
          </p:nvSpPr>
          <p:spPr>
            <a:xfrm>
              <a:off x="4112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78" name="Rectangle 27"/>
            <p:cNvSpPr/>
            <p:nvPr/>
          </p:nvSpPr>
          <p:spPr>
            <a:xfrm>
              <a:off x="4520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79" name="Line 28"/>
            <p:cNvSpPr/>
            <p:nvPr/>
          </p:nvSpPr>
          <p:spPr>
            <a:xfrm>
              <a:off x="4656" y="2022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0" name="Line 29"/>
            <p:cNvSpPr/>
            <p:nvPr/>
          </p:nvSpPr>
          <p:spPr>
            <a:xfrm>
              <a:off x="4294" y="2023"/>
              <a:ext cx="0" cy="12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1" name="Line 30"/>
            <p:cNvSpPr/>
            <p:nvPr/>
          </p:nvSpPr>
          <p:spPr>
            <a:xfrm>
              <a:off x="3885" y="2023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2" name="Line 31"/>
            <p:cNvSpPr/>
            <p:nvPr/>
          </p:nvSpPr>
          <p:spPr>
            <a:xfrm>
              <a:off x="3522" y="2023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3" name="Line 32"/>
            <p:cNvSpPr/>
            <p:nvPr/>
          </p:nvSpPr>
          <p:spPr>
            <a:xfrm>
              <a:off x="3341" y="2250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4" name="Line 33"/>
            <p:cNvSpPr/>
            <p:nvPr/>
          </p:nvSpPr>
          <p:spPr>
            <a:xfrm>
              <a:off x="3341" y="2568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5" name="Line 34"/>
            <p:cNvSpPr/>
            <p:nvPr/>
          </p:nvSpPr>
          <p:spPr>
            <a:xfrm>
              <a:off x="3341" y="288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6" name="Line 35"/>
            <p:cNvSpPr/>
            <p:nvPr/>
          </p:nvSpPr>
          <p:spPr>
            <a:xfrm>
              <a:off x="3341" y="315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87" name="Rectangle 36"/>
            <p:cNvSpPr/>
            <p:nvPr/>
          </p:nvSpPr>
          <p:spPr>
            <a:xfrm>
              <a:off x="5065" y="2069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88" name="Rectangle 37"/>
            <p:cNvSpPr/>
            <p:nvPr/>
          </p:nvSpPr>
          <p:spPr>
            <a:xfrm>
              <a:off x="5065" y="2432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89" name="Rectangle 38"/>
            <p:cNvSpPr/>
            <p:nvPr/>
          </p:nvSpPr>
          <p:spPr>
            <a:xfrm>
              <a:off x="5065" y="2749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90" name="Rectangle 39"/>
            <p:cNvSpPr/>
            <p:nvPr/>
          </p:nvSpPr>
          <p:spPr>
            <a:xfrm>
              <a:off x="5065" y="306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91" name="Line 40"/>
            <p:cNvSpPr/>
            <p:nvPr/>
          </p:nvSpPr>
          <p:spPr>
            <a:xfrm flipV="1">
              <a:off x="5246" y="2250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92" name="Line 41"/>
            <p:cNvSpPr/>
            <p:nvPr/>
          </p:nvSpPr>
          <p:spPr>
            <a:xfrm flipV="1">
              <a:off x="5246" y="2568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93" name="Text Box 42"/>
            <p:cNvSpPr txBox="1"/>
            <p:nvPr/>
          </p:nvSpPr>
          <p:spPr>
            <a:xfrm>
              <a:off x="5246" y="1978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94" name="Text Box 43"/>
            <p:cNvSpPr txBox="1"/>
            <p:nvPr/>
          </p:nvSpPr>
          <p:spPr>
            <a:xfrm>
              <a:off x="5246" y="232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95" name="Text Box 44"/>
            <p:cNvSpPr txBox="1"/>
            <p:nvPr/>
          </p:nvSpPr>
          <p:spPr>
            <a:xfrm>
              <a:off x="5246" y="261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896" name="Line 45"/>
            <p:cNvSpPr/>
            <p:nvPr/>
          </p:nvSpPr>
          <p:spPr>
            <a:xfrm flipV="1">
              <a:off x="5246" y="2885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97" name="Line 46"/>
            <p:cNvSpPr/>
            <p:nvPr/>
          </p:nvSpPr>
          <p:spPr>
            <a:xfrm flipV="1">
              <a:off x="5246" y="3203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898" name="Text Box 47"/>
            <p:cNvSpPr txBox="1"/>
            <p:nvPr/>
          </p:nvSpPr>
          <p:spPr>
            <a:xfrm>
              <a:off x="5246" y="293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2899" name="Group 48"/>
            <p:cNvGrpSpPr/>
            <p:nvPr/>
          </p:nvGrpSpPr>
          <p:grpSpPr>
            <a:xfrm>
              <a:off x="3477" y="739"/>
              <a:ext cx="91" cy="91"/>
              <a:chOff x="1610" y="3657"/>
              <a:chExt cx="91" cy="91"/>
            </a:xfrm>
          </p:grpSpPr>
          <p:sp>
            <p:nvSpPr>
              <p:cNvPr id="72900" name="Line 4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01" name="Line 5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02" name="Group 51"/>
            <p:cNvGrpSpPr/>
            <p:nvPr/>
          </p:nvGrpSpPr>
          <p:grpSpPr>
            <a:xfrm>
              <a:off x="3840" y="739"/>
              <a:ext cx="91" cy="91"/>
              <a:chOff x="1610" y="3657"/>
              <a:chExt cx="91" cy="91"/>
            </a:xfrm>
          </p:grpSpPr>
          <p:sp>
            <p:nvSpPr>
              <p:cNvPr id="72903" name="Line 5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04" name="Line 5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05" name="Group 54"/>
            <p:cNvGrpSpPr/>
            <p:nvPr/>
          </p:nvGrpSpPr>
          <p:grpSpPr>
            <a:xfrm>
              <a:off x="4248" y="739"/>
              <a:ext cx="91" cy="91"/>
              <a:chOff x="1610" y="3657"/>
              <a:chExt cx="91" cy="91"/>
            </a:xfrm>
          </p:grpSpPr>
          <p:sp>
            <p:nvSpPr>
              <p:cNvPr id="72906" name="Line 5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07" name="Line 5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08" name="Group 57"/>
            <p:cNvGrpSpPr/>
            <p:nvPr/>
          </p:nvGrpSpPr>
          <p:grpSpPr>
            <a:xfrm>
              <a:off x="4611" y="739"/>
              <a:ext cx="91" cy="91"/>
              <a:chOff x="1610" y="3657"/>
              <a:chExt cx="91" cy="91"/>
            </a:xfrm>
          </p:grpSpPr>
          <p:sp>
            <p:nvSpPr>
              <p:cNvPr id="72909" name="Line 5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10" name="Line 5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11" name="Group 60"/>
            <p:cNvGrpSpPr/>
            <p:nvPr/>
          </p:nvGrpSpPr>
          <p:grpSpPr>
            <a:xfrm>
              <a:off x="3477" y="1056"/>
              <a:ext cx="91" cy="91"/>
              <a:chOff x="1610" y="3657"/>
              <a:chExt cx="91" cy="91"/>
            </a:xfrm>
          </p:grpSpPr>
          <p:sp>
            <p:nvSpPr>
              <p:cNvPr id="72912" name="Line 6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13" name="Line 6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14" name="Group 63"/>
            <p:cNvGrpSpPr/>
            <p:nvPr/>
          </p:nvGrpSpPr>
          <p:grpSpPr>
            <a:xfrm>
              <a:off x="3840" y="1056"/>
              <a:ext cx="91" cy="91"/>
              <a:chOff x="1610" y="3657"/>
              <a:chExt cx="91" cy="91"/>
            </a:xfrm>
          </p:grpSpPr>
          <p:sp>
            <p:nvSpPr>
              <p:cNvPr id="72915" name="Line 6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16" name="Line 6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17" name="Group 66"/>
            <p:cNvGrpSpPr/>
            <p:nvPr/>
          </p:nvGrpSpPr>
          <p:grpSpPr>
            <a:xfrm>
              <a:off x="4248" y="1056"/>
              <a:ext cx="91" cy="91"/>
              <a:chOff x="1610" y="3657"/>
              <a:chExt cx="91" cy="91"/>
            </a:xfrm>
          </p:grpSpPr>
          <p:sp>
            <p:nvSpPr>
              <p:cNvPr id="72918" name="Line 6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19" name="Line 6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20" name="Group 69"/>
            <p:cNvGrpSpPr/>
            <p:nvPr/>
          </p:nvGrpSpPr>
          <p:grpSpPr>
            <a:xfrm>
              <a:off x="4611" y="1056"/>
              <a:ext cx="91" cy="91"/>
              <a:chOff x="1610" y="3657"/>
              <a:chExt cx="91" cy="91"/>
            </a:xfrm>
          </p:grpSpPr>
          <p:sp>
            <p:nvSpPr>
              <p:cNvPr id="72921" name="Line 7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22" name="Line 7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23" name="Group 72"/>
            <p:cNvGrpSpPr/>
            <p:nvPr/>
          </p:nvGrpSpPr>
          <p:grpSpPr>
            <a:xfrm>
              <a:off x="3477" y="1283"/>
              <a:ext cx="91" cy="91"/>
              <a:chOff x="1610" y="3657"/>
              <a:chExt cx="91" cy="91"/>
            </a:xfrm>
          </p:grpSpPr>
          <p:sp>
            <p:nvSpPr>
              <p:cNvPr id="72924" name="Line 73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25" name="Line 74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26" name="Group 75"/>
            <p:cNvGrpSpPr/>
            <p:nvPr/>
          </p:nvGrpSpPr>
          <p:grpSpPr>
            <a:xfrm>
              <a:off x="3840" y="1283"/>
              <a:ext cx="91" cy="91"/>
              <a:chOff x="1610" y="3657"/>
              <a:chExt cx="91" cy="91"/>
            </a:xfrm>
          </p:grpSpPr>
          <p:sp>
            <p:nvSpPr>
              <p:cNvPr id="72927" name="Line 7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28" name="Line 7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29" name="Group 78"/>
            <p:cNvGrpSpPr/>
            <p:nvPr/>
          </p:nvGrpSpPr>
          <p:grpSpPr>
            <a:xfrm>
              <a:off x="4248" y="1283"/>
              <a:ext cx="91" cy="91"/>
              <a:chOff x="1610" y="3657"/>
              <a:chExt cx="91" cy="91"/>
            </a:xfrm>
          </p:grpSpPr>
          <p:sp>
            <p:nvSpPr>
              <p:cNvPr id="72930" name="Line 7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31" name="Line 8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32" name="Group 81"/>
            <p:cNvGrpSpPr/>
            <p:nvPr/>
          </p:nvGrpSpPr>
          <p:grpSpPr>
            <a:xfrm>
              <a:off x="4611" y="1283"/>
              <a:ext cx="91" cy="91"/>
              <a:chOff x="1610" y="3657"/>
              <a:chExt cx="91" cy="91"/>
            </a:xfrm>
          </p:grpSpPr>
          <p:sp>
            <p:nvSpPr>
              <p:cNvPr id="72933" name="Line 8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34" name="Line 8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35" name="Group 84"/>
            <p:cNvGrpSpPr/>
            <p:nvPr/>
          </p:nvGrpSpPr>
          <p:grpSpPr>
            <a:xfrm>
              <a:off x="3477" y="1556"/>
              <a:ext cx="91" cy="91"/>
              <a:chOff x="1610" y="3657"/>
              <a:chExt cx="91" cy="91"/>
            </a:xfrm>
          </p:grpSpPr>
          <p:sp>
            <p:nvSpPr>
              <p:cNvPr id="72936" name="Line 8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37" name="Line 8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38" name="Group 87"/>
            <p:cNvGrpSpPr/>
            <p:nvPr/>
          </p:nvGrpSpPr>
          <p:grpSpPr>
            <a:xfrm>
              <a:off x="3840" y="1556"/>
              <a:ext cx="91" cy="91"/>
              <a:chOff x="1610" y="3657"/>
              <a:chExt cx="91" cy="91"/>
            </a:xfrm>
          </p:grpSpPr>
          <p:sp>
            <p:nvSpPr>
              <p:cNvPr id="72939" name="Line 8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40" name="Line 8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41" name="Group 90"/>
            <p:cNvGrpSpPr/>
            <p:nvPr/>
          </p:nvGrpSpPr>
          <p:grpSpPr>
            <a:xfrm>
              <a:off x="4248" y="1556"/>
              <a:ext cx="91" cy="91"/>
              <a:chOff x="1610" y="3657"/>
              <a:chExt cx="91" cy="91"/>
            </a:xfrm>
          </p:grpSpPr>
          <p:sp>
            <p:nvSpPr>
              <p:cNvPr id="72942" name="Line 9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43" name="Line 9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944" name="Group 93"/>
            <p:cNvGrpSpPr/>
            <p:nvPr/>
          </p:nvGrpSpPr>
          <p:grpSpPr>
            <a:xfrm>
              <a:off x="4611" y="1556"/>
              <a:ext cx="91" cy="91"/>
              <a:chOff x="1610" y="3657"/>
              <a:chExt cx="91" cy="91"/>
            </a:xfrm>
          </p:grpSpPr>
          <p:sp>
            <p:nvSpPr>
              <p:cNvPr id="72945" name="Line 9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946" name="Line 9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2947" name="Oval 238"/>
            <p:cNvSpPr>
              <a:spLocks noChangeAspect="1"/>
            </p:cNvSpPr>
            <p:nvPr/>
          </p:nvSpPr>
          <p:spPr>
            <a:xfrm>
              <a:off x="4618" y="223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48" name="Oval 239"/>
            <p:cNvSpPr>
              <a:spLocks noChangeAspect="1"/>
            </p:cNvSpPr>
            <p:nvPr/>
          </p:nvSpPr>
          <p:spPr>
            <a:xfrm>
              <a:off x="4241" y="252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49" name="Oval 240"/>
            <p:cNvSpPr>
              <a:spLocks noChangeAspect="1"/>
            </p:cNvSpPr>
            <p:nvPr/>
          </p:nvSpPr>
          <p:spPr>
            <a:xfrm>
              <a:off x="3833" y="2868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50" name="Oval 241"/>
            <p:cNvSpPr>
              <a:spLocks noChangeAspect="1"/>
            </p:cNvSpPr>
            <p:nvPr/>
          </p:nvSpPr>
          <p:spPr>
            <a:xfrm>
              <a:off x="3470" y="3140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51" name="Oval 244"/>
            <p:cNvSpPr>
              <a:spLocks noChangeAspect="1"/>
            </p:cNvSpPr>
            <p:nvPr/>
          </p:nvSpPr>
          <p:spPr>
            <a:xfrm>
              <a:off x="4241" y="2205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52" name="Oval 245"/>
            <p:cNvSpPr>
              <a:spLocks noChangeAspect="1"/>
            </p:cNvSpPr>
            <p:nvPr/>
          </p:nvSpPr>
          <p:spPr>
            <a:xfrm>
              <a:off x="3833" y="252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53" name="Oval 246"/>
            <p:cNvSpPr>
              <a:spLocks noChangeAspect="1"/>
            </p:cNvSpPr>
            <p:nvPr/>
          </p:nvSpPr>
          <p:spPr>
            <a:xfrm>
              <a:off x="3470" y="2840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954" name="Oval 247"/>
            <p:cNvSpPr>
              <a:spLocks noChangeAspect="1"/>
            </p:cNvSpPr>
            <p:nvPr/>
          </p:nvSpPr>
          <p:spPr>
            <a:xfrm>
              <a:off x="4604" y="311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70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可编程逻辑阵列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37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实现组合逻辑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实现组合逻辑时，将逻辑表达式写成最简与－或表达式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再用与项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乘积项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:product)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操作构成或阵列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可编程逻辑阵列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4755" name="Rectangle 3"/>
          <p:cNvSpPr>
            <a:spLocks noGrp="1" noChangeArrowheads="1"/>
          </p:cNvSpPr>
          <p:nvPr>
            <p:ph idx="1"/>
          </p:nvPr>
        </p:nvSpPr>
        <p:spPr>
          <a:xfrm>
            <a:off x="620713" y="1412875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例：用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8421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码到格雷码的转换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8421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码表示为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，格雷码表示为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格雷码和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8421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码的转换关系如下：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4758" name="Text Box 6"/>
          <p:cNvSpPr txBox="1">
            <a:spLocks noChangeArrowheads="1"/>
          </p:cNvSpPr>
          <p:nvPr/>
        </p:nvSpPr>
        <p:spPr bwMode="auto">
          <a:xfrm>
            <a:off x="969963" y="5480050"/>
            <a:ext cx="4800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将每个不同的与项用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乘积项</a:t>
            </a:r>
            <a:r>
              <a:rPr kumimoji="0" lang="en-US" altLang="zh-CN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Pi</a:t>
            </a: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</a:t>
            </a:r>
            <a:endParaRPr kumimoji="0" lang="zh-CN" altLang="en-US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4759" name="AutoShape 7"/>
          <p:cNvSpPr/>
          <p:nvPr/>
        </p:nvSpPr>
        <p:spPr>
          <a:xfrm>
            <a:off x="4859338" y="3879850"/>
            <a:ext cx="1177925" cy="515938"/>
          </a:xfrm>
          <a:prstGeom prst="rightArrow">
            <a:avLst>
              <a:gd name="adj1" fmla="val 50000"/>
              <a:gd name="adj2" fmla="val 57066"/>
            </a:avLst>
          </a:prstGeom>
          <a:solidFill>
            <a:schemeClr val="accent1">
              <a:alpha val="59999"/>
            </a:schemeClr>
          </a:solidFill>
          <a:ln w="25400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4758" name="组合 9"/>
          <p:cNvGrpSpPr/>
          <p:nvPr/>
        </p:nvGrpSpPr>
        <p:grpSpPr>
          <a:xfrm>
            <a:off x="827088" y="2997200"/>
            <a:ext cx="4105275" cy="2149475"/>
            <a:chOff x="1547664" y="2001383"/>
            <a:chExt cx="4104456" cy="2149731"/>
          </a:xfrm>
        </p:grpSpPr>
        <p:sp>
          <p:nvSpPr>
            <p:cNvPr id="74759" name="文本框 10"/>
            <p:cNvSpPr txBox="1"/>
            <p:nvPr/>
          </p:nvSpPr>
          <p:spPr>
            <a:xfrm>
              <a:off x="1547664" y="2001383"/>
              <a:ext cx="4104456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760" name="文本框 11"/>
            <p:cNvSpPr txBox="1"/>
            <p:nvPr/>
          </p:nvSpPr>
          <p:spPr>
            <a:xfrm>
              <a:off x="1547664" y="2492896"/>
              <a:ext cx="3888432" cy="5790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—           —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761" name="文本框 12"/>
            <p:cNvSpPr txBox="1"/>
            <p:nvPr/>
          </p:nvSpPr>
          <p:spPr>
            <a:xfrm>
              <a:off x="1547664" y="3024683"/>
              <a:ext cx="3888432" cy="5790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—           —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762" name="文本框 13"/>
            <p:cNvSpPr txBox="1"/>
            <p:nvPr/>
          </p:nvSpPr>
          <p:spPr>
            <a:xfrm>
              <a:off x="1547664" y="3572045"/>
              <a:ext cx="3888432" cy="5790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—           —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146800" y="2498725"/>
            <a:ext cx="12954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65850" y="3967163"/>
            <a:ext cx="158273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46800" y="3438525"/>
            <a:ext cx="1584325" cy="581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46800" y="2940050"/>
            <a:ext cx="15843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72200" y="4494213"/>
            <a:ext cx="1584325" cy="581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91250" y="5016500"/>
            <a:ext cx="1584325" cy="581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8550" y="5524500"/>
            <a:ext cx="15843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—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800"/>
              </a:lnSpc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 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8" grpId="0"/>
      <p:bldP spid="714759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可编程逻辑阵列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	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表示，可得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5783" name="Text Box 7"/>
          <p:cNvSpPr txBox="1"/>
          <p:nvPr/>
        </p:nvSpPr>
        <p:spPr>
          <a:xfrm>
            <a:off x="1341438" y="4746625"/>
            <a:ext cx="32004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项用与阵列实现，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Gi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用或阵列实现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5781" name="组合 1"/>
          <p:cNvGrpSpPr/>
          <p:nvPr/>
        </p:nvGrpSpPr>
        <p:grpSpPr>
          <a:xfrm>
            <a:off x="5953125" y="1804988"/>
            <a:ext cx="1628775" cy="3605212"/>
            <a:chOff x="5952381" y="1804800"/>
            <a:chExt cx="1629730" cy="3605286"/>
          </a:xfrm>
        </p:grpSpPr>
        <p:sp>
          <p:nvSpPr>
            <p:cNvPr id="75782" name="文本框 8"/>
            <p:cNvSpPr txBox="1"/>
            <p:nvPr/>
          </p:nvSpPr>
          <p:spPr>
            <a:xfrm>
              <a:off x="5952381" y="1804800"/>
              <a:ext cx="1296144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3" name="文本框 9"/>
            <p:cNvSpPr txBox="1"/>
            <p:nvPr/>
          </p:nvSpPr>
          <p:spPr>
            <a:xfrm>
              <a:off x="5971222" y="3272504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4" name="文本框 10"/>
            <p:cNvSpPr txBox="1"/>
            <p:nvPr/>
          </p:nvSpPr>
          <p:spPr>
            <a:xfrm>
              <a:off x="5952381" y="274483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5" name="文本框 11"/>
            <p:cNvSpPr txBox="1"/>
            <p:nvPr/>
          </p:nvSpPr>
          <p:spPr>
            <a:xfrm>
              <a:off x="5952381" y="2245374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6" name="文本框 12"/>
            <p:cNvSpPr txBox="1"/>
            <p:nvPr/>
          </p:nvSpPr>
          <p:spPr>
            <a:xfrm>
              <a:off x="5977731" y="380016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7" name="文本框 13"/>
            <p:cNvSpPr txBox="1"/>
            <p:nvPr/>
          </p:nvSpPr>
          <p:spPr>
            <a:xfrm>
              <a:off x="5997935" y="432283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8" name="文本框 14"/>
            <p:cNvSpPr txBox="1"/>
            <p:nvPr/>
          </p:nvSpPr>
          <p:spPr>
            <a:xfrm>
              <a:off x="5984247" y="4829671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373188" y="2303463"/>
            <a:ext cx="4103687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65250" y="2897188"/>
            <a:ext cx="1846263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52550" y="3417888"/>
            <a:ext cx="18415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71600" y="3924300"/>
            <a:ext cx="1855788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3" grpId="0"/>
      <p:bldP spid="17" grpId="0"/>
      <p:bldP spid="18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7146" name="Group 346"/>
          <p:cNvGrpSpPr/>
          <p:nvPr/>
        </p:nvGrpSpPr>
        <p:grpSpPr>
          <a:xfrm>
            <a:off x="2954338" y="2895600"/>
            <a:ext cx="2895600" cy="762000"/>
            <a:chOff x="1861" y="1824"/>
            <a:chExt cx="1824" cy="480"/>
          </a:xfrm>
        </p:grpSpPr>
        <p:grpSp>
          <p:nvGrpSpPr>
            <p:cNvPr id="76803" name="Group 345"/>
            <p:cNvGrpSpPr/>
            <p:nvPr/>
          </p:nvGrpSpPr>
          <p:grpSpPr>
            <a:xfrm>
              <a:off x="2005" y="2160"/>
              <a:ext cx="1632" cy="144"/>
              <a:chOff x="2005" y="2160"/>
              <a:chExt cx="1632" cy="144"/>
            </a:xfrm>
          </p:grpSpPr>
          <p:sp>
            <p:nvSpPr>
              <p:cNvPr id="76804" name="Rectangle 72"/>
              <p:cNvSpPr/>
              <p:nvPr/>
            </p:nvSpPr>
            <p:spPr>
              <a:xfrm>
                <a:off x="200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5" name="Rectangle 73"/>
              <p:cNvSpPr/>
              <p:nvPr/>
            </p:nvSpPr>
            <p:spPr>
              <a:xfrm>
                <a:off x="224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6" name="Rectangle 74"/>
              <p:cNvSpPr/>
              <p:nvPr/>
            </p:nvSpPr>
            <p:spPr>
              <a:xfrm>
                <a:off x="248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7" name="Rectangle 75"/>
              <p:cNvSpPr/>
              <p:nvPr/>
            </p:nvSpPr>
            <p:spPr>
              <a:xfrm>
                <a:off x="272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8" name="Rectangle 76"/>
              <p:cNvSpPr/>
              <p:nvPr/>
            </p:nvSpPr>
            <p:spPr>
              <a:xfrm>
                <a:off x="296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09" name="Rectangle 77"/>
              <p:cNvSpPr/>
              <p:nvPr/>
            </p:nvSpPr>
            <p:spPr>
              <a:xfrm>
                <a:off x="320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10" name="Rectangle 78"/>
              <p:cNvSpPr/>
              <p:nvPr/>
            </p:nvSpPr>
            <p:spPr>
              <a:xfrm>
                <a:off x="3445" y="2160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6811" name="Text Box 323"/>
            <p:cNvSpPr txBox="1"/>
            <p:nvPr/>
          </p:nvSpPr>
          <p:spPr>
            <a:xfrm>
              <a:off x="186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2" name="Text Box 324"/>
            <p:cNvSpPr txBox="1"/>
            <p:nvPr/>
          </p:nvSpPr>
          <p:spPr>
            <a:xfrm>
              <a:off x="210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3" name="Text Box 325"/>
            <p:cNvSpPr txBox="1"/>
            <p:nvPr/>
          </p:nvSpPr>
          <p:spPr>
            <a:xfrm>
              <a:off x="234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4" name="Text Box 326"/>
            <p:cNvSpPr txBox="1"/>
            <p:nvPr/>
          </p:nvSpPr>
          <p:spPr>
            <a:xfrm>
              <a:off x="258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5" name="Text Box 327"/>
            <p:cNvSpPr txBox="1"/>
            <p:nvPr/>
          </p:nvSpPr>
          <p:spPr>
            <a:xfrm>
              <a:off x="282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6" name="Text Box 328"/>
            <p:cNvSpPr txBox="1"/>
            <p:nvPr/>
          </p:nvSpPr>
          <p:spPr>
            <a:xfrm>
              <a:off x="306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17" name="Text Box 329"/>
            <p:cNvSpPr txBox="1"/>
            <p:nvPr/>
          </p:nvSpPr>
          <p:spPr>
            <a:xfrm>
              <a:off x="3301" y="182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21" name="Group 321"/>
          <p:cNvGrpSpPr/>
          <p:nvPr/>
        </p:nvGrpSpPr>
        <p:grpSpPr>
          <a:xfrm>
            <a:off x="3259138" y="457200"/>
            <a:ext cx="2667000" cy="2362200"/>
            <a:chOff x="1200" y="480"/>
            <a:chExt cx="3600" cy="1488"/>
          </a:xfrm>
        </p:grpSpPr>
        <p:sp>
          <p:nvSpPr>
            <p:cNvPr id="76819" name="Line 5"/>
            <p:cNvSpPr/>
            <p:nvPr/>
          </p:nvSpPr>
          <p:spPr>
            <a:xfrm>
              <a:off x="1200" y="480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0" name="Line 6"/>
            <p:cNvSpPr/>
            <p:nvPr/>
          </p:nvSpPr>
          <p:spPr>
            <a:xfrm>
              <a:off x="1200" y="672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1" name="Line 7"/>
            <p:cNvSpPr/>
            <p:nvPr/>
          </p:nvSpPr>
          <p:spPr>
            <a:xfrm>
              <a:off x="1200" y="912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2" name="Line 8"/>
            <p:cNvSpPr/>
            <p:nvPr/>
          </p:nvSpPr>
          <p:spPr>
            <a:xfrm>
              <a:off x="1200" y="1104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3" name="Line 9"/>
            <p:cNvSpPr/>
            <p:nvPr/>
          </p:nvSpPr>
          <p:spPr>
            <a:xfrm>
              <a:off x="1200" y="1344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4" name="Line 10"/>
            <p:cNvSpPr/>
            <p:nvPr/>
          </p:nvSpPr>
          <p:spPr>
            <a:xfrm>
              <a:off x="1200" y="1536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5" name="Line 11"/>
            <p:cNvSpPr/>
            <p:nvPr/>
          </p:nvSpPr>
          <p:spPr>
            <a:xfrm>
              <a:off x="1200" y="1776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6" name="Line 12"/>
            <p:cNvSpPr/>
            <p:nvPr/>
          </p:nvSpPr>
          <p:spPr>
            <a:xfrm>
              <a:off x="1200" y="1968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16814" name="Group 14"/>
          <p:cNvGrpSpPr/>
          <p:nvPr/>
        </p:nvGrpSpPr>
        <p:grpSpPr>
          <a:xfrm>
            <a:off x="1506538" y="152400"/>
            <a:ext cx="1752600" cy="762000"/>
            <a:chOff x="2400" y="432"/>
            <a:chExt cx="1104" cy="480"/>
          </a:xfrm>
        </p:grpSpPr>
        <p:sp>
          <p:nvSpPr>
            <p:cNvPr id="76828" name="Line 15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9" name="Line 16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0" name="Line 17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1" name="Oval 18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32" name="Line 19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3" name="Line 20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4" name="Line 21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5" name="Line 22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6" name="Rectangle 23"/>
            <p:cNvSpPr/>
            <p:nvPr/>
          </p:nvSpPr>
          <p:spPr>
            <a:xfrm>
              <a:off x="2400" y="432"/>
              <a:ext cx="3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6824" name="Group 24"/>
          <p:cNvGrpSpPr/>
          <p:nvPr/>
        </p:nvGrpSpPr>
        <p:grpSpPr>
          <a:xfrm>
            <a:off x="1506538" y="838200"/>
            <a:ext cx="1752600" cy="762000"/>
            <a:chOff x="2400" y="432"/>
            <a:chExt cx="1104" cy="480"/>
          </a:xfrm>
        </p:grpSpPr>
        <p:sp>
          <p:nvSpPr>
            <p:cNvPr id="76838" name="Line 25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9" name="Line 26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0" name="Line 27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1" name="Oval 28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42" name="Line 29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3" name="Line 30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4" name="Line 31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5" name="Line 32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6" name="Rectangle 33"/>
            <p:cNvSpPr/>
            <p:nvPr/>
          </p:nvSpPr>
          <p:spPr>
            <a:xfrm>
              <a:off x="2400" y="432"/>
              <a:ext cx="2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6834" name="Group 34"/>
          <p:cNvGrpSpPr/>
          <p:nvPr/>
        </p:nvGrpSpPr>
        <p:grpSpPr>
          <a:xfrm>
            <a:off x="1506538" y="1524000"/>
            <a:ext cx="1752600" cy="762000"/>
            <a:chOff x="2400" y="432"/>
            <a:chExt cx="1104" cy="480"/>
          </a:xfrm>
        </p:grpSpPr>
        <p:sp>
          <p:nvSpPr>
            <p:cNvPr id="76848" name="Line 35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49" name="Line 36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0" name="Line 37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1" name="Oval 38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52" name="Line 39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3" name="Line 40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4" name="Line 41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5" name="Line 42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6" name="Rectangle 43"/>
            <p:cNvSpPr/>
            <p:nvPr/>
          </p:nvSpPr>
          <p:spPr>
            <a:xfrm>
              <a:off x="2400" y="432"/>
              <a:ext cx="3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6844" name="Group 44"/>
          <p:cNvGrpSpPr/>
          <p:nvPr/>
        </p:nvGrpSpPr>
        <p:grpSpPr>
          <a:xfrm>
            <a:off x="1506538" y="2209800"/>
            <a:ext cx="1752600" cy="762000"/>
            <a:chOff x="2400" y="432"/>
            <a:chExt cx="1104" cy="480"/>
          </a:xfrm>
        </p:grpSpPr>
        <p:sp>
          <p:nvSpPr>
            <p:cNvPr id="76858" name="Line 45"/>
            <p:cNvSpPr/>
            <p:nvPr/>
          </p:nvSpPr>
          <p:spPr>
            <a:xfrm>
              <a:off x="2880" y="52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59" name="Line 46"/>
            <p:cNvSpPr/>
            <p:nvPr/>
          </p:nvSpPr>
          <p:spPr>
            <a:xfrm>
              <a:off x="2880" y="528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0" name="Line 47"/>
            <p:cNvSpPr/>
            <p:nvPr/>
          </p:nvSpPr>
          <p:spPr>
            <a:xfrm flipH="1">
              <a:off x="2880" y="720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1" name="Oval 48"/>
            <p:cNvSpPr/>
            <p:nvPr/>
          </p:nvSpPr>
          <p:spPr>
            <a:xfrm>
              <a:off x="2976" y="76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62" name="Line 49"/>
            <p:cNvSpPr/>
            <p:nvPr/>
          </p:nvSpPr>
          <p:spPr>
            <a:xfrm>
              <a:off x="3072" y="81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3" name="Line 50"/>
            <p:cNvSpPr/>
            <p:nvPr/>
          </p:nvSpPr>
          <p:spPr>
            <a:xfrm>
              <a:off x="3024" y="8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4" name="Line 51"/>
            <p:cNvSpPr/>
            <p:nvPr/>
          </p:nvSpPr>
          <p:spPr>
            <a:xfrm flipH="1">
              <a:off x="2976" y="624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5" name="Line 52"/>
            <p:cNvSpPr/>
            <p:nvPr/>
          </p:nvSpPr>
          <p:spPr>
            <a:xfrm flipH="1">
              <a:off x="2400" y="7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6" name="Rectangle 53"/>
            <p:cNvSpPr/>
            <p:nvPr/>
          </p:nvSpPr>
          <p:spPr>
            <a:xfrm>
              <a:off x="2400" y="432"/>
              <a:ext cx="3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22" name="Group 322"/>
          <p:cNvGrpSpPr/>
          <p:nvPr/>
        </p:nvGrpSpPr>
        <p:grpSpPr>
          <a:xfrm>
            <a:off x="3335338" y="228600"/>
            <a:ext cx="2286000" cy="3200400"/>
            <a:chOff x="1248" y="384"/>
            <a:chExt cx="1440" cy="1776"/>
          </a:xfrm>
        </p:grpSpPr>
        <p:sp>
          <p:nvSpPr>
            <p:cNvPr id="76868" name="Line 55"/>
            <p:cNvSpPr/>
            <p:nvPr/>
          </p:nvSpPr>
          <p:spPr>
            <a:xfrm flipH="1">
              <a:off x="148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69" name="Line 56"/>
            <p:cNvSpPr/>
            <p:nvPr/>
          </p:nvSpPr>
          <p:spPr>
            <a:xfrm>
              <a:off x="124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0" name="Line 57"/>
            <p:cNvSpPr/>
            <p:nvPr/>
          </p:nvSpPr>
          <p:spPr>
            <a:xfrm flipH="1">
              <a:off x="196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1" name="Line 58"/>
            <p:cNvSpPr/>
            <p:nvPr/>
          </p:nvSpPr>
          <p:spPr>
            <a:xfrm>
              <a:off x="172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2" name="Line 59"/>
            <p:cNvSpPr/>
            <p:nvPr/>
          </p:nvSpPr>
          <p:spPr>
            <a:xfrm flipH="1">
              <a:off x="244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3" name="Line 60"/>
            <p:cNvSpPr/>
            <p:nvPr/>
          </p:nvSpPr>
          <p:spPr>
            <a:xfrm>
              <a:off x="220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4" name="Line 62"/>
            <p:cNvSpPr/>
            <p:nvPr/>
          </p:nvSpPr>
          <p:spPr>
            <a:xfrm>
              <a:off x="2688" y="384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17153" name="Group 353"/>
          <p:cNvGrpSpPr/>
          <p:nvPr/>
        </p:nvGrpSpPr>
        <p:grpSpPr>
          <a:xfrm>
            <a:off x="3355975" y="3627438"/>
            <a:ext cx="2286000" cy="2286000"/>
            <a:chOff x="2101" y="2304"/>
            <a:chExt cx="1440" cy="1440"/>
          </a:xfrm>
        </p:grpSpPr>
        <p:sp>
          <p:nvSpPr>
            <p:cNvPr id="76876" name="Line 89"/>
            <p:cNvSpPr/>
            <p:nvPr/>
          </p:nvSpPr>
          <p:spPr>
            <a:xfrm flipH="1">
              <a:off x="210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7" name="Line 91"/>
            <p:cNvSpPr/>
            <p:nvPr/>
          </p:nvSpPr>
          <p:spPr>
            <a:xfrm flipH="1">
              <a:off x="258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8" name="Line 92"/>
            <p:cNvSpPr/>
            <p:nvPr/>
          </p:nvSpPr>
          <p:spPr>
            <a:xfrm>
              <a:off x="234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79" name="Line 93"/>
            <p:cNvSpPr/>
            <p:nvPr/>
          </p:nvSpPr>
          <p:spPr>
            <a:xfrm flipH="1">
              <a:off x="306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0" name="Line 94"/>
            <p:cNvSpPr/>
            <p:nvPr/>
          </p:nvSpPr>
          <p:spPr>
            <a:xfrm>
              <a:off x="282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1" name="Line 95"/>
            <p:cNvSpPr/>
            <p:nvPr/>
          </p:nvSpPr>
          <p:spPr>
            <a:xfrm flipH="1">
              <a:off x="354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2" name="Line 96"/>
            <p:cNvSpPr/>
            <p:nvPr/>
          </p:nvSpPr>
          <p:spPr>
            <a:xfrm>
              <a:off x="3301" y="2304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16905" name="Group 105"/>
          <p:cNvGrpSpPr/>
          <p:nvPr/>
        </p:nvGrpSpPr>
        <p:grpSpPr>
          <a:xfrm>
            <a:off x="2441575" y="4084638"/>
            <a:ext cx="3810000" cy="1447800"/>
            <a:chOff x="672" y="2592"/>
            <a:chExt cx="4080" cy="912"/>
          </a:xfrm>
        </p:grpSpPr>
        <p:sp>
          <p:nvSpPr>
            <p:cNvPr id="76884" name="Line 106"/>
            <p:cNvSpPr/>
            <p:nvPr/>
          </p:nvSpPr>
          <p:spPr>
            <a:xfrm>
              <a:off x="672" y="2592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5" name="Line 107"/>
            <p:cNvSpPr/>
            <p:nvPr/>
          </p:nvSpPr>
          <p:spPr>
            <a:xfrm>
              <a:off x="672" y="2880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6" name="Line 108"/>
            <p:cNvSpPr/>
            <p:nvPr/>
          </p:nvSpPr>
          <p:spPr>
            <a:xfrm>
              <a:off x="672" y="3216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87" name="Line 109"/>
            <p:cNvSpPr/>
            <p:nvPr/>
          </p:nvSpPr>
          <p:spPr>
            <a:xfrm>
              <a:off x="672" y="3504"/>
              <a:ext cx="4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17155" name="Group 355"/>
          <p:cNvGrpSpPr/>
          <p:nvPr/>
        </p:nvGrpSpPr>
        <p:grpSpPr>
          <a:xfrm>
            <a:off x="6175375" y="3840163"/>
            <a:ext cx="1617663" cy="1920875"/>
            <a:chOff x="3877" y="2438"/>
            <a:chExt cx="1019" cy="1210"/>
          </a:xfrm>
        </p:grpSpPr>
        <p:grpSp>
          <p:nvGrpSpPr>
            <p:cNvPr id="76889" name="Group 110"/>
            <p:cNvGrpSpPr/>
            <p:nvPr/>
          </p:nvGrpSpPr>
          <p:grpSpPr>
            <a:xfrm>
              <a:off x="3877" y="2438"/>
              <a:ext cx="480" cy="1210"/>
              <a:chOff x="4704" y="2438"/>
              <a:chExt cx="480" cy="1210"/>
            </a:xfrm>
          </p:grpSpPr>
          <p:grpSp>
            <p:nvGrpSpPr>
              <p:cNvPr id="76890" name="Group 111"/>
              <p:cNvGrpSpPr/>
              <p:nvPr/>
            </p:nvGrpSpPr>
            <p:grpSpPr>
              <a:xfrm>
                <a:off x="4704" y="2438"/>
                <a:ext cx="240" cy="250"/>
                <a:chOff x="4704" y="2438"/>
                <a:chExt cx="240" cy="250"/>
              </a:xfrm>
            </p:grpSpPr>
            <p:sp>
              <p:nvSpPr>
                <p:cNvPr id="76891" name="Rectangle 112"/>
                <p:cNvSpPr/>
                <p:nvPr/>
              </p:nvSpPr>
              <p:spPr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zh-CN" b="1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892" name="Text Box 113"/>
                <p:cNvSpPr txBox="1"/>
                <p:nvPr/>
              </p:nvSpPr>
              <p:spPr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6893" name="Group 114"/>
              <p:cNvGrpSpPr/>
              <p:nvPr/>
            </p:nvGrpSpPr>
            <p:grpSpPr>
              <a:xfrm>
                <a:off x="4704" y="2774"/>
                <a:ext cx="240" cy="250"/>
                <a:chOff x="4704" y="2438"/>
                <a:chExt cx="240" cy="250"/>
              </a:xfrm>
            </p:grpSpPr>
            <p:sp>
              <p:nvSpPr>
                <p:cNvPr id="76894" name="Rectangle 115"/>
                <p:cNvSpPr/>
                <p:nvPr/>
              </p:nvSpPr>
              <p:spPr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zh-CN" b="1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895" name="Text Box 116"/>
                <p:cNvSpPr txBox="1"/>
                <p:nvPr/>
              </p:nvSpPr>
              <p:spPr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6896" name="Group 117"/>
              <p:cNvGrpSpPr/>
              <p:nvPr/>
            </p:nvGrpSpPr>
            <p:grpSpPr>
              <a:xfrm>
                <a:off x="4704" y="3110"/>
                <a:ext cx="240" cy="250"/>
                <a:chOff x="4704" y="2438"/>
                <a:chExt cx="240" cy="250"/>
              </a:xfrm>
            </p:grpSpPr>
            <p:sp>
              <p:nvSpPr>
                <p:cNvPr id="76897" name="Rectangle 118"/>
                <p:cNvSpPr/>
                <p:nvPr/>
              </p:nvSpPr>
              <p:spPr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zh-CN" b="1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898" name="Text Box 119"/>
                <p:cNvSpPr txBox="1"/>
                <p:nvPr/>
              </p:nvSpPr>
              <p:spPr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6899" name="Group 120"/>
              <p:cNvGrpSpPr/>
              <p:nvPr/>
            </p:nvGrpSpPr>
            <p:grpSpPr>
              <a:xfrm>
                <a:off x="4704" y="3398"/>
                <a:ext cx="240" cy="250"/>
                <a:chOff x="4704" y="2438"/>
                <a:chExt cx="240" cy="250"/>
              </a:xfrm>
            </p:grpSpPr>
            <p:sp>
              <p:nvSpPr>
                <p:cNvPr id="76900" name="Rectangle 121"/>
                <p:cNvSpPr/>
                <p:nvPr/>
              </p:nvSpPr>
              <p:spPr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endParaRPr lang="zh-CN" altLang="zh-CN" b="1" dirty="0">
                    <a:latin typeface="Georgia" panose="02040502050405020303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901" name="Text Box 122"/>
                <p:cNvSpPr txBox="1"/>
                <p:nvPr/>
              </p:nvSpPr>
              <p:spPr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endPara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6902" name="Line 123"/>
              <p:cNvSpPr/>
              <p:nvPr/>
            </p:nvSpPr>
            <p:spPr>
              <a:xfrm>
                <a:off x="4944" y="259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03" name="Line 124"/>
              <p:cNvSpPr/>
              <p:nvPr/>
            </p:nvSpPr>
            <p:spPr>
              <a:xfrm>
                <a:off x="4944" y="2880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04" name="Line 125"/>
              <p:cNvSpPr/>
              <p:nvPr/>
            </p:nvSpPr>
            <p:spPr>
              <a:xfrm>
                <a:off x="4944" y="3216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05" name="Line 126"/>
              <p:cNvSpPr/>
              <p:nvPr/>
            </p:nvSpPr>
            <p:spPr>
              <a:xfrm>
                <a:off x="4944" y="350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6906" name="Group 354"/>
            <p:cNvGrpSpPr/>
            <p:nvPr/>
          </p:nvGrpSpPr>
          <p:grpSpPr>
            <a:xfrm>
              <a:off x="4368" y="2448"/>
              <a:ext cx="528" cy="1200"/>
              <a:chOff x="4368" y="2448"/>
              <a:chExt cx="528" cy="1200"/>
            </a:xfrm>
          </p:grpSpPr>
          <p:sp>
            <p:nvSpPr>
              <p:cNvPr id="76907" name="Rectangle 128"/>
              <p:cNvSpPr/>
              <p:nvPr/>
            </p:nvSpPr>
            <p:spPr>
              <a:xfrm>
                <a:off x="4368" y="2448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908" name="Rectangle 129"/>
              <p:cNvSpPr/>
              <p:nvPr/>
            </p:nvSpPr>
            <p:spPr>
              <a:xfrm>
                <a:off x="4368" y="2736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909" name="Rectangle 130"/>
              <p:cNvSpPr/>
              <p:nvPr/>
            </p:nvSpPr>
            <p:spPr>
              <a:xfrm>
                <a:off x="4368" y="3072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910" name="Rectangle 131"/>
              <p:cNvSpPr/>
              <p:nvPr/>
            </p:nvSpPr>
            <p:spPr>
              <a:xfrm>
                <a:off x="4368" y="3360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2400" b="1" dirty="0">
                    <a:latin typeface="Georgia" panose="02040502050405020303" pitchFamily="18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Georgia" panose="02040502050405020303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16936" name="Oval 136"/>
          <p:cNvSpPr/>
          <p:nvPr/>
        </p:nvSpPr>
        <p:spPr>
          <a:xfrm>
            <a:off x="3276600" y="24384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17159" name="Group 359"/>
          <p:cNvGrpSpPr/>
          <p:nvPr/>
        </p:nvGrpSpPr>
        <p:grpSpPr>
          <a:xfrm>
            <a:off x="3640138" y="1752600"/>
            <a:ext cx="169862" cy="1143000"/>
            <a:chOff x="2293" y="1104"/>
            <a:chExt cx="107" cy="720"/>
          </a:xfrm>
        </p:grpSpPr>
        <p:sp>
          <p:nvSpPr>
            <p:cNvPr id="76913" name="Oval 140"/>
            <p:cNvSpPr/>
            <p:nvPr/>
          </p:nvSpPr>
          <p:spPr>
            <a:xfrm>
              <a:off x="2304" y="110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14" name="Oval 141"/>
            <p:cNvSpPr/>
            <p:nvPr/>
          </p:nvSpPr>
          <p:spPr>
            <a:xfrm>
              <a:off x="2293" y="172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60" name="Group 360"/>
          <p:cNvGrpSpPr/>
          <p:nvPr/>
        </p:nvGrpSpPr>
        <p:grpSpPr>
          <a:xfrm>
            <a:off x="4021138" y="2057400"/>
            <a:ext cx="169862" cy="533400"/>
            <a:chOff x="2533" y="1296"/>
            <a:chExt cx="107" cy="336"/>
          </a:xfrm>
        </p:grpSpPr>
        <p:sp>
          <p:nvSpPr>
            <p:cNvPr id="76916" name="Oval 145"/>
            <p:cNvSpPr/>
            <p:nvPr/>
          </p:nvSpPr>
          <p:spPr>
            <a:xfrm>
              <a:off x="2544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17" name="Oval 146"/>
            <p:cNvSpPr/>
            <p:nvPr/>
          </p:nvSpPr>
          <p:spPr>
            <a:xfrm>
              <a:off x="2533" y="153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49" name="Group 349"/>
          <p:cNvGrpSpPr/>
          <p:nvPr/>
        </p:nvGrpSpPr>
        <p:grpSpPr>
          <a:xfrm>
            <a:off x="4402138" y="1066800"/>
            <a:ext cx="152400" cy="1143000"/>
            <a:chOff x="2773" y="672"/>
            <a:chExt cx="96" cy="720"/>
          </a:xfrm>
        </p:grpSpPr>
        <p:sp>
          <p:nvSpPr>
            <p:cNvPr id="76919" name="Oval 149"/>
            <p:cNvSpPr/>
            <p:nvPr/>
          </p:nvSpPr>
          <p:spPr>
            <a:xfrm>
              <a:off x="2773" y="67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20" name="Oval 150"/>
            <p:cNvSpPr/>
            <p:nvPr/>
          </p:nvSpPr>
          <p:spPr>
            <a:xfrm>
              <a:off x="2773" y="129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50" name="Group 350"/>
          <p:cNvGrpSpPr/>
          <p:nvPr/>
        </p:nvGrpSpPr>
        <p:grpSpPr>
          <a:xfrm>
            <a:off x="4783138" y="1371600"/>
            <a:ext cx="152400" cy="533400"/>
            <a:chOff x="3013" y="864"/>
            <a:chExt cx="96" cy="336"/>
          </a:xfrm>
        </p:grpSpPr>
        <p:sp>
          <p:nvSpPr>
            <p:cNvPr id="76922" name="Oval 154"/>
            <p:cNvSpPr/>
            <p:nvPr/>
          </p:nvSpPr>
          <p:spPr>
            <a:xfrm>
              <a:off x="3013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23" name="Oval 155"/>
            <p:cNvSpPr/>
            <p:nvPr/>
          </p:nvSpPr>
          <p:spPr>
            <a:xfrm>
              <a:off x="3013" y="110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51" name="Group 351"/>
          <p:cNvGrpSpPr/>
          <p:nvPr/>
        </p:nvGrpSpPr>
        <p:grpSpPr>
          <a:xfrm>
            <a:off x="5164138" y="381000"/>
            <a:ext cx="152400" cy="1143000"/>
            <a:chOff x="3253" y="240"/>
            <a:chExt cx="96" cy="720"/>
          </a:xfrm>
        </p:grpSpPr>
        <p:sp>
          <p:nvSpPr>
            <p:cNvPr id="76925" name="Oval 158"/>
            <p:cNvSpPr/>
            <p:nvPr/>
          </p:nvSpPr>
          <p:spPr>
            <a:xfrm>
              <a:off x="3253" y="24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26" name="Oval 159"/>
            <p:cNvSpPr/>
            <p:nvPr/>
          </p:nvSpPr>
          <p:spPr>
            <a:xfrm>
              <a:off x="3253" y="86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52" name="Group 352"/>
          <p:cNvGrpSpPr/>
          <p:nvPr/>
        </p:nvGrpSpPr>
        <p:grpSpPr>
          <a:xfrm>
            <a:off x="5545138" y="685800"/>
            <a:ext cx="152400" cy="533400"/>
            <a:chOff x="3493" y="432"/>
            <a:chExt cx="96" cy="336"/>
          </a:xfrm>
        </p:grpSpPr>
        <p:sp>
          <p:nvSpPr>
            <p:cNvPr id="76928" name="Oval 163"/>
            <p:cNvSpPr/>
            <p:nvPr/>
          </p:nvSpPr>
          <p:spPr>
            <a:xfrm>
              <a:off x="3493" y="4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29" name="Oval 164"/>
            <p:cNvSpPr/>
            <p:nvPr/>
          </p:nvSpPr>
          <p:spPr>
            <a:xfrm>
              <a:off x="3493" y="67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119" name="Text Box 319"/>
          <p:cNvSpPr txBox="1"/>
          <p:nvPr/>
        </p:nvSpPr>
        <p:spPr>
          <a:xfrm>
            <a:off x="422275" y="5829300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与阵列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8×7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56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，或阵列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4×7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，总点数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84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63" name="Oval 363"/>
          <p:cNvSpPr/>
          <p:nvPr/>
        </p:nvSpPr>
        <p:spPr>
          <a:xfrm>
            <a:off x="3297238" y="4008438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17169" name="Group 369"/>
          <p:cNvGrpSpPr/>
          <p:nvPr/>
        </p:nvGrpSpPr>
        <p:grpSpPr>
          <a:xfrm>
            <a:off x="3678238" y="4465638"/>
            <a:ext cx="533400" cy="152400"/>
            <a:chOff x="2304" y="2832"/>
            <a:chExt cx="336" cy="96"/>
          </a:xfrm>
        </p:grpSpPr>
        <p:sp>
          <p:nvSpPr>
            <p:cNvPr id="76933" name="Oval 362"/>
            <p:cNvSpPr/>
            <p:nvPr/>
          </p:nvSpPr>
          <p:spPr>
            <a:xfrm>
              <a:off x="2304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34" name="Oval 364"/>
            <p:cNvSpPr/>
            <p:nvPr/>
          </p:nvSpPr>
          <p:spPr>
            <a:xfrm>
              <a:off x="2544" y="2832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70" name="Group 370"/>
          <p:cNvGrpSpPr/>
          <p:nvPr/>
        </p:nvGrpSpPr>
        <p:grpSpPr>
          <a:xfrm>
            <a:off x="4440238" y="4999038"/>
            <a:ext cx="533400" cy="152400"/>
            <a:chOff x="2784" y="3168"/>
            <a:chExt cx="336" cy="96"/>
          </a:xfrm>
        </p:grpSpPr>
        <p:sp>
          <p:nvSpPr>
            <p:cNvPr id="76936" name="Oval 365"/>
            <p:cNvSpPr/>
            <p:nvPr/>
          </p:nvSpPr>
          <p:spPr>
            <a:xfrm>
              <a:off x="2784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37" name="Oval 366"/>
            <p:cNvSpPr/>
            <p:nvPr/>
          </p:nvSpPr>
          <p:spPr>
            <a:xfrm>
              <a:off x="3024" y="316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7171" name="Group 371"/>
          <p:cNvGrpSpPr/>
          <p:nvPr/>
        </p:nvGrpSpPr>
        <p:grpSpPr>
          <a:xfrm>
            <a:off x="5202238" y="5456238"/>
            <a:ext cx="533400" cy="152400"/>
            <a:chOff x="3264" y="3456"/>
            <a:chExt cx="336" cy="96"/>
          </a:xfrm>
        </p:grpSpPr>
        <p:sp>
          <p:nvSpPr>
            <p:cNvPr id="76939" name="Oval 367"/>
            <p:cNvSpPr/>
            <p:nvPr/>
          </p:nvSpPr>
          <p:spPr>
            <a:xfrm>
              <a:off x="3264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0" name="Oval 368"/>
            <p:cNvSpPr/>
            <p:nvPr/>
          </p:nvSpPr>
          <p:spPr>
            <a:xfrm>
              <a:off x="3504" y="345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6672263" y="71438"/>
            <a:ext cx="1628775" cy="3605212"/>
            <a:chOff x="5952381" y="1804800"/>
            <a:chExt cx="1629730" cy="3605286"/>
          </a:xfrm>
        </p:grpSpPr>
        <p:sp>
          <p:nvSpPr>
            <p:cNvPr id="76942" name="文本框 145"/>
            <p:cNvSpPr txBox="1"/>
            <p:nvPr/>
          </p:nvSpPr>
          <p:spPr>
            <a:xfrm>
              <a:off x="5952381" y="1804800"/>
              <a:ext cx="1296144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3" name="文本框 146"/>
            <p:cNvSpPr txBox="1"/>
            <p:nvPr/>
          </p:nvSpPr>
          <p:spPr>
            <a:xfrm>
              <a:off x="5971222" y="3272504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4" name="文本框 147"/>
            <p:cNvSpPr txBox="1"/>
            <p:nvPr/>
          </p:nvSpPr>
          <p:spPr>
            <a:xfrm>
              <a:off x="5952381" y="274483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5" name="文本框 148"/>
            <p:cNvSpPr txBox="1"/>
            <p:nvPr/>
          </p:nvSpPr>
          <p:spPr>
            <a:xfrm>
              <a:off x="5952381" y="2245374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6" name="文本框 149"/>
            <p:cNvSpPr txBox="1"/>
            <p:nvPr/>
          </p:nvSpPr>
          <p:spPr>
            <a:xfrm>
              <a:off x="5977731" y="380016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7" name="文本框 150"/>
            <p:cNvSpPr txBox="1"/>
            <p:nvPr/>
          </p:nvSpPr>
          <p:spPr>
            <a:xfrm>
              <a:off x="5997935" y="4322839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48" name="文本框 151"/>
            <p:cNvSpPr txBox="1"/>
            <p:nvPr/>
          </p:nvSpPr>
          <p:spPr>
            <a:xfrm>
              <a:off x="5984247" y="4829671"/>
              <a:ext cx="1584176" cy="5804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—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800"/>
                </a:lnSpc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352425" y="3327400"/>
            <a:ext cx="1874838" cy="2057400"/>
            <a:chOff x="3450942" y="2034951"/>
            <a:chExt cx="1875962" cy="2058282"/>
          </a:xfrm>
        </p:grpSpPr>
        <p:sp>
          <p:nvSpPr>
            <p:cNvPr id="76950" name="文本框 153"/>
            <p:cNvSpPr txBox="1"/>
            <p:nvPr/>
          </p:nvSpPr>
          <p:spPr>
            <a:xfrm>
              <a:off x="3450942" y="2034951"/>
              <a:ext cx="1259171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51" name="文本框 154"/>
            <p:cNvSpPr txBox="1"/>
            <p:nvPr/>
          </p:nvSpPr>
          <p:spPr>
            <a:xfrm>
              <a:off x="3464357" y="2542752"/>
              <a:ext cx="1845425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52" name="文本框 155"/>
            <p:cNvSpPr txBox="1"/>
            <p:nvPr/>
          </p:nvSpPr>
          <p:spPr>
            <a:xfrm>
              <a:off x="3450942" y="3063452"/>
              <a:ext cx="184217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953" name="文本框 156"/>
            <p:cNvSpPr txBox="1"/>
            <p:nvPr/>
          </p:nvSpPr>
          <p:spPr>
            <a:xfrm>
              <a:off x="3469916" y="3570013"/>
              <a:ext cx="185698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1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7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1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17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7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17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7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17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17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17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17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17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17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71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71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17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1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1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1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1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1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71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36" grpId="0" animBg="1"/>
      <p:bldP spid="717119" grpId="0"/>
      <p:bldP spid="71716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7730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346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的特点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与阵列可编：形成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项（不是最小项）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或阵列可编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§2 .PLA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304800" y="2490788"/>
            <a:ext cx="8534400" cy="10175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的读出方式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一组地址可选中多个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7733" name="Rectangle 5"/>
          <p:cNvSpPr>
            <a:spLocks noChangeArrowheads="1"/>
          </p:cNvSpPr>
          <p:nvPr/>
        </p:nvSpPr>
        <p:spPr bwMode="auto">
          <a:xfrm>
            <a:off x="304800" y="3363913"/>
            <a:ext cx="8229600" cy="14557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的区别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的信息表原封不动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作了逻辑压缩，信息表改动很大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但逻辑上等价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7734" name="Rectangle 6"/>
          <p:cNvSpPr>
            <a:spLocks noChangeArrowheads="1"/>
          </p:cNvSpPr>
          <p:nvPr/>
        </p:nvSpPr>
        <p:spPr bwMode="auto">
          <a:xfrm>
            <a:off x="225425" y="4656138"/>
            <a:ext cx="8382000" cy="11636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的容量表示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项数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)X(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前例题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:4X9X8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/>
      <p:bldP spid="457733" grpId="0"/>
      <p:bldP spid="45773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9778" name="Rectangle 2"/>
          <p:cNvSpPr>
            <a:spLocks noGrp="1" noChangeArrowheads="1"/>
          </p:cNvSpPr>
          <p:nvPr>
            <p:ph idx="1"/>
          </p:nvPr>
        </p:nvSpPr>
        <p:spPr>
          <a:xfrm>
            <a:off x="1066800" y="1452563"/>
            <a:ext cx="7543800" cy="1057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触发器组成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BCD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59934" name="Group 158"/>
          <p:cNvGraphicFramePr>
            <a:graphicFrameLocks noGrp="1"/>
          </p:cNvGraphicFramePr>
          <p:nvPr/>
        </p:nvGraphicFramePr>
        <p:xfrm>
          <a:off x="5943600" y="2362200"/>
          <a:ext cx="2179638" cy="4057650"/>
        </p:xfrm>
        <a:graphic>
          <a:graphicData uri="http://schemas.openxmlformats.org/drawingml/2006/table">
            <a:tbl>
              <a:tblPr/>
              <a:tblGrid>
                <a:gridCol w="530225"/>
                <a:gridCol w="411163"/>
                <a:gridCol w="412750"/>
                <a:gridCol w="414337"/>
                <a:gridCol w="411163"/>
              </a:tblGrid>
              <a:tr h="3381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138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59935" name="Group 159"/>
          <p:cNvGrpSpPr/>
          <p:nvPr/>
        </p:nvGrpSpPr>
        <p:grpSpPr>
          <a:xfrm>
            <a:off x="385763" y="3338513"/>
            <a:ext cx="3729037" cy="1263650"/>
            <a:chOff x="243" y="2103"/>
            <a:chExt cx="2349" cy="796"/>
          </a:xfrm>
        </p:grpSpPr>
        <p:sp>
          <p:nvSpPr>
            <p:cNvPr id="459914" name="Rectangle 138"/>
            <p:cNvSpPr>
              <a:spLocks noChangeArrowheads="1"/>
            </p:cNvSpPr>
            <p:nvPr/>
          </p:nvSpPr>
          <p:spPr bwMode="auto">
            <a:xfrm>
              <a:off x="584" y="2103"/>
              <a:ext cx="918" cy="79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PLA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(Counter)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0" name="Line 139"/>
            <p:cNvSpPr/>
            <p:nvPr/>
          </p:nvSpPr>
          <p:spPr>
            <a:xfrm>
              <a:off x="1502" y="2313"/>
              <a:ext cx="2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931" name="Line 140"/>
            <p:cNvSpPr/>
            <p:nvPr/>
          </p:nvSpPr>
          <p:spPr>
            <a:xfrm>
              <a:off x="1502" y="2399"/>
              <a:ext cx="2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932" name="Line 141"/>
            <p:cNvSpPr/>
            <p:nvPr/>
          </p:nvSpPr>
          <p:spPr>
            <a:xfrm>
              <a:off x="1502" y="2485"/>
              <a:ext cx="2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933" name="Line 142"/>
            <p:cNvSpPr/>
            <p:nvPr/>
          </p:nvSpPr>
          <p:spPr>
            <a:xfrm>
              <a:off x="1502" y="2571"/>
              <a:ext cx="2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9924" name="Text Box 148"/>
            <p:cNvSpPr txBox="1">
              <a:spLocks noChangeArrowheads="1"/>
            </p:cNvSpPr>
            <p:nvPr/>
          </p:nvSpPr>
          <p:spPr bwMode="auto">
            <a:xfrm>
              <a:off x="1886" y="2352"/>
              <a:ext cx="70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BCD</a:t>
              </a: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码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5" name="AutoShape 150"/>
            <p:cNvSpPr/>
            <p:nvPr/>
          </p:nvSpPr>
          <p:spPr>
            <a:xfrm>
              <a:off x="1849" y="2313"/>
              <a:ext cx="102" cy="258"/>
            </a:xfrm>
            <a:prstGeom prst="rightBrace">
              <a:avLst>
                <a:gd name="adj1" fmla="val 21066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936" name="Line 152"/>
            <p:cNvSpPr/>
            <p:nvPr/>
          </p:nvSpPr>
          <p:spPr>
            <a:xfrm>
              <a:off x="328" y="2606"/>
              <a:ext cx="2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9929" name="Text Box 153"/>
            <p:cNvSpPr txBox="1">
              <a:spLocks noChangeArrowheads="1"/>
            </p:cNvSpPr>
            <p:nvPr/>
          </p:nvSpPr>
          <p:spPr bwMode="auto">
            <a:xfrm>
              <a:off x="243" y="2302"/>
              <a:ext cx="31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CP</a:t>
              </a:r>
              <a:endPara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9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9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9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03" name="Text Box 3"/>
          <p:cNvSpPr txBox="1">
            <a:spLocks noChangeArrowheads="1"/>
          </p:cNvSpPr>
          <p:nvPr/>
        </p:nvSpPr>
        <p:spPr bwMode="auto">
          <a:xfrm>
            <a:off x="609600" y="1981200"/>
            <a:ext cx="41116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BCD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计数器的激励函数：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05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79876" name="组合 13"/>
          <p:cNvGrpSpPr/>
          <p:nvPr/>
        </p:nvGrpSpPr>
        <p:grpSpPr>
          <a:xfrm>
            <a:off x="484188" y="3052763"/>
            <a:ext cx="3744912" cy="1900237"/>
            <a:chOff x="1185863" y="3213100"/>
            <a:chExt cx="3744416" cy="1899201"/>
          </a:xfrm>
        </p:grpSpPr>
        <p:sp>
          <p:nvSpPr>
            <p:cNvPr id="79877" name="文本框 15"/>
            <p:cNvSpPr txBox="1"/>
            <p:nvPr/>
          </p:nvSpPr>
          <p:spPr>
            <a:xfrm>
              <a:off x="1185863" y="3213100"/>
              <a:ext cx="1658912" cy="4696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endParaRPr lang="zh-CN" altLang="en-US" sz="20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78" name="文本框 16"/>
            <p:cNvSpPr txBox="1"/>
            <p:nvPr/>
          </p:nvSpPr>
          <p:spPr>
            <a:xfrm>
              <a:off x="1185863" y="3682780"/>
              <a:ext cx="2721047" cy="459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      — —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 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79" name="文本框 16"/>
            <p:cNvSpPr txBox="1"/>
            <p:nvPr/>
          </p:nvSpPr>
          <p:spPr>
            <a:xfrm>
              <a:off x="1185863" y="4152460"/>
              <a:ext cx="3744416" cy="459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—         —              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 typeface="Wingdings" panose="05000000000000000000" pitchFamily="2" charset="2"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 +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0" name="文本框 16"/>
            <p:cNvSpPr txBox="1"/>
            <p:nvPr/>
          </p:nvSpPr>
          <p:spPr>
            <a:xfrm>
              <a:off x="1185863" y="4653136"/>
              <a:ext cx="3744416" cy="459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 —                  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 typeface="Wingdings" panose="05000000000000000000" pitchFamily="2" charset="2"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51300" y="3000375"/>
            <a:ext cx="2057400" cy="1995488"/>
            <a:chOff x="4050919" y="2999740"/>
            <a:chExt cx="2058194" cy="1996727"/>
          </a:xfrm>
        </p:grpSpPr>
        <p:sp>
          <p:nvSpPr>
            <p:cNvPr id="79882" name="文本框 18"/>
            <p:cNvSpPr txBox="1"/>
            <p:nvPr/>
          </p:nvSpPr>
          <p:spPr>
            <a:xfrm>
              <a:off x="4050919" y="2999740"/>
              <a:ext cx="1259171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883" name="文本框 19"/>
            <p:cNvSpPr txBox="1"/>
            <p:nvPr/>
          </p:nvSpPr>
          <p:spPr>
            <a:xfrm>
              <a:off x="4064334" y="3507541"/>
              <a:ext cx="184542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884" name="文本框 20"/>
            <p:cNvSpPr txBox="1"/>
            <p:nvPr/>
          </p:nvSpPr>
          <p:spPr>
            <a:xfrm>
              <a:off x="4050919" y="4021172"/>
              <a:ext cx="205819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+ 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885" name="文本框 21"/>
            <p:cNvSpPr txBox="1"/>
            <p:nvPr/>
          </p:nvSpPr>
          <p:spPr>
            <a:xfrm>
              <a:off x="4069893" y="4534802"/>
              <a:ext cx="185698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 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" name="文本框 16"/>
          <p:cNvSpPr txBox="1"/>
          <p:nvPr/>
        </p:nvSpPr>
        <p:spPr>
          <a:xfrm>
            <a:off x="6342063" y="3219450"/>
            <a:ext cx="23542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文本框 16"/>
          <p:cNvSpPr txBox="1"/>
          <p:nvPr/>
        </p:nvSpPr>
        <p:spPr>
          <a:xfrm>
            <a:off x="6396038" y="4492625"/>
            <a:ext cx="1557337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文本框 16"/>
          <p:cNvSpPr txBox="1"/>
          <p:nvPr/>
        </p:nvSpPr>
        <p:spPr>
          <a:xfrm>
            <a:off x="6376988" y="4062413"/>
            <a:ext cx="1844675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文本框 16"/>
          <p:cNvSpPr txBox="1"/>
          <p:nvPr/>
        </p:nvSpPr>
        <p:spPr>
          <a:xfrm>
            <a:off x="6357938" y="3643313"/>
            <a:ext cx="1700212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文本框 16"/>
          <p:cNvSpPr txBox="1"/>
          <p:nvPr/>
        </p:nvSpPr>
        <p:spPr>
          <a:xfrm>
            <a:off x="6410325" y="4940300"/>
            <a:ext cx="2055813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文本框 16"/>
          <p:cNvSpPr txBox="1"/>
          <p:nvPr/>
        </p:nvSpPr>
        <p:spPr>
          <a:xfrm>
            <a:off x="6342063" y="2786063"/>
            <a:ext cx="2354262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文本框 16"/>
          <p:cNvSpPr txBox="1"/>
          <p:nvPr/>
        </p:nvSpPr>
        <p:spPr>
          <a:xfrm>
            <a:off x="6369050" y="2327275"/>
            <a:ext cx="2352675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—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6372225" y="1916113"/>
            <a:ext cx="23542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899" name="Text Box 5"/>
          <p:cNvSpPr txBox="1"/>
          <p:nvPr/>
        </p:nvSpPr>
        <p:spPr>
          <a:xfrm>
            <a:off x="2209800" y="2209800"/>
            <a:ext cx="2286000" cy="28956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完成组合 逻辑功能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0" name="Rectangle 8"/>
          <p:cNvSpPr/>
          <p:nvPr/>
        </p:nvSpPr>
        <p:spPr>
          <a:xfrm>
            <a:off x="5791200" y="1371600"/>
            <a:ext cx="8382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1" name="Text Box 9"/>
          <p:cNvSpPr txBox="1"/>
          <p:nvPr/>
        </p:nvSpPr>
        <p:spPr>
          <a:xfrm>
            <a:off x="5791200" y="1371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2" name="Text Box 10"/>
          <p:cNvSpPr txBox="1"/>
          <p:nvPr/>
        </p:nvSpPr>
        <p:spPr>
          <a:xfrm>
            <a:off x="6248400" y="1371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3" name="Text Box 12"/>
          <p:cNvSpPr txBox="1"/>
          <p:nvPr/>
        </p:nvSpPr>
        <p:spPr>
          <a:xfrm>
            <a:off x="5791200" y="18288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CP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4" name="Text Box 13"/>
          <p:cNvSpPr txBox="1"/>
          <p:nvPr/>
        </p:nvSpPr>
        <p:spPr>
          <a:xfrm>
            <a:off x="6248400" y="1828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5" name="Line 14"/>
          <p:cNvSpPr/>
          <p:nvPr/>
        </p:nvSpPr>
        <p:spPr>
          <a:xfrm>
            <a:off x="6324600" y="19050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06" name="Rectangle 37"/>
          <p:cNvSpPr/>
          <p:nvPr/>
        </p:nvSpPr>
        <p:spPr>
          <a:xfrm>
            <a:off x="5791200" y="2438400"/>
            <a:ext cx="8382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7" name="Text Box 38"/>
          <p:cNvSpPr txBox="1"/>
          <p:nvPr/>
        </p:nvSpPr>
        <p:spPr>
          <a:xfrm>
            <a:off x="5791200" y="2438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8" name="Text Box 39"/>
          <p:cNvSpPr txBox="1"/>
          <p:nvPr/>
        </p:nvSpPr>
        <p:spPr>
          <a:xfrm>
            <a:off x="6248400" y="2438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09" name="Text Box 40"/>
          <p:cNvSpPr txBox="1"/>
          <p:nvPr/>
        </p:nvSpPr>
        <p:spPr>
          <a:xfrm>
            <a:off x="5791200" y="28956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CP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0" name="Text Box 41"/>
          <p:cNvSpPr txBox="1"/>
          <p:nvPr/>
        </p:nvSpPr>
        <p:spPr>
          <a:xfrm>
            <a:off x="6248400" y="2895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1" name="Line 42"/>
          <p:cNvSpPr/>
          <p:nvPr/>
        </p:nvSpPr>
        <p:spPr>
          <a:xfrm>
            <a:off x="6324600" y="29718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12" name="Rectangle 43"/>
          <p:cNvSpPr/>
          <p:nvPr/>
        </p:nvSpPr>
        <p:spPr>
          <a:xfrm>
            <a:off x="5791200" y="3505200"/>
            <a:ext cx="8382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3" name="Text Box 44"/>
          <p:cNvSpPr txBox="1"/>
          <p:nvPr/>
        </p:nvSpPr>
        <p:spPr>
          <a:xfrm>
            <a:off x="5791200" y="3505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4" name="Text Box 45"/>
          <p:cNvSpPr txBox="1"/>
          <p:nvPr/>
        </p:nvSpPr>
        <p:spPr>
          <a:xfrm>
            <a:off x="6248400" y="3505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5" name="Text Box 46"/>
          <p:cNvSpPr txBox="1"/>
          <p:nvPr/>
        </p:nvSpPr>
        <p:spPr>
          <a:xfrm>
            <a:off x="5791200" y="3962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CP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6" name="Text Box 47"/>
          <p:cNvSpPr txBox="1"/>
          <p:nvPr/>
        </p:nvSpPr>
        <p:spPr>
          <a:xfrm>
            <a:off x="62484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7" name="Line 48"/>
          <p:cNvSpPr/>
          <p:nvPr/>
        </p:nvSpPr>
        <p:spPr>
          <a:xfrm>
            <a:off x="6324600" y="40386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18" name="Rectangle 49"/>
          <p:cNvSpPr/>
          <p:nvPr/>
        </p:nvSpPr>
        <p:spPr>
          <a:xfrm>
            <a:off x="5791200" y="4572000"/>
            <a:ext cx="8382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19" name="Text Box 50"/>
          <p:cNvSpPr txBox="1"/>
          <p:nvPr/>
        </p:nvSpPr>
        <p:spPr>
          <a:xfrm>
            <a:off x="5791200" y="4572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20" name="Text Box 51"/>
          <p:cNvSpPr txBox="1"/>
          <p:nvPr/>
        </p:nvSpPr>
        <p:spPr>
          <a:xfrm>
            <a:off x="6248400" y="4572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21" name="Text Box 52"/>
          <p:cNvSpPr txBox="1"/>
          <p:nvPr/>
        </p:nvSpPr>
        <p:spPr>
          <a:xfrm>
            <a:off x="5791200" y="50292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CP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22" name="Text Box 53"/>
          <p:cNvSpPr txBox="1"/>
          <p:nvPr/>
        </p:nvSpPr>
        <p:spPr>
          <a:xfrm>
            <a:off x="6248400" y="5029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23" name="Line 54"/>
          <p:cNvSpPr/>
          <p:nvPr/>
        </p:nvSpPr>
        <p:spPr>
          <a:xfrm>
            <a:off x="6324600" y="51054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4" name="Line 55"/>
          <p:cNvSpPr/>
          <p:nvPr/>
        </p:nvSpPr>
        <p:spPr>
          <a:xfrm>
            <a:off x="4495800" y="2362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5" name="Line 56"/>
          <p:cNvSpPr/>
          <p:nvPr/>
        </p:nvSpPr>
        <p:spPr>
          <a:xfrm flipV="1">
            <a:off x="5105400" y="1600200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6" name="Line 57"/>
          <p:cNvSpPr/>
          <p:nvPr/>
        </p:nvSpPr>
        <p:spPr>
          <a:xfrm>
            <a:off x="5105400" y="16002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7" name="Line 58"/>
          <p:cNvSpPr/>
          <p:nvPr/>
        </p:nvSpPr>
        <p:spPr>
          <a:xfrm flipV="1">
            <a:off x="4495800" y="26670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8" name="Line 59"/>
          <p:cNvSpPr/>
          <p:nvPr/>
        </p:nvSpPr>
        <p:spPr>
          <a:xfrm>
            <a:off x="4495800" y="2971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29" name="Line 60"/>
          <p:cNvSpPr/>
          <p:nvPr/>
        </p:nvSpPr>
        <p:spPr>
          <a:xfrm>
            <a:off x="4495800" y="3276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0" name="Line 61"/>
          <p:cNvSpPr/>
          <p:nvPr/>
        </p:nvSpPr>
        <p:spPr>
          <a:xfrm>
            <a:off x="4800600" y="32766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1" name="Line 62"/>
          <p:cNvSpPr/>
          <p:nvPr/>
        </p:nvSpPr>
        <p:spPr>
          <a:xfrm>
            <a:off x="4800600" y="48006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2" name="Line 63"/>
          <p:cNvSpPr/>
          <p:nvPr/>
        </p:nvSpPr>
        <p:spPr>
          <a:xfrm flipH="1">
            <a:off x="5105400" y="37338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3" name="Line 64"/>
          <p:cNvSpPr/>
          <p:nvPr/>
        </p:nvSpPr>
        <p:spPr>
          <a:xfrm flipV="1">
            <a:off x="5105400" y="2971800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4" name="Text Box 65"/>
          <p:cNvSpPr txBox="1"/>
          <p:nvPr/>
        </p:nvSpPr>
        <p:spPr>
          <a:xfrm>
            <a:off x="3962400" y="2133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5" name="Text Box 66"/>
          <p:cNvSpPr txBox="1"/>
          <p:nvPr/>
        </p:nvSpPr>
        <p:spPr>
          <a:xfrm>
            <a:off x="3962400" y="24384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6" name="Text Box 67"/>
          <p:cNvSpPr txBox="1"/>
          <p:nvPr/>
        </p:nvSpPr>
        <p:spPr>
          <a:xfrm>
            <a:off x="3962400" y="27432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7" name="Text Box 68"/>
          <p:cNvSpPr txBox="1"/>
          <p:nvPr/>
        </p:nvSpPr>
        <p:spPr>
          <a:xfrm>
            <a:off x="3962400" y="30480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938" name="Line 69"/>
          <p:cNvSpPr/>
          <p:nvPr/>
        </p:nvSpPr>
        <p:spPr>
          <a:xfrm>
            <a:off x="6629400" y="2057400"/>
            <a:ext cx="167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39" name="Line 70"/>
          <p:cNvSpPr/>
          <p:nvPr/>
        </p:nvSpPr>
        <p:spPr>
          <a:xfrm>
            <a:off x="8305800" y="2057400"/>
            <a:ext cx="0" cy="441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0" name="Line 71"/>
          <p:cNvSpPr/>
          <p:nvPr/>
        </p:nvSpPr>
        <p:spPr>
          <a:xfrm flipH="1" flipV="1">
            <a:off x="1066800" y="6477000"/>
            <a:ext cx="7239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1" name="Line 72"/>
          <p:cNvSpPr/>
          <p:nvPr/>
        </p:nvSpPr>
        <p:spPr>
          <a:xfrm>
            <a:off x="6629400" y="31242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2" name="Line 73"/>
          <p:cNvSpPr/>
          <p:nvPr/>
        </p:nvSpPr>
        <p:spPr>
          <a:xfrm>
            <a:off x="7924800" y="3124200"/>
            <a:ext cx="0" cy="304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3" name="Line 74"/>
          <p:cNvSpPr/>
          <p:nvPr/>
        </p:nvSpPr>
        <p:spPr>
          <a:xfrm flipH="1">
            <a:off x="1295400" y="6172200"/>
            <a:ext cx="6629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4" name="Line 75"/>
          <p:cNvSpPr/>
          <p:nvPr/>
        </p:nvSpPr>
        <p:spPr>
          <a:xfrm>
            <a:off x="6629400" y="41910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5" name="Line 76"/>
          <p:cNvSpPr/>
          <p:nvPr/>
        </p:nvSpPr>
        <p:spPr>
          <a:xfrm>
            <a:off x="7620000" y="4191000"/>
            <a:ext cx="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6" name="Line 77"/>
          <p:cNvSpPr/>
          <p:nvPr/>
        </p:nvSpPr>
        <p:spPr>
          <a:xfrm flipH="1">
            <a:off x="1524000" y="5867400"/>
            <a:ext cx="6096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7" name="Line 78"/>
          <p:cNvSpPr/>
          <p:nvPr/>
        </p:nvSpPr>
        <p:spPr>
          <a:xfrm>
            <a:off x="6629400" y="52578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8" name="Line 79"/>
          <p:cNvSpPr/>
          <p:nvPr/>
        </p:nvSpPr>
        <p:spPr>
          <a:xfrm>
            <a:off x="7315200" y="5257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49" name="Line 80"/>
          <p:cNvSpPr/>
          <p:nvPr/>
        </p:nvSpPr>
        <p:spPr>
          <a:xfrm flipH="1">
            <a:off x="1752600" y="5562600"/>
            <a:ext cx="556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0" name="Line 81"/>
          <p:cNvSpPr/>
          <p:nvPr/>
        </p:nvSpPr>
        <p:spPr>
          <a:xfrm flipV="1">
            <a:off x="1752600" y="3505200"/>
            <a:ext cx="0" cy="2057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1" name="Line 82"/>
          <p:cNvSpPr/>
          <p:nvPr/>
        </p:nvSpPr>
        <p:spPr>
          <a:xfrm flipV="1">
            <a:off x="1524000" y="32766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2" name="Line 83"/>
          <p:cNvSpPr/>
          <p:nvPr/>
        </p:nvSpPr>
        <p:spPr>
          <a:xfrm flipV="1">
            <a:off x="1295400" y="3048000"/>
            <a:ext cx="0" cy="3124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3" name="Line 84"/>
          <p:cNvSpPr/>
          <p:nvPr/>
        </p:nvSpPr>
        <p:spPr>
          <a:xfrm flipV="1">
            <a:off x="1066800" y="2743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4" name="Line 85"/>
          <p:cNvSpPr/>
          <p:nvPr/>
        </p:nvSpPr>
        <p:spPr>
          <a:xfrm>
            <a:off x="1752600" y="3505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5" name="Line 86"/>
          <p:cNvSpPr/>
          <p:nvPr/>
        </p:nvSpPr>
        <p:spPr>
          <a:xfrm flipV="1">
            <a:off x="1524000" y="32766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6" name="Line 87"/>
          <p:cNvSpPr/>
          <p:nvPr/>
        </p:nvSpPr>
        <p:spPr>
          <a:xfrm>
            <a:off x="1295400" y="3048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957" name="Line 88"/>
          <p:cNvSpPr/>
          <p:nvPr/>
        </p:nvSpPr>
        <p:spPr>
          <a:xfrm>
            <a:off x="1066800" y="27432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80958" name="Group 97"/>
          <p:cNvGrpSpPr/>
          <p:nvPr/>
        </p:nvGrpSpPr>
        <p:grpSpPr>
          <a:xfrm>
            <a:off x="2209800" y="2438400"/>
            <a:ext cx="762000" cy="1371600"/>
            <a:chOff x="1392" y="1536"/>
            <a:chExt cx="480" cy="864"/>
          </a:xfrm>
        </p:grpSpPr>
        <p:sp>
          <p:nvSpPr>
            <p:cNvPr id="80959" name="Line 89"/>
            <p:cNvSpPr/>
            <p:nvPr/>
          </p:nvSpPr>
          <p:spPr>
            <a:xfrm>
              <a:off x="1440" y="1584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60" name="Text Box 90"/>
            <p:cNvSpPr txBox="1"/>
            <p:nvPr/>
          </p:nvSpPr>
          <p:spPr>
            <a:xfrm>
              <a:off x="1392" y="153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61" name="Text Box 91"/>
            <p:cNvSpPr txBox="1"/>
            <p:nvPr/>
          </p:nvSpPr>
          <p:spPr>
            <a:xfrm>
              <a:off x="1392" y="172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62" name="Text Box 92"/>
            <p:cNvSpPr txBox="1"/>
            <p:nvPr/>
          </p:nvSpPr>
          <p:spPr>
            <a:xfrm>
              <a:off x="1392" y="1920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63" name="Text Box 93"/>
            <p:cNvSpPr txBox="1"/>
            <p:nvPr/>
          </p:nvSpPr>
          <p:spPr>
            <a:xfrm>
              <a:off x="1392" y="2112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64" name="Line 94"/>
            <p:cNvSpPr/>
            <p:nvPr/>
          </p:nvSpPr>
          <p:spPr>
            <a:xfrm>
              <a:off x="1440" y="1776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65" name="Line 95"/>
            <p:cNvSpPr/>
            <p:nvPr/>
          </p:nvSpPr>
          <p:spPr>
            <a:xfrm>
              <a:off x="1440" y="1968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66" name="Line 96"/>
            <p:cNvSpPr/>
            <p:nvPr/>
          </p:nvSpPr>
          <p:spPr>
            <a:xfrm>
              <a:off x="1440" y="2160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21036" name="Group 140"/>
          <p:cNvGrpSpPr/>
          <p:nvPr/>
        </p:nvGrpSpPr>
        <p:grpSpPr>
          <a:xfrm>
            <a:off x="2082800" y="2076450"/>
            <a:ext cx="3149600" cy="4321175"/>
            <a:chOff x="1312" y="1308"/>
            <a:chExt cx="1984" cy="2722"/>
          </a:xfrm>
        </p:grpSpPr>
        <p:sp>
          <p:nvSpPr>
            <p:cNvPr id="81923" name="Line 29"/>
            <p:cNvSpPr/>
            <p:nvPr/>
          </p:nvSpPr>
          <p:spPr>
            <a:xfrm>
              <a:off x="1312" y="1308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4" name="Line 30"/>
            <p:cNvSpPr/>
            <p:nvPr/>
          </p:nvSpPr>
          <p:spPr>
            <a:xfrm>
              <a:off x="1595" y="1308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5" name="Line 31"/>
            <p:cNvSpPr/>
            <p:nvPr/>
          </p:nvSpPr>
          <p:spPr>
            <a:xfrm>
              <a:off x="1879" y="1309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6" name="Line 32"/>
            <p:cNvSpPr/>
            <p:nvPr/>
          </p:nvSpPr>
          <p:spPr>
            <a:xfrm>
              <a:off x="2162" y="1309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7" name="Line 33"/>
            <p:cNvSpPr/>
            <p:nvPr/>
          </p:nvSpPr>
          <p:spPr>
            <a:xfrm>
              <a:off x="2446" y="1309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8" name="Line 34"/>
            <p:cNvSpPr/>
            <p:nvPr/>
          </p:nvSpPr>
          <p:spPr>
            <a:xfrm>
              <a:off x="2729" y="1309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29" name="Line 35"/>
            <p:cNvSpPr/>
            <p:nvPr/>
          </p:nvSpPr>
          <p:spPr>
            <a:xfrm>
              <a:off x="3013" y="1310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0" name="Line 36"/>
            <p:cNvSpPr/>
            <p:nvPr/>
          </p:nvSpPr>
          <p:spPr>
            <a:xfrm>
              <a:off x="3296" y="1310"/>
              <a:ext cx="0" cy="2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0999" name="Group 103"/>
          <p:cNvGrpSpPr/>
          <p:nvPr/>
        </p:nvGrpSpPr>
        <p:grpSpPr>
          <a:xfrm>
            <a:off x="1677988" y="2286000"/>
            <a:ext cx="4095750" cy="1984375"/>
            <a:chOff x="1313" y="912"/>
            <a:chExt cx="2580" cy="1250"/>
          </a:xfrm>
        </p:grpSpPr>
        <p:sp>
          <p:nvSpPr>
            <p:cNvPr id="81932" name="Line 28"/>
            <p:cNvSpPr/>
            <p:nvPr/>
          </p:nvSpPr>
          <p:spPr>
            <a:xfrm>
              <a:off x="1319" y="912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3" name="Line 37"/>
            <p:cNvSpPr/>
            <p:nvPr/>
          </p:nvSpPr>
          <p:spPr>
            <a:xfrm>
              <a:off x="1313" y="1113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4" name="Line 38"/>
            <p:cNvSpPr/>
            <p:nvPr/>
          </p:nvSpPr>
          <p:spPr>
            <a:xfrm>
              <a:off x="1319" y="1255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5" name="Line 39"/>
            <p:cNvSpPr/>
            <p:nvPr/>
          </p:nvSpPr>
          <p:spPr>
            <a:xfrm>
              <a:off x="1313" y="1456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6" name="Line 40"/>
            <p:cNvSpPr/>
            <p:nvPr/>
          </p:nvSpPr>
          <p:spPr>
            <a:xfrm>
              <a:off x="1319" y="1621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7" name="Line 41"/>
            <p:cNvSpPr/>
            <p:nvPr/>
          </p:nvSpPr>
          <p:spPr>
            <a:xfrm>
              <a:off x="1313" y="1822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8" name="Line 42"/>
            <p:cNvSpPr/>
            <p:nvPr/>
          </p:nvSpPr>
          <p:spPr>
            <a:xfrm>
              <a:off x="1319" y="1961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9" name="Line 43"/>
            <p:cNvSpPr/>
            <p:nvPr/>
          </p:nvSpPr>
          <p:spPr>
            <a:xfrm>
              <a:off x="1313" y="2162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37" name="Group 141"/>
          <p:cNvGrpSpPr/>
          <p:nvPr/>
        </p:nvGrpSpPr>
        <p:grpSpPr>
          <a:xfrm>
            <a:off x="1677988" y="5105400"/>
            <a:ext cx="4095750" cy="949325"/>
            <a:chOff x="1057" y="3234"/>
            <a:chExt cx="2580" cy="598"/>
          </a:xfrm>
        </p:grpSpPr>
        <p:sp>
          <p:nvSpPr>
            <p:cNvPr id="81941" name="Line 44"/>
            <p:cNvSpPr/>
            <p:nvPr/>
          </p:nvSpPr>
          <p:spPr>
            <a:xfrm>
              <a:off x="1063" y="3234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2" name="Line 45"/>
            <p:cNvSpPr/>
            <p:nvPr/>
          </p:nvSpPr>
          <p:spPr>
            <a:xfrm>
              <a:off x="1057" y="3435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3" name="Line 46"/>
            <p:cNvSpPr/>
            <p:nvPr/>
          </p:nvSpPr>
          <p:spPr>
            <a:xfrm>
              <a:off x="1063" y="3631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4" name="Line 47"/>
            <p:cNvSpPr/>
            <p:nvPr/>
          </p:nvSpPr>
          <p:spPr>
            <a:xfrm>
              <a:off x="1057" y="3832"/>
              <a:ext cx="25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0944" name="Text Box 48"/>
          <p:cNvSpPr txBox="1">
            <a:spLocks noChangeArrowheads="1"/>
          </p:cNvSpPr>
          <p:nvPr/>
        </p:nvSpPr>
        <p:spPr bwMode="auto">
          <a:xfrm>
            <a:off x="5334000" y="4800600"/>
            <a:ext cx="498475" cy="13112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000" kern="1200" cap="none" spc="0" normalizeH="0" baseline="-2500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000" kern="1200" cap="none" spc="0" normalizeH="0" baseline="-2500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000" kern="1200" cap="none" spc="0" normalizeH="0" baseline="-2500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000" kern="1200" cap="none" spc="0" normalizeH="0" baseline="-2500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000" kern="1200" cap="none" spc="0" normalizeH="0" baseline="-2500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C</a:t>
            </a:r>
            <a:endParaRPr kumimoji="0" lang="en-US" altLang="zh-CN" sz="2000" kern="1200" cap="none" spc="0" normalizeH="0" baseline="-2500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000" kern="1200" cap="none" spc="0" normalizeH="0" baseline="-2500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2000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0957" name="Oval 61"/>
          <p:cNvSpPr>
            <a:spLocks noChangeAspect="1"/>
          </p:cNvSpPr>
          <p:nvPr/>
        </p:nvSpPr>
        <p:spPr>
          <a:xfrm>
            <a:off x="2020888" y="2222500"/>
            <a:ext cx="107950" cy="10795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1027" name="Group 131"/>
          <p:cNvGrpSpPr/>
          <p:nvPr/>
        </p:nvGrpSpPr>
        <p:grpSpPr>
          <a:xfrm>
            <a:off x="2921000" y="2222500"/>
            <a:ext cx="125413" cy="946150"/>
            <a:chOff x="1840" y="1420"/>
            <a:chExt cx="79" cy="596"/>
          </a:xfrm>
        </p:grpSpPr>
        <p:sp>
          <p:nvSpPr>
            <p:cNvPr id="81948" name="Oval 64"/>
            <p:cNvSpPr>
              <a:spLocks noChangeAspect="1"/>
            </p:cNvSpPr>
            <p:nvPr/>
          </p:nvSpPr>
          <p:spPr>
            <a:xfrm>
              <a:off x="1840" y="1420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49" name="Oval 65"/>
            <p:cNvSpPr>
              <a:spLocks noChangeAspect="1"/>
            </p:cNvSpPr>
            <p:nvPr/>
          </p:nvSpPr>
          <p:spPr>
            <a:xfrm>
              <a:off x="1851" y="1948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64" name="Group 168"/>
          <p:cNvGrpSpPr/>
          <p:nvPr/>
        </p:nvGrpSpPr>
        <p:grpSpPr>
          <a:xfrm>
            <a:off x="3352800" y="2254250"/>
            <a:ext cx="152400" cy="1543050"/>
            <a:chOff x="2112" y="1420"/>
            <a:chExt cx="96" cy="972"/>
          </a:xfrm>
        </p:grpSpPr>
        <p:sp>
          <p:nvSpPr>
            <p:cNvPr id="81951" name="Oval 66"/>
            <p:cNvSpPr>
              <a:spLocks noChangeAspect="1"/>
            </p:cNvSpPr>
            <p:nvPr/>
          </p:nvSpPr>
          <p:spPr>
            <a:xfrm>
              <a:off x="2140" y="1420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52" name="Oval 67"/>
            <p:cNvSpPr>
              <a:spLocks noChangeAspect="1"/>
            </p:cNvSpPr>
            <p:nvPr/>
          </p:nvSpPr>
          <p:spPr>
            <a:xfrm>
              <a:off x="2112" y="2324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65" name="Group 169"/>
          <p:cNvGrpSpPr/>
          <p:nvPr/>
        </p:nvGrpSpPr>
        <p:grpSpPr>
          <a:xfrm>
            <a:off x="3810000" y="2787650"/>
            <a:ext cx="119063" cy="1022350"/>
            <a:chOff x="2400" y="1756"/>
            <a:chExt cx="75" cy="644"/>
          </a:xfrm>
        </p:grpSpPr>
        <p:sp>
          <p:nvSpPr>
            <p:cNvPr id="81954" name="Oval 68"/>
            <p:cNvSpPr>
              <a:spLocks noChangeAspect="1"/>
            </p:cNvSpPr>
            <p:nvPr/>
          </p:nvSpPr>
          <p:spPr>
            <a:xfrm>
              <a:off x="2407" y="233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55" name="Oval 69"/>
            <p:cNvSpPr>
              <a:spLocks noChangeAspect="1"/>
            </p:cNvSpPr>
            <p:nvPr/>
          </p:nvSpPr>
          <p:spPr>
            <a:xfrm>
              <a:off x="2400" y="1756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30" name="Group 134"/>
          <p:cNvGrpSpPr/>
          <p:nvPr/>
        </p:nvGrpSpPr>
        <p:grpSpPr>
          <a:xfrm>
            <a:off x="4270375" y="2527300"/>
            <a:ext cx="127000" cy="946150"/>
            <a:chOff x="2690" y="1612"/>
            <a:chExt cx="80" cy="596"/>
          </a:xfrm>
        </p:grpSpPr>
        <p:sp>
          <p:nvSpPr>
            <p:cNvPr id="81957" name="Oval 70"/>
            <p:cNvSpPr>
              <a:spLocks noChangeAspect="1"/>
            </p:cNvSpPr>
            <p:nvPr/>
          </p:nvSpPr>
          <p:spPr>
            <a:xfrm>
              <a:off x="2690" y="2140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58" name="Oval 71"/>
            <p:cNvSpPr>
              <a:spLocks noChangeAspect="1"/>
            </p:cNvSpPr>
            <p:nvPr/>
          </p:nvSpPr>
          <p:spPr>
            <a:xfrm>
              <a:off x="2690" y="1948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59" name="Oval 72"/>
            <p:cNvSpPr>
              <a:spLocks noChangeAspect="1"/>
            </p:cNvSpPr>
            <p:nvPr/>
          </p:nvSpPr>
          <p:spPr>
            <a:xfrm>
              <a:off x="2702" y="161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31" name="Group 135"/>
          <p:cNvGrpSpPr/>
          <p:nvPr/>
        </p:nvGrpSpPr>
        <p:grpSpPr>
          <a:xfrm>
            <a:off x="4724400" y="2254250"/>
            <a:ext cx="107950" cy="2089150"/>
            <a:chOff x="2976" y="1392"/>
            <a:chExt cx="68" cy="1316"/>
          </a:xfrm>
        </p:grpSpPr>
        <p:sp>
          <p:nvSpPr>
            <p:cNvPr id="81961" name="Oval 73"/>
            <p:cNvSpPr>
              <a:spLocks noChangeAspect="1"/>
            </p:cNvSpPr>
            <p:nvPr/>
          </p:nvSpPr>
          <p:spPr>
            <a:xfrm>
              <a:off x="2976" y="139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2" name="Oval 74"/>
            <p:cNvSpPr>
              <a:spLocks noChangeAspect="1"/>
            </p:cNvSpPr>
            <p:nvPr/>
          </p:nvSpPr>
          <p:spPr>
            <a:xfrm>
              <a:off x="2976" y="2640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66" name="Group 170"/>
          <p:cNvGrpSpPr/>
          <p:nvPr/>
        </p:nvGrpSpPr>
        <p:grpSpPr>
          <a:xfrm>
            <a:off x="5181600" y="2527300"/>
            <a:ext cx="117475" cy="1466850"/>
            <a:chOff x="3264" y="1592"/>
            <a:chExt cx="74" cy="924"/>
          </a:xfrm>
        </p:grpSpPr>
        <p:sp>
          <p:nvSpPr>
            <p:cNvPr id="81964" name="Oval 75"/>
            <p:cNvSpPr>
              <a:spLocks noChangeAspect="1"/>
            </p:cNvSpPr>
            <p:nvPr/>
          </p:nvSpPr>
          <p:spPr>
            <a:xfrm>
              <a:off x="3264" y="159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5" name="Oval 76"/>
            <p:cNvSpPr>
              <a:spLocks noChangeAspect="1"/>
            </p:cNvSpPr>
            <p:nvPr/>
          </p:nvSpPr>
          <p:spPr>
            <a:xfrm>
              <a:off x="3264" y="1920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6" name="Oval 77"/>
            <p:cNvSpPr>
              <a:spLocks noChangeAspect="1"/>
            </p:cNvSpPr>
            <p:nvPr/>
          </p:nvSpPr>
          <p:spPr>
            <a:xfrm>
              <a:off x="3264" y="233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7" name="Oval 78"/>
            <p:cNvSpPr>
              <a:spLocks noChangeAspect="1"/>
            </p:cNvSpPr>
            <p:nvPr/>
          </p:nvSpPr>
          <p:spPr>
            <a:xfrm>
              <a:off x="3270" y="2448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0979" name="Text Box 83"/>
          <p:cNvSpPr txBox="1"/>
          <p:nvPr/>
        </p:nvSpPr>
        <p:spPr>
          <a:xfrm>
            <a:off x="1838325" y="1676400"/>
            <a:ext cx="3689350" cy="396875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0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1 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2 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3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4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5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6     </a:t>
            </a:r>
            <a:r>
              <a:rPr lang="en-US" altLang="zh-CN" sz="2000" dirty="0">
                <a:latin typeface="Georgia" panose="02040502050405020303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Georgia" panose="02040502050405020303" pitchFamily="18" charset="0"/>
                <a:ea typeface="宋体" panose="02010600030101010101" pitchFamily="2" charset="-122"/>
              </a:rPr>
              <a:t>7  </a:t>
            </a:r>
            <a:endParaRPr lang="en-US" altLang="zh-CN" sz="20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721063" name="Group 167"/>
          <p:cNvGrpSpPr/>
          <p:nvPr/>
        </p:nvGrpSpPr>
        <p:grpSpPr>
          <a:xfrm>
            <a:off x="2470150" y="2527300"/>
            <a:ext cx="107950" cy="1466850"/>
            <a:chOff x="1556" y="1592"/>
            <a:chExt cx="68" cy="924"/>
          </a:xfrm>
        </p:grpSpPr>
        <p:sp>
          <p:nvSpPr>
            <p:cNvPr id="81970" name="Oval 62"/>
            <p:cNvSpPr>
              <a:spLocks noChangeAspect="1"/>
            </p:cNvSpPr>
            <p:nvPr/>
          </p:nvSpPr>
          <p:spPr>
            <a:xfrm>
              <a:off x="1556" y="159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71" name="Oval 63"/>
            <p:cNvSpPr>
              <a:spLocks noChangeAspect="1"/>
            </p:cNvSpPr>
            <p:nvPr/>
          </p:nvSpPr>
          <p:spPr>
            <a:xfrm>
              <a:off x="1556" y="1736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72" name="Oval 84"/>
            <p:cNvSpPr>
              <a:spLocks noChangeAspect="1"/>
            </p:cNvSpPr>
            <p:nvPr/>
          </p:nvSpPr>
          <p:spPr>
            <a:xfrm>
              <a:off x="1556" y="2448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0981" name="Oval 85"/>
          <p:cNvSpPr>
            <a:spLocks noChangeAspect="1"/>
          </p:cNvSpPr>
          <p:nvPr/>
        </p:nvSpPr>
        <p:spPr>
          <a:xfrm>
            <a:off x="2020888" y="5075238"/>
            <a:ext cx="107950" cy="107950"/>
          </a:xfrm>
          <a:prstGeom prst="ellipse">
            <a:avLst/>
          </a:prstGeom>
          <a:solidFill>
            <a:srgbClr val="FFFF00"/>
          </a:solidFill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1033" name="Group 137"/>
          <p:cNvGrpSpPr/>
          <p:nvPr/>
        </p:nvGrpSpPr>
        <p:grpSpPr>
          <a:xfrm>
            <a:off x="2470150" y="5399088"/>
            <a:ext cx="558800" cy="107950"/>
            <a:chOff x="1556" y="3401"/>
            <a:chExt cx="352" cy="68"/>
          </a:xfrm>
        </p:grpSpPr>
        <p:sp>
          <p:nvSpPr>
            <p:cNvPr id="81975" name="Oval 86"/>
            <p:cNvSpPr>
              <a:spLocks noChangeAspect="1"/>
            </p:cNvSpPr>
            <p:nvPr/>
          </p:nvSpPr>
          <p:spPr>
            <a:xfrm>
              <a:off x="1556" y="3401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76" name="Oval 87"/>
            <p:cNvSpPr>
              <a:spLocks noChangeAspect="1"/>
            </p:cNvSpPr>
            <p:nvPr/>
          </p:nvSpPr>
          <p:spPr>
            <a:xfrm>
              <a:off x="1840" y="3401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34" name="Group 138"/>
          <p:cNvGrpSpPr/>
          <p:nvPr/>
        </p:nvGrpSpPr>
        <p:grpSpPr>
          <a:xfrm>
            <a:off x="3370263" y="5705475"/>
            <a:ext cx="1008062" cy="125413"/>
            <a:chOff x="2123" y="3594"/>
            <a:chExt cx="635" cy="79"/>
          </a:xfrm>
        </p:grpSpPr>
        <p:sp>
          <p:nvSpPr>
            <p:cNvPr id="81978" name="Oval 88"/>
            <p:cNvSpPr>
              <a:spLocks noChangeAspect="1"/>
            </p:cNvSpPr>
            <p:nvPr/>
          </p:nvSpPr>
          <p:spPr>
            <a:xfrm>
              <a:off x="2123" y="3594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79" name="Oval 89"/>
            <p:cNvSpPr>
              <a:spLocks noChangeAspect="1"/>
            </p:cNvSpPr>
            <p:nvPr/>
          </p:nvSpPr>
          <p:spPr>
            <a:xfrm>
              <a:off x="2407" y="3605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80" name="Oval 90"/>
            <p:cNvSpPr>
              <a:spLocks noChangeAspect="1"/>
            </p:cNvSpPr>
            <p:nvPr/>
          </p:nvSpPr>
          <p:spPr>
            <a:xfrm>
              <a:off x="2690" y="3605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21035" name="Group 139"/>
          <p:cNvGrpSpPr/>
          <p:nvPr/>
        </p:nvGrpSpPr>
        <p:grpSpPr>
          <a:xfrm>
            <a:off x="4721225" y="6019800"/>
            <a:ext cx="557213" cy="107950"/>
            <a:chOff x="2974" y="3792"/>
            <a:chExt cx="351" cy="68"/>
          </a:xfrm>
        </p:grpSpPr>
        <p:sp>
          <p:nvSpPr>
            <p:cNvPr id="81982" name="Oval 91"/>
            <p:cNvSpPr>
              <a:spLocks noChangeAspect="1"/>
            </p:cNvSpPr>
            <p:nvPr/>
          </p:nvSpPr>
          <p:spPr>
            <a:xfrm>
              <a:off x="2974" y="379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83" name="Oval 92"/>
            <p:cNvSpPr>
              <a:spLocks noChangeAspect="1"/>
            </p:cNvSpPr>
            <p:nvPr/>
          </p:nvSpPr>
          <p:spPr>
            <a:xfrm>
              <a:off x="3257" y="3792"/>
              <a:ext cx="68" cy="68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0989" name="Rectangle 93"/>
          <p:cNvSpPr/>
          <p:nvPr/>
        </p:nvSpPr>
        <p:spPr>
          <a:xfrm>
            <a:off x="1189038" y="1752600"/>
            <a:ext cx="4602162" cy="4724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1092" name="Group 196"/>
          <p:cNvGrpSpPr/>
          <p:nvPr/>
        </p:nvGrpSpPr>
        <p:grpSpPr>
          <a:xfrm>
            <a:off x="733425" y="2068513"/>
            <a:ext cx="954088" cy="533400"/>
            <a:chOff x="462" y="1303"/>
            <a:chExt cx="601" cy="336"/>
          </a:xfrm>
        </p:grpSpPr>
        <p:grpSp>
          <p:nvGrpSpPr>
            <p:cNvPr id="81986" name="Group 4"/>
            <p:cNvGrpSpPr>
              <a:grpSpLocks noChangeAspect="1"/>
            </p:cNvGrpSpPr>
            <p:nvPr/>
          </p:nvGrpSpPr>
          <p:grpSpPr>
            <a:xfrm>
              <a:off x="740" y="1438"/>
              <a:ext cx="202" cy="201"/>
              <a:chOff x="794" y="2361"/>
              <a:chExt cx="254" cy="253"/>
            </a:xfrm>
          </p:grpSpPr>
          <p:sp>
            <p:nvSpPr>
              <p:cNvPr id="81987" name="AutoShape 5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988" name="Oval 6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1989" name="Line 7"/>
            <p:cNvSpPr/>
            <p:nvPr/>
          </p:nvSpPr>
          <p:spPr>
            <a:xfrm>
              <a:off x="933" y="1628"/>
              <a:ext cx="130" cy="1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90" name="Line 8"/>
            <p:cNvSpPr/>
            <p:nvPr/>
          </p:nvSpPr>
          <p:spPr>
            <a:xfrm flipV="1">
              <a:off x="904" y="1438"/>
              <a:ext cx="159" cy="4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91" name="Line 9"/>
            <p:cNvSpPr/>
            <p:nvPr/>
          </p:nvSpPr>
          <p:spPr>
            <a:xfrm>
              <a:off x="547" y="1543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975" name="Text Box 79"/>
            <p:cNvSpPr txBox="1">
              <a:spLocks noChangeArrowheads="1"/>
            </p:cNvSpPr>
            <p:nvPr/>
          </p:nvSpPr>
          <p:spPr bwMode="auto">
            <a:xfrm>
              <a:off x="462" y="1303"/>
              <a:ext cx="30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kern="1200" cap="none" spc="0" normalizeH="0" baseline="-2500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93" name="Line 94"/>
            <p:cNvSpPr/>
            <p:nvPr/>
          </p:nvSpPr>
          <p:spPr>
            <a:xfrm>
              <a:off x="512" y="134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91" name="Group 195"/>
          <p:cNvGrpSpPr/>
          <p:nvPr/>
        </p:nvGrpSpPr>
        <p:grpSpPr>
          <a:xfrm>
            <a:off x="735013" y="2609850"/>
            <a:ext cx="952500" cy="536575"/>
            <a:chOff x="463" y="1644"/>
            <a:chExt cx="600" cy="338"/>
          </a:xfrm>
        </p:grpSpPr>
        <p:sp>
          <p:nvSpPr>
            <p:cNvPr id="81995" name="Line 95"/>
            <p:cNvSpPr/>
            <p:nvPr/>
          </p:nvSpPr>
          <p:spPr>
            <a:xfrm>
              <a:off x="512" y="167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81996" name="Group 100"/>
            <p:cNvGrpSpPr/>
            <p:nvPr/>
          </p:nvGrpSpPr>
          <p:grpSpPr>
            <a:xfrm>
              <a:off x="463" y="1644"/>
              <a:ext cx="600" cy="338"/>
              <a:chOff x="719" y="1118"/>
              <a:chExt cx="600" cy="338"/>
            </a:xfrm>
          </p:grpSpPr>
          <p:grpSp>
            <p:nvGrpSpPr>
              <p:cNvPr id="81997" name="Group 10"/>
              <p:cNvGrpSpPr>
                <a:grpSpLocks noChangeAspect="1"/>
              </p:cNvGrpSpPr>
              <p:nvPr/>
            </p:nvGrpSpPr>
            <p:grpSpPr>
              <a:xfrm>
                <a:off x="996" y="1255"/>
                <a:ext cx="202" cy="201"/>
                <a:chOff x="794" y="2361"/>
                <a:chExt cx="254" cy="253"/>
              </a:xfrm>
            </p:grpSpPr>
            <p:sp>
              <p:nvSpPr>
                <p:cNvPr id="81998" name="AutoShape 11"/>
                <p:cNvSpPr>
                  <a:spLocks noChangeAspect="1"/>
                </p:cNvSpPr>
                <p:nvPr/>
              </p:nvSpPr>
              <p:spPr>
                <a:xfrm rot="-8100000">
                  <a:off x="793" y="2360"/>
                  <a:ext cx="231" cy="231"/>
                </a:xfrm>
                <a:prstGeom prst="rtTriangl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999" name="Oval 12"/>
                <p:cNvSpPr>
                  <a:spLocks noChangeAspect="1"/>
                </p:cNvSpPr>
                <p:nvPr/>
              </p:nvSpPr>
              <p:spPr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2000" name="Line 13"/>
              <p:cNvSpPr/>
              <p:nvPr/>
            </p:nvSpPr>
            <p:spPr>
              <a:xfrm>
                <a:off x="1189" y="1445"/>
                <a:ext cx="130" cy="1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1" name="Line 14"/>
              <p:cNvSpPr/>
              <p:nvPr/>
            </p:nvSpPr>
            <p:spPr>
              <a:xfrm flipV="1">
                <a:off x="1160" y="1255"/>
                <a:ext cx="159" cy="4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2" name="Line 15"/>
              <p:cNvSpPr/>
              <p:nvPr/>
            </p:nvSpPr>
            <p:spPr>
              <a:xfrm>
                <a:off x="803" y="1360"/>
                <a:ext cx="27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0976" name="Text Box 80"/>
              <p:cNvSpPr txBox="1">
                <a:spLocks noChangeArrowheads="1"/>
              </p:cNvSpPr>
              <p:nvPr/>
            </p:nvSpPr>
            <p:spPr bwMode="auto">
              <a:xfrm>
                <a:off x="719" y="1118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20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000" kern="1200" cap="none" spc="0" normalizeH="0" baseline="-2500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20997" name="Group 101"/>
          <p:cNvGrpSpPr/>
          <p:nvPr/>
        </p:nvGrpSpPr>
        <p:grpSpPr>
          <a:xfrm>
            <a:off x="735013" y="3149600"/>
            <a:ext cx="952500" cy="577850"/>
            <a:chOff x="719" y="1458"/>
            <a:chExt cx="600" cy="364"/>
          </a:xfrm>
        </p:grpSpPr>
        <p:grpSp>
          <p:nvGrpSpPr>
            <p:cNvPr id="82005" name="Group 16"/>
            <p:cNvGrpSpPr>
              <a:grpSpLocks noChangeAspect="1"/>
            </p:cNvGrpSpPr>
            <p:nvPr/>
          </p:nvGrpSpPr>
          <p:grpSpPr>
            <a:xfrm>
              <a:off x="996" y="1621"/>
              <a:ext cx="202" cy="201"/>
              <a:chOff x="794" y="2361"/>
              <a:chExt cx="254" cy="253"/>
            </a:xfrm>
          </p:grpSpPr>
          <p:sp>
            <p:nvSpPr>
              <p:cNvPr id="82006" name="AutoShape 17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07" name="Oval 18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008" name="Line 19"/>
            <p:cNvSpPr/>
            <p:nvPr/>
          </p:nvSpPr>
          <p:spPr>
            <a:xfrm>
              <a:off x="1189" y="1811"/>
              <a:ext cx="130" cy="1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09" name="Line 20"/>
            <p:cNvSpPr/>
            <p:nvPr/>
          </p:nvSpPr>
          <p:spPr>
            <a:xfrm flipV="1">
              <a:off x="1160" y="1621"/>
              <a:ext cx="159" cy="4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10" name="Line 21"/>
            <p:cNvSpPr/>
            <p:nvPr/>
          </p:nvSpPr>
          <p:spPr>
            <a:xfrm>
              <a:off x="803" y="1726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977" name="Text Box 81"/>
            <p:cNvSpPr txBox="1">
              <a:spLocks noChangeArrowheads="1"/>
            </p:cNvSpPr>
            <p:nvPr/>
          </p:nvSpPr>
          <p:spPr bwMode="auto">
            <a:xfrm>
              <a:off x="719" y="1458"/>
              <a:ext cx="30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kern="1200" cap="none" spc="0" normalizeH="0" baseline="-2500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012" name="Line 96"/>
            <p:cNvSpPr/>
            <p:nvPr/>
          </p:nvSpPr>
          <p:spPr>
            <a:xfrm>
              <a:off x="768" y="14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0998" name="Group 102"/>
          <p:cNvGrpSpPr/>
          <p:nvPr/>
        </p:nvGrpSpPr>
        <p:grpSpPr>
          <a:xfrm>
            <a:off x="731838" y="3735388"/>
            <a:ext cx="955675" cy="531812"/>
            <a:chOff x="717" y="1827"/>
            <a:chExt cx="602" cy="335"/>
          </a:xfrm>
        </p:grpSpPr>
        <p:grpSp>
          <p:nvGrpSpPr>
            <p:cNvPr id="82014" name="Group 22"/>
            <p:cNvGrpSpPr>
              <a:grpSpLocks noChangeAspect="1"/>
            </p:cNvGrpSpPr>
            <p:nvPr/>
          </p:nvGrpSpPr>
          <p:grpSpPr>
            <a:xfrm>
              <a:off x="996" y="1961"/>
              <a:ext cx="202" cy="201"/>
              <a:chOff x="794" y="2361"/>
              <a:chExt cx="254" cy="253"/>
            </a:xfrm>
          </p:grpSpPr>
          <p:sp>
            <p:nvSpPr>
              <p:cNvPr id="82015" name="AutoShape 23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16" name="Oval 24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017" name="Line 25"/>
            <p:cNvSpPr/>
            <p:nvPr/>
          </p:nvSpPr>
          <p:spPr>
            <a:xfrm>
              <a:off x="1189" y="2151"/>
              <a:ext cx="130" cy="1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18" name="Line 26"/>
            <p:cNvSpPr/>
            <p:nvPr/>
          </p:nvSpPr>
          <p:spPr>
            <a:xfrm flipV="1">
              <a:off x="1160" y="1961"/>
              <a:ext cx="159" cy="4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19" name="Line 27"/>
            <p:cNvSpPr/>
            <p:nvPr/>
          </p:nvSpPr>
          <p:spPr>
            <a:xfrm>
              <a:off x="803" y="2066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978" name="Text Box 82"/>
            <p:cNvSpPr txBox="1">
              <a:spLocks noChangeArrowheads="1"/>
            </p:cNvSpPr>
            <p:nvPr/>
          </p:nvSpPr>
          <p:spPr bwMode="auto">
            <a:xfrm>
              <a:off x="717" y="1827"/>
              <a:ext cx="313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0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021" name="Line 97"/>
            <p:cNvSpPr/>
            <p:nvPr/>
          </p:nvSpPr>
          <p:spPr>
            <a:xfrm>
              <a:off x="768" y="187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67" name="Group 171"/>
          <p:cNvGrpSpPr/>
          <p:nvPr/>
        </p:nvGrpSpPr>
        <p:grpSpPr>
          <a:xfrm>
            <a:off x="6934200" y="2438400"/>
            <a:ext cx="838200" cy="3657600"/>
            <a:chOff x="4368" y="1536"/>
            <a:chExt cx="528" cy="2304"/>
          </a:xfrm>
        </p:grpSpPr>
        <p:sp>
          <p:nvSpPr>
            <p:cNvPr id="82023" name="Rectangle 106"/>
            <p:cNvSpPr/>
            <p:nvPr/>
          </p:nvSpPr>
          <p:spPr>
            <a:xfrm>
              <a:off x="4368" y="1536"/>
              <a:ext cx="528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4" name="Text Box 107"/>
            <p:cNvSpPr txBox="1"/>
            <p:nvPr/>
          </p:nvSpPr>
          <p:spPr>
            <a:xfrm>
              <a:off x="4368" y="153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5" name="Text Box 108"/>
            <p:cNvSpPr txBox="1"/>
            <p:nvPr/>
          </p:nvSpPr>
          <p:spPr>
            <a:xfrm>
              <a:off x="4656" y="153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6" name="Text Box 109"/>
            <p:cNvSpPr txBox="1"/>
            <p:nvPr/>
          </p:nvSpPr>
          <p:spPr>
            <a:xfrm>
              <a:off x="4368" y="1824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7" name="Text Box 110"/>
            <p:cNvSpPr txBox="1"/>
            <p:nvPr/>
          </p:nvSpPr>
          <p:spPr>
            <a:xfrm>
              <a:off x="4656" y="182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28" name="Line 111"/>
            <p:cNvSpPr/>
            <p:nvPr/>
          </p:nvSpPr>
          <p:spPr>
            <a:xfrm>
              <a:off x="4704" y="187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29" name="Rectangle 112"/>
            <p:cNvSpPr/>
            <p:nvPr/>
          </p:nvSpPr>
          <p:spPr>
            <a:xfrm>
              <a:off x="4368" y="2112"/>
              <a:ext cx="528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0" name="Text Box 113"/>
            <p:cNvSpPr txBox="1"/>
            <p:nvPr/>
          </p:nvSpPr>
          <p:spPr>
            <a:xfrm>
              <a:off x="4368" y="211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1" name="Text Box 114"/>
            <p:cNvSpPr txBox="1"/>
            <p:nvPr/>
          </p:nvSpPr>
          <p:spPr>
            <a:xfrm>
              <a:off x="4656" y="211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2" name="Text Box 115"/>
            <p:cNvSpPr txBox="1"/>
            <p:nvPr/>
          </p:nvSpPr>
          <p:spPr>
            <a:xfrm>
              <a:off x="4368" y="240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3" name="Text Box 116"/>
            <p:cNvSpPr txBox="1"/>
            <p:nvPr/>
          </p:nvSpPr>
          <p:spPr>
            <a:xfrm>
              <a:off x="4656" y="2400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4" name="Line 117"/>
            <p:cNvSpPr/>
            <p:nvPr/>
          </p:nvSpPr>
          <p:spPr>
            <a:xfrm>
              <a:off x="4704" y="244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35" name="Rectangle 118"/>
            <p:cNvSpPr/>
            <p:nvPr/>
          </p:nvSpPr>
          <p:spPr>
            <a:xfrm>
              <a:off x="4368" y="2688"/>
              <a:ext cx="528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6" name="Text Box 119"/>
            <p:cNvSpPr txBox="1"/>
            <p:nvPr/>
          </p:nvSpPr>
          <p:spPr>
            <a:xfrm>
              <a:off x="4368" y="26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7" name="Text Box 120"/>
            <p:cNvSpPr txBox="1"/>
            <p:nvPr/>
          </p:nvSpPr>
          <p:spPr>
            <a:xfrm>
              <a:off x="4656" y="2688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8" name="Text Box 121"/>
            <p:cNvSpPr txBox="1"/>
            <p:nvPr/>
          </p:nvSpPr>
          <p:spPr>
            <a:xfrm>
              <a:off x="4368" y="297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39" name="Text Box 122"/>
            <p:cNvSpPr txBox="1"/>
            <p:nvPr/>
          </p:nvSpPr>
          <p:spPr>
            <a:xfrm>
              <a:off x="4656" y="297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0" name="Line 123"/>
            <p:cNvSpPr/>
            <p:nvPr/>
          </p:nvSpPr>
          <p:spPr>
            <a:xfrm>
              <a:off x="4704" y="30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41" name="Rectangle 124"/>
            <p:cNvSpPr/>
            <p:nvPr/>
          </p:nvSpPr>
          <p:spPr>
            <a:xfrm>
              <a:off x="4368" y="3264"/>
              <a:ext cx="528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2" name="Text Box 125"/>
            <p:cNvSpPr txBox="1"/>
            <p:nvPr/>
          </p:nvSpPr>
          <p:spPr>
            <a:xfrm>
              <a:off x="4368" y="326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3" name="Text Box 126"/>
            <p:cNvSpPr txBox="1"/>
            <p:nvPr/>
          </p:nvSpPr>
          <p:spPr>
            <a:xfrm>
              <a:off x="4656" y="326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4" name="Text Box 127"/>
            <p:cNvSpPr txBox="1"/>
            <p:nvPr/>
          </p:nvSpPr>
          <p:spPr>
            <a:xfrm>
              <a:off x="4368" y="3552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5" name="Text Box 128"/>
            <p:cNvSpPr txBox="1"/>
            <p:nvPr/>
          </p:nvSpPr>
          <p:spPr>
            <a:xfrm>
              <a:off x="4656" y="355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046" name="Line 129"/>
            <p:cNvSpPr/>
            <p:nvPr/>
          </p:nvSpPr>
          <p:spPr>
            <a:xfrm>
              <a:off x="4704" y="360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50" name="Group 154"/>
          <p:cNvGrpSpPr/>
          <p:nvPr/>
        </p:nvGrpSpPr>
        <p:grpSpPr>
          <a:xfrm>
            <a:off x="5791200" y="2590800"/>
            <a:ext cx="1143000" cy="2514600"/>
            <a:chOff x="3648" y="1632"/>
            <a:chExt cx="720" cy="1584"/>
          </a:xfrm>
        </p:grpSpPr>
        <p:sp>
          <p:nvSpPr>
            <p:cNvPr id="82048" name="Line 142"/>
            <p:cNvSpPr/>
            <p:nvPr/>
          </p:nvSpPr>
          <p:spPr>
            <a:xfrm>
              <a:off x="3648" y="321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49" name="Line 143"/>
            <p:cNvSpPr/>
            <p:nvPr/>
          </p:nvSpPr>
          <p:spPr>
            <a:xfrm flipV="1">
              <a:off x="3888" y="1632"/>
              <a:ext cx="0" cy="1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0" name="Line 144"/>
            <p:cNvSpPr/>
            <p:nvPr/>
          </p:nvSpPr>
          <p:spPr>
            <a:xfrm>
              <a:off x="3888" y="1632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51" name="Group 155"/>
          <p:cNvGrpSpPr/>
          <p:nvPr/>
        </p:nvGrpSpPr>
        <p:grpSpPr>
          <a:xfrm>
            <a:off x="5791200" y="3581400"/>
            <a:ext cx="1143000" cy="1828800"/>
            <a:chOff x="3648" y="2256"/>
            <a:chExt cx="720" cy="1152"/>
          </a:xfrm>
        </p:grpSpPr>
        <p:sp>
          <p:nvSpPr>
            <p:cNvPr id="82052" name="Line 145"/>
            <p:cNvSpPr/>
            <p:nvPr/>
          </p:nvSpPr>
          <p:spPr>
            <a:xfrm>
              <a:off x="3648" y="340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3" name="Line 146"/>
            <p:cNvSpPr/>
            <p:nvPr/>
          </p:nvSpPr>
          <p:spPr>
            <a:xfrm flipV="1">
              <a:off x="3984" y="2256"/>
              <a:ext cx="0" cy="11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4" name="Line 147"/>
            <p:cNvSpPr/>
            <p:nvPr/>
          </p:nvSpPr>
          <p:spPr>
            <a:xfrm>
              <a:off x="3984" y="22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52" name="Group 156"/>
          <p:cNvGrpSpPr/>
          <p:nvPr/>
        </p:nvGrpSpPr>
        <p:grpSpPr>
          <a:xfrm>
            <a:off x="5791200" y="4495800"/>
            <a:ext cx="1143000" cy="1219200"/>
            <a:chOff x="3648" y="2832"/>
            <a:chExt cx="720" cy="768"/>
          </a:xfrm>
        </p:grpSpPr>
        <p:sp>
          <p:nvSpPr>
            <p:cNvPr id="82056" name="Line 148"/>
            <p:cNvSpPr/>
            <p:nvPr/>
          </p:nvSpPr>
          <p:spPr>
            <a:xfrm>
              <a:off x="3648" y="3600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7" name="Line 149"/>
            <p:cNvSpPr/>
            <p:nvPr/>
          </p:nvSpPr>
          <p:spPr>
            <a:xfrm>
              <a:off x="4080" y="283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8" name="Line 150"/>
            <p:cNvSpPr/>
            <p:nvPr/>
          </p:nvSpPr>
          <p:spPr>
            <a:xfrm>
              <a:off x="4080" y="283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53" name="Group 157"/>
          <p:cNvGrpSpPr/>
          <p:nvPr/>
        </p:nvGrpSpPr>
        <p:grpSpPr>
          <a:xfrm>
            <a:off x="5791200" y="5410200"/>
            <a:ext cx="1143000" cy="609600"/>
            <a:chOff x="3648" y="3408"/>
            <a:chExt cx="720" cy="384"/>
          </a:xfrm>
        </p:grpSpPr>
        <p:sp>
          <p:nvSpPr>
            <p:cNvPr id="82060" name="Line 151"/>
            <p:cNvSpPr/>
            <p:nvPr/>
          </p:nvSpPr>
          <p:spPr>
            <a:xfrm>
              <a:off x="3648" y="3792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61" name="Line 152"/>
            <p:cNvSpPr/>
            <p:nvPr/>
          </p:nvSpPr>
          <p:spPr>
            <a:xfrm flipV="1">
              <a:off x="4176" y="340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62" name="Line 153"/>
            <p:cNvSpPr/>
            <p:nvPr/>
          </p:nvSpPr>
          <p:spPr>
            <a:xfrm>
              <a:off x="4176" y="340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79" name="Group 183"/>
          <p:cNvGrpSpPr/>
          <p:nvPr/>
        </p:nvGrpSpPr>
        <p:grpSpPr>
          <a:xfrm>
            <a:off x="381000" y="2971800"/>
            <a:ext cx="8077200" cy="3657600"/>
            <a:chOff x="240" y="1872"/>
            <a:chExt cx="5088" cy="2304"/>
          </a:xfrm>
        </p:grpSpPr>
        <p:sp>
          <p:nvSpPr>
            <p:cNvPr id="82064" name="Line 158"/>
            <p:cNvSpPr/>
            <p:nvPr/>
          </p:nvSpPr>
          <p:spPr>
            <a:xfrm>
              <a:off x="5328" y="1872"/>
              <a:ext cx="0" cy="2304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65" name="Line 159"/>
            <p:cNvSpPr/>
            <p:nvPr/>
          </p:nvSpPr>
          <p:spPr>
            <a:xfrm flipH="1">
              <a:off x="240" y="4176"/>
              <a:ext cx="5088" cy="0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1056" name="Line 160"/>
          <p:cNvSpPr/>
          <p:nvPr/>
        </p:nvSpPr>
        <p:spPr>
          <a:xfrm flipV="1">
            <a:off x="381000" y="2362200"/>
            <a:ext cx="0" cy="426720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21078" name="Group 182"/>
          <p:cNvGrpSpPr/>
          <p:nvPr/>
        </p:nvGrpSpPr>
        <p:grpSpPr>
          <a:xfrm>
            <a:off x="7772400" y="3124200"/>
            <a:ext cx="685800" cy="2743200"/>
            <a:chOff x="4896" y="1968"/>
            <a:chExt cx="432" cy="1728"/>
          </a:xfrm>
        </p:grpSpPr>
        <p:sp>
          <p:nvSpPr>
            <p:cNvPr id="82068" name="Line 161"/>
            <p:cNvSpPr/>
            <p:nvPr/>
          </p:nvSpPr>
          <p:spPr>
            <a:xfrm>
              <a:off x="4896" y="196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69" name="Line 162"/>
            <p:cNvSpPr/>
            <p:nvPr/>
          </p:nvSpPr>
          <p:spPr>
            <a:xfrm>
              <a:off x="4896" y="2544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0" name="Line 163"/>
            <p:cNvSpPr/>
            <p:nvPr/>
          </p:nvSpPr>
          <p:spPr>
            <a:xfrm>
              <a:off x="4896" y="3120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1" name="Line 164"/>
            <p:cNvSpPr/>
            <p:nvPr/>
          </p:nvSpPr>
          <p:spPr>
            <a:xfrm>
              <a:off x="4896" y="369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73" name="Group 177"/>
          <p:cNvGrpSpPr/>
          <p:nvPr/>
        </p:nvGrpSpPr>
        <p:grpSpPr>
          <a:xfrm>
            <a:off x="381000" y="2438400"/>
            <a:ext cx="533400" cy="1676400"/>
            <a:chOff x="240" y="1536"/>
            <a:chExt cx="336" cy="1056"/>
          </a:xfrm>
        </p:grpSpPr>
        <p:sp>
          <p:nvSpPr>
            <p:cNvPr id="82073" name="Line 172"/>
            <p:cNvSpPr/>
            <p:nvPr/>
          </p:nvSpPr>
          <p:spPr>
            <a:xfrm>
              <a:off x="240" y="153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4" name="Line 173"/>
            <p:cNvSpPr/>
            <p:nvPr/>
          </p:nvSpPr>
          <p:spPr>
            <a:xfrm>
              <a:off x="240" y="187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5" name="Line 174"/>
            <p:cNvSpPr/>
            <p:nvPr/>
          </p:nvSpPr>
          <p:spPr>
            <a:xfrm>
              <a:off x="240" y="225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6" name="Line 175"/>
            <p:cNvSpPr/>
            <p:nvPr/>
          </p:nvSpPr>
          <p:spPr>
            <a:xfrm>
              <a:off x="240" y="259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1090" name="Group 194"/>
          <p:cNvGrpSpPr/>
          <p:nvPr/>
        </p:nvGrpSpPr>
        <p:grpSpPr>
          <a:xfrm>
            <a:off x="7848600" y="2743200"/>
            <a:ext cx="530225" cy="3140075"/>
            <a:chOff x="4944" y="1728"/>
            <a:chExt cx="334" cy="1978"/>
          </a:xfrm>
        </p:grpSpPr>
        <p:grpSp>
          <p:nvGrpSpPr>
            <p:cNvPr id="82078" name="Group 187"/>
            <p:cNvGrpSpPr/>
            <p:nvPr/>
          </p:nvGrpSpPr>
          <p:grpSpPr>
            <a:xfrm>
              <a:off x="4944" y="1728"/>
              <a:ext cx="305" cy="250"/>
              <a:chOff x="4944" y="1728"/>
              <a:chExt cx="305" cy="250"/>
            </a:xfrm>
          </p:grpSpPr>
          <p:sp>
            <p:nvSpPr>
              <p:cNvPr id="721075" name="Rectangle 179"/>
              <p:cNvSpPr>
                <a:spLocks noChangeArrowheads="1"/>
              </p:cNvSpPr>
              <p:nvPr/>
            </p:nvSpPr>
            <p:spPr bwMode="auto">
              <a:xfrm>
                <a:off x="4944" y="1728"/>
                <a:ext cx="305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20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0" name="Line 180"/>
              <p:cNvSpPr/>
              <p:nvPr/>
            </p:nvSpPr>
            <p:spPr>
              <a:xfrm>
                <a:off x="4992" y="1776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2081" name="Group 186"/>
            <p:cNvGrpSpPr/>
            <p:nvPr/>
          </p:nvGrpSpPr>
          <p:grpSpPr>
            <a:xfrm>
              <a:off x="4975" y="2304"/>
              <a:ext cx="303" cy="250"/>
              <a:chOff x="4975" y="2304"/>
              <a:chExt cx="303" cy="250"/>
            </a:xfrm>
          </p:grpSpPr>
          <p:sp>
            <p:nvSpPr>
              <p:cNvPr id="721080" name="Rectangle 184"/>
              <p:cNvSpPr>
                <a:spLocks noChangeArrowheads="1"/>
              </p:cNvSpPr>
              <p:nvPr/>
            </p:nvSpPr>
            <p:spPr bwMode="auto">
              <a:xfrm>
                <a:off x="4975" y="2304"/>
                <a:ext cx="303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0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20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3" name="Line 185"/>
              <p:cNvSpPr/>
              <p:nvPr/>
            </p:nvSpPr>
            <p:spPr>
              <a:xfrm>
                <a:off x="5023" y="235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2084" name="Group 192"/>
            <p:cNvGrpSpPr/>
            <p:nvPr/>
          </p:nvGrpSpPr>
          <p:grpSpPr>
            <a:xfrm>
              <a:off x="4975" y="2870"/>
              <a:ext cx="302" cy="250"/>
              <a:chOff x="4975" y="2870"/>
              <a:chExt cx="302" cy="250"/>
            </a:xfrm>
          </p:grpSpPr>
          <p:sp>
            <p:nvSpPr>
              <p:cNvPr id="721084" name="Rectangle 188"/>
              <p:cNvSpPr>
                <a:spLocks noChangeArrowheads="1"/>
              </p:cNvSpPr>
              <p:nvPr/>
            </p:nvSpPr>
            <p:spPr bwMode="auto">
              <a:xfrm>
                <a:off x="4975" y="2870"/>
                <a:ext cx="30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0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endParaRPr kumimoji="0" lang="en-US" altLang="zh-CN" sz="20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6" name="Line 189"/>
              <p:cNvSpPr/>
              <p:nvPr/>
            </p:nvSpPr>
            <p:spPr>
              <a:xfrm>
                <a:off x="5023" y="291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2087" name="Group 193"/>
            <p:cNvGrpSpPr/>
            <p:nvPr/>
          </p:nvGrpSpPr>
          <p:grpSpPr>
            <a:xfrm>
              <a:off x="4975" y="3456"/>
              <a:ext cx="302" cy="250"/>
              <a:chOff x="4975" y="3456"/>
              <a:chExt cx="302" cy="250"/>
            </a:xfrm>
          </p:grpSpPr>
          <p:sp>
            <p:nvSpPr>
              <p:cNvPr id="721086" name="Rectangle 190"/>
              <p:cNvSpPr>
                <a:spLocks noChangeArrowheads="1"/>
              </p:cNvSpPr>
              <p:nvPr/>
            </p:nvSpPr>
            <p:spPr bwMode="auto">
              <a:xfrm>
                <a:off x="4975" y="3456"/>
                <a:ext cx="30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0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endParaRPr kumimoji="0" lang="en-US" altLang="zh-CN" sz="20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9" name="Line 191"/>
              <p:cNvSpPr/>
              <p:nvPr/>
            </p:nvSpPr>
            <p:spPr>
              <a:xfrm>
                <a:off x="5023" y="350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82090" name="文本框 16"/>
          <p:cNvSpPr txBox="1"/>
          <p:nvPr/>
        </p:nvSpPr>
        <p:spPr>
          <a:xfrm>
            <a:off x="746125" y="646113"/>
            <a:ext cx="1470025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1" name="文本框 16"/>
          <p:cNvSpPr txBox="1"/>
          <p:nvPr/>
        </p:nvSpPr>
        <p:spPr>
          <a:xfrm>
            <a:off x="746125" y="1060450"/>
            <a:ext cx="1557338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2" name="文本框 183"/>
          <p:cNvSpPr txBox="1"/>
          <p:nvPr/>
        </p:nvSpPr>
        <p:spPr>
          <a:xfrm>
            <a:off x="3997325" y="612775"/>
            <a:ext cx="1844675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3" name="文本框 16"/>
          <p:cNvSpPr txBox="1"/>
          <p:nvPr/>
        </p:nvSpPr>
        <p:spPr>
          <a:xfrm>
            <a:off x="2132013" y="619125"/>
            <a:ext cx="1701800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4" name="文本框 16"/>
          <p:cNvSpPr txBox="1"/>
          <p:nvPr/>
        </p:nvSpPr>
        <p:spPr>
          <a:xfrm>
            <a:off x="2141538" y="1114425"/>
            <a:ext cx="2057400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5" name="文本框 16"/>
          <p:cNvSpPr txBox="1"/>
          <p:nvPr/>
        </p:nvSpPr>
        <p:spPr>
          <a:xfrm>
            <a:off x="4027488" y="180975"/>
            <a:ext cx="1398587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6" name="文本框 16"/>
          <p:cNvSpPr txBox="1"/>
          <p:nvPr/>
        </p:nvSpPr>
        <p:spPr>
          <a:xfrm>
            <a:off x="2138363" y="155575"/>
            <a:ext cx="1689100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—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 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7" name="文本框 16"/>
          <p:cNvSpPr txBox="1"/>
          <p:nvPr/>
        </p:nvSpPr>
        <p:spPr>
          <a:xfrm>
            <a:off x="730250" y="177800"/>
            <a:ext cx="1295400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 typeface="Wingdings" panose="05000000000000000000" pitchFamily="2" charset="2"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98" name="文本框 189"/>
          <p:cNvSpPr txBox="1"/>
          <p:nvPr/>
        </p:nvSpPr>
        <p:spPr>
          <a:xfrm>
            <a:off x="6629400" y="141288"/>
            <a:ext cx="1258888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099" name="文本框 190"/>
          <p:cNvSpPr txBox="1"/>
          <p:nvPr/>
        </p:nvSpPr>
        <p:spPr>
          <a:xfrm>
            <a:off x="6629400" y="646113"/>
            <a:ext cx="184467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100" name="文本框 191"/>
          <p:cNvSpPr txBox="1"/>
          <p:nvPr/>
        </p:nvSpPr>
        <p:spPr>
          <a:xfrm>
            <a:off x="6615113" y="1160463"/>
            <a:ext cx="224948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+ 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101" name="文本框 192"/>
          <p:cNvSpPr txBox="1"/>
          <p:nvPr/>
        </p:nvSpPr>
        <p:spPr>
          <a:xfrm>
            <a:off x="6634163" y="1674813"/>
            <a:ext cx="18573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 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2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2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0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0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1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1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1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1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1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2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2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21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1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72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72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2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2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2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2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2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2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2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2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20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20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72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5" dur="500"/>
                                        <p:tgtEl>
                                          <p:spTgt spid="72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0" dur="500"/>
                                        <p:tgtEl>
                                          <p:spTgt spid="72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5" dur="500"/>
                                        <p:tgtEl>
                                          <p:spTgt spid="72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0" dur="500"/>
                                        <p:tgtEl>
                                          <p:spTgt spid="72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21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21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72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6" dur="500"/>
                                        <p:tgtEl>
                                          <p:spTgt spid="72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1" dur="500"/>
                                        <p:tgtEl>
                                          <p:spTgt spid="72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21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2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21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721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44" grpId="0"/>
      <p:bldP spid="720957" grpId="0" animBg="1"/>
      <p:bldP spid="720979" grpId="0"/>
      <p:bldP spid="720981" grpId="0" animBg="1"/>
      <p:bldP spid="72098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18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实现一个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位可变模数计数器。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91996" name="Group 124"/>
          <p:cNvGrpSpPr/>
          <p:nvPr/>
        </p:nvGrpSpPr>
        <p:grpSpPr>
          <a:xfrm>
            <a:off x="76200" y="2505075"/>
            <a:ext cx="8991600" cy="3378200"/>
            <a:chOff x="48" y="1578"/>
            <a:chExt cx="5664" cy="2128"/>
          </a:xfrm>
        </p:grpSpPr>
        <p:grpSp>
          <p:nvGrpSpPr>
            <p:cNvPr id="82949" name="Group 122"/>
            <p:cNvGrpSpPr/>
            <p:nvPr/>
          </p:nvGrpSpPr>
          <p:grpSpPr>
            <a:xfrm>
              <a:off x="48" y="1578"/>
              <a:ext cx="5664" cy="242"/>
              <a:chOff x="48" y="1578"/>
              <a:chExt cx="5664" cy="242"/>
            </a:xfrm>
          </p:grpSpPr>
          <p:sp>
            <p:nvSpPr>
              <p:cNvPr id="82950" name="Text Box 5"/>
              <p:cNvSpPr txBox="1"/>
              <p:nvPr/>
            </p:nvSpPr>
            <p:spPr>
              <a:xfrm>
                <a:off x="2352" y="1584"/>
                <a:ext cx="1392" cy="23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0000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1" name="Text Box 6"/>
              <p:cNvSpPr txBox="1"/>
              <p:nvPr/>
            </p:nvSpPr>
            <p:spPr>
              <a:xfrm>
                <a:off x="4080" y="1578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0001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2" name="Text Box 7"/>
              <p:cNvSpPr txBox="1"/>
              <p:nvPr/>
            </p:nvSpPr>
            <p:spPr>
              <a:xfrm>
                <a:off x="4704" y="1578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0010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3" name="Text Box 8"/>
              <p:cNvSpPr txBox="1"/>
              <p:nvPr/>
            </p:nvSpPr>
            <p:spPr>
              <a:xfrm>
                <a:off x="5328" y="1578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0011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4" name="Line 9"/>
              <p:cNvSpPr/>
              <p:nvPr/>
            </p:nvSpPr>
            <p:spPr>
              <a:xfrm>
                <a:off x="3744" y="1680"/>
                <a:ext cx="33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55" name="Line 10"/>
              <p:cNvSpPr/>
              <p:nvPr/>
            </p:nvSpPr>
            <p:spPr>
              <a:xfrm>
                <a:off x="4464" y="1680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56" name="Line 11"/>
              <p:cNvSpPr/>
              <p:nvPr/>
            </p:nvSpPr>
            <p:spPr>
              <a:xfrm>
                <a:off x="5088" y="1680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57" name="Text Box 12"/>
              <p:cNvSpPr txBox="1"/>
              <p:nvPr/>
            </p:nvSpPr>
            <p:spPr>
              <a:xfrm>
                <a:off x="624" y="157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1101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8" name="Text Box 13"/>
              <p:cNvSpPr txBox="1"/>
              <p:nvPr/>
            </p:nvSpPr>
            <p:spPr>
              <a:xfrm>
                <a:off x="1200" y="157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1110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59" name="Text Box 14"/>
              <p:cNvSpPr txBox="1"/>
              <p:nvPr/>
            </p:nvSpPr>
            <p:spPr>
              <a:xfrm>
                <a:off x="1776" y="157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1111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0" name="Line 15"/>
              <p:cNvSpPr/>
              <p:nvPr/>
            </p:nvSpPr>
            <p:spPr>
              <a:xfrm>
                <a:off x="960" y="1680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61" name="Line 16"/>
              <p:cNvSpPr/>
              <p:nvPr/>
            </p:nvSpPr>
            <p:spPr>
              <a:xfrm>
                <a:off x="1536" y="1680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62" name="Line 17"/>
              <p:cNvSpPr/>
              <p:nvPr/>
            </p:nvSpPr>
            <p:spPr>
              <a:xfrm>
                <a:off x="2112" y="1680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2963" name="Text Box 18"/>
              <p:cNvSpPr txBox="1"/>
              <p:nvPr/>
            </p:nvSpPr>
            <p:spPr>
              <a:xfrm>
                <a:off x="48" y="157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1100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4" name="Line 19"/>
              <p:cNvSpPr/>
              <p:nvPr/>
            </p:nvSpPr>
            <p:spPr>
              <a:xfrm>
                <a:off x="384" y="1680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2965" name="Group 123"/>
            <p:cNvGrpSpPr/>
            <p:nvPr/>
          </p:nvGrpSpPr>
          <p:grpSpPr>
            <a:xfrm>
              <a:off x="48" y="3502"/>
              <a:ext cx="5664" cy="204"/>
              <a:chOff x="48" y="3502"/>
              <a:chExt cx="5664" cy="204"/>
            </a:xfrm>
          </p:grpSpPr>
          <p:sp>
            <p:nvSpPr>
              <p:cNvPr id="82966" name="Text Box 41"/>
              <p:cNvSpPr txBox="1"/>
              <p:nvPr/>
            </p:nvSpPr>
            <p:spPr>
              <a:xfrm>
                <a:off x="4080" y="3502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0110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7" name="Text Box 42"/>
              <p:cNvSpPr txBox="1"/>
              <p:nvPr/>
            </p:nvSpPr>
            <p:spPr>
              <a:xfrm>
                <a:off x="4704" y="3502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0101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8" name="Text Box 43"/>
              <p:cNvSpPr txBox="1"/>
              <p:nvPr/>
            </p:nvSpPr>
            <p:spPr>
              <a:xfrm>
                <a:off x="5328" y="3502"/>
                <a:ext cx="384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0100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69" name="Line 44"/>
              <p:cNvSpPr/>
              <p:nvPr/>
            </p:nvSpPr>
            <p:spPr>
              <a:xfrm>
                <a:off x="3744" y="3604"/>
                <a:ext cx="33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0" name="Line 45"/>
              <p:cNvSpPr/>
              <p:nvPr/>
            </p:nvSpPr>
            <p:spPr>
              <a:xfrm>
                <a:off x="4464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1" name="Line 46"/>
              <p:cNvSpPr/>
              <p:nvPr/>
            </p:nvSpPr>
            <p:spPr>
              <a:xfrm>
                <a:off x="5088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2" name="Text Box 47"/>
              <p:cNvSpPr txBox="1"/>
              <p:nvPr/>
            </p:nvSpPr>
            <p:spPr>
              <a:xfrm>
                <a:off x="624" y="350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1010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73" name="Text Box 48"/>
              <p:cNvSpPr txBox="1"/>
              <p:nvPr/>
            </p:nvSpPr>
            <p:spPr>
              <a:xfrm>
                <a:off x="1200" y="350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1001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74" name="Text Box 49"/>
              <p:cNvSpPr txBox="1"/>
              <p:nvPr/>
            </p:nvSpPr>
            <p:spPr>
              <a:xfrm>
                <a:off x="1776" y="350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1000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75" name="Line 50"/>
              <p:cNvSpPr/>
              <p:nvPr/>
            </p:nvSpPr>
            <p:spPr>
              <a:xfrm>
                <a:off x="960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6" name="Line 51"/>
              <p:cNvSpPr/>
              <p:nvPr/>
            </p:nvSpPr>
            <p:spPr>
              <a:xfrm>
                <a:off x="1536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7" name="Line 52"/>
              <p:cNvSpPr/>
              <p:nvPr/>
            </p:nvSpPr>
            <p:spPr>
              <a:xfrm>
                <a:off x="2112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78" name="Text Box 53"/>
              <p:cNvSpPr txBox="1"/>
              <p:nvPr/>
            </p:nvSpPr>
            <p:spPr>
              <a:xfrm>
                <a:off x="48" y="3508"/>
                <a:ext cx="336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1011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979" name="Line 54"/>
              <p:cNvSpPr/>
              <p:nvPr/>
            </p:nvSpPr>
            <p:spPr>
              <a:xfrm>
                <a:off x="384" y="3604"/>
                <a:ext cx="24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80" name="Text Box 55"/>
              <p:cNvSpPr txBox="1"/>
              <p:nvPr/>
            </p:nvSpPr>
            <p:spPr>
              <a:xfrm>
                <a:off x="2352" y="3504"/>
                <a:ext cx="1392" cy="19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0111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981" name="Line 56"/>
            <p:cNvSpPr/>
            <p:nvPr/>
          </p:nvSpPr>
          <p:spPr>
            <a:xfrm>
              <a:off x="5616" y="1776"/>
              <a:ext cx="0" cy="17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982" name="Line 57"/>
            <p:cNvSpPr/>
            <p:nvPr/>
          </p:nvSpPr>
          <p:spPr>
            <a:xfrm>
              <a:off x="96" y="1776"/>
              <a:ext cx="0" cy="17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591980" name="Group 108"/>
          <p:cNvGrpSpPr/>
          <p:nvPr/>
        </p:nvGrpSpPr>
        <p:grpSpPr>
          <a:xfrm>
            <a:off x="5867400" y="2819400"/>
            <a:ext cx="990600" cy="396875"/>
            <a:chOff x="3696" y="1776"/>
            <a:chExt cx="624" cy="250"/>
          </a:xfrm>
        </p:grpSpPr>
        <p:grpSp>
          <p:nvGrpSpPr>
            <p:cNvPr id="82984" name="Group 81"/>
            <p:cNvGrpSpPr/>
            <p:nvPr/>
          </p:nvGrpSpPr>
          <p:grpSpPr>
            <a:xfrm>
              <a:off x="3696" y="1776"/>
              <a:ext cx="576" cy="240"/>
              <a:chOff x="3696" y="1776"/>
              <a:chExt cx="576" cy="240"/>
            </a:xfrm>
          </p:grpSpPr>
          <p:sp>
            <p:nvSpPr>
              <p:cNvPr id="82985" name="Line 20"/>
              <p:cNvSpPr/>
              <p:nvPr/>
            </p:nvSpPr>
            <p:spPr>
              <a:xfrm>
                <a:off x="3696" y="182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86" name="Line 34"/>
              <p:cNvSpPr/>
              <p:nvPr/>
            </p:nvSpPr>
            <p:spPr>
              <a:xfrm>
                <a:off x="4272" y="1776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987" name="Line 35"/>
              <p:cNvSpPr/>
              <p:nvPr/>
            </p:nvSpPr>
            <p:spPr>
              <a:xfrm flipH="1">
                <a:off x="3696" y="201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988" name="Text Box 94"/>
            <p:cNvSpPr txBox="1"/>
            <p:nvPr/>
          </p:nvSpPr>
          <p:spPr>
            <a:xfrm>
              <a:off x="4080" y="1776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1" name="Group 109"/>
          <p:cNvGrpSpPr/>
          <p:nvPr/>
        </p:nvGrpSpPr>
        <p:grpSpPr>
          <a:xfrm>
            <a:off x="5715000" y="2819400"/>
            <a:ext cx="2209800" cy="609600"/>
            <a:chOff x="3600" y="1776"/>
            <a:chExt cx="1392" cy="384"/>
          </a:xfrm>
        </p:grpSpPr>
        <p:grpSp>
          <p:nvGrpSpPr>
            <p:cNvPr id="82990" name="Group 82"/>
            <p:cNvGrpSpPr/>
            <p:nvPr/>
          </p:nvGrpSpPr>
          <p:grpSpPr>
            <a:xfrm>
              <a:off x="3600" y="1776"/>
              <a:ext cx="1296" cy="384"/>
              <a:chOff x="3600" y="1776"/>
              <a:chExt cx="1296" cy="384"/>
            </a:xfrm>
          </p:grpSpPr>
          <p:sp>
            <p:nvSpPr>
              <p:cNvPr id="82991" name="Line 21"/>
              <p:cNvSpPr/>
              <p:nvPr/>
            </p:nvSpPr>
            <p:spPr>
              <a:xfrm>
                <a:off x="3600" y="182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92" name="Line 36"/>
              <p:cNvSpPr/>
              <p:nvPr/>
            </p:nvSpPr>
            <p:spPr>
              <a:xfrm>
                <a:off x="4896" y="1776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993" name="Line 37"/>
              <p:cNvSpPr/>
              <p:nvPr/>
            </p:nvSpPr>
            <p:spPr>
              <a:xfrm flipH="1">
                <a:off x="3600" y="2160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994" name="Text Box 95"/>
            <p:cNvSpPr txBox="1"/>
            <p:nvPr/>
          </p:nvSpPr>
          <p:spPr>
            <a:xfrm>
              <a:off x="4752" y="1776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2" name="Group 110"/>
          <p:cNvGrpSpPr/>
          <p:nvPr/>
        </p:nvGrpSpPr>
        <p:grpSpPr>
          <a:xfrm>
            <a:off x="5562600" y="2819400"/>
            <a:ext cx="3124200" cy="838200"/>
            <a:chOff x="3504" y="1776"/>
            <a:chExt cx="1968" cy="528"/>
          </a:xfrm>
        </p:grpSpPr>
        <p:grpSp>
          <p:nvGrpSpPr>
            <p:cNvPr id="82996" name="Group 83"/>
            <p:cNvGrpSpPr/>
            <p:nvPr/>
          </p:nvGrpSpPr>
          <p:grpSpPr>
            <a:xfrm>
              <a:off x="3504" y="1776"/>
              <a:ext cx="1872" cy="528"/>
              <a:chOff x="3504" y="1776"/>
              <a:chExt cx="1872" cy="528"/>
            </a:xfrm>
          </p:grpSpPr>
          <p:sp>
            <p:nvSpPr>
              <p:cNvPr id="82997" name="Line 22"/>
              <p:cNvSpPr/>
              <p:nvPr/>
            </p:nvSpPr>
            <p:spPr>
              <a:xfrm>
                <a:off x="3504" y="1824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2998" name="Line 38"/>
              <p:cNvSpPr/>
              <p:nvPr/>
            </p:nvSpPr>
            <p:spPr>
              <a:xfrm>
                <a:off x="5376" y="1776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999" name="Line 39"/>
              <p:cNvSpPr/>
              <p:nvPr/>
            </p:nvSpPr>
            <p:spPr>
              <a:xfrm flipH="1" flipV="1">
                <a:off x="3504" y="2304"/>
                <a:ext cx="18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00" name="Text Box 96"/>
            <p:cNvSpPr txBox="1"/>
            <p:nvPr/>
          </p:nvSpPr>
          <p:spPr>
            <a:xfrm>
              <a:off x="5232" y="1776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3" name="Group 111"/>
          <p:cNvGrpSpPr/>
          <p:nvPr/>
        </p:nvGrpSpPr>
        <p:grpSpPr>
          <a:xfrm>
            <a:off x="5410200" y="2895600"/>
            <a:ext cx="3352800" cy="2682875"/>
            <a:chOff x="3408" y="1824"/>
            <a:chExt cx="2112" cy="1690"/>
          </a:xfrm>
        </p:grpSpPr>
        <p:grpSp>
          <p:nvGrpSpPr>
            <p:cNvPr id="83002" name="Group 84"/>
            <p:cNvGrpSpPr/>
            <p:nvPr/>
          </p:nvGrpSpPr>
          <p:grpSpPr>
            <a:xfrm>
              <a:off x="3408" y="1824"/>
              <a:ext cx="2016" cy="1680"/>
              <a:chOff x="3408" y="1824"/>
              <a:chExt cx="2016" cy="1680"/>
            </a:xfrm>
          </p:grpSpPr>
          <p:sp>
            <p:nvSpPr>
              <p:cNvPr id="83003" name="Line 23"/>
              <p:cNvSpPr/>
              <p:nvPr/>
            </p:nvSpPr>
            <p:spPr>
              <a:xfrm>
                <a:off x="3408" y="1824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04" name="Line 58"/>
              <p:cNvSpPr/>
              <p:nvPr/>
            </p:nvSpPr>
            <p:spPr>
              <a:xfrm>
                <a:off x="3408" y="2448"/>
                <a:ext cx="20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05" name="Line 59"/>
              <p:cNvSpPr/>
              <p:nvPr/>
            </p:nvSpPr>
            <p:spPr>
              <a:xfrm>
                <a:off x="5424" y="2448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06" name="Text Box 97"/>
            <p:cNvSpPr txBox="1"/>
            <p:nvPr/>
          </p:nvSpPr>
          <p:spPr>
            <a:xfrm>
              <a:off x="5280" y="326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4" name="Group 112"/>
          <p:cNvGrpSpPr/>
          <p:nvPr/>
        </p:nvGrpSpPr>
        <p:grpSpPr>
          <a:xfrm>
            <a:off x="5257800" y="2895600"/>
            <a:ext cx="2667000" cy="2682875"/>
            <a:chOff x="3312" y="1824"/>
            <a:chExt cx="1680" cy="1690"/>
          </a:xfrm>
        </p:grpSpPr>
        <p:grpSp>
          <p:nvGrpSpPr>
            <p:cNvPr id="83008" name="Group 85"/>
            <p:cNvGrpSpPr/>
            <p:nvPr/>
          </p:nvGrpSpPr>
          <p:grpSpPr>
            <a:xfrm>
              <a:off x="3312" y="1824"/>
              <a:ext cx="1584" cy="1680"/>
              <a:chOff x="3312" y="1824"/>
              <a:chExt cx="1584" cy="1680"/>
            </a:xfrm>
          </p:grpSpPr>
          <p:sp>
            <p:nvSpPr>
              <p:cNvPr id="83009" name="Line 24"/>
              <p:cNvSpPr/>
              <p:nvPr/>
            </p:nvSpPr>
            <p:spPr>
              <a:xfrm>
                <a:off x="3312" y="1824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10" name="Line 60"/>
              <p:cNvSpPr/>
              <p:nvPr/>
            </p:nvSpPr>
            <p:spPr>
              <a:xfrm>
                <a:off x="3312" y="2592"/>
                <a:ext cx="15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11" name="Line 61"/>
              <p:cNvSpPr/>
              <p:nvPr/>
            </p:nvSpPr>
            <p:spPr>
              <a:xfrm>
                <a:off x="4896" y="2592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12" name="Text Box 98"/>
            <p:cNvSpPr txBox="1"/>
            <p:nvPr/>
          </p:nvSpPr>
          <p:spPr>
            <a:xfrm>
              <a:off x="4752" y="326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5" name="Group 113"/>
          <p:cNvGrpSpPr/>
          <p:nvPr/>
        </p:nvGrpSpPr>
        <p:grpSpPr>
          <a:xfrm>
            <a:off x="5105400" y="2895600"/>
            <a:ext cx="1905000" cy="2682875"/>
            <a:chOff x="3216" y="1824"/>
            <a:chExt cx="1200" cy="1690"/>
          </a:xfrm>
        </p:grpSpPr>
        <p:grpSp>
          <p:nvGrpSpPr>
            <p:cNvPr id="83014" name="Group 86"/>
            <p:cNvGrpSpPr/>
            <p:nvPr/>
          </p:nvGrpSpPr>
          <p:grpSpPr>
            <a:xfrm>
              <a:off x="3216" y="1824"/>
              <a:ext cx="1104" cy="1680"/>
              <a:chOff x="3216" y="1824"/>
              <a:chExt cx="1104" cy="1680"/>
            </a:xfrm>
          </p:grpSpPr>
          <p:sp>
            <p:nvSpPr>
              <p:cNvPr id="83015" name="Line 25"/>
              <p:cNvSpPr/>
              <p:nvPr/>
            </p:nvSpPr>
            <p:spPr>
              <a:xfrm>
                <a:off x="3216" y="1824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16" name="Line 62"/>
              <p:cNvSpPr/>
              <p:nvPr/>
            </p:nvSpPr>
            <p:spPr>
              <a:xfrm>
                <a:off x="3216" y="2736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17" name="Line 64"/>
              <p:cNvSpPr/>
              <p:nvPr/>
            </p:nvSpPr>
            <p:spPr>
              <a:xfrm>
                <a:off x="4320" y="2736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18" name="Text Box 99"/>
            <p:cNvSpPr txBox="1"/>
            <p:nvPr/>
          </p:nvSpPr>
          <p:spPr>
            <a:xfrm>
              <a:off x="4176" y="326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6" name="Group 114"/>
          <p:cNvGrpSpPr/>
          <p:nvPr/>
        </p:nvGrpSpPr>
        <p:grpSpPr>
          <a:xfrm>
            <a:off x="4953000" y="2895600"/>
            <a:ext cx="381000" cy="2667000"/>
            <a:chOff x="3120" y="1824"/>
            <a:chExt cx="240" cy="1680"/>
          </a:xfrm>
        </p:grpSpPr>
        <p:sp>
          <p:nvSpPr>
            <p:cNvPr id="83020" name="Line 26"/>
            <p:cNvSpPr/>
            <p:nvPr/>
          </p:nvSpPr>
          <p:spPr>
            <a:xfrm>
              <a:off x="3120" y="1824"/>
              <a:ext cx="0" cy="16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83021" name="Text Box 100"/>
            <p:cNvSpPr txBox="1"/>
            <p:nvPr/>
          </p:nvSpPr>
          <p:spPr>
            <a:xfrm>
              <a:off x="3120" y="325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7" name="Group 115"/>
          <p:cNvGrpSpPr/>
          <p:nvPr/>
        </p:nvGrpSpPr>
        <p:grpSpPr>
          <a:xfrm>
            <a:off x="3124200" y="2895600"/>
            <a:ext cx="1676400" cy="2667000"/>
            <a:chOff x="1968" y="1824"/>
            <a:chExt cx="1056" cy="1680"/>
          </a:xfrm>
        </p:grpSpPr>
        <p:grpSp>
          <p:nvGrpSpPr>
            <p:cNvPr id="83023" name="Group 87"/>
            <p:cNvGrpSpPr/>
            <p:nvPr/>
          </p:nvGrpSpPr>
          <p:grpSpPr>
            <a:xfrm>
              <a:off x="1968" y="1824"/>
              <a:ext cx="1056" cy="1680"/>
              <a:chOff x="1968" y="1824"/>
              <a:chExt cx="1056" cy="1680"/>
            </a:xfrm>
          </p:grpSpPr>
          <p:sp>
            <p:nvSpPr>
              <p:cNvPr id="83024" name="Line 27"/>
              <p:cNvSpPr/>
              <p:nvPr/>
            </p:nvSpPr>
            <p:spPr>
              <a:xfrm>
                <a:off x="3024" y="1824"/>
                <a:ext cx="0" cy="11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25" name="Line 79"/>
              <p:cNvSpPr/>
              <p:nvPr/>
            </p:nvSpPr>
            <p:spPr>
              <a:xfrm flipH="1">
                <a:off x="1968" y="2928"/>
                <a:ext cx="10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26" name="Line 80"/>
              <p:cNvSpPr/>
              <p:nvPr/>
            </p:nvSpPr>
            <p:spPr>
              <a:xfrm>
                <a:off x="1968" y="2928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27" name="Text Box 101"/>
            <p:cNvSpPr txBox="1"/>
            <p:nvPr/>
          </p:nvSpPr>
          <p:spPr>
            <a:xfrm>
              <a:off x="1968" y="325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8" name="Group 116"/>
          <p:cNvGrpSpPr/>
          <p:nvPr/>
        </p:nvGrpSpPr>
        <p:grpSpPr>
          <a:xfrm>
            <a:off x="2133600" y="2895600"/>
            <a:ext cx="2514600" cy="2682875"/>
            <a:chOff x="1344" y="1824"/>
            <a:chExt cx="1584" cy="1690"/>
          </a:xfrm>
        </p:grpSpPr>
        <p:grpSp>
          <p:nvGrpSpPr>
            <p:cNvPr id="83029" name="Group 88"/>
            <p:cNvGrpSpPr/>
            <p:nvPr/>
          </p:nvGrpSpPr>
          <p:grpSpPr>
            <a:xfrm>
              <a:off x="1392" y="1824"/>
              <a:ext cx="1536" cy="1680"/>
              <a:chOff x="1392" y="1824"/>
              <a:chExt cx="1536" cy="1680"/>
            </a:xfrm>
          </p:grpSpPr>
          <p:sp>
            <p:nvSpPr>
              <p:cNvPr id="83030" name="Line 28"/>
              <p:cNvSpPr/>
              <p:nvPr/>
            </p:nvSpPr>
            <p:spPr>
              <a:xfrm>
                <a:off x="2928" y="1824"/>
                <a:ext cx="0" cy="9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31" name="Line 77"/>
              <p:cNvSpPr/>
              <p:nvPr/>
            </p:nvSpPr>
            <p:spPr>
              <a:xfrm flipH="1">
                <a:off x="1392" y="2784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32" name="Line 78"/>
              <p:cNvSpPr/>
              <p:nvPr/>
            </p:nvSpPr>
            <p:spPr>
              <a:xfrm>
                <a:off x="1392" y="2784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33" name="Text Box 102"/>
            <p:cNvSpPr txBox="1"/>
            <p:nvPr/>
          </p:nvSpPr>
          <p:spPr>
            <a:xfrm>
              <a:off x="1344" y="3264"/>
              <a:ext cx="2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89" name="Group 117"/>
          <p:cNvGrpSpPr/>
          <p:nvPr/>
        </p:nvGrpSpPr>
        <p:grpSpPr>
          <a:xfrm>
            <a:off x="1295400" y="2895600"/>
            <a:ext cx="3200400" cy="2667000"/>
            <a:chOff x="816" y="1824"/>
            <a:chExt cx="2016" cy="1680"/>
          </a:xfrm>
        </p:grpSpPr>
        <p:grpSp>
          <p:nvGrpSpPr>
            <p:cNvPr id="83035" name="Group 89"/>
            <p:cNvGrpSpPr/>
            <p:nvPr/>
          </p:nvGrpSpPr>
          <p:grpSpPr>
            <a:xfrm>
              <a:off x="816" y="1824"/>
              <a:ext cx="2016" cy="1680"/>
              <a:chOff x="816" y="1824"/>
              <a:chExt cx="2016" cy="1680"/>
            </a:xfrm>
          </p:grpSpPr>
          <p:sp>
            <p:nvSpPr>
              <p:cNvPr id="83036" name="Line 29"/>
              <p:cNvSpPr/>
              <p:nvPr/>
            </p:nvSpPr>
            <p:spPr>
              <a:xfrm>
                <a:off x="2832" y="1824"/>
                <a:ext cx="0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37" name="Line 75"/>
              <p:cNvSpPr/>
              <p:nvPr/>
            </p:nvSpPr>
            <p:spPr>
              <a:xfrm flipH="1">
                <a:off x="816" y="2640"/>
                <a:ext cx="20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38" name="Line 76"/>
              <p:cNvSpPr/>
              <p:nvPr/>
            </p:nvSpPr>
            <p:spPr>
              <a:xfrm flipH="1" flipV="1">
                <a:off x="816" y="2640"/>
                <a:ext cx="0" cy="8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39" name="Text Box 103"/>
            <p:cNvSpPr txBox="1"/>
            <p:nvPr/>
          </p:nvSpPr>
          <p:spPr>
            <a:xfrm>
              <a:off x="816" y="3254"/>
              <a:ext cx="2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90" name="Group 118"/>
          <p:cNvGrpSpPr/>
          <p:nvPr/>
        </p:nvGrpSpPr>
        <p:grpSpPr>
          <a:xfrm>
            <a:off x="533400" y="2895600"/>
            <a:ext cx="3810000" cy="2667000"/>
            <a:chOff x="336" y="1824"/>
            <a:chExt cx="2400" cy="1680"/>
          </a:xfrm>
        </p:grpSpPr>
        <p:grpSp>
          <p:nvGrpSpPr>
            <p:cNvPr id="83041" name="Group 90"/>
            <p:cNvGrpSpPr/>
            <p:nvPr/>
          </p:nvGrpSpPr>
          <p:grpSpPr>
            <a:xfrm>
              <a:off x="336" y="1824"/>
              <a:ext cx="2400" cy="1680"/>
              <a:chOff x="336" y="1824"/>
              <a:chExt cx="2400" cy="1680"/>
            </a:xfrm>
          </p:grpSpPr>
          <p:sp>
            <p:nvSpPr>
              <p:cNvPr id="83042" name="Line 30"/>
              <p:cNvSpPr/>
              <p:nvPr/>
            </p:nvSpPr>
            <p:spPr>
              <a:xfrm>
                <a:off x="2736" y="1824"/>
                <a:ext cx="0" cy="6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43" name="Line 73"/>
              <p:cNvSpPr/>
              <p:nvPr/>
            </p:nvSpPr>
            <p:spPr>
              <a:xfrm flipH="1">
                <a:off x="336" y="2496"/>
                <a:ext cx="24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44" name="Line 74"/>
              <p:cNvSpPr/>
              <p:nvPr/>
            </p:nvSpPr>
            <p:spPr>
              <a:xfrm>
                <a:off x="336" y="2496"/>
                <a:ext cx="0" cy="10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45" name="Text Box 104"/>
            <p:cNvSpPr txBox="1"/>
            <p:nvPr/>
          </p:nvSpPr>
          <p:spPr>
            <a:xfrm>
              <a:off x="336" y="3254"/>
              <a:ext cx="3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91" name="Group 119"/>
          <p:cNvGrpSpPr/>
          <p:nvPr/>
        </p:nvGrpSpPr>
        <p:grpSpPr>
          <a:xfrm>
            <a:off x="457200" y="2819400"/>
            <a:ext cx="3733800" cy="914400"/>
            <a:chOff x="288" y="1776"/>
            <a:chExt cx="2352" cy="576"/>
          </a:xfrm>
        </p:grpSpPr>
        <p:grpSp>
          <p:nvGrpSpPr>
            <p:cNvPr id="83047" name="Group 91"/>
            <p:cNvGrpSpPr/>
            <p:nvPr/>
          </p:nvGrpSpPr>
          <p:grpSpPr>
            <a:xfrm>
              <a:off x="336" y="1776"/>
              <a:ext cx="2304" cy="576"/>
              <a:chOff x="336" y="1776"/>
              <a:chExt cx="2304" cy="576"/>
            </a:xfrm>
          </p:grpSpPr>
          <p:sp>
            <p:nvSpPr>
              <p:cNvPr id="83048" name="Line 31"/>
              <p:cNvSpPr/>
              <p:nvPr/>
            </p:nvSpPr>
            <p:spPr>
              <a:xfrm>
                <a:off x="2640" y="1824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49" name="Line 71"/>
              <p:cNvSpPr/>
              <p:nvPr/>
            </p:nvSpPr>
            <p:spPr>
              <a:xfrm flipH="1">
                <a:off x="336" y="2352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50" name="Line 72"/>
              <p:cNvSpPr/>
              <p:nvPr/>
            </p:nvSpPr>
            <p:spPr>
              <a:xfrm>
                <a:off x="336" y="177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51" name="Text Box 105"/>
            <p:cNvSpPr txBox="1"/>
            <p:nvPr/>
          </p:nvSpPr>
          <p:spPr>
            <a:xfrm>
              <a:off x="288" y="1824"/>
              <a:ext cx="3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92" name="Group 120"/>
          <p:cNvGrpSpPr/>
          <p:nvPr/>
        </p:nvGrpSpPr>
        <p:grpSpPr>
          <a:xfrm>
            <a:off x="1295400" y="2819400"/>
            <a:ext cx="2743200" cy="685800"/>
            <a:chOff x="816" y="1776"/>
            <a:chExt cx="1728" cy="432"/>
          </a:xfrm>
        </p:grpSpPr>
        <p:grpSp>
          <p:nvGrpSpPr>
            <p:cNvPr id="83053" name="Group 92"/>
            <p:cNvGrpSpPr/>
            <p:nvPr/>
          </p:nvGrpSpPr>
          <p:grpSpPr>
            <a:xfrm>
              <a:off x="816" y="1776"/>
              <a:ext cx="1728" cy="432"/>
              <a:chOff x="816" y="1776"/>
              <a:chExt cx="1728" cy="432"/>
            </a:xfrm>
          </p:grpSpPr>
          <p:sp>
            <p:nvSpPr>
              <p:cNvPr id="83054" name="Line 32"/>
              <p:cNvSpPr/>
              <p:nvPr/>
            </p:nvSpPr>
            <p:spPr>
              <a:xfrm>
                <a:off x="2544" y="182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55" name="Line 69"/>
              <p:cNvSpPr/>
              <p:nvPr/>
            </p:nvSpPr>
            <p:spPr>
              <a:xfrm flipH="1" flipV="1">
                <a:off x="816" y="2208"/>
                <a:ext cx="17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56" name="Line 70"/>
              <p:cNvSpPr/>
              <p:nvPr/>
            </p:nvSpPr>
            <p:spPr>
              <a:xfrm>
                <a:off x="816" y="1776"/>
                <a:ext cx="0" cy="4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57" name="Text Box 106"/>
            <p:cNvSpPr txBox="1"/>
            <p:nvPr/>
          </p:nvSpPr>
          <p:spPr>
            <a:xfrm>
              <a:off x="816" y="1824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91993" name="Group 121"/>
          <p:cNvGrpSpPr/>
          <p:nvPr/>
        </p:nvGrpSpPr>
        <p:grpSpPr>
          <a:xfrm>
            <a:off x="2209800" y="2819400"/>
            <a:ext cx="1676400" cy="457200"/>
            <a:chOff x="1392" y="1776"/>
            <a:chExt cx="1056" cy="288"/>
          </a:xfrm>
        </p:grpSpPr>
        <p:grpSp>
          <p:nvGrpSpPr>
            <p:cNvPr id="83059" name="Group 93"/>
            <p:cNvGrpSpPr/>
            <p:nvPr/>
          </p:nvGrpSpPr>
          <p:grpSpPr>
            <a:xfrm>
              <a:off x="1392" y="1776"/>
              <a:ext cx="1056" cy="288"/>
              <a:chOff x="1392" y="1776"/>
              <a:chExt cx="1056" cy="288"/>
            </a:xfrm>
          </p:grpSpPr>
          <p:sp>
            <p:nvSpPr>
              <p:cNvPr id="83060" name="Line 33"/>
              <p:cNvSpPr/>
              <p:nvPr/>
            </p:nvSpPr>
            <p:spPr>
              <a:xfrm>
                <a:off x="2448" y="1824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83061" name="Line 67"/>
              <p:cNvSpPr/>
              <p:nvPr/>
            </p:nvSpPr>
            <p:spPr>
              <a:xfrm flipH="1">
                <a:off x="1392" y="2064"/>
                <a:ext cx="10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062" name="Line 68"/>
              <p:cNvSpPr/>
              <p:nvPr/>
            </p:nvSpPr>
            <p:spPr>
              <a:xfrm>
                <a:off x="1392" y="1776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063" name="Text Box 107"/>
            <p:cNvSpPr txBox="1"/>
            <p:nvPr/>
          </p:nvSpPr>
          <p:spPr>
            <a:xfrm>
              <a:off x="1392" y="1814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59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59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59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59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59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59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59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9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59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59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59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9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59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59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39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设计：采用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3972" name="Rectangle 4"/>
          <p:cNvSpPr/>
          <p:nvPr/>
        </p:nvSpPr>
        <p:spPr>
          <a:xfrm>
            <a:off x="3810000" y="2286000"/>
            <a:ext cx="1676400" cy="3200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3" name="Text Box 5"/>
          <p:cNvSpPr txBox="1"/>
          <p:nvPr/>
        </p:nvSpPr>
        <p:spPr>
          <a:xfrm>
            <a:off x="4191000" y="3062288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4" name="Line 6"/>
          <p:cNvSpPr/>
          <p:nvPr/>
        </p:nvSpPr>
        <p:spPr>
          <a:xfrm>
            <a:off x="2667000" y="25146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75" name="Line 7"/>
          <p:cNvSpPr/>
          <p:nvPr/>
        </p:nvSpPr>
        <p:spPr>
          <a:xfrm>
            <a:off x="2667000" y="28194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76" name="Line 8"/>
          <p:cNvSpPr/>
          <p:nvPr/>
        </p:nvSpPr>
        <p:spPr>
          <a:xfrm>
            <a:off x="2667000" y="31242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77" name="Line 9"/>
          <p:cNvSpPr/>
          <p:nvPr/>
        </p:nvSpPr>
        <p:spPr>
          <a:xfrm>
            <a:off x="2667000" y="34290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78" name="Text Box 10"/>
          <p:cNvSpPr txBox="1"/>
          <p:nvPr/>
        </p:nvSpPr>
        <p:spPr>
          <a:xfrm>
            <a:off x="2209800" y="2362200"/>
            <a:ext cx="685800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79" name="Rectangle 11"/>
          <p:cNvSpPr/>
          <p:nvPr/>
        </p:nvSpPr>
        <p:spPr>
          <a:xfrm>
            <a:off x="6248400" y="2209800"/>
            <a:ext cx="914400" cy="2362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0" name="Line 12"/>
          <p:cNvSpPr/>
          <p:nvPr/>
        </p:nvSpPr>
        <p:spPr>
          <a:xfrm>
            <a:off x="6248400" y="28194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81" name="Line 13"/>
          <p:cNvSpPr/>
          <p:nvPr/>
        </p:nvSpPr>
        <p:spPr>
          <a:xfrm>
            <a:off x="6248400" y="3429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82" name="Text Box 15"/>
          <p:cNvSpPr txBox="1"/>
          <p:nvPr/>
        </p:nvSpPr>
        <p:spPr>
          <a:xfrm>
            <a:off x="6248400" y="2286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3" name="Text Box 17"/>
          <p:cNvSpPr txBox="1"/>
          <p:nvPr/>
        </p:nvSpPr>
        <p:spPr>
          <a:xfrm>
            <a:off x="6858000" y="2286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4" name="Line 18"/>
          <p:cNvSpPr/>
          <p:nvPr/>
        </p:nvSpPr>
        <p:spPr>
          <a:xfrm>
            <a:off x="6248400" y="3429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85" name="Text Box 19"/>
          <p:cNvSpPr txBox="1"/>
          <p:nvPr/>
        </p:nvSpPr>
        <p:spPr>
          <a:xfrm>
            <a:off x="6248400" y="2895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6" name="Text Box 20"/>
          <p:cNvSpPr txBox="1"/>
          <p:nvPr/>
        </p:nvSpPr>
        <p:spPr>
          <a:xfrm>
            <a:off x="6858000" y="2895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7" name="Line 21"/>
          <p:cNvSpPr/>
          <p:nvPr/>
        </p:nvSpPr>
        <p:spPr>
          <a:xfrm>
            <a:off x="6248400" y="39624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88" name="Text Box 22"/>
          <p:cNvSpPr txBox="1"/>
          <p:nvPr/>
        </p:nvSpPr>
        <p:spPr>
          <a:xfrm>
            <a:off x="62484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89" name="Text Box 23"/>
          <p:cNvSpPr txBox="1"/>
          <p:nvPr/>
        </p:nvSpPr>
        <p:spPr>
          <a:xfrm>
            <a:off x="68580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90" name="Text Box 25"/>
          <p:cNvSpPr txBox="1"/>
          <p:nvPr/>
        </p:nvSpPr>
        <p:spPr>
          <a:xfrm>
            <a:off x="6248400" y="4038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91" name="Text Box 26"/>
          <p:cNvSpPr txBox="1"/>
          <p:nvPr/>
        </p:nvSpPr>
        <p:spPr>
          <a:xfrm>
            <a:off x="6858000" y="4038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992" name="Line 27"/>
          <p:cNvSpPr/>
          <p:nvPr/>
        </p:nvSpPr>
        <p:spPr>
          <a:xfrm>
            <a:off x="5486400" y="25146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3" name="Line 28"/>
          <p:cNvSpPr/>
          <p:nvPr/>
        </p:nvSpPr>
        <p:spPr>
          <a:xfrm>
            <a:off x="5486400" y="31242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4" name="Line 29"/>
          <p:cNvSpPr/>
          <p:nvPr/>
        </p:nvSpPr>
        <p:spPr>
          <a:xfrm>
            <a:off x="5486400" y="36576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5" name="Line 30"/>
          <p:cNvSpPr/>
          <p:nvPr/>
        </p:nvSpPr>
        <p:spPr>
          <a:xfrm>
            <a:off x="5486400" y="42672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6" name="Line 31"/>
          <p:cNvSpPr/>
          <p:nvPr/>
        </p:nvSpPr>
        <p:spPr>
          <a:xfrm>
            <a:off x="1981200" y="4267200"/>
            <a:ext cx="1828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7" name="Line 32"/>
          <p:cNvSpPr/>
          <p:nvPr/>
        </p:nvSpPr>
        <p:spPr>
          <a:xfrm>
            <a:off x="2209800" y="4572000"/>
            <a:ext cx="1600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8" name="Line 33"/>
          <p:cNvSpPr/>
          <p:nvPr/>
        </p:nvSpPr>
        <p:spPr>
          <a:xfrm>
            <a:off x="2438400" y="4876800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999" name="Line 34"/>
          <p:cNvSpPr/>
          <p:nvPr/>
        </p:nvSpPr>
        <p:spPr>
          <a:xfrm>
            <a:off x="2667000" y="51816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0" name="Line 35"/>
          <p:cNvSpPr/>
          <p:nvPr/>
        </p:nvSpPr>
        <p:spPr>
          <a:xfrm>
            <a:off x="7162800" y="42672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1" name="Line 36"/>
          <p:cNvSpPr/>
          <p:nvPr/>
        </p:nvSpPr>
        <p:spPr>
          <a:xfrm>
            <a:off x="7543800" y="4267200"/>
            <a:ext cx="0" cy="1447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2" name="Line 37"/>
          <p:cNvSpPr/>
          <p:nvPr/>
        </p:nvSpPr>
        <p:spPr>
          <a:xfrm flipH="1">
            <a:off x="2667000" y="5715000"/>
            <a:ext cx="487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3" name="Line 38"/>
          <p:cNvSpPr/>
          <p:nvPr/>
        </p:nvSpPr>
        <p:spPr>
          <a:xfrm flipV="1">
            <a:off x="2667000" y="51816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4" name="Line 39"/>
          <p:cNvSpPr/>
          <p:nvPr/>
        </p:nvSpPr>
        <p:spPr>
          <a:xfrm>
            <a:off x="7162800" y="3657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5" name="Line 40"/>
          <p:cNvSpPr/>
          <p:nvPr/>
        </p:nvSpPr>
        <p:spPr>
          <a:xfrm>
            <a:off x="7772400" y="36576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6" name="Line 41"/>
          <p:cNvSpPr/>
          <p:nvPr/>
        </p:nvSpPr>
        <p:spPr>
          <a:xfrm flipH="1">
            <a:off x="2438400" y="5943600"/>
            <a:ext cx="533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7" name="Line 42"/>
          <p:cNvSpPr/>
          <p:nvPr/>
        </p:nvSpPr>
        <p:spPr>
          <a:xfrm flipV="1">
            <a:off x="2438400" y="4876800"/>
            <a:ext cx="0" cy="1066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8" name="Line 43"/>
          <p:cNvSpPr/>
          <p:nvPr/>
        </p:nvSpPr>
        <p:spPr>
          <a:xfrm>
            <a:off x="7162800" y="3124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09" name="Line 44"/>
          <p:cNvSpPr/>
          <p:nvPr/>
        </p:nvSpPr>
        <p:spPr>
          <a:xfrm>
            <a:off x="8001000" y="3124200"/>
            <a:ext cx="0" cy="304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0" name="Line 45"/>
          <p:cNvSpPr/>
          <p:nvPr/>
        </p:nvSpPr>
        <p:spPr>
          <a:xfrm flipH="1">
            <a:off x="2209800" y="6172200"/>
            <a:ext cx="579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1" name="Line 46"/>
          <p:cNvSpPr/>
          <p:nvPr/>
        </p:nvSpPr>
        <p:spPr>
          <a:xfrm flipV="1">
            <a:off x="2209800" y="4572000"/>
            <a:ext cx="0" cy="1600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2" name="Line 47"/>
          <p:cNvSpPr/>
          <p:nvPr/>
        </p:nvSpPr>
        <p:spPr>
          <a:xfrm>
            <a:off x="7162800" y="2514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3" name="Line 48"/>
          <p:cNvSpPr/>
          <p:nvPr/>
        </p:nvSpPr>
        <p:spPr>
          <a:xfrm>
            <a:off x="8229600" y="2514600"/>
            <a:ext cx="0" cy="388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4" name="Line 49"/>
          <p:cNvSpPr/>
          <p:nvPr/>
        </p:nvSpPr>
        <p:spPr>
          <a:xfrm flipH="1">
            <a:off x="1981200" y="6400800"/>
            <a:ext cx="6248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5" name="Line 50"/>
          <p:cNvSpPr/>
          <p:nvPr/>
        </p:nvSpPr>
        <p:spPr>
          <a:xfrm flipV="1">
            <a:off x="1981200" y="4267200"/>
            <a:ext cx="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016" name="Text Box 51"/>
          <p:cNvSpPr txBox="1"/>
          <p:nvPr/>
        </p:nvSpPr>
        <p:spPr>
          <a:xfrm>
            <a:off x="7315200" y="2057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17" name="Text Box 52"/>
          <p:cNvSpPr txBox="1"/>
          <p:nvPr/>
        </p:nvSpPr>
        <p:spPr>
          <a:xfrm>
            <a:off x="7315200" y="2667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18" name="Text Box 53"/>
          <p:cNvSpPr txBox="1"/>
          <p:nvPr/>
        </p:nvSpPr>
        <p:spPr>
          <a:xfrm>
            <a:off x="7315200" y="32004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19" name="Text Box 54"/>
          <p:cNvSpPr txBox="1"/>
          <p:nvPr/>
        </p:nvSpPr>
        <p:spPr>
          <a:xfrm>
            <a:off x="7315200" y="3810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基本思路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0000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开始计数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和外部输入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不同，则继续计数。如果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和外部输入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相同，再来一个脉冲，计数器回到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0000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4953" name="Rectangle 9"/>
          <p:cNvSpPr>
            <a:spLocks noChangeArrowheads="1"/>
          </p:cNvSpPr>
          <p:nvPr/>
        </p:nvSpPr>
        <p:spPr bwMode="auto">
          <a:xfrm>
            <a:off x="533400" y="4953000"/>
            <a:ext cx="8229600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激励方程：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将四位二进制计数器（即模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的计数器）的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表达式和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相与，就可以作为可变模数计数器。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0550" y="3657600"/>
            <a:ext cx="8229600" cy="1187450"/>
            <a:chOff x="590550" y="3657600"/>
            <a:chExt cx="8229600" cy="1187450"/>
          </a:xfrm>
        </p:grpSpPr>
        <p:sp>
          <p:nvSpPr>
            <p:cNvPr id="594949" name="Rectangle 5"/>
            <p:cNvSpPr>
              <a:spLocks noChangeArrowheads="1"/>
            </p:cNvSpPr>
            <p:nvPr/>
          </p:nvSpPr>
          <p:spPr bwMode="auto">
            <a:xfrm>
              <a:off x="590550" y="3657600"/>
              <a:ext cx="8229600" cy="1187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457200" marR="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相同判定：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914400" marR="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当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＝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和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相同；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914400" marR="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当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＝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和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不同；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9" name="文本框 9"/>
            <p:cNvSpPr txBox="1"/>
            <p:nvPr/>
          </p:nvSpPr>
          <p:spPr>
            <a:xfrm>
              <a:off x="2771800" y="3657600"/>
              <a:ext cx="532859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T=(Q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A)+ (Q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B)+ (Q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C)+ (Q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9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5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5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位可变模数计数器的激励方程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7285" name="Text Box 13"/>
          <p:cNvSpPr txBox="1"/>
          <p:nvPr/>
        </p:nvSpPr>
        <p:spPr>
          <a:xfrm>
            <a:off x="4338638" y="2209800"/>
            <a:ext cx="4117975" cy="4572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Georgia" panose="02040502050405020303" pitchFamily="18" charset="0"/>
                <a:ea typeface="宋体" panose="02010600030101010101" pitchFamily="2" charset="-122"/>
              </a:rPr>
              <a:t>位可变模数计数器激励方程</a:t>
            </a:r>
            <a:endParaRPr lang="zh-CN" altLang="en-US" sz="2400" b="1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058863" y="2671763"/>
            <a:ext cx="2292350" cy="2057400"/>
            <a:chOff x="-2742341" y="3904977"/>
            <a:chExt cx="2363470" cy="2057670"/>
          </a:xfrm>
        </p:grpSpPr>
        <p:sp>
          <p:nvSpPr>
            <p:cNvPr id="86022" name="文本框 15"/>
            <p:cNvSpPr txBox="1"/>
            <p:nvPr/>
          </p:nvSpPr>
          <p:spPr>
            <a:xfrm>
              <a:off x="-2742341" y="3904977"/>
              <a:ext cx="1711565" cy="4696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endParaRPr lang="zh-CN" altLang="en-US" sz="20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3" name="文本框 16"/>
            <p:cNvSpPr txBox="1"/>
            <p:nvPr/>
          </p:nvSpPr>
          <p:spPr>
            <a:xfrm>
              <a:off x="-2742341" y="4641382"/>
              <a:ext cx="1785826" cy="2901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 sz="20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4" name="文本框 17"/>
            <p:cNvSpPr txBox="1"/>
            <p:nvPr/>
          </p:nvSpPr>
          <p:spPr>
            <a:xfrm>
              <a:off x="-2737847" y="5134840"/>
              <a:ext cx="2078376" cy="2817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25" name="文本框 18"/>
            <p:cNvSpPr txBox="1"/>
            <p:nvPr/>
          </p:nvSpPr>
          <p:spPr>
            <a:xfrm>
              <a:off x="-2742341" y="5680895"/>
              <a:ext cx="2363470" cy="2817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zh-CN" altLang="en-US" sz="20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899025" y="2762250"/>
            <a:ext cx="2443163" cy="1906588"/>
            <a:chOff x="-853995" y="3930046"/>
            <a:chExt cx="2519525" cy="1907382"/>
          </a:xfrm>
        </p:grpSpPr>
        <p:sp>
          <p:nvSpPr>
            <p:cNvPr id="86027" name="文本框 15"/>
            <p:cNvSpPr txBox="1"/>
            <p:nvPr/>
          </p:nvSpPr>
          <p:spPr>
            <a:xfrm>
              <a:off x="-838679" y="3930046"/>
              <a:ext cx="1711565" cy="4696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     —</a:t>
              </a:r>
              <a:endParaRPr lang="en-US" altLang="zh-CN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8" name="文本框 16"/>
            <p:cNvSpPr txBox="1"/>
            <p:nvPr/>
          </p:nvSpPr>
          <p:spPr>
            <a:xfrm>
              <a:off x="-853995" y="4588785"/>
              <a:ext cx="1822462" cy="2817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=(Q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)T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9" name="文本框 17"/>
            <p:cNvSpPr txBox="1"/>
            <p:nvPr/>
          </p:nvSpPr>
          <p:spPr>
            <a:xfrm>
              <a:off x="-853995" y="5055163"/>
              <a:ext cx="2238926" cy="2817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=(Q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 )T</a:t>
              </a:r>
              <a:endPara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30" name="文本框 18"/>
            <p:cNvSpPr txBox="1"/>
            <p:nvPr/>
          </p:nvSpPr>
          <p:spPr>
            <a:xfrm>
              <a:off x="-853995" y="5555676"/>
              <a:ext cx="2519525" cy="2817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ts val="1400"/>
                </a:lnSpc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=(Q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D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000" dirty="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 )T</a:t>
              </a:r>
              <a:endParaRPr lang="zh-CN" altLang="en-US" sz="20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3563938" y="4821238"/>
            <a:ext cx="532923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T=(Q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A)+ (Q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B)+ (Q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C)+ (Q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5" grpId="0"/>
      <p:bldP spid="3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PLA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80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位可变模数计数器的激励方程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变为与或表达式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87450" y="2492375"/>
            <a:ext cx="1660525" cy="469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92213" y="2941638"/>
            <a:ext cx="2397125" cy="458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)T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87450" y="3398838"/>
            <a:ext cx="40338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     —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)T</a:t>
            </a:r>
            <a:endParaRPr lang="en-US" altLang="zh-CN" sz="2000" baseline="-25000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74750" y="3860800"/>
            <a:ext cx="4910138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        —        —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)T</a:t>
            </a:r>
            <a:endParaRPr lang="zh-CN" altLang="en-US" sz="2000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74750" y="4313238"/>
            <a:ext cx="6926263" cy="587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T=(Q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B+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B)+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D)</a:t>
            </a:r>
            <a:endParaRPr lang="en-US" altLang="zh-CN" sz="2000" dirty="0">
              <a:latin typeface="Tahoma" panose="020B0604030504040204" pitchFamily="34" charset="0"/>
              <a:ea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8066" name="Group 155"/>
          <p:cNvGrpSpPr/>
          <p:nvPr/>
        </p:nvGrpSpPr>
        <p:grpSpPr>
          <a:xfrm>
            <a:off x="1524000" y="3124200"/>
            <a:ext cx="5638800" cy="2514600"/>
            <a:chOff x="960" y="1968"/>
            <a:chExt cx="3552" cy="1584"/>
          </a:xfrm>
        </p:grpSpPr>
        <p:sp>
          <p:nvSpPr>
            <p:cNvPr id="88067" name="Line 61"/>
            <p:cNvSpPr/>
            <p:nvPr/>
          </p:nvSpPr>
          <p:spPr>
            <a:xfrm>
              <a:off x="960" y="1968"/>
              <a:ext cx="355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68" name="Line 62"/>
            <p:cNvSpPr/>
            <p:nvPr/>
          </p:nvSpPr>
          <p:spPr>
            <a:xfrm>
              <a:off x="960" y="2256"/>
              <a:ext cx="355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69" name="Line 63"/>
            <p:cNvSpPr/>
            <p:nvPr/>
          </p:nvSpPr>
          <p:spPr>
            <a:xfrm>
              <a:off x="960" y="2544"/>
              <a:ext cx="355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0" name="Line 64"/>
            <p:cNvSpPr/>
            <p:nvPr/>
          </p:nvSpPr>
          <p:spPr>
            <a:xfrm>
              <a:off x="960" y="2928"/>
              <a:ext cx="355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1" name="Line 70"/>
            <p:cNvSpPr/>
            <p:nvPr/>
          </p:nvSpPr>
          <p:spPr>
            <a:xfrm>
              <a:off x="1008" y="3168"/>
              <a:ext cx="33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2" name="Line 71"/>
            <p:cNvSpPr/>
            <p:nvPr/>
          </p:nvSpPr>
          <p:spPr>
            <a:xfrm>
              <a:off x="1008" y="3264"/>
              <a:ext cx="33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3" name="Line 77"/>
            <p:cNvSpPr/>
            <p:nvPr/>
          </p:nvSpPr>
          <p:spPr>
            <a:xfrm>
              <a:off x="1008" y="3360"/>
              <a:ext cx="33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4" name="Line 78"/>
            <p:cNvSpPr/>
            <p:nvPr/>
          </p:nvSpPr>
          <p:spPr>
            <a:xfrm>
              <a:off x="1008" y="3456"/>
              <a:ext cx="33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5" name="Line 79"/>
            <p:cNvSpPr/>
            <p:nvPr/>
          </p:nvSpPr>
          <p:spPr>
            <a:xfrm>
              <a:off x="1008" y="3552"/>
              <a:ext cx="33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8076" name="Group 154"/>
          <p:cNvGrpSpPr/>
          <p:nvPr/>
        </p:nvGrpSpPr>
        <p:grpSpPr>
          <a:xfrm>
            <a:off x="914400" y="152400"/>
            <a:ext cx="7696200" cy="2667000"/>
            <a:chOff x="576" y="96"/>
            <a:chExt cx="4848" cy="1680"/>
          </a:xfrm>
        </p:grpSpPr>
        <p:sp>
          <p:nvSpPr>
            <p:cNvPr id="88077" name="Line 5"/>
            <p:cNvSpPr/>
            <p:nvPr/>
          </p:nvSpPr>
          <p:spPr>
            <a:xfrm>
              <a:off x="912" y="96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8" name="Line 6"/>
            <p:cNvSpPr/>
            <p:nvPr/>
          </p:nvSpPr>
          <p:spPr>
            <a:xfrm>
              <a:off x="912" y="96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79" name="Line 7"/>
            <p:cNvSpPr/>
            <p:nvPr/>
          </p:nvSpPr>
          <p:spPr>
            <a:xfrm flipH="1">
              <a:off x="912" y="144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0" name="Oval 8"/>
            <p:cNvSpPr/>
            <p:nvPr/>
          </p:nvSpPr>
          <p:spPr>
            <a:xfrm>
              <a:off x="960" y="144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81" name="Line 9"/>
            <p:cNvSpPr/>
            <p:nvPr/>
          </p:nvSpPr>
          <p:spPr>
            <a:xfrm flipH="1">
              <a:off x="576" y="144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2" name="Line 10"/>
            <p:cNvSpPr/>
            <p:nvPr/>
          </p:nvSpPr>
          <p:spPr>
            <a:xfrm>
              <a:off x="960" y="96"/>
              <a:ext cx="331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3" name="Line 11"/>
            <p:cNvSpPr/>
            <p:nvPr/>
          </p:nvSpPr>
          <p:spPr>
            <a:xfrm>
              <a:off x="1008" y="192"/>
              <a:ext cx="326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4" name="Line 12"/>
            <p:cNvSpPr/>
            <p:nvPr/>
          </p:nvSpPr>
          <p:spPr>
            <a:xfrm>
              <a:off x="912" y="288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5" name="Line 13"/>
            <p:cNvSpPr/>
            <p:nvPr/>
          </p:nvSpPr>
          <p:spPr>
            <a:xfrm>
              <a:off x="912" y="288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6" name="Line 14"/>
            <p:cNvSpPr/>
            <p:nvPr/>
          </p:nvSpPr>
          <p:spPr>
            <a:xfrm flipH="1">
              <a:off x="912" y="336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7" name="Oval 15"/>
            <p:cNvSpPr/>
            <p:nvPr/>
          </p:nvSpPr>
          <p:spPr>
            <a:xfrm>
              <a:off x="960" y="336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88" name="Line 16"/>
            <p:cNvSpPr/>
            <p:nvPr/>
          </p:nvSpPr>
          <p:spPr>
            <a:xfrm flipH="1">
              <a:off x="576" y="336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9" name="Line 17"/>
            <p:cNvSpPr/>
            <p:nvPr/>
          </p:nvSpPr>
          <p:spPr>
            <a:xfrm>
              <a:off x="960" y="288"/>
              <a:ext cx="331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0" name="Line 18"/>
            <p:cNvSpPr/>
            <p:nvPr/>
          </p:nvSpPr>
          <p:spPr>
            <a:xfrm>
              <a:off x="1008" y="384"/>
              <a:ext cx="326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1" name="Line 19"/>
            <p:cNvSpPr/>
            <p:nvPr/>
          </p:nvSpPr>
          <p:spPr>
            <a:xfrm>
              <a:off x="912" y="480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2" name="Line 20"/>
            <p:cNvSpPr/>
            <p:nvPr/>
          </p:nvSpPr>
          <p:spPr>
            <a:xfrm>
              <a:off x="912" y="480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3" name="Line 21"/>
            <p:cNvSpPr/>
            <p:nvPr/>
          </p:nvSpPr>
          <p:spPr>
            <a:xfrm flipH="1">
              <a:off x="912" y="528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4" name="Oval 22"/>
            <p:cNvSpPr/>
            <p:nvPr/>
          </p:nvSpPr>
          <p:spPr>
            <a:xfrm>
              <a:off x="960" y="528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95" name="Line 23"/>
            <p:cNvSpPr/>
            <p:nvPr/>
          </p:nvSpPr>
          <p:spPr>
            <a:xfrm flipH="1">
              <a:off x="576" y="528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6" name="Line 24"/>
            <p:cNvSpPr/>
            <p:nvPr/>
          </p:nvSpPr>
          <p:spPr>
            <a:xfrm>
              <a:off x="960" y="480"/>
              <a:ext cx="331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7" name="Line 25"/>
            <p:cNvSpPr/>
            <p:nvPr/>
          </p:nvSpPr>
          <p:spPr>
            <a:xfrm>
              <a:off x="1008" y="576"/>
              <a:ext cx="326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8" name="Line 26"/>
            <p:cNvSpPr/>
            <p:nvPr/>
          </p:nvSpPr>
          <p:spPr>
            <a:xfrm>
              <a:off x="912" y="672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99" name="Line 27"/>
            <p:cNvSpPr/>
            <p:nvPr/>
          </p:nvSpPr>
          <p:spPr>
            <a:xfrm>
              <a:off x="912" y="672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0" name="Line 28"/>
            <p:cNvSpPr/>
            <p:nvPr/>
          </p:nvSpPr>
          <p:spPr>
            <a:xfrm flipH="1">
              <a:off x="912" y="720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1" name="Oval 29"/>
            <p:cNvSpPr/>
            <p:nvPr/>
          </p:nvSpPr>
          <p:spPr>
            <a:xfrm>
              <a:off x="960" y="720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02" name="Line 30"/>
            <p:cNvSpPr/>
            <p:nvPr/>
          </p:nvSpPr>
          <p:spPr>
            <a:xfrm flipH="1">
              <a:off x="576" y="720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3" name="Line 31"/>
            <p:cNvSpPr/>
            <p:nvPr/>
          </p:nvSpPr>
          <p:spPr>
            <a:xfrm>
              <a:off x="960" y="672"/>
              <a:ext cx="331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4" name="Line 32"/>
            <p:cNvSpPr/>
            <p:nvPr/>
          </p:nvSpPr>
          <p:spPr>
            <a:xfrm>
              <a:off x="1008" y="768"/>
              <a:ext cx="326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5" name="Line 33"/>
            <p:cNvSpPr/>
            <p:nvPr/>
          </p:nvSpPr>
          <p:spPr>
            <a:xfrm>
              <a:off x="4800" y="1104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6" name="Line 34"/>
            <p:cNvSpPr/>
            <p:nvPr/>
          </p:nvSpPr>
          <p:spPr>
            <a:xfrm>
              <a:off x="4656" y="1152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7" name="Line 35"/>
            <p:cNvSpPr/>
            <p:nvPr/>
          </p:nvSpPr>
          <p:spPr>
            <a:xfrm flipH="1">
              <a:off x="4656" y="1104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08" name="Oval 36"/>
            <p:cNvSpPr/>
            <p:nvPr/>
          </p:nvSpPr>
          <p:spPr>
            <a:xfrm>
              <a:off x="4704" y="1152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09" name="Line 37"/>
            <p:cNvSpPr/>
            <p:nvPr/>
          </p:nvSpPr>
          <p:spPr>
            <a:xfrm flipH="1">
              <a:off x="4800" y="1152"/>
              <a:ext cx="62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0" name="Line 38"/>
            <p:cNvSpPr/>
            <p:nvPr/>
          </p:nvSpPr>
          <p:spPr>
            <a:xfrm>
              <a:off x="960" y="1104"/>
              <a:ext cx="379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1" name="Line 39"/>
            <p:cNvSpPr/>
            <p:nvPr/>
          </p:nvSpPr>
          <p:spPr>
            <a:xfrm>
              <a:off x="1008" y="1200"/>
              <a:ext cx="374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2" name="Line 45"/>
            <p:cNvSpPr/>
            <p:nvPr/>
          </p:nvSpPr>
          <p:spPr>
            <a:xfrm>
              <a:off x="960" y="1296"/>
              <a:ext cx="379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3" name="Line 46"/>
            <p:cNvSpPr/>
            <p:nvPr/>
          </p:nvSpPr>
          <p:spPr>
            <a:xfrm>
              <a:off x="1008" y="1392"/>
              <a:ext cx="374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4" name="Line 52"/>
            <p:cNvSpPr/>
            <p:nvPr/>
          </p:nvSpPr>
          <p:spPr>
            <a:xfrm>
              <a:off x="960" y="1488"/>
              <a:ext cx="379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5" name="Line 53"/>
            <p:cNvSpPr/>
            <p:nvPr/>
          </p:nvSpPr>
          <p:spPr>
            <a:xfrm>
              <a:off x="1008" y="1584"/>
              <a:ext cx="374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6" name="Line 59"/>
            <p:cNvSpPr/>
            <p:nvPr/>
          </p:nvSpPr>
          <p:spPr>
            <a:xfrm>
              <a:off x="960" y="1680"/>
              <a:ext cx="379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7" name="Line 60"/>
            <p:cNvSpPr/>
            <p:nvPr/>
          </p:nvSpPr>
          <p:spPr>
            <a:xfrm>
              <a:off x="1008" y="1776"/>
              <a:ext cx="374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8" name="Line 102"/>
            <p:cNvSpPr/>
            <p:nvPr/>
          </p:nvSpPr>
          <p:spPr>
            <a:xfrm>
              <a:off x="912" y="864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19" name="Line 103"/>
            <p:cNvSpPr/>
            <p:nvPr/>
          </p:nvSpPr>
          <p:spPr>
            <a:xfrm>
              <a:off x="912" y="864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0" name="Line 104"/>
            <p:cNvSpPr/>
            <p:nvPr/>
          </p:nvSpPr>
          <p:spPr>
            <a:xfrm flipH="1">
              <a:off x="912" y="912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1" name="Oval 105"/>
            <p:cNvSpPr/>
            <p:nvPr/>
          </p:nvSpPr>
          <p:spPr>
            <a:xfrm>
              <a:off x="960" y="912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22" name="Line 106"/>
            <p:cNvSpPr/>
            <p:nvPr/>
          </p:nvSpPr>
          <p:spPr>
            <a:xfrm flipH="1">
              <a:off x="576" y="912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3" name="Line 107"/>
            <p:cNvSpPr/>
            <p:nvPr/>
          </p:nvSpPr>
          <p:spPr>
            <a:xfrm>
              <a:off x="960" y="864"/>
              <a:ext cx="331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4" name="Line 108"/>
            <p:cNvSpPr/>
            <p:nvPr/>
          </p:nvSpPr>
          <p:spPr>
            <a:xfrm>
              <a:off x="1008" y="960"/>
              <a:ext cx="3264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5" name="Line 109"/>
            <p:cNvSpPr/>
            <p:nvPr/>
          </p:nvSpPr>
          <p:spPr>
            <a:xfrm>
              <a:off x="4800" y="1296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6" name="Line 110"/>
            <p:cNvSpPr/>
            <p:nvPr/>
          </p:nvSpPr>
          <p:spPr>
            <a:xfrm>
              <a:off x="4656" y="1344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7" name="Line 111"/>
            <p:cNvSpPr/>
            <p:nvPr/>
          </p:nvSpPr>
          <p:spPr>
            <a:xfrm flipH="1">
              <a:off x="4656" y="1296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8" name="Oval 112"/>
            <p:cNvSpPr/>
            <p:nvPr/>
          </p:nvSpPr>
          <p:spPr>
            <a:xfrm>
              <a:off x="4704" y="1344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29" name="Line 113"/>
            <p:cNvSpPr/>
            <p:nvPr/>
          </p:nvSpPr>
          <p:spPr>
            <a:xfrm flipH="1">
              <a:off x="4800" y="1344"/>
              <a:ext cx="528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0" name="Line 114"/>
            <p:cNvSpPr/>
            <p:nvPr/>
          </p:nvSpPr>
          <p:spPr>
            <a:xfrm>
              <a:off x="4800" y="1488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1" name="Line 115"/>
            <p:cNvSpPr/>
            <p:nvPr/>
          </p:nvSpPr>
          <p:spPr>
            <a:xfrm>
              <a:off x="4656" y="1536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2" name="Line 116"/>
            <p:cNvSpPr/>
            <p:nvPr/>
          </p:nvSpPr>
          <p:spPr>
            <a:xfrm flipH="1">
              <a:off x="4656" y="1488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3" name="Oval 117"/>
            <p:cNvSpPr/>
            <p:nvPr/>
          </p:nvSpPr>
          <p:spPr>
            <a:xfrm>
              <a:off x="4704" y="1536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34" name="Line 118"/>
            <p:cNvSpPr/>
            <p:nvPr/>
          </p:nvSpPr>
          <p:spPr>
            <a:xfrm flipH="1">
              <a:off x="4800" y="1536"/>
              <a:ext cx="432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5" name="Line 119"/>
            <p:cNvSpPr/>
            <p:nvPr/>
          </p:nvSpPr>
          <p:spPr>
            <a:xfrm>
              <a:off x="4800" y="1680"/>
              <a:ext cx="0" cy="9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6" name="Line 120"/>
            <p:cNvSpPr/>
            <p:nvPr/>
          </p:nvSpPr>
          <p:spPr>
            <a:xfrm>
              <a:off x="4656" y="1728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7" name="Line 121"/>
            <p:cNvSpPr/>
            <p:nvPr/>
          </p:nvSpPr>
          <p:spPr>
            <a:xfrm flipH="1">
              <a:off x="4656" y="1680"/>
              <a:ext cx="144" cy="48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38" name="Oval 122"/>
            <p:cNvSpPr/>
            <p:nvPr/>
          </p:nvSpPr>
          <p:spPr>
            <a:xfrm>
              <a:off x="4704" y="1728"/>
              <a:ext cx="48" cy="48"/>
            </a:xfrm>
            <a:prstGeom prst="ellipse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39" name="Line 123"/>
            <p:cNvSpPr/>
            <p:nvPr/>
          </p:nvSpPr>
          <p:spPr>
            <a:xfrm flipH="1">
              <a:off x="4800" y="1728"/>
              <a:ext cx="336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8140" name="Group 156"/>
          <p:cNvGrpSpPr/>
          <p:nvPr/>
        </p:nvGrpSpPr>
        <p:grpSpPr>
          <a:xfrm>
            <a:off x="1828800" y="76200"/>
            <a:ext cx="4800600" cy="5791200"/>
            <a:chOff x="1152" y="48"/>
            <a:chExt cx="3024" cy="3648"/>
          </a:xfrm>
        </p:grpSpPr>
        <p:sp>
          <p:nvSpPr>
            <p:cNvPr id="88141" name="Line 132"/>
            <p:cNvSpPr/>
            <p:nvPr/>
          </p:nvSpPr>
          <p:spPr>
            <a:xfrm>
              <a:off x="1152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2" name="Line 133"/>
            <p:cNvSpPr/>
            <p:nvPr/>
          </p:nvSpPr>
          <p:spPr>
            <a:xfrm>
              <a:off x="1296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3" name="Line 134"/>
            <p:cNvSpPr/>
            <p:nvPr/>
          </p:nvSpPr>
          <p:spPr>
            <a:xfrm>
              <a:off x="1440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4" name="Line 135"/>
            <p:cNvSpPr/>
            <p:nvPr/>
          </p:nvSpPr>
          <p:spPr>
            <a:xfrm>
              <a:off x="1584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5" name="Line 136"/>
            <p:cNvSpPr/>
            <p:nvPr/>
          </p:nvSpPr>
          <p:spPr>
            <a:xfrm>
              <a:off x="1728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6" name="Line 137"/>
            <p:cNvSpPr/>
            <p:nvPr/>
          </p:nvSpPr>
          <p:spPr>
            <a:xfrm>
              <a:off x="1872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7" name="Line 138"/>
            <p:cNvSpPr/>
            <p:nvPr/>
          </p:nvSpPr>
          <p:spPr>
            <a:xfrm>
              <a:off x="2016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8" name="Line 139"/>
            <p:cNvSpPr/>
            <p:nvPr/>
          </p:nvSpPr>
          <p:spPr>
            <a:xfrm>
              <a:off x="2160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49" name="Line 140"/>
            <p:cNvSpPr/>
            <p:nvPr/>
          </p:nvSpPr>
          <p:spPr>
            <a:xfrm>
              <a:off x="2304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0" name="Line 141"/>
            <p:cNvSpPr/>
            <p:nvPr/>
          </p:nvSpPr>
          <p:spPr>
            <a:xfrm>
              <a:off x="2448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1" name="Line 142"/>
            <p:cNvSpPr/>
            <p:nvPr/>
          </p:nvSpPr>
          <p:spPr>
            <a:xfrm>
              <a:off x="2592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2" name="Line 143"/>
            <p:cNvSpPr/>
            <p:nvPr/>
          </p:nvSpPr>
          <p:spPr>
            <a:xfrm>
              <a:off x="2736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3" name="Line 144"/>
            <p:cNvSpPr/>
            <p:nvPr/>
          </p:nvSpPr>
          <p:spPr>
            <a:xfrm>
              <a:off x="2880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4" name="Line 145"/>
            <p:cNvSpPr/>
            <p:nvPr/>
          </p:nvSpPr>
          <p:spPr>
            <a:xfrm>
              <a:off x="3024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5" name="Line 146"/>
            <p:cNvSpPr/>
            <p:nvPr/>
          </p:nvSpPr>
          <p:spPr>
            <a:xfrm>
              <a:off x="3168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6" name="Line 147"/>
            <p:cNvSpPr/>
            <p:nvPr/>
          </p:nvSpPr>
          <p:spPr>
            <a:xfrm>
              <a:off x="3312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7" name="Line 148"/>
            <p:cNvSpPr/>
            <p:nvPr/>
          </p:nvSpPr>
          <p:spPr>
            <a:xfrm>
              <a:off x="3456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8" name="Line 149"/>
            <p:cNvSpPr/>
            <p:nvPr/>
          </p:nvSpPr>
          <p:spPr>
            <a:xfrm>
              <a:off x="3600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59" name="Line 150"/>
            <p:cNvSpPr/>
            <p:nvPr/>
          </p:nvSpPr>
          <p:spPr>
            <a:xfrm>
              <a:off x="3744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60" name="Line 151"/>
            <p:cNvSpPr/>
            <p:nvPr/>
          </p:nvSpPr>
          <p:spPr>
            <a:xfrm>
              <a:off x="3888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61" name="Line 152"/>
            <p:cNvSpPr/>
            <p:nvPr/>
          </p:nvSpPr>
          <p:spPr>
            <a:xfrm>
              <a:off x="4032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62" name="Line 153"/>
            <p:cNvSpPr/>
            <p:nvPr/>
          </p:nvSpPr>
          <p:spPr>
            <a:xfrm>
              <a:off x="4176" y="48"/>
              <a:ext cx="0" cy="3648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97150" name="Rectangle 158"/>
          <p:cNvSpPr>
            <a:spLocks noChangeArrowheads="1"/>
          </p:cNvSpPr>
          <p:nvPr/>
        </p:nvSpPr>
        <p:spPr bwMode="auto">
          <a:xfrm>
            <a:off x="6858000" y="4878388"/>
            <a:ext cx="458788" cy="922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18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endParaRPr kumimoji="0" lang="en-US" altLang="zh-CN" sz="18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8164" name="Group 167"/>
          <p:cNvGrpSpPr/>
          <p:nvPr/>
        </p:nvGrpSpPr>
        <p:grpSpPr>
          <a:xfrm>
            <a:off x="1752600" y="1676400"/>
            <a:ext cx="838200" cy="3886200"/>
            <a:chOff x="1104" y="1056"/>
            <a:chExt cx="528" cy="2448"/>
          </a:xfrm>
        </p:grpSpPr>
        <p:sp>
          <p:nvSpPr>
            <p:cNvPr id="88165" name="Oval 159"/>
            <p:cNvSpPr/>
            <p:nvPr/>
          </p:nvSpPr>
          <p:spPr>
            <a:xfrm>
              <a:off x="1104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66" name="Oval 160"/>
            <p:cNvSpPr/>
            <p:nvPr/>
          </p:nvSpPr>
          <p:spPr>
            <a:xfrm>
              <a:off x="1104" y="312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67" name="Oval 161"/>
            <p:cNvSpPr/>
            <p:nvPr/>
          </p:nvSpPr>
          <p:spPr>
            <a:xfrm>
              <a:off x="1248" y="12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68" name="Oval 162"/>
            <p:cNvSpPr/>
            <p:nvPr/>
          </p:nvSpPr>
          <p:spPr>
            <a:xfrm>
              <a:off x="1248" y="32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69" name="Oval 163"/>
            <p:cNvSpPr/>
            <p:nvPr/>
          </p:nvSpPr>
          <p:spPr>
            <a:xfrm>
              <a:off x="1392" y="14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0" name="Oval 164"/>
            <p:cNvSpPr/>
            <p:nvPr/>
          </p:nvSpPr>
          <p:spPr>
            <a:xfrm>
              <a:off x="1392" y="33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1" name="Oval 165"/>
            <p:cNvSpPr/>
            <p:nvPr/>
          </p:nvSpPr>
          <p:spPr>
            <a:xfrm>
              <a:off x="1536" y="16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2" name="Oval 166"/>
            <p:cNvSpPr/>
            <p:nvPr/>
          </p:nvSpPr>
          <p:spPr>
            <a:xfrm>
              <a:off x="1536" y="34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8173" name="Group 176"/>
          <p:cNvGrpSpPr/>
          <p:nvPr/>
        </p:nvGrpSpPr>
        <p:grpSpPr>
          <a:xfrm>
            <a:off x="2667000" y="76200"/>
            <a:ext cx="1752600" cy="1219200"/>
            <a:chOff x="1680" y="48"/>
            <a:chExt cx="1104" cy="768"/>
          </a:xfrm>
        </p:grpSpPr>
        <p:sp>
          <p:nvSpPr>
            <p:cNvPr id="88174" name="Oval 168"/>
            <p:cNvSpPr/>
            <p:nvPr/>
          </p:nvSpPr>
          <p:spPr>
            <a:xfrm>
              <a:off x="1680" y="1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5" name="Oval 169"/>
            <p:cNvSpPr/>
            <p:nvPr/>
          </p:nvSpPr>
          <p:spPr>
            <a:xfrm>
              <a:off x="1824" y="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6" name="Oval 170"/>
            <p:cNvSpPr/>
            <p:nvPr/>
          </p:nvSpPr>
          <p:spPr>
            <a:xfrm>
              <a:off x="1968" y="3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7" name="Oval 171"/>
            <p:cNvSpPr/>
            <p:nvPr/>
          </p:nvSpPr>
          <p:spPr>
            <a:xfrm>
              <a:off x="2112" y="2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8" name="Oval 172"/>
            <p:cNvSpPr/>
            <p:nvPr/>
          </p:nvSpPr>
          <p:spPr>
            <a:xfrm>
              <a:off x="2256" y="5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79" name="Oval 173"/>
            <p:cNvSpPr/>
            <p:nvPr/>
          </p:nvSpPr>
          <p:spPr>
            <a:xfrm>
              <a:off x="2400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80" name="Oval 174"/>
            <p:cNvSpPr/>
            <p:nvPr/>
          </p:nvSpPr>
          <p:spPr>
            <a:xfrm>
              <a:off x="2544" y="72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81" name="Oval 175"/>
            <p:cNvSpPr/>
            <p:nvPr/>
          </p:nvSpPr>
          <p:spPr>
            <a:xfrm>
              <a:off x="2688" y="62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8182" name="Group 180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88183" name="Group 157"/>
            <p:cNvGrpSpPr/>
            <p:nvPr/>
          </p:nvGrpSpPr>
          <p:grpSpPr>
            <a:xfrm>
              <a:off x="288" y="48"/>
              <a:ext cx="5136" cy="2976"/>
              <a:chOff x="288" y="48"/>
              <a:chExt cx="5136" cy="2976"/>
            </a:xfrm>
          </p:grpSpPr>
          <p:grpSp>
            <p:nvGrpSpPr>
              <p:cNvPr id="88184" name="Group 100"/>
              <p:cNvGrpSpPr/>
              <p:nvPr/>
            </p:nvGrpSpPr>
            <p:grpSpPr>
              <a:xfrm>
                <a:off x="4512" y="1824"/>
                <a:ext cx="672" cy="1200"/>
                <a:chOff x="4992" y="2112"/>
                <a:chExt cx="672" cy="1200"/>
              </a:xfrm>
            </p:grpSpPr>
            <p:sp>
              <p:nvSpPr>
                <p:cNvPr id="88185" name="Rectangle 80"/>
                <p:cNvSpPr/>
                <p:nvPr/>
              </p:nvSpPr>
              <p:spPr>
                <a:xfrm>
                  <a:off x="4992" y="2112"/>
                  <a:ext cx="576" cy="1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86" name="Line 81"/>
                <p:cNvSpPr/>
                <p:nvPr/>
              </p:nvSpPr>
              <p:spPr>
                <a:xfrm>
                  <a:off x="4992" y="2400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8187" name="Line 82"/>
                <p:cNvSpPr/>
                <p:nvPr/>
              </p:nvSpPr>
              <p:spPr>
                <a:xfrm>
                  <a:off x="4992" y="2736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8188" name="Text Box 83"/>
                <p:cNvSpPr txBox="1"/>
                <p:nvPr/>
              </p:nvSpPr>
              <p:spPr>
                <a:xfrm>
                  <a:off x="4992" y="2112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89" name="Text Box 84"/>
                <p:cNvSpPr txBox="1"/>
                <p:nvPr/>
              </p:nvSpPr>
              <p:spPr>
                <a:xfrm>
                  <a:off x="5328" y="2112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0" name="Line 85"/>
                <p:cNvSpPr/>
                <p:nvPr/>
              </p:nvSpPr>
              <p:spPr>
                <a:xfrm>
                  <a:off x="4992" y="2736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8191" name="Text Box 86"/>
                <p:cNvSpPr txBox="1"/>
                <p:nvPr/>
              </p:nvSpPr>
              <p:spPr>
                <a:xfrm>
                  <a:off x="4992" y="2400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2" name="Text Box 87"/>
                <p:cNvSpPr txBox="1"/>
                <p:nvPr/>
              </p:nvSpPr>
              <p:spPr>
                <a:xfrm>
                  <a:off x="5376" y="2400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3" name="Line 88"/>
                <p:cNvSpPr/>
                <p:nvPr/>
              </p:nvSpPr>
              <p:spPr>
                <a:xfrm>
                  <a:off x="4992" y="3024"/>
                  <a:ext cx="57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8194" name="Text Box 89"/>
                <p:cNvSpPr txBox="1"/>
                <p:nvPr/>
              </p:nvSpPr>
              <p:spPr>
                <a:xfrm>
                  <a:off x="4992" y="2736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5" name="Text Box 90"/>
                <p:cNvSpPr txBox="1"/>
                <p:nvPr/>
              </p:nvSpPr>
              <p:spPr>
                <a:xfrm>
                  <a:off x="5376" y="2736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6" name="Text Box 91"/>
                <p:cNvSpPr txBox="1"/>
                <p:nvPr/>
              </p:nvSpPr>
              <p:spPr>
                <a:xfrm>
                  <a:off x="4992" y="3024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197" name="Text Box 92"/>
                <p:cNvSpPr txBox="1"/>
                <p:nvPr/>
              </p:nvSpPr>
              <p:spPr>
                <a:xfrm>
                  <a:off x="5376" y="3024"/>
                  <a:ext cx="28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Q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8198" name="Text Box 101"/>
              <p:cNvSpPr txBox="1"/>
              <p:nvPr/>
            </p:nvSpPr>
            <p:spPr>
              <a:xfrm>
                <a:off x="288" y="48"/>
                <a:ext cx="432" cy="9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80000"/>
                  </a:lnSpc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0000"/>
                  </a:lnSpc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0000"/>
                  </a:lnSpc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0000"/>
                  </a:lnSpc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0000"/>
                  </a:lnSpc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199" name="Line 124"/>
              <p:cNvSpPr/>
              <p:nvPr/>
            </p:nvSpPr>
            <p:spPr>
              <a:xfrm>
                <a:off x="5136" y="1728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0" name="Line 125"/>
              <p:cNvSpPr/>
              <p:nvPr/>
            </p:nvSpPr>
            <p:spPr>
              <a:xfrm flipH="1">
                <a:off x="5088" y="1968"/>
                <a:ext cx="4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1" name="Line 126"/>
              <p:cNvSpPr/>
              <p:nvPr/>
            </p:nvSpPr>
            <p:spPr>
              <a:xfrm>
                <a:off x="5088" y="2256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2" name="Line 127"/>
              <p:cNvSpPr/>
              <p:nvPr/>
            </p:nvSpPr>
            <p:spPr>
              <a:xfrm flipV="1">
                <a:off x="5232" y="1536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3" name="Line 128"/>
              <p:cNvSpPr/>
              <p:nvPr/>
            </p:nvSpPr>
            <p:spPr>
              <a:xfrm>
                <a:off x="5088" y="259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4" name="Line 129"/>
              <p:cNvSpPr/>
              <p:nvPr/>
            </p:nvSpPr>
            <p:spPr>
              <a:xfrm flipV="1">
                <a:off x="5328" y="1344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5" name="Line 130"/>
              <p:cNvSpPr/>
              <p:nvPr/>
            </p:nvSpPr>
            <p:spPr>
              <a:xfrm>
                <a:off x="5088" y="2880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8206" name="Line 131"/>
              <p:cNvSpPr/>
              <p:nvPr/>
            </p:nvSpPr>
            <p:spPr>
              <a:xfrm flipV="1">
                <a:off x="5424" y="1152"/>
                <a:ext cx="0" cy="17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8207" name="Line 177"/>
            <p:cNvSpPr/>
            <p:nvPr/>
          </p:nvSpPr>
          <p:spPr>
            <a:xfrm>
              <a:off x="4320" y="355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208" name="Line 178"/>
            <p:cNvSpPr/>
            <p:nvPr/>
          </p:nvSpPr>
          <p:spPr>
            <a:xfrm flipH="1">
              <a:off x="576" y="3888"/>
              <a:ext cx="3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209" name="Line 179"/>
            <p:cNvSpPr/>
            <p:nvPr/>
          </p:nvSpPr>
          <p:spPr>
            <a:xfrm flipV="1">
              <a:off x="576" y="912"/>
              <a:ext cx="0" cy="29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9090" name="Group 150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89091" name="Group 5"/>
            <p:cNvGrpSpPr/>
            <p:nvPr/>
          </p:nvGrpSpPr>
          <p:grpSpPr>
            <a:xfrm>
              <a:off x="960" y="1968"/>
              <a:ext cx="3552" cy="1584"/>
              <a:chOff x="960" y="1968"/>
              <a:chExt cx="3552" cy="1584"/>
            </a:xfrm>
          </p:grpSpPr>
          <p:sp>
            <p:nvSpPr>
              <p:cNvPr id="89092" name="Line 6"/>
              <p:cNvSpPr/>
              <p:nvPr/>
            </p:nvSpPr>
            <p:spPr>
              <a:xfrm>
                <a:off x="960" y="1968"/>
                <a:ext cx="355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3" name="Line 7"/>
              <p:cNvSpPr/>
              <p:nvPr/>
            </p:nvSpPr>
            <p:spPr>
              <a:xfrm>
                <a:off x="960" y="2256"/>
                <a:ext cx="355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4" name="Line 8"/>
              <p:cNvSpPr/>
              <p:nvPr/>
            </p:nvSpPr>
            <p:spPr>
              <a:xfrm>
                <a:off x="960" y="2544"/>
                <a:ext cx="355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5" name="Line 9"/>
              <p:cNvSpPr/>
              <p:nvPr/>
            </p:nvSpPr>
            <p:spPr>
              <a:xfrm>
                <a:off x="960" y="2928"/>
                <a:ext cx="355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6" name="Line 10"/>
              <p:cNvSpPr/>
              <p:nvPr/>
            </p:nvSpPr>
            <p:spPr>
              <a:xfrm>
                <a:off x="1008" y="3168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7" name="Line 11"/>
              <p:cNvSpPr/>
              <p:nvPr/>
            </p:nvSpPr>
            <p:spPr>
              <a:xfrm>
                <a:off x="1008" y="3264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8" name="Line 12"/>
              <p:cNvSpPr/>
              <p:nvPr/>
            </p:nvSpPr>
            <p:spPr>
              <a:xfrm>
                <a:off x="1008" y="3360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099" name="Line 13"/>
              <p:cNvSpPr/>
              <p:nvPr/>
            </p:nvSpPr>
            <p:spPr>
              <a:xfrm>
                <a:off x="1008" y="3456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0" name="Line 14"/>
              <p:cNvSpPr/>
              <p:nvPr/>
            </p:nvSpPr>
            <p:spPr>
              <a:xfrm>
                <a:off x="1008" y="3552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9101" name="Group 15"/>
            <p:cNvGrpSpPr/>
            <p:nvPr/>
          </p:nvGrpSpPr>
          <p:grpSpPr>
            <a:xfrm>
              <a:off x="576" y="96"/>
              <a:ext cx="4848" cy="1680"/>
              <a:chOff x="576" y="96"/>
              <a:chExt cx="4848" cy="1680"/>
            </a:xfrm>
          </p:grpSpPr>
          <p:sp>
            <p:nvSpPr>
              <p:cNvPr id="89102" name="Line 16"/>
              <p:cNvSpPr/>
              <p:nvPr/>
            </p:nvSpPr>
            <p:spPr>
              <a:xfrm>
                <a:off x="912" y="96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3" name="Line 17"/>
              <p:cNvSpPr/>
              <p:nvPr/>
            </p:nvSpPr>
            <p:spPr>
              <a:xfrm>
                <a:off x="912" y="96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4" name="Line 18"/>
              <p:cNvSpPr/>
              <p:nvPr/>
            </p:nvSpPr>
            <p:spPr>
              <a:xfrm flipH="1">
                <a:off x="912" y="144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5" name="Oval 19"/>
              <p:cNvSpPr/>
              <p:nvPr/>
            </p:nvSpPr>
            <p:spPr>
              <a:xfrm>
                <a:off x="960" y="14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06" name="Line 20"/>
              <p:cNvSpPr/>
              <p:nvPr/>
            </p:nvSpPr>
            <p:spPr>
              <a:xfrm flipH="1">
                <a:off x="576" y="144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7" name="Line 21"/>
              <p:cNvSpPr/>
              <p:nvPr/>
            </p:nvSpPr>
            <p:spPr>
              <a:xfrm>
                <a:off x="960" y="96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8" name="Line 22"/>
              <p:cNvSpPr/>
              <p:nvPr/>
            </p:nvSpPr>
            <p:spPr>
              <a:xfrm>
                <a:off x="1008" y="192"/>
                <a:ext cx="326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09" name="Line 23"/>
              <p:cNvSpPr/>
              <p:nvPr/>
            </p:nvSpPr>
            <p:spPr>
              <a:xfrm>
                <a:off x="912" y="288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0" name="Line 24"/>
              <p:cNvSpPr/>
              <p:nvPr/>
            </p:nvSpPr>
            <p:spPr>
              <a:xfrm>
                <a:off x="912" y="288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1" name="Line 25"/>
              <p:cNvSpPr/>
              <p:nvPr/>
            </p:nvSpPr>
            <p:spPr>
              <a:xfrm flipH="1">
                <a:off x="912" y="336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2" name="Oval 26"/>
              <p:cNvSpPr/>
              <p:nvPr/>
            </p:nvSpPr>
            <p:spPr>
              <a:xfrm>
                <a:off x="960" y="336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13" name="Line 27"/>
              <p:cNvSpPr/>
              <p:nvPr/>
            </p:nvSpPr>
            <p:spPr>
              <a:xfrm flipH="1">
                <a:off x="576" y="336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4" name="Line 28"/>
              <p:cNvSpPr/>
              <p:nvPr/>
            </p:nvSpPr>
            <p:spPr>
              <a:xfrm>
                <a:off x="960" y="288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5" name="Line 29"/>
              <p:cNvSpPr/>
              <p:nvPr/>
            </p:nvSpPr>
            <p:spPr>
              <a:xfrm>
                <a:off x="1008" y="384"/>
                <a:ext cx="326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6" name="Line 30"/>
              <p:cNvSpPr/>
              <p:nvPr/>
            </p:nvSpPr>
            <p:spPr>
              <a:xfrm>
                <a:off x="912" y="480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7" name="Line 31"/>
              <p:cNvSpPr/>
              <p:nvPr/>
            </p:nvSpPr>
            <p:spPr>
              <a:xfrm>
                <a:off x="912" y="480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8" name="Line 32"/>
              <p:cNvSpPr/>
              <p:nvPr/>
            </p:nvSpPr>
            <p:spPr>
              <a:xfrm flipH="1">
                <a:off x="912" y="528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19" name="Oval 33"/>
              <p:cNvSpPr/>
              <p:nvPr/>
            </p:nvSpPr>
            <p:spPr>
              <a:xfrm>
                <a:off x="960" y="528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20" name="Line 34"/>
              <p:cNvSpPr/>
              <p:nvPr/>
            </p:nvSpPr>
            <p:spPr>
              <a:xfrm flipH="1">
                <a:off x="576" y="528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1" name="Line 35"/>
              <p:cNvSpPr/>
              <p:nvPr/>
            </p:nvSpPr>
            <p:spPr>
              <a:xfrm>
                <a:off x="960" y="480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2" name="Line 36"/>
              <p:cNvSpPr/>
              <p:nvPr/>
            </p:nvSpPr>
            <p:spPr>
              <a:xfrm>
                <a:off x="1008" y="576"/>
                <a:ext cx="326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3" name="Line 37"/>
              <p:cNvSpPr/>
              <p:nvPr/>
            </p:nvSpPr>
            <p:spPr>
              <a:xfrm>
                <a:off x="912" y="672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4" name="Line 38"/>
              <p:cNvSpPr/>
              <p:nvPr/>
            </p:nvSpPr>
            <p:spPr>
              <a:xfrm>
                <a:off x="912" y="672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5" name="Line 39"/>
              <p:cNvSpPr/>
              <p:nvPr/>
            </p:nvSpPr>
            <p:spPr>
              <a:xfrm flipH="1">
                <a:off x="912" y="720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6" name="Oval 40"/>
              <p:cNvSpPr/>
              <p:nvPr/>
            </p:nvSpPr>
            <p:spPr>
              <a:xfrm>
                <a:off x="960" y="720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27" name="Line 41"/>
              <p:cNvSpPr/>
              <p:nvPr/>
            </p:nvSpPr>
            <p:spPr>
              <a:xfrm flipH="1">
                <a:off x="576" y="720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8" name="Line 42"/>
              <p:cNvSpPr/>
              <p:nvPr/>
            </p:nvSpPr>
            <p:spPr>
              <a:xfrm>
                <a:off x="960" y="672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29" name="Line 43"/>
              <p:cNvSpPr/>
              <p:nvPr/>
            </p:nvSpPr>
            <p:spPr>
              <a:xfrm>
                <a:off x="1008" y="768"/>
                <a:ext cx="326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0" name="Line 44"/>
              <p:cNvSpPr/>
              <p:nvPr/>
            </p:nvSpPr>
            <p:spPr>
              <a:xfrm>
                <a:off x="4800" y="1104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1" name="Line 45"/>
              <p:cNvSpPr/>
              <p:nvPr/>
            </p:nvSpPr>
            <p:spPr>
              <a:xfrm>
                <a:off x="4656" y="1152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2" name="Line 46"/>
              <p:cNvSpPr/>
              <p:nvPr/>
            </p:nvSpPr>
            <p:spPr>
              <a:xfrm flipH="1">
                <a:off x="4656" y="1104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3" name="Oval 47"/>
              <p:cNvSpPr/>
              <p:nvPr/>
            </p:nvSpPr>
            <p:spPr>
              <a:xfrm>
                <a:off x="4704" y="1152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34" name="Line 48"/>
              <p:cNvSpPr/>
              <p:nvPr/>
            </p:nvSpPr>
            <p:spPr>
              <a:xfrm flipH="1">
                <a:off x="4800" y="1152"/>
                <a:ext cx="62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5" name="Line 49"/>
              <p:cNvSpPr/>
              <p:nvPr/>
            </p:nvSpPr>
            <p:spPr>
              <a:xfrm>
                <a:off x="960" y="1104"/>
                <a:ext cx="379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6" name="Line 50"/>
              <p:cNvSpPr/>
              <p:nvPr/>
            </p:nvSpPr>
            <p:spPr>
              <a:xfrm>
                <a:off x="1008" y="1200"/>
                <a:ext cx="374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7" name="Line 51"/>
              <p:cNvSpPr/>
              <p:nvPr/>
            </p:nvSpPr>
            <p:spPr>
              <a:xfrm>
                <a:off x="960" y="1296"/>
                <a:ext cx="379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8" name="Line 52"/>
              <p:cNvSpPr/>
              <p:nvPr/>
            </p:nvSpPr>
            <p:spPr>
              <a:xfrm>
                <a:off x="1008" y="1392"/>
                <a:ext cx="374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9" name="Line 53"/>
              <p:cNvSpPr/>
              <p:nvPr/>
            </p:nvSpPr>
            <p:spPr>
              <a:xfrm>
                <a:off x="960" y="1488"/>
                <a:ext cx="379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0" name="Line 54"/>
              <p:cNvSpPr/>
              <p:nvPr/>
            </p:nvSpPr>
            <p:spPr>
              <a:xfrm>
                <a:off x="1008" y="1584"/>
                <a:ext cx="374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1" name="Line 55"/>
              <p:cNvSpPr/>
              <p:nvPr/>
            </p:nvSpPr>
            <p:spPr>
              <a:xfrm>
                <a:off x="960" y="1680"/>
                <a:ext cx="379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2" name="Line 56"/>
              <p:cNvSpPr/>
              <p:nvPr/>
            </p:nvSpPr>
            <p:spPr>
              <a:xfrm>
                <a:off x="1008" y="1776"/>
                <a:ext cx="374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3" name="Line 57"/>
              <p:cNvSpPr/>
              <p:nvPr/>
            </p:nvSpPr>
            <p:spPr>
              <a:xfrm>
                <a:off x="912" y="864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4" name="Line 58"/>
              <p:cNvSpPr/>
              <p:nvPr/>
            </p:nvSpPr>
            <p:spPr>
              <a:xfrm>
                <a:off x="912" y="864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5" name="Line 59"/>
              <p:cNvSpPr/>
              <p:nvPr/>
            </p:nvSpPr>
            <p:spPr>
              <a:xfrm flipH="1">
                <a:off x="912" y="912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6" name="Oval 60"/>
              <p:cNvSpPr/>
              <p:nvPr/>
            </p:nvSpPr>
            <p:spPr>
              <a:xfrm>
                <a:off x="960" y="912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47" name="Line 61"/>
              <p:cNvSpPr/>
              <p:nvPr/>
            </p:nvSpPr>
            <p:spPr>
              <a:xfrm flipH="1">
                <a:off x="576" y="912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8" name="Line 62"/>
              <p:cNvSpPr/>
              <p:nvPr/>
            </p:nvSpPr>
            <p:spPr>
              <a:xfrm>
                <a:off x="960" y="864"/>
                <a:ext cx="331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49" name="Line 63"/>
              <p:cNvSpPr/>
              <p:nvPr/>
            </p:nvSpPr>
            <p:spPr>
              <a:xfrm>
                <a:off x="1008" y="960"/>
                <a:ext cx="3264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0" name="Line 64"/>
              <p:cNvSpPr/>
              <p:nvPr/>
            </p:nvSpPr>
            <p:spPr>
              <a:xfrm>
                <a:off x="4800" y="1296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1" name="Line 65"/>
              <p:cNvSpPr/>
              <p:nvPr/>
            </p:nvSpPr>
            <p:spPr>
              <a:xfrm>
                <a:off x="4656" y="1344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2" name="Line 66"/>
              <p:cNvSpPr/>
              <p:nvPr/>
            </p:nvSpPr>
            <p:spPr>
              <a:xfrm flipH="1">
                <a:off x="4656" y="1296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3" name="Oval 67"/>
              <p:cNvSpPr/>
              <p:nvPr/>
            </p:nvSpPr>
            <p:spPr>
              <a:xfrm>
                <a:off x="4704" y="134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54" name="Line 68"/>
              <p:cNvSpPr/>
              <p:nvPr/>
            </p:nvSpPr>
            <p:spPr>
              <a:xfrm flipH="1">
                <a:off x="4800" y="1344"/>
                <a:ext cx="528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5" name="Line 69"/>
              <p:cNvSpPr/>
              <p:nvPr/>
            </p:nvSpPr>
            <p:spPr>
              <a:xfrm>
                <a:off x="4800" y="1488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6" name="Line 70"/>
              <p:cNvSpPr/>
              <p:nvPr/>
            </p:nvSpPr>
            <p:spPr>
              <a:xfrm>
                <a:off x="4656" y="1536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7" name="Line 71"/>
              <p:cNvSpPr/>
              <p:nvPr/>
            </p:nvSpPr>
            <p:spPr>
              <a:xfrm flipH="1">
                <a:off x="4656" y="1488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58" name="Oval 72"/>
              <p:cNvSpPr/>
              <p:nvPr/>
            </p:nvSpPr>
            <p:spPr>
              <a:xfrm>
                <a:off x="4704" y="1536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59" name="Line 73"/>
              <p:cNvSpPr/>
              <p:nvPr/>
            </p:nvSpPr>
            <p:spPr>
              <a:xfrm flipH="1">
                <a:off x="4800" y="1536"/>
                <a:ext cx="432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0" name="Line 74"/>
              <p:cNvSpPr/>
              <p:nvPr/>
            </p:nvSpPr>
            <p:spPr>
              <a:xfrm>
                <a:off x="4800" y="1680"/>
                <a:ext cx="0" cy="96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1" name="Line 75"/>
              <p:cNvSpPr/>
              <p:nvPr/>
            </p:nvSpPr>
            <p:spPr>
              <a:xfrm>
                <a:off x="4656" y="1728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2" name="Line 76"/>
              <p:cNvSpPr/>
              <p:nvPr/>
            </p:nvSpPr>
            <p:spPr>
              <a:xfrm flipH="1">
                <a:off x="4656" y="1680"/>
                <a:ext cx="144" cy="48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3" name="Oval 77"/>
              <p:cNvSpPr/>
              <p:nvPr/>
            </p:nvSpPr>
            <p:spPr>
              <a:xfrm>
                <a:off x="4704" y="1728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64" name="Line 78"/>
              <p:cNvSpPr/>
              <p:nvPr/>
            </p:nvSpPr>
            <p:spPr>
              <a:xfrm flipH="1">
                <a:off x="4800" y="1728"/>
                <a:ext cx="336" cy="0"/>
              </a:xfrm>
              <a:prstGeom prst="line">
                <a:avLst/>
              </a:prstGeom>
              <a:ln w="9525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9165" name="Group 79"/>
            <p:cNvGrpSpPr/>
            <p:nvPr/>
          </p:nvGrpSpPr>
          <p:grpSpPr>
            <a:xfrm>
              <a:off x="1152" y="48"/>
              <a:ext cx="3024" cy="3648"/>
              <a:chOff x="1152" y="48"/>
              <a:chExt cx="3024" cy="3648"/>
            </a:xfrm>
          </p:grpSpPr>
          <p:sp>
            <p:nvSpPr>
              <p:cNvPr id="89166" name="Line 80"/>
              <p:cNvSpPr/>
              <p:nvPr/>
            </p:nvSpPr>
            <p:spPr>
              <a:xfrm>
                <a:off x="1152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7" name="Line 81"/>
              <p:cNvSpPr/>
              <p:nvPr/>
            </p:nvSpPr>
            <p:spPr>
              <a:xfrm>
                <a:off x="1296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8" name="Line 82"/>
              <p:cNvSpPr/>
              <p:nvPr/>
            </p:nvSpPr>
            <p:spPr>
              <a:xfrm>
                <a:off x="1440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69" name="Line 83"/>
              <p:cNvSpPr/>
              <p:nvPr/>
            </p:nvSpPr>
            <p:spPr>
              <a:xfrm>
                <a:off x="1584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0" name="Line 84"/>
              <p:cNvSpPr/>
              <p:nvPr/>
            </p:nvSpPr>
            <p:spPr>
              <a:xfrm>
                <a:off x="1728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1" name="Line 85"/>
              <p:cNvSpPr/>
              <p:nvPr/>
            </p:nvSpPr>
            <p:spPr>
              <a:xfrm>
                <a:off x="1872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2" name="Line 86"/>
              <p:cNvSpPr/>
              <p:nvPr/>
            </p:nvSpPr>
            <p:spPr>
              <a:xfrm>
                <a:off x="2016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3" name="Line 87"/>
              <p:cNvSpPr/>
              <p:nvPr/>
            </p:nvSpPr>
            <p:spPr>
              <a:xfrm>
                <a:off x="2160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4" name="Line 88"/>
              <p:cNvSpPr/>
              <p:nvPr/>
            </p:nvSpPr>
            <p:spPr>
              <a:xfrm>
                <a:off x="2304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5" name="Line 89"/>
              <p:cNvSpPr/>
              <p:nvPr/>
            </p:nvSpPr>
            <p:spPr>
              <a:xfrm>
                <a:off x="2448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6" name="Line 90"/>
              <p:cNvSpPr/>
              <p:nvPr/>
            </p:nvSpPr>
            <p:spPr>
              <a:xfrm>
                <a:off x="2592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7" name="Line 91"/>
              <p:cNvSpPr/>
              <p:nvPr/>
            </p:nvSpPr>
            <p:spPr>
              <a:xfrm>
                <a:off x="2736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8" name="Line 92"/>
              <p:cNvSpPr/>
              <p:nvPr/>
            </p:nvSpPr>
            <p:spPr>
              <a:xfrm>
                <a:off x="2880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79" name="Line 93"/>
              <p:cNvSpPr/>
              <p:nvPr/>
            </p:nvSpPr>
            <p:spPr>
              <a:xfrm>
                <a:off x="3024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0" name="Line 94"/>
              <p:cNvSpPr/>
              <p:nvPr/>
            </p:nvSpPr>
            <p:spPr>
              <a:xfrm>
                <a:off x="3168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1" name="Line 95"/>
              <p:cNvSpPr/>
              <p:nvPr/>
            </p:nvSpPr>
            <p:spPr>
              <a:xfrm>
                <a:off x="3312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2" name="Line 96"/>
              <p:cNvSpPr/>
              <p:nvPr/>
            </p:nvSpPr>
            <p:spPr>
              <a:xfrm>
                <a:off x="3456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3" name="Line 97"/>
              <p:cNvSpPr/>
              <p:nvPr/>
            </p:nvSpPr>
            <p:spPr>
              <a:xfrm>
                <a:off x="3600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4" name="Line 98"/>
              <p:cNvSpPr/>
              <p:nvPr/>
            </p:nvSpPr>
            <p:spPr>
              <a:xfrm>
                <a:off x="3744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5" name="Line 99"/>
              <p:cNvSpPr/>
              <p:nvPr/>
            </p:nvSpPr>
            <p:spPr>
              <a:xfrm>
                <a:off x="3888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6" name="Line 100"/>
              <p:cNvSpPr/>
              <p:nvPr/>
            </p:nvSpPr>
            <p:spPr>
              <a:xfrm>
                <a:off x="4032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87" name="Line 101"/>
              <p:cNvSpPr/>
              <p:nvPr/>
            </p:nvSpPr>
            <p:spPr>
              <a:xfrm>
                <a:off x="4176" y="48"/>
                <a:ext cx="0" cy="3648"/>
              </a:xfrm>
              <a:prstGeom prst="line">
                <a:avLst/>
              </a:prstGeom>
              <a:ln w="9525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99142" name="Rectangle 102"/>
            <p:cNvSpPr>
              <a:spLocks noChangeArrowheads="1"/>
            </p:cNvSpPr>
            <p:nvPr/>
          </p:nvSpPr>
          <p:spPr bwMode="auto">
            <a:xfrm>
              <a:off x="4320" y="3073"/>
              <a:ext cx="289" cy="58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9189" name="Group 103"/>
            <p:cNvGrpSpPr/>
            <p:nvPr/>
          </p:nvGrpSpPr>
          <p:grpSpPr>
            <a:xfrm>
              <a:off x="1104" y="1056"/>
              <a:ext cx="528" cy="2448"/>
              <a:chOff x="1104" y="1056"/>
              <a:chExt cx="528" cy="2448"/>
            </a:xfrm>
          </p:grpSpPr>
          <p:sp>
            <p:nvSpPr>
              <p:cNvPr id="89190" name="Oval 104"/>
              <p:cNvSpPr/>
              <p:nvPr/>
            </p:nvSpPr>
            <p:spPr>
              <a:xfrm>
                <a:off x="1104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1" name="Oval 105"/>
              <p:cNvSpPr/>
              <p:nvPr/>
            </p:nvSpPr>
            <p:spPr>
              <a:xfrm>
                <a:off x="1104" y="312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2" name="Oval 106"/>
              <p:cNvSpPr/>
              <p:nvPr/>
            </p:nvSpPr>
            <p:spPr>
              <a:xfrm>
                <a:off x="1248" y="12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3" name="Oval 107"/>
              <p:cNvSpPr/>
              <p:nvPr/>
            </p:nvSpPr>
            <p:spPr>
              <a:xfrm>
                <a:off x="1248" y="32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4" name="Oval 108"/>
              <p:cNvSpPr/>
              <p:nvPr/>
            </p:nvSpPr>
            <p:spPr>
              <a:xfrm>
                <a:off x="1392" y="14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5" name="Oval 109"/>
              <p:cNvSpPr/>
              <p:nvPr/>
            </p:nvSpPr>
            <p:spPr>
              <a:xfrm>
                <a:off x="1392" y="33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6" name="Oval 110"/>
              <p:cNvSpPr/>
              <p:nvPr/>
            </p:nvSpPr>
            <p:spPr>
              <a:xfrm>
                <a:off x="1536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197" name="Oval 111"/>
              <p:cNvSpPr/>
              <p:nvPr/>
            </p:nvSpPr>
            <p:spPr>
              <a:xfrm>
                <a:off x="1536" y="340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198" name="Group 112"/>
            <p:cNvGrpSpPr/>
            <p:nvPr/>
          </p:nvGrpSpPr>
          <p:grpSpPr>
            <a:xfrm>
              <a:off x="1680" y="48"/>
              <a:ext cx="1104" cy="768"/>
              <a:chOff x="1680" y="48"/>
              <a:chExt cx="1104" cy="768"/>
            </a:xfrm>
          </p:grpSpPr>
          <p:sp>
            <p:nvSpPr>
              <p:cNvPr id="89199" name="Oval 113"/>
              <p:cNvSpPr/>
              <p:nvPr/>
            </p:nvSpPr>
            <p:spPr>
              <a:xfrm>
                <a:off x="1680" y="1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0" name="Oval 114"/>
              <p:cNvSpPr/>
              <p:nvPr/>
            </p:nvSpPr>
            <p:spPr>
              <a:xfrm>
                <a:off x="1824" y="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1" name="Oval 115"/>
              <p:cNvSpPr/>
              <p:nvPr/>
            </p:nvSpPr>
            <p:spPr>
              <a:xfrm>
                <a:off x="1968" y="33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2" name="Oval 116"/>
              <p:cNvSpPr/>
              <p:nvPr/>
            </p:nvSpPr>
            <p:spPr>
              <a:xfrm>
                <a:off x="2112" y="2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3" name="Oval 117"/>
              <p:cNvSpPr/>
              <p:nvPr/>
            </p:nvSpPr>
            <p:spPr>
              <a:xfrm>
                <a:off x="2256" y="52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4" name="Oval 118"/>
              <p:cNvSpPr/>
              <p:nvPr/>
            </p:nvSpPr>
            <p:spPr>
              <a:xfrm>
                <a:off x="2400" y="4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5" name="Oval 119"/>
              <p:cNvSpPr/>
              <p:nvPr/>
            </p:nvSpPr>
            <p:spPr>
              <a:xfrm>
                <a:off x="2544" y="72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6" name="Oval 120"/>
              <p:cNvSpPr/>
              <p:nvPr/>
            </p:nvSpPr>
            <p:spPr>
              <a:xfrm>
                <a:off x="2688" y="62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207" name="Group 121"/>
            <p:cNvGrpSpPr/>
            <p:nvPr/>
          </p:nvGrpSpPr>
          <p:grpSpPr>
            <a:xfrm>
              <a:off x="288" y="48"/>
              <a:ext cx="5136" cy="3840"/>
              <a:chOff x="288" y="48"/>
              <a:chExt cx="5136" cy="3840"/>
            </a:xfrm>
          </p:grpSpPr>
          <p:grpSp>
            <p:nvGrpSpPr>
              <p:cNvPr id="89208" name="Group 122"/>
              <p:cNvGrpSpPr/>
              <p:nvPr/>
            </p:nvGrpSpPr>
            <p:grpSpPr>
              <a:xfrm>
                <a:off x="288" y="48"/>
                <a:ext cx="5136" cy="2976"/>
                <a:chOff x="288" y="48"/>
                <a:chExt cx="5136" cy="2976"/>
              </a:xfrm>
            </p:grpSpPr>
            <p:grpSp>
              <p:nvGrpSpPr>
                <p:cNvPr id="89209" name="Group 123"/>
                <p:cNvGrpSpPr/>
                <p:nvPr/>
              </p:nvGrpSpPr>
              <p:grpSpPr>
                <a:xfrm>
                  <a:off x="4512" y="1824"/>
                  <a:ext cx="672" cy="1200"/>
                  <a:chOff x="4992" y="2112"/>
                  <a:chExt cx="672" cy="1200"/>
                </a:xfrm>
              </p:grpSpPr>
              <p:sp>
                <p:nvSpPr>
                  <p:cNvPr id="89210" name="Rectangle 124"/>
                  <p:cNvSpPr/>
                  <p:nvPr/>
                </p:nvSpPr>
                <p:spPr>
                  <a:xfrm>
                    <a:off x="4992" y="2112"/>
                    <a:ext cx="576" cy="1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11" name="Line 125"/>
                  <p:cNvSpPr/>
                  <p:nvPr/>
                </p:nvSpPr>
                <p:spPr>
                  <a:xfrm>
                    <a:off x="4992" y="2400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12" name="Line 126"/>
                  <p:cNvSpPr/>
                  <p:nvPr/>
                </p:nvSpPr>
                <p:spPr>
                  <a:xfrm>
                    <a:off x="4992" y="2736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13" name="Text Box 127"/>
                  <p:cNvSpPr txBox="1"/>
                  <p:nvPr/>
                </p:nvSpPr>
                <p:spPr>
                  <a:xfrm>
                    <a:off x="4992" y="2112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14" name="Text Box 128"/>
                  <p:cNvSpPr txBox="1"/>
                  <p:nvPr/>
                </p:nvSpPr>
                <p:spPr>
                  <a:xfrm>
                    <a:off x="5328" y="2112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15" name="Line 129"/>
                  <p:cNvSpPr/>
                  <p:nvPr/>
                </p:nvSpPr>
                <p:spPr>
                  <a:xfrm>
                    <a:off x="4992" y="2736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16" name="Text Box 130"/>
                  <p:cNvSpPr txBox="1"/>
                  <p:nvPr/>
                </p:nvSpPr>
                <p:spPr>
                  <a:xfrm>
                    <a:off x="4992" y="2400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17" name="Text Box 131"/>
                  <p:cNvSpPr txBox="1"/>
                  <p:nvPr/>
                </p:nvSpPr>
                <p:spPr>
                  <a:xfrm>
                    <a:off x="5376" y="2400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18" name="Line 132"/>
                  <p:cNvSpPr/>
                  <p:nvPr/>
                </p:nvSpPr>
                <p:spPr>
                  <a:xfrm>
                    <a:off x="4992" y="3024"/>
                    <a:ext cx="57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219" name="Text Box 133"/>
                  <p:cNvSpPr txBox="1"/>
                  <p:nvPr/>
                </p:nvSpPr>
                <p:spPr>
                  <a:xfrm>
                    <a:off x="4992" y="2736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20" name="Text Box 134"/>
                  <p:cNvSpPr txBox="1"/>
                  <p:nvPr/>
                </p:nvSpPr>
                <p:spPr>
                  <a:xfrm>
                    <a:off x="5376" y="2736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21" name="Text Box 135"/>
                  <p:cNvSpPr txBox="1"/>
                  <p:nvPr/>
                </p:nvSpPr>
                <p:spPr>
                  <a:xfrm>
                    <a:off x="4992" y="3024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222" name="Text Box 136"/>
                  <p:cNvSpPr txBox="1"/>
                  <p:nvPr/>
                </p:nvSpPr>
                <p:spPr>
                  <a:xfrm>
                    <a:off x="5376" y="3024"/>
                    <a:ext cx="288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89223" name="Text Box 137"/>
                <p:cNvSpPr txBox="1"/>
                <p:nvPr/>
              </p:nvSpPr>
              <p:spPr>
                <a:xfrm>
                  <a:off x="288" y="48"/>
                  <a:ext cx="432" cy="97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lnSpc>
                      <a:spcPct val="80000"/>
                    </a:lnSpc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>
                    <a:lnSpc>
                      <a:spcPct val="80000"/>
                    </a:lnSpc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>
                    <a:lnSpc>
                      <a:spcPct val="80000"/>
                    </a:lnSpc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>
                    <a:lnSpc>
                      <a:spcPct val="80000"/>
                    </a:lnSpc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>
                    <a:lnSpc>
                      <a:spcPct val="80000"/>
                    </a:lnSpc>
                    <a:buClrTx/>
                    <a:buFontTx/>
                  </a:pP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9224" name="Line 138"/>
                <p:cNvSpPr/>
                <p:nvPr/>
              </p:nvSpPr>
              <p:spPr>
                <a:xfrm>
                  <a:off x="5136" y="1728"/>
                  <a:ext cx="0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25" name="Line 139"/>
                <p:cNvSpPr/>
                <p:nvPr/>
              </p:nvSpPr>
              <p:spPr>
                <a:xfrm flipH="1">
                  <a:off x="5088" y="1968"/>
                  <a:ext cx="4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26" name="Line 140"/>
                <p:cNvSpPr/>
                <p:nvPr/>
              </p:nvSpPr>
              <p:spPr>
                <a:xfrm>
                  <a:off x="5088" y="2256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27" name="Line 141"/>
                <p:cNvSpPr/>
                <p:nvPr/>
              </p:nvSpPr>
              <p:spPr>
                <a:xfrm flipV="1">
                  <a:off x="5232" y="1536"/>
                  <a:ext cx="0" cy="72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28" name="Line 142"/>
                <p:cNvSpPr/>
                <p:nvPr/>
              </p:nvSpPr>
              <p:spPr>
                <a:xfrm>
                  <a:off x="5088" y="2592"/>
                  <a:ext cx="2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29" name="Line 143"/>
                <p:cNvSpPr/>
                <p:nvPr/>
              </p:nvSpPr>
              <p:spPr>
                <a:xfrm flipV="1">
                  <a:off x="5328" y="1344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30" name="Line 144"/>
                <p:cNvSpPr/>
                <p:nvPr/>
              </p:nvSpPr>
              <p:spPr>
                <a:xfrm>
                  <a:off x="5088" y="288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9231" name="Line 145"/>
                <p:cNvSpPr/>
                <p:nvPr/>
              </p:nvSpPr>
              <p:spPr>
                <a:xfrm flipV="1">
                  <a:off x="5424" y="1152"/>
                  <a:ext cx="0" cy="172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9232" name="Line 146"/>
              <p:cNvSpPr/>
              <p:nvPr/>
            </p:nvSpPr>
            <p:spPr>
              <a:xfrm>
                <a:off x="4320" y="355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233" name="Line 147"/>
              <p:cNvSpPr/>
              <p:nvPr/>
            </p:nvSpPr>
            <p:spPr>
              <a:xfrm flipH="1">
                <a:off x="576" y="3888"/>
                <a:ext cx="37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234" name="Line 148"/>
              <p:cNvSpPr/>
              <p:nvPr/>
            </p:nvSpPr>
            <p:spPr>
              <a:xfrm flipV="1">
                <a:off x="576" y="912"/>
                <a:ext cx="0" cy="29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99191" name="Rectangle 151"/>
          <p:cNvSpPr>
            <a:spLocks noChangeArrowheads="1"/>
          </p:cNvSpPr>
          <p:nvPr/>
        </p:nvSpPr>
        <p:spPr bwMode="auto">
          <a:xfrm>
            <a:off x="7696200" y="1752600"/>
            <a:ext cx="685800" cy="1044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400" b="0" i="0" u="none" strike="noStrike" kern="1200" cap="none" spc="0" normalizeH="0" baseline="-2500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9195" name="Group 155"/>
          <p:cNvGrpSpPr/>
          <p:nvPr/>
        </p:nvGrpSpPr>
        <p:grpSpPr>
          <a:xfrm>
            <a:off x="6553200" y="1295400"/>
            <a:ext cx="152400" cy="1600200"/>
            <a:chOff x="4128" y="816"/>
            <a:chExt cx="96" cy="1008"/>
          </a:xfrm>
        </p:grpSpPr>
        <p:sp>
          <p:nvSpPr>
            <p:cNvPr id="89237" name="Oval 152"/>
            <p:cNvSpPr/>
            <p:nvPr/>
          </p:nvSpPr>
          <p:spPr>
            <a:xfrm>
              <a:off x="4128" y="17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238" name="Oval 154"/>
            <p:cNvSpPr/>
            <p:nvPr/>
          </p:nvSpPr>
          <p:spPr>
            <a:xfrm>
              <a:off x="412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99196" name="Oval 156"/>
          <p:cNvSpPr/>
          <p:nvPr/>
        </p:nvSpPr>
        <p:spPr>
          <a:xfrm>
            <a:off x="65532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" name="文本框 15"/>
          <p:cNvSpPr txBox="1"/>
          <p:nvPr/>
        </p:nvSpPr>
        <p:spPr>
          <a:xfrm>
            <a:off x="982663" y="6229350"/>
            <a:ext cx="1658937" cy="469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9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9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9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9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196" grpId="0" animBg="1"/>
      <p:bldP spid="15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0114" name="Group 155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90115" name="Group 4"/>
            <p:cNvGrpSpPr/>
            <p:nvPr/>
          </p:nvGrpSpPr>
          <p:grpSpPr>
            <a:xfrm>
              <a:off x="288" y="48"/>
              <a:ext cx="5136" cy="3840"/>
              <a:chOff x="288" y="48"/>
              <a:chExt cx="5136" cy="3840"/>
            </a:xfrm>
          </p:grpSpPr>
          <p:grpSp>
            <p:nvGrpSpPr>
              <p:cNvPr id="90116" name="Group 5"/>
              <p:cNvGrpSpPr/>
              <p:nvPr/>
            </p:nvGrpSpPr>
            <p:grpSpPr>
              <a:xfrm>
                <a:off x="960" y="1968"/>
                <a:ext cx="3552" cy="1584"/>
                <a:chOff x="960" y="1968"/>
                <a:chExt cx="3552" cy="1584"/>
              </a:xfrm>
            </p:grpSpPr>
            <p:sp>
              <p:nvSpPr>
                <p:cNvPr id="90117" name="Line 6"/>
                <p:cNvSpPr/>
                <p:nvPr/>
              </p:nvSpPr>
              <p:spPr>
                <a:xfrm>
                  <a:off x="960" y="1968"/>
                  <a:ext cx="355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18" name="Line 7"/>
                <p:cNvSpPr/>
                <p:nvPr/>
              </p:nvSpPr>
              <p:spPr>
                <a:xfrm>
                  <a:off x="960" y="2256"/>
                  <a:ext cx="355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19" name="Line 8"/>
                <p:cNvSpPr/>
                <p:nvPr/>
              </p:nvSpPr>
              <p:spPr>
                <a:xfrm>
                  <a:off x="960" y="2544"/>
                  <a:ext cx="355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0" name="Line 9"/>
                <p:cNvSpPr/>
                <p:nvPr/>
              </p:nvSpPr>
              <p:spPr>
                <a:xfrm>
                  <a:off x="960" y="2928"/>
                  <a:ext cx="355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1" name="Line 10"/>
                <p:cNvSpPr/>
                <p:nvPr/>
              </p:nvSpPr>
              <p:spPr>
                <a:xfrm>
                  <a:off x="1008" y="3168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2" name="Line 11"/>
                <p:cNvSpPr/>
                <p:nvPr/>
              </p:nvSpPr>
              <p:spPr>
                <a:xfrm>
                  <a:off x="1008" y="3264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3" name="Line 12"/>
                <p:cNvSpPr/>
                <p:nvPr/>
              </p:nvSpPr>
              <p:spPr>
                <a:xfrm>
                  <a:off x="1008" y="3360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4" name="Line 13"/>
                <p:cNvSpPr/>
                <p:nvPr/>
              </p:nvSpPr>
              <p:spPr>
                <a:xfrm>
                  <a:off x="1008" y="3456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5" name="Line 14"/>
                <p:cNvSpPr/>
                <p:nvPr/>
              </p:nvSpPr>
              <p:spPr>
                <a:xfrm>
                  <a:off x="1008" y="3552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0126" name="Group 15"/>
              <p:cNvGrpSpPr/>
              <p:nvPr/>
            </p:nvGrpSpPr>
            <p:grpSpPr>
              <a:xfrm>
                <a:off x="576" y="96"/>
                <a:ext cx="4848" cy="1680"/>
                <a:chOff x="576" y="96"/>
                <a:chExt cx="4848" cy="1680"/>
              </a:xfrm>
            </p:grpSpPr>
            <p:sp>
              <p:nvSpPr>
                <p:cNvPr id="90127" name="Line 16"/>
                <p:cNvSpPr/>
                <p:nvPr/>
              </p:nvSpPr>
              <p:spPr>
                <a:xfrm>
                  <a:off x="912" y="96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8" name="Line 17"/>
                <p:cNvSpPr/>
                <p:nvPr/>
              </p:nvSpPr>
              <p:spPr>
                <a:xfrm>
                  <a:off x="912" y="96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29" name="Line 18"/>
                <p:cNvSpPr/>
                <p:nvPr/>
              </p:nvSpPr>
              <p:spPr>
                <a:xfrm flipH="1">
                  <a:off x="912" y="144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0" name="Oval 19"/>
                <p:cNvSpPr/>
                <p:nvPr/>
              </p:nvSpPr>
              <p:spPr>
                <a:xfrm>
                  <a:off x="960" y="144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31" name="Line 20"/>
                <p:cNvSpPr/>
                <p:nvPr/>
              </p:nvSpPr>
              <p:spPr>
                <a:xfrm flipH="1">
                  <a:off x="576" y="144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2" name="Line 21"/>
                <p:cNvSpPr/>
                <p:nvPr/>
              </p:nvSpPr>
              <p:spPr>
                <a:xfrm>
                  <a:off x="960" y="96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3" name="Line 22"/>
                <p:cNvSpPr/>
                <p:nvPr/>
              </p:nvSpPr>
              <p:spPr>
                <a:xfrm>
                  <a:off x="1008" y="192"/>
                  <a:ext cx="326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4" name="Line 23"/>
                <p:cNvSpPr/>
                <p:nvPr/>
              </p:nvSpPr>
              <p:spPr>
                <a:xfrm>
                  <a:off x="912" y="288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5" name="Line 24"/>
                <p:cNvSpPr/>
                <p:nvPr/>
              </p:nvSpPr>
              <p:spPr>
                <a:xfrm>
                  <a:off x="912" y="288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6" name="Line 25"/>
                <p:cNvSpPr/>
                <p:nvPr/>
              </p:nvSpPr>
              <p:spPr>
                <a:xfrm flipH="1">
                  <a:off x="912" y="336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7" name="Oval 26"/>
                <p:cNvSpPr/>
                <p:nvPr/>
              </p:nvSpPr>
              <p:spPr>
                <a:xfrm>
                  <a:off x="960" y="336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38" name="Line 27"/>
                <p:cNvSpPr/>
                <p:nvPr/>
              </p:nvSpPr>
              <p:spPr>
                <a:xfrm flipH="1">
                  <a:off x="576" y="336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39" name="Line 28"/>
                <p:cNvSpPr/>
                <p:nvPr/>
              </p:nvSpPr>
              <p:spPr>
                <a:xfrm>
                  <a:off x="960" y="288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0" name="Line 29"/>
                <p:cNvSpPr/>
                <p:nvPr/>
              </p:nvSpPr>
              <p:spPr>
                <a:xfrm>
                  <a:off x="1008" y="384"/>
                  <a:ext cx="326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1" name="Line 30"/>
                <p:cNvSpPr/>
                <p:nvPr/>
              </p:nvSpPr>
              <p:spPr>
                <a:xfrm>
                  <a:off x="912" y="480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2" name="Line 31"/>
                <p:cNvSpPr/>
                <p:nvPr/>
              </p:nvSpPr>
              <p:spPr>
                <a:xfrm>
                  <a:off x="912" y="480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3" name="Line 32"/>
                <p:cNvSpPr/>
                <p:nvPr/>
              </p:nvSpPr>
              <p:spPr>
                <a:xfrm flipH="1">
                  <a:off x="912" y="528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4" name="Oval 33"/>
                <p:cNvSpPr/>
                <p:nvPr/>
              </p:nvSpPr>
              <p:spPr>
                <a:xfrm>
                  <a:off x="960" y="528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45" name="Line 34"/>
                <p:cNvSpPr/>
                <p:nvPr/>
              </p:nvSpPr>
              <p:spPr>
                <a:xfrm flipH="1">
                  <a:off x="576" y="528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6" name="Line 35"/>
                <p:cNvSpPr/>
                <p:nvPr/>
              </p:nvSpPr>
              <p:spPr>
                <a:xfrm>
                  <a:off x="960" y="480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7" name="Line 36"/>
                <p:cNvSpPr/>
                <p:nvPr/>
              </p:nvSpPr>
              <p:spPr>
                <a:xfrm>
                  <a:off x="1008" y="576"/>
                  <a:ext cx="326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8" name="Line 37"/>
                <p:cNvSpPr/>
                <p:nvPr/>
              </p:nvSpPr>
              <p:spPr>
                <a:xfrm>
                  <a:off x="912" y="672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49" name="Line 38"/>
                <p:cNvSpPr/>
                <p:nvPr/>
              </p:nvSpPr>
              <p:spPr>
                <a:xfrm>
                  <a:off x="912" y="672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0" name="Line 39"/>
                <p:cNvSpPr/>
                <p:nvPr/>
              </p:nvSpPr>
              <p:spPr>
                <a:xfrm flipH="1">
                  <a:off x="912" y="720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1" name="Oval 40"/>
                <p:cNvSpPr/>
                <p:nvPr/>
              </p:nvSpPr>
              <p:spPr>
                <a:xfrm>
                  <a:off x="960" y="720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52" name="Line 41"/>
                <p:cNvSpPr/>
                <p:nvPr/>
              </p:nvSpPr>
              <p:spPr>
                <a:xfrm flipH="1">
                  <a:off x="576" y="720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3" name="Line 42"/>
                <p:cNvSpPr/>
                <p:nvPr/>
              </p:nvSpPr>
              <p:spPr>
                <a:xfrm>
                  <a:off x="960" y="672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4" name="Line 43"/>
                <p:cNvSpPr/>
                <p:nvPr/>
              </p:nvSpPr>
              <p:spPr>
                <a:xfrm>
                  <a:off x="1008" y="768"/>
                  <a:ext cx="326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5" name="Line 44"/>
                <p:cNvSpPr/>
                <p:nvPr/>
              </p:nvSpPr>
              <p:spPr>
                <a:xfrm>
                  <a:off x="4800" y="110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6" name="Line 45"/>
                <p:cNvSpPr/>
                <p:nvPr/>
              </p:nvSpPr>
              <p:spPr>
                <a:xfrm>
                  <a:off x="4656" y="1152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7" name="Line 46"/>
                <p:cNvSpPr/>
                <p:nvPr/>
              </p:nvSpPr>
              <p:spPr>
                <a:xfrm flipH="1">
                  <a:off x="4656" y="1104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58" name="Oval 47"/>
                <p:cNvSpPr/>
                <p:nvPr/>
              </p:nvSpPr>
              <p:spPr>
                <a:xfrm>
                  <a:off x="4704" y="1152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59" name="Line 48"/>
                <p:cNvSpPr/>
                <p:nvPr/>
              </p:nvSpPr>
              <p:spPr>
                <a:xfrm flipH="1">
                  <a:off x="4800" y="1152"/>
                  <a:ext cx="62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0" name="Line 49"/>
                <p:cNvSpPr/>
                <p:nvPr/>
              </p:nvSpPr>
              <p:spPr>
                <a:xfrm>
                  <a:off x="960" y="1104"/>
                  <a:ext cx="379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1" name="Line 50"/>
                <p:cNvSpPr/>
                <p:nvPr/>
              </p:nvSpPr>
              <p:spPr>
                <a:xfrm>
                  <a:off x="1008" y="1200"/>
                  <a:ext cx="374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2" name="Line 51"/>
                <p:cNvSpPr/>
                <p:nvPr/>
              </p:nvSpPr>
              <p:spPr>
                <a:xfrm>
                  <a:off x="960" y="1296"/>
                  <a:ext cx="379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3" name="Line 52"/>
                <p:cNvSpPr/>
                <p:nvPr/>
              </p:nvSpPr>
              <p:spPr>
                <a:xfrm>
                  <a:off x="1008" y="1392"/>
                  <a:ext cx="374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4" name="Line 53"/>
                <p:cNvSpPr/>
                <p:nvPr/>
              </p:nvSpPr>
              <p:spPr>
                <a:xfrm>
                  <a:off x="960" y="1488"/>
                  <a:ext cx="379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5" name="Line 54"/>
                <p:cNvSpPr/>
                <p:nvPr/>
              </p:nvSpPr>
              <p:spPr>
                <a:xfrm>
                  <a:off x="1008" y="1584"/>
                  <a:ext cx="374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6" name="Line 55"/>
                <p:cNvSpPr/>
                <p:nvPr/>
              </p:nvSpPr>
              <p:spPr>
                <a:xfrm>
                  <a:off x="960" y="1680"/>
                  <a:ext cx="379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7" name="Line 56"/>
                <p:cNvSpPr/>
                <p:nvPr/>
              </p:nvSpPr>
              <p:spPr>
                <a:xfrm>
                  <a:off x="1008" y="1776"/>
                  <a:ext cx="374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8" name="Line 57"/>
                <p:cNvSpPr/>
                <p:nvPr/>
              </p:nvSpPr>
              <p:spPr>
                <a:xfrm>
                  <a:off x="912" y="86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69" name="Line 58"/>
                <p:cNvSpPr/>
                <p:nvPr/>
              </p:nvSpPr>
              <p:spPr>
                <a:xfrm>
                  <a:off x="912" y="864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0" name="Line 59"/>
                <p:cNvSpPr/>
                <p:nvPr/>
              </p:nvSpPr>
              <p:spPr>
                <a:xfrm flipH="1">
                  <a:off x="912" y="912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1" name="Oval 60"/>
                <p:cNvSpPr/>
                <p:nvPr/>
              </p:nvSpPr>
              <p:spPr>
                <a:xfrm>
                  <a:off x="960" y="912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72" name="Line 61"/>
                <p:cNvSpPr/>
                <p:nvPr/>
              </p:nvSpPr>
              <p:spPr>
                <a:xfrm flipH="1">
                  <a:off x="576" y="912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3" name="Line 62"/>
                <p:cNvSpPr/>
                <p:nvPr/>
              </p:nvSpPr>
              <p:spPr>
                <a:xfrm>
                  <a:off x="960" y="864"/>
                  <a:ext cx="331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4" name="Line 63"/>
                <p:cNvSpPr/>
                <p:nvPr/>
              </p:nvSpPr>
              <p:spPr>
                <a:xfrm>
                  <a:off x="1008" y="960"/>
                  <a:ext cx="3264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5" name="Line 64"/>
                <p:cNvSpPr/>
                <p:nvPr/>
              </p:nvSpPr>
              <p:spPr>
                <a:xfrm>
                  <a:off x="4800" y="1296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6" name="Line 65"/>
                <p:cNvSpPr/>
                <p:nvPr/>
              </p:nvSpPr>
              <p:spPr>
                <a:xfrm>
                  <a:off x="4656" y="1344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7" name="Line 66"/>
                <p:cNvSpPr/>
                <p:nvPr/>
              </p:nvSpPr>
              <p:spPr>
                <a:xfrm flipH="1">
                  <a:off x="4656" y="1296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78" name="Oval 67"/>
                <p:cNvSpPr/>
                <p:nvPr/>
              </p:nvSpPr>
              <p:spPr>
                <a:xfrm>
                  <a:off x="4704" y="1344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79" name="Line 68"/>
                <p:cNvSpPr/>
                <p:nvPr/>
              </p:nvSpPr>
              <p:spPr>
                <a:xfrm flipH="1">
                  <a:off x="4800" y="134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0" name="Line 69"/>
                <p:cNvSpPr/>
                <p:nvPr/>
              </p:nvSpPr>
              <p:spPr>
                <a:xfrm>
                  <a:off x="4800" y="1488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1" name="Line 70"/>
                <p:cNvSpPr/>
                <p:nvPr/>
              </p:nvSpPr>
              <p:spPr>
                <a:xfrm>
                  <a:off x="4656" y="1536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2" name="Line 71"/>
                <p:cNvSpPr/>
                <p:nvPr/>
              </p:nvSpPr>
              <p:spPr>
                <a:xfrm flipH="1">
                  <a:off x="4656" y="1488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3" name="Oval 72"/>
                <p:cNvSpPr/>
                <p:nvPr/>
              </p:nvSpPr>
              <p:spPr>
                <a:xfrm>
                  <a:off x="4704" y="1536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84" name="Line 73"/>
                <p:cNvSpPr/>
                <p:nvPr/>
              </p:nvSpPr>
              <p:spPr>
                <a:xfrm flipH="1">
                  <a:off x="4800" y="1536"/>
                  <a:ext cx="432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5" name="Line 74"/>
                <p:cNvSpPr/>
                <p:nvPr/>
              </p:nvSpPr>
              <p:spPr>
                <a:xfrm>
                  <a:off x="4800" y="1680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6" name="Line 75"/>
                <p:cNvSpPr/>
                <p:nvPr/>
              </p:nvSpPr>
              <p:spPr>
                <a:xfrm>
                  <a:off x="4656" y="1728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7" name="Line 76"/>
                <p:cNvSpPr/>
                <p:nvPr/>
              </p:nvSpPr>
              <p:spPr>
                <a:xfrm flipH="1">
                  <a:off x="4656" y="1680"/>
                  <a:ext cx="144" cy="48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88" name="Oval 77"/>
                <p:cNvSpPr/>
                <p:nvPr/>
              </p:nvSpPr>
              <p:spPr>
                <a:xfrm>
                  <a:off x="4704" y="1728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189" name="Line 78"/>
                <p:cNvSpPr/>
                <p:nvPr/>
              </p:nvSpPr>
              <p:spPr>
                <a:xfrm flipH="1">
                  <a:off x="4800" y="1728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rgbClr val="00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0190" name="Group 79"/>
              <p:cNvGrpSpPr/>
              <p:nvPr/>
            </p:nvGrpSpPr>
            <p:grpSpPr>
              <a:xfrm>
                <a:off x="1152" y="48"/>
                <a:ext cx="3024" cy="3648"/>
                <a:chOff x="1152" y="48"/>
                <a:chExt cx="3024" cy="3648"/>
              </a:xfrm>
            </p:grpSpPr>
            <p:sp>
              <p:nvSpPr>
                <p:cNvPr id="90191" name="Line 80"/>
                <p:cNvSpPr/>
                <p:nvPr/>
              </p:nvSpPr>
              <p:spPr>
                <a:xfrm>
                  <a:off x="1152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2" name="Line 81"/>
                <p:cNvSpPr/>
                <p:nvPr/>
              </p:nvSpPr>
              <p:spPr>
                <a:xfrm>
                  <a:off x="1296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3" name="Line 82"/>
                <p:cNvSpPr/>
                <p:nvPr/>
              </p:nvSpPr>
              <p:spPr>
                <a:xfrm>
                  <a:off x="1440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4" name="Line 83"/>
                <p:cNvSpPr/>
                <p:nvPr/>
              </p:nvSpPr>
              <p:spPr>
                <a:xfrm>
                  <a:off x="1584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5" name="Line 84"/>
                <p:cNvSpPr/>
                <p:nvPr/>
              </p:nvSpPr>
              <p:spPr>
                <a:xfrm>
                  <a:off x="1728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6" name="Line 85"/>
                <p:cNvSpPr/>
                <p:nvPr/>
              </p:nvSpPr>
              <p:spPr>
                <a:xfrm>
                  <a:off x="1872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7" name="Line 86"/>
                <p:cNvSpPr/>
                <p:nvPr/>
              </p:nvSpPr>
              <p:spPr>
                <a:xfrm>
                  <a:off x="2016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8" name="Line 87"/>
                <p:cNvSpPr/>
                <p:nvPr/>
              </p:nvSpPr>
              <p:spPr>
                <a:xfrm>
                  <a:off x="2160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199" name="Line 88"/>
                <p:cNvSpPr/>
                <p:nvPr/>
              </p:nvSpPr>
              <p:spPr>
                <a:xfrm>
                  <a:off x="2304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0" name="Line 89"/>
                <p:cNvSpPr/>
                <p:nvPr/>
              </p:nvSpPr>
              <p:spPr>
                <a:xfrm>
                  <a:off x="2448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1" name="Line 90"/>
                <p:cNvSpPr/>
                <p:nvPr/>
              </p:nvSpPr>
              <p:spPr>
                <a:xfrm>
                  <a:off x="2592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2" name="Line 91"/>
                <p:cNvSpPr/>
                <p:nvPr/>
              </p:nvSpPr>
              <p:spPr>
                <a:xfrm>
                  <a:off x="2736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3" name="Line 92"/>
                <p:cNvSpPr/>
                <p:nvPr/>
              </p:nvSpPr>
              <p:spPr>
                <a:xfrm>
                  <a:off x="2880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4" name="Line 93"/>
                <p:cNvSpPr/>
                <p:nvPr/>
              </p:nvSpPr>
              <p:spPr>
                <a:xfrm>
                  <a:off x="3024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5" name="Line 94"/>
                <p:cNvSpPr/>
                <p:nvPr/>
              </p:nvSpPr>
              <p:spPr>
                <a:xfrm>
                  <a:off x="3168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6" name="Line 95"/>
                <p:cNvSpPr/>
                <p:nvPr/>
              </p:nvSpPr>
              <p:spPr>
                <a:xfrm>
                  <a:off x="3312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7" name="Line 96"/>
                <p:cNvSpPr/>
                <p:nvPr/>
              </p:nvSpPr>
              <p:spPr>
                <a:xfrm>
                  <a:off x="3456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8" name="Line 97"/>
                <p:cNvSpPr/>
                <p:nvPr/>
              </p:nvSpPr>
              <p:spPr>
                <a:xfrm>
                  <a:off x="3600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09" name="Line 98"/>
                <p:cNvSpPr/>
                <p:nvPr/>
              </p:nvSpPr>
              <p:spPr>
                <a:xfrm>
                  <a:off x="3744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10" name="Line 99"/>
                <p:cNvSpPr/>
                <p:nvPr/>
              </p:nvSpPr>
              <p:spPr>
                <a:xfrm>
                  <a:off x="3888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11" name="Line 100"/>
                <p:cNvSpPr/>
                <p:nvPr/>
              </p:nvSpPr>
              <p:spPr>
                <a:xfrm>
                  <a:off x="4032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12" name="Line 101"/>
                <p:cNvSpPr/>
                <p:nvPr/>
              </p:nvSpPr>
              <p:spPr>
                <a:xfrm>
                  <a:off x="4176" y="48"/>
                  <a:ext cx="0" cy="3648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00166" name="Rectangle 102"/>
              <p:cNvSpPr>
                <a:spLocks noChangeArrowheads="1"/>
              </p:cNvSpPr>
              <p:nvPr/>
            </p:nvSpPr>
            <p:spPr bwMode="auto">
              <a:xfrm>
                <a:off x="4320" y="3073"/>
                <a:ext cx="289" cy="5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endPara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endParaRPr kumimoji="0" lang="en-US" altLang="zh-CN" sz="18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90214" name="Group 103"/>
              <p:cNvGrpSpPr/>
              <p:nvPr/>
            </p:nvGrpSpPr>
            <p:grpSpPr>
              <a:xfrm>
                <a:off x="1104" y="1056"/>
                <a:ext cx="528" cy="2448"/>
                <a:chOff x="1104" y="1056"/>
                <a:chExt cx="528" cy="2448"/>
              </a:xfrm>
            </p:grpSpPr>
            <p:sp>
              <p:nvSpPr>
                <p:cNvPr id="90215" name="Oval 104"/>
                <p:cNvSpPr/>
                <p:nvPr/>
              </p:nvSpPr>
              <p:spPr>
                <a:xfrm>
                  <a:off x="1104" y="105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16" name="Oval 105"/>
                <p:cNvSpPr/>
                <p:nvPr/>
              </p:nvSpPr>
              <p:spPr>
                <a:xfrm>
                  <a:off x="1104" y="312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17" name="Oval 106"/>
                <p:cNvSpPr/>
                <p:nvPr/>
              </p:nvSpPr>
              <p:spPr>
                <a:xfrm>
                  <a:off x="1248" y="12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18" name="Oval 107"/>
                <p:cNvSpPr/>
                <p:nvPr/>
              </p:nvSpPr>
              <p:spPr>
                <a:xfrm>
                  <a:off x="1248" y="32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19" name="Oval 108"/>
                <p:cNvSpPr/>
                <p:nvPr/>
              </p:nvSpPr>
              <p:spPr>
                <a:xfrm>
                  <a:off x="1392" y="144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0" name="Oval 109"/>
                <p:cNvSpPr/>
                <p:nvPr/>
              </p:nvSpPr>
              <p:spPr>
                <a:xfrm>
                  <a:off x="1392" y="331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1" name="Oval 110"/>
                <p:cNvSpPr/>
                <p:nvPr/>
              </p:nvSpPr>
              <p:spPr>
                <a:xfrm>
                  <a:off x="1536" y="16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2" name="Oval 111"/>
                <p:cNvSpPr/>
                <p:nvPr/>
              </p:nvSpPr>
              <p:spPr>
                <a:xfrm>
                  <a:off x="1536" y="340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0223" name="Group 112"/>
              <p:cNvGrpSpPr/>
              <p:nvPr/>
            </p:nvGrpSpPr>
            <p:grpSpPr>
              <a:xfrm>
                <a:off x="1680" y="48"/>
                <a:ext cx="1104" cy="768"/>
                <a:chOff x="1680" y="48"/>
                <a:chExt cx="1104" cy="768"/>
              </a:xfrm>
            </p:grpSpPr>
            <p:sp>
              <p:nvSpPr>
                <p:cNvPr id="90224" name="Oval 113"/>
                <p:cNvSpPr/>
                <p:nvPr/>
              </p:nvSpPr>
              <p:spPr>
                <a:xfrm>
                  <a:off x="1680" y="14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5" name="Oval 114"/>
                <p:cNvSpPr/>
                <p:nvPr/>
              </p:nvSpPr>
              <p:spPr>
                <a:xfrm>
                  <a:off x="1824" y="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6" name="Oval 115"/>
                <p:cNvSpPr/>
                <p:nvPr/>
              </p:nvSpPr>
              <p:spPr>
                <a:xfrm>
                  <a:off x="1968" y="33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7" name="Oval 116"/>
                <p:cNvSpPr/>
                <p:nvPr/>
              </p:nvSpPr>
              <p:spPr>
                <a:xfrm>
                  <a:off x="2112" y="24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8" name="Oval 117"/>
                <p:cNvSpPr/>
                <p:nvPr/>
              </p:nvSpPr>
              <p:spPr>
                <a:xfrm>
                  <a:off x="2256" y="52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29" name="Oval 118"/>
                <p:cNvSpPr/>
                <p:nvPr/>
              </p:nvSpPr>
              <p:spPr>
                <a:xfrm>
                  <a:off x="2400" y="4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30" name="Oval 119"/>
                <p:cNvSpPr/>
                <p:nvPr/>
              </p:nvSpPr>
              <p:spPr>
                <a:xfrm>
                  <a:off x="2544" y="72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231" name="Oval 120"/>
                <p:cNvSpPr/>
                <p:nvPr/>
              </p:nvSpPr>
              <p:spPr>
                <a:xfrm>
                  <a:off x="2688" y="62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0232" name="Group 121"/>
              <p:cNvGrpSpPr/>
              <p:nvPr/>
            </p:nvGrpSpPr>
            <p:grpSpPr>
              <a:xfrm>
                <a:off x="288" y="48"/>
                <a:ext cx="5136" cy="3840"/>
                <a:chOff x="288" y="48"/>
                <a:chExt cx="5136" cy="3840"/>
              </a:xfrm>
            </p:grpSpPr>
            <p:grpSp>
              <p:nvGrpSpPr>
                <p:cNvPr id="90233" name="Group 122"/>
                <p:cNvGrpSpPr/>
                <p:nvPr/>
              </p:nvGrpSpPr>
              <p:grpSpPr>
                <a:xfrm>
                  <a:off x="288" y="48"/>
                  <a:ext cx="5136" cy="2976"/>
                  <a:chOff x="288" y="48"/>
                  <a:chExt cx="5136" cy="2976"/>
                </a:xfrm>
              </p:grpSpPr>
              <p:grpSp>
                <p:nvGrpSpPr>
                  <p:cNvPr id="90234" name="Group 123"/>
                  <p:cNvGrpSpPr/>
                  <p:nvPr/>
                </p:nvGrpSpPr>
                <p:grpSpPr>
                  <a:xfrm>
                    <a:off x="4512" y="1824"/>
                    <a:ext cx="672" cy="1200"/>
                    <a:chOff x="4992" y="2112"/>
                    <a:chExt cx="672" cy="1200"/>
                  </a:xfrm>
                </p:grpSpPr>
                <p:sp>
                  <p:nvSpPr>
                    <p:cNvPr id="90235" name="Rectangle 124"/>
                    <p:cNvSpPr/>
                    <p:nvPr/>
                  </p:nvSpPr>
                  <p:spPr>
                    <a:xfrm>
                      <a:off x="4992" y="2112"/>
                      <a:ext cx="576" cy="1200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36" name="Line 125"/>
                    <p:cNvSpPr/>
                    <p:nvPr/>
                  </p:nvSpPr>
                  <p:spPr>
                    <a:xfrm>
                      <a:off x="4992" y="2400"/>
                      <a:ext cx="57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37" name="Line 126"/>
                    <p:cNvSpPr/>
                    <p:nvPr/>
                  </p:nvSpPr>
                  <p:spPr>
                    <a:xfrm>
                      <a:off x="4992" y="2736"/>
                      <a:ext cx="57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38" name="Text Box 127"/>
                    <p:cNvSpPr txBox="1"/>
                    <p:nvPr/>
                  </p:nvSpPr>
                  <p:spPr>
                    <a:xfrm>
                      <a:off x="4992" y="2112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39" name="Text Box 128"/>
                    <p:cNvSpPr txBox="1"/>
                    <p:nvPr/>
                  </p:nvSpPr>
                  <p:spPr>
                    <a:xfrm>
                      <a:off x="5328" y="2112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0" name="Line 129"/>
                    <p:cNvSpPr/>
                    <p:nvPr/>
                  </p:nvSpPr>
                  <p:spPr>
                    <a:xfrm>
                      <a:off x="4992" y="2736"/>
                      <a:ext cx="57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41" name="Text Box 130"/>
                    <p:cNvSpPr txBox="1"/>
                    <p:nvPr/>
                  </p:nvSpPr>
                  <p:spPr>
                    <a:xfrm>
                      <a:off x="4992" y="2400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2" name="Text Box 131"/>
                    <p:cNvSpPr txBox="1"/>
                    <p:nvPr/>
                  </p:nvSpPr>
                  <p:spPr>
                    <a:xfrm>
                      <a:off x="5376" y="2400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3" name="Line 132"/>
                    <p:cNvSpPr/>
                    <p:nvPr/>
                  </p:nvSpPr>
                  <p:spPr>
                    <a:xfrm>
                      <a:off x="4992" y="3024"/>
                      <a:ext cx="57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0244" name="Text Box 133"/>
                    <p:cNvSpPr txBox="1"/>
                    <p:nvPr/>
                  </p:nvSpPr>
                  <p:spPr>
                    <a:xfrm>
                      <a:off x="4992" y="2736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5" name="Text Box 134"/>
                    <p:cNvSpPr txBox="1"/>
                    <p:nvPr/>
                  </p:nvSpPr>
                  <p:spPr>
                    <a:xfrm>
                      <a:off x="5376" y="2736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6" name="Text Box 135"/>
                    <p:cNvSpPr txBox="1"/>
                    <p:nvPr/>
                  </p:nvSpPr>
                  <p:spPr>
                    <a:xfrm>
                      <a:off x="4992" y="3024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0247" name="Text Box 136"/>
                    <p:cNvSpPr txBox="1"/>
                    <p:nvPr/>
                  </p:nvSpPr>
                  <p:spPr>
                    <a:xfrm>
                      <a:off x="5376" y="3024"/>
                      <a:ext cx="288" cy="28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spcBef>
                          <a:spcPct val="50000"/>
                        </a:spcBef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90248" name="Text Box 137"/>
                  <p:cNvSpPr txBox="1"/>
                  <p:nvPr/>
                </p:nvSpPr>
                <p:spPr>
                  <a:xfrm>
                    <a:off x="288" y="48"/>
                    <a:ext cx="432" cy="97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lnSpc>
                        <a:spcPct val="80000"/>
                      </a:lnSpc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D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>
                      <a:lnSpc>
                        <a:spcPct val="80000"/>
                      </a:lnSpc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C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>
                      <a:lnSpc>
                        <a:spcPct val="80000"/>
                      </a:lnSpc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B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>
                      <a:lnSpc>
                        <a:spcPct val="80000"/>
                      </a:lnSpc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A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  <a:p>
                    <a:pPr>
                      <a:lnSpc>
                        <a:spcPct val="80000"/>
                      </a:lnSpc>
                      <a:buClrTx/>
                      <a:buFontTx/>
                    </a:pPr>
                    <a:r>
                      <a: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</a:t>
                    </a:r>
                    <a:endPara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0249" name="Line 138"/>
                  <p:cNvSpPr/>
                  <p:nvPr/>
                </p:nvSpPr>
                <p:spPr>
                  <a:xfrm>
                    <a:off x="5136" y="1728"/>
                    <a:ext cx="0" cy="24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0" name="Line 139"/>
                  <p:cNvSpPr/>
                  <p:nvPr/>
                </p:nvSpPr>
                <p:spPr>
                  <a:xfrm flipH="1">
                    <a:off x="5088" y="1968"/>
                    <a:ext cx="4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1" name="Line 140"/>
                  <p:cNvSpPr/>
                  <p:nvPr/>
                </p:nvSpPr>
                <p:spPr>
                  <a:xfrm>
                    <a:off x="5088" y="2256"/>
                    <a:ext cx="14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2" name="Line 141"/>
                  <p:cNvSpPr/>
                  <p:nvPr/>
                </p:nvSpPr>
                <p:spPr>
                  <a:xfrm flipV="1">
                    <a:off x="5232" y="1536"/>
                    <a:ext cx="0" cy="72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3" name="Line 142"/>
                  <p:cNvSpPr/>
                  <p:nvPr/>
                </p:nvSpPr>
                <p:spPr>
                  <a:xfrm>
                    <a:off x="5088" y="2592"/>
                    <a:ext cx="24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4" name="Line 143"/>
                  <p:cNvSpPr/>
                  <p:nvPr/>
                </p:nvSpPr>
                <p:spPr>
                  <a:xfrm flipV="1">
                    <a:off x="5328" y="1344"/>
                    <a:ext cx="0" cy="124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5" name="Line 144"/>
                  <p:cNvSpPr/>
                  <p:nvPr/>
                </p:nvSpPr>
                <p:spPr>
                  <a:xfrm>
                    <a:off x="5088" y="2880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0256" name="Line 145"/>
                  <p:cNvSpPr/>
                  <p:nvPr/>
                </p:nvSpPr>
                <p:spPr>
                  <a:xfrm flipV="1">
                    <a:off x="5424" y="1152"/>
                    <a:ext cx="0" cy="172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90257" name="Line 146"/>
                <p:cNvSpPr/>
                <p:nvPr/>
              </p:nvSpPr>
              <p:spPr>
                <a:xfrm>
                  <a:off x="4320" y="3552"/>
                  <a:ext cx="0" cy="3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58" name="Line 147"/>
                <p:cNvSpPr/>
                <p:nvPr/>
              </p:nvSpPr>
              <p:spPr>
                <a:xfrm flipH="1">
                  <a:off x="576" y="3888"/>
                  <a:ext cx="374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0259" name="Line 148"/>
                <p:cNvSpPr/>
                <p:nvPr/>
              </p:nvSpPr>
              <p:spPr>
                <a:xfrm flipV="1">
                  <a:off x="576" y="912"/>
                  <a:ext cx="0" cy="297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00213" name="Rectangle 149"/>
            <p:cNvSpPr>
              <a:spLocks noChangeArrowheads="1"/>
            </p:cNvSpPr>
            <p:nvPr/>
          </p:nvSpPr>
          <p:spPr bwMode="auto">
            <a:xfrm>
              <a:off x="4848" y="1104"/>
              <a:ext cx="432" cy="6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0261" name="Group 150"/>
            <p:cNvGrpSpPr/>
            <p:nvPr/>
          </p:nvGrpSpPr>
          <p:grpSpPr>
            <a:xfrm>
              <a:off x="4128" y="816"/>
              <a:ext cx="96" cy="1008"/>
              <a:chOff x="4128" y="816"/>
              <a:chExt cx="96" cy="1008"/>
            </a:xfrm>
          </p:grpSpPr>
          <p:sp>
            <p:nvSpPr>
              <p:cNvPr id="90262" name="Oval 151"/>
              <p:cNvSpPr/>
              <p:nvPr/>
            </p:nvSpPr>
            <p:spPr>
              <a:xfrm>
                <a:off x="4128" y="172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263" name="Oval 152"/>
              <p:cNvSpPr/>
              <p:nvPr/>
            </p:nvSpPr>
            <p:spPr>
              <a:xfrm>
                <a:off x="412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264" name="Oval 153"/>
            <p:cNvSpPr/>
            <p:nvPr/>
          </p:nvSpPr>
          <p:spPr>
            <a:xfrm>
              <a:off x="4128" y="192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0226" name="Group 162"/>
          <p:cNvGrpSpPr/>
          <p:nvPr/>
        </p:nvGrpSpPr>
        <p:grpSpPr>
          <a:xfrm>
            <a:off x="6324600" y="1295400"/>
            <a:ext cx="152400" cy="1447800"/>
            <a:chOff x="3984" y="816"/>
            <a:chExt cx="96" cy="912"/>
          </a:xfrm>
        </p:grpSpPr>
        <p:sp>
          <p:nvSpPr>
            <p:cNvPr id="90266" name="Oval 156"/>
            <p:cNvSpPr/>
            <p:nvPr/>
          </p:nvSpPr>
          <p:spPr>
            <a:xfrm>
              <a:off x="3984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267" name="Oval 157"/>
            <p:cNvSpPr/>
            <p:nvPr/>
          </p:nvSpPr>
          <p:spPr>
            <a:xfrm>
              <a:off x="3984" y="15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268" name="Oval 158"/>
            <p:cNvSpPr/>
            <p:nvPr/>
          </p:nvSpPr>
          <p:spPr>
            <a:xfrm>
              <a:off x="3984" y="16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0227" name="Group 163"/>
          <p:cNvGrpSpPr/>
          <p:nvPr/>
        </p:nvGrpSpPr>
        <p:grpSpPr>
          <a:xfrm>
            <a:off x="6096000" y="1295400"/>
            <a:ext cx="152400" cy="1600200"/>
            <a:chOff x="3840" y="816"/>
            <a:chExt cx="96" cy="1008"/>
          </a:xfrm>
        </p:grpSpPr>
        <p:sp>
          <p:nvSpPr>
            <p:cNvPr id="90270" name="Oval 159"/>
            <p:cNvSpPr/>
            <p:nvPr/>
          </p:nvSpPr>
          <p:spPr>
            <a:xfrm>
              <a:off x="3840" y="14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271" name="Oval 160"/>
            <p:cNvSpPr/>
            <p:nvPr/>
          </p:nvSpPr>
          <p:spPr>
            <a:xfrm>
              <a:off x="3840" y="17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272" name="Oval 161"/>
            <p:cNvSpPr/>
            <p:nvPr/>
          </p:nvSpPr>
          <p:spPr>
            <a:xfrm>
              <a:off x="3840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0230" name="Group 166"/>
          <p:cNvGrpSpPr/>
          <p:nvPr/>
        </p:nvGrpSpPr>
        <p:grpSpPr>
          <a:xfrm>
            <a:off x="6096000" y="3505200"/>
            <a:ext cx="381000" cy="152400"/>
            <a:chOff x="3840" y="2208"/>
            <a:chExt cx="240" cy="96"/>
          </a:xfrm>
        </p:grpSpPr>
        <p:sp>
          <p:nvSpPr>
            <p:cNvPr id="90274" name="Oval 164"/>
            <p:cNvSpPr/>
            <p:nvPr/>
          </p:nvSpPr>
          <p:spPr>
            <a:xfrm>
              <a:off x="3984" y="22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275" name="Oval 165"/>
            <p:cNvSpPr/>
            <p:nvPr/>
          </p:nvSpPr>
          <p:spPr>
            <a:xfrm>
              <a:off x="3840" y="220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7" name="文本框 16"/>
          <p:cNvSpPr txBox="1"/>
          <p:nvPr/>
        </p:nvSpPr>
        <p:spPr>
          <a:xfrm>
            <a:off x="630238" y="6276975"/>
            <a:ext cx="23971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)T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0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0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0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0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1138" name="Group 167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91139" name="Group 4"/>
            <p:cNvGrpSpPr/>
            <p:nvPr/>
          </p:nvGrpSpPr>
          <p:grpSpPr>
            <a:xfrm>
              <a:off x="288" y="48"/>
              <a:ext cx="5136" cy="3840"/>
              <a:chOff x="288" y="48"/>
              <a:chExt cx="5136" cy="3840"/>
            </a:xfrm>
          </p:grpSpPr>
          <p:grpSp>
            <p:nvGrpSpPr>
              <p:cNvPr id="91140" name="Group 5"/>
              <p:cNvGrpSpPr/>
              <p:nvPr/>
            </p:nvGrpSpPr>
            <p:grpSpPr>
              <a:xfrm>
                <a:off x="288" y="48"/>
                <a:ext cx="5136" cy="3840"/>
                <a:chOff x="288" y="48"/>
                <a:chExt cx="5136" cy="3840"/>
              </a:xfrm>
            </p:grpSpPr>
            <p:grpSp>
              <p:nvGrpSpPr>
                <p:cNvPr id="91141" name="Group 6"/>
                <p:cNvGrpSpPr/>
                <p:nvPr/>
              </p:nvGrpSpPr>
              <p:grpSpPr>
                <a:xfrm>
                  <a:off x="960" y="1968"/>
                  <a:ext cx="3552" cy="1584"/>
                  <a:chOff x="960" y="1968"/>
                  <a:chExt cx="3552" cy="1584"/>
                </a:xfrm>
              </p:grpSpPr>
              <p:sp>
                <p:nvSpPr>
                  <p:cNvPr id="91142" name="Line 7"/>
                  <p:cNvSpPr/>
                  <p:nvPr/>
                </p:nvSpPr>
                <p:spPr>
                  <a:xfrm>
                    <a:off x="960" y="1968"/>
                    <a:ext cx="355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3" name="Line 8"/>
                  <p:cNvSpPr/>
                  <p:nvPr/>
                </p:nvSpPr>
                <p:spPr>
                  <a:xfrm>
                    <a:off x="960" y="2256"/>
                    <a:ext cx="355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4" name="Line 9"/>
                  <p:cNvSpPr/>
                  <p:nvPr/>
                </p:nvSpPr>
                <p:spPr>
                  <a:xfrm>
                    <a:off x="960" y="2544"/>
                    <a:ext cx="355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5" name="Line 10"/>
                  <p:cNvSpPr/>
                  <p:nvPr/>
                </p:nvSpPr>
                <p:spPr>
                  <a:xfrm>
                    <a:off x="960" y="2928"/>
                    <a:ext cx="355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6" name="Line 11"/>
                  <p:cNvSpPr/>
                  <p:nvPr/>
                </p:nvSpPr>
                <p:spPr>
                  <a:xfrm>
                    <a:off x="1008" y="3168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7" name="Line 12"/>
                  <p:cNvSpPr/>
                  <p:nvPr/>
                </p:nvSpPr>
                <p:spPr>
                  <a:xfrm>
                    <a:off x="1008" y="3264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8" name="Line 13"/>
                  <p:cNvSpPr/>
                  <p:nvPr/>
                </p:nvSpPr>
                <p:spPr>
                  <a:xfrm>
                    <a:off x="1008" y="3360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49" name="Line 14"/>
                  <p:cNvSpPr/>
                  <p:nvPr/>
                </p:nvSpPr>
                <p:spPr>
                  <a:xfrm>
                    <a:off x="1008" y="3456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0" name="Line 15"/>
                  <p:cNvSpPr/>
                  <p:nvPr/>
                </p:nvSpPr>
                <p:spPr>
                  <a:xfrm>
                    <a:off x="1008" y="3552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91151" name="Group 16"/>
                <p:cNvGrpSpPr/>
                <p:nvPr/>
              </p:nvGrpSpPr>
              <p:grpSpPr>
                <a:xfrm>
                  <a:off x="576" y="96"/>
                  <a:ext cx="4848" cy="1680"/>
                  <a:chOff x="576" y="96"/>
                  <a:chExt cx="4848" cy="1680"/>
                </a:xfrm>
              </p:grpSpPr>
              <p:sp>
                <p:nvSpPr>
                  <p:cNvPr id="91152" name="Line 17"/>
                  <p:cNvSpPr/>
                  <p:nvPr/>
                </p:nvSpPr>
                <p:spPr>
                  <a:xfrm>
                    <a:off x="912" y="96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3" name="Line 18"/>
                  <p:cNvSpPr/>
                  <p:nvPr/>
                </p:nvSpPr>
                <p:spPr>
                  <a:xfrm>
                    <a:off x="912" y="96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4" name="Line 19"/>
                  <p:cNvSpPr/>
                  <p:nvPr/>
                </p:nvSpPr>
                <p:spPr>
                  <a:xfrm flipH="1">
                    <a:off x="912" y="144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5" name="Oval 20"/>
                  <p:cNvSpPr/>
                  <p:nvPr/>
                </p:nvSpPr>
                <p:spPr>
                  <a:xfrm>
                    <a:off x="960" y="1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56" name="Line 21"/>
                  <p:cNvSpPr/>
                  <p:nvPr/>
                </p:nvSpPr>
                <p:spPr>
                  <a:xfrm flipH="1">
                    <a:off x="576" y="144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7" name="Line 22"/>
                  <p:cNvSpPr/>
                  <p:nvPr/>
                </p:nvSpPr>
                <p:spPr>
                  <a:xfrm>
                    <a:off x="960" y="96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8" name="Line 23"/>
                  <p:cNvSpPr/>
                  <p:nvPr/>
                </p:nvSpPr>
                <p:spPr>
                  <a:xfrm>
                    <a:off x="1008" y="192"/>
                    <a:ext cx="326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59" name="Line 24"/>
                  <p:cNvSpPr/>
                  <p:nvPr/>
                </p:nvSpPr>
                <p:spPr>
                  <a:xfrm>
                    <a:off x="912" y="288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0" name="Line 25"/>
                  <p:cNvSpPr/>
                  <p:nvPr/>
                </p:nvSpPr>
                <p:spPr>
                  <a:xfrm>
                    <a:off x="912" y="288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1" name="Line 26"/>
                  <p:cNvSpPr/>
                  <p:nvPr/>
                </p:nvSpPr>
                <p:spPr>
                  <a:xfrm flipH="1">
                    <a:off x="912" y="336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2" name="Oval 27"/>
                  <p:cNvSpPr/>
                  <p:nvPr/>
                </p:nvSpPr>
                <p:spPr>
                  <a:xfrm>
                    <a:off x="960" y="33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63" name="Line 28"/>
                  <p:cNvSpPr/>
                  <p:nvPr/>
                </p:nvSpPr>
                <p:spPr>
                  <a:xfrm flipH="1">
                    <a:off x="576" y="336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4" name="Line 29"/>
                  <p:cNvSpPr/>
                  <p:nvPr/>
                </p:nvSpPr>
                <p:spPr>
                  <a:xfrm>
                    <a:off x="960" y="288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5" name="Line 30"/>
                  <p:cNvSpPr/>
                  <p:nvPr/>
                </p:nvSpPr>
                <p:spPr>
                  <a:xfrm>
                    <a:off x="1008" y="384"/>
                    <a:ext cx="326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6" name="Line 31"/>
                  <p:cNvSpPr/>
                  <p:nvPr/>
                </p:nvSpPr>
                <p:spPr>
                  <a:xfrm>
                    <a:off x="912" y="480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7" name="Line 32"/>
                  <p:cNvSpPr/>
                  <p:nvPr/>
                </p:nvSpPr>
                <p:spPr>
                  <a:xfrm>
                    <a:off x="912" y="480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8" name="Line 33"/>
                  <p:cNvSpPr/>
                  <p:nvPr/>
                </p:nvSpPr>
                <p:spPr>
                  <a:xfrm flipH="1">
                    <a:off x="912" y="528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69" name="Oval 34"/>
                  <p:cNvSpPr/>
                  <p:nvPr/>
                </p:nvSpPr>
                <p:spPr>
                  <a:xfrm>
                    <a:off x="960" y="52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70" name="Line 35"/>
                  <p:cNvSpPr/>
                  <p:nvPr/>
                </p:nvSpPr>
                <p:spPr>
                  <a:xfrm flipH="1">
                    <a:off x="576" y="528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1" name="Line 36"/>
                  <p:cNvSpPr/>
                  <p:nvPr/>
                </p:nvSpPr>
                <p:spPr>
                  <a:xfrm>
                    <a:off x="960" y="480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2" name="Line 37"/>
                  <p:cNvSpPr/>
                  <p:nvPr/>
                </p:nvSpPr>
                <p:spPr>
                  <a:xfrm>
                    <a:off x="1008" y="576"/>
                    <a:ext cx="326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3" name="Line 38"/>
                  <p:cNvSpPr/>
                  <p:nvPr/>
                </p:nvSpPr>
                <p:spPr>
                  <a:xfrm>
                    <a:off x="912" y="672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4" name="Line 39"/>
                  <p:cNvSpPr/>
                  <p:nvPr/>
                </p:nvSpPr>
                <p:spPr>
                  <a:xfrm>
                    <a:off x="912" y="672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5" name="Line 40"/>
                  <p:cNvSpPr/>
                  <p:nvPr/>
                </p:nvSpPr>
                <p:spPr>
                  <a:xfrm flipH="1">
                    <a:off x="912" y="720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6" name="Oval 41"/>
                  <p:cNvSpPr/>
                  <p:nvPr/>
                </p:nvSpPr>
                <p:spPr>
                  <a:xfrm>
                    <a:off x="960" y="720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77" name="Line 42"/>
                  <p:cNvSpPr/>
                  <p:nvPr/>
                </p:nvSpPr>
                <p:spPr>
                  <a:xfrm flipH="1">
                    <a:off x="576" y="720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8" name="Line 43"/>
                  <p:cNvSpPr/>
                  <p:nvPr/>
                </p:nvSpPr>
                <p:spPr>
                  <a:xfrm>
                    <a:off x="960" y="672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9" name="Line 44"/>
                  <p:cNvSpPr/>
                  <p:nvPr/>
                </p:nvSpPr>
                <p:spPr>
                  <a:xfrm>
                    <a:off x="1008" y="768"/>
                    <a:ext cx="326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0" name="Line 45"/>
                  <p:cNvSpPr/>
                  <p:nvPr/>
                </p:nvSpPr>
                <p:spPr>
                  <a:xfrm>
                    <a:off x="4800" y="1104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1" name="Line 46"/>
                  <p:cNvSpPr/>
                  <p:nvPr/>
                </p:nvSpPr>
                <p:spPr>
                  <a:xfrm>
                    <a:off x="4656" y="1152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2" name="Line 47"/>
                  <p:cNvSpPr/>
                  <p:nvPr/>
                </p:nvSpPr>
                <p:spPr>
                  <a:xfrm flipH="1">
                    <a:off x="4656" y="1104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3" name="Oval 48"/>
                  <p:cNvSpPr/>
                  <p:nvPr/>
                </p:nvSpPr>
                <p:spPr>
                  <a:xfrm>
                    <a:off x="4704" y="115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84" name="Line 49"/>
                  <p:cNvSpPr/>
                  <p:nvPr/>
                </p:nvSpPr>
                <p:spPr>
                  <a:xfrm flipH="1">
                    <a:off x="4800" y="1152"/>
                    <a:ext cx="62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5" name="Line 50"/>
                  <p:cNvSpPr/>
                  <p:nvPr/>
                </p:nvSpPr>
                <p:spPr>
                  <a:xfrm>
                    <a:off x="960" y="1104"/>
                    <a:ext cx="379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6" name="Line 51"/>
                  <p:cNvSpPr/>
                  <p:nvPr/>
                </p:nvSpPr>
                <p:spPr>
                  <a:xfrm>
                    <a:off x="1008" y="1200"/>
                    <a:ext cx="374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7" name="Line 52"/>
                  <p:cNvSpPr/>
                  <p:nvPr/>
                </p:nvSpPr>
                <p:spPr>
                  <a:xfrm>
                    <a:off x="960" y="1296"/>
                    <a:ext cx="379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8" name="Line 53"/>
                  <p:cNvSpPr/>
                  <p:nvPr/>
                </p:nvSpPr>
                <p:spPr>
                  <a:xfrm>
                    <a:off x="1008" y="1392"/>
                    <a:ext cx="374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89" name="Line 54"/>
                  <p:cNvSpPr/>
                  <p:nvPr/>
                </p:nvSpPr>
                <p:spPr>
                  <a:xfrm>
                    <a:off x="960" y="1488"/>
                    <a:ext cx="379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0" name="Line 55"/>
                  <p:cNvSpPr/>
                  <p:nvPr/>
                </p:nvSpPr>
                <p:spPr>
                  <a:xfrm>
                    <a:off x="1008" y="1584"/>
                    <a:ext cx="374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1" name="Line 56"/>
                  <p:cNvSpPr/>
                  <p:nvPr/>
                </p:nvSpPr>
                <p:spPr>
                  <a:xfrm>
                    <a:off x="960" y="1680"/>
                    <a:ext cx="379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2" name="Line 57"/>
                  <p:cNvSpPr/>
                  <p:nvPr/>
                </p:nvSpPr>
                <p:spPr>
                  <a:xfrm>
                    <a:off x="1008" y="1776"/>
                    <a:ext cx="374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3" name="Line 58"/>
                  <p:cNvSpPr/>
                  <p:nvPr/>
                </p:nvSpPr>
                <p:spPr>
                  <a:xfrm>
                    <a:off x="912" y="864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4" name="Line 59"/>
                  <p:cNvSpPr/>
                  <p:nvPr/>
                </p:nvSpPr>
                <p:spPr>
                  <a:xfrm>
                    <a:off x="912" y="864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5" name="Line 60"/>
                  <p:cNvSpPr/>
                  <p:nvPr/>
                </p:nvSpPr>
                <p:spPr>
                  <a:xfrm flipH="1">
                    <a:off x="912" y="912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6" name="Oval 61"/>
                  <p:cNvSpPr/>
                  <p:nvPr/>
                </p:nvSpPr>
                <p:spPr>
                  <a:xfrm>
                    <a:off x="960" y="912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197" name="Line 62"/>
                  <p:cNvSpPr/>
                  <p:nvPr/>
                </p:nvSpPr>
                <p:spPr>
                  <a:xfrm flipH="1">
                    <a:off x="576" y="912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8" name="Line 63"/>
                  <p:cNvSpPr/>
                  <p:nvPr/>
                </p:nvSpPr>
                <p:spPr>
                  <a:xfrm>
                    <a:off x="960" y="864"/>
                    <a:ext cx="331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99" name="Line 64"/>
                  <p:cNvSpPr/>
                  <p:nvPr/>
                </p:nvSpPr>
                <p:spPr>
                  <a:xfrm>
                    <a:off x="1008" y="960"/>
                    <a:ext cx="3264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0" name="Line 65"/>
                  <p:cNvSpPr/>
                  <p:nvPr/>
                </p:nvSpPr>
                <p:spPr>
                  <a:xfrm>
                    <a:off x="4800" y="1296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1" name="Line 66"/>
                  <p:cNvSpPr/>
                  <p:nvPr/>
                </p:nvSpPr>
                <p:spPr>
                  <a:xfrm>
                    <a:off x="4656" y="1344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2" name="Line 67"/>
                  <p:cNvSpPr/>
                  <p:nvPr/>
                </p:nvSpPr>
                <p:spPr>
                  <a:xfrm flipH="1">
                    <a:off x="4656" y="1296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3" name="Oval 68"/>
                  <p:cNvSpPr/>
                  <p:nvPr/>
                </p:nvSpPr>
                <p:spPr>
                  <a:xfrm>
                    <a:off x="4704" y="1344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04" name="Line 69"/>
                  <p:cNvSpPr/>
                  <p:nvPr/>
                </p:nvSpPr>
                <p:spPr>
                  <a:xfrm flipH="1">
                    <a:off x="4800" y="1344"/>
                    <a:ext cx="528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5" name="Line 70"/>
                  <p:cNvSpPr/>
                  <p:nvPr/>
                </p:nvSpPr>
                <p:spPr>
                  <a:xfrm>
                    <a:off x="4800" y="1488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6" name="Line 71"/>
                  <p:cNvSpPr/>
                  <p:nvPr/>
                </p:nvSpPr>
                <p:spPr>
                  <a:xfrm>
                    <a:off x="4656" y="1536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7" name="Line 72"/>
                  <p:cNvSpPr/>
                  <p:nvPr/>
                </p:nvSpPr>
                <p:spPr>
                  <a:xfrm flipH="1">
                    <a:off x="4656" y="1488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08" name="Oval 73"/>
                  <p:cNvSpPr/>
                  <p:nvPr/>
                </p:nvSpPr>
                <p:spPr>
                  <a:xfrm>
                    <a:off x="4704" y="1536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09" name="Line 74"/>
                  <p:cNvSpPr/>
                  <p:nvPr/>
                </p:nvSpPr>
                <p:spPr>
                  <a:xfrm flipH="1">
                    <a:off x="4800" y="1536"/>
                    <a:ext cx="432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0" name="Line 75"/>
                  <p:cNvSpPr/>
                  <p:nvPr/>
                </p:nvSpPr>
                <p:spPr>
                  <a:xfrm>
                    <a:off x="4800" y="1680"/>
                    <a:ext cx="0" cy="96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1" name="Line 76"/>
                  <p:cNvSpPr/>
                  <p:nvPr/>
                </p:nvSpPr>
                <p:spPr>
                  <a:xfrm>
                    <a:off x="4656" y="1728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2" name="Line 77"/>
                  <p:cNvSpPr/>
                  <p:nvPr/>
                </p:nvSpPr>
                <p:spPr>
                  <a:xfrm flipH="1">
                    <a:off x="4656" y="1680"/>
                    <a:ext cx="144" cy="48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3" name="Oval 78"/>
                  <p:cNvSpPr/>
                  <p:nvPr/>
                </p:nvSpPr>
                <p:spPr>
                  <a:xfrm>
                    <a:off x="4704" y="1728"/>
                    <a:ext cx="48" cy="4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14" name="Line 79"/>
                  <p:cNvSpPr/>
                  <p:nvPr/>
                </p:nvSpPr>
                <p:spPr>
                  <a:xfrm flipH="1">
                    <a:off x="4800" y="1728"/>
                    <a:ext cx="336" cy="0"/>
                  </a:xfrm>
                  <a:prstGeom prst="line">
                    <a:avLst/>
                  </a:prstGeom>
                  <a:ln w="9525" cap="flat" cmpd="sng">
                    <a:solidFill>
                      <a:srgbClr val="00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91215" name="Group 80"/>
                <p:cNvGrpSpPr/>
                <p:nvPr/>
              </p:nvGrpSpPr>
              <p:grpSpPr>
                <a:xfrm>
                  <a:off x="1152" y="48"/>
                  <a:ext cx="3024" cy="3648"/>
                  <a:chOff x="1152" y="48"/>
                  <a:chExt cx="3024" cy="3648"/>
                </a:xfrm>
              </p:grpSpPr>
              <p:sp>
                <p:nvSpPr>
                  <p:cNvPr id="91216" name="Line 81"/>
                  <p:cNvSpPr/>
                  <p:nvPr/>
                </p:nvSpPr>
                <p:spPr>
                  <a:xfrm>
                    <a:off x="1152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7" name="Line 82"/>
                  <p:cNvSpPr/>
                  <p:nvPr/>
                </p:nvSpPr>
                <p:spPr>
                  <a:xfrm>
                    <a:off x="1296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8" name="Line 83"/>
                  <p:cNvSpPr/>
                  <p:nvPr/>
                </p:nvSpPr>
                <p:spPr>
                  <a:xfrm>
                    <a:off x="1440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19" name="Line 84"/>
                  <p:cNvSpPr/>
                  <p:nvPr/>
                </p:nvSpPr>
                <p:spPr>
                  <a:xfrm>
                    <a:off x="1584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0" name="Line 85"/>
                  <p:cNvSpPr/>
                  <p:nvPr/>
                </p:nvSpPr>
                <p:spPr>
                  <a:xfrm>
                    <a:off x="1728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1" name="Line 86"/>
                  <p:cNvSpPr/>
                  <p:nvPr/>
                </p:nvSpPr>
                <p:spPr>
                  <a:xfrm>
                    <a:off x="1872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2" name="Line 87"/>
                  <p:cNvSpPr/>
                  <p:nvPr/>
                </p:nvSpPr>
                <p:spPr>
                  <a:xfrm>
                    <a:off x="2016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3" name="Line 88"/>
                  <p:cNvSpPr/>
                  <p:nvPr/>
                </p:nvSpPr>
                <p:spPr>
                  <a:xfrm>
                    <a:off x="2160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4" name="Line 89"/>
                  <p:cNvSpPr/>
                  <p:nvPr/>
                </p:nvSpPr>
                <p:spPr>
                  <a:xfrm>
                    <a:off x="2304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5" name="Line 90"/>
                  <p:cNvSpPr/>
                  <p:nvPr/>
                </p:nvSpPr>
                <p:spPr>
                  <a:xfrm>
                    <a:off x="2448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6" name="Line 91"/>
                  <p:cNvSpPr/>
                  <p:nvPr/>
                </p:nvSpPr>
                <p:spPr>
                  <a:xfrm>
                    <a:off x="2592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7" name="Line 92"/>
                  <p:cNvSpPr/>
                  <p:nvPr/>
                </p:nvSpPr>
                <p:spPr>
                  <a:xfrm>
                    <a:off x="2736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8" name="Line 93"/>
                  <p:cNvSpPr/>
                  <p:nvPr/>
                </p:nvSpPr>
                <p:spPr>
                  <a:xfrm>
                    <a:off x="2880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29" name="Line 94"/>
                  <p:cNvSpPr/>
                  <p:nvPr/>
                </p:nvSpPr>
                <p:spPr>
                  <a:xfrm>
                    <a:off x="3024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0" name="Line 95"/>
                  <p:cNvSpPr/>
                  <p:nvPr/>
                </p:nvSpPr>
                <p:spPr>
                  <a:xfrm>
                    <a:off x="3168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1" name="Line 96"/>
                  <p:cNvSpPr/>
                  <p:nvPr/>
                </p:nvSpPr>
                <p:spPr>
                  <a:xfrm>
                    <a:off x="3312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2" name="Line 97"/>
                  <p:cNvSpPr/>
                  <p:nvPr/>
                </p:nvSpPr>
                <p:spPr>
                  <a:xfrm>
                    <a:off x="3456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3" name="Line 98"/>
                  <p:cNvSpPr/>
                  <p:nvPr/>
                </p:nvSpPr>
                <p:spPr>
                  <a:xfrm>
                    <a:off x="3600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4" name="Line 99"/>
                  <p:cNvSpPr/>
                  <p:nvPr/>
                </p:nvSpPr>
                <p:spPr>
                  <a:xfrm>
                    <a:off x="3744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5" name="Line 100"/>
                  <p:cNvSpPr/>
                  <p:nvPr/>
                </p:nvSpPr>
                <p:spPr>
                  <a:xfrm>
                    <a:off x="3888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6" name="Line 101"/>
                  <p:cNvSpPr/>
                  <p:nvPr/>
                </p:nvSpPr>
                <p:spPr>
                  <a:xfrm>
                    <a:off x="4032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37" name="Line 102"/>
                  <p:cNvSpPr/>
                  <p:nvPr/>
                </p:nvSpPr>
                <p:spPr>
                  <a:xfrm>
                    <a:off x="4176" y="48"/>
                    <a:ext cx="0" cy="3648"/>
                  </a:xfrm>
                  <a:prstGeom prst="line">
                    <a:avLst/>
                  </a:prstGeom>
                  <a:ln w="9525" cap="flat" cmpd="sng">
                    <a:solidFill>
                      <a:srgbClr val="FFFF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601191" name="Rectangle 103"/>
                <p:cNvSpPr>
                  <a:spLocks noChangeArrowheads="1"/>
                </p:cNvSpPr>
                <p:nvPr/>
              </p:nvSpPr>
              <p:spPr bwMode="auto">
                <a:xfrm>
                  <a:off x="4320" y="3073"/>
                  <a:ext cx="289" cy="5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  <a:endPara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T</a:t>
                  </a:r>
                  <a:endParaRPr kumimoji="0" lang="en-US" altLang="zh-CN" sz="18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91239" name="Group 104"/>
                <p:cNvGrpSpPr/>
                <p:nvPr/>
              </p:nvGrpSpPr>
              <p:grpSpPr>
                <a:xfrm>
                  <a:off x="1104" y="1056"/>
                  <a:ext cx="528" cy="2448"/>
                  <a:chOff x="1104" y="1056"/>
                  <a:chExt cx="528" cy="2448"/>
                </a:xfrm>
              </p:grpSpPr>
              <p:sp>
                <p:nvSpPr>
                  <p:cNvPr id="91240" name="Oval 105"/>
                  <p:cNvSpPr/>
                  <p:nvPr/>
                </p:nvSpPr>
                <p:spPr>
                  <a:xfrm>
                    <a:off x="1104" y="105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1" name="Oval 106"/>
                  <p:cNvSpPr/>
                  <p:nvPr/>
                </p:nvSpPr>
                <p:spPr>
                  <a:xfrm>
                    <a:off x="1104" y="312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2" name="Oval 107"/>
                  <p:cNvSpPr/>
                  <p:nvPr/>
                </p:nvSpPr>
                <p:spPr>
                  <a:xfrm>
                    <a:off x="1248" y="124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3" name="Oval 108"/>
                  <p:cNvSpPr/>
                  <p:nvPr/>
                </p:nvSpPr>
                <p:spPr>
                  <a:xfrm>
                    <a:off x="1248" y="321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4" name="Oval 109"/>
                  <p:cNvSpPr/>
                  <p:nvPr/>
                </p:nvSpPr>
                <p:spPr>
                  <a:xfrm>
                    <a:off x="1392" y="144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5" name="Oval 110"/>
                  <p:cNvSpPr/>
                  <p:nvPr/>
                </p:nvSpPr>
                <p:spPr>
                  <a:xfrm>
                    <a:off x="1392" y="3312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6" name="Oval 111"/>
                  <p:cNvSpPr/>
                  <p:nvPr/>
                </p:nvSpPr>
                <p:spPr>
                  <a:xfrm>
                    <a:off x="1536" y="1632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47" name="Oval 112"/>
                  <p:cNvSpPr/>
                  <p:nvPr/>
                </p:nvSpPr>
                <p:spPr>
                  <a:xfrm>
                    <a:off x="1536" y="340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1248" name="Group 113"/>
                <p:cNvGrpSpPr/>
                <p:nvPr/>
              </p:nvGrpSpPr>
              <p:grpSpPr>
                <a:xfrm>
                  <a:off x="1680" y="48"/>
                  <a:ext cx="1104" cy="768"/>
                  <a:chOff x="1680" y="48"/>
                  <a:chExt cx="1104" cy="768"/>
                </a:xfrm>
              </p:grpSpPr>
              <p:sp>
                <p:nvSpPr>
                  <p:cNvPr id="91249" name="Oval 114"/>
                  <p:cNvSpPr/>
                  <p:nvPr/>
                </p:nvSpPr>
                <p:spPr>
                  <a:xfrm>
                    <a:off x="1680" y="144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0" name="Oval 115"/>
                  <p:cNvSpPr/>
                  <p:nvPr/>
                </p:nvSpPr>
                <p:spPr>
                  <a:xfrm>
                    <a:off x="1824" y="4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1" name="Oval 116"/>
                  <p:cNvSpPr/>
                  <p:nvPr/>
                </p:nvSpPr>
                <p:spPr>
                  <a:xfrm>
                    <a:off x="1968" y="33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2" name="Oval 117"/>
                  <p:cNvSpPr/>
                  <p:nvPr/>
                </p:nvSpPr>
                <p:spPr>
                  <a:xfrm>
                    <a:off x="2112" y="24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3" name="Oval 118"/>
                  <p:cNvSpPr/>
                  <p:nvPr/>
                </p:nvSpPr>
                <p:spPr>
                  <a:xfrm>
                    <a:off x="2256" y="52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4" name="Oval 119"/>
                  <p:cNvSpPr/>
                  <p:nvPr/>
                </p:nvSpPr>
                <p:spPr>
                  <a:xfrm>
                    <a:off x="2400" y="432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5" name="Oval 120"/>
                  <p:cNvSpPr/>
                  <p:nvPr/>
                </p:nvSpPr>
                <p:spPr>
                  <a:xfrm>
                    <a:off x="2544" y="72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1256" name="Oval 121"/>
                  <p:cNvSpPr/>
                  <p:nvPr/>
                </p:nvSpPr>
                <p:spPr>
                  <a:xfrm>
                    <a:off x="2688" y="624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1257" name="Group 122"/>
                <p:cNvGrpSpPr/>
                <p:nvPr/>
              </p:nvGrpSpPr>
              <p:grpSpPr>
                <a:xfrm>
                  <a:off x="288" y="48"/>
                  <a:ext cx="5136" cy="3840"/>
                  <a:chOff x="288" y="48"/>
                  <a:chExt cx="5136" cy="3840"/>
                </a:xfrm>
              </p:grpSpPr>
              <p:grpSp>
                <p:nvGrpSpPr>
                  <p:cNvPr id="91258" name="Group 123"/>
                  <p:cNvGrpSpPr/>
                  <p:nvPr/>
                </p:nvGrpSpPr>
                <p:grpSpPr>
                  <a:xfrm>
                    <a:off x="288" y="48"/>
                    <a:ext cx="5136" cy="2976"/>
                    <a:chOff x="288" y="48"/>
                    <a:chExt cx="5136" cy="2976"/>
                  </a:xfrm>
                </p:grpSpPr>
                <p:grpSp>
                  <p:nvGrpSpPr>
                    <p:cNvPr id="91259" name="Group 124"/>
                    <p:cNvGrpSpPr/>
                    <p:nvPr/>
                  </p:nvGrpSpPr>
                  <p:grpSpPr>
                    <a:xfrm>
                      <a:off x="4512" y="1824"/>
                      <a:ext cx="672" cy="1200"/>
                      <a:chOff x="4992" y="2112"/>
                      <a:chExt cx="672" cy="1200"/>
                    </a:xfrm>
                  </p:grpSpPr>
                  <p:sp>
                    <p:nvSpPr>
                      <p:cNvPr id="91260" name="Rectangle 125"/>
                      <p:cNvSpPr/>
                      <p:nvPr/>
                    </p:nvSpPr>
                    <p:spPr>
                      <a:xfrm>
                        <a:off x="4992" y="2112"/>
                        <a:ext cx="576" cy="12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61" name="Line 126"/>
                      <p:cNvSpPr/>
                      <p:nvPr/>
                    </p:nvSpPr>
                    <p:spPr>
                      <a:xfrm>
                        <a:off x="4992" y="2400"/>
                        <a:ext cx="57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1262" name="Line 127"/>
                      <p:cNvSpPr/>
                      <p:nvPr/>
                    </p:nvSpPr>
                    <p:spPr>
                      <a:xfrm>
                        <a:off x="4992" y="2736"/>
                        <a:ext cx="57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1263" name="Text Box 128"/>
                      <p:cNvSpPr txBox="1"/>
                      <p:nvPr/>
                    </p:nvSpPr>
                    <p:spPr>
                      <a:xfrm>
                        <a:off x="4992" y="2112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D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64" name="Text Box 129"/>
                      <p:cNvSpPr txBox="1"/>
                      <p:nvPr/>
                    </p:nvSpPr>
                    <p:spPr>
                      <a:xfrm>
                        <a:off x="5328" y="2112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Q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65" name="Line 130"/>
                      <p:cNvSpPr/>
                      <p:nvPr/>
                    </p:nvSpPr>
                    <p:spPr>
                      <a:xfrm>
                        <a:off x="4992" y="2736"/>
                        <a:ext cx="57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1266" name="Text Box 131"/>
                      <p:cNvSpPr txBox="1"/>
                      <p:nvPr/>
                    </p:nvSpPr>
                    <p:spPr>
                      <a:xfrm>
                        <a:off x="4992" y="2400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D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67" name="Text Box 132"/>
                      <p:cNvSpPr txBox="1"/>
                      <p:nvPr/>
                    </p:nvSpPr>
                    <p:spPr>
                      <a:xfrm>
                        <a:off x="5376" y="2400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Q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68" name="Line 133"/>
                      <p:cNvSpPr/>
                      <p:nvPr/>
                    </p:nvSpPr>
                    <p:spPr>
                      <a:xfrm>
                        <a:off x="4992" y="3024"/>
                        <a:ext cx="57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1269" name="Text Box 134"/>
                      <p:cNvSpPr txBox="1"/>
                      <p:nvPr/>
                    </p:nvSpPr>
                    <p:spPr>
                      <a:xfrm>
                        <a:off x="4992" y="2736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D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70" name="Text Box 135"/>
                      <p:cNvSpPr txBox="1"/>
                      <p:nvPr/>
                    </p:nvSpPr>
                    <p:spPr>
                      <a:xfrm>
                        <a:off x="5376" y="2736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Q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71" name="Text Box 136"/>
                      <p:cNvSpPr txBox="1"/>
                      <p:nvPr/>
                    </p:nvSpPr>
                    <p:spPr>
                      <a:xfrm>
                        <a:off x="4992" y="3024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D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1272" name="Text Box 137"/>
                      <p:cNvSpPr txBox="1"/>
                      <p:nvPr/>
                    </p:nvSpPr>
                    <p:spPr>
                      <a:xfrm>
                        <a:off x="5376" y="3024"/>
                        <a:ext cx="288" cy="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Q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91273" name="Text Box 138"/>
                    <p:cNvSpPr txBox="1"/>
                    <p:nvPr/>
                  </p:nvSpPr>
                  <p:spPr>
                    <a:xfrm>
                      <a:off x="288" y="48"/>
                      <a:ext cx="432" cy="97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>
                      <a:spAutoFit/>
                    </a:bodyPr>
                    <a:p>
                      <a:pPr>
                        <a:lnSpc>
                          <a:spcPct val="80000"/>
                        </a:lnSpc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80000"/>
                        </a:lnSpc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80000"/>
                        </a:lnSpc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80000"/>
                        </a:lnSpc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80000"/>
                        </a:lnSpc>
                        <a:buClrTx/>
                        <a:buFontTx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1274" name="Line 139"/>
                    <p:cNvSpPr/>
                    <p:nvPr/>
                  </p:nvSpPr>
                  <p:spPr>
                    <a:xfrm>
                      <a:off x="5136" y="1728"/>
                      <a:ext cx="0" cy="24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75" name="Line 140"/>
                    <p:cNvSpPr/>
                    <p:nvPr/>
                  </p:nvSpPr>
                  <p:spPr>
                    <a:xfrm flipH="1">
                      <a:off x="5088" y="1968"/>
                      <a:ext cx="48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76" name="Line 141"/>
                    <p:cNvSpPr/>
                    <p:nvPr/>
                  </p:nvSpPr>
                  <p:spPr>
                    <a:xfrm>
                      <a:off x="5088" y="2256"/>
                      <a:ext cx="14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77" name="Line 142"/>
                    <p:cNvSpPr/>
                    <p:nvPr/>
                  </p:nvSpPr>
                  <p:spPr>
                    <a:xfrm flipV="1">
                      <a:off x="5232" y="1536"/>
                      <a:ext cx="0" cy="72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78" name="Line 143"/>
                    <p:cNvSpPr/>
                    <p:nvPr/>
                  </p:nvSpPr>
                  <p:spPr>
                    <a:xfrm>
                      <a:off x="5088" y="2592"/>
                      <a:ext cx="240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79" name="Line 144"/>
                    <p:cNvSpPr/>
                    <p:nvPr/>
                  </p:nvSpPr>
                  <p:spPr>
                    <a:xfrm flipV="1">
                      <a:off x="5328" y="1344"/>
                      <a:ext cx="0" cy="124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80" name="Line 145"/>
                    <p:cNvSpPr/>
                    <p:nvPr/>
                  </p:nvSpPr>
                  <p:spPr>
                    <a:xfrm>
                      <a:off x="5088" y="2880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1281" name="Line 146"/>
                    <p:cNvSpPr/>
                    <p:nvPr/>
                  </p:nvSpPr>
                  <p:spPr>
                    <a:xfrm flipV="1">
                      <a:off x="5424" y="1152"/>
                      <a:ext cx="0" cy="172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91282" name="Line 147"/>
                  <p:cNvSpPr/>
                  <p:nvPr/>
                </p:nvSpPr>
                <p:spPr>
                  <a:xfrm>
                    <a:off x="4320" y="3552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83" name="Line 148"/>
                  <p:cNvSpPr/>
                  <p:nvPr/>
                </p:nvSpPr>
                <p:spPr>
                  <a:xfrm flipH="1">
                    <a:off x="576" y="3888"/>
                    <a:ext cx="374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284" name="Line 149"/>
                  <p:cNvSpPr/>
                  <p:nvPr/>
                </p:nvSpPr>
                <p:spPr>
                  <a:xfrm flipV="1">
                    <a:off x="576" y="912"/>
                    <a:ext cx="0" cy="297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601238" name="Rectangle 150"/>
              <p:cNvSpPr>
                <a:spLocks noChangeArrowheads="1"/>
              </p:cNvSpPr>
              <p:nvPr/>
            </p:nvSpPr>
            <p:spPr bwMode="auto">
              <a:xfrm>
                <a:off x="4848" y="1104"/>
                <a:ext cx="432" cy="6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6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91286" name="Group 151"/>
              <p:cNvGrpSpPr/>
              <p:nvPr/>
            </p:nvGrpSpPr>
            <p:grpSpPr>
              <a:xfrm>
                <a:off x="4128" y="816"/>
                <a:ext cx="96" cy="1008"/>
                <a:chOff x="4128" y="816"/>
                <a:chExt cx="96" cy="1008"/>
              </a:xfrm>
            </p:grpSpPr>
            <p:sp>
              <p:nvSpPr>
                <p:cNvPr id="91287" name="Oval 152"/>
                <p:cNvSpPr/>
                <p:nvPr/>
              </p:nvSpPr>
              <p:spPr>
                <a:xfrm>
                  <a:off x="4128" y="172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1288" name="Oval 153"/>
                <p:cNvSpPr/>
                <p:nvPr/>
              </p:nvSpPr>
              <p:spPr>
                <a:xfrm>
                  <a:off x="4128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1289" name="Oval 154"/>
              <p:cNvSpPr/>
              <p:nvPr/>
            </p:nvSpPr>
            <p:spPr>
              <a:xfrm>
                <a:off x="4128" y="192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90" name="Group 155"/>
            <p:cNvGrpSpPr/>
            <p:nvPr/>
          </p:nvGrpSpPr>
          <p:grpSpPr>
            <a:xfrm>
              <a:off x="3984" y="816"/>
              <a:ext cx="96" cy="912"/>
              <a:chOff x="3984" y="816"/>
              <a:chExt cx="96" cy="912"/>
            </a:xfrm>
          </p:grpSpPr>
          <p:sp>
            <p:nvSpPr>
              <p:cNvPr id="91291" name="Oval 156"/>
              <p:cNvSpPr/>
              <p:nvPr/>
            </p:nvSpPr>
            <p:spPr>
              <a:xfrm>
                <a:off x="3984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292" name="Oval 157"/>
              <p:cNvSpPr/>
              <p:nvPr/>
            </p:nvSpPr>
            <p:spPr>
              <a:xfrm>
                <a:off x="3984" y="153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293" name="Oval 158"/>
              <p:cNvSpPr/>
              <p:nvPr/>
            </p:nvSpPr>
            <p:spPr>
              <a:xfrm>
                <a:off x="3984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94" name="Group 159"/>
            <p:cNvGrpSpPr/>
            <p:nvPr/>
          </p:nvGrpSpPr>
          <p:grpSpPr>
            <a:xfrm>
              <a:off x="3840" y="816"/>
              <a:ext cx="96" cy="1008"/>
              <a:chOff x="3840" y="816"/>
              <a:chExt cx="96" cy="1008"/>
            </a:xfrm>
          </p:grpSpPr>
          <p:sp>
            <p:nvSpPr>
              <p:cNvPr id="91295" name="Oval 160"/>
              <p:cNvSpPr/>
              <p:nvPr/>
            </p:nvSpPr>
            <p:spPr>
              <a:xfrm>
                <a:off x="3840" y="14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296" name="Oval 161"/>
              <p:cNvSpPr/>
              <p:nvPr/>
            </p:nvSpPr>
            <p:spPr>
              <a:xfrm>
                <a:off x="3840" y="172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297" name="Oval 162"/>
              <p:cNvSpPr/>
              <p:nvPr/>
            </p:nvSpPr>
            <p:spPr>
              <a:xfrm>
                <a:off x="3840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98" name="Group 163"/>
            <p:cNvGrpSpPr/>
            <p:nvPr/>
          </p:nvGrpSpPr>
          <p:grpSpPr>
            <a:xfrm>
              <a:off x="3840" y="2208"/>
              <a:ext cx="240" cy="96"/>
              <a:chOff x="3840" y="2208"/>
              <a:chExt cx="240" cy="96"/>
            </a:xfrm>
          </p:grpSpPr>
          <p:sp>
            <p:nvSpPr>
              <p:cNvPr id="91299" name="Oval 164"/>
              <p:cNvSpPr/>
              <p:nvPr/>
            </p:nvSpPr>
            <p:spPr>
              <a:xfrm>
                <a:off x="3984" y="220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300" name="Oval 165"/>
              <p:cNvSpPr/>
              <p:nvPr/>
            </p:nvSpPr>
            <p:spPr>
              <a:xfrm>
                <a:off x="3840" y="220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01262" name="Group 174"/>
          <p:cNvGrpSpPr/>
          <p:nvPr/>
        </p:nvGrpSpPr>
        <p:grpSpPr>
          <a:xfrm>
            <a:off x="5867400" y="1295400"/>
            <a:ext cx="152400" cy="2819400"/>
            <a:chOff x="3696" y="816"/>
            <a:chExt cx="96" cy="1776"/>
          </a:xfrm>
        </p:grpSpPr>
        <p:sp>
          <p:nvSpPr>
            <p:cNvPr id="91302" name="Oval 169"/>
            <p:cNvSpPr/>
            <p:nvPr/>
          </p:nvSpPr>
          <p:spPr>
            <a:xfrm>
              <a:off x="3696" y="13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03" name="Oval 170"/>
            <p:cNvSpPr/>
            <p:nvPr/>
          </p:nvSpPr>
          <p:spPr>
            <a:xfrm>
              <a:off x="3696" y="16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04" name="Oval 171"/>
            <p:cNvSpPr/>
            <p:nvPr/>
          </p:nvSpPr>
          <p:spPr>
            <a:xfrm>
              <a:off x="3696" y="14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05" name="Oval 172"/>
            <p:cNvSpPr/>
            <p:nvPr/>
          </p:nvSpPr>
          <p:spPr>
            <a:xfrm>
              <a:off x="3696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06" name="Oval 173"/>
            <p:cNvSpPr/>
            <p:nvPr/>
          </p:nvSpPr>
          <p:spPr>
            <a:xfrm>
              <a:off x="3696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1267" name="Group 179"/>
          <p:cNvGrpSpPr/>
          <p:nvPr/>
        </p:nvGrpSpPr>
        <p:grpSpPr>
          <a:xfrm>
            <a:off x="5638800" y="1295400"/>
            <a:ext cx="152400" cy="2819400"/>
            <a:chOff x="3552" y="816"/>
            <a:chExt cx="96" cy="1776"/>
          </a:xfrm>
        </p:grpSpPr>
        <p:sp>
          <p:nvSpPr>
            <p:cNvPr id="91308" name="Oval 175"/>
            <p:cNvSpPr/>
            <p:nvPr/>
          </p:nvSpPr>
          <p:spPr>
            <a:xfrm>
              <a:off x="3552" y="12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09" name="Oval 176"/>
            <p:cNvSpPr/>
            <p:nvPr/>
          </p:nvSpPr>
          <p:spPr>
            <a:xfrm>
              <a:off x="3552" y="15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10" name="Oval 177"/>
            <p:cNvSpPr/>
            <p:nvPr/>
          </p:nvSpPr>
          <p:spPr>
            <a:xfrm>
              <a:off x="3552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11" name="Oval 178"/>
            <p:cNvSpPr/>
            <p:nvPr/>
          </p:nvSpPr>
          <p:spPr>
            <a:xfrm>
              <a:off x="3552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1272" name="Group 184"/>
          <p:cNvGrpSpPr/>
          <p:nvPr/>
        </p:nvGrpSpPr>
        <p:grpSpPr>
          <a:xfrm>
            <a:off x="5410200" y="1295400"/>
            <a:ext cx="152400" cy="2819400"/>
            <a:chOff x="3408" y="816"/>
            <a:chExt cx="96" cy="1776"/>
          </a:xfrm>
        </p:grpSpPr>
        <p:sp>
          <p:nvSpPr>
            <p:cNvPr id="91313" name="Oval 180"/>
            <p:cNvSpPr/>
            <p:nvPr/>
          </p:nvSpPr>
          <p:spPr>
            <a:xfrm>
              <a:off x="3408" y="12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14" name="Oval 181"/>
            <p:cNvSpPr/>
            <p:nvPr/>
          </p:nvSpPr>
          <p:spPr>
            <a:xfrm>
              <a:off x="3408" y="17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15" name="Oval 182"/>
            <p:cNvSpPr/>
            <p:nvPr/>
          </p:nvSpPr>
          <p:spPr>
            <a:xfrm>
              <a:off x="340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316" name="Oval 183"/>
            <p:cNvSpPr/>
            <p:nvPr/>
          </p:nvSpPr>
          <p:spPr>
            <a:xfrm>
              <a:off x="3408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" name="文本框 17"/>
          <p:cNvSpPr txBox="1"/>
          <p:nvPr/>
        </p:nvSpPr>
        <p:spPr>
          <a:xfrm>
            <a:off x="650875" y="6276975"/>
            <a:ext cx="4032250" cy="458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     — 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)T</a:t>
            </a:r>
            <a:endParaRPr lang="en-US" altLang="zh-CN" sz="2000" baseline="-25000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1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1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162" name="Group 183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92163" name="Group 4"/>
            <p:cNvGrpSpPr/>
            <p:nvPr/>
          </p:nvGrpSpPr>
          <p:grpSpPr>
            <a:xfrm>
              <a:off x="288" y="48"/>
              <a:ext cx="5136" cy="3840"/>
              <a:chOff x="288" y="48"/>
              <a:chExt cx="5136" cy="3840"/>
            </a:xfrm>
          </p:grpSpPr>
          <p:grpSp>
            <p:nvGrpSpPr>
              <p:cNvPr id="92164" name="Group 5"/>
              <p:cNvGrpSpPr/>
              <p:nvPr/>
            </p:nvGrpSpPr>
            <p:grpSpPr>
              <a:xfrm>
                <a:off x="288" y="48"/>
                <a:ext cx="5136" cy="3840"/>
                <a:chOff x="288" y="48"/>
                <a:chExt cx="5136" cy="3840"/>
              </a:xfrm>
            </p:grpSpPr>
            <p:grpSp>
              <p:nvGrpSpPr>
                <p:cNvPr id="92165" name="Group 6"/>
                <p:cNvGrpSpPr/>
                <p:nvPr/>
              </p:nvGrpSpPr>
              <p:grpSpPr>
                <a:xfrm>
                  <a:off x="288" y="48"/>
                  <a:ext cx="5136" cy="3840"/>
                  <a:chOff x="288" y="48"/>
                  <a:chExt cx="5136" cy="3840"/>
                </a:xfrm>
              </p:grpSpPr>
              <p:grpSp>
                <p:nvGrpSpPr>
                  <p:cNvPr id="92166" name="Group 7"/>
                  <p:cNvGrpSpPr/>
                  <p:nvPr/>
                </p:nvGrpSpPr>
                <p:grpSpPr>
                  <a:xfrm>
                    <a:off x="960" y="1968"/>
                    <a:ext cx="3552" cy="1584"/>
                    <a:chOff x="960" y="1968"/>
                    <a:chExt cx="3552" cy="1584"/>
                  </a:xfrm>
                </p:grpSpPr>
                <p:sp>
                  <p:nvSpPr>
                    <p:cNvPr id="92167" name="Line 8"/>
                    <p:cNvSpPr/>
                    <p:nvPr/>
                  </p:nvSpPr>
                  <p:spPr>
                    <a:xfrm>
                      <a:off x="960" y="1968"/>
                      <a:ext cx="355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68" name="Line 9"/>
                    <p:cNvSpPr/>
                    <p:nvPr/>
                  </p:nvSpPr>
                  <p:spPr>
                    <a:xfrm>
                      <a:off x="960" y="2256"/>
                      <a:ext cx="355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69" name="Line 10"/>
                    <p:cNvSpPr/>
                    <p:nvPr/>
                  </p:nvSpPr>
                  <p:spPr>
                    <a:xfrm>
                      <a:off x="960" y="2544"/>
                      <a:ext cx="355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0" name="Line 11"/>
                    <p:cNvSpPr/>
                    <p:nvPr/>
                  </p:nvSpPr>
                  <p:spPr>
                    <a:xfrm>
                      <a:off x="960" y="2928"/>
                      <a:ext cx="355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1" name="Line 12"/>
                    <p:cNvSpPr/>
                    <p:nvPr/>
                  </p:nvSpPr>
                  <p:spPr>
                    <a:xfrm>
                      <a:off x="1008" y="3168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2" name="Line 13"/>
                    <p:cNvSpPr/>
                    <p:nvPr/>
                  </p:nvSpPr>
                  <p:spPr>
                    <a:xfrm>
                      <a:off x="1008" y="3264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3" name="Line 14"/>
                    <p:cNvSpPr/>
                    <p:nvPr/>
                  </p:nvSpPr>
                  <p:spPr>
                    <a:xfrm>
                      <a:off x="1008" y="3360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4" name="Line 15"/>
                    <p:cNvSpPr/>
                    <p:nvPr/>
                  </p:nvSpPr>
                  <p:spPr>
                    <a:xfrm>
                      <a:off x="1008" y="3456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5" name="Line 16"/>
                    <p:cNvSpPr/>
                    <p:nvPr/>
                  </p:nvSpPr>
                  <p:spPr>
                    <a:xfrm>
                      <a:off x="1008" y="3552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92176" name="Group 17"/>
                  <p:cNvGrpSpPr/>
                  <p:nvPr/>
                </p:nvGrpSpPr>
                <p:grpSpPr>
                  <a:xfrm>
                    <a:off x="576" y="96"/>
                    <a:ext cx="4848" cy="1680"/>
                    <a:chOff x="576" y="96"/>
                    <a:chExt cx="4848" cy="1680"/>
                  </a:xfrm>
                </p:grpSpPr>
                <p:sp>
                  <p:nvSpPr>
                    <p:cNvPr id="92177" name="Line 18"/>
                    <p:cNvSpPr/>
                    <p:nvPr/>
                  </p:nvSpPr>
                  <p:spPr>
                    <a:xfrm>
                      <a:off x="912" y="96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8" name="Line 19"/>
                    <p:cNvSpPr/>
                    <p:nvPr/>
                  </p:nvSpPr>
                  <p:spPr>
                    <a:xfrm>
                      <a:off x="912" y="96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79" name="Line 20"/>
                    <p:cNvSpPr/>
                    <p:nvPr/>
                  </p:nvSpPr>
                  <p:spPr>
                    <a:xfrm flipH="1">
                      <a:off x="912" y="144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0" name="Oval 21"/>
                    <p:cNvSpPr/>
                    <p:nvPr/>
                  </p:nvSpPr>
                  <p:spPr>
                    <a:xfrm>
                      <a:off x="960" y="144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181" name="Line 22"/>
                    <p:cNvSpPr/>
                    <p:nvPr/>
                  </p:nvSpPr>
                  <p:spPr>
                    <a:xfrm flipH="1">
                      <a:off x="576" y="144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2" name="Line 23"/>
                    <p:cNvSpPr/>
                    <p:nvPr/>
                  </p:nvSpPr>
                  <p:spPr>
                    <a:xfrm>
                      <a:off x="960" y="96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3" name="Line 24"/>
                    <p:cNvSpPr/>
                    <p:nvPr/>
                  </p:nvSpPr>
                  <p:spPr>
                    <a:xfrm>
                      <a:off x="1008" y="192"/>
                      <a:ext cx="326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4" name="Line 25"/>
                    <p:cNvSpPr/>
                    <p:nvPr/>
                  </p:nvSpPr>
                  <p:spPr>
                    <a:xfrm>
                      <a:off x="912" y="288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5" name="Line 26"/>
                    <p:cNvSpPr/>
                    <p:nvPr/>
                  </p:nvSpPr>
                  <p:spPr>
                    <a:xfrm>
                      <a:off x="912" y="288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6" name="Line 27"/>
                    <p:cNvSpPr/>
                    <p:nvPr/>
                  </p:nvSpPr>
                  <p:spPr>
                    <a:xfrm flipH="1">
                      <a:off x="912" y="336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7" name="Oval 28"/>
                    <p:cNvSpPr/>
                    <p:nvPr/>
                  </p:nvSpPr>
                  <p:spPr>
                    <a:xfrm>
                      <a:off x="960" y="336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188" name="Line 29"/>
                    <p:cNvSpPr/>
                    <p:nvPr/>
                  </p:nvSpPr>
                  <p:spPr>
                    <a:xfrm flipH="1">
                      <a:off x="576" y="336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89" name="Line 30"/>
                    <p:cNvSpPr/>
                    <p:nvPr/>
                  </p:nvSpPr>
                  <p:spPr>
                    <a:xfrm>
                      <a:off x="960" y="288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0" name="Line 31"/>
                    <p:cNvSpPr/>
                    <p:nvPr/>
                  </p:nvSpPr>
                  <p:spPr>
                    <a:xfrm>
                      <a:off x="1008" y="384"/>
                      <a:ext cx="326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1" name="Line 32"/>
                    <p:cNvSpPr/>
                    <p:nvPr/>
                  </p:nvSpPr>
                  <p:spPr>
                    <a:xfrm>
                      <a:off x="912" y="480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2" name="Line 33"/>
                    <p:cNvSpPr/>
                    <p:nvPr/>
                  </p:nvSpPr>
                  <p:spPr>
                    <a:xfrm>
                      <a:off x="912" y="480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3" name="Line 34"/>
                    <p:cNvSpPr/>
                    <p:nvPr/>
                  </p:nvSpPr>
                  <p:spPr>
                    <a:xfrm flipH="1">
                      <a:off x="912" y="528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4" name="Oval 35"/>
                    <p:cNvSpPr/>
                    <p:nvPr/>
                  </p:nvSpPr>
                  <p:spPr>
                    <a:xfrm>
                      <a:off x="960" y="528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195" name="Line 36"/>
                    <p:cNvSpPr/>
                    <p:nvPr/>
                  </p:nvSpPr>
                  <p:spPr>
                    <a:xfrm flipH="1">
                      <a:off x="576" y="528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6" name="Line 37"/>
                    <p:cNvSpPr/>
                    <p:nvPr/>
                  </p:nvSpPr>
                  <p:spPr>
                    <a:xfrm>
                      <a:off x="960" y="480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7" name="Line 38"/>
                    <p:cNvSpPr/>
                    <p:nvPr/>
                  </p:nvSpPr>
                  <p:spPr>
                    <a:xfrm>
                      <a:off x="1008" y="576"/>
                      <a:ext cx="326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8" name="Line 39"/>
                    <p:cNvSpPr/>
                    <p:nvPr/>
                  </p:nvSpPr>
                  <p:spPr>
                    <a:xfrm>
                      <a:off x="912" y="672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199" name="Line 40"/>
                    <p:cNvSpPr/>
                    <p:nvPr/>
                  </p:nvSpPr>
                  <p:spPr>
                    <a:xfrm>
                      <a:off x="912" y="672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0" name="Line 41"/>
                    <p:cNvSpPr/>
                    <p:nvPr/>
                  </p:nvSpPr>
                  <p:spPr>
                    <a:xfrm flipH="1">
                      <a:off x="912" y="720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1" name="Oval 42"/>
                    <p:cNvSpPr/>
                    <p:nvPr/>
                  </p:nvSpPr>
                  <p:spPr>
                    <a:xfrm>
                      <a:off x="960" y="720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02" name="Line 43"/>
                    <p:cNvSpPr/>
                    <p:nvPr/>
                  </p:nvSpPr>
                  <p:spPr>
                    <a:xfrm flipH="1">
                      <a:off x="576" y="720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3" name="Line 44"/>
                    <p:cNvSpPr/>
                    <p:nvPr/>
                  </p:nvSpPr>
                  <p:spPr>
                    <a:xfrm>
                      <a:off x="960" y="672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4" name="Line 45"/>
                    <p:cNvSpPr/>
                    <p:nvPr/>
                  </p:nvSpPr>
                  <p:spPr>
                    <a:xfrm>
                      <a:off x="1008" y="768"/>
                      <a:ext cx="326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5" name="Line 46"/>
                    <p:cNvSpPr/>
                    <p:nvPr/>
                  </p:nvSpPr>
                  <p:spPr>
                    <a:xfrm>
                      <a:off x="4800" y="110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6" name="Line 47"/>
                    <p:cNvSpPr/>
                    <p:nvPr/>
                  </p:nvSpPr>
                  <p:spPr>
                    <a:xfrm>
                      <a:off x="4656" y="1152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7" name="Line 48"/>
                    <p:cNvSpPr/>
                    <p:nvPr/>
                  </p:nvSpPr>
                  <p:spPr>
                    <a:xfrm flipH="1">
                      <a:off x="4656" y="1104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08" name="Oval 49"/>
                    <p:cNvSpPr/>
                    <p:nvPr/>
                  </p:nvSpPr>
                  <p:spPr>
                    <a:xfrm>
                      <a:off x="4704" y="1152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09" name="Line 50"/>
                    <p:cNvSpPr/>
                    <p:nvPr/>
                  </p:nvSpPr>
                  <p:spPr>
                    <a:xfrm flipH="1">
                      <a:off x="4800" y="1152"/>
                      <a:ext cx="62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0" name="Line 51"/>
                    <p:cNvSpPr/>
                    <p:nvPr/>
                  </p:nvSpPr>
                  <p:spPr>
                    <a:xfrm>
                      <a:off x="960" y="1104"/>
                      <a:ext cx="379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1" name="Line 52"/>
                    <p:cNvSpPr/>
                    <p:nvPr/>
                  </p:nvSpPr>
                  <p:spPr>
                    <a:xfrm>
                      <a:off x="1008" y="1200"/>
                      <a:ext cx="374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2" name="Line 53"/>
                    <p:cNvSpPr/>
                    <p:nvPr/>
                  </p:nvSpPr>
                  <p:spPr>
                    <a:xfrm>
                      <a:off x="960" y="1296"/>
                      <a:ext cx="379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3" name="Line 54"/>
                    <p:cNvSpPr/>
                    <p:nvPr/>
                  </p:nvSpPr>
                  <p:spPr>
                    <a:xfrm>
                      <a:off x="1008" y="1392"/>
                      <a:ext cx="374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4" name="Line 55"/>
                    <p:cNvSpPr/>
                    <p:nvPr/>
                  </p:nvSpPr>
                  <p:spPr>
                    <a:xfrm>
                      <a:off x="960" y="1488"/>
                      <a:ext cx="379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5" name="Line 56"/>
                    <p:cNvSpPr/>
                    <p:nvPr/>
                  </p:nvSpPr>
                  <p:spPr>
                    <a:xfrm>
                      <a:off x="1008" y="1584"/>
                      <a:ext cx="374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6" name="Line 57"/>
                    <p:cNvSpPr/>
                    <p:nvPr/>
                  </p:nvSpPr>
                  <p:spPr>
                    <a:xfrm>
                      <a:off x="960" y="1680"/>
                      <a:ext cx="379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7" name="Line 58"/>
                    <p:cNvSpPr/>
                    <p:nvPr/>
                  </p:nvSpPr>
                  <p:spPr>
                    <a:xfrm>
                      <a:off x="1008" y="1776"/>
                      <a:ext cx="374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8" name="Line 59"/>
                    <p:cNvSpPr/>
                    <p:nvPr/>
                  </p:nvSpPr>
                  <p:spPr>
                    <a:xfrm>
                      <a:off x="912" y="86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19" name="Line 60"/>
                    <p:cNvSpPr/>
                    <p:nvPr/>
                  </p:nvSpPr>
                  <p:spPr>
                    <a:xfrm>
                      <a:off x="912" y="864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0" name="Line 61"/>
                    <p:cNvSpPr/>
                    <p:nvPr/>
                  </p:nvSpPr>
                  <p:spPr>
                    <a:xfrm flipH="1">
                      <a:off x="912" y="912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1" name="Oval 62"/>
                    <p:cNvSpPr/>
                    <p:nvPr/>
                  </p:nvSpPr>
                  <p:spPr>
                    <a:xfrm>
                      <a:off x="960" y="912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22" name="Line 63"/>
                    <p:cNvSpPr/>
                    <p:nvPr/>
                  </p:nvSpPr>
                  <p:spPr>
                    <a:xfrm flipH="1">
                      <a:off x="576" y="912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3" name="Line 64"/>
                    <p:cNvSpPr/>
                    <p:nvPr/>
                  </p:nvSpPr>
                  <p:spPr>
                    <a:xfrm>
                      <a:off x="960" y="864"/>
                      <a:ext cx="331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4" name="Line 65"/>
                    <p:cNvSpPr/>
                    <p:nvPr/>
                  </p:nvSpPr>
                  <p:spPr>
                    <a:xfrm>
                      <a:off x="1008" y="960"/>
                      <a:ext cx="3264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5" name="Line 66"/>
                    <p:cNvSpPr/>
                    <p:nvPr/>
                  </p:nvSpPr>
                  <p:spPr>
                    <a:xfrm>
                      <a:off x="4800" y="1296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6" name="Line 67"/>
                    <p:cNvSpPr/>
                    <p:nvPr/>
                  </p:nvSpPr>
                  <p:spPr>
                    <a:xfrm>
                      <a:off x="4656" y="1344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7" name="Line 68"/>
                    <p:cNvSpPr/>
                    <p:nvPr/>
                  </p:nvSpPr>
                  <p:spPr>
                    <a:xfrm flipH="1">
                      <a:off x="4656" y="1296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28" name="Oval 69"/>
                    <p:cNvSpPr/>
                    <p:nvPr/>
                  </p:nvSpPr>
                  <p:spPr>
                    <a:xfrm>
                      <a:off x="4704" y="1344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29" name="Line 70"/>
                    <p:cNvSpPr/>
                    <p:nvPr/>
                  </p:nvSpPr>
                  <p:spPr>
                    <a:xfrm flipH="1">
                      <a:off x="4800" y="1344"/>
                      <a:ext cx="528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0" name="Line 71"/>
                    <p:cNvSpPr/>
                    <p:nvPr/>
                  </p:nvSpPr>
                  <p:spPr>
                    <a:xfrm>
                      <a:off x="4800" y="1488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1" name="Line 72"/>
                    <p:cNvSpPr/>
                    <p:nvPr/>
                  </p:nvSpPr>
                  <p:spPr>
                    <a:xfrm>
                      <a:off x="4656" y="1536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2" name="Line 73"/>
                    <p:cNvSpPr/>
                    <p:nvPr/>
                  </p:nvSpPr>
                  <p:spPr>
                    <a:xfrm flipH="1">
                      <a:off x="4656" y="1488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3" name="Oval 74"/>
                    <p:cNvSpPr/>
                    <p:nvPr/>
                  </p:nvSpPr>
                  <p:spPr>
                    <a:xfrm>
                      <a:off x="4704" y="1536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34" name="Line 75"/>
                    <p:cNvSpPr/>
                    <p:nvPr/>
                  </p:nvSpPr>
                  <p:spPr>
                    <a:xfrm flipH="1">
                      <a:off x="4800" y="1536"/>
                      <a:ext cx="432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5" name="Line 76"/>
                    <p:cNvSpPr/>
                    <p:nvPr/>
                  </p:nvSpPr>
                  <p:spPr>
                    <a:xfrm>
                      <a:off x="4800" y="1680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6" name="Line 77"/>
                    <p:cNvSpPr/>
                    <p:nvPr/>
                  </p:nvSpPr>
                  <p:spPr>
                    <a:xfrm>
                      <a:off x="4656" y="1728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7" name="Line 78"/>
                    <p:cNvSpPr/>
                    <p:nvPr/>
                  </p:nvSpPr>
                  <p:spPr>
                    <a:xfrm flipH="1">
                      <a:off x="4656" y="1680"/>
                      <a:ext cx="144" cy="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38" name="Oval 79"/>
                    <p:cNvSpPr/>
                    <p:nvPr/>
                  </p:nvSpPr>
                  <p:spPr>
                    <a:xfrm>
                      <a:off x="4704" y="1728"/>
                      <a:ext cx="48" cy="48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39" name="Line 80"/>
                    <p:cNvSpPr/>
                    <p:nvPr/>
                  </p:nvSpPr>
                  <p:spPr>
                    <a:xfrm flipH="1">
                      <a:off x="4800" y="1728"/>
                      <a:ext cx="336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92240" name="Group 81"/>
                  <p:cNvGrpSpPr/>
                  <p:nvPr/>
                </p:nvGrpSpPr>
                <p:grpSpPr>
                  <a:xfrm>
                    <a:off x="1152" y="48"/>
                    <a:ext cx="3024" cy="3648"/>
                    <a:chOff x="1152" y="48"/>
                    <a:chExt cx="3024" cy="3648"/>
                  </a:xfrm>
                </p:grpSpPr>
                <p:sp>
                  <p:nvSpPr>
                    <p:cNvPr id="92241" name="Line 82"/>
                    <p:cNvSpPr/>
                    <p:nvPr/>
                  </p:nvSpPr>
                  <p:spPr>
                    <a:xfrm>
                      <a:off x="1152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2" name="Line 83"/>
                    <p:cNvSpPr/>
                    <p:nvPr/>
                  </p:nvSpPr>
                  <p:spPr>
                    <a:xfrm>
                      <a:off x="1296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3" name="Line 84"/>
                    <p:cNvSpPr/>
                    <p:nvPr/>
                  </p:nvSpPr>
                  <p:spPr>
                    <a:xfrm>
                      <a:off x="1440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4" name="Line 85"/>
                    <p:cNvSpPr/>
                    <p:nvPr/>
                  </p:nvSpPr>
                  <p:spPr>
                    <a:xfrm>
                      <a:off x="1584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5" name="Line 86"/>
                    <p:cNvSpPr/>
                    <p:nvPr/>
                  </p:nvSpPr>
                  <p:spPr>
                    <a:xfrm>
                      <a:off x="1728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6" name="Line 87"/>
                    <p:cNvSpPr/>
                    <p:nvPr/>
                  </p:nvSpPr>
                  <p:spPr>
                    <a:xfrm>
                      <a:off x="1872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7" name="Line 88"/>
                    <p:cNvSpPr/>
                    <p:nvPr/>
                  </p:nvSpPr>
                  <p:spPr>
                    <a:xfrm>
                      <a:off x="2016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8" name="Line 89"/>
                    <p:cNvSpPr/>
                    <p:nvPr/>
                  </p:nvSpPr>
                  <p:spPr>
                    <a:xfrm>
                      <a:off x="2160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49" name="Line 90"/>
                    <p:cNvSpPr/>
                    <p:nvPr/>
                  </p:nvSpPr>
                  <p:spPr>
                    <a:xfrm>
                      <a:off x="2304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0" name="Line 91"/>
                    <p:cNvSpPr/>
                    <p:nvPr/>
                  </p:nvSpPr>
                  <p:spPr>
                    <a:xfrm>
                      <a:off x="2448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1" name="Line 92"/>
                    <p:cNvSpPr/>
                    <p:nvPr/>
                  </p:nvSpPr>
                  <p:spPr>
                    <a:xfrm>
                      <a:off x="2592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2" name="Line 93"/>
                    <p:cNvSpPr/>
                    <p:nvPr/>
                  </p:nvSpPr>
                  <p:spPr>
                    <a:xfrm>
                      <a:off x="2736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3" name="Line 94"/>
                    <p:cNvSpPr/>
                    <p:nvPr/>
                  </p:nvSpPr>
                  <p:spPr>
                    <a:xfrm>
                      <a:off x="2880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4" name="Line 95"/>
                    <p:cNvSpPr/>
                    <p:nvPr/>
                  </p:nvSpPr>
                  <p:spPr>
                    <a:xfrm>
                      <a:off x="3024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5" name="Line 96"/>
                    <p:cNvSpPr/>
                    <p:nvPr/>
                  </p:nvSpPr>
                  <p:spPr>
                    <a:xfrm>
                      <a:off x="3168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6" name="Line 97"/>
                    <p:cNvSpPr/>
                    <p:nvPr/>
                  </p:nvSpPr>
                  <p:spPr>
                    <a:xfrm>
                      <a:off x="3312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7" name="Line 98"/>
                    <p:cNvSpPr/>
                    <p:nvPr/>
                  </p:nvSpPr>
                  <p:spPr>
                    <a:xfrm>
                      <a:off x="3456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8" name="Line 99"/>
                    <p:cNvSpPr/>
                    <p:nvPr/>
                  </p:nvSpPr>
                  <p:spPr>
                    <a:xfrm>
                      <a:off x="3600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59" name="Line 100"/>
                    <p:cNvSpPr/>
                    <p:nvPr/>
                  </p:nvSpPr>
                  <p:spPr>
                    <a:xfrm>
                      <a:off x="3744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60" name="Line 101"/>
                    <p:cNvSpPr/>
                    <p:nvPr/>
                  </p:nvSpPr>
                  <p:spPr>
                    <a:xfrm>
                      <a:off x="3888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61" name="Line 102"/>
                    <p:cNvSpPr/>
                    <p:nvPr/>
                  </p:nvSpPr>
                  <p:spPr>
                    <a:xfrm>
                      <a:off x="4032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262" name="Line 103"/>
                    <p:cNvSpPr/>
                    <p:nvPr/>
                  </p:nvSpPr>
                  <p:spPr>
                    <a:xfrm>
                      <a:off x="4176" y="48"/>
                      <a:ext cx="0" cy="364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602216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3073"/>
                    <a:ext cx="289" cy="58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D</a:t>
                    </a:r>
                    <a:endPara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T</a:t>
                    </a:r>
                    <a:endParaRPr kumimoji="0" lang="en-US" altLang="zh-CN" sz="18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92264" name="Group 105"/>
                  <p:cNvGrpSpPr/>
                  <p:nvPr/>
                </p:nvGrpSpPr>
                <p:grpSpPr>
                  <a:xfrm>
                    <a:off x="1104" y="1056"/>
                    <a:ext cx="528" cy="2448"/>
                    <a:chOff x="1104" y="1056"/>
                    <a:chExt cx="528" cy="2448"/>
                  </a:xfrm>
                </p:grpSpPr>
                <p:sp>
                  <p:nvSpPr>
                    <p:cNvPr id="92265" name="Oval 106"/>
                    <p:cNvSpPr/>
                    <p:nvPr/>
                  </p:nvSpPr>
                  <p:spPr>
                    <a:xfrm>
                      <a:off x="1104" y="1056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66" name="Oval 107"/>
                    <p:cNvSpPr/>
                    <p:nvPr/>
                  </p:nvSpPr>
                  <p:spPr>
                    <a:xfrm>
                      <a:off x="1104" y="3120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67" name="Oval 108"/>
                    <p:cNvSpPr/>
                    <p:nvPr/>
                  </p:nvSpPr>
                  <p:spPr>
                    <a:xfrm>
                      <a:off x="1248" y="1248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68" name="Oval 109"/>
                    <p:cNvSpPr/>
                    <p:nvPr/>
                  </p:nvSpPr>
                  <p:spPr>
                    <a:xfrm>
                      <a:off x="1248" y="3216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69" name="Oval 110"/>
                    <p:cNvSpPr/>
                    <p:nvPr/>
                  </p:nvSpPr>
                  <p:spPr>
                    <a:xfrm>
                      <a:off x="1392" y="1440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0" name="Oval 111"/>
                    <p:cNvSpPr/>
                    <p:nvPr/>
                  </p:nvSpPr>
                  <p:spPr>
                    <a:xfrm>
                      <a:off x="1392" y="3312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1" name="Oval 112"/>
                    <p:cNvSpPr/>
                    <p:nvPr/>
                  </p:nvSpPr>
                  <p:spPr>
                    <a:xfrm>
                      <a:off x="1536" y="1632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2" name="Oval 113"/>
                    <p:cNvSpPr/>
                    <p:nvPr/>
                  </p:nvSpPr>
                  <p:spPr>
                    <a:xfrm>
                      <a:off x="1536" y="3408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92273" name="Group 114"/>
                  <p:cNvGrpSpPr/>
                  <p:nvPr/>
                </p:nvGrpSpPr>
                <p:grpSpPr>
                  <a:xfrm>
                    <a:off x="1680" y="48"/>
                    <a:ext cx="1104" cy="768"/>
                    <a:chOff x="1680" y="48"/>
                    <a:chExt cx="1104" cy="768"/>
                  </a:xfrm>
                </p:grpSpPr>
                <p:sp>
                  <p:nvSpPr>
                    <p:cNvPr id="92274" name="Oval 115"/>
                    <p:cNvSpPr/>
                    <p:nvPr/>
                  </p:nvSpPr>
                  <p:spPr>
                    <a:xfrm>
                      <a:off x="1680" y="144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5" name="Oval 116"/>
                    <p:cNvSpPr/>
                    <p:nvPr/>
                  </p:nvSpPr>
                  <p:spPr>
                    <a:xfrm>
                      <a:off x="1824" y="48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6" name="Oval 117"/>
                    <p:cNvSpPr/>
                    <p:nvPr/>
                  </p:nvSpPr>
                  <p:spPr>
                    <a:xfrm>
                      <a:off x="1968" y="336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7" name="Oval 118"/>
                    <p:cNvSpPr/>
                    <p:nvPr/>
                  </p:nvSpPr>
                  <p:spPr>
                    <a:xfrm>
                      <a:off x="2112" y="240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8" name="Oval 119"/>
                    <p:cNvSpPr/>
                    <p:nvPr/>
                  </p:nvSpPr>
                  <p:spPr>
                    <a:xfrm>
                      <a:off x="2256" y="528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79" name="Oval 120"/>
                    <p:cNvSpPr/>
                    <p:nvPr/>
                  </p:nvSpPr>
                  <p:spPr>
                    <a:xfrm>
                      <a:off x="2400" y="432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80" name="Oval 121"/>
                    <p:cNvSpPr/>
                    <p:nvPr/>
                  </p:nvSpPr>
                  <p:spPr>
                    <a:xfrm>
                      <a:off x="2544" y="720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2281" name="Oval 122"/>
                    <p:cNvSpPr/>
                    <p:nvPr/>
                  </p:nvSpPr>
                  <p:spPr>
                    <a:xfrm>
                      <a:off x="2688" y="624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92282" name="Group 123"/>
                  <p:cNvGrpSpPr/>
                  <p:nvPr/>
                </p:nvGrpSpPr>
                <p:grpSpPr>
                  <a:xfrm>
                    <a:off x="288" y="48"/>
                    <a:ext cx="5136" cy="3840"/>
                    <a:chOff x="288" y="48"/>
                    <a:chExt cx="5136" cy="3840"/>
                  </a:xfrm>
                </p:grpSpPr>
                <p:grpSp>
                  <p:nvGrpSpPr>
                    <p:cNvPr id="92283" name="Group 124"/>
                    <p:cNvGrpSpPr/>
                    <p:nvPr/>
                  </p:nvGrpSpPr>
                  <p:grpSpPr>
                    <a:xfrm>
                      <a:off x="288" y="48"/>
                      <a:ext cx="5136" cy="2976"/>
                      <a:chOff x="288" y="48"/>
                      <a:chExt cx="5136" cy="2976"/>
                    </a:xfrm>
                  </p:grpSpPr>
                  <p:grpSp>
                    <p:nvGrpSpPr>
                      <p:cNvPr id="92284" name="Group 125"/>
                      <p:cNvGrpSpPr/>
                      <p:nvPr/>
                    </p:nvGrpSpPr>
                    <p:grpSpPr>
                      <a:xfrm>
                        <a:off x="4512" y="1824"/>
                        <a:ext cx="672" cy="1200"/>
                        <a:chOff x="4992" y="2112"/>
                        <a:chExt cx="672" cy="1200"/>
                      </a:xfrm>
                    </p:grpSpPr>
                    <p:sp>
                      <p:nvSpPr>
                        <p:cNvPr id="92285" name="Rectangle 126"/>
                        <p:cNvSpPr/>
                        <p:nvPr/>
                      </p:nvSpPr>
                      <p:spPr>
                        <a:xfrm>
                          <a:off x="4992" y="2112"/>
                          <a:ext cx="576" cy="1200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  <p:txBody>
                        <a:bodyPr wrap="none" anchor="ctr" anchorCtr="0"/>
                        <a:p>
                          <a:pPr>
                            <a:buClrTx/>
                            <a:buFontTx/>
                          </a:pPr>
                          <a:endParaRPr lang="zh-CN" altLang="en-US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86" name="Line 127"/>
                        <p:cNvSpPr/>
                        <p:nvPr/>
                      </p:nvSpPr>
                      <p:spPr>
                        <a:xfrm>
                          <a:off x="4992" y="2400"/>
                          <a:ext cx="57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2287" name="Line 128"/>
                        <p:cNvSpPr/>
                        <p:nvPr/>
                      </p:nvSpPr>
                      <p:spPr>
                        <a:xfrm>
                          <a:off x="4992" y="2736"/>
                          <a:ext cx="57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2288" name="Text Box 129"/>
                        <p:cNvSpPr txBox="1"/>
                        <p:nvPr/>
                      </p:nvSpPr>
                      <p:spPr>
                        <a:xfrm>
                          <a:off x="4992" y="2112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D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89" name="Text Box 130"/>
                        <p:cNvSpPr txBox="1"/>
                        <p:nvPr/>
                      </p:nvSpPr>
                      <p:spPr>
                        <a:xfrm>
                          <a:off x="5328" y="2112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0" name="Line 131"/>
                        <p:cNvSpPr/>
                        <p:nvPr/>
                      </p:nvSpPr>
                      <p:spPr>
                        <a:xfrm>
                          <a:off x="4992" y="2736"/>
                          <a:ext cx="57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2291" name="Text Box 132"/>
                        <p:cNvSpPr txBox="1"/>
                        <p:nvPr/>
                      </p:nvSpPr>
                      <p:spPr>
                        <a:xfrm>
                          <a:off x="4992" y="240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D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2" name="Text Box 133"/>
                        <p:cNvSpPr txBox="1"/>
                        <p:nvPr/>
                      </p:nvSpPr>
                      <p:spPr>
                        <a:xfrm>
                          <a:off x="5376" y="240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3" name="Line 134"/>
                        <p:cNvSpPr/>
                        <p:nvPr/>
                      </p:nvSpPr>
                      <p:spPr>
                        <a:xfrm>
                          <a:off x="4992" y="3024"/>
                          <a:ext cx="57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2294" name="Text Box 135"/>
                        <p:cNvSpPr txBox="1"/>
                        <p:nvPr/>
                      </p:nvSpPr>
                      <p:spPr>
                        <a:xfrm>
                          <a:off x="4992" y="273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D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5" name="Text Box 136"/>
                        <p:cNvSpPr txBox="1"/>
                        <p:nvPr/>
                      </p:nvSpPr>
                      <p:spPr>
                        <a:xfrm>
                          <a:off x="5376" y="273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6" name="Text Box 137"/>
                        <p:cNvSpPr txBox="1"/>
                        <p:nvPr/>
                      </p:nvSpPr>
                      <p:spPr>
                        <a:xfrm>
                          <a:off x="4992" y="302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D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2297" name="Text Box 138"/>
                        <p:cNvSpPr txBox="1"/>
                        <p:nvPr/>
                      </p:nvSpPr>
                      <p:spPr>
                        <a:xfrm>
                          <a:off x="5376" y="302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spcBef>
                              <a:spcPct val="50000"/>
                            </a:spcBef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92298" name="Text Box 139"/>
                      <p:cNvSpPr txBox="1"/>
                      <p:nvPr/>
                    </p:nvSpPr>
                    <p:spPr>
                      <a:xfrm>
                        <a:off x="288" y="48"/>
                        <a:ext cx="432" cy="9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>
                        <a:spAutoFit/>
                      </a:bodyPr>
                      <a:p>
                        <a:pPr>
                          <a:lnSpc>
                            <a:spcPct val="80000"/>
                          </a:lnSpc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D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>
                          <a:lnSpc>
                            <a:spcPct val="80000"/>
                          </a:lnSpc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C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>
                          <a:lnSpc>
                            <a:spcPct val="80000"/>
                          </a:lnSpc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B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>
                          <a:lnSpc>
                            <a:spcPct val="80000"/>
                          </a:lnSpc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A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>
                          <a:lnSpc>
                            <a:spcPct val="80000"/>
                          </a:lnSpc>
                          <a:buClrTx/>
                          <a:buFontTx/>
                        </a:pPr>
                        <a:r>
                          <a: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T</a:t>
                        </a:r>
                        <a:endParaRPr lang="en-US" altLang="zh-CN" sz="2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2299" name="Line 140"/>
                      <p:cNvSpPr/>
                      <p:nvPr/>
                    </p:nvSpPr>
                    <p:spPr>
                      <a:xfrm>
                        <a:off x="5136" y="1728"/>
                        <a:ext cx="0" cy="24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0" name="Line 141"/>
                      <p:cNvSpPr/>
                      <p:nvPr/>
                    </p:nvSpPr>
                    <p:spPr>
                      <a:xfrm flipH="1">
                        <a:off x="5088" y="1968"/>
                        <a:ext cx="48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1" name="Line 142"/>
                      <p:cNvSpPr/>
                      <p:nvPr/>
                    </p:nvSpPr>
                    <p:spPr>
                      <a:xfrm>
                        <a:off x="5088" y="2256"/>
                        <a:ext cx="1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2" name="Line 143"/>
                      <p:cNvSpPr/>
                      <p:nvPr/>
                    </p:nvSpPr>
                    <p:spPr>
                      <a:xfrm flipV="1">
                        <a:off x="5232" y="1536"/>
                        <a:ext cx="0" cy="72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3" name="Line 144"/>
                      <p:cNvSpPr/>
                      <p:nvPr/>
                    </p:nvSpPr>
                    <p:spPr>
                      <a:xfrm>
                        <a:off x="5088" y="2592"/>
                        <a:ext cx="240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4" name="Line 145"/>
                      <p:cNvSpPr/>
                      <p:nvPr/>
                    </p:nvSpPr>
                    <p:spPr>
                      <a:xfrm flipV="1">
                        <a:off x="5328" y="1344"/>
                        <a:ext cx="0" cy="12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5" name="Line 146"/>
                      <p:cNvSpPr/>
                      <p:nvPr/>
                    </p:nvSpPr>
                    <p:spPr>
                      <a:xfrm>
                        <a:off x="5088" y="2880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2306" name="Line 147"/>
                      <p:cNvSpPr/>
                      <p:nvPr/>
                    </p:nvSpPr>
                    <p:spPr>
                      <a:xfrm flipV="1">
                        <a:off x="5424" y="1152"/>
                        <a:ext cx="0" cy="172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92307" name="Line 148"/>
                    <p:cNvSpPr/>
                    <p:nvPr/>
                  </p:nvSpPr>
                  <p:spPr>
                    <a:xfrm>
                      <a:off x="4320" y="3552"/>
                      <a:ext cx="0" cy="33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308" name="Line 149"/>
                    <p:cNvSpPr/>
                    <p:nvPr/>
                  </p:nvSpPr>
                  <p:spPr>
                    <a:xfrm flipH="1">
                      <a:off x="576" y="3888"/>
                      <a:ext cx="374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2309" name="Line 150"/>
                    <p:cNvSpPr/>
                    <p:nvPr/>
                  </p:nvSpPr>
                  <p:spPr>
                    <a:xfrm flipV="1">
                      <a:off x="576" y="912"/>
                      <a:ext cx="0" cy="297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602263" name="Rectangle 151"/>
                <p:cNvSpPr>
                  <a:spLocks noChangeArrowheads="1"/>
                </p:cNvSpPr>
                <p:nvPr/>
              </p:nvSpPr>
              <p:spPr bwMode="auto">
                <a:xfrm>
                  <a:off x="4848" y="1104"/>
                  <a:ext cx="432" cy="6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B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6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r>
                    <a: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A</a:t>
                  </a:r>
                  <a:endParaRPr kumimoji="0" lang="en-US" altLang="zh-CN" sz="240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92311" name="Group 152"/>
                <p:cNvGrpSpPr/>
                <p:nvPr/>
              </p:nvGrpSpPr>
              <p:grpSpPr>
                <a:xfrm>
                  <a:off x="4128" y="816"/>
                  <a:ext cx="96" cy="1008"/>
                  <a:chOff x="4128" y="816"/>
                  <a:chExt cx="96" cy="1008"/>
                </a:xfrm>
              </p:grpSpPr>
              <p:sp>
                <p:nvSpPr>
                  <p:cNvPr id="92312" name="Oval 153"/>
                  <p:cNvSpPr/>
                  <p:nvPr/>
                </p:nvSpPr>
                <p:spPr>
                  <a:xfrm>
                    <a:off x="4128" y="172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2313" name="Oval 154"/>
                  <p:cNvSpPr/>
                  <p:nvPr/>
                </p:nvSpPr>
                <p:spPr>
                  <a:xfrm>
                    <a:off x="4128" y="81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2314" name="Oval 155"/>
                <p:cNvSpPr/>
                <p:nvPr/>
              </p:nvSpPr>
              <p:spPr>
                <a:xfrm>
                  <a:off x="4128" y="192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2315" name="Group 156"/>
              <p:cNvGrpSpPr/>
              <p:nvPr/>
            </p:nvGrpSpPr>
            <p:grpSpPr>
              <a:xfrm>
                <a:off x="3984" y="816"/>
                <a:ext cx="96" cy="912"/>
                <a:chOff x="3984" y="816"/>
                <a:chExt cx="96" cy="912"/>
              </a:xfrm>
            </p:grpSpPr>
            <p:sp>
              <p:nvSpPr>
                <p:cNvPr id="92316" name="Oval 157"/>
                <p:cNvSpPr/>
                <p:nvPr/>
              </p:nvSpPr>
              <p:spPr>
                <a:xfrm>
                  <a:off x="3984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317" name="Oval 158"/>
                <p:cNvSpPr/>
                <p:nvPr/>
              </p:nvSpPr>
              <p:spPr>
                <a:xfrm>
                  <a:off x="3984" y="153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318" name="Oval 159"/>
                <p:cNvSpPr/>
                <p:nvPr/>
              </p:nvSpPr>
              <p:spPr>
                <a:xfrm>
                  <a:off x="3984" y="16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2319" name="Group 160"/>
              <p:cNvGrpSpPr/>
              <p:nvPr/>
            </p:nvGrpSpPr>
            <p:grpSpPr>
              <a:xfrm>
                <a:off x="3840" y="816"/>
                <a:ext cx="96" cy="1008"/>
                <a:chOff x="3840" y="816"/>
                <a:chExt cx="96" cy="1008"/>
              </a:xfrm>
            </p:grpSpPr>
            <p:sp>
              <p:nvSpPr>
                <p:cNvPr id="92320" name="Oval 161"/>
                <p:cNvSpPr/>
                <p:nvPr/>
              </p:nvSpPr>
              <p:spPr>
                <a:xfrm>
                  <a:off x="3840" y="144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321" name="Oval 162"/>
                <p:cNvSpPr/>
                <p:nvPr/>
              </p:nvSpPr>
              <p:spPr>
                <a:xfrm>
                  <a:off x="3840" y="172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322" name="Oval 163"/>
                <p:cNvSpPr/>
                <p:nvPr/>
              </p:nvSpPr>
              <p:spPr>
                <a:xfrm>
                  <a:off x="3840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2323" name="Group 164"/>
              <p:cNvGrpSpPr/>
              <p:nvPr/>
            </p:nvGrpSpPr>
            <p:grpSpPr>
              <a:xfrm>
                <a:off x="3840" y="2208"/>
                <a:ext cx="240" cy="96"/>
                <a:chOff x="3840" y="2208"/>
                <a:chExt cx="240" cy="96"/>
              </a:xfrm>
            </p:grpSpPr>
            <p:sp>
              <p:nvSpPr>
                <p:cNvPr id="92324" name="Oval 165"/>
                <p:cNvSpPr/>
                <p:nvPr/>
              </p:nvSpPr>
              <p:spPr>
                <a:xfrm>
                  <a:off x="3984" y="220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325" name="Oval 166"/>
                <p:cNvSpPr/>
                <p:nvPr/>
              </p:nvSpPr>
              <p:spPr>
                <a:xfrm>
                  <a:off x="3840" y="220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92326" name="Group 167"/>
            <p:cNvGrpSpPr/>
            <p:nvPr/>
          </p:nvGrpSpPr>
          <p:grpSpPr>
            <a:xfrm>
              <a:off x="3696" y="816"/>
              <a:ext cx="96" cy="1776"/>
              <a:chOff x="3696" y="816"/>
              <a:chExt cx="96" cy="1776"/>
            </a:xfrm>
          </p:grpSpPr>
          <p:sp>
            <p:nvSpPr>
              <p:cNvPr id="92327" name="Oval 168"/>
              <p:cNvSpPr/>
              <p:nvPr/>
            </p:nvSpPr>
            <p:spPr>
              <a:xfrm>
                <a:off x="3696" y="13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28" name="Oval 169"/>
              <p:cNvSpPr/>
              <p:nvPr/>
            </p:nvSpPr>
            <p:spPr>
              <a:xfrm>
                <a:off x="3696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29" name="Oval 170"/>
              <p:cNvSpPr/>
              <p:nvPr/>
            </p:nvSpPr>
            <p:spPr>
              <a:xfrm>
                <a:off x="3696" y="14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0" name="Oval 171"/>
              <p:cNvSpPr/>
              <p:nvPr/>
            </p:nvSpPr>
            <p:spPr>
              <a:xfrm>
                <a:off x="3696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1" name="Oval 172"/>
              <p:cNvSpPr/>
              <p:nvPr/>
            </p:nvSpPr>
            <p:spPr>
              <a:xfrm>
                <a:off x="3696" y="24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332" name="Group 173"/>
            <p:cNvGrpSpPr/>
            <p:nvPr/>
          </p:nvGrpSpPr>
          <p:grpSpPr>
            <a:xfrm>
              <a:off x="3552" y="816"/>
              <a:ext cx="96" cy="1776"/>
              <a:chOff x="3552" y="816"/>
              <a:chExt cx="96" cy="1776"/>
            </a:xfrm>
          </p:grpSpPr>
          <p:sp>
            <p:nvSpPr>
              <p:cNvPr id="92333" name="Oval 174"/>
              <p:cNvSpPr/>
              <p:nvPr/>
            </p:nvSpPr>
            <p:spPr>
              <a:xfrm>
                <a:off x="3552" y="12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4" name="Oval 175"/>
              <p:cNvSpPr/>
              <p:nvPr/>
            </p:nvSpPr>
            <p:spPr>
              <a:xfrm>
                <a:off x="3552" y="153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5" name="Oval 176"/>
              <p:cNvSpPr/>
              <p:nvPr/>
            </p:nvSpPr>
            <p:spPr>
              <a:xfrm>
                <a:off x="3552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6" name="Oval 177"/>
              <p:cNvSpPr/>
              <p:nvPr/>
            </p:nvSpPr>
            <p:spPr>
              <a:xfrm>
                <a:off x="3552" y="24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337" name="Group 178"/>
            <p:cNvGrpSpPr/>
            <p:nvPr/>
          </p:nvGrpSpPr>
          <p:grpSpPr>
            <a:xfrm>
              <a:off x="3408" y="816"/>
              <a:ext cx="96" cy="1776"/>
              <a:chOff x="3408" y="816"/>
              <a:chExt cx="96" cy="1776"/>
            </a:xfrm>
          </p:grpSpPr>
          <p:sp>
            <p:nvSpPr>
              <p:cNvPr id="92338" name="Oval 179"/>
              <p:cNvSpPr/>
              <p:nvPr/>
            </p:nvSpPr>
            <p:spPr>
              <a:xfrm>
                <a:off x="3408" y="12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39" name="Oval 180"/>
              <p:cNvSpPr/>
              <p:nvPr/>
            </p:nvSpPr>
            <p:spPr>
              <a:xfrm>
                <a:off x="3408" y="172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0" name="Oval 181"/>
              <p:cNvSpPr/>
              <p:nvPr/>
            </p:nvSpPr>
            <p:spPr>
              <a:xfrm>
                <a:off x="340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1" name="Oval 182"/>
              <p:cNvSpPr/>
              <p:nvPr/>
            </p:nvSpPr>
            <p:spPr>
              <a:xfrm>
                <a:off x="3408" y="24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02306" name="Group 194"/>
          <p:cNvGrpSpPr/>
          <p:nvPr/>
        </p:nvGrpSpPr>
        <p:grpSpPr>
          <a:xfrm>
            <a:off x="5181600" y="1295400"/>
            <a:ext cx="152400" cy="3429000"/>
            <a:chOff x="3264" y="816"/>
            <a:chExt cx="96" cy="2160"/>
          </a:xfrm>
        </p:grpSpPr>
        <p:grpSp>
          <p:nvGrpSpPr>
            <p:cNvPr id="92343" name="Group 190"/>
            <p:cNvGrpSpPr/>
            <p:nvPr/>
          </p:nvGrpSpPr>
          <p:grpSpPr>
            <a:xfrm>
              <a:off x="3264" y="1152"/>
              <a:ext cx="96" cy="1824"/>
              <a:chOff x="3264" y="1152"/>
              <a:chExt cx="96" cy="1824"/>
            </a:xfrm>
          </p:grpSpPr>
          <p:sp>
            <p:nvSpPr>
              <p:cNvPr id="92344" name="Oval 185"/>
              <p:cNvSpPr/>
              <p:nvPr/>
            </p:nvSpPr>
            <p:spPr>
              <a:xfrm>
                <a:off x="3264" y="115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5" name="Oval 186"/>
              <p:cNvSpPr/>
              <p:nvPr/>
            </p:nvSpPr>
            <p:spPr>
              <a:xfrm>
                <a:off x="3264" y="12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6" name="Oval 187"/>
              <p:cNvSpPr/>
              <p:nvPr/>
            </p:nvSpPr>
            <p:spPr>
              <a:xfrm>
                <a:off x="3264" y="144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7" name="Oval 188"/>
              <p:cNvSpPr/>
              <p:nvPr/>
            </p:nvSpPr>
            <p:spPr>
              <a:xfrm>
                <a:off x="3264" y="16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8" name="Oval 189"/>
              <p:cNvSpPr/>
              <p:nvPr/>
            </p:nvSpPr>
            <p:spPr>
              <a:xfrm>
                <a:off x="3264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349" name="Oval 193"/>
            <p:cNvSpPr/>
            <p:nvPr/>
          </p:nvSpPr>
          <p:spPr>
            <a:xfrm>
              <a:off x="3264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2309" name="Group 197"/>
          <p:cNvGrpSpPr/>
          <p:nvPr/>
        </p:nvGrpSpPr>
        <p:grpSpPr>
          <a:xfrm>
            <a:off x="4953000" y="1295400"/>
            <a:ext cx="152400" cy="3429000"/>
            <a:chOff x="3120" y="816"/>
            <a:chExt cx="96" cy="2160"/>
          </a:xfrm>
        </p:grpSpPr>
        <p:sp>
          <p:nvSpPr>
            <p:cNvPr id="92351" name="Oval 191"/>
            <p:cNvSpPr/>
            <p:nvPr/>
          </p:nvSpPr>
          <p:spPr>
            <a:xfrm>
              <a:off x="3120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2" name="Oval 192"/>
            <p:cNvSpPr/>
            <p:nvPr/>
          </p:nvSpPr>
          <p:spPr>
            <a:xfrm>
              <a:off x="3120" y="13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3" name="Oval 195"/>
            <p:cNvSpPr/>
            <p:nvPr/>
          </p:nvSpPr>
          <p:spPr>
            <a:xfrm>
              <a:off x="3120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4" name="Oval 196"/>
            <p:cNvSpPr/>
            <p:nvPr/>
          </p:nvSpPr>
          <p:spPr>
            <a:xfrm>
              <a:off x="3120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2314" name="Group 202"/>
          <p:cNvGrpSpPr/>
          <p:nvPr/>
        </p:nvGrpSpPr>
        <p:grpSpPr>
          <a:xfrm>
            <a:off x="4724400" y="1295400"/>
            <a:ext cx="152400" cy="3429000"/>
            <a:chOff x="2976" y="816"/>
            <a:chExt cx="96" cy="2160"/>
          </a:xfrm>
        </p:grpSpPr>
        <p:sp>
          <p:nvSpPr>
            <p:cNvPr id="92356" name="Oval 198"/>
            <p:cNvSpPr/>
            <p:nvPr/>
          </p:nvSpPr>
          <p:spPr>
            <a:xfrm>
              <a:off x="2976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7" name="Oval 199"/>
            <p:cNvSpPr/>
            <p:nvPr/>
          </p:nvSpPr>
          <p:spPr>
            <a:xfrm>
              <a:off x="2976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8" name="Oval 200"/>
            <p:cNvSpPr/>
            <p:nvPr/>
          </p:nvSpPr>
          <p:spPr>
            <a:xfrm>
              <a:off x="2976" y="15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59" name="Oval 201"/>
            <p:cNvSpPr/>
            <p:nvPr/>
          </p:nvSpPr>
          <p:spPr>
            <a:xfrm>
              <a:off x="2976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2319" name="Group 207"/>
          <p:cNvGrpSpPr/>
          <p:nvPr/>
        </p:nvGrpSpPr>
        <p:grpSpPr>
          <a:xfrm>
            <a:off x="4495800" y="1295400"/>
            <a:ext cx="152400" cy="3429000"/>
            <a:chOff x="2832" y="816"/>
            <a:chExt cx="96" cy="2160"/>
          </a:xfrm>
        </p:grpSpPr>
        <p:sp>
          <p:nvSpPr>
            <p:cNvPr id="92361" name="Oval 203"/>
            <p:cNvSpPr/>
            <p:nvPr/>
          </p:nvSpPr>
          <p:spPr>
            <a:xfrm>
              <a:off x="2832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62" name="Oval 204"/>
            <p:cNvSpPr/>
            <p:nvPr/>
          </p:nvSpPr>
          <p:spPr>
            <a:xfrm>
              <a:off x="2832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63" name="Oval 205"/>
            <p:cNvSpPr/>
            <p:nvPr/>
          </p:nvSpPr>
          <p:spPr>
            <a:xfrm>
              <a:off x="2832" y="17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364" name="Oval 206"/>
            <p:cNvSpPr/>
            <p:nvPr/>
          </p:nvSpPr>
          <p:spPr>
            <a:xfrm>
              <a:off x="2832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8" name="文本框 18"/>
          <p:cNvSpPr txBox="1"/>
          <p:nvPr/>
        </p:nvSpPr>
        <p:spPr>
          <a:xfrm>
            <a:off x="773113" y="6242050"/>
            <a:ext cx="69278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—                  —        —       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+Q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)T</a:t>
            </a:r>
            <a:endParaRPr lang="zh-CN" altLang="en-US" sz="2000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2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2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3186" name="Group 207"/>
          <p:cNvGrpSpPr/>
          <p:nvPr/>
        </p:nvGrpSpPr>
        <p:grpSpPr>
          <a:xfrm>
            <a:off x="457200" y="76200"/>
            <a:ext cx="8153400" cy="6096000"/>
            <a:chOff x="288" y="48"/>
            <a:chExt cx="5136" cy="3840"/>
          </a:xfrm>
        </p:grpSpPr>
        <p:grpSp>
          <p:nvGrpSpPr>
            <p:cNvPr id="93187" name="Group 4"/>
            <p:cNvGrpSpPr/>
            <p:nvPr/>
          </p:nvGrpSpPr>
          <p:grpSpPr>
            <a:xfrm>
              <a:off x="288" y="48"/>
              <a:ext cx="5136" cy="3840"/>
              <a:chOff x="288" y="48"/>
              <a:chExt cx="5136" cy="3840"/>
            </a:xfrm>
          </p:grpSpPr>
          <p:grpSp>
            <p:nvGrpSpPr>
              <p:cNvPr id="93188" name="Group 5"/>
              <p:cNvGrpSpPr/>
              <p:nvPr/>
            </p:nvGrpSpPr>
            <p:grpSpPr>
              <a:xfrm>
                <a:off x="288" y="48"/>
                <a:ext cx="5136" cy="3840"/>
                <a:chOff x="288" y="48"/>
                <a:chExt cx="5136" cy="3840"/>
              </a:xfrm>
            </p:grpSpPr>
            <p:grpSp>
              <p:nvGrpSpPr>
                <p:cNvPr id="93189" name="Group 6"/>
                <p:cNvGrpSpPr/>
                <p:nvPr/>
              </p:nvGrpSpPr>
              <p:grpSpPr>
                <a:xfrm>
                  <a:off x="288" y="48"/>
                  <a:ext cx="5136" cy="3840"/>
                  <a:chOff x="288" y="48"/>
                  <a:chExt cx="5136" cy="3840"/>
                </a:xfrm>
              </p:grpSpPr>
              <p:grpSp>
                <p:nvGrpSpPr>
                  <p:cNvPr id="93190" name="Group 7"/>
                  <p:cNvGrpSpPr/>
                  <p:nvPr/>
                </p:nvGrpSpPr>
                <p:grpSpPr>
                  <a:xfrm>
                    <a:off x="288" y="48"/>
                    <a:ext cx="5136" cy="3840"/>
                    <a:chOff x="288" y="48"/>
                    <a:chExt cx="5136" cy="3840"/>
                  </a:xfrm>
                </p:grpSpPr>
                <p:grpSp>
                  <p:nvGrpSpPr>
                    <p:cNvPr id="93191" name="Group 8"/>
                    <p:cNvGrpSpPr/>
                    <p:nvPr/>
                  </p:nvGrpSpPr>
                  <p:grpSpPr>
                    <a:xfrm>
                      <a:off x="960" y="1968"/>
                      <a:ext cx="3552" cy="1584"/>
                      <a:chOff x="960" y="1968"/>
                      <a:chExt cx="3552" cy="1584"/>
                    </a:xfrm>
                  </p:grpSpPr>
                  <p:sp>
                    <p:nvSpPr>
                      <p:cNvPr id="93192" name="Line 9"/>
                      <p:cNvSpPr/>
                      <p:nvPr/>
                    </p:nvSpPr>
                    <p:spPr>
                      <a:xfrm>
                        <a:off x="960" y="1968"/>
                        <a:ext cx="355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3" name="Line 10"/>
                      <p:cNvSpPr/>
                      <p:nvPr/>
                    </p:nvSpPr>
                    <p:spPr>
                      <a:xfrm>
                        <a:off x="960" y="2256"/>
                        <a:ext cx="355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4" name="Line 11"/>
                      <p:cNvSpPr/>
                      <p:nvPr/>
                    </p:nvSpPr>
                    <p:spPr>
                      <a:xfrm>
                        <a:off x="960" y="2544"/>
                        <a:ext cx="355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5" name="Line 12"/>
                      <p:cNvSpPr/>
                      <p:nvPr/>
                    </p:nvSpPr>
                    <p:spPr>
                      <a:xfrm>
                        <a:off x="960" y="2928"/>
                        <a:ext cx="355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6" name="Line 13"/>
                      <p:cNvSpPr/>
                      <p:nvPr/>
                    </p:nvSpPr>
                    <p:spPr>
                      <a:xfrm>
                        <a:off x="1008" y="3168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7" name="Line 14"/>
                      <p:cNvSpPr/>
                      <p:nvPr/>
                    </p:nvSpPr>
                    <p:spPr>
                      <a:xfrm>
                        <a:off x="1008" y="3264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8" name="Line 15"/>
                      <p:cNvSpPr/>
                      <p:nvPr/>
                    </p:nvSpPr>
                    <p:spPr>
                      <a:xfrm>
                        <a:off x="1008" y="3360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199" name="Line 16"/>
                      <p:cNvSpPr/>
                      <p:nvPr/>
                    </p:nvSpPr>
                    <p:spPr>
                      <a:xfrm>
                        <a:off x="1008" y="3456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0" name="Line 17"/>
                      <p:cNvSpPr/>
                      <p:nvPr/>
                    </p:nvSpPr>
                    <p:spPr>
                      <a:xfrm>
                        <a:off x="1008" y="3552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93201" name="Group 18"/>
                    <p:cNvGrpSpPr/>
                    <p:nvPr/>
                  </p:nvGrpSpPr>
                  <p:grpSpPr>
                    <a:xfrm>
                      <a:off x="576" y="96"/>
                      <a:ext cx="4848" cy="1680"/>
                      <a:chOff x="576" y="96"/>
                      <a:chExt cx="4848" cy="1680"/>
                    </a:xfrm>
                  </p:grpSpPr>
                  <p:sp>
                    <p:nvSpPr>
                      <p:cNvPr id="93202" name="Line 19"/>
                      <p:cNvSpPr/>
                      <p:nvPr/>
                    </p:nvSpPr>
                    <p:spPr>
                      <a:xfrm>
                        <a:off x="912" y="96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3" name="Line 20"/>
                      <p:cNvSpPr/>
                      <p:nvPr/>
                    </p:nvSpPr>
                    <p:spPr>
                      <a:xfrm>
                        <a:off x="912" y="96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4" name="Line 21"/>
                      <p:cNvSpPr/>
                      <p:nvPr/>
                    </p:nvSpPr>
                    <p:spPr>
                      <a:xfrm flipH="1">
                        <a:off x="912" y="144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5" name="Oval 22"/>
                      <p:cNvSpPr/>
                      <p:nvPr/>
                    </p:nvSpPr>
                    <p:spPr>
                      <a:xfrm>
                        <a:off x="960" y="144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06" name="Line 23"/>
                      <p:cNvSpPr/>
                      <p:nvPr/>
                    </p:nvSpPr>
                    <p:spPr>
                      <a:xfrm flipH="1">
                        <a:off x="576" y="144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7" name="Line 24"/>
                      <p:cNvSpPr/>
                      <p:nvPr/>
                    </p:nvSpPr>
                    <p:spPr>
                      <a:xfrm>
                        <a:off x="960" y="96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8" name="Line 25"/>
                      <p:cNvSpPr/>
                      <p:nvPr/>
                    </p:nvSpPr>
                    <p:spPr>
                      <a:xfrm>
                        <a:off x="1008" y="192"/>
                        <a:ext cx="326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09" name="Line 26"/>
                      <p:cNvSpPr/>
                      <p:nvPr/>
                    </p:nvSpPr>
                    <p:spPr>
                      <a:xfrm>
                        <a:off x="912" y="288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0" name="Line 27"/>
                      <p:cNvSpPr/>
                      <p:nvPr/>
                    </p:nvSpPr>
                    <p:spPr>
                      <a:xfrm>
                        <a:off x="912" y="288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1" name="Line 28"/>
                      <p:cNvSpPr/>
                      <p:nvPr/>
                    </p:nvSpPr>
                    <p:spPr>
                      <a:xfrm flipH="1">
                        <a:off x="912" y="336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2" name="Oval 29"/>
                      <p:cNvSpPr/>
                      <p:nvPr/>
                    </p:nvSpPr>
                    <p:spPr>
                      <a:xfrm>
                        <a:off x="960" y="336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13" name="Line 30"/>
                      <p:cNvSpPr/>
                      <p:nvPr/>
                    </p:nvSpPr>
                    <p:spPr>
                      <a:xfrm flipH="1">
                        <a:off x="576" y="336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4" name="Line 31"/>
                      <p:cNvSpPr/>
                      <p:nvPr/>
                    </p:nvSpPr>
                    <p:spPr>
                      <a:xfrm>
                        <a:off x="960" y="288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5" name="Line 32"/>
                      <p:cNvSpPr/>
                      <p:nvPr/>
                    </p:nvSpPr>
                    <p:spPr>
                      <a:xfrm>
                        <a:off x="1008" y="384"/>
                        <a:ext cx="326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6" name="Line 33"/>
                      <p:cNvSpPr/>
                      <p:nvPr/>
                    </p:nvSpPr>
                    <p:spPr>
                      <a:xfrm>
                        <a:off x="912" y="480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7" name="Line 34"/>
                      <p:cNvSpPr/>
                      <p:nvPr/>
                    </p:nvSpPr>
                    <p:spPr>
                      <a:xfrm>
                        <a:off x="912" y="480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8" name="Line 35"/>
                      <p:cNvSpPr/>
                      <p:nvPr/>
                    </p:nvSpPr>
                    <p:spPr>
                      <a:xfrm flipH="1">
                        <a:off x="912" y="528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19" name="Oval 36"/>
                      <p:cNvSpPr/>
                      <p:nvPr/>
                    </p:nvSpPr>
                    <p:spPr>
                      <a:xfrm>
                        <a:off x="960" y="528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20" name="Line 37"/>
                      <p:cNvSpPr/>
                      <p:nvPr/>
                    </p:nvSpPr>
                    <p:spPr>
                      <a:xfrm flipH="1">
                        <a:off x="576" y="528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1" name="Line 38"/>
                      <p:cNvSpPr/>
                      <p:nvPr/>
                    </p:nvSpPr>
                    <p:spPr>
                      <a:xfrm>
                        <a:off x="960" y="480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2" name="Line 39"/>
                      <p:cNvSpPr/>
                      <p:nvPr/>
                    </p:nvSpPr>
                    <p:spPr>
                      <a:xfrm>
                        <a:off x="1008" y="576"/>
                        <a:ext cx="326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3" name="Line 40"/>
                      <p:cNvSpPr/>
                      <p:nvPr/>
                    </p:nvSpPr>
                    <p:spPr>
                      <a:xfrm>
                        <a:off x="912" y="672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4" name="Line 41"/>
                      <p:cNvSpPr/>
                      <p:nvPr/>
                    </p:nvSpPr>
                    <p:spPr>
                      <a:xfrm>
                        <a:off x="912" y="672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5" name="Line 42"/>
                      <p:cNvSpPr/>
                      <p:nvPr/>
                    </p:nvSpPr>
                    <p:spPr>
                      <a:xfrm flipH="1">
                        <a:off x="912" y="720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6" name="Oval 43"/>
                      <p:cNvSpPr/>
                      <p:nvPr/>
                    </p:nvSpPr>
                    <p:spPr>
                      <a:xfrm>
                        <a:off x="960" y="720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27" name="Line 44"/>
                      <p:cNvSpPr/>
                      <p:nvPr/>
                    </p:nvSpPr>
                    <p:spPr>
                      <a:xfrm flipH="1">
                        <a:off x="576" y="720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8" name="Line 45"/>
                      <p:cNvSpPr/>
                      <p:nvPr/>
                    </p:nvSpPr>
                    <p:spPr>
                      <a:xfrm>
                        <a:off x="960" y="672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29" name="Line 46"/>
                      <p:cNvSpPr/>
                      <p:nvPr/>
                    </p:nvSpPr>
                    <p:spPr>
                      <a:xfrm>
                        <a:off x="1008" y="768"/>
                        <a:ext cx="326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0" name="Line 47"/>
                      <p:cNvSpPr/>
                      <p:nvPr/>
                    </p:nvSpPr>
                    <p:spPr>
                      <a:xfrm>
                        <a:off x="4800" y="1104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1" name="Line 48"/>
                      <p:cNvSpPr/>
                      <p:nvPr/>
                    </p:nvSpPr>
                    <p:spPr>
                      <a:xfrm>
                        <a:off x="4656" y="1152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2" name="Line 49"/>
                      <p:cNvSpPr/>
                      <p:nvPr/>
                    </p:nvSpPr>
                    <p:spPr>
                      <a:xfrm flipH="1">
                        <a:off x="4656" y="1104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3" name="Oval 50"/>
                      <p:cNvSpPr/>
                      <p:nvPr/>
                    </p:nvSpPr>
                    <p:spPr>
                      <a:xfrm>
                        <a:off x="4704" y="1152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34" name="Line 51"/>
                      <p:cNvSpPr/>
                      <p:nvPr/>
                    </p:nvSpPr>
                    <p:spPr>
                      <a:xfrm flipH="1">
                        <a:off x="4800" y="1152"/>
                        <a:ext cx="62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5" name="Line 52"/>
                      <p:cNvSpPr/>
                      <p:nvPr/>
                    </p:nvSpPr>
                    <p:spPr>
                      <a:xfrm>
                        <a:off x="960" y="1104"/>
                        <a:ext cx="379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6" name="Line 53"/>
                      <p:cNvSpPr/>
                      <p:nvPr/>
                    </p:nvSpPr>
                    <p:spPr>
                      <a:xfrm>
                        <a:off x="1008" y="1200"/>
                        <a:ext cx="37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7" name="Line 54"/>
                      <p:cNvSpPr/>
                      <p:nvPr/>
                    </p:nvSpPr>
                    <p:spPr>
                      <a:xfrm>
                        <a:off x="960" y="1296"/>
                        <a:ext cx="379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8" name="Line 55"/>
                      <p:cNvSpPr/>
                      <p:nvPr/>
                    </p:nvSpPr>
                    <p:spPr>
                      <a:xfrm>
                        <a:off x="1008" y="1392"/>
                        <a:ext cx="37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39" name="Line 56"/>
                      <p:cNvSpPr/>
                      <p:nvPr/>
                    </p:nvSpPr>
                    <p:spPr>
                      <a:xfrm>
                        <a:off x="960" y="1488"/>
                        <a:ext cx="379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0" name="Line 57"/>
                      <p:cNvSpPr/>
                      <p:nvPr/>
                    </p:nvSpPr>
                    <p:spPr>
                      <a:xfrm>
                        <a:off x="1008" y="1584"/>
                        <a:ext cx="37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1" name="Line 58"/>
                      <p:cNvSpPr/>
                      <p:nvPr/>
                    </p:nvSpPr>
                    <p:spPr>
                      <a:xfrm>
                        <a:off x="960" y="1680"/>
                        <a:ext cx="379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2" name="Line 59"/>
                      <p:cNvSpPr/>
                      <p:nvPr/>
                    </p:nvSpPr>
                    <p:spPr>
                      <a:xfrm>
                        <a:off x="1008" y="1776"/>
                        <a:ext cx="37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3" name="Line 60"/>
                      <p:cNvSpPr/>
                      <p:nvPr/>
                    </p:nvSpPr>
                    <p:spPr>
                      <a:xfrm>
                        <a:off x="912" y="864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4" name="Line 61"/>
                      <p:cNvSpPr/>
                      <p:nvPr/>
                    </p:nvSpPr>
                    <p:spPr>
                      <a:xfrm>
                        <a:off x="912" y="864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5" name="Line 62"/>
                      <p:cNvSpPr/>
                      <p:nvPr/>
                    </p:nvSpPr>
                    <p:spPr>
                      <a:xfrm flipH="1">
                        <a:off x="912" y="912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6" name="Oval 63"/>
                      <p:cNvSpPr/>
                      <p:nvPr/>
                    </p:nvSpPr>
                    <p:spPr>
                      <a:xfrm>
                        <a:off x="960" y="912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47" name="Line 64"/>
                      <p:cNvSpPr/>
                      <p:nvPr/>
                    </p:nvSpPr>
                    <p:spPr>
                      <a:xfrm flipH="1">
                        <a:off x="576" y="912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8" name="Line 65"/>
                      <p:cNvSpPr/>
                      <p:nvPr/>
                    </p:nvSpPr>
                    <p:spPr>
                      <a:xfrm>
                        <a:off x="960" y="864"/>
                        <a:ext cx="331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49" name="Line 66"/>
                      <p:cNvSpPr/>
                      <p:nvPr/>
                    </p:nvSpPr>
                    <p:spPr>
                      <a:xfrm>
                        <a:off x="1008" y="960"/>
                        <a:ext cx="326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0" name="Line 67"/>
                      <p:cNvSpPr/>
                      <p:nvPr/>
                    </p:nvSpPr>
                    <p:spPr>
                      <a:xfrm>
                        <a:off x="4800" y="1296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1" name="Line 68"/>
                      <p:cNvSpPr/>
                      <p:nvPr/>
                    </p:nvSpPr>
                    <p:spPr>
                      <a:xfrm>
                        <a:off x="4656" y="1344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2" name="Line 69"/>
                      <p:cNvSpPr/>
                      <p:nvPr/>
                    </p:nvSpPr>
                    <p:spPr>
                      <a:xfrm flipH="1">
                        <a:off x="4656" y="1296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3" name="Oval 70"/>
                      <p:cNvSpPr/>
                      <p:nvPr/>
                    </p:nvSpPr>
                    <p:spPr>
                      <a:xfrm>
                        <a:off x="4704" y="1344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54" name="Line 71"/>
                      <p:cNvSpPr/>
                      <p:nvPr/>
                    </p:nvSpPr>
                    <p:spPr>
                      <a:xfrm flipH="1">
                        <a:off x="4800" y="1344"/>
                        <a:ext cx="528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5" name="Line 72"/>
                      <p:cNvSpPr/>
                      <p:nvPr/>
                    </p:nvSpPr>
                    <p:spPr>
                      <a:xfrm>
                        <a:off x="4800" y="1488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6" name="Line 73"/>
                      <p:cNvSpPr/>
                      <p:nvPr/>
                    </p:nvSpPr>
                    <p:spPr>
                      <a:xfrm>
                        <a:off x="4656" y="1536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7" name="Line 74"/>
                      <p:cNvSpPr/>
                      <p:nvPr/>
                    </p:nvSpPr>
                    <p:spPr>
                      <a:xfrm flipH="1">
                        <a:off x="4656" y="1488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58" name="Oval 75"/>
                      <p:cNvSpPr/>
                      <p:nvPr/>
                    </p:nvSpPr>
                    <p:spPr>
                      <a:xfrm>
                        <a:off x="4704" y="1536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59" name="Line 76"/>
                      <p:cNvSpPr/>
                      <p:nvPr/>
                    </p:nvSpPr>
                    <p:spPr>
                      <a:xfrm flipH="1">
                        <a:off x="4800" y="1536"/>
                        <a:ext cx="4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0" name="Line 77"/>
                      <p:cNvSpPr/>
                      <p:nvPr/>
                    </p:nvSpPr>
                    <p:spPr>
                      <a:xfrm>
                        <a:off x="4800" y="1680"/>
                        <a:ext cx="0" cy="9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1" name="Line 78"/>
                      <p:cNvSpPr/>
                      <p:nvPr/>
                    </p:nvSpPr>
                    <p:spPr>
                      <a:xfrm>
                        <a:off x="4656" y="1728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2" name="Line 79"/>
                      <p:cNvSpPr/>
                      <p:nvPr/>
                    </p:nvSpPr>
                    <p:spPr>
                      <a:xfrm flipH="1">
                        <a:off x="4656" y="1680"/>
                        <a:ext cx="144" cy="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3" name="Oval 80"/>
                      <p:cNvSpPr/>
                      <p:nvPr/>
                    </p:nvSpPr>
                    <p:spPr>
                      <a:xfrm>
                        <a:off x="4704" y="1728"/>
                        <a:ext cx="48" cy="48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64" name="Line 81"/>
                      <p:cNvSpPr/>
                      <p:nvPr/>
                    </p:nvSpPr>
                    <p:spPr>
                      <a:xfrm flipH="1">
                        <a:off x="4800" y="1728"/>
                        <a:ext cx="33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93265" name="Group 82"/>
                    <p:cNvGrpSpPr/>
                    <p:nvPr/>
                  </p:nvGrpSpPr>
                  <p:grpSpPr>
                    <a:xfrm>
                      <a:off x="1152" y="48"/>
                      <a:ext cx="3024" cy="3648"/>
                      <a:chOff x="1152" y="48"/>
                      <a:chExt cx="3024" cy="3648"/>
                    </a:xfrm>
                  </p:grpSpPr>
                  <p:sp>
                    <p:nvSpPr>
                      <p:cNvPr id="93266" name="Line 83"/>
                      <p:cNvSpPr/>
                      <p:nvPr/>
                    </p:nvSpPr>
                    <p:spPr>
                      <a:xfrm>
                        <a:off x="1152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7" name="Line 84"/>
                      <p:cNvSpPr/>
                      <p:nvPr/>
                    </p:nvSpPr>
                    <p:spPr>
                      <a:xfrm>
                        <a:off x="1296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8" name="Line 85"/>
                      <p:cNvSpPr/>
                      <p:nvPr/>
                    </p:nvSpPr>
                    <p:spPr>
                      <a:xfrm>
                        <a:off x="1440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69" name="Line 86"/>
                      <p:cNvSpPr/>
                      <p:nvPr/>
                    </p:nvSpPr>
                    <p:spPr>
                      <a:xfrm>
                        <a:off x="1584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0" name="Line 87"/>
                      <p:cNvSpPr/>
                      <p:nvPr/>
                    </p:nvSpPr>
                    <p:spPr>
                      <a:xfrm>
                        <a:off x="1728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1" name="Line 88"/>
                      <p:cNvSpPr/>
                      <p:nvPr/>
                    </p:nvSpPr>
                    <p:spPr>
                      <a:xfrm>
                        <a:off x="1872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2" name="Line 89"/>
                      <p:cNvSpPr/>
                      <p:nvPr/>
                    </p:nvSpPr>
                    <p:spPr>
                      <a:xfrm>
                        <a:off x="2016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3" name="Line 90"/>
                      <p:cNvSpPr/>
                      <p:nvPr/>
                    </p:nvSpPr>
                    <p:spPr>
                      <a:xfrm>
                        <a:off x="2160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4" name="Line 91"/>
                      <p:cNvSpPr/>
                      <p:nvPr/>
                    </p:nvSpPr>
                    <p:spPr>
                      <a:xfrm>
                        <a:off x="2304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5" name="Line 92"/>
                      <p:cNvSpPr/>
                      <p:nvPr/>
                    </p:nvSpPr>
                    <p:spPr>
                      <a:xfrm>
                        <a:off x="2448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6" name="Line 93"/>
                      <p:cNvSpPr/>
                      <p:nvPr/>
                    </p:nvSpPr>
                    <p:spPr>
                      <a:xfrm>
                        <a:off x="2592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7" name="Line 94"/>
                      <p:cNvSpPr/>
                      <p:nvPr/>
                    </p:nvSpPr>
                    <p:spPr>
                      <a:xfrm>
                        <a:off x="2736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8" name="Line 95"/>
                      <p:cNvSpPr/>
                      <p:nvPr/>
                    </p:nvSpPr>
                    <p:spPr>
                      <a:xfrm>
                        <a:off x="2880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79" name="Line 96"/>
                      <p:cNvSpPr/>
                      <p:nvPr/>
                    </p:nvSpPr>
                    <p:spPr>
                      <a:xfrm>
                        <a:off x="3024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0" name="Line 97"/>
                      <p:cNvSpPr/>
                      <p:nvPr/>
                    </p:nvSpPr>
                    <p:spPr>
                      <a:xfrm>
                        <a:off x="3168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1" name="Line 98"/>
                      <p:cNvSpPr/>
                      <p:nvPr/>
                    </p:nvSpPr>
                    <p:spPr>
                      <a:xfrm>
                        <a:off x="3312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2" name="Line 99"/>
                      <p:cNvSpPr/>
                      <p:nvPr/>
                    </p:nvSpPr>
                    <p:spPr>
                      <a:xfrm>
                        <a:off x="3456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3" name="Line 100"/>
                      <p:cNvSpPr/>
                      <p:nvPr/>
                    </p:nvSpPr>
                    <p:spPr>
                      <a:xfrm>
                        <a:off x="3600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4" name="Line 101"/>
                      <p:cNvSpPr/>
                      <p:nvPr/>
                    </p:nvSpPr>
                    <p:spPr>
                      <a:xfrm>
                        <a:off x="3744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5" name="Line 102"/>
                      <p:cNvSpPr/>
                      <p:nvPr/>
                    </p:nvSpPr>
                    <p:spPr>
                      <a:xfrm>
                        <a:off x="3888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6" name="Line 103"/>
                      <p:cNvSpPr/>
                      <p:nvPr/>
                    </p:nvSpPr>
                    <p:spPr>
                      <a:xfrm>
                        <a:off x="4032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287" name="Line 104"/>
                      <p:cNvSpPr/>
                      <p:nvPr/>
                    </p:nvSpPr>
                    <p:spPr>
                      <a:xfrm>
                        <a:off x="4176" y="48"/>
                        <a:ext cx="0" cy="364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FFFF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603241" name="Rectangle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3073"/>
                      <a:ext cx="289" cy="58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0" lang="en-US" altLang="zh-CN" sz="18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endPara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0" lang="en-US" altLang="zh-CN" sz="18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endPara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0" lang="en-US" altLang="zh-CN" sz="18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</a:t>
                      </a:r>
                      <a:endPara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Q</a:t>
                      </a:r>
                      <a:r>
                        <a:rPr kumimoji="0" lang="en-US" altLang="zh-CN" sz="18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</a:t>
                      </a:r>
                      <a:endPara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-2500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</a:t>
                      </a:r>
                      <a:endParaRPr kumimoji="0" lang="en-US" altLang="zh-CN" sz="18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grpSp>
                  <p:nvGrpSpPr>
                    <p:cNvPr id="93289" name="Group 106"/>
                    <p:cNvGrpSpPr/>
                    <p:nvPr/>
                  </p:nvGrpSpPr>
                  <p:grpSpPr>
                    <a:xfrm>
                      <a:off x="1104" y="1056"/>
                      <a:ext cx="528" cy="2448"/>
                      <a:chOff x="1104" y="1056"/>
                      <a:chExt cx="528" cy="2448"/>
                    </a:xfrm>
                  </p:grpSpPr>
                  <p:sp>
                    <p:nvSpPr>
                      <p:cNvPr id="93290" name="Oval 107"/>
                      <p:cNvSpPr/>
                      <p:nvPr/>
                    </p:nvSpPr>
                    <p:spPr>
                      <a:xfrm>
                        <a:off x="1104" y="105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1" name="Oval 108"/>
                      <p:cNvSpPr/>
                      <p:nvPr/>
                    </p:nvSpPr>
                    <p:spPr>
                      <a:xfrm>
                        <a:off x="1104" y="312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2" name="Oval 109"/>
                      <p:cNvSpPr/>
                      <p:nvPr/>
                    </p:nvSpPr>
                    <p:spPr>
                      <a:xfrm>
                        <a:off x="1248" y="1248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3" name="Oval 110"/>
                      <p:cNvSpPr/>
                      <p:nvPr/>
                    </p:nvSpPr>
                    <p:spPr>
                      <a:xfrm>
                        <a:off x="1248" y="321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4" name="Oval 111"/>
                      <p:cNvSpPr/>
                      <p:nvPr/>
                    </p:nvSpPr>
                    <p:spPr>
                      <a:xfrm>
                        <a:off x="1392" y="144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5" name="Oval 112"/>
                      <p:cNvSpPr/>
                      <p:nvPr/>
                    </p:nvSpPr>
                    <p:spPr>
                      <a:xfrm>
                        <a:off x="1392" y="331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6" name="Oval 113"/>
                      <p:cNvSpPr/>
                      <p:nvPr/>
                    </p:nvSpPr>
                    <p:spPr>
                      <a:xfrm>
                        <a:off x="1536" y="163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297" name="Oval 114"/>
                      <p:cNvSpPr/>
                      <p:nvPr/>
                    </p:nvSpPr>
                    <p:spPr>
                      <a:xfrm>
                        <a:off x="1536" y="3408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93298" name="Group 115"/>
                    <p:cNvGrpSpPr/>
                    <p:nvPr/>
                  </p:nvGrpSpPr>
                  <p:grpSpPr>
                    <a:xfrm>
                      <a:off x="1680" y="48"/>
                      <a:ext cx="1104" cy="768"/>
                      <a:chOff x="1680" y="48"/>
                      <a:chExt cx="1104" cy="768"/>
                    </a:xfrm>
                  </p:grpSpPr>
                  <p:sp>
                    <p:nvSpPr>
                      <p:cNvPr id="93299" name="Oval 116"/>
                      <p:cNvSpPr/>
                      <p:nvPr/>
                    </p:nvSpPr>
                    <p:spPr>
                      <a:xfrm>
                        <a:off x="1680" y="144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0" name="Oval 117"/>
                      <p:cNvSpPr/>
                      <p:nvPr/>
                    </p:nvSpPr>
                    <p:spPr>
                      <a:xfrm>
                        <a:off x="1824" y="48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1" name="Oval 118"/>
                      <p:cNvSpPr/>
                      <p:nvPr/>
                    </p:nvSpPr>
                    <p:spPr>
                      <a:xfrm>
                        <a:off x="1968" y="33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2" name="Oval 119"/>
                      <p:cNvSpPr/>
                      <p:nvPr/>
                    </p:nvSpPr>
                    <p:spPr>
                      <a:xfrm>
                        <a:off x="2112" y="24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3" name="Oval 120"/>
                      <p:cNvSpPr/>
                      <p:nvPr/>
                    </p:nvSpPr>
                    <p:spPr>
                      <a:xfrm>
                        <a:off x="2256" y="528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4" name="Oval 121"/>
                      <p:cNvSpPr/>
                      <p:nvPr/>
                    </p:nvSpPr>
                    <p:spPr>
                      <a:xfrm>
                        <a:off x="2400" y="43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5" name="Oval 122"/>
                      <p:cNvSpPr/>
                      <p:nvPr/>
                    </p:nvSpPr>
                    <p:spPr>
                      <a:xfrm>
                        <a:off x="2544" y="72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93306" name="Oval 123"/>
                      <p:cNvSpPr/>
                      <p:nvPr/>
                    </p:nvSpPr>
                    <p:spPr>
                      <a:xfrm>
                        <a:off x="2688" y="624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>
                          <a:buClrTx/>
                          <a:buFontTx/>
                        </a:pPr>
                        <a:endPara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93307" name="Group 124"/>
                    <p:cNvGrpSpPr/>
                    <p:nvPr/>
                  </p:nvGrpSpPr>
                  <p:grpSpPr>
                    <a:xfrm>
                      <a:off x="288" y="48"/>
                      <a:ext cx="5136" cy="3840"/>
                      <a:chOff x="288" y="48"/>
                      <a:chExt cx="5136" cy="3840"/>
                    </a:xfrm>
                  </p:grpSpPr>
                  <p:grpSp>
                    <p:nvGrpSpPr>
                      <p:cNvPr id="93308" name="Group 125"/>
                      <p:cNvGrpSpPr/>
                      <p:nvPr/>
                    </p:nvGrpSpPr>
                    <p:grpSpPr>
                      <a:xfrm>
                        <a:off x="288" y="48"/>
                        <a:ext cx="5136" cy="2976"/>
                        <a:chOff x="288" y="48"/>
                        <a:chExt cx="5136" cy="2976"/>
                      </a:xfrm>
                    </p:grpSpPr>
                    <p:grpSp>
                      <p:nvGrpSpPr>
                        <p:cNvPr id="93309" name="Group 126"/>
                        <p:cNvGrpSpPr/>
                        <p:nvPr/>
                      </p:nvGrpSpPr>
                      <p:grpSpPr>
                        <a:xfrm>
                          <a:off x="4512" y="1824"/>
                          <a:ext cx="672" cy="1200"/>
                          <a:chOff x="4992" y="2112"/>
                          <a:chExt cx="672" cy="1200"/>
                        </a:xfrm>
                      </p:grpSpPr>
                      <p:sp>
                        <p:nvSpPr>
                          <p:cNvPr id="93310" name="Rectangle 127"/>
                          <p:cNvSpPr/>
                          <p:nvPr/>
                        </p:nvSpPr>
                        <p:spPr>
                          <a:xfrm>
                            <a:off x="4992" y="2112"/>
                            <a:ext cx="576" cy="1200"/>
                          </a:xfrm>
                          <a:prstGeom prst="rect">
                            <a:avLst/>
                          </a:prstGeom>
                          <a:noFill/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  <p:txBody>
                          <a:bodyPr wrap="none" anchor="ctr" anchorCtr="0"/>
                          <a:p>
                            <a:pPr>
                              <a:buClrTx/>
                              <a:buFontTx/>
                            </a:pPr>
                            <a:endParaRPr lang="zh-CN" altLang="en-US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11" name="Line 128"/>
                          <p:cNvSpPr/>
                          <p:nvPr/>
                        </p:nvSpPr>
                        <p:spPr>
                          <a:xfrm>
                            <a:off x="4992" y="2400"/>
                            <a:ext cx="576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93312" name="Line 129"/>
                          <p:cNvSpPr/>
                          <p:nvPr/>
                        </p:nvSpPr>
                        <p:spPr>
                          <a:xfrm>
                            <a:off x="4992" y="2736"/>
                            <a:ext cx="576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93313" name="Text Box 130"/>
                          <p:cNvSpPr txBox="1"/>
                          <p:nvPr/>
                        </p:nvSpPr>
                        <p:spPr>
                          <a:xfrm>
                            <a:off x="4992" y="211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D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14" name="Text Box 131"/>
                          <p:cNvSpPr txBox="1"/>
                          <p:nvPr/>
                        </p:nvSpPr>
                        <p:spPr>
                          <a:xfrm>
                            <a:off x="5328" y="211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Q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15" name="Line 132"/>
                          <p:cNvSpPr/>
                          <p:nvPr/>
                        </p:nvSpPr>
                        <p:spPr>
                          <a:xfrm>
                            <a:off x="4992" y="2736"/>
                            <a:ext cx="576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93316" name="Text Box 133"/>
                          <p:cNvSpPr txBox="1"/>
                          <p:nvPr/>
                        </p:nvSpPr>
                        <p:spPr>
                          <a:xfrm>
                            <a:off x="4992" y="2400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D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17" name="Text Box 134"/>
                          <p:cNvSpPr txBox="1"/>
                          <p:nvPr/>
                        </p:nvSpPr>
                        <p:spPr>
                          <a:xfrm>
                            <a:off x="5376" y="2400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Q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18" name="Line 135"/>
                          <p:cNvSpPr/>
                          <p:nvPr/>
                        </p:nvSpPr>
                        <p:spPr>
                          <a:xfrm>
                            <a:off x="4992" y="3024"/>
                            <a:ext cx="576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93319" name="Text Box 136"/>
                          <p:cNvSpPr txBox="1"/>
                          <p:nvPr/>
                        </p:nvSpPr>
                        <p:spPr>
                          <a:xfrm>
                            <a:off x="4992" y="2736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D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20" name="Text Box 137"/>
                          <p:cNvSpPr txBox="1"/>
                          <p:nvPr/>
                        </p:nvSpPr>
                        <p:spPr>
                          <a:xfrm>
                            <a:off x="5376" y="2736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Q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21" name="Text Box 138"/>
                          <p:cNvSpPr txBox="1"/>
                          <p:nvPr/>
                        </p:nvSpPr>
                        <p:spPr>
                          <a:xfrm>
                            <a:off x="4992" y="3024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D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93322" name="Text Box 139"/>
                          <p:cNvSpPr txBox="1"/>
                          <p:nvPr/>
                        </p:nvSpPr>
                        <p:spPr>
                          <a:xfrm>
                            <a:off x="5376" y="3024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anchor="t" anchorCtr="0">
                            <a:spAutoFit/>
                          </a:bodyPr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Tx/>
                            </a:pPr>
                            <a:r>
                              <a:rPr lang="en-US" altLang="zh-CN" sz="2400" dirty="0"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Q</a:t>
                            </a:r>
                            <a:endPara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93323" name="Text Box 140"/>
                        <p:cNvSpPr txBox="1"/>
                        <p:nvPr/>
                      </p:nvSpPr>
                      <p:spPr>
                        <a:xfrm>
                          <a:off x="288" y="48"/>
                          <a:ext cx="432" cy="9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>
                          <a:spAutoFit/>
                        </a:bodyPr>
                        <a:p>
                          <a:pPr>
                            <a:lnSpc>
                              <a:spcPct val="80000"/>
                            </a:lnSpc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D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  <a:p>
                          <a:pPr>
                            <a:lnSpc>
                              <a:spcPct val="80000"/>
                            </a:lnSpc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  <a:p>
                          <a:pPr>
                            <a:lnSpc>
                              <a:spcPct val="80000"/>
                            </a:lnSpc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B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  <a:p>
                          <a:pPr>
                            <a:lnSpc>
                              <a:spcPct val="80000"/>
                            </a:lnSpc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  <a:p>
                          <a:pPr>
                            <a:lnSpc>
                              <a:spcPct val="80000"/>
                            </a:lnSpc>
                            <a:buClrTx/>
                            <a:buFontTx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T</a:t>
                          </a:r>
                          <a:endParaRPr lang="en-US" altLang="zh-CN" sz="24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93324" name="Line 141"/>
                        <p:cNvSpPr/>
                        <p:nvPr/>
                      </p:nvSpPr>
                      <p:spPr>
                        <a:xfrm>
                          <a:off x="5136" y="1728"/>
                          <a:ext cx="0" cy="24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25" name="Line 142"/>
                        <p:cNvSpPr/>
                        <p:nvPr/>
                      </p:nvSpPr>
                      <p:spPr>
                        <a:xfrm flipH="1">
                          <a:off x="5088" y="1968"/>
                          <a:ext cx="48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26" name="Line 143"/>
                        <p:cNvSpPr/>
                        <p:nvPr/>
                      </p:nvSpPr>
                      <p:spPr>
                        <a:xfrm>
                          <a:off x="5088" y="2256"/>
                          <a:ext cx="144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27" name="Line 144"/>
                        <p:cNvSpPr/>
                        <p:nvPr/>
                      </p:nvSpPr>
                      <p:spPr>
                        <a:xfrm flipV="1">
                          <a:off x="5232" y="1536"/>
                          <a:ext cx="0" cy="72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28" name="Line 145"/>
                        <p:cNvSpPr/>
                        <p:nvPr/>
                      </p:nvSpPr>
                      <p:spPr>
                        <a:xfrm>
                          <a:off x="5088" y="2592"/>
                          <a:ext cx="240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29" name="Line 146"/>
                        <p:cNvSpPr/>
                        <p:nvPr/>
                      </p:nvSpPr>
                      <p:spPr>
                        <a:xfrm flipV="1">
                          <a:off x="5328" y="1344"/>
                          <a:ext cx="0" cy="1248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30" name="Line 147"/>
                        <p:cNvSpPr/>
                        <p:nvPr/>
                      </p:nvSpPr>
                      <p:spPr>
                        <a:xfrm>
                          <a:off x="5088" y="2880"/>
                          <a:ext cx="33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93331" name="Line 148"/>
                        <p:cNvSpPr/>
                        <p:nvPr/>
                      </p:nvSpPr>
                      <p:spPr>
                        <a:xfrm flipV="1">
                          <a:off x="5424" y="1152"/>
                          <a:ext cx="0" cy="1728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</p:grpSp>
                  <p:sp>
                    <p:nvSpPr>
                      <p:cNvPr id="93332" name="Line 149"/>
                      <p:cNvSpPr/>
                      <p:nvPr/>
                    </p:nvSpPr>
                    <p:spPr>
                      <a:xfrm>
                        <a:off x="4320" y="3552"/>
                        <a:ext cx="0" cy="33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333" name="Line 150"/>
                      <p:cNvSpPr/>
                      <p:nvPr/>
                    </p:nvSpPr>
                    <p:spPr>
                      <a:xfrm flipH="1">
                        <a:off x="576" y="3888"/>
                        <a:ext cx="3744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93334" name="Line 151"/>
                      <p:cNvSpPr/>
                      <p:nvPr/>
                    </p:nvSpPr>
                    <p:spPr>
                      <a:xfrm flipV="1">
                        <a:off x="576" y="912"/>
                        <a:ext cx="0" cy="2976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60328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1104"/>
                    <a:ext cx="432" cy="6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24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D</a:t>
                    </a:r>
                    <a:endPara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24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24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6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Q</a:t>
                    </a:r>
                    <a:r>
                      <a:rPr kumimoji="0" lang="en-US" altLang="zh-CN" sz="2400" b="0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2400" b="0" i="0" u="none" strike="noStrike" kern="1200" cap="none" spc="0" normalizeH="0" baseline="-2500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93336" name="Group 153"/>
                  <p:cNvGrpSpPr/>
                  <p:nvPr/>
                </p:nvGrpSpPr>
                <p:grpSpPr>
                  <a:xfrm>
                    <a:off x="4128" y="816"/>
                    <a:ext cx="96" cy="1008"/>
                    <a:chOff x="4128" y="816"/>
                    <a:chExt cx="96" cy="1008"/>
                  </a:xfrm>
                </p:grpSpPr>
                <p:sp>
                  <p:nvSpPr>
                    <p:cNvPr id="93337" name="Oval 154"/>
                    <p:cNvSpPr/>
                    <p:nvPr/>
                  </p:nvSpPr>
                  <p:spPr>
                    <a:xfrm>
                      <a:off x="4128" y="1728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3338" name="Oval 155"/>
                    <p:cNvSpPr/>
                    <p:nvPr/>
                  </p:nvSpPr>
                  <p:spPr>
                    <a:xfrm>
                      <a:off x="4128" y="816"/>
                      <a:ext cx="96" cy="9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>
                        <a:buClrTx/>
                        <a:buFontTx/>
                      </a:pP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93339" name="Oval 156"/>
                  <p:cNvSpPr/>
                  <p:nvPr/>
                </p:nvSpPr>
                <p:spPr>
                  <a:xfrm>
                    <a:off x="4128" y="192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3340" name="Group 157"/>
                <p:cNvGrpSpPr/>
                <p:nvPr/>
              </p:nvGrpSpPr>
              <p:grpSpPr>
                <a:xfrm>
                  <a:off x="3984" y="816"/>
                  <a:ext cx="96" cy="912"/>
                  <a:chOff x="3984" y="816"/>
                  <a:chExt cx="96" cy="912"/>
                </a:xfrm>
              </p:grpSpPr>
              <p:sp>
                <p:nvSpPr>
                  <p:cNvPr id="93341" name="Oval 158"/>
                  <p:cNvSpPr/>
                  <p:nvPr/>
                </p:nvSpPr>
                <p:spPr>
                  <a:xfrm>
                    <a:off x="3984" y="81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342" name="Oval 159"/>
                  <p:cNvSpPr/>
                  <p:nvPr/>
                </p:nvSpPr>
                <p:spPr>
                  <a:xfrm>
                    <a:off x="3984" y="153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343" name="Oval 160"/>
                  <p:cNvSpPr/>
                  <p:nvPr/>
                </p:nvSpPr>
                <p:spPr>
                  <a:xfrm>
                    <a:off x="3984" y="1632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3344" name="Group 161"/>
                <p:cNvGrpSpPr/>
                <p:nvPr/>
              </p:nvGrpSpPr>
              <p:grpSpPr>
                <a:xfrm>
                  <a:off x="3840" y="816"/>
                  <a:ext cx="96" cy="1008"/>
                  <a:chOff x="3840" y="816"/>
                  <a:chExt cx="96" cy="1008"/>
                </a:xfrm>
              </p:grpSpPr>
              <p:sp>
                <p:nvSpPr>
                  <p:cNvPr id="93345" name="Oval 162"/>
                  <p:cNvSpPr/>
                  <p:nvPr/>
                </p:nvSpPr>
                <p:spPr>
                  <a:xfrm>
                    <a:off x="3840" y="144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346" name="Oval 163"/>
                  <p:cNvSpPr/>
                  <p:nvPr/>
                </p:nvSpPr>
                <p:spPr>
                  <a:xfrm>
                    <a:off x="3840" y="172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347" name="Oval 164"/>
                  <p:cNvSpPr/>
                  <p:nvPr/>
                </p:nvSpPr>
                <p:spPr>
                  <a:xfrm>
                    <a:off x="3840" y="81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3348" name="Group 165"/>
                <p:cNvGrpSpPr/>
                <p:nvPr/>
              </p:nvGrpSpPr>
              <p:grpSpPr>
                <a:xfrm>
                  <a:off x="3840" y="2208"/>
                  <a:ext cx="240" cy="96"/>
                  <a:chOff x="3840" y="2208"/>
                  <a:chExt cx="240" cy="96"/>
                </a:xfrm>
              </p:grpSpPr>
              <p:sp>
                <p:nvSpPr>
                  <p:cNvPr id="93349" name="Oval 166"/>
                  <p:cNvSpPr/>
                  <p:nvPr/>
                </p:nvSpPr>
                <p:spPr>
                  <a:xfrm>
                    <a:off x="3984" y="220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3350" name="Oval 167"/>
                  <p:cNvSpPr/>
                  <p:nvPr/>
                </p:nvSpPr>
                <p:spPr>
                  <a:xfrm>
                    <a:off x="3840" y="2208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ClrTx/>
                      <a:buFontTx/>
                    </a:pPr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93351" name="Group 168"/>
              <p:cNvGrpSpPr/>
              <p:nvPr/>
            </p:nvGrpSpPr>
            <p:grpSpPr>
              <a:xfrm>
                <a:off x="3696" y="816"/>
                <a:ext cx="96" cy="1776"/>
                <a:chOff x="3696" y="816"/>
                <a:chExt cx="96" cy="1776"/>
              </a:xfrm>
            </p:grpSpPr>
            <p:sp>
              <p:nvSpPr>
                <p:cNvPr id="93352" name="Oval 169"/>
                <p:cNvSpPr/>
                <p:nvPr/>
              </p:nvSpPr>
              <p:spPr>
                <a:xfrm>
                  <a:off x="3696" y="134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53" name="Oval 170"/>
                <p:cNvSpPr/>
                <p:nvPr/>
              </p:nvSpPr>
              <p:spPr>
                <a:xfrm>
                  <a:off x="3696" y="16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54" name="Oval 171"/>
                <p:cNvSpPr/>
                <p:nvPr/>
              </p:nvSpPr>
              <p:spPr>
                <a:xfrm>
                  <a:off x="3696" y="144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55" name="Oval 172"/>
                <p:cNvSpPr/>
                <p:nvPr/>
              </p:nvSpPr>
              <p:spPr>
                <a:xfrm>
                  <a:off x="3696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56" name="Oval 173"/>
                <p:cNvSpPr/>
                <p:nvPr/>
              </p:nvSpPr>
              <p:spPr>
                <a:xfrm>
                  <a:off x="3696" y="249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3357" name="Group 174"/>
              <p:cNvGrpSpPr/>
              <p:nvPr/>
            </p:nvGrpSpPr>
            <p:grpSpPr>
              <a:xfrm>
                <a:off x="3552" y="816"/>
                <a:ext cx="96" cy="1776"/>
                <a:chOff x="3552" y="816"/>
                <a:chExt cx="96" cy="1776"/>
              </a:xfrm>
            </p:grpSpPr>
            <p:sp>
              <p:nvSpPr>
                <p:cNvPr id="93358" name="Oval 175"/>
                <p:cNvSpPr/>
                <p:nvPr/>
              </p:nvSpPr>
              <p:spPr>
                <a:xfrm>
                  <a:off x="3552" y="12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59" name="Oval 176"/>
                <p:cNvSpPr/>
                <p:nvPr/>
              </p:nvSpPr>
              <p:spPr>
                <a:xfrm>
                  <a:off x="3552" y="153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60" name="Oval 177"/>
                <p:cNvSpPr/>
                <p:nvPr/>
              </p:nvSpPr>
              <p:spPr>
                <a:xfrm>
                  <a:off x="3552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61" name="Oval 178"/>
                <p:cNvSpPr/>
                <p:nvPr/>
              </p:nvSpPr>
              <p:spPr>
                <a:xfrm>
                  <a:off x="3552" y="249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3362" name="Group 179"/>
              <p:cNvGrpSpPr/>
              <p:nvPr/>
            </p:nvGrpSpPr>
            <p:grpSpPr>
              <a:xfrm>
                <a:off x="3408" y="816"/>
                <a:ext cx="96" cy="1776"/>
                <a:chOff x="3408" y="816"/>
                <a:chExt cx="96" cy="1776"/>
              </a:xfrm>
            </p:grpSpPr>
            <p:sp>
              <p:nvSpPr>
                <p:cNvPr id="93363" name="Oval 180"/>
                <p:cNvSpPr/>
                <p:nvPr/>
              </p:nvSpPr>
              <p:spPr>
                <a:xfrm>
                  <a:off x="3408" y="12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64" name="Oval 181"/>
                <p:cNvSpPr/>
                <p:nvPr/>
              </p:nvSpPr>
              <p:spPr>
                <a:xfrm>
                  <a:off x="3408" y="172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65" name="Oval 182"/>
                <p:cNvSpPr/>
                <p:nvPr/>
              </p:nvSpPr>
              <p:spPr>
                <a:xfrm>
                  <a:off x="3408" y="81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66" name="Oval 183"/>
                <p:cNvSpPr/>
                <p:nvPr/>
              </p:nvSpPr>
              <p:spPr>
                <a:xfrm>
                  <a:off x="3408" y="2496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93367" name="Group 184"/>
            <p:cNvGrpSpPr/>
            <p:nvPr/>
          </p:nvGrpSpPr>
          <p:grpSpPr>
            <a:xfrm>
              <a:off x="3264" y="816"/>
              <a:ext cx="96" cy="2160"/>
              <a:chOff x="3264" y="816"/>
              <a:chExt cx="96" cy="2160"/>
            </a:xfrm>
          </p:grpSpPr>
          <p:grpSp>
            <p:nvGrpSpPr>
              <p:cNvPr id="93368" name="Group 185"/>
              <p:cNvGrpSpPr/>
              <p:nvPr/>
            </p:nvGrpSpPr>
            <p:grpSpPr>
              <a:xfrm>
                <a:off x="3264" y="1152"/>
                <a:ext cx="96" cy="1824"/>
                <a:chOff x="3264" y="1152"/>
                <a:chExt cx="96" cy="1824"/>
              </a:xfrm>
            </p:grpSpPr>
            <p:sp>
              <p:nvSpPr>
                <p:cNvPr id="93369" name="Oval 186"/>
                <p:cNvSpPr/>
                <p:nvPr/>
              </p:nvSpPr>
              <p:spPr>
                <a:xfrm>
                  <a:off x="3264" y="115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70" name="Oval 187"/>
                <p:cNvSpPr/>
                <p:nvPr/>
              </p:nvSpPr>
              <p:spPr>
                <a:xfrm>
                  <a:off x="3264" y="12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71" name="Oval 188"/>
                <p:cNvSpPr/>
                <p:nvPr/>
              </p:nvSpPr>
              <p:spPr>
                <a:xfrm>
                  <a:off x="3264" y="144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72" name="Oval 189"/>
                <p:cNvSpPr/>
                <p:nvPr/>
              </p:nvSpPr>
              <p:spPr>
                <a:xfrm>
                  <a:off x="3264" y="1632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373" name="Oval 190"/>
                <p:cNvSpPr/>
                <p:nvPr/>
              </p:nvSpPr>
              <p:spPr>
                <a:xfrm>
                  <a:off x="3264" y="2880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3374" name="Oval 191"/>
              <p:cNvSpPr/>
              <p:nvPr/>
            </p:nvSpPr>
            <p:spPr>
              <a:xfrm>
                <a:off x="3264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375" name="Group 192"/>
            <p:cNvGrpSpPr/>
            <p:nvPr/>
          </p:nvGrpSpPr>
          <p:grpSpPr>
            <a:xfrm>
              <a:off x="3120" y="816"/>
              <a:ext cx="96" cy="2160"/>
              <a:chOff x="3120" y="816"/>
              <a:chExt cx="96" cy="2160"/>
            </a:xfrm>
          </p:grpSpPr>
          <p:sp>
            <p:nvSpPr>
              <p:cNvPr id="93376" name="Oval 193"/>
              <p:cNvSpPr/>
              <p:nvPr/>
            </p:nvSpPr>
            <p:spPr>
              <a:xfrm>
                <a:off x="3120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77" name="Oval 194"/>
              <p:cNvSpPr/>
              <p:nvPr/>
            </p:nvSpPr>
            <p:spPr>
              <a:xfrm>
                <a:off x="3120" y="134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78" name="Oval 195"/>
              <p:cNvSpPr/>
              <p:nvPr/>
            </p:nvSpPr>
            <p:spPr>
              <a:xfrm>
                <a:off x="3120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79" name="Oval 196"/>
              <p:cNvSpPr/>
              <p:nvPr/>
            </p:nvSpPr>
            <p:spPr>
              <a:xfrm>
                <a:off x="3120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380" name="Group 197"/>
            <p:cNvGrpSpPr/>
            <p:nvPr/>
          </p:nvGrpSpPr>
          <p:grpSpPr>
            <a:xfrm>
              <a:off x="2976" y="816"/>
              <a:ext cx="96" cy="2160"/>
              <a:chOff x="2976" y="816"/>
              <a:chExt cx="96" cy="2160"/>
            </a:xfrm>
          </p:grpSpPr>
          <p:sp>
            <p:nvSpPr>
              <p:cNvPr id="93381" name="Oval 198"/>
              <p:cNvSpPr/>
              <p:nvPr/>
            </p:nvSpPr>
            <p:spPr>
              <a:xfrm>
                <a:off x="2976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2" name="Oval 199"/>
              <p:cNvSpPr/>
              <p:nvPr/>
            </p:nvSpPr>
            <p:spPr>
              <a:xfrm>
                <a:off x="2976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3" name="Oval 200"/>
              <p:cNvSpPr/>
              <p:nvPr/>
            </p:nvSpPr>
            <p:spPr>
              <a:xfrm>
                <a:off x="2976" y="153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4" name="Oval 201"/>
              <p:cNvSpPr/>
              <p:nvPr/>
            </p:nvSpPr>
            <p:spPr>
              <a:xfrm>
                <a:off x="2976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385" name="Group 202"/>
            <p:cNvGrpSpPr/>
            <p:nvPr/>
          </p:nvGrpSpPr>
          <p:grpSpPr>
            <a:xfrm>
              <a:off x="2832" y="816"/>
              <a:ext cx="96" cy="2160"/>
              <a:chOff x="2832" y="816"/>
              <a:chExt cx="96" cy="2160"/>
            </a:xfrm>
          </p:grpSpPr>
          <p:sp>
            <p:nvSpPr>
              <p:cNvPr id="93386" name="Oval 203"/>
              <p:cNvSpPr/>
              <p:nvPr/>
            </p:nvSpPr>
            <p:spPr>
              <a:xfrm>
                <a:off x="2832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7" name="Oval 204"/>
              <p:cNvSpPr/>
              <p:nvPr/>
            </p:nvSpPr>
            <p:spPr>
              <a:xfrm>
                <a:off x="2832" y="10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8" name="Oval 205"/>
              <p:cNvSpPr/>
              <p:nvPr/>
            </p:nvSpPr>
            <p:spPr>
              <a:xfrm>
                <a:off x="2832" y="172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389" name="Oval 206"/>
              <p:cNvSpPr/>
              <p:nvPr/>
            </p:nvSpPr>
            <p:spPr>
              <a:xfrm>
                <a:off x="2832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03350" name="Group 214"/>
          <p:cNvGrpSpPr/>
          <p:nvPr/>
        </p:nvGrpSpPr>
        <p:grpSpPr>
          <a:xfrm>
            <a:off x="4038600" y="2590800"/>
            <a:ext cx="381000" cy="3124200"/>
            <a:chOff x="2544" y="1632"/>
            <a:chExt cx="240" cy="1968"/>
          </a:xfrm>
        </p:grpSpPr>
        <p:sp>
          <p:nvSpPr>
            <p:cNvPr id="93391" name="Oval 210"/>
            <p:cNvSpPr/>
            <p:nvPr/>
          </p:nvSpPr>
          <p:spPr>
            <a:xfrm>
              <a:off x="2544" y="16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2" name="Oval 211"/>
            <p:cNvSpPr/>
            <p:nvPr/>
          </p:nvSpPr>
          <p:spPr>
            <a:xfrm>
              <a:off x="2688" y="17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3" name="Oval 212"/>
            <p:cNvSpPr/>
            <p:nvPr/>
          </p:nvSpPr>
          <p:spPr>
            <a:xfrm>
              <a:off x="2688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4" name="Oval 213"/>
            <p:cNvSpPr/>
            <p:nvPr/>
          </p:nvSpPr>
          <p:spPr>
            <a:xfrm>
              <a:off x="2544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3355" name="Group 219"/>
          <p:cNvGrpSpPr/>
          <p:nvPr/>
        </p:nvGrpSpPr>
        <p:grpSpPr>
          <a:xfrm>
            <a:off x="3581400" y="2286000"/>
            <a:ext cx="381000" cy="3429000"/>
            <a:chOff x="2256" y="1440"/>
            <a:chExt cx="240" cy="2160"/>
          </a:xfrm>
        </p:grpSpPr>
        <p:sp>
          <p:nvSpPr>
            <p:cNvPr id="93396" name="Oval 215"/>
            <p:cNvSpPr/>
            <p:nvPr/>
          </p:nvSpPr>
          <p:spPr>
            <a:xfrm>
              <a:off x="2256" y="14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7" name="Oval 216"/>
            <p:cNvSpPr/>
            <p:nvPr/>
          </p:nvSpPr>
          <p:spPr>
            <a:xfrm>
              <a:off x="2400" y="15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8" name="Oval 217"/>
            <p:cNvSpPr/>
            <p:nvPr/>
          </p:nvSpPr>
          <p:spPr>
            <a:xfrm>
              <a:off x="2400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399" name="Oval 218"/>
            <p:cNvSpPr/>
            <p:nvPr/>
          </p:nvSpPr>
          <p:spPr>
            <a:xfrm>
              <a:off x="2256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3360" name="Group 224"/>
          <p:cNvGrpSpPr/>
          <p:nvPr/>
        </p:nvGrpSpPr>
        <p:grpSpPr>
          <a:xfrm>
            <a:off x="3124200" y="1981200"/>
            <a:ext cx="381000" cy="3733800"/>
            <a:chOff x="1968" y="1248"/>
            <a:chExt cx="240" cy="2352"/>
          </a:xfrm>
        </p:grpSpPr>
        <p:sp>
          <p:nvSpPr>
            <p:cNvPr id="93401" name="Oval 220"/>
            <p:cNvSpPr/>
            <p:nvPr/>
          </p:nvSpPr>
          <p:spPr>
            <a:xfrm>
              <a:off x="1968" y="12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2" name="Oval 221"/>
            <p:cNvSpPr/>
            <p:nvPr/>
          </p:nvSpPr>
          <p:spPr>
            <a:xfrm>
              <a:off x="2112" y="13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3" name="Oval 222"/>
            <p:cNvSpPr/>
            <p:nvPr/>
          </p:nvSpPr>
          <p:spPr>
            <a:xfrm>
              <a:off x="2112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4" name="Oval 223"/>
            <p:cNvSpPr/>
            <p:nvPr/>
          </p:nvSpPr>
          <p:spPr>
            <a:xfrm>
              <a:off x="1968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03365" name="Group 229"/>
          <p:cNvGrpSpPr/>
          <p:nvPr/>
        </p:nvGrpSpPr>
        <p:grpSpPr>
          <a:xfrm>
            <a:off x="2667000" y="1676400"/>
            <a:ext cx="381000" cy="4038600"/>
            <a:chOff x="1680" y="1056"/>
            <a:chExt cx="240" cy="2544"/>
          </a:xfrm>
        </p:grpSpPr>
        <p:sp>
          <p:nvSpPr>
            <p:cNvPr id="93406" name="Oval 225"/>
            <p:cNvSpPr/>
            <p:nvPr/>
          </p:nvSpPr>
          <p:spPr>
            <a:xfrm>
              <a:off x="1680" y="10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7" name="Oval 226"/>
            <p:cNvSpPr/>
            <p:nvPr/>
          </p:nvSpPr>
          <p:spPr>
            <a:xfrm>
              <a:off x="1824" y="11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8" name="Oval 227"/>
            <p:cNvSpPr/>
            <p:nvPr/>
          </p:nvSpPr>
          <p:spPr>
            <a:xfrm>
              <a:off x="1824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409" name="Oval 228"/>
            <p:cNvSpPr/>
            <p:nvPr/>
          </p:nvSpPr>
          <p:spPr>
            <a:xfrm>
              <a:off x="1680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9" name="文本框 228"/>
          <p:cNvSpPr txBox="1"/>
          <p:nvPr/>
        </p:nvSpPr>
        <p:spPr>
          <a:xfrm>
            <a:off x="914400" y="6105525"/>
            <a:ext cx="6924675" cy="587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</a:rPr>
              <a:t>—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0" hangingPunct="0">
              <a:lnSpc>
                <a:spcPts val="1400"/>
              </a:lnSpc>
              <a:buClrTx/>
              <a:buFontTx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T=(Q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B+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B)+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C)+ (Q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D+ Q</a:t>
            </a:r>
            <a:r>
              <a:rPr lang="en-US" altLang="zh-CN" sz="20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D)</a:t>
            </a:r>
            <a:endParaRPr lang="en-US" altLang="zh-CN" sz="2000" dirty="0">
              <a:latin typeface="Tahoma" panose="020B0604030504040204" pitchFamily="34" charset="0"/>
              <a:ea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3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3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3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3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3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3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3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 可编程逻辑电路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11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中小规模可编程逻辑器件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只读存储器（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可编程逻辑阵列（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可编程阵列逻辑（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通用整列逻辑（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大规模可编程逻辑电路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31140" name="Rectangle 4"/>
          <p:cNvSpPr/>
          <p:nvPr/>
        </p:nvSpPr>
        <p:spPr>
          <a:xfrm>
            <a:off x="533400" y="281940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38452" name="Group 148"/>
          <p:cNvGrpSpPr/>
          <p:nvPr/>
        </p:nvGrpSpPr>
        <p:grpSpPr>
          <a:xfrm>
            <a:off x="228600" y="1828800"/>
            <a:ext cx="4691063" cy="4775200"/>
            <a:chOff x="2699" y="331"/>
            <a:chExt cx="2955" cy="3008"/>
          </a:xfrm>
        </p:grpSpPr>
        <p:sp>
          <p:nvSpPr>
            <p:cNvPr id="95235" name="Text Box 149"/>
            <p:cNvSpPr txBox="1"/>
            <p:nvPr/>
          </p:nvSpPr>
          <p:spPr>
            <a:xfrm>
              <a:off x="3341" y="331"/>
              <a:ext cx="150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  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      </a:t>
              </a:r>
              <a:r>
                <a:rPr lang="en-US" altLang="zh-CN" sz="1800" b="1" dirty="0">
                  <a:latin typeface="Georgia" panose="02040502050405020303" pitchFamily="18" charset="0"/>
                  <a:ea typeface="宋体" panose="02010600030101010101" pitchFamily="2" charset="-122"/>
                </a:rPr>
                <a:t>W</a:t>
              </a:r>
              <a:r>
                <a:rPr lang="en-US" altLang="zh-CN" sz="18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36" name="Text Box 150"/>
            <p:cNvSpPr txBox="1"/>
            <p:nvPr/>
          </p:nvSpPr>
          <p:spPr>
            <a:xfrm>
              <a:off x="2699" y="639"/>
              <a:ext cx="32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endParaRPr lang="en-US" altLang="zh-CN" sz="2400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  <a:p>
              <a:pPr algn="ctr">
                <a:buClrTx/>
                <a:buFontTx/>
              </a:pPr>
              <a:r>
                <a:rPr lang="en-US" altLang="zh-CN" sz="2400" dirty="0">
                  <a:latin typeface="Georgia" panose="02040502050405020303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5237" name="Group 151"/>
            <p:cNvGrpSpPr/>
            <p:nvPr/>
          </p:nvGrpSpPr>
          <p:grpSpPr>
            <a:xfrm>
              <a:off x="2898" y="849"/>
              <a:ext cx="211" cy="176"/>
              <a:chOff x="794" y="2361"/>
              <a:chExt cx="254" cy="253"/>
            </a:xfrm>
          </p:grpSpPr>
          <p:sp>
            <p:nvSpPr>
              <p:cNvPr id="95238" name="AutoShape 152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39" name="Oval 153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5240" name="Line 154"/>
            <p:cNvSpPr/>
            <p:nvPr/>
          </p:nvSpPr>
          <p:spPr>
            <a:xfrm>
              <a:off x="3086" y="1025"/>
              <a:ext cx="113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41" name="Line 155"/>
            <p:cNvSpPr/>
            <p:nvPr/>
          </p:nvSpPr>
          <p:spPr>
            <a:xfrm flipV="1">
              <a:off x="3080" y="804"/>
              <a:ext cx="119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42" name="Line 156"/>
            <p:cNvSpPr/>
            <p:nvPr/>
          </p:nvSpPr>
          <p:spPr>
            <a:xfrm>
              <a:off x="2785" y="930"/>
              <a:ext cx="22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5243" name="Group 157"/>
            <p:cNvGrpSpPr/>
            <p:nvPr/>
          </p:nvGrpSpPr>
          <p:grpSpPr>
            <a:xfrm>
              <a:off x="2861" y="1384"/>
              <a:ext cx="210" cy="175"/>
              <a:chOff x="794" y="2361"/>
              <a:chExt cx="254" cy="253"/>
            </a:xfrm>
          </p:grpSpPr>
          <p:sp>
            <p:nvSpPr>
              <p:cNvPr id="95244" name="AutoShape 158"/>
              <p:cNvSpPr>
                <a:spLocks noChangeAspect="1"/>
              </p:cNvSpPr>
              <p:nvPr/>
            </p:nvSpPr>
            <p:spPr>
              <a:xfrm rot="-8100000">
                <a:off x="793" y="2360"/>
                <a:ext cx="231" cy="231"/>
              </a:xfrm>
              <a:prstGeom prst="rtTriangl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245" name="Oval 159"/>
              <p:cNvSpPr>
                <a:spLocks noChangeAspect="1"/>
              </p:cNvSpPr>
              <p:nvPr/>
            </p:nvSpPr>
            <p:spPr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5246" name="Line 160"/>
            <p:cNvSpPr/>
            <p:nvPr/>
          </p:nvSpPr>
          <p:spPr>
            <a:xfrm>
              <a:off x="3049" y="1559"/>
              <a:ext cx="113" cy="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47" name="Line 161"/>
            <p:cNvSpPr/>
            <p:nvPr/>
          </p:nvSpPr>
          <p:spPr>
            <a:xfrm flipV="1">
              <a:off x="3042" y="1339"/>
              <a:ext cx="120" cy="6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48" name="Line 162"/>
            <p:cNvSpPr/>
            <p:nvPr/>
          </p:nvSpPr>
          <p:spPr>
            <a:xfrm>
              <a:off x="2748" y="1465"/>
              <a:ext cx="2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49" name="Line 163"/>
            <p:cNvSpPr/>
            <p:nvPr/>
          </p:nvSpPr>
          <p:spPr>
            <a:xfrm>
              <a:off x="3199" y="804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0" name="Line 164"/>
            <p:cNvSpPr/>
            <p:nvPr/>
          </p:nvSpPr>
          <p:spPr>
            <a:xfrm>
              <a:off x="3199" y="108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1" name="Line 165"/>
            <p:cNvSpPr/>
            <p:nvPr/>
          </p:nvSpPr>
          <p:spPr>
            <a:xfrm>
              <a:off x="3161" y="1339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2" name="Line 166"/>
            <p:cNvSpPr/>
            <p:nvPr/>
          </p:nvSpPr>
          <p:spPr>
            <a:xfrm>
              <a:off x="3161" y="1622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3" name="Line 167"/>
            <p:cNvSpPr/>
            <p:nvPr/>
          </p:nvSpPr>
          <p:spPr>
            <a:xfrm>
              <a:off x="3537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4" name="Line 168"/>
            <p:cNvSpPr/>
            <p:nvPr/>
          </p:nvSpPr>
          <p:spPr>
            <a:xfrm>
              <a:off x="3913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5" name="Line 169"/>
            <p:cNvSpPr/>
            <p:nvPr/>
          </p:nvSpPr>
          <p:spPr>
            <a:xfrm>
              <a:off x="4290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6" name="Line 170"/>
            <p:cNvSpPr/>
            <p:nvPr/>
          </p:nvSpPr>
          <p:spPr>
            <a:xfrm>
              <a:off x="4666" y="616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57" name="Rectangle 171"/>
            <p:cNvSpPr/>
            <p:nvPr/>
          </p:nvSpPr>
          <p:spPr>
            <a:xfrm>
              <a:off x="3296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58" name="Rectangle 172"/>
            <p:cNvSpPr/>
            <p:nvPr/>
          </p:nvSpPr>
          <p:spPr>
            <a:xfrm>
              <a:off x="3704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59" name="Rectangle 173"/>
            <p:cNvSpPr/>
            <p:nvPr/>
          </p:nvSpPr>
          <p:spPr>
            <a:xfrm>
              <a:off x="4112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60" name="Rectangle 174"/>
            <p:cNvSpPr/>
            <p:nvPr/>
          </p:nvSpPr>
          <p:spPr>
            <a:xfrm>
              <a:off x="4520" y="1842"/>
              <a:ext cx="363" cy="181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endParaRPr lang="zh-CN" altLang="zh-CN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61" name="Line 175"/>
            <p:cNvSpPr/>
            <p:nvPr/>
          </p:nvSpPr>
          <p:spPr>
            <a:xfrm>
              <a:off x="4656" y="2022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2" name="Line 176"/>
            <p:cNvSpPr/>
            <p:nvPr/>
          </p:nvSpPr>
          <p:spPr>
            <a:xfrm>
              <a:off x="4294" y="2023"/>
              <a:ext cx="0" cy="12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3" name="Line 177"/>
            <p:cNvSpPr/>
            <p:nvPr/>
          </p:nvSpPr>
          <p:spPr>
            <a:xfrm>
              <a:off x="3885" y="2023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4" name="Line 178"/>
            <p:cNvSpPr/>
            <p:nvPr/>
          </p:nvSpPr>
          <p:spPr>
            <a:xfrm>
              <a:off x="3522" y="2023"/>
              <a:ext cx="0" cy="1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5" name="Line 179"/>
            <p:cNvSpPr/>
            <p:nvPr/>
          </p:nvSpPr>
          <p:spPr>
            <a:xfrm>
              <a:off x="3341" y="2250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6" name="Line 180"/>
            <p:cNvSpPr/>
            <p:nvPr/>
          </p:nvSpPr>
          <p:spPr>
            <a:xfrm>
              <a:off x="3341" y="2568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7" name="Line 181"/>
            <p:cNvSpPr/>
            <p:nvPr/>
          </p:nvSpPr>
          <p:spPr>
            <a:xfrm>
              <a:off x="3341" y="2885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8" name="Line 182"/>
            <p:cNvSpPr/>
            <p:nvPr/>
          </p:nvSpPr>
          <p:spPr>
            <a:xfrm>
              <a:off x="3341" y="3157"/>
              <a:ext cx="173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69" name="Rectangle 183"/>
            <p:cNvSpPr/>
            <p:nvPr/>
          </p:nvSpPr>
          <p:spPr>
            <a:xfrm>
              <a:off x="5065" y="2069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0" name="Rectangle 184"/>
            <p:cNvSpPr/>
            <p:nvPr/>
          </p:nvSpPr>
          <p:spPr>
            <a:xfrm>
              <a:off x="5065" y="2432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1" name="Rectangle 185"/>
            <p:cNvSpPr/>
            <p:nvPr/>
          </p:nvSpPr>
          <p:spPr>
            <a:xfrm>
              <a:off x="5065" y="2749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2" name="Rectangle 186"/>
            <p:cNvSpPr/>
            <p:nvPr/>
          </p:nvSpPr>
          <p:spPr>
            <a:xfrm>
              <a:off x="5065" y="3067"/>
              <a:ext cx="181" cy="2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3" name="Line 187"/>
            <p:cNvSpPr/>
            <p:nvPr/>
          </p:nvSpPr>
          <p:spPr>
            <a:xfrm flipV="1">
              <a:off x="5246" y="2250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74" name="Line 188"/>
            <p:cNvSpPr/>
            <p:nvPr/>
          </p:nvSpPr>
          <p:spPr>
            <a:xfrm flipV="1">
              <a:off x="5246" y="2568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75" name="Text Box 189"/>
            <p:cNvSpPr txBox="1"/>
            <p:nvPr/>
          </p:nvSpPr>
          <p:spPr>
            <a:xfrm>
              <a:off x="5246" y="1978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6" name="Text Box 190"/>
            <p:cNvSpPr txBox="1"/>
            <p:nvPr/>
          </p:nvSpPr>
          <p:spPr>
            <a:xfrm>
              <a:off x="5246" y="232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7" name="Text Box 191"/>
            <p:cNvSpPr txBox="1"/>
            <p:nvPr/>
          </p:nvSpPr>
          <p:spPr>
            <a:xfrm>
              <a:off x="5246" y="261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278" name="Line 192"/>
            <p:cNvSpPr/>
            <p:nvPr/>
          </p:nvSpPr>
          <p:spPr>
            <a:xfrm flipV="1">
              <a:off x="5246" y="2885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79" name="Line 193"/>
            <p:cNvSpPr/>
            <p:nvPr/>
          </p:nvSpPr>
          <p:spPr>
            <a:xfrm flipV="1">
              <a:off x="5246" y="3203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5280" name="Text Box 194"/>
            <p:cNvSpPr txBox="1"/>
            <p:nvPr/>
          </p:nvSpPr>
          <p:spPr>
            <a:xfrm>
              <a:off x="5246" y="293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400" b="1" dirty="0">
                  <a:latin typeface="Georgia" panose="02040502050405020303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400" b="1" baseline="-25000" dirty="0">
                  <a:latin typeface="Georgia" panose="02040502050405020303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 baseline="-25000" dirty="0"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5281" name="Group 195"/>
            <p:cNvGrpSpPr/>
            <p:nvPr/>
          </p:nvGrpSpPr>
          <p:grpSpPr>
            <a:xfrm>
              <a:off x="3477" y="739"/>
              <a:ext cx="91" cy="91"/>
              <a:chOff x="1610" y="3657"/>
              <a:chExt cx="91" cy="91"/>
            </a:xfrm>
          </p:grpSpPr>
          <p:sp>
            <p:nvSpPr>
              <p:cNvPr id="95282" name="Line 19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83" name="Line 19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84" name="Group 198"/>
            <p:cNvGrpSpPr/>
            <p:nvPr/>
          </p:nvGrpSpPr>
          <p:grpSpPr>
            <a:xfrm>
              <a:off x="3840" y="739"/>
              <a:ext cx="91" cy="91"/>
              <a:chOff x="1610" y="3657"/>
              <a:chExt cx="91" cy="91"/>
            </a:xfrm>
          </p:grpSpPr>
          <p:sp>
            <p:nvSpPr>
              <p:cNvPr id="95285" name="Line 19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86" name="Line 20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87" name="Group 201"/>
            <p:cNvGrpSpPr/>
            <p:nvPr/>
          </p:nvGrpSpPr>
          <p:grpSpPr>
            <a:xfrm>
              <a:off x="4248" y="739"/>
              <a:ext cx="91" cy="91"/>
              <a:chOff x="1610" y="3657"/>
              <a:chExt cx="91" cy="91"/>
            </a:xfrm>
          </p:grpSpPr>
          <p:sp>
            <p:nvSpPr>
              <p:cNvPr id="95288" name="Line 20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89" name="Line 20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90" name="Group 204"/>
            <p:cNvGrpSpPr/>
            <p:nvPr/>
          </p:nvGrpSpPr>
          <p:grpSpPr>
            <a:xfrm>
              <a:off x="4611" y="739"/>
              <a:ext cx="91" cy="91"/>
              <a:chOff x="1610" y="3657"/>
              <a:chExt cx="91" cy="91"/>
            </a:xfrm>
          </p:grpSpPr>
          <p:sp>
            <p:nvSpPr>
              <p:cNvPr id="95291" name="Line 20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92" name="Line 20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93" name="Group 207"/>
            <p:cNvGrpSpPr/>
            <p:nvPr/>
          </p:nvGrpSpPr>
          <p:grpSpPr>
            <a:xfrm>
              <a:off x="3477" y="1056"/>
              <a:ext cx="91" cy="91"/>
              <a:chOff x="1610" y="3657"/>
              <a:chExt cx="91" cy="91"/>
            </a:xfrm>
          </p:grpSpPr>
          <p:sp>
            <p:nvSpPr>
              <p:cNvPr id="95294" name="Line 20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95" name="Line 20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96" name="Group 210"/>
            <p:cNvGrpSpPr/>
            <p:nvPr/>
          </p:nvGrpSpPr>
          <p:grpSpPr>
            <a:xfrm>
              <a:off x="3840" y="1056"/>
              <a:ext cx="91" cy="91"/>
              <a:chOff x="1610" y="3657"/>
              <a:chExt cx="91" cy="91"/>
            </a:xfrm>
          </p:grpSpPr>
          <p:sp>
            <p:nvSpPr>
              <p:cNvPr id="95297" name="Line 21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298" name="Line 21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299" name="Group 213"/>
            <p:cNvGrpSpPr/>
            <p:nvPr/>
          </p:nvGrpSpPr>
          <p:grpSpPr>
            <a:xfrm>
              <a:off x="4248" y="1056"/>
              <a:ext cx="91" cy="91"/>
              <a:chOff x="1610" y="3657"/>
              <a:chExt cx="91" cy="91"/>
            </a:xfrm>
          </p:grpSpPr>
          <p:sp>
            <p:nvSpPr>
              <p:cNvPr id="95300" name="Line 214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01" name="Line 215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02" name="Group 216"/>
            <p:cNvGrpSpPr/>
            <p:nvPr/>
          </p:nvGrpSpPr>
          <p:grpSpPr>
            <a:xfrm>
              <a:off x="4611" y="1056"/>
              <a:ext cx="91" cy="91"/>
              <a:chOff x="1610" y="3657"/>
              <a:chExt cx="91" cy="91"/>
            </a:xfrm>
          </p:grpSpPr>
          <p:sp>
            <p:nvSpPr>
              <p:cNvPr id="95303" name="Line 217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04" name="Line 218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05" name="Group 219"/>
            <p:cNvGrpSpPr/>
            <p:nvPr/>
          </p:nvGrpSpPr>
          <p:grpSpPr>
            <a:xfrm>
              <a:off x="3477" y="1283"/>
              <a:ext cx="91" cy="91"/>
              <a:chOff x="1610" y="3657"/>
              <a:chExt cx="91" cy="91"/>
            </a:xfrm>
          </p:grpSpPr>
          <p:sp>
            <p:nvSpPr>
              <p:cNvPr id="95306" name="Line 220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07" name="Line 221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08" name="Group 222"/>
            <p:cNvGrpSpPr/>
            <p:nvPr/>
          </p:nvGrpSpPr>
          <p:grpSpPr>
            <a:xfrm>
              <a:off x="3840" y="1283"/>
              <a:ext cx="91" cy="91"/>
              <a:chOff x="1610" y="3657"/>
              <a:chExt cx="91" cy="91"/>
            </a:xfrm>
          </p:grpSpPr>
          <p:sp>
            <p:nvSpPr>
              <p:cNvPr id="95309" name="Line 223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10" name="Line 224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11" name="Group 225"/>
            <p:cNvGrpSpPr/>
            <p:nvPr/>
          </p:nvGrpSpPr>
          <p:grpSpPr>
            <a:xfrm>
              <a:off x="4248" y="1283"/>
              <a:ext cx="91" cy="91"/>
              <a:chOff x="1610" y="3657"/>
              <a:chExt cx="91" cy="91"/>
            </a:xfrm>
          </p:grpSpPr>
          <p:sp>
            <p:nvSpPr>
              <p:cNvPr id="95312" name="Line 226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13" name="Line 227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14" name="Group 228"/>
            <p:cNvGrpSpPr/>
            <p:nvPr/>
          </p:nvGrpSpPr>
          <p:grpSpPr>
            <a:xfrm>
              <a:off x="4611" y="1283"/>
              <a:ext cx="91" cy="91"/>
              <a:chOff x="1610" y="3657"/>
              <a:chExt cx="91" cy="91"/>
            </a:xfrm>
          </p:grpSpPr>
          <p:sp>
            <p:nvSpPr>
              <p:cNvPr id="95315" name="Line 229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16" name="Line 230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17" name="Group 231"/>
            <p:cNvGrpSpPr/>
            <p:nvPr/>
          </p:nvGrpSpPr>
          <p:grpSpPr>
            <a:xfrm>
              <a:off x="3477" y="1556"/>
              <a:ext cx="91" cy="91"/>
              <a:chOff x="1610" y="3657"/>
              <a:chExt cx="91" cy="91"/>
            </a:xfrm>
          </p:grpSpPr>
          <p:sp>
            <p:nvSpPr>
              <p:cNvPr id="95318" name="Line 232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19" name="Line 233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20" name="Group 234"/>
            <p:cNvGrpSpPr/>
            <p:nvPr/>
          </p:nvGrpSpPr>
          <p:grpSpPr>
            <a:xfrm>
              <a:off x="3840" y="1556"/>
              <a:ext cx="91" cy="91"/>
              <a:chOff x="1610" y="3657"/>
              <a:chExt cx="91" cy="91"/>
            </a:xfrm>
          </p:grpSpPr>
          <p:sp>
            <p:nvSpPr>
              <p:cNvPr id="95321" name="Line 235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22" name="Line 236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23" name="Group 237"/>
            <p:cNvGrpSpPr/>
            <p:nvPr/>
          </p:nvGrpSpPr>
          <p:grpSpPr>
            <a:xfrm>
              <a:off x="4248" y="1556"/>
              <a:ext cx="91" cy="91"/>
              <a:chOff x="1610" y="3657"/>
              <a:chExt cx="91" cy="91"/>
            </a:xfrm>
          </p:grpSpPr>
          <p:sp>
            <p:nvSpPr>
              <p:cNvPr id="95324" name="Line 238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25" name="Line 239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95326" name="Group 240"/>
            <p:cNvGrpSpPr/>
            <p:nvPr/>
          </p:nvGrpSpPr>
          <p:grpSpPr>
            <a:xfrm>
              <a:off x="4611" y="1556"/>
              <a:ext cx="91" cy="91"/>
              <a:chOff x="1610" y="3657"/>
              <a:chExt cx="91" cy="91"/>
            </a:xfrm>
          </p:grpSpPr>
          <p:sp>
            <p:nvSpPr>
              <p:cNvPr id="95327" name="Line 241"/>
              <p:cNvSpPr/>
              <p:nvPr/>
            </p:nvSpPr>
            <p:spPr>
              <a:xfrm flipH="1">
                <a:off x="1610" y="3657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328" name="Line 242"/>
              <p:cNvSpPr/>
              <p:nvPr/>
            </p:nvSpPr>
            <p:spPr>
              <a:xfrm rot="5400000" flipH="1">
                <a:off x="1609" y="3656"/>
                <a:ext cx="91" cy="91"/>
              </a:xfrm>
              <a:prstGeom prst="line">
                <a:avLst/>
              </a:prstGeom>
              <a:ln w="254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5329" name="Oval 243"/>
            <p:cNvSpPr>
              <a:spLocks noChangeAspect="1"/>
            </p:cNvSpPr>
            <p:nvPr/>
          </p:nvSpPr>
          <p:spPr>
            <a:xfrm>
              <a:off x="4618" y="223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0" name="Oval 244"/>
            <p:cNvSpPr>
              <a:spLocks noChangeAspect="1"/>
            </p:cNvSpPr>
            <p:nvPr/>
          </p:nvSpPr>
          <p:spPr>
            <a:xfrm>
              <a:off x="4241" y="252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1" name="Oval 245"/>
            <p:cNvSpPr>
              <a:spLocks noChangeAspect="1"/>
            </p:cNvSpPr>
            <p:nvPr/>
          </p:nvSpPr>
          <p:spPr>
            <a:xfrm>
              <a:off x="3833" y="2868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2" name="Oval 246"/>
            <p:cNvSpPr>
              <a:spLocks noChangeAspect="1"/>
            </p:cNvSpPr>
            <p:nvPr/>
          </p:nvSpPr>
          <p:spPr>
            <a:xfrm>
              <a:off x="3470" y="3140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3" name="Oval 247"/>
            <p:cNvSpPr>
              <a:spLocks noChangeAspect="1"/>
            </p:cNvSpPr>
            <p:nvPr/>
          </p:nvSpPr>
          <p:spPr>
            <a:xfrm>
              <a:off x="4241" y="2205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4" name="Oval 248"/>
            <p:cNvSpPr>
              <a:spLocks noChangeAspect="1"/>
            </p:cNvSpPr>
            <p:nvPr/>
          </p:nvSpPr>
          <p:spPr>
            <a:xfrm>
              <a:off x="3833" y="252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5" name="Oval 249"/>
            <p:cNvSpPr>
              <a:spLocks noChangeAspect="1"/>
            </p:cNvSpPr>
            <p:nvPr/>
          </p:nvSpPr>
          <p:spPr>
            <a:xfrm>
              <a:off x="3470" y="2840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336" name="Oval 250"/>
            <p:cNvSpPr>
              <a:spLocks noChangeAspect="1"/>
            </p:cNvSpPr>
            <p:nvPr/>
          </p:nvSpPr>
          <p:spPr>
            <a:xfrm>
              <a:off x="4604" y="3113"/>
              <a:ext cx="76" cy="63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8555" name="Rectangle 25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PAL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的基本结构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8558" name="Rectangle 254"/>
          <p:cNvSpPr>
            <a:spLocks noChangeArrowheads="1"/>
          </p:cNvSpPr>
          <p:nvPr/>
        </p:nvSpPr>
        <p:spPr bwMode="auto">
          <a:xfrm>
            <a:off x="4953000" y="2057400"/>
            <a:ext cx="4038600" cy="2355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PAL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：与阵列可编程、或阵列固定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92100" marR="0" lvl="0" indent="-2921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工艺：简化工艺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降低成本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熔丝工艺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一次编程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92100" marR="0" lvl="0" indent="-2921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PAL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是专用词，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MMI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公司的产品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其他结构的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PAL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31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带反馈的阵列型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6260" name="Group 93"/>
          <p:cNvGrpSpPr/>
          <p:nvPr/>
        </p:nvGrpSpPr>
        <p:grpSpPr>
          <a:xfrm>
            <a:off x="0" y="1371600"/>
            <a:ext cx="9067800" cy="4114800"/>
            <a:chOff x="48" y="1344"/>
            <a:chExt cx="5712" cy="2592"/>
          </a:xfrm>
        </p:grpSpPr>
        <p:sp>
          <p:nvSpPr>
            <p:cNvPr id="96261" name="Text Box 87"/>
            <p:cNvSpPr txBox="1"/>
            <p:nvPr/>
          </p:nvSpPr>
          <p:spPr>
            <a:xfrm>
              <a:off x="5376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6262" name="Group 92"/>
            <p:cNvGrpSpPr/>
            <p:nvPr/>
          </p:nvGrpSpPr>
          <p:grpSpPr>
            <a:xfrm>
              <a:off x="48" y="1344"/>
              <a:ext cx="5664" cy="2592"/>
              <a:chOff x="48" y="1344"/>
              <a:chExt cx="5664" cy="2592"/>
            </a:xfrm>
          </p:grpSpPr>
          <p:sp>
            <p:nvSpPr>
              <p:cNvPr id="96263" name="Line 22"/>
              <p:cNvSpPr/>
              <p:nvPr/>
            </p:nvSpPr>
            <p:spPr>
              <a:xfrm>
                <a:off x="5280" y="302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264" name="Line 23"/>
              <p:cNvSpPr/>
              <p:nvPr/>
            </p:nvSpPr>
            <p:spPr>
              <a:xfrm>
                <a:off x="5040" y="3168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265" name="Line 24"/>
              <p:cNvSpPr/>
              <p:nvPr/>
            </p:nvSpPr>
            <p:spPr>
              <a:xfrm flipV="1">
                <a:off x="5040" y="3024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266" name="Oval 25"/>
              <p:cNvSpPr/>
              <p:nvPr/>
            </p:nvSpPr>
            <p:spPr>
              <a:xfrm>
                <a:off x="5088" y="3216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96267" name="Group 38"/>
              <p:cNvGrpSpPr/>
              <p:nvPr/>
            </p:nvGrpSpPr>
            <p:grpSpPr>
              <a:xfrm>
                <a:off x="672" y="1824"/>
                <a:ext cx="3840" cy="1008"/>
                <a:chOff x="864" y="2016"/>
                <a:chExt cx="3024" cy="1008"/>
              </a:xfrm>
            </p:grpSpPr>
            <p:sp>
              <p:nvSpPr>
                <p:cNvPr id="96268" name="Line 26"/>
                <p:cNvSpPr/>
                <p:nvPr/>
              </p:nvSpPr>
              <p:spPr>
                <a:xfrm flipH="1">
                  <a:off x="864" y="2016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69" name="Line 27"/>
                <p:cNvSpPr/>
                <p:nvPr/>
              </p:nvSpPr>
              <p:spPr>
                <a:xfrm flipH="1">
                  <a:off x="864" y="2160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0" name="Line 28"/>
                <p:cNvSpPr/>
                <p:nvPr/>
              </p:nvSpPr>
              <p:spPr>
                <a:xfrm flipH="1">
                  <a:off x="864" y="2304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1" name="Line 29"/>
                <p:cNvSpPr/>
                <p:nvPr/>
              </p:nvSpPr>
              <p:spPr>
                <a:xfrm flipH="1">
                  <a:off x="864" y="2448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2" name="Line 30"/>
                <p:cNvSpPr/>
                <p:nvPr/>
              </p:nvSpPr>
              <p:spPr>
                <a:xfrm flipH="1">
                  <a:off x="864" y="2592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3" name="Line 31"/>
                <p:cNvSpPr/>
                <p:nvPr/>
              </p:nvSpPr>
              <p:spPr>
                <a:xfrm flipH="1">
                  <a:off x="864" y="2736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4" name="Line 32"/>
                <p:cNvSpPr/>
                <p:nvPr/>
              </p:nvSpPr>
              <p:spPr>
                <a:xfrm flipH="1">
                  <a:off x="864" y="2880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75" name="Line 33"/>
                <p:cNvSpPr/>
                <p:nvPr/>
              </p:nvSpPr>
              <p:spPr>
                <a:xfrm flipH="1">
                  <a:off x="864" y="3024"/>
                  <a:ext cx="302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6276" name="Group 37"/>
              <p:cNvGrpSpPr/>
              <p:nvPr/>
            </p:nvGrpSpPr>
            <p:grpSpPr>
              <a:xfrm>
                <a:off x="4224" y="1536"/>
                <a:ext cx="1152" cy="1344"/>
                <a:chOff x="3600" y="1728"/>
                <a:chExt cx="1152" cy="1344"/>
              </a:xfrm>
            </p:grpSpPr>
            <p:sp>
              <p:nvSpPr>
                <p:cNvPr id="96277" name="Rectangle 4"/>
                <p:cNvSpPr/>
                <p:nvPr/>
              </p:nvSpPr>
              <p:spPr>
                <a:xfrm>
                  <a:off x="4032" y="1920"/>
                  <a:ext cx="144" cy="115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78" name="Text Box 5"/>
                <p:cNvSpPr txBox="1"/>
                <p:nvPr/>
              </p:nvSpPr>
              <p:spPr>
                <a:xfrm>
                  <a:off x="3984" y="2352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79" name="Rectangle 6"/>
                <p:cNvSpPr/>
                <p:nvPr/>
              </p:nvSpPr>
              <p:spPr>
                <a:xfrm>
                  <a:off x="3888" y="1920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0" name="Rectangle 7"/>
                <p:cNvSpPr/>
                <p:nvPr/>
              </p:nvSpPr>
              <p:spPr>
                <a:xfrm>
                  <a:off x="3888" y="2064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1" name="Rectangle 8"/>
                <p:cNvSpPr/>
                <p:nvPr/>
              </p:nvSpPr>
              <p:spPr>
                <a:xfrm>
                  <a:off x="3888" y="2208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2" name="Rectangle 9"/>
                <p:cNvSpPr/>
                <p:nvPr/>
              </p:nvSpPr>
              <p:spPr>
                <a:xfrm>
                  <a:off x="3888" y="2352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3" name="Rectangle 10"/>
                <p:cNvSpPr/>
                <p:nvPr/>
              </p:nvSpPr>
              <p:spPr>
                <a:xfrm>
                  <a:off x="3888" y="2496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4" name="Rectangle 11"/>
                <p:cNvSpPr/>
                <p:nvPr/>
              </p:nvSpPr>
              <p:spPr>
                <a:xfrm>
                  <a:off x="3888" y="2640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5" name="Rectangle 12"/>
                <p:cNvSpPr/>
                <p:nvPr/>
              </p:nvSpPr>
              <p:spPr>
                <a:xfrm>
                  <a:off x="3888" y="2784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6" name="Rectangle 13"/>
                <p:cNvSpPr/>
                <p:nvPr/>
              </p:nvSpPr>
              <p:spPr>
                <a:xfrm>
                  <a:off x="3888" y="2928"/>
                  <a:ext cx="144" cy="14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87" name="Line 15"/>
                <p:cNvSpPr/>
                <p:nvPr/>
              </p:nvSpPr>
              <p:spPr>
                <a:xfrm>
                  <a:off x="4176" y="2496"/>
                  <a:ext cx="2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88" name="Line 16"/>
                <p:cNvSpPr/>
                <p:nvPr/>
              </p:nvSpPr>
              <p:spPr>
                <a:xfrm>
                  <a:off x="4416" y="2352"/>
                  <a:ext cx="0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89" name="Line 17"/>
                <p:cNvSpPr/>
                <p:nvPr/>
              </p:nvSpPr>
              <p:spPr>
                <a:xfrm>
                  <a:off x="4416" y="2352"/>
                  <a:ext cx="24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0" name="Line 18"/>
                <p:cNvSpPr/>
                <p:nvPr/>
              </p:nvSpPr>
              <p:spPr>
                <a:xfrm flipV="1">
                  <a:off x="4416" y="2496"/>
                  <a:ext cx="240" cy="1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1" name="Oval 19"/>
                <p:cNvSpPr/>
                <p:nvPr/>
              </p:nvSpPr>
              <p:spPr>
                <a:xfrm>
                  <a:off x="4656" y="2448"/>
                  <a:ext cx="96" cy="9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292" name="Line 20"/>
                <p:cNvSpPr/>
                <p:nvPr/>
              </p:nvSpPr>
              <p:spPr>
                <a:xfrm flipV="1">
                  <a:off x="4560" y="1728"/>
                  <a:ext cx="0" cy="72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3" name="Line 34"/>
                <p:cNvSpPr/>
                <p:nvPr/>
              </p:nvSpPr>
              <p:spPr>
                <a:xfrm flipV="1">
                  <a:off x="3648" y="1728"/>
                  <a:ext cx="0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4" name="Line 35"/>
                <p:cNvSpPr/>
                <p:nvPr/>
              </p:nvSpPr>
              <p:spPr>
                <a:xfrm>
                  <a:off x="3648" y="1728"/>
                  <a:ext cx="91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5" name="Oval 36"/>
                <p:cNvSpPr/>
                <p:nvPr/>
              </p:nvSpPr>
              <p:spPr>
                <a:xfrm>
                  <a:off x="3600" y="196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6296" name="Group 76"/>
              <p:cNvGrpSpPr/>
              <p:nvPr/>
            </p:nvGrpSpPr>
            <p:grpSpPr>
              <a:xfrm>
                <a:off x="912" y="1584"/>
                <a:ext cx="3264" cy="2352"/>
                <a:chOff x="816" y="1584"/>
                <a:chExt cx="3264" cy="1632"/>
              </a:xfrm>
            </p:grpSpPr>
            <p:sp>
              <p:nvSpPr>
                <p:cNvPr id="96297" name="Line 39"/>
                <p:cNvSpPr/>
                <p:nvPr/>
              </p:nvSpPr>
              <p:spPr>
                <a:xfrm>
                  <a:off x="816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8" name="Line 40"/>
                <p:cNvSpPr/>
                <p:nvPr/>
              </p:nvSpPr>
              <p:spPr>
                <a:xfrm>
                  <a:off x="912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299" name="Line 41"/>
                <p:cNvSpPr/>
                <p:nvPr/>
              </p:nvSpPr>
              <p:spPr>
                <a:xfrm>
                  <a:off x="1008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0" name="Line 42"/>
                <p:cNvSpPr/>
                <p:nvPr/>
              </p:nvSpPr>
              <p:spPr>
                <a:xfrm>
                  <a:off x="1104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1" name="Line 43"/>
                <p:cNvSpPr/>
                <p:nvPr/>
              </p:nvSpPr>
              <p:spPr>
                <a:xfrm>
                  <a:off x="1344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2" name="Line 44"/>
                <p:cNvSpPr/>
                <p:nvPr/>
              </p:nvSpPr>
              <p:spPr>
                <a:xfrm>
                  <a:off x="1440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3" name="Line 45"/>
                <p:cNvSpPr/>
                <p:nvPr/>
              </p:nvSpPr>
              <p:spPr>
                <a:xfrm>
                  <a:off x="1536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4" name="Line 46"/>
                <p:cNvSpPr/>
                <p:nvPr/>
              </p:nvSpPr>
              <p:spPr>
                <a:xfrm>
                  <a:off x="1632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5" name="Line 47"/>
                <p:cNvSpPr/>
                <p:nvPr/>
              </p:nvSpPr>
              <p:spPr>
                <a:xfrm>
                  <a:off x="1872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6" name="Line 48"/>
                <p:cNvSpPr/>
                <p:nvPr/>
              </p:nvSpPr>
              <p:spPr>
                <a:xfrm>
                  <a:off x="1968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7" name="Line 49"/>
                <p:cNvSpPr/>
                <p:nvPr/>
              </p:nvSpPr>
              <p:spPr>
                <a:xfrm>
                  <a:off x="2064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8" name="Line 50"/>
                <p:cNvSpPr/>
                <p:nvPr/>
              </p:nvSpPr>
              <p:spPr>
                <a:xfrm>
                  <a:off x="2160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09" name="Line 63"/>
                <p:cNvSpPr/>
                <p:nvPr/>
              </p:nvSpPr>
              <p:spPr>
                <a:xfrm>
                  <a:off x="3792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10" name="Line 64"/>
                <p:cNvSpPr/>
                <p:nvPr/>
              </p:nvSpPr>
              <p:spPr>
                <a:xfrm>
                  <a:off x="3888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11" name="Line 65"/>
                <p:cNvSpPr/>
                <p:nvPr/>
              </p:nvSpPr>
              <p:spPr>
                <a:xfrm>
                  <a:off x="3984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6312" name="Line 66"/>
                <p:cNvSpPr/>
                <p:nvPr/>
              </p:nvSpPr>
              <p:spPr>
                <a:xfrm>
                  <a:off x="4080" y="1584"/>
                  <a:ext cx="0" cy="163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6313" name="Text Box 71"/>
              <p:cNvSpPr txBox="1"/>
              <p:nvPr/>
            </p:nvSpPr>
            <p:spPr>
              <a:xfrm>
                <a:off x="2640" y="1344"/>
                <a:ext cx="120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4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……</a:t>
                </a:r>
                <a:endParaRPr lang="en-US" altLang="zh-CN" sz="4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14" name="Line 72"/>
              <p:cNvSpPr/>
              <p:nvPr/>
            </p:nvSpPr>
            <p:spPr>
              <a:xfrm>
                <a:off x="5376" y="2304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15" name="Line 73"/>
              <p:cNvSpPr/>
              <p:nvPr/>
            </p:nvSpPr>
            <p:spPr>
              <a:xfrm>
                <a:off x="5568" y="2304"/>
                <a:ext cx="0" cy="8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16" name="Line 74"/>
              <p:cNvSpPr/>
              <p:nvPr/>
            </p:nvSpPr>
            <p:spPr>
              <a:xfrm flipH="1">
                <a:off x="5280" y="316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17" name="Oval 75"/>
              <p:cNvSpPr/>
              <p:nvPr/>
            </p:nvSpPr>
            <p:spPr>
              <a:xfrm>
                <a:off x="5520" y="22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18" name="Line 77"/>
              <p:cNvSpPr/>
              <p:nvPr/>
            </p:nvSpPr>
            <p:spPr>
              <a:xfrm flipH="1">
                <a:off x="1200" y="3168"/>
                <a:ext cx="38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19" name="Line 78"/>
              <p:cNvSpPr/>
              <p:nvPr/>
            </p:nvSpPr>
            <p:spPr>
              <a:xfrm>
                <a:off x="1104" y="3264"/>
                <a:ext cx="39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0" name="Line 79"/>
              <p:cNvSpPr/>
              <p:nvPr/>
            </p:nvSpPr>
            <p:spPr>
              <a:xfrm>
                <a:off x="336" y="302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1" name="Line 80"/>
              <p:cNvSpPr/>
              <p:nvPr/>
            </p:nvSpPr>
            <p:spPr>
              <a:xfrm>
                <a:off x="336" y="3024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2" name="Line 81"/>
              <p:cNvSpPr/>
              <p:nvPr/>
            </p:nvSpPr>
            <p:spPr>
              <a:xfrm flipV="1">
                <a:off x="336" y="3168"/>
                <a:ext cx="24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3" name="Oval 82"/>
              <p:cNvSpPr/>
              <p:nvPr/>
            </p:nvSpPr>
            <p:spPr>
              <a:xfrm>
                <a:off x="432" y="3216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24" name="Line 83"/>
              <p:cNvSpPr/>
              <p:nvPr/>
            </p:nvSpPr>
            <p:spPr>
              <a:xfrm flipH="1">
                <a:off x="576" y="3168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5" name="Line 84"/>
              <p:cNvSpPr/>
              <p:nvPr/>
            </p:nvSpPr>
            <p:spPr>
              <a:xfrm flipH="1">
                <a:off x="528" y="3264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6" name="Line 85"/>
              <p:cNvSpPr/>
              <p:nvPr/>
            </p:nvSpPr>
            <p:spPr>
              <a:xfrm flipH="1">
                <a:off x="96" y="3168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6327" name="Text Box 86"/>
              <p:cNvSpPr txBox="1"/>
              <p:nvPr/>
            </p:nvSpPr>
            <p:spPr>
              <a:xfrm>
                <a:off x="48" y="2880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28" name="Oval 88"/>
              <p:cNvSpPr/>
              <p:nvPr/>
            </p:nvSpPr>
            <p:spPr>
              <a:xfrm>
                <a:off x="864" y="31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29" name="Oval 89"/>
              <p:cNvSpPr/>
              <p:nvPr/>
            </p:nvSpPr>
            <p:spPr>
              <a:xfrm>
                <a:off x="96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30" name="Oval 90"/>
              <p:cNvSpPr/>
              <p:nvPr/>
            </p:nvSpPr>
            <p:spPr>
              <a:xfrm>
                <a:off x="1056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331" name="Oval 91"/>
              <p:cNvSpPr/>
              <p:nvPr/>
            </p:nvSpPr>
            <p:spPr>
              <a:xfrm>
                <a:off x="1152" y="31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6332" name="Text Box 94"/>
          <p:cNvSpPr txBox="1"/>
          <p:nvPr/>
        </p:nvSpPr>
        <p:spPr>
          <a:xfrm>
            <a:off x="838200" y="57150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与阵列可编程，或阵列固定，可实现组合逻辑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333" name="Text Box 95"/>
          <p:cNvSpPr txBox="1"/>
          <p:nvPr/>
        </p:nvSpPr>
        <p:spPr>
          <a:xfrm>
            <a:off x="914400" y="6186488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输出由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项控制，增加了灵活性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其他结构的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PAL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421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具有反馈的寄存器型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7284" name="Group 115"/>
          <p:cNvGrpSpPr/>
          <p:nvPr/>
        </p:nvGrpSpPr>
        <p:grpSpPr>
          <a:xfrm>
            <a:off x="304800" y="1447800"/>
            <a:ext cx="8839200" cy="4860925"/>
            <a:chOff x="192" y="1152"/>
            <a:chExt cx="5568" cy="3062"/>
          </a:xfrm>
        </p:grpSpPr>
        <p:sp>
          <p:nvSpPr>
            <p:cNvPr id="97285" name="Text Box 5"/>
            <p:cNvSpPr txBox="1"/>
            <p:nvPr/>
          </p:nvSpPr>
          <p:spPr>
            <a:xfrm>
              <a:off x="5376" y="177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286" name="Line 8"/>
            <p:cNvSpPr/>
            <p:nvPr/>
          </p:nvSpPr>
          <p:spPr>
            <a:xfrm>
              <a:off x="3696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287" name="Line 9"/>
            <p:cNvSpPr/>
            <p:nvPr/>
          </p:nvSpPr>
          <p:spPr>
            <a:xfrm flipV="1">
              <a:off x="3696" y="278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288" name="Oval 10"/>
            <p:cNvSpPr/>
            <p:nvPr/>
          </p:nvSpPr>
          <p:spPr>
            <a:xfrm>
              <a:off x="3744" y="297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7289" name="Group 11"/>
            <p:cNvGrpSpPr/>
            <p:nvPr/>
          </p:nvGrpSpPr>
          <p:grpSpPr>
            <a:xfrm>
              <a:off x="912" y="1584"/>
              <a:ext cx="2736" cy="1008"/>
              <a:chOff x="864" y="2016"/>
              <a:chExt cx="3024" cy="1008"/>
            </a:xfrm>
          </p:grpSpPr>
          <p:sp>
            <p:nvSpPr>
              <p:cNvPr id="97290" name="Line 12"/>
              <p:cNvSpPr/>
              <p:nvPr/>
            </p:nvSpPr>
            <p:spPr>
              <a:xfrm flipH="1">
                <a:off x="864" y="2016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1" name="Line 13"/>
              <p:cNvSpPr/>
              <p:nvPr/>
            </p:nvSpPr>
            <p:spPr>
              <a:xfrm flipH="1">
                <a:off x="864" y="2160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2" name="Line 14"/>
              <p:cNvSpPr/>
              <p:nvPr/>
            </p:nvSpPr>
            <p:spPr>
              <a:xfrm flipH="1">
                <a:off x="864" y="2304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3" name="Line 15"/>
              <p:cNvSpPr/>
              <p:nvPr/>
            </p:nvSpPr>
            <p:spPr>
              <a:xfrm flipH="1">
                <a:off x="864" y="2448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4" name="Line 16"/>
              <p:cNvSpPr/>
              <p:nvPr/>
            </p:nvSpPr>
            <p:spPr>
              <a:xfrm flipH="1">
                <a:off x="864" y="2592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5" name="Line 17"/>
              <p:cNvSpPr/>
              <p:nvPr/>
            </p:nvSpPr>
            <p:spPr>
              <a:xfrm flipH="1">
                <a:off x="864" y="2736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6" name="Line 18"/>
              <p:cNvSpPr/>
              <p:nvPr/>
            </p:nvSpPr>
            <p:spPr>
              <a:xfrm flipH="1">
                <a:off x="864" y="2880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7297" name="Line 19"/>
              <p:cNvSpPr/>
              <p:nvPr/>
            </p:nvSpPr>
            <p:spPr>
              <a:xfrm flipH="1">
                <a:off x="864" y="3024"/>
                <a:ext cx="30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7298" name="Rectangle 21"/>
            <p:cNvSpPr/>
            <p:nvPr/>
          </p:nvSpPr>
          <p:spPr>
            <a:xfrm>
              <a:off x="3792" y="1488"/>
              <a:ext cx="144" cy="115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299" name="Text Box 22"/>
            <p:cNvSpPr txBox="1"/>
            <p:nvPr/>
          </p:nvSpPr>
          <p:spPr>
            <a:xfrm>
              <a:off x="3744" y="1920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0" name="Rectangle 23"/>
            <p:cNvSpPr/>
            <p:nvPr/>
          </p:nvSpPr>
          <p:spPr>
            <a:xfrm>
              <a:off x="3648" y="1488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1" name="Rectangle 24"/>
            <p:cNvSpPr/>
            <p:nvPr/>
          </p:nvSpPr>
          <p:spPr>
            <a:xfrm>
              <a:off x="3648" y="1632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2" name="Rectangle 25"/>
            <p:cNvSpPr/>
            <p:nvPr/>
          </p:nvSpPr>
          <p:spPr>
            <a:xfrm>
              <a:off x="3648" y="1776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3" name="Rectangle 26"/>
            <p:cNvSpPr/>
            <p:nvPr/>
          </p:nvSpPr>
          <p:spPr>
            <a:xfrm>
              <a:off x="3648" y="1920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4" name="Rectangle 27"/>
            <p:cNvSpPr/>
            <p:nvPr/>
          </p:nvSpPr>
          <p:spPr>
            <a:xfrm>
              <a:off x="3648" y="2064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5" name="Rectangle 28"/>
            <p:cNvSpPr/>
            <p:nvPr/>
          </p:nvSpPr>
          <p:spPr>
            <a:xfrm>
              <a:off x="3648" y="2208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6" name="Rectangle 29"/>
            <p:cNvSpPr/>
            <p:nvPr/>
          </p:nvSpPr>
          <p:spPr>
            <a:xfrm>
              <a:off x="3648" y="2352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7" name="Rectangle 30"/>
            <p:cNvSpPr/>
            <p:nvPr/>
          </p:nvSpPr>
          <p:spPr>
            <a:xfrm>
              <a:off x="3648" y="2496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08" name="Line 31"/>
            <p:cNvSpPr/>
            <p:nvPr/>
          </p:nvSpPr>
          <p:spPr>
            <a:xfrm>
              <a:off x="3936" y="206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09" name="Line 32"/>
            <p:cNvSpPr/>
            <p:nvPr/>
          </p:nvSpPr>
          <p:spPr>
            <a:xfrm>
              <a:off x="5040" y="19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0" name="Line 33"/>
            <p:cNvSpPr/>
            <p:nvPr/>
          </p:nvSpPr>
          <p:spPr>
            <a:xfrm>
              <a:off x="5040" y="1920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1" name="Line 34"/>
            <p:cNvSpPr/>
            <p:nvPr/>
          </p:nvSpPr>
          <p:spPr>
            <a:xfrm flipV="1">
              <a:off x="5040" y="206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2" name="Oval 35"/>
            <p:cNvSpPr/>
            <p:nvPr/>
          </p:nvSpPr>
          <p:spPr>
            <a:xfrm>
              <a:off x="5280" y="201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13" name="Line 36"/>
            <p:cNvSpPr/>
            <p:nvPr/>
          </p:nvSpPr>
          <p:spPr>
            <a:xfrm flipV="1">
              <a:off x="5184" y="177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4" name="Oval 39"/>
            <p:cNvSpPr/>
            <p:nvPr/>
          </p:nvSpPr>
          <p:spPr>
            <a:xfrm>
              <a:off x="4896" y="172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15" name="Line 41"/>
            <p:cNvSpPr/>
            <p:nvPr/>
          </p:nvSpPr>
          <p:spPr>
            <a:xfrm>
              <a:off x="1056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6" name="Line 42"/>
            <p:cNvSpPr/>
            <p:nvPr/>
          </p:nvSpPr>
          <p:spPr>
            <a:xfrm>
              <a:off x="1152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7" name="Line 43"/>
            <p:cNvSpPr/>
            <p:nvPr/>
          </p:nvSpPr>
          <p:spPr>
            <a:xfrm>
              <a:off x="1248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8" name="Line 44"/>
            <p:cNvSpPr/>
            <p:nvPr/>
          </p:nvSpPr>
          <p:spPr>
            <a:xfrm>
              <a:off x="1344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19" name="Line 45"/>
            <p:cNvSpPr/>
            <p:nvPr/>
          </p:nvSpPr>
          <p:spPr>
            <a:xfrm>
              <a:off x="1584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0" name="Line 46"/>
            <p:cNvSpPr/>
            <p:nvPr/>
          </p:nvSpPr>
          <p:spPr>
            <a:xfrm>
              <a:off x="1680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1" name="Line 47"/>
            <p:cNvSpPr/>
            <p:nvPr/>
          </p:nvSpPr>
          <p:spPr>
            <a:xfrm>
              <a:off x="1776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2" name="Line 48"/>
            <p:cNvSpPr/>
            <p:nvPr/>
          </p:nvSpPr>
          <p:spPr>
            <a:xfrm>
              <a:off x="1872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3" name="Line 49"/>
            <p:cNvSpPr/>
            <p:nvPr/>
          </p:nvSpPr>
          <p:spPr>
            <a:xfrm>
              <a:off x="2112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4" name="Line 50"/>
            <p:cNvSpPr/>
            <p:nvPr/>
          </p:nvSpPr>
          <p:spPr>
            <a:xfrm>
              <a:off x="2208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5" name="Line 51"/>
            <p:cNvSpPr/>
            <p:nvPr/>
          </p:nvSpPr>
          <p:spPr>
            <a:xfrm>
              <a:off x="2304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6" name="Line 52"/>
            <p:cNvSpPr/>
            <p:nvPr/>
          </p:nvSpPr>
          <p:spPr>
            <a:xfrm>
              <a:off x="2400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7" name="Line 53"/>
            <p:cNvSpPr/>
            <p:nvPr/>
          </p:nvSpPr>
          <p:spPr>
            <a:xfrm>
              <a:off x="3024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8" name="Line 54"/>
            <p:cNvSpPr/>
            <p:nvPr/>
          </p:nvSpPr>
          <p:spPr>
            <a:xfrm>
              <a:off x="3120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29" name="Line 55"/>
            <p:cNvSpPr/>
            <p:nvPr/>
          </p:nvSpPr>
          <p:spPr>
            <a:xfrm>
              <a:off x="3216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0" name="Line 56"/>
            <p:cNvSpPr/>
            <p:nvPr/>
          </p:nvSpPr>
          <p:spPr>
            <a:xfrm>
              <a:off x="3312" y="134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1" name="Text Box 57"/>
            <p:cNvSpPr txBox="1"/>
            <p:nvPr/>
          </p:nvSpPr>
          <p:spPr>
            <a:xfrm>
              <a:off x="2496" y="1152"/>
              <a:ext cx="43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4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32" name="Line 58"/>
            <p:cNvSpPr/>
            <p:nvPr/>
          </p:nvSpPr>
          <p:spPr>
            <a:xfrm>
              <a:off x="5376" y="206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3" name="Line 59"/>
            <p:cNvSpPr/>
            <p:nvPr/>
          </p:nvSpPr>
          <p:spPr>
            <a:xfrm>
              <a:off x="4800" y="2352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4" name="Line 62"/>
            <p:cNvSpPr/>
            <p:nvPr/>
          </p:nvSpPr>
          <p:spPr>
            <a:xfrm flipH="1">
              <a:off x="1344" y="292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5" name="Line 63"/>
            <p:cNvSpPr/>
            <p:nvPr/>
          </p:nvSpPr>
          <p:spPr>
            <a:xfrm>
              <a:off x="1248" y="3024"/>
              <a:ext cx="24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6" name="Line 64"/>
            <p:cNvSpPr/>
            <p:nvPr/>
          </p:nvSpPr>
          <p:spPr>
            <a:xfrm>
              <a:off x="480" y="278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7" name="Line 65"/>
            <p:cNvSpPr/>
            <p:nvPr/>
          </p:nvSpPr>
          <p:spPr>
            <a:xfrm>
              <a:off x="480" y="278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8" name="Line 66"/>
            <p:cNvSpPr/>
            <p:nvPr/>
          </p:nvSpPr>
          <p:spPr>
            <a:xfrm flipV="1">
              <a:off x="480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39" name="Oval 67"/>
            <p:cNvSpPr/>
            <p:nvPr/>
          </p:nvSpPr>
          <p:spPr>
            <a:xfrm>
              <a:off x="576" y="297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40" name="Line 68"/>
            <p:cNvSpPr/>
            <p:nvPr/>
          </p:nvSpPr>
          <p:spPr>
            <a:xfrm flipH="1">
              <a:off x="720" y="292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41" name="Line 69"/>
            <p:cNvSpPr/>
            <p:nvPr/>
          </p:nvSpPr>
          <p:spPr>
            <a:xfrm flipH="1">
              <a:off x="672" y="302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42" name="Line 70"/>
            <p:cNvSpPr/>
            <p:nvPr/>
          </p:nvSpPr>
          <p:spPr>
            <a:xfrm flipH="1">
              <a:off x="240" y="292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43" name="Text Box 71"/>
            <p:cNvSpPr txBox="1"/>
            <p:nvPr/>
          </p:nvSpPr>
          <p:spPr>
            <a:xfrm>
              <a:off x="192" y="264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44" name="Oval 72"/>
            <p:cNvSpPr/>
            <p:nvPr/>
          </p:nvSpPr>
          <p:spPr>
            <a:xfrm>
              <a:off x="1008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45" name="Oval 73"/>
            <p:cNvSpPr/>
            <p:nvPr/>
          </p:nvSpPr>
          <p:spPr>
            <a:xfrm>
              <a:off x="1104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46" name="Oval 74"/>
            <p:cNvSpPr/>
            <p:nvPr/>
          </p:nvSpPr>
          <p:spPr>
            <a:xfrm>
              <a:off x="1200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47" name="Oval 75"/>
            <p:cNvSpPr/>
            <p:nvPr/>
          </p:nvSpPr>
          <p:spPr>
            <a:xfrm>
              <a:off x="1296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7348" name="Group 101"/>
            <p:cNvGrpSpPr/>
            <p:nvPr/>
          </p:nvGrpSpPr>
          <p:grpSpPr>
            <a:xfrm>
              <a:off x="4176" y="1920"/>
              <a:ext cx="528" cy="576"/>
              <a:chOff x="4368" y="3312"/>
              <a:chExt cx="528" cy="576"/>
            </a:xfrm>
          </p:grpSpPr>
          <p:sp>
            <p:nvSpPr>
              <p:cNvPr id="97349" name="Rectangle 77"/>
              <p:cNvSpPr/>
              <p:nvPr/>
            </p:nvSpPr>
            <p:spPr>
              <a:xfrm>
                <a:off x="4368" y="3312"/>
                <a:ext cx="528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350" name="Text Box 78"/>
              <p:cNvSpPr txBox="1"/>
              <p:nvPr/>
            </p:nvSpPr>
            <p:spPr>
              <a:xfrm>
                <a:off x="4368" y="331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351" name="Text Box 79"/>
              <p:cNvSpPr txBox="1"/>
              <p:nvPr/>
            </p:nvSpPr>
            <p:spPr>
              <a:xfrm>
                <a:off x="4656" y="331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352" name="Text Box 80"/>
              <p:cNvSpPr txBox="1"/>
              <p:nvPr/>
            </p:nvSpPr>
            <p:spPr>
              <a:xfrm>
                <a:off x="4368" y="3600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353" name="Text Box 81"/>
              <p:cNvSpPr txBox="1"/>
              <p:nvPr/>
            </p:nvSpPr>
            <p:spPr>
              <a:xfrm>
                <a:off x="4656" y="3600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354" name="Line 82"/>
              <p:cNvSpPr/>
              <p:nvPr/>
            </p:nvSpPr>
            <p:spPr>
              <a:xfrm>
                <a:off x="4704" y="364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7355" name="Line 102"/>
            <p:cNvSpPr/>
            <p:nvPr/>
          </p:nvSpPr>
          <p:spPr>
            <a:xfrm>
              <a:off x="4704" y="206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56" name="Line 103"/>
            <p:cNvSpPr/>
            <p:nvPr/>
          </p:nvSpPr>
          <p:spPr>
            <a:xfrm>
              <a:off x="3936" y="278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57" name="Line 105"/>
            <p:cNvSpPr/>
            <p:nvPr/>
          </p:nvSpPr>
          <p:spPr>
            <a:xfrm>
              <a:off x="4704" y="23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58" name="Line 106"/>
            <p:cNvSpPr/>
            <p:nvPr/>
          </p:nvSpPr>
          <p:spPr>
            <a:xfrm>
              <a:off x="3936" y="2928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59" name="Line 108"/>
            <p:cNvSpPr/>
            <p:nvPr/>
          </p:nvSpPr>
          <p:spPr>
            <a:xfrm>
              <a:off x="4080" y="1152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60" name="Line 109"/>
            <p:cNvSpPr/>
            <p:nvPr/>
          </p:nvSpPr>
          <p:spPr>
            <a:xfrm>
              <a:off x="4944" y="1152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61" name="Line 110"/>
            <p:cNvSpPr/>
            <p:nvPr/>
          </p:nvSpPr>
          <p:spPr>
            <a:xfrm>
              <a:off x="4944" y="177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62" name="Line 111"/>
            <p:cNvSpPr/>
            <p:nvPr/>
          </p:nvSpPr>
          <p:spPr>
            <a:xfrm flipH="1">
              <a:off x="4080" y="235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63" name="Oval 112"/>
            <p:cNvSpPr/>
            <p:nvPr/>
          </p:nvSpPr>
          <p:spPr>
            <a:xfrm>
              <a:off x="4032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64" name="Text Box 113"/>
            <p:cNvSpPr txBox="1"/>
            <p:nvPr/>
          </p:nvSpPr>
          <p:spPr>
            <a:xfrm>
              <a:off x="3648" y="3792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公共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365" name="Text Box 114"/>
            <p:cNvSpPr txBox="1"/>
            <p:nvPr/>
          </p:nvSpPr>
          <p:spPr>
            <a:xfrm>
              <a:off x="4512" y="3696"/>
              <a:ext cx="86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公共输出使能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7366" name="Text Box 116"/>
          <p:cNvSpPr txBox="1"/>
          <p:nvPr/>
        </p:nvSpPr>
        <p:spPr>
          <a:xfrm>
            <a:off x="914400" y="54864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与阵列可编程，或阵列固定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67" name="Text Box 117"/>
          <p:cNvSpPr txBox="1"/>
          <p:nvPr/>
        </p:nvSpPr>
        <p:spPr>
          <a:xfrm>
            <a:off x="914400" y="5943600"/>
            <a:ext cx="46482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具有记忆功能，可实现时序逻辑，但不能实现组合逻辑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其他结构的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PAL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352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8153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异或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8308" name="Group 99"/>
          <p:cNvGrpSpPr/>
          <p:nvPr/>
        </p:nvGrpSpPr>
        <p:grpSpPr>
          <a:xfrm>
            <a:off x="304800" y="1447800"/>
            <a:ext cx="8839200" cy="4860925"/>
            <a:chOff x="192" y="912"/>
            <a:chExt cx="5568" cy="3062"/>
          </a:xfrm>
        </p:grpSpPr>
        <p:sp>
          <p:nvSpPr>
            <p:cNvPr id="98309" name="Text Box 5"/>
            <p:cNvSpPr txBox="1"/>
            <p:nvPr/>
          </p:nvSpPr>
          <p:spPr>
            <a:xfrm>
              <a:off x="5376" y="153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0" name="Line 6"/>
            <p:cNvSpPr/>
            <p:nvPr/>
          </p:nvSpPr>
          <p:spPr>
            <a:xfrm>
              <a:off x="3696" y="268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1" name="Line 7"/>
            <p:cNvSpPr/>
            <p:nvPr/>
          </p:nvSpPr>
          <p:spPr>
            <a:xfrm flipV="1">
              <a:off x="3696" y="254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2" name="Oval 8"/>
            <p:cNvSpPr/>
            <p:nvPr/>
          </p:nvSpPr>
          <p:spPr>
            <a:xfrm>
              <a:off x="3744" y="273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3" name="Line 10"/>
            <p:cNvSpPr/>
            <p:nvPr/>
          </p:nvSpPr>
          <p:spPr>
            <a:xfrm flipH="1">
              <a:off x="912" y="1584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4" name="Line 11"/>
            <p:cNvSpPr/>
            <p:nvPr/>
          </p:nvSpPr>
          <p:spPr>
            <a:xfrm flipH="1">
              <a:off x="912" y="1728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5" name="Line 12"/>
            <p:cNvSpPr/>
            <p:nvPr/>
          </p:nvSpPr>
          <p:spPr>
            <a:xfrm flipH="1">
              <a:off x="912" y="1872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6" name="Line 13"/>
            <p:cNvSpPr/>
            <p:nvPr/>
          </p:nvSpPr>
          <p:spPr>
            <a:xfrm flipH="1">
              <a:off x="912" y="2016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17" name="Rectangle 18"/>
            <p:cNvSpPr/>
            <p:nvPr/>
          </p:nvSpPr>
          <p:spPr>
            <a:xfrm>
              <a:off x="3216" y="1488"/>
              <a:ext cx="144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8" name="Text Box 19"/>
            <p:cNvSpPr txBox="1"/>
            <p:nvPr/>
          </p:nvSpPr>
          <p:spPr>
            <a:xfrm>
              <a:off x="3168" y="1488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19" name="Rectangle 20"/>
            <p:cNvSpPr/>
            <p:nvPr/>
          </p:nvSpPr>
          <p:spPr>
            <a:xfrm>
              <a:off x="3072" y="1488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20" name="Rectangle 21"/>
            <p:cNvSpPr/>
            <p:nvPr/>
          </p:nvSpPr>
          <p:spPr>
            <a:xfrm>
              <a:off x="3072" y="1632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21" name="Line 28"/>
            <p:cNvSpPr/>
            <p:nvPr/>
          </p:nvSpPr>
          <p:spPr>
            <a:xfrm>
              <a:off x="3840" y="182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2" name="Line 29"/>
            <p:cNvSpPr/>
            <p:nvPr/>
          </p:nvSpPr>
          <p:spPr>
            <a:xfrm>
              <a:off x="5040" y="168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3" name="Line 30"/>
            <p:cNvSpPr/>
            <p:nvPr/>
          </p:nvSpPr>
          <p:spPr>
            <a:xfrm>
              <a:off x="5040" y="1680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4" name="Line 31"/>
            <p:cNvSpPr/>
            <p:nvPr/>
          </p:nvSpPr>
          <p:spPr>
            <a:xfrm flipV="1">
              <a:off x="5040" y="182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5" name="Oval 32"/>
            <p:cNvSpPr/>
            <p:nvPr/>
          </p:nvSpPr>
          <p:spPr>
            <a:xfrm>
              <a:off x="5280" y="177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26" name="Line 33"/>
            <p:cNvSpPr/>
            <p:nvPr/>
          </p:nvSpPr>
          <p:spPr>
            <a:xfrm flipV="1">
              <a:off x="5184" y="153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7" name="Oval 34"/>
            <p:cNvSpPr/>
            <p:nvPr/>
          </p:nvSpPr>
          <p:spPr>
            <a:xfrm>
              <a:off x="4896" y="148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28" name="Line 35"/>
            <p:cNvSpPr/>
            <p:nvPr/>
          </p:nvSpPr>
          <p:spPr>
            <a:xfrm>
              <a:off x="1056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29" name="Line 36"/>
            <p:cNvSpPr/>
            <p:nvPr/>
          </p:nvSpPr>
          <p:spPr>
            <a:xfrm>
              <a:off x="1152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0" name="Line 37"/>
            <p:cNvSpPr/>
            <p:nvPr/>
          </p:nvSpPr>
          <p:spPr>
            <a:xfrm>
              <a:off x="1248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1" name="Line 38"/>
            <p:cNvSpPr/>
            <p:nvPr/>
          </p:nvSpPr>
          <p:spPr>
            <a:xfrm>
              <a:off x="1344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2" name="Line 39"/>
            <p:cNvSpPr/>
            <p:nvPr/>
          </p:nvSpPr>
          <p:spPr>
            <a:xfrm>
              <a:off x="1584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3" name="Line 40"/>
            <p:cNvSpPr/>
            <p:nvPr/>
          </p:nvSpPr>
          <p:spPr>
            <a:xfrm>
              <a:off x="1680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4" name="Line 41"/>
            <p:cNvSpPr/>
            <p:nvPr/>
          </p:nvSpPr>
          <p:spPr>
            <a:xfrm>
              <a:off x="1776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5" name="Line 42"/>
            <p:cNvSpPr/>
            <p:nvPr/>
          </p:nvSpPr>
          <p:spPr>
            <a:xfrm>
              <a:off x="1872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6" name="Line 47"/>
            <p:cNvSpPr/>
            <p:nvPr/>
          </p:nvSpPr>
          <p:spPr>
            <a:xfrm>
              <a:off x="2496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7" name="Line 48"/>
            <p:cNvSpPr/>
            <p:nvPr/>
          </p:nvSpPr>
          <p:spPr>
            <a:xfrm>
              <a:off x="2592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8" name="Line 49"/>
            <p:cNvSpPr/>
            <p:nvPr/>
          </p:nvSpPr>
          <p:spPr>
            <a:xfrm>
              <a:off x="2688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39" name="Line 50"/>
            <p:cNvSpPr/>
            <p:nvPr/>
          </p:nvSpPr>
          <p:spPr>
            <a:xfrm>
              <a:off x="2784" y="1104"/>
              <a:ext cx="0" cy="23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0" name="Text Box 51"/>
            <p:cNvSpPr txBox="1"/>
            <p:nvPr/>
          </p:nvSpPr>
          <p:spPr>
            <a:xfrm>
              <a:off x="1968" y="960"/>
              <a:ext cx="43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4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1" name="Line 52"/>
            <p:cNvSpPr/>
            <p:nvPr/>
          </p:nvSpPr>
          <p:spPr>
            <a:xfrm>
              <a:off x="5376" y="182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2" name="Line 53"/>
            <p:cNvSpPr/>
            <p:nvPr/>
          </p:nvSpPr>
          <p:spPr>
            <a:xfrm>
              <a:off x="4800" y="2112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3" name="Line 54"/>
            <p:cNvSpPr/>
            <p:nvPr/>
          </p:nvSpPr>
          <p:spPr>
            <a:xfrm flipH="1">
              <a:off x="1344" y="2688"/>
              <a:ext cx="23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4" name="Line 55"/>
            <p:cNvSpPr/>
            <p:nvPr/>
          </p:nvSpPr>
          <p:spPr>
            <a:xfrm>
              <a:off x="1248" y="2784"/>
              <a:ext cx="24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5" name="Line 56"/>
            <p:cNvSpPr/>
            <p:nvPr/>
          </p:nvSpPr>
          <p:spPr>
            <a:xfrm>
              <a:off x="480" y="25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6" name="Line 57"/>
            <p:cNvSpPr/>
            <p:nvPr/>
          </p:nvSpPr>
          <p:spPr>
            <a:xfrm>
              <a:off x="480" y="2544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7" name="Line 58"/>
            <p:cNvSpPr/>
            <p:nvPr/>
          </p:nvSpPr>
          <p:spPr>
            <a:xfrm flipV="1">
              <a:off x="480" y="268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48" name="Oval 59"/>
            <p:cNvSpPr/>
            <p:nvPr/>
          </p:nvSpPr>
          <p:spPr>
            <a:xfrm>
              <a:off x="576" y="273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9" name="Line 60"/>
            <p:cNvSpPr/>
            <p:nvPr/>
          </p:nvSpPr>
          <p:spPr>
            <a:xfrm flipH="1">
              <a:off x="720" y="268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50" name="Line 61"/>
            <p:cNvSpPr/>
            <p:nvPr/>
          </p:nvSpPr>
          <p:spPr>
            <a:xfrm flipH="1">
              <a:off x="672" y="278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51" name="Line 62"/>
            <p:cNvSpPr/>
            <p:nvPr/>
          </p:nvSpPr>
          <p:spPr>
            <a:xfrm flipH="1">
              <a:off x="240" y="268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52" name="Text Box 63"/>
            <p:cNvSpPr txBox="1"/>
            <p:nvPr/>
          </p:nvSpPr>
          <p:spPr>
            <a:xfrm>
              <a:off x="192" y="2400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53" name="Oval 64"/>
            <p:cNvSpPr/>
            <p:nvPr/>
          </p:nvSpPr>
          <p:spPr>
            <a:xfrm>
              <a:off x="1008" y="264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54" name="Oval 65"/>
            <p:cNvSpPr/>
            <p:nvPr/>
          </p:nvSpPr>
          <p:spPr>
            <a:xfrm>
              <a:off x="1104" y="273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55" name="Oval 66"/>
            <p:cNvSpPr/>
            <p:nvPr/>
          </p:nvSpPr>
          <p:spPr>
            <a:xfrm>
              <a:off x="1200" y="273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56" name="Oval 67"/>
            <p:cNvSpPr/>
            <p:nvPr/>
          </p:nvSpPr>
          <p:spPr>
            <a:xfrm>
              <a:off x="1296" y="264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8357" name="Group 68"/>
            <p:cNvGrpSpPr/>
            <p:nvPr/>
          </p:nvGrpSpPr>
          <p:grpSpPr>
            <a:xfrm>
              <a:off x="4176" y="1680"/>
              <a:ext cx="528" cy="576"/>
              <a:chOff x="4368" y="3312"/>
              <a:chExt cx="528" cy="576"/>
            </a:xfrm>
          </p:grpSpPr>
          <p:sp>
            <p:nvSpPr>
              <p:cNvPr id="98358" name="Rectangle 69"/>
              <p:cNvSpPr/>
              <p:nvPr/>
            </p:nvSpPr>
            <p:spPr>
              <a:xfrm>
                <a:off x="4368" y="3312"/>
                <a:ext cx="528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59" name="Text Box 70"/>
              <p:cNvSpPr txBox="1"/>
              <p:nvPr/>
            </p:nvSpPr>
            <p:spPr>
              <a:xfrm>
                <a:off x="4368" y="331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60" name="Text Box 71"/>
              <p:cNvSpPr txBox="1"/>
              <p:nvPr/>
            </p:nvSpPr>
            <p:spPr>
              <a:xfrm>
                <a:off x="4656" y="3312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61" name="Text Box 72"/>
              <p:cNvSpPr txBox="1"/>
              <p:nvPr/>
            </p:nvSpPr>
            <p:spPr>
              <a:xfrm>
                <a:off x="4368" y="3600"/>
                <a:ext cx="4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62" name="Text Box 73"/>
              <p:cNvSpPr txBox="1"/>
              <p:nvPr/>
            </p:nvSpPr>
            <p:spPr>
              <a:xfrm>
                <a:off x="4656" y="3600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63" name="Line 74"/>
              <p:cNvSpPr/>
              <p:nvPr/>
            </p:nvSpPr>
            <p:spPr>
              <a:xfrm>
                <a:off x="4704" y="364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8364" name="Line 75"/>
            <p:cNvSpPr/>
            <p:nvPr/>
          </p:nvSpPr>
          <p:spPr>
            <a:xfrm>
              <a:off x="4704" y="182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65" name="Line 76"/>
            <p:cNvSpPr/>
            <p:nvPr/>
          </p:nvSpPr>
          <p:spPr>
            <a:xfrm>
              <a:off x="3936" y="254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66" name="Line 77"/>
            <p:cNvSpPr/>
            <p:nvPr/>
          </p:nvSpPr>
          <p:spPr>
            <a:xfrm>
              <a:off x="4704" y="211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67" name="Line 78"/>
            <p:cNvSpPr/>
            <p:nvPr/>
          </p:nvSpPr>
          <p:spPr>
            <a:xfrm>
              <a:off x="3936" y="2688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68" name="Line 79"/>
            <p:cNvSpPr/>
            <p:nvPr/>
          </p:nvSpPr>
          <p:spPr>
            <a:xfrm>
              <a:off x="4080" y="912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69" name="Line 80"/>
            <p:cNvSpPr/>
            <p:nvPr/>
          </p:nvSpPr>
          <p:spPr>
            <a:xfrm>
              <a:off x="4944" y="912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70" name="Line 81"/>
            <p:cNvSpPr/>
            <p:nvPr/>
          </p:nvSpPr>
          <p:spPr>
            <a:xfrm>
              <a:off x="4944" y="153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71" name="Line 82"/>
            <p:cNvSpPr/>
            <p:nvPr/>
          </p:nvSpPr>
          <p:spPr>
            <a:xfrm flipH="1">
              <a:off x="4080" y="211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72" name="Oval 83"/>
            <p:cNvSpPr/>
            <p:nvPr/>
          </p:nvSpPr>
          <p:spPr>
            <a:xfrm>
              <a:off x="4032" y="206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3" name="Text Box 84"/>
            <p:cNvSpPr txBox="1"/>
            <p:nvPr/>
          </p:nvSpPr>
          <p:spPr>
            <a:xfrm>
              <a:off x="3648" y="3552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公共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4" name="Text Box 85"/>
            <p:cNvSpPr txBox="1"/>
            <p:nvPr/>
          </p:nvSpPr>
          <p:spPr>
            <a:xfrm>
              <a:off x="4512" y="3456"/>
              <a:ext cx="86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公共输出使能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5" name="Rectangle 86"/>
            <p:cNvSpPr/>
            <p:nvPr/>
          </p:nvSpPr>
          <p:spPr>
            <a:xfrm>
              <a:off x="3216" y="1824"/>
              <a:ext cx="144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6" name="Text Box 87"/>
            <p:cNvSpPr txBox="1"/>
            <p:nvPr/>
          </p:nvSpPr>
          <p:spPr>
            <a:xfrm>
              <a:off x="3168" y="182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7" name="Rectangle 88"/>
            <p:cNvSpPr/>
            <p:nvPr/>
          </p:nvSpPr>
          <p:spPr>
            <a:xfrm>
              <a:off x="3072" y="1824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8" name="Rectangle 89"/>
            <p:cNvSpPr/>
            <p:nvPr/>
          </p:nvSpPr>
          <p:spPr>
            <a:xfrm>
              <a:off x="3072" y="1968"/>
              <a:ext cx="144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79" name="Rectangle 90"/>
            <p:cNvSpPr/>
            <p:nvPr/>
          </p:nvSpPr>
          <p:spPr>
            <a:xfrm>
              <a:off x="3600" y="1680"/>
              <a:ext cx="240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80" name="Text Box 92"/>
            <p:cNvSpPr txBox="1"/>
            <p:nvPr/>
          </p:nvSpPr>
          <p:spPr>
            <a:xfrm>
              <a:off x="3600" y="1680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81" name="Line 93"/>
            <p:cNvSpPr/>
            <p:nvPr/>
          </p:nvSpPr>
          <p:spPr>
            <a:xfrm>
              <a:off x="3360" y="163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82" name="Line 94"/>
            <p:cNvSpPr/>
            <p:nvPr/>
          </p:nvSpPr>
          <p:spPr>
            <a:xfrm>
              <a:off x="3456" y="163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83" name="Line 95"/>
            <p:cNvSpPr/>
            <p:nvPr/>
          </p:nvSpPr>
          <p:spPr>
            <a:xfrm>
              <a:off x="3456" y="177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84" name="Line 96"/>
            <p:cNvSpPr/>
            <p:nvPr/>
          </p:nvSpPr>
          <p:spPr>
            <a:xfrm>
              <a:off x="3360" y="196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85" name="Line 97"/>
            <p:cNvSpPr/>
            <p:nvPr/>
          </p:nvSpPr>
          <p:spPr>
            <a:xfrm>
              <a:off x="3456" y="1872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386" name="Line 98"/>
            <p:cNvSpPr/>
            <p:nvPr/>
          </p:nvSpPr>
          <p:spPr>
            <a:xfrm>
              <a:off x="3456" y="187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8387" name="Text Box 100"/>
          <p:cNvSpPr txBox="1"/>
          <p:nvPr/>
        </p:nvSpPr>
        <p:spPr>
          <a:xfrm>
            <a:off x="533400" y="55626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与阵列可编程，或阵列固定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88" name="Text Box 101"/>
          <p:cNvSpPr txBox="1"/>
          <p:nvPr/>
        </p:nvSpPr>
        <p:spPr>
          <a:xfrm>
            <a:off x="457200" y="5943600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具有记忆功能，可实现加、减、计数器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ROM,PLA,PAL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39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534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与阵列固定，或阵列可编程，实现组合逻辑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实现时序逻辑电路需要外加触发器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与或阵列均可编程，实现组合逻辑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实现时序逻辑电路需要外加触发器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与阵列可编程，或阵列固定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不同的芯片可实现不同的逻辑，有些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只能实现组合逻辑电路，有些只能实现时序逻辑电路。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一次性编程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ROM,PLA,PAL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共同存在的问题：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不存在只用一种芯片，即可以实现组合逻辑电路，又可以实现时序逻辑电路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是为解决这一问题而产生的芯片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通用阵列逻辑（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General Array Logic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7924800" cy="4965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 PLA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或阵列可编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与、或阵列都可编程，灵活，节省码点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 PAL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工艺：简化工艺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降低成本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熔丝工艺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一次编程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结构：输入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输出公用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是专用词，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MMI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公司的产品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 GAL</a:t>
            </a: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工艺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电可擦除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多次编程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.(Lattice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1985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年专利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结构：输出宏单元，更通用，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或阵列	不可编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§3.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可编程阵列逻辑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(PAL)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与</a:t>
            </a:r>
            <a:b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         通用阵列逻辑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(GAL)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ROM,PLA,PAL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共同存在的问题：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不存在只用一种芯片，即可以实现组合逻辑电路，又可以实现时序逻辑电路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是为解决这一问题而产生的芯片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通用阵列逻辑（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General Array Logic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7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来源：在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基础之上发展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相似之处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与阵列可编程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或阵列固定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的差别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增加了输出控制（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结构）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增加了反馈结构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多次可编程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集成度提高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逻辑结构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的基本逻辑结构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输出逻辑宏单元的结构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器件的基本逻辑结构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输出逻辑宏单元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0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0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器件的基本逻辑结构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6500" name="Group 4"/>
          <p:cNvGrpSpPr/>
          <p:nvPr/>
        </p:nvGrpSpPr>
        <p:grpSpPr>
          <a:xfrm>
            <a:off x="228600" y="1524000"/>
            <a:ext cx="8915400" cy="4800600"/>
            <a:chOff x="144" y="960"/>
            <a:chExt cx="5616" cy="3024"/>
          </a:xfrm>
        </p:grpSpPr>
        <p:sp>
          <p:nvSpPr>
            <p:cNvPr id="106501" name="Oval 5"/>
            <p:cNvSpPr/>
            <p:nvPr/>
          </p:nvSpPr>
          <p:spPr>
            <a:xfrm>
              <a:off x="864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02" name="Oval 6"/>
            <p:cNvSpPr/>
            <p:nvPr/>
          </p:nvSpPr>
          <p:spPr>
            <a:xfrm>
              <a:off x="960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03" name="Line 7"/>
            <p:cNvSpPr/>
            <p:nvPr/>
          </p:nvSpPr>
          <p:spPr>
            <a:xfrm>
              <a:off x="624" y="18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6504" name="Line 8"/>
            <p:cNvSpPr/>
            <p:nvPr/>
          </p:nvSpPr>
          <p:spPr>
            <a:xfrm flipV="1">
              <a:off x="624" y="1920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6505" name="Line 9"/>
            <p:cNvSpPr/>
            <p:nvPr/>
          </p:nvSpPr>
          <p:spPr>
            <a:xfrm>
              <a:off x="624" y="1824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6506" name="Group 10"/>
            <p:cNvGrpSpPr/>
            <p:nvPr/>
          </p:nvGrpSpPr>
          <p:grpSpPr>
            <a:xfrm>
              <a:off x="144" y="960"/>
              <a:ext cx="5616" cy="3024"/>
              <a:chOff x="144" y="960"/>
              <a:chExt cx="5616" cy="3024"/>
            </a:xfrm>
          </p:grpSpPr>
          <p:grpSp>
            <p:nvGrpSpPr>
              <p:cNvPr id="106507" name="Group 11"/>
              <p:cNvGrpSpPr/>
              <p:nvPr/>
            </p:nvGrpSpPr>
            <p:grpSpPr>
              <a:xfrm>
                <a:off x="768" y="2160"/>
                <a:ext cx="2736" cy="672"/>
                <a:chOff x="288" y="1920"/>
                <a:chExt cx="3600" cy="672"/>
              </a:xfrm>
            </p:grpSpPr>
            <p:sp>
              <p:nvSpPr>
                <p:cNvPr id="106508" name="Line 12"/>
                <p:cNvSpPr/>
                <p:nvPr/>
              </p:nvSpPr>
              <p:spPr>
                <a:xfrm>
                  <a:off x="288" y="1920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09" name="Line 13"/>
                <p:cNvSpPr/>
                <p:nvPr/>
              </p:nvSpPr>
              <p:spPr>
                <a:xfrm>
                  <a:off x="288" y="2304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0" name="Line 14"/>
                <p:cNvSpPr/>
                <p:nvPr/>
              </p:nvSpPr>
              <p:spPr>
                <a:xfrm>
                  <a:off x="288" y="2016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1" name="Line 15"/>
                <p:cNvSpPr/>
                <p:nvPr/>
              </p:nvSpPr>
              <p:spPr>
                <a:xfrm>
                  <a:off x="288" y="2496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2" name="Line 16"/>
                <p:cNvSpPr/>
                <p:nvPr/>
              </p:nvSpPr>
              <p:spPr>
                <a:xfrm>
                  <a:off x="288" y="2400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3" name="Line 17"/>
                <p:cNvSpPr/>
                <p:nvPr/>
              </p:nvSpPr>
              <p:spPr>
                <a:xfrm>
                  <a:off x="288" y="2112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4" name="Line 18"/>
                <p:cNvSpPr/>
                <p:nvPr/>
              </p:nvSpPr>
              <p:spPr>
                <a:xfrm>
                  <a:off x="288" y="2208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15" name="Line 19"/>
                <p:cNvSpPr/>
                <p:nvPr/>
              </p:nvSpPr>
              <p:spPr>
                <a:xfrm>
                  <a:off x="288" y="2592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6516" name="Rectangle 20"/>
              <p:cNvSpPr/>
              <p:nvPr/>
            </p:nvSpPr>
            <p:spPr>
              <a:xfrm>
                <a:off x="4080" y="2112"/>
                <a:ext cx="672" cy="96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17" name="Text Box 21"/>
              <p:cNvSpPr txBox="1"/>
              <p:nvPr/>
            </p:nvSpPr>
            <p:spPr>
              <a:xfrm>
                <a:off x="4128" y="2390"/>
                <a:ext cx="62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OLMC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6518" name="Group 22"/>
              <p:cNvGrpSpPr/>
              <p:nvPr/>
            </p:nvGrpSpPr>
            <p:grpSpPr>
              <a:xfrm>
                <a:off x="3648" y="2160"/>
                <a:ext cx="432" cy="672"/>
                <a:chOff x="288" y="1920"/>
                <a:chExt cx="3600" cy="672"/>
              </a:xfrm>
            </p:grpSpPr>
            <p:sp>
              <p:nvSpPr>
                <p:cNvPr id="106519" name="Line 23"/>
                <p:cNvSpPr/>
                <p:nvPr/>
              </p:nvSpPr>
              <p:spPr>
                <a:xfrm>
                  <a:off x="288" y="1920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0" name="Line 24"/>
                <p:cNvSpPr/>
                <p:nvPr/>
              </p:nvSpPr>
              <p:spPr>
                <a:xfrm>
                  <a:off x="288" y="2304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1" name="Line 25"/>
                <p:cNvSpPr/>
                <p:nvPr/>
              </p:nvSpPr>
              <p:spPr>
                <a:xfrm>
                  <a:off x="288" y="2016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2" name="Line 26"/>
                <p:cNvSpPr/>
                <p:nvPr/>
              </p:nvSpPr>
              <p:spPr>
                <a:xfrm>
                  <a:off x="288" y="2496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3" name="Line 27"/>
                <p:cNvSpPr/>
                <p:nvPr/>
              </p:nvSpPr>
              <p:spPr>
                <a:xfrm>
                  <a:off x="288" y="2400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4" name="Line 28"/>
                <p:cNvSpPr/>
                <p:nvPr/>
              </p:nvSpPr>
              <p:spPr>
                <a:xfrm>
                  <a:off x="288" y="2112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5" name="Line 29"/>
                <p:cNvSpPr/>
                <p:nvPr/>
              </p:nvSpPr>
              <p:spPr>
                <a:xfrm>
                  <a:off x="288" y="2208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26" name="Line 30"/>
                <p:cNvSpPr/>
                <p:nvPr/>
              </p:nvSpPr>
              <p:spPr>
                <a:xfrm>
                  <a:off x="288" y="2592"/>
                  <a:ext cx="36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6527" name="Group 31"/>
              <p:cNvGrpSpPr/>
              <p:nvPr/>
            </p:nvGrpSpPr>
            <p:grpSpPr>
              <a:xfrm>
                <a:off x="3456" y="2064"/>
                <a:ext cx="240" cy="816"/>
                <a:chOff x="3408" y="336"/>
                <a:chExt cx="240" cy="816"/>
              </a:xfrm>
            </p:grpSpPr>
            <p:sp>
              <p:nvSpPr>
                <p:cNvPr id="106528" name="Rectangle 32"/>
                <p:cNvSpPr/>
                <p:nvPr/>
              </p:nvSpPr>
              <p:spPr>
                <a:xfrm>
                  <a:off x="3456" y="384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29" name="Rectangle 33"/>
                <p:cNvSpPr/>
                <p:nvPr/>
              </p:nvSpPr>
              <p:spPr>
                <a:xfrm>
                  <a:off x="3456" y="480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0" name="Rectangle 34"/>
                <p:cNvSpPr/>
                <p:nvPr/>
              </p:nvSpPr>
              <p:spPr>
                <a:xfrm>
                  <a:off x="3456" y="576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1" name="Rectangle 35"/>
                <p:cNvSpPr/>
                <p:nvPr/>
              </p:nvSpPr>
              <p:spPr>
                <a:xfrm>
                  <a:off x="3456" y="672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2" name="Rectangle 36"/>
                <p:cNvSpPr/>
                <p:nvPr/>
              </p:nvSpPr>
              <p:spPr>
                <a:xfrm>
                  <a:off x="3456" y="768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3" name="Rectangle 37"/>
                <p:cNvSpPr/>
                <p:nvPr/>
              </p:nvSpPr>
              <p:spPr>
                <a:xfrm>
                  <a:off x="3456" y="864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4" name="Rectangle 38"/>
                <p:cNvSpPr/>
                <p:nvPr/>
              </p:nvSpPr>
              <p:spPr>
                <a:xfrm>
                  <a:off x="3456" y="960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5" name="Rectangle 39"/>
                <p:cNvSpPr/>
                <p:nvPr/>
              </p:nvSpPr>
              <p:spPr>
                <a:xfrm>
                  <a:off x="3456" y="1056"/>
                  <a:ext cx="144" cy="9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36" name="Text Box 40"/>
                <p:cNvSpPr txBox="1"/>
                <p:nvPr/>
              </p:nvSpPr>
              <p:spPr>
                <a:xfrm>
                  <a:off x="3408" y="336"/>
                  <a:ext cx="240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16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&amp;</a:t>
                  </a:r>
                  <a:endParaRPr lang="en-US" altLang="zh-CN" sz="1600" b="1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6537" name="Group 41"/>
              <p:cNvGrpSpPr/>
              <p:nvPr/>
            </p:nvGrpSpPr>
            <p:grpSpPr>
              <a:xfrm>
                <a:off x="240" y="2880"/>
                <a:ext cx="768" cy="192"/>
                <a:chOff x="624" y="2736"/>
                <a:chExt cx="768" cy="192"/>
              </a:xfrm>
            </p:grpSpPr>
            <p:sp>
              <p:nvSpPr>
                <p:cNvPr id="106538" name="Line 42"/>
                <p:cNvSpPr/>
                <p:nvPr/>
              </p:nvSpPr>
              <p:spPr>
                <a:xfrm>
                  <a:off x="960" y="2736"/>
                  <a:ext cx="0" cy="19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39" name="Line 43"/>
                <p:cNvSpPr/>
                <p:nvPr/>
              </p:nvSpPr>
              <p:spPr>
                <a:xfrm flipV="1">
                  <a:off x="960" y="2832"/>
                  <a:ext cx="144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40" name="Line 44"/>
                <p:cNvSpPr/>
                <p:nvPr/>
              </p:nvSpPr>
              <p:spPr>
                <a:xfrm>
                  <a:off x="960" y="2736"/>
                  <a:ext cx="144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41" name="Oval 45"/>
                <p:cNvSpPr/>
                <p:nvPr/>
              </p:nvSpPr>
              <p:spPr>
                <a:xfrm>
                  <a:off x="1008" y="2880"/>
                  <a:ext cx="48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542" name="Line 46"/>
                <p:cNvSpPr/>
                <p:nvPr/>
              </p:nvSpPr>
              <p:spPr>
                <a:xfrm>
                  <a:off x="624" y="2832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43" name="Line 47"/>
                <p:cNvSpPr/>
                <p:nvPr/>
              </p:nvSpPr>
              <p:spPr>
                <a:xfrm>
                  <a:off x="1056" y="2784"/>
                  <a:ext cx="2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6544" name="Line 48"/>
                <p:cNvSpPr/>
                <p:nvPr/>
              </p:nvSpPr>
              <p:spPr>
                <a:xfrm>
                  <a:off x="1056" y="2928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6545" name="Line 49"/>
              <p:cNvSpPr/>
              <p:nvPr/>
            </p:nvSpPr>
            <p:spPr>
              <a:xfrm>
                <a:off x="3744" y="2880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46" name="Line 50"/>
              <p:cNvSpPr/>
              <p:nvPr/>
            </p:nvSpPr>
            <p:spPr>
              <a:xfrm flipV="1">
                <a:off x="3600" y="2880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47" name="Line 51"/>
              <p:cNvSpPr/>
              <p:nvPr/>
            </p:nvSpPr>
            <p:spPr>
              <a:xfrm>
                <a:off x="3600" y="2976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48" name="Oval 52"/>
              <p:cNvSpPr/>
              <p:nvPr/>
            </p:nvSpPr>
            <p:spPr>
              <a:xfrm>
                <a:off x="3648" y="3024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49" name="Line 53"/>
              <p:cNvSpPr/>
              <p:nvPr/>
            </p:nvSpPr>
            <p:spPr>
              <a:xfrm>
                <a:off x="3744" y="2976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0" name="Line 54"/>
              <p:cNvSpPr/>
              <p:nvPr/>
            </p:nvSpPr>
            <p:spPr>
              <a:xfrm>
                <a:off x="1248" y="2928"/>
                <a:ext cx="24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1" name="Line 55"/>
              <p:cNvSpPr/>
              <p:nvPr/>
            </p:nvSpPr>
            <p:spPr>
              <a:xfrm>
                <a:off x="1344" y="3072"/>
                <a:ext cx="2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2" name="Oval 56"/>
              <p:cNvSpPr/>
              <p:nvPr/>
            </p:nvSpPr>
            <p:spPr>
              <a:xfrm>
                <a:off x="1200" y="28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53" name="Oval 57"/>
              <p:cNvSpPr/>
              <p:nvPr/>
            </p:nvSpPr>
            <p:spPr>
              <a:xfrm>
                <a:off x="1296" y="3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54" name="Line 58"/>
              <p:cNvSpPr/>
              <p:nvPr/>
            </p:nvSpPr>
            <p:spPr>
              <a:xfrm>
                <a:off x="4176" y="2112"/>
                <a:ext cx="48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5" name="Line 59"/>
              <p:cNvSpPr/>
              <p:nvPr/>
            </p:nvSpPr>
            <p:spPr>
              <a:xfrm flipV="1">
                <a:off x="4224" y="2112"/>
                <a:ext cx="48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6" name="Line 60"/>
              <p:cNvSpPr/>
              <p:nvPr/>
            </p:nvSpPr>
            <p:spPr>
              <a:xfrm>
                <a:off x="4944" y="225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7" name="Line 61"/>
              <p:cNvSpPr/>
              <p:nvPr/>
            </p:nvSpPr>
            <p:spPr>
              <a:xfrm flipV="1">
                <a:off x="4944" y="2352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8" name="Line 62"/>
              <p:cNvSpPr/>
              <p:nvPr/>
            </p:nvSpPr>
            <p:spPr>
              <a:xfrm>
                <a:off x="4944" y="2256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59" name="Oval 63"/>
              <p:cNvSpPr/>
              <p:nvPr/>
            </p:nvSpPr>
            <p:spPr>
              <a:xfrm>
                <a:off x="5088" y="2304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60" name="Line 64"/>
              <p:cNvSpPr/>
              <p:nvPr/>
            </p:nvSpPr>
            <p:spPr>
              <a:xfrm>
                <a:off x="4752" y="2352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1" name="Line 65"/>
              <p:cNvSpPr/>
              <p:nvPr/>
            </p:nvSpPr>
            <p:spPr>
              <a:xfrm>
                <a:off x="5184" y="2352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2" name="Line 66"/>
              <p:cNvSpPr/>
              <p:nvPr/>
            </p:nvSpPr>
            <p:spPr>
              <a:xfrm>
                <a:off x="4752" y="216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3" name="Line 67"/>
              <p:cNvSpPr/>
              <p:nvPr/>
            </p:nvSpPr>
            <p:spPr>
              <a:xfrm>
                <a:off x="5040" y="216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4" name="Line 68"/>
              <p:cNvSpPr/>
              <p:nvPr/>
            </p:nvSpPr>
            <p:spPr>
              <a:xfrm>
                <a:off x="5232" y="2352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5" name="Line 69"/>
              <p:cNvSpPr/>
              <p:nvPr/>
            </p:nvSpPr>
            <p:spPr>
              <a:xfrm flipH="1">
                <a:off x="4752" y="2544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06566" name="Line 70"/>
              <p:cNvSpPr/>
              <p:nvPr/>
            </p:nvSpPr>
            <p:spPr>
              <a:xfrm>
                <a:off x="288" y="1920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7" name="Line 71"/>
              <p:cNvSpPr/>
              <p:nvPr/>
            </p:nvSpPr>
            <p:spPr>
              <a:xfrm>
                <a:off x="768" y="1920"/>
                <a:ext cx="3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8" name="Line 72"/>
              <p:cNvSpPr/>
              <p:nvPr/>
            </p:nvSpPr>
            <p:spPr>
              <a:xfrm>
                <a:off x="4224" y="1920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69" name="Line 73"/>
              <p:cNvSpPr/>
              <p:nvPr/>
            </p:nvSpPr>
            <p:spPr>
              <a:xfrm>
                <a:off x="4224" y="1920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0" name="Line 74"/>
              <p:cNvSpPr/>
              <p:nvPr/>
            </p:nvSpPr>
            <p:spPr>
              <a:xfrm>
                <a:off x="5328" y="1920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1" name="Line 75"/>
              <p:cNvSpPr/>
              <p:nvPr/>
            </p:nvSpPr>
            <p:spPr>
              <a:xfrm flipH="1" flipV="1">
                <a:off x="4752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06572" name="Oval 76"/>
              <p:cNvSpPr/>
              <p:nvPr/>
            </p:nvSpPr>
            <p:spPr>
              <a:xfrm>
                <a:off x="417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73" name="Line 77"/>
              <p:cNvSpPr/>
              <p:nvPr/>
            </p:nvSpPr>
            <p:spPr>
              <a:xfrm>
                <a:off x="5040" y="321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4" name="Line 78"/>
              <p:cNvSpPr/>
              <p:nvPr/>
            </p:nvSpPr>
            <p:spPr>
              <a:xfrm flipV="1">
                <a:off x="4896" y="3216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5" name="Line 79"/>
              <p:cNvSpPr/>
              <p:nvPr/>
            </p:nvSpPr>
            <p:spPr>
              <a:xfrm>
                <a:off x="4896" y="3312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6" name="Oval 80"/>
              <p:cNvSpPr/>
              <p:nvPr/>
            </p:nvSpPr>
            <p:spPr>
              <a:xfrm>
                <a:off x="4800" y="3264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77" name="Line 81"/>
              <p:cNvSpPr/>
              <p:nvPr/>
            </p:nvSpPr>
            <p:spPr>
              <a:xfrm>
                <a:off x="5040" y="331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8" name="Line 82"/>
              <p:cNvSpPr/>
              <p:nvPr/>
            </p:nvSpPr>
            <p:spPr>
              <a:xfrm>
                <a:off x="4752" y="2976"/>
                <a:ext cx="4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79" name="Line 83"/>
              <p:cNvSpPr/>
              <p:nvPr/>
            </p:nvSpPr>
            <p:spPr>
              <a:xfrm>
                <a:off x="5184" y="297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0" name="Line 84"/>
              <p:cNvSpPr/>
              <p:nvPr/>
            </p:nvSpPr>
            <p:spPr>
              <a:xfrm>
                <a:off x="912" y="2016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1" name="Line 85"/>
              <p:cNvSpPr/>
              <p:nvPr/>
            </p:nvSpPr>
            <p:spPr>
              <a:xfrm>
                <a:off x="1008" y="2016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2" name="Line 86"/>
              <p:cNvSpPr/>
              <p:nvPr/>
            </p:nvSpPr>
            <p:spPr>
              <a:xfrm>
                <a:off x="1248" y="2016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3" name="Line 87"/>
              <p:cNvSpPr/>
              <p:nvPr/>
            </p:nvSpPr>
            <p:spPr>
              <a:xfrm>
                <a:off x="1344" y="2016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4" name="Line 88"/>
              <p:cNvSpPr/>
              <p:nvPr/>
            </p:nvSpPr>
            <p:spPr>
              <a:xfrm flipH="1">
                <a:off x="4512" y="3312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5" name="Line 89"/>
              <p:cNvSpPr/>
              <p:nvPr/>
            </p:nvSpPr>
            <p:spPr>
              <a:xfrm flipV="1">
                <a:off x="4512" y="307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86" name="Oval 90"/>
              <p:cNvSpPr/>
              <p:nvPr/>
            </p:nvSpPr>
            <p:spPr>
              <a:xfrm>
                <a:off x="5136" y="32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87" name="Text Box 91"/>
              <p:cNvSpPr txBox="1"/>
              <p:nvPr/>
            </p:nvSpPr>
            <p:spPr>
              <a:xfrm>
                <a:off x="144" y="2976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88" name="Text Box 92"/>
              <p:cNvSpPr txBox="1"/>
              <p:nvPr/>
            </p:nvSpPr>
            <p:spPr>
              <a:xfrm>
                <a:off x="144" y="187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CK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89" name="Text Box 93"/>
              <p:cNvSpPr txBox="1"/>
              <p:nvPr/>
            </p:nvSpPr>
            <p:spPr>
              <a:xfrm>
                <a:off x="5184" y="2976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OE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90" name="Text Box 94"/>
              <p:cNvSpPr txBox="1"/>
              <p:nvPr/>
            </p:nvSpPr>
            <p:spPr>
              <a:xfrm>
                <a:off x="5376" y="2016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I/O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591" name="Line 95"/>
              <p:cNvSpPr/>
              <p:nvPr/>
            </p:nvSpPr>
            <p:spPr>
              <a:xfrm>
                <a:off x="5424" y="1392"/>
                <a:ext cx="0" cy="14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6592" name="Line 96"/>
              <p:cNvSpPr/>
              <p:nvPr/>
            </p:nvSpPr>
            <p:spPr>
              <a:xfrm flipH="1">
                <a:off x="4752" y="2832"/>
                <a:ext cx="6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06593" name="Text Box 97"/>
              <p:cNvSpPr txBox="1"/>
              <p:nvPr/>
            </p:nvSpPr>
            <p:spPr>
              <a:xfrm>
                <a:off x="4992" y="960"/>
                <a:ext cx="672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0"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相邻宏单元</a:t>
                </a: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522" name="Line 2"/>
          <p:cNvSpPr/>
          <p:nvPr/>
        </p:nvSpPr>
        <p:spPr>
          <a:xfrm>
            <a:off x="13716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523" name="Line 3"/>
          <p:cNvSpPr/>
          <p:nvPr/>
        </p:nvSpPr>
        <p:spPr>
          <a:xfrm>
            <a:off x="15240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524" name="Line 4"/>
          <p:cNvSpPr/>
          <p:nvPr/>
        </p:nvSpPr>
        <p:spPr>
          <a:xfrm>
            <a:off x="19050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525" name="Line 5"/>
          <p:cNvSpPr/>
          <p:nvPr/>
        </p:nvSpPr>
        <p:spPr>
          <a:xfrm>
            <a:off x="20574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07526" name="Group 6"/>
          <p:cNvGrpSpPr/>
          <p:nvPr/>
        </p:nvGrpSpPr>
        <p:grpSpPr>
          <a:xfrm>
            <a:off x="304800" y="152400"/>
            <a:ext cx="8610600" cy="2057400"/>
            <a:chOff x="192" y="96"/>
            <a:chExt cx="5424" cy="1296"/>
          </a:xfrm>
        </p:grpSpPr>
        <p:grpSp>
          <p:nvGrpSpPr>
            <p:cNvPr id="107527" name="Group 7"/>
            <p:cNvGrpSpPr/>
            <p:nvPr/>
          </p:nvGrpSpPr>
          <p:grpSpPr>
            <a:xfrm>
              <a:off x="720" y="432"/>
              <a:ext cx="2736" cy="672"/>
              <a:chOff x="288" y="1920"/>
              <a:chExt cx="3600" cy="672"/>
            </a:xfrm>
          </p:grpSpPr>
          <p:sp>
            <p:nvSpPr>
              <p:cNvPr id="107528" name="Line 8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29" name="Line 9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0" name="Line 10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1" name="Line 11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2" name="Line 12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3" name="Line 13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4" name="Line 14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35" name="Line 15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7536" name="Rectangle 16"/>
            <p:cNvSpPr/>
            <p:nvPr/>
          </p:nvSpPr>
          <p:spPr>
            <a:xfrm>
              <a:off x="4032" y="384"/>
              <a:ext cx="672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37" name="Text Box 17"/>
            <p:cNvSpPr txBox="1"/>
            <p:nvPr/>
          </p:nvSpPr>
          <p:spPr>
            <a:xfrm>
              <a:off x="4080" y="662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OLMC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7538" name="Group 18"/>
            <p:cNvGrpSpPr/>
            <p:nvPr/>
          </p:nvGrpSpPr>
          <p:grpSpPr>
            <a:xfrm>
              <a:off x="3600" y="432"/>
              <a:ext cx="432" cy="672"/>
              <a:chOff x="288" y="1920"/>
              <a:chExt cx="3600" cy="672"/>
            </a:xfrm>
          </p:grpSpPr>
          <p:sp>
            <p:nvSpPr>
              <p:cNvPr id="107539" name="Line 19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0" name="Line 20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1" name="Line 21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2" name="Line 22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3" name="Line 23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4" name="Line 24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5" name="Line 25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46" name="Line 26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7547" name="Group 27"/>
            <p:cNvGrpSpPr/>
            <p:nvPr/>
          </p:nvGrpSpPr>
          <p:grpSpPr>
            <a:xfrm>
              <a:off x="3408" y="336"/>
              <a:ext cx="240" cy="816"/>
              <a:chOff x="3408" y="336"/>
              <a:chExt cx="240" cy="816"/>
            </a:xfrm>
          </p:grpSpPr>
          <p:sp>
            <p:nvSpPr>
              <p:cNvPr id="107548" name="Rectangle 28"/>
              <p:cNvSpPr/>
              <p:nvPr/>
            </p:nvSpPr>
            <p:spPr>
              <a:xfrm>
                <a:off x="3456" y="38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49" name="Rectangle 29"/>
              <p:cNvSpPr/>
              <p:nvPr/>
            </p:nvSpPr>
            <p:spPr>
              <a:xfrm>
                <a:off x="3456" y="48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0" name="Rectangle 30"/>
              <p:cNvSpPr/>
              <p:nvPr/>
            </p:nvSpPr>
            <p:spPr>
              <a:xfrm>
                <a:off x="3456" y="57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1" name="Rectangle 31"/>
              <p:cNvSpPr/>
              <p:nvPr/>
            </p:nvSpPr>
            <p:spPr>
              <a:xfrm>
                <a:off x="3456" y="672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2" name="Rectangle 32"/>
              <p:cNvSpPr/>
              <p:nvPr/>
            </p:nvSpPr>
            <p:spPr>
              <a:xfrm>
                <a:off x="3456" y="768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3" name="Rectangle 33"/>
              <p:cNvSpPr/>
              <p:nvPr/>
            </p:nvSpPr>
            <p:spPr>
              <a:xfrm>
                <a:off x="3456" y="86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4" name="Rectangle 34"/>
              <p:cNvSpPr/>
              <p:nvPr/>
            </p:nvSpPr>
            <p:spPr>
              <a:xfrm>
                <a:off x="3456" y="96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5" name="Rectangle 35"/>
              <p:cNvSpPr/>
              <p:nvPr/>
            </p:nvSpPr>
            <p:spPr>
              <a:xfrm>
                <a:off x="3456" y="105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56" name="Text Box 36"/>
              <p:cNvSpPr txBox="1"/>
              <p:nvPr/>
            </p:nvSpPr>
            <p:spPr>
              <a:xfrm>
                <a:off x="3408" y="336"/>
                <a:ext cx="24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endPara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7557" name="Group 37"/>
            <p:cNvGrpSpPr/>
            <p:nvPr/>
          </p:nvGrpSpPr>
          <p:grpSpPr>
            <a:xfrm>
              <a:off x="192" y="1152"/>
              <a:ext cx="768" cy="192"/>
              <a:chOff x="624" y="2736"/>
              <a:chExt cx="768" cy="192"/>
            </a:xfrm>
          </p:grpSpPr>
          <p:sp>
            <p:nvSpPr>
              <p:cNvPr id="107558" name="Line 38"/>
              <p:cNvSpPr/>
              <p:nvPr/>
            </p:nvSpPr>
            <p:spPr>
              <a:xfrm>
                <a:off x="960" y="273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59" name="Line 39"/>
              <p:cNvSpPr/>
              <p:nvPr/>
            </p:nvSpPr>
            <p:spPr>
              <a:xfrm flipV="1">
                <a:off x="960" y="2832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60" name="Line 40"/>
              <p:cNvSpPr/>
              <p:nvPr/>
            </p:nvSpPr>
            <p:spPr>
              <a:xfrm>
                <a:off x="960" y="2736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61" name="Oval 41"/>
              <p:cNvSpPr/>
              <p:nvPr/>
            </p:nvSpPr>
            <p:spPr>
              <a:xfrm>
                <a:off x="1008" y="2880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562" name="Line 42"/>
              <p:cNvSpPr/>
              <p:nvPr/>
            </p:nvSpPr>
            <p:spPr>
              <a:xfrm>
                <a:off x="624" y="2832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63" name="Line 43"/>
              <p:cNvSpPr/>
              <p:nvPr/>
            </p:nvSpPr>
            <p:spPr>
              <a:xfrm>
                <a:off x="1056" y="278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564" name="Line 44"/>
              <p:cNvSpPr/>
              <p:nvPr/>
            </p:nvSpPr>
            <p:spPr>
              <a:xfrm>
                <a:off x="1056" y="2928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7565" name="Oval 45"/>
            <p:cNvSpPr/>
            <p:nvPr/>
          </p:nvSpPr>
          <p:spPr>
            <a:xfrm>
              <a:off x="816" y="1152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66" name="Oval 46"/>
            <p:cNvSpPr/>
            <p:nvPr/>
          </p:nvSpPr>
          <p:spPr>
            <a:xfrm>
              <a:off x="912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67" name="Line 47"/>
            <p:cNvSpPr/>
            <p:nvPr/>
          </p:nvSpPr>
          <p:spPr>
            <a:xfrm>
              <a:off x="3696" y="115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68" name="Line 48"/>
            <p:cNvSpPr/>
            <p:nvPr/>
          </p:nvSpPr>
          <p:spPr>
            <a:xfrm flipV="1">
              <a:off x="3552" y="115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69" name="Line 49"/>
            <p:cNvSpPr/>
            <p:nvPr/>
          </p:nvSpPr>
          <p:spPr>
            <a:xfrm>
              <a:off x="3552" y="1248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0" name="Oval 50"/>
            <p:cNvSpPr/>
            <p:nvPr/>
          </p:nvSpPr>
          <p:spPr>
            <a:xfrm>
              <a:off x="3600" y="1296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71" name="Line 51"/>
            <p:cNvSpPr/>
            <p:nvPr/>
          </p:nvSpPr>
          <p:spPr>
            <a:xfrm>
              <a:off x="3696" y="124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2" name="Line 52"/>
            <p:cNvSpPr/>
            <p:nvPr/>
          </p:nvSpPr>
          <p:spPr>
            <a:xfrm>
              <a:off x="1200" y="1200"/>
              <a:ext cx="24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3" name="Line 53"/>
            <p:cNvSpPr/>
            <p:nvPr/>
          </p:nvSpPr>
          <p:spPr>
            <a:xfrm>
              <a:off x="1296" y="1344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4" name="Oval 54"/>
            <p:cNvSpPr/>
            <p:nvPr/>
          </p:nvSpPr>
          <p:spPr>
            <a:xfrm>
              <a:off x="1152" y="1152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75" name="Oval 55"/>
            <p:cNvSpPr/>
            <p:nvPr/>
          </p:nvSpPr>
          <p:spPr>
            <a:xfrm>
              <a:off x="1248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76" name="Line 56"/>
            <p:cNvSpPr/>
            <p:nvPr/>
          </p:nvSpPr>
          <p:spPr>
            <a:xfrm>
              <a:off x="4128" y="384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7" name="Line 57"/>
            <p:cNvSpPr/>
            <p:nvPr/>
          </p:nvSpPr>
          <p:spPr>
            <a:xfrm flipV="1">
              <a:off x="4176" y="384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8" name="Line 58"/>
            <p:cNvSpPr/>
            <p:nvPr/>
          </p:nvSpPr>
          <p:spPr>
            <a:xfrm>
              <a:off x="4896" y="52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79" name="Line 59"/>
            <p:cNvSpPr/>
            <p:nvPr/>
          </p:nvSpPr>
          <p:spPr>
            <a:xfrm flipV="1">
              <a:off x="4896" y="624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0" name="Line 60"/>
            <p:cNvSpPr/>
            <p:nvPr/>
          </p:nvSpPr>
          <p:spPr>
            <a:xfrm>
              <a:off x="4896" y="528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1" name="Oval 61"/>
            <p:cNvSpPr/>
            <p:nvPr/>
          </p:nvSpPr>
          <p:spPr>
            <a:xfrm>
              <a:off x="5040" y="57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82" name="Line 62"/>
            <p:cNvSpPr/>
            <p:nvPr/>
          </p:nvSpPr>
          <p:spPr>
            <a:xfrm>
              <a:off x="4704" y="62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3" name="Line 63"/>
            <p:cNvSpPr/>
            <p:nvPr/>
          </p:nvSpPr>
          <p:spPr>
            <a:xfrm>
              <a:off x="5136" y="62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4" name="Line 64"/>
            <p:cNvSpPr/>
            <p:nvPr/>
          </p:nvSpPr>
          <p:spPr>
            <a:xfrm>
              <a:off x="4704" y="43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5" name="Line 65"/>
            <p:cNvSpPr/>
            <p:nvPr/>
          </p:nvSpPr>
          <p:spPr>
            <a:xfrm>
              <a:off x="4992" y="43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6" name="Line 66"/>
            <p:cNvSpPr/>
            <p:nvPr/>
          </p:nvSpPr>
          <p:spPr>
            <a:xfrm>
              <a:off x="5184" y="6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7" name="Line 67"/>
            <p:cNvSpPr/>
            <p:nvPr/>
          </p:nvSpPr>
          <p:spPr>
            <a:xfrm flipH="1">
              <a:off x="4704" y="81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7588" name="Line 68"/>
            <p:cNvSpPr/>
            <p:nvPr/>
          </p:nvSpPr>
          <p:spPr>
            <a:xfrm>
              <a:off x="576" y="9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89" name="Line 69"/>
            <p:cNvSpPr/>
            <p:nvPr/>
          </p:nvSpPr>
          <p:spPr>
            <a:xfrm flipV="1">
              <a:off x="576" y="19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0" name="Line 70"/>
            <p:cNvSpPr/>
            <p:nvPr/>
          </p:nvSpPr>
          <p:spPr>
            <a:xfrm>
              <a:off x="576" y="9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1" name="Line 71"/>
            <p:cNvSpPr/>
            <p:nvPr/>
          </p:nvSpPr>
          <p:spPr>
            <a:xfrm>
              <a:off x="240" y="19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2" name="Line 72"/>
            <p:cNvSpPr/>
            <p:nvPr/>
          </p:nvSpPr>
          <p:spPr>
            <a:xfrm>
              <a:off x="720" y="192"/>
              <a:ext cx="3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3" name="Line 73"/>
            <p:cNvSpPr/>
            <p:nvPr/>
          </p:nvSpPr>
          <p:spPr>
            <a:xfrm>
              <a:off x="4176" y="19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4" name="Line 74"/>
            <p:cNvSpPr/>
            <p:nvPr/>
          </p:nvSpPr>
          <p:spPr>
            <a:xfrm>
              <a:off x="4176" y="19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5" name="Line 75"/>
            <p:cNvSpPr/>
            <p:nvPr/>
          </p:nvSpPr>
          <p:spPr>
            <a:xfrm>
              <a:off x="5280" y="19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596" name="Line 76"/>
            <p:cNvSpPr/>
            <p:nvPr/>
          </p:nvSpPr>
          <p:spPr>
            <a:xfrm flipH="1" flipV="1">
              <a:off x="4704" y="96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7597" name="Oval 77"/>
            <p:cNvSpPr/>
            <p:nvPr/>
          </p:nvSpPr>
          <p:spPr>
            <a:xfrm>
              <a:off x="4128" y="14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7598" name="Group 78"/>
          <p:cNvGrpSpPr/>
          <p:nvPr/>
        </p:nvGrpSpPr>
        <p:grpSpPr>
          <a:xfrm>
            <a:off x="5410200" y="2286000"/>
            <a:ext cx="381000" cy="1295400"/>
            <a:chOff x="3408" y="336"/>
            <a:chExt cx="240" cy="816"/>
          </a:xfrm>
        </p:grpSpPr>
        <p:sp>
          <p:nvSpPr>
            <p:cNvPr id="107599" name="Rectangle 79"/>
            <p:cNvSpPr/>
            <p:nvPr/>
          </p:nvSpPr>
          <p:spPr>
            <a:xfrm>
              <a:off x="3456" y="384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0" name="Rectangle 80"/>
            <p:cNvSpPr/>
            <p:nvPr/>
          </p:nvSpPr>
          <p:spPr>
            <a:xfrm>
              <a:off x="3456" y="480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1" name="Rectangle 81"/>
            <p:cNvSpPr/>
            <p:nvPr/>
          </p:nvSpPr>
          <p:spPr>
            <a:xfrm>
              <a:off x="3456" y="576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2" name="Rectangle 82"/>
            <p:cNvSpPr/>
            <p:nvPr/>
          </p:nvSpPr>
          <p:spPr>
            <a:xfrm>
              <a:off x="3456" y="672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3" name="Rectangle 83"/>
            <p:cNvSpPr/>
            <p:nvPr/>
          </p:nvSpPr>
          <p:spPr>
            <a:xfrm>
              <a:off x="3456" y="768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4" name="Rectangle 84"/>
            <p:cNvSpPr/>
            <p:nvPr/>
          </p:nvSpPr>
          <p:spPr>
            <a:xfrm>
              <a:off x="3456" y="864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5" name="Rectangle 85"/>
            <p:cNvSpPr/>
            <p:nvPr/>
          </p:nvSpPr>
          <p:spPr>
            <a:xfrm>
              <a:off x="3456" y="960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6" name="Rectangle 86"/>
            <p:cNvSpPr/>
            <p:nvPr/>
          </p:nvSpPr>
          <p:spPr>
            <a:xfrm>
              <a:off x="3456" y="1056"/>
              <a:ext cx="144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07" name="Text Box 87"/>
            <p:cNvSpPr txBox="1"/>
            <p:nvPr/>
          </p:nvSpPr>
          <p:spPr>
            <a:xfrm>
              <a:off x="3408" y="336"/>
              <a:ext cx="24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608" name="Line 88"/>
          <p:cNvSpPr/>
          <p:nvPr/>
        </p:nvSpPr>
        <p:spPr>
          <a:xfrm flipH="1" flipV="1">
            <a:off x="7467600" y="3276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609" name="Line 89"/>
          <p:cNvSpPr/>
          <p:nvPr/>
        </p:nvSpPr>
        <p:spPr>
          <a:xfrm>
            <a:off x="24384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10" name="Line 90"/>
          <p:cNvSpPr/>
          <p:nvPr/>
        </p:nvSpPr>
        <p:spPr>
          <a:xfrm>
            <a:off x="25908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11" name="Line 91"/>
          <p:cNvSpPr/>
          <p:nvPr/>
        </p:nvSpPr>
        <p:spPr>
          <a:xfrm>
            <a:off x="29718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12" name="Line 92"/>
          <p:cNvSpPr/>
          <p:nvPr/>
        </p:nvSpPr>
        <p:spPr>
          <a:xfrm>
            <a:off x="31242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07613" name="Group 93"/>
          <p:cNvGrpSpPr/>
          <p:nvPr/>
        </p:nvGrpSpPr>
        <p:grpSpPr>
          <a:xfrm>
            <a:off x="304800" y="2362200"/>
            <a:ext cx="8610600" cy="1600200"/>
            <a:chOff x="192" y="1488"/>
            <a:chExt cx="5424" cy="1008"/>
          </a:xfrm>
        </p:grpSpPr>
        <p:grpSp>
          <p:nvGrpSpPr>
            <p:cNvPr id="107614" name="Group 94"/>
            <p:cNvGrpSpPr/>
            <p:nvPr/>
          </p:nvGrpSpPr>
          <p:grpSpPr>
            <a:xfrm>
              <a:off x="720" y="1536"/>
              <a:ext cx="2736" cy="672"/>
              <a:chOff x="288" y="1920"/>
              <a:chExt cx="3600" cy="672"/>
            </a:xfrm>
          </p:grpSpPr>
          <p:sp>
            <p:nvSpPr>
              <p:cNvPr id="107615" name="Line 95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16" name="Line 96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17" name="Line 97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18" name="Line 98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19" name="Line 99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0" name="Line 100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1" name="Line 101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2" name="Line 102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7623" name="Rectangle 103"/>
            <p:cNvSpPr/>
            <p:nvPr/>
          </p:nvSpPr>
          <p:spPr>
            <a:xfrm>
              <a:off x="4032" y="1488"/>
              <a:ext cx="672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24" name="Text Box 104"/>
            <p:cNvSpPr txBox="1"/>
            <p:nvPr/>
          </p:nvSpPr>
          <p:spPr>
            <a:xfrm>
              <a:off x="4080" y="1766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OLMC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7625" name="Group 105"/>
            <p:cNvGrpSpPr/>
            <p:nvPr/>
          </p:nvGrpSpPr>
          <p:grpSpPr>
            <a:xfrm>
              <a:off x="3600" y="1536"/>
              <a:ext cx="432" cy="672"/>
              <a:chOff x="288" y="1920"/>
              <a:chExt cx="3600" cy="672"/>
            </a:xfrm>
          </p:grpSpPr>
          <p:sp>
            <p:nvSpPr>
              <p:cNvPr id="107626" name="Line 106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7" name="Line 107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8" name="Line 108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29" name="Line 109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30" name="Line 110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31" name="Line 111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32" name="Line 112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33" name="Line 113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7634" name="Line 114"/>
            <p:cNvSpPr/>
            <p:nvPr/>
          </p:nvSpPr>
          <p:spPr>
            <a:xfrm>
              <a:off x="528" y="225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35" name="Line 115"/>
            <p:cNvSpPr/>
            <p:nvPr/>
          </p:nvSpPr>
          <p:spPr>
            <a:xfrm flipV="1">
              <a:off x="528" y="235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36" name="Line 116"/>
            <p:cNvSpPr/>
            <p:nvPr/>
          </p:nvSpPr>
          <p:spPr>
            <a:xfrm>
              <a:off x="528" y="225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37" name="Oval 117"/>
            <p:cNvSpPr/>
            <p:nvPr/>
          </p:nvSpPr>
          <p:spPr>
            <a:xfrm>
              <a:off x="576" y="2400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38" name="Line 118"/>
            <p:cNvSpPr/>
            <p:nvPr/>
          </p:nvSpPr>
          <p:spPr>
            <a:xfrm>
              <a:off x="192" y="23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39" name="Line 119"/>
            <p:cNvSpPr/>
            <p:nvPr/>
          </p:nvSpPr>
          <p:spPr>
            <a:xfrm>
              <a:off x="624" y="2304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0" name="Line 120"/>
            <p:cNvSpPr/>
            <p:nvPr/>
          </p:nvSpPr>
          <p:spPr>
            <a:xfrm>
              <a:off x="624" y="2448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1" name="Oval 121"/>
            <p:cNvSpPr/>
            <p:nvPr/>
          </p:nvSpPr>
          <p:spPr>
            <a:xfrm>
              <a:off x="1488" y="225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42" name="Oval 122"/>
            <p:cNvSpPr/>
            <p:nvPr/>
          </p:nvSpPr>
          <p:spPr>
            <a:xfrm>
              <a:off x="1584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43" name="Line 123"/>
            <p:cNvSpPr/>
            <p:nvPr/>
          </p:nvSpPr>
          <p:spPr>
            <a:xfrm>
              <a:off x="3696" y="225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4" name="Line 124"/>
            <p:cNvSpPr/>
            <p:nvPr/>
          </p:nvSpPr>
          <p:spPr>
            <a:xfrm flipV="1">
              <a:off x="3552" y="225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5" name="Line 125"/>
            <p:cNvSpPr/>
            <p:nvPr/>
          </p:nvSpPr>
          <p:spPr>
            <a:xfrm>
              <a:off x="3552" y="235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6" name="Oval 126"/>
            <p:cNvSpPr/>
            <p:nvPr/>
          </p:nvSpPr>
          <p:spPr>
            <a:xfrm>
              <a:off x="3600" y="2400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47" name="Line 127"/>
            <p:cNvSpPr/>
            <p:nvPr/>
          </p:nvSpPr>
          <p:spPr>
            <a:xfrm>
              <a:off x="3696" y="235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8" name="Line 128"/>
            <p:cNvSpPr/>
            <p:nvPr/>
          </p:nvSpPr>
          <p:spPr>
            <a:xfrm>
              <a:off x="1872" y="2304"/>
              <a:ext cx="17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49" name="Line 129"/>
            <p:cNvSpPr/>
            <p:nvPr/>
          </p:nvSpPr>
          <p:spPr>
            <a:xfrm>
              <a:off x="1968" y="2448"/>
              <a:ext cx="16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0" name="Line 130"/>
            <p:cNvSpPr/>
            <p:nvPr/>
          </p:nvSpPr>
          <p:spPr>
            <a:xfrm>
              <a:off x="4128" y="1488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1" name="Line 131"/>
            <p:cNvSpPr/>
            <p:nvPr/>
          </p:nvSpPr>
          <p:spPr>
            <a:xfrm flipV="1">
              <a:off x="4176" y="1488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2" name="Line 132"/>
            <p:cNvSpPr/>
            <p:nvPr/>
          </p:nvSpPr>
          <p:spPr>
            <a:xfrm>
              <a:off x="4896" y="16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3" name="Line 133"/>
            <p:cNvSpPr/>
            <p:nvPr/>
          </p:nvSpPr>
          <p:spPr>
            <a:xfrm flipV="1">
              <a:off x="4896" y="1728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4" name="Line 134"/>
            <p:cNvSpPr/>
            <p:nvPr/>
          </p:nvSpPr>
          <p:spPr>
            <a:xfrm>
              <a:off x="4896" y="163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5" name="Oval 135"/>
            <p:cNvSpPr/>
            <p:nvPr/>
          </p:nvSpPr>
          <p:spPr>
            <a:xfrm>
              <a:off x="5040" y="1680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56" name="Line 136"/>
            <p:cNvSpPr/>
            <p:nvPr/>
          </p:nvSpPr>
          <p:spPr>
            <a:xfrm>
              <a:off x="4704" y="172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7" name="Line 137"/>
            <p:cNvSpPr/>
            <p:nvPr/>
          </p:nvSpPr>
          <p:spPr>
            <a:xfrm>
              <a:off x="5136" y="1728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8" name="Line 138"/>
            <p:cNvSpPr/>
            <p:nvPr/>
          </p:nvSpPr>
          <p:spPr>
            <a:xfrm>
              <a:off x="4704" y="153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59" name="Line 139"/>
            <p:cNvSpPr/>
            <p:nvPr/>
          </p:nvSpPr>
          <p:spPr>
            <a:xfrm>
              <a:off x="4992" y="15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60" name="Line 140"/>
            <p:cNvSpPr/>
            <p:nvPr/>
          </p:nvSpPr>
          <p:spPr>
            <a:xfrm>
              <a:off x="5184" y="172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661" name="Line 141"/>
            <p:cNvSpPr/>
            <p:nvPr/>
          </p:nvSpPr>
          <p:spPr>
            <a:xfrm flipH="1">
              <a:off x="4704" y="192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7662" name="Oval 142"/>
            <p:cNvSpPr/>
            <p:nvPr/>
          </p:nvSpPr>
          <p:spPr>
            <a:xfrm>
              <a:off x="1824" y="225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63" name="Oval 143"/>
            <p:cNvSpPr/>
            <p:nvPr/>
          </p:nvSpPr>
          <p:spPr>
            <a:xfrm>
              <a:off x="1920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664" name="Line 144"/>
          <p:cNvSpPr/>
          <p:nvPr/>
        </p:nvSpPr>
        <p:spPr>
          <a:xfrm>
            <a:off x="35052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65" name="Line 145"/>
          <p:cNvSpPr/>
          <p:nvPr/>
        </p:nvSpPr>
        <p:spPr>
          <a:xfrm>
            <a:off x="36576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66" name="Line 146"/>
          <p:cNvSpPr/>
          <p:nvPr/>
        </p:nvSpPr>
        <p:spPr>
          <a:xfrm>
            <a:off x="40386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67" name="Line 147"/>
          <p:cNvSpPr/>
          <p:nvPr/>
        </p:nvSpPr>
        <p:spPr>
          <a:xfrm>
            <a:off x="4191000" y="609600"/>
            <a:ext cx="0" cy="609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668" name="Oval 148"/>
          <p:cNvSpPr/>
          <p:nvPr/>
        </p:nvSpPr>
        <p:spPr>
          <a:xfrm>
            <a:off x="4114800" y="64770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7669" name="Group 149"/>
          <p:cNvGrpSpPr/>
          <p:nvPr/>
        </p:nvGrpSpPr>
        <p:grpSpPr>
          <a:xfrm>
            <a:off x="304800" y="4953000"/>
            <a:ext cx="8610600" cy="1600200"/>
            <a:chOff x="192" y="3120"/>
            <a:chExt cx="5424" cy="1008"/>
          </a:xfrm>
        </p:grpSpPr>
        <p:grpSp>
          <p:nvGrpSpPr>
            <p:cNvPr id="107670" name="Group 150"/>
            <p:cNvGrpSpPr/>
            <p:nvPr/>
          </p:nvGrpSpPr>
          <p:grpSpPr>
            <a:xfrm>
              <a:off x="720" y="3216"/>
              <a:ext cx="2736" cy="672"/>
              <a:chOff x="288" y="1920"/>
              <a:chExt cx="3600" cy="672"/>
            </a:xfrm>
          </p:grpSpPr>
          <p:sp>
            <p:nvSpPr>
              <p:cNvPr id="107671" name="Line 151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2" name="Line 152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3" name="Line 153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4" name="Line 154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5" name="Line 155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6" name="Line 156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7" name="Line 157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78" name="Line 158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7679" name="Rectangle 159"/>
            <p:cNvSpPr/>
            <p:nvPr/>
          </p:nvSpPr>
          <p:spPr>
            <a:xfrm>
              <a:off x="4032" y="3168"/>
              <a:ext cx="672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680" name="Text Box 160"/>
            <p:cNvSpPr txBox="1"/>
            <p:nvPr/>
          </p:nvSpPr>
          <p:spPr>
            <a:xfrm>
              <a:off x="4080" y="3446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OLMC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7681" name="Group 161"/>
            <p:cNvGrpSpPr/>
            <p:nvPr/>
          </p:nvGrpSpPr>
          <p:grpSpPr>
            <a:xfrm>
              <a:off x="3600" y="3216"/>
              <a:ext cx="432" cy="672"/>
              <a:chOff x="288" y="1920"/>
              <a:chExt cx="3600" cy="672"/>
            </a:xfrm>
          </p:grpSpPr>
          <p:sp>
            <p:nvSpPr>
              <p:cNvPr id="107682" name="Line 162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3" name="Line 163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4" name="Line 164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5" name="Line 165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6" name="Line 166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7" name="Line 167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8" name="Line 168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689" name="Line 169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07690" name="Group 170"/>
            <p:cNvGrpSpPr/>
            <p:nvPr/>
          </p:nvGrpSpPr>
          <p:grpSpPr>
            <a:xfrm>
              <a:off x="3408" y="3120"/>
              <a:ext cx="240" cy="816"/>
              <a:chOff x="3408" y="336"/>
              <a:chExt cx="240" cy="816"/>
            </a:xfrm>
          </p:grpSpPr>
          <p:sp>
            <p:nvSpPr>
              <p:cNvPr id="107691" name="Rectangle 171"/>
              <p:cNvSpPr/>
              <p:nvPr/>
            </p:nvSpPr>
            <p:spPr>
              <a:xfrm>
                <a:off x="3456" y="38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2" name="Rectangle 172"/>
              <p:cNvSpPr/>
              <p:nvPr/>
            </p:nvSpPr>
            <p:spPr>
              <a:xfrm>
                <a:off x="3456" y="48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3" name="Rectangle 173"/>
              <p:cNvSpPr/>
              <p:nvPr/>
            </p:nvSpPr>
            <p:spPr>
              <a:xfrm>
                <a:off x="3456" y="57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4" name="Rectangle 174"/>
              <p:cNvSpPr/>
              <p:nvPr/>
            </p:nvSpPr>
            <p:spPr>
              <a:xfrm>
                <a:off x="3456" y="672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5" name="Rectangle 175"/>
              <p:cNvSpPr/>
              <p:nvPr/>
            </p:nvSpPr>
            <p:spPr>
              <a:xfrm>
                <a:off x="3456" y="768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6" name="Rectangle 176"/>
              <p:cNvSpPr/>
              <p:nvPr/>
            </p:nvSpPr>
            <p:spPr>
              <a:xfrm>
                <a:off x="3456" y="86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7" name="Rectangle 177"/>
              <p:cNvSpPr/>
              <p:nvPr/>
            </p:nvSpPr>
            <p:spPr>
              <a:xfrm>
                <a:off x="3456" y="96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8" name="Rectangle 178"/>
              <p:cNvSpPr/>
              <p:nvPr/>
            </p:nvSpPr>
            <p:spPr>
              <a:xfrm>
                <a:off x="3456" y="105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699" name="Text Box 179"/>
              <p:cNvSpPr txBox="1"/>
              <p:nvPr/>
            </p:nvSpPr>
            <p:spPr>
              <a:xfrm>
                <a:off x="3408" y="336"/>
                <a:ext cx="24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endPara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7700" name="Line 180"/>
            <p:cNvSpPr/>
            <p:nvPr/>
          </p:nvSpPr>
          <p:spPr>
            <a:xfrm>
              <a:off x="528" y="393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1" name="Line 181"/>
            <p:cNvSpPr/>
            <p:nvPr/>
          </p:nvSpPr>
          <p:spPr>
            <a:xfrm flipV="1">
              <a:off x="528" y="403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2" name="Line 182"/>
            <p:cNvSpPr/>
            <p:nvPr/>
          </p:nvSpPr>
          <p:spPr>
            <a:xfrm>
              <a:off x="528" y="393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3" name="Oval 183"/>
            <p:cNvSpPr/>
            <p:nvPr/>
          </p:nvSpPr>
          <p:spPr>
            <a:xfrm>
              <a:off x="576" y="4080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704" name="Line 184"/>
            <p:cNvSpPr/>
            <p:nvPr/>
          </p:nvSpPr>
          <p:spPr>
            <a:xfrm>
              <a:off x="192" y="403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5" name="Line 185"/>
            <p:cNvSpPr/>
            <p:nvPr/>
          </p:nvSpPr>
          <p:spPr>
            <a:xfrm>
              <a:off x="624" y="398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6" name="Line 186"/>
            <p:cNvSpPr/>
            <p:nvPr/>
          </p:nvSpPr>
          <p:spPr>
            <a:xfrm>
              <a:off x="624" y="4128"/>
              <a:ext cx="1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7" name="Line 187"/>
            <p:cNvSpPr/>
            <p:nvPr/>
          </p:nvSpPr>
          <p:spPr>
            <a:xfrm>
              <a:off x="3696" y="393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8" name="Line 188"/>
            <p:cNvSpPr/>
            <p:nvPr/>
          </p:nvSpPr>
          <p:spPr>
            <a:xfrm flipV="1">
              <a:off x="3552" y="393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09" name="Line 189"/>
            <p:cNvSpPr/>
            <p:nvPr/>
          </p:nvSpPr>
          <p:spPr>
            <a:xfrm>
              <a:off x="3552" y="403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0" name="Oval 190"/>
            <p:cNvSpPr/>
            <p:nvPr/>
          </p:nvSpPr>
          <p:spPr>
            <a:xfrm>
              <a:off x="3600" y="4080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711" name="Line 191"/>
            <p:cNvSpPr/>
            <p:nvPr/>
          </p:nvSpPr>
          <p:spPr>
            <a:xfrm>
              <a:off x="3696" y="403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2" name="Line 192"/>
            <p:cNvSpPr/>
            <p:nvPr/>
          </p:nvSpPr>
          <p:spPr>
            <a:xfrm>
              <a:off x="2544" y="3984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3" name="Line 193"/>
            <p:cNvSpPr/>
            <p:nvPr/>
          </p:nvSpPr>
          <p:spPr>
            <a:xfrm>
              <a:off x="2640" y="4128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4" name="Line 194"/>
            <p:cNvSpPr/>
            <p:nvPr/>
          </p:nvSpPr>
          <p:spPr>
            <a:xfrm>
              <a:off x="4128" y="3168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5" name="Line 195"/>
            <p:cNvSpPr/>
            <p:nvPr/>
          </p:nvSpPr>
          <p:spPr>
            <a:xfrm flipV="1">
              <a:off x="4176" y="3168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6" name="Line 196"/>
            <p:cNvSpPr/>
            <p:nvPr/>
          </p:nvSpPr>
          <p:spPr>
            <a:xfrm>
              <a:off x="4896" y="331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7" name="Line 197"/>
            <p:cNvSpPr/>
            <p:nvPr/>
          </p:nvSpPr>
          <p:spPr>
            <a:xfrm flipV="1">
              <a:off x="4896" y="3408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8" name="Line 198"/>
            <p:cNvSpPr/>
            <p:nvPr/>
          </p:nvSpPr>
          <p:spPr>
            <a:xfrm>
              <a:off x="4896" y="331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19" name="Oval 199"/>
            <p:cNvSpPr/>
            <p:nvPr/>
          </p:nvSpPr>
          <p:spPr>
            <a:xfrm>
              <a:off x="5040" y="3360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720" name="Line 200"/>
            <p:cNvSpPr/>
            <p:nvPr/>
          </p:nvSpPr>
          <p:spPr>
            <a:xfrm>
              <a:off x="4704" y="340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21" name="Line 201"/>
            <p:cNvSpPr/>
            <p:nvPr/>
          </p:nvSpPr>
          <p:spPr>
            <a:xfrm>
              <a:off x="5136" y="3408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22" name="Line 202"/>
            <p:cNvSpPr/>
            <p:nvPr/>
          </p:nvSpPr>
          <p:spPr>
            <a:xfrm>
              <a:off x="4704" y="321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23" name="Line 203"/>
            <p:cNvSpPr/>
            <p:nvPr/>
          </p:nvSpPr>
          <p:spPr>
            <a:xfrm>
              <a:off x="4992" y="32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24" name="Line 204"/>
            <p:cNvSpPr/>
            <p:nvPr/>
          </p:nvSpPr>
          <p:spPr>
            <a:xfrm>
              <a:off x="5184" y="340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725" name="Line 205"/>
            <p:cNvSpPr/>
            <p:nvPr/>
          </p:nvSpPr>
          <p:spPr>
            <a:xfrm flipH="1">
              <a:off x="4704" y="360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7726" name="Oval 206"/>
            <p:cNvSpPr/>
            <p:nvPr/>
          </p:nvSpPr>
          <p:spPr>
            <a:xfrm>
              <a:off x="2496" y="393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727" name="Oval 207"/>
            <p:cNvSpPr/>
            <p:nvPr/>
          </p:nvSpPr>
          <p:spPr>
            <a:xfrm>
              <a:off x="2160" y="393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7728" name="Oval 208"/>
          <p:cNvSpPr/>
          <p:nvPr/>
        </p:nvSpPr>
        <p:spPr>
          <a:xfrm>
            <a:off x="3581400" y="64770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729" name="Line 209"/>
          <p:cNvSpPr/>
          <p:nvPr/>
        </p:nvSpPr>
        <p:spPr>
          <a:xfrm>
            <a:off x="8534400" y="9906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730" name="Oval 210"/>
          <p:cNvSpPr/>
          <p:nvPr/>
        </p:nvSpPr>
        <p:spPr>
          <a:xfrm>
            <a:off x="8458200" y="914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731" name="Line 211"/>
          <p:cNvSpPr/>
          <p:nvPr/>
        </p:nvSpPr>
        <p:spPr>
          <a:xfrm flipH="1" flipV="1">
            <a:off x="7620000" y="43434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732" name="Line 212"/>
          <p:cNvSpPr/>
          <p:nvPr/>
        </p:nvSpPr>
        <p:spPr>
          <a:xfrm>
            <a:off x="8686800" y="2743200"/>
            <a:ext cx="0" cy="1600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733" name="Oval 213"/>
          <p:cNvSpPr/>
          <p:nvPr/>
        </p:nvSpPr>
        <p:spPr>
          <a:xfrm>
            <a:off x="8610600" y="26670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734" name="Line 214"/>
          <p:cNvSpPr/>
          <p:nvPr/>
        </p:nvSpPr>
        <p:spPr>
          <a:xfrm flipH="1" flipV="1">
            <a:off x="7467600" y="5943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7735" name="Line 215"/>
          <p:cNvSpPr/>
          <p:nvPr/>
        </p:nvSpPr>
        <p:spPr>
          <a:xfrm>
            <a:off x="8534400" y="4648200"/>
            <a:ext cx="0" cy="129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736" name="Text Box 216"/>
          <p:cNvSpPr txBox="1"/>
          <p:nvPr/>
        </p:nvSpPr>
        <p:spPr>
          <a:xfrm>
            <a:off x="838200" y="4114800"/>
            <a:ext cx="304800" cy="730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737" name="Text Box 217"/>
          <p:cNvSpPr txBox="1"/>
          <p:nvPr/>
        </p:nvSpPr>
        <p:spPr>
          <a:xfrm>
            <a:off x="6781800" y="4038600"/>
            <a:ext cx="304800" cy="730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738" name="Line 218"/>
          <p:cNvSpPr/>
          <p:nvPr/>
        </p:nvSpPr>
        <p:spPr>
          <a:xfrm>
            <a:off x="6629400" y="21336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739" name="Line 219"/>
          <p:cNvSpPr/>
          <p:nvPr/>
        </p:nvSpPr>
        <p:spPr>
          <a:xfrm>
            <a:off x="6629400" y="4876800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2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器件的基本逻辑结构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GAL16V8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为例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最多输入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个，输出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个输出逻辑宏单元（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output logic macro cell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9570" name="Picture 2" descr="Lj6_45_Gray"/>
          <p:cNvPicPr>
            <a:picLocks noChangeAspect="1"/>
          </p:cNvPicPr>
          <p:nvPr/>
        </p:nvPicPr>
        <p:blipFill>
          <a:blip r:embed="rId1"/>
          <a:srcRect l="12608" r="12886" b="19818"/>
          <a:stretch>
            <a:fillRect/>
          </a:stretch>
        </p:blipFill>
        <p:spPr>
          <a:xfrm>
            <a:off x="341313" y="0"/>
            <a:ext cx="48958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3603" name="Text Box 3"/>
          <p:cNvSpPr txBox="1">
            <a:spLocks noChangeArrowheads="1"/>
          </p:cNvSpPr>
          <p:nvPr/>
        </p:nvSpPr>
        <p:spPr bwMode="auto">
          <a:xfrm>
            <a:off x="5562600" y="188913"/>
            <a:ext cx="3151188" cy="4291013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典型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GAL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器件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器件型号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:GAL16V8 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 16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个输入变量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其中右侧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个在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OLMC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控制下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可以配置为输入或输出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. 8*8=64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行为可编程的与阵列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对应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64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个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项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不可编程的或阵列在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OLMC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内部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3604" name="Text Box 4"/>
          <p:cNvSpPr txBox="1">
            <a:spLocks noChangeArrowheads="1"/>
          </p:cNvSpPr>
          <p:nvPr/>
        </p:nvSpPr>
        <p:spPr bwMode="auto">
          <a:xfrm>
            <a:off x="5562600" y="4689475"/>
            <a:ext cx="3357563" cy="1552575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常用的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GAL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器件：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GAL16V8(20Pin)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GAL20V8(24Pin)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4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输出逻辑宏单元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(OLMC)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0596" name="Group 4"/>
          <p:cNvGrpSpPr/>
          <p:nvPr/>
        </p:nvGrpSpPr>
        <p:grpSpPr>
          <a:xfrm>
            <a:off x="228600" y="2895600"/>
            <a:ext cx="8915400" cy="3429000"/>
            <a:chOff x="144" y="1824"/>
            <a:chExt cx="5616" cy="2160"/>
          </a:xfrm>
        </p:grpSpPr>
        <p:sp>
          <p:nvSpPr>
            <p:cNvPr id="110597" name="Rectangle 5"/>
            <p:cNvSpPr/>
            <p:nvPr/>
          </p:nvSpPr>
          <p:spPr>
            <a:xfrm>
              <a:off x="4080" y="2112"/>
              <a:ext cx="672" cy="96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0598" name="Group 6"/>
            <p:cNvGrpSpPr/>
            <p:nvPr/>
          </p:nvGrpSpPr>
          <p:grpSpPr>
            <a:xfrm>
              <a:off x="768" y="2160"/>
              <a:ext cx="2736" cy="672"/>
              <a:chOff x="288" y="1920"/>
              <a:chExt cx="3600" cy="672"/>
            </a:xfrm>
          </p:grpSpPr>
          <p:sp>
            <p:nvSpPr>
              <p:cNvPr id="110599" name="Line 7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0" name="Line 8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1" name="Line 9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2" name="Line 10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3" name="Line 11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4" name="Line 12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5" name="Line 13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06" name="Line 14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0607" name="Text Box 15"/>
            <p:cNvSpPr txBox="1"/>
            <p:nvPr/>
          </p:nvSpPr>
          <p:spPr>
            <a:xfrm>
              <a:off x="4128" y="2390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OLMC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0608" name="Group 16"/>
            <p:cNvGrpSpPr/>
            <p:nvPr/>
          </p:nvGrpSpPr>
          <p:grpSpPr>
            <a:xfrm>
              <a:off x="3648" y="2160"/>
              <a:ext cx="432" cy="672"/>
              <a:chOff x="288" y="1920"/>
              <a:chExt cx="3600" cy="672"/>
            </a:xfrm>
          </p:grpSpPr>
          <p:sp>
            <p:nvSpPr>
              <p:cNvPr id="110609" name="Line 17"/>
              <p:cNvSpPr/>
              <p:nvPr/>
            </p:nvSpPr>
            <p:spPr>
              <a:xfrm>
                <a:off x="288" y="192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0" name="Line 18"/>
              <p:cNvSpPr/>
              <p:nvPr/>
            </p:nvSpPr>
            <p:spPr>
              <a:xfrm>
                <a:off x="288" y="2304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1" name="Line 19"/>
              <p:cNvSpPr/>
              <p:nvPr/>
            </p:nvSpPr>
            <p:spPr>
              <a:xfrm>
                <a:off x="288" y="201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2" name="Line 20"/>
              <p:cNvSpPr/>
              <p:nvPr/>
            </p:nvSpPr>
            <p:spPr>
              <a:xfrm>
                <a:off x="288" y="2496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3" name="Line 21"/>
              <p:cNvSpPr/>
              <p:nvPr/>
            </p:nvSpPr>
            <p:spPr>
              <a:xfrm>
                <a:off x="288" y="2400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4" name="Line 22"/>
              <p:cNvSpPr/>
              <p:nvPr/>
            </p:nvSpPr>
            <p:spPr>
              <a:xfrm>
                <a:off x="288" y="211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5" name="Line 23"/>
              <p:cNvSpPr/>
              <p:nvPr/>
            </p:nvSpPr>
            <p:spPr>
              <a:xfrm>
                <a:off x="288" y="2208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16" name="Line 24"/>
              <p:cNvSpPr/>
              <p:nvPr/>
            </p:nvSpPr>
            <p:spPr>
              <a:xfrm>
                <a:off x="288" y="2592"/>
                <a:ext cx="36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0617" name="Group 25"/>
            <p:cNvGrpSpPr/>
            <p:nvPr/>
          </p:nvGrpSpPr>
          <p:grpSpPr>
            <a:xfrm>
              <a:off x="3456" y="2064"/>
              <a:ext cx="240" cy="816"/>
              <a:chOff x="3408" y="336"/>
              <a:chExt cx="240" cy="816"/>
            </a:xfrm>
          </p:grpSpPr>
          <p:sp>
            <p:nvSpPr>
              <p:cNvPr id="110618" name="Rectangle 26"/>
              <p:cNvSpPr/>
              <p:nvPr/>
            </p:nvSpPr>
            <p:spPr>
              <a:xfrm>
                <a:off x="3456" y="38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9" name="Rectangle 27"/>
              <p:cNvSpPr/>
              <p:nvPr/>
            </p:nvSpPr>
            <p:spPr>
              <a:xfrm>
                <a:off x="3456" y="48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0" name="Rectangle 28"/>
              <p:cNvSpPr/>
              <p:nvPr/>
            </p:nvSpPr>
            <p:spPr>
              <a:xfrm>
                <a:off x="3456" y="57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1" name="Rectangle 29"/>
              <p:cNvSpPr/>
              <p:nvPr/>
            </p:nvSpPr>
            <p:spPr>
              <a:xfrm>
                <a:off x="3456" y="672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2" name="Rectangle 30"/>
              <p:cNvSpPr/>
              <p:nvPr/>
            </p:nvSpPr>
            <p:spPr>
              <a:xfrm>
                <a:off x="3456" y="768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3" name="Rectangle 31"/>
              <p:cNvSpPr/>
              <p:nvPr/>
            </p:nvSpPr>
            <p:spPr>
              <a:xfrm>
                <a:off x="3456" y="864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4" name="Rectangle 32"/>
              <p:cNvSpPr/>
              <p:nvPr/>
            </p:nvSpPr>
            <p:spPr>
              <a:xfrm>
                <a:off x="3456" y="960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5" name="Rectangle 33"/>
              <p:cNvSpPr/>
              <p:nvPr/>
            </p:nvSpPr>
            <p:spPr>
              <a:xfrm>
                <a:off x="3456" y="1056"/>
                <a:ext cx="144" cy="9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6" name="Text Box 34"/>
              <p:cNvSpPr txBox="1"/>
              <p:nvPr/>
            </p:nvSpPr>
            <p:spPr>
              <a:xfrm>
                <a:off x="3408" y="336"/>
                <a:ext cx="24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endPara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0627" name="Group 35"/>
            <p:cNvGrpSpPr/>
            <p:nvPr/>
          </p:nvGrpSpPr>
          <p:grpSpPr>
            <a:xfrm>
              <a:off x="240" y="2880"/>
              <a:ext cx="768" cy="192"/>
              <a:chOff x="624" y="2736"/>
              <a:chExt cx="768" cy="192"/>
            </a:xfrm>
          </p:grpSpPr>
          <p:sp>
            <p:nvSpPr>
              <p:cNvPr id="110628" name="Line 36"/>
              <p:cNvSpPr/>
              <p:nvPr/>
            </p:nvSpPr>
            <p:spPr>
              <a:xfrm>
                <a:off x="960" y="273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29" name="Line 37"/>
              <p:cNvSpPr/>
              <p:nvPr/>
            </p:nvSpPr>
            <p:spPr>
              <a:xfrm flipV="1">
                <a:off x="960" y="2832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30" name="Line 38"/>
              <p:cNvSpPr/>
              <p:nvPr/>
            </p:nvSpPr>
            <p:spPr>
              <a:xfrm>
                <a:off x="960" y="2736"/>
                <a:ext cx="144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31" name="Oval 39"/>
              <p:cNvSpPr/>
              <p:nvPr/>
            </p:nvSpPr>
            <p:spPr>
              <a:xfrm>
                <a:off x="1008" y="2880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32" name="Line 40"/>
              <p:cNvSpPr/>
              <p:nvPr/>
            </p:nvSpPr>
            <p:spPr>
              <a:xfrm>
                <a:off x="624" y="2832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33" name="Line 41"/>
              <p:cNvSpPr/>
              <p:nvPr/>
            </p:nvSpPr>
            <p:spPr>
              <a:xfrm>
                <a:off x="1056" y="2784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0634" name="Line 42"/>
              <p:cNvSpPr/>
              <p:nvPr/>
            </p:nvSpPr>
            <p:spPr>
              <a:xfrm>
                <a:off x="1056" y="2928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0635" name="Oval 43"/>
            <p:cNvSpPr/>
            <p:nvPr/>
          </p:nvSpPr>
          <p:spPr>
            <a:xfrm>
              <a:off x="864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36" name="Oval 44"/>
            <p:cNvSpPr/>
            <p:nvPr/>
          </p:nvSpPr>
          <p:spPr>
            <a:xfrm>
              <a:off x="960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37" name="Line 45"/>
            <p:cNvSpPr/>
            <p:nvPr/>
          </p:nvSpPr>
          <p:spPr>
            <a:xfrm>
              <a:off x="3744" y="288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38" name="Line 46"/>
            <p:cNvSpPr/>
            <p:nvPr/>
          </p:nvSpPr>
          <p:spPr>
            <a:xfrm flipV="1">
              <a:off x="3600" y="2880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39" name="Line 47"/>
            <p:cNvSpPr/>
            <p:nvPr/>
          </p:nvSpPr>
          <p:spPr>
            <a:xfrm>
              <a:off x="3600" y="297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0" name="Oval 48"/>
            <p:cNvSpPr/>
            <p:nvPr/>
          </p:nvSpPr>
          <p:spPr>
            <a:xfrm>
              <a:off x="3648" y="3024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41" name="Line 49"/>
            <p:cNvSpPr/>
            <p:nvPr/>
          </p:nvSpPr>
          <p:spPr>
            <a:xfrm>
              <a:off x="3744" y="297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2" name="Line 50"/>
            <p:cNvSpPr/>
            <p:nvPr/>
          </p:nvSpPr>
          <p:spPr>
            <a:xfrm>
              <a:off x="1248" y="2928"/>
              <a:ext cx="24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3" name="Line 51"/>
            <p:cNvSpPr/>
            <p:nvPr/>
          </p:nvSpPr>
          <p:spPr>
            <a:xfrm>
              <a:off x="1344" y="3072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4" name="Oval 52"/>
            <p:cNvSpPr/>
            <p:nvPr/>
          </p:nvSpPr>
          <p:spPr>
            <a:xfrm>
              <a:off x="1200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45" name="Oval 53"/>
            <p:cNvSpPr/>
            <p:nvPr/>
          </p:nvSpPr>
          <p:spPr>
            <a:xfrm>
              <a:off x="1296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46" name="Line 54"/>
            <p:cNvSpPr/>
            <p:nvPr/>
          </p:nvSpPr>
          <p:spPr>
            <a:xfrm>
              <a:off x="4176" y="2112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7" name="Line 55"/>
            <p:cNvSpPr/>
            <p:nvPr/>
          </p:nvSpPr>
          <p:spPr>
            <a:xfrm flipV="1">
              <a:off x="4224" y="2112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8" name="Line 56"/>
            <p:cNvSpPr/>
            <p:nvPr/>
          </p:nvSpPr>
          <p:spPr>
            <a:xfrm>
              <a:off x="4944" y="225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49" name="Line 57"/>
            <p:cNvSpPr/>
            <p:nvPr/>
          </p:nvSpPr>
          <p:spPr>
            <a:xfrm flipV="1">
              <a:off x="4944" y="235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0" name="Line 58"/>
            <p:cNvSpPr/>
            <p:nvPr/>
          </p:nvSpPr>
          <p:spPr>
            <a:xfrm>
              <a:off x="4944" y="225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1" name="Oval 59"/>
            <p:cNvSpPr/>
            <p:nvPr/>
          </p:nvSpPr>
          <p:spPr>
            <a:xfrm>
              <a:off x="5088" y="230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52" name="Line 60"/>
            <p:cNvSpPr/>
            <p:nvPr/>
          </p:nvSpPr>
          <p:spPr>
            <a:xfrm>
              <a:off x="4752" y="23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3" name="Line 61"/>
            <p:cNvSpPr/>
            <p:nvPr/>
          </p:nvSpPr>
          <p:spPr>
            <a:xfrm>
              <a:off x="5184" y="2352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4" name="Line 62"/>
            <p:cNvSpPr/>
            <p:nvPr/>
          </p:nvSpPr>
          <p:spPr>
            <a:xfrm>
              <a:off x="4752" y="216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5" name="Line 63"/>
            <p:cNvSpPr/>
            <p:nvPr/>
          </p:nvSpPr>
          <p:spPr>
            <a:xfrm>
              <a:off x="5040" y="216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6" name="Line 64"/>
            <p:cNvSpPr/>
            <p:nvPr/>
          </p:nvSpPr>
          <p:spPr>
            <a:xfrm>
              <a:off x="5232" y="235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7" name="Line 65"/>
            <p:cNvSpPr/>
            <p:nvPr/>
          </p:nvSpPr>
          <p:spPr>
            <a:xfrm flipH="1">
              <a:off x="4752" y="254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0658" name="Line 66"/>
            <p:cNvSpPr/>
            <p:nvPr/>
          </p:nvSpPr>
          <p:spPr>
            <a:xfrm>
              <a:off x="624" y="18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59" name="Line 67"/>
            <p:cNvSpPr/>
            <p:nvPr/>
          </p:nvSpPr>
          <p:spPr>
            <a:xfrm flipV="1">
              <a:off x="624" y="1920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0" name="Line 68"/>
            <p:cNvSpPr/>
            <p:nvPr/>
          </p:nvSpPr>
          <p:spPr>
            <a:xfrm>
              <a:off x="624" y="1824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1" name="Line 69"/>
            <p:cNvSpPr/>
            <p:nvPr/>
          </p:nvSpPr>
          <p:spPr>
            <a:xfrm>
              <a:off x="288" y="192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2" name="Line 70"/>
            <p:cNvSpPr/>
            <p:nvPr/>
          </p:nvSpPr>
          <p:spPr>
            <a:xfrm>
              <a:off x="768" y="1920"/>
              <a:ext cx="3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3" name="Line 71"/>
            <p:cNvSpPr/>
            <p:nvPr/>
          </p:nvSpPr>
          <p:spPr>
            <a:xfrm>
              <a:off x="4224" y="192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4" name="Line 72"/>
            <p:cNvSpPr/>
            <p:nvPr/>
          </p:nvSpPr>
          <p:spPr>
            <a:xfrm>
              <a:off x="4224" y="192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5" name="Line 73"/>
            <p:cNvSpPr/>
            <p:nvPr/>
          </p:nvSpPr>
          <p:spPr>
            <a:xfrm>
              <a:off x="5328" y="1920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6" name="Line 74"/>
            <p:cNvSpPr/>
            <p:nvPr/>
          </p:nvSpPr>
          <p:spPr>
            <a:xfrm flipH="1" flipV="1">
              <a:off x="4752" y="268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0667" name="Oval 75"/>
            <p:cNvSpPr/>
            <p:nvPr/>
          </p:nvSpPr>
          <p:spPr>
            <a:xfrm>
              <a:off x="417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68" name="Line 76"/>
            <p:cNvSpPr/>
            <p:nvPr/>
          </p:nvSpPr>
          <p:spPr>
            <a:xfrm>
              <a:off x="5040" y="321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69" name="Line 77"/>
            <p:cNvSpPr/>
            <p:nvPr/>
          </p:nvSpPr>
          <p:spPr>
            <a:xfrm flipV="1">
              <a:off x="4896" y="3216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0" name="Line 78"/>
            <p:cNvSpPr/>
            <p:nvPr/>
          </p:nvSpPr>
          <p:spPr>
            <a:xfrm>
              <a:off x="4896" y="3312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1" name="Oval 79"/>
            <p:cNvSpPr/>
            <p:nvPr/>
          </p:nvSpPr>
          <p:spPr>
            <a:xfrm>
              <a:off x="4800" y="3264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72" name="Line 80"/>
            <p:cNvSpPr/>
            <p:nvPr/>
          </p:nvSpPr>
          <p:spPr>
            <a:xfrm>
              <a:off x="5040" y="331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3" name="Line 81"/>
            <p:cNvSpPr/>
            <p:nvPr/>
          </p:nvSpPr>
          <p:spPr>
            <a:xfrm>
              <a:off x="4752" y="297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4" name="Line 82"/>
            <p:cNvSpPr/>
            <p:nvPr/>
          </p:nvSpPr>
          <p:spPr>
            <a:xfrm>
              <a:off x="5184" y="297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5" name="Line 83"/>
            <p:cNvSpPr/>
            <p:nvPr/>
          </p:nvSpPr>
          <p:spPr>
            <a:xfrm>
              <a:off x="912" y="2016"/>
              <a:ext cx="0" cy="19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6" name="Line 84"/>
            <p:cNvSpPr/>
            <p:nvPr/>
          </p:nvSpPr>
          <p:spPr>
            <a:xfrm>
              <a:off x="1008" y="2016"/>
              <a:ext cx="0" cy="19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7" name="Line 85"/>
            <p:cNvSpPr/>
            <p:nvPr/>
          </p:nvSpPr>
          <p:spPr>
            <a:xfrm>
              <a:off x="1248" y="2016"/>
              <a:ext cx="0" cy="19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8" name="Line 86"/>
            <p:cNvSpPr/>
            <p:nvPr/>
          </p:nvSpPr>
          <p:spPr>
            <a:xfrm>
              <a:off x="1344" y="2016"/>
              <a:ext cx="0" cy="19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79" name="Line 87"/>
            <p:cNvSpPr/>
            <p:nvPr/>
          </p:nvSpPr>
          <p:spPr>
            <a:xfrm flipH="1">
              <a:off x="4512" y="331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80" name="Line 88"/>
            <p:cNvSpPr/>
            <p:nvPr/>
          </p:nvSpPr>
          <p:spPr>
            <a:xfrm flipV="1">
              <a:off x="4512" y="307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81" name="Oval 89"/>
            <p:cNvSpPr/>
            <p:nvPr/>
          </p:nvSpPr>
          <p:spPr>
            <a:xfrm>
              <a:off x="5136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82" name="Text Box 90"/>
            <p:cNvSpPr txBox="1"/>
            <p:nvPr/>
          </p:nvSpPr>
          <p:spPr>
            <a:xfrm>
              <a:off x="144" y="297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83" name="Text Box 91"/>
            <p:cNvSpPr txBox="1"/>
            <p:nvPr/>
          </p:nvSpPr>
          <p:spPr>
            <a:xfrm>
              <a:off x="144" y="187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CK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84" name="Text Box 92"/>
            <p:cNvSpPr txBox="1"/>
            <p:nvPr/>
          </p:nvSpPr>
          <p:spPr>
            <a:xfrm>
              <a:off x="5184" y="297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85" name="Text Box 93"/>
            <p:cNvSpPr txBox="1"/>
            <p:nvPr/>
          </p:nvSpPr>
          <p:spPr>
            <a:xfrm>
              <a:off x="5376" y="20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565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153400" cy="5187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输出逻辑宏单元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(OLMC)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需要支持的功能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全局控制（所有宏单元统一控制）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支持输出三态的选择控制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95652" name="Rectangle 4"/>
          <p:cNvSpPr>
            <a:spLocks noChangeArrowheads="1"/>
          </p:cNvSpPr>
          <p:nvPr/>
        </p:nvSpPr>
        <p:spPr bwMode="auto">
          <a:xfrm>
            <a:off x="533400" y="2667000"/>
            <a:ext cx="8001000" cy="3962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局部控制（单个宏单元内部控制）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单个输出设置为三态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设置为输入或输出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支持与或表达式为原函数或反函数（极性控制）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支持选择组合逻辑或时序逻辑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支持选择反馈连接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时序逻辑选择触发器的反馈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组合逻辑选择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内的反馈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支持相邻的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反馈的接入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5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2" name="Rectangle 2"/>
          <p:cNvSpPr/>
          <p:nvPr/>
        </p:nvSpPr>
        <p:spPr>
          <a:xfrm>
            <a:off x="6400800" y="1828800"/>
            <a:ext cx="304800" cy="6096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3" name="Text Box 3"/>
          <p:cNvSpPr txBox="1"/>
          <p:nvPr/>
        </p:nvSpPr>
        <p:spPr>
          <a:xfrm>
            <a:off x="6400800" y="19050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4" name="Rectangle 4"/>
          <p:cNvSpPr/>
          <p:nvPr/>
        </p:nvSpPr>
        <p:spPr>
          <a:xfrm>
            <a:off x="1828800" y="2349500"/>
            <a:ext cx="914400" cy="1219200"/>
          </a:xfrm>
          <a:prstGeom prst="rect">
            <a:avLst/>
          </a:prstGeom>
          <a:solidFill>
            <a:srgbClr val="FF00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5" name="Rectangle 5"/>
          <p:cNvSpPr/>
          <p:nvPr/>
        </p:nvSpPr>
        <p:spPr>
          <a:xfrm>
            <a:off x="5334000" y="533400"/>
            <a:ext cx="914400" cy="1219200"/>
          </a:xfrm>
          <a:prstGeom prst="rect">
            <a:avLst/>
          </a:prstGeom>
          <a:solidFill>
            <a:srgbClr val="FF00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6" name="Rectangle 6"/>
          <p:cNvSpPr/>
          <p:nvPr/>
        </p:nvSpPr>
        <p:spPr>
          <a:xfrm>
            <a:off x="5105400" y="3581400"/>
            <a:ext cx="762000" cy="838200"/>
          </a:xfrm>
          <a:prstGeom prst="rect">
            <a:avLst/>
          </a:prstGeom>
          <a:solidFill>
            <a:srgbClr val="00FF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7" name="Rectangle 7"/>
          <p:cNvSpPr/>
          <p:nvPr/>
        </p:nvSpPr>
        <p:spPr>
          <a:xfrm>
            <a:off x="3048000" y="3352800"/>
            <a:ext cx="609600" cy="16764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8" name="Rectangle 8"/>
          <p:cNvSpPr/>
          <p:nvPr/>
        </p:nvSpPr>
        <p:spPr>
          <a:xfrm>
            <a:off x="4114800" y="3962400"/>
            <a:ext cx="304800" cy="6096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9" name="Text Box 9"/>
          <p:cNvSpPr txBox="1"/>
          <p:nvPr/>
        </p:nvSpPr>
        <p:spPr>
          <a:xfrm>
            <a:off x="2362200" y="2425700"/>
            <a:ext cx="304800" cy="1155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0" name="Text Box 10"/>
          <p:cNvSpPr txBox="1"/>
          <p:nvPr/>
        </p:nvSpPr>
        <p:spPr>
          <a:xfrm>
            <a:off x="1828800" y="2686050"/>
            <a:ext cx="304800" cy="730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1" name="Text Box 11"/>
          <p:cNvSpPr txBox="1"/>
          <p:nvPr/>
        </p:nvSpPr>
        <p:spPr>
          <a:xfrm>
            <a:off x="5867400" y="596900"/>
            <a:ext cx="304800" cy="1155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2" name="Text Box 12"/>
          <p:cNvSpPr txBox="1"/>
          <p:nvPr/>
        </p:nvSpPr>
        <p:spPr>
          <a:xfrm>
            <a:off x="5334000" y="533400"/>
            <a:ext cx="457200" cy="1190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3" name="Rectangle 13"/>
          <p:cNvSpPr/>
          <p:nvPr/>
        </p:nvSpPr>
        <p:spPr>
          <a:xfrm>
            <a:off x="6781800" y="2743200"/>
            <a:ext cx="914400" cy="1219200"/>
          </a:xfrm>
          <a:prstGeom prst="rect">
            <a:avLst/>
          </a:prstGeom>
          <a:solidFill>
            <a:srgbClr val="FF00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4" name="Text Box 14"/>
          <p:cNvSpPr txBox="1"/>
          <p:nvPr/>
        </p:nvSpPr>
        <p:spPr>
          <a:xfrm>
            <a:off x="7315200" y="2867025"/>
            <a:ext cx="304800" cy="94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5" name="Text Box 15"/>
          <p:cNvSpPr txBox="1"/>
          <p:nvPr/>
        </p:nvSpPr>
        <p:spPr>
          <a:xfrm>
            <a:off x="6781800" y="3079750"/>
            <a:ext cx="304800" cy="730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6" name="Rectangle 16"/>
          <p:cNvSpPr/>
          <p:nvPr/>
        </p:nvSpPr>
        <p:spPr>
          <a:xfrm>
            <a:off x="5105400" y="4648200"/>
            <a:ext cx="914400" cy="1219200"/>
          </a:xfrm>
          <a:prstGeom prst="rect">
            <a:avLst/>
          </a:prstGeom>
          <a:solidFill>
            <a:srgbClr val="FF00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7" name="Text Box 17"/>
          <p:cNvSpPr txBox="1"/>
          <p:nvPr/>
        </p:nvSpPr>
        <p:spPr>
          <a:xfrm>
            <a:off x="5105400" y="4784725"/>
            <a:ext cx="304800" cy="94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8" name="Text Box 18"/>
          <p:cNvSpPr txBox="1"/>
          <p:nvPr/>
        </p:nvSpPr>
        <p:spPr>
          <a:xfrm>
            <a:off x="5486400" y="4813300"/>
            <a:ext cx="609600" cy="94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10x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11x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0x1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0x0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59" name="Text Box 19"/>
          <p:cNvSpPr txBox="1"/>
          <p:nvPr/>
        </p:nvSpPr>
        <p:spPr>
          <a:xfrm>
            <a:off x="3200400" y="3886200"/>
            <a:ext cx="381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60" name="Rectangle 20"/>
          <p:cNvSpPr/>
          <p:nvPr/>
        </p:nvSpPr>
        <p:spPr>
          <a:xfrm>
            <a:off x="4038600" y="3976688"/>
            <a:ext cx="381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2661" name="Rectangle 21"/>
          <p:cNvSpPr/>
          <p:nvPr/>
        </p:nvSpPr>
        <p:spPr>
          <a:xfrm>
            <a:off x="3962400" y="1828800"/>
            <a:ext cx="304800" cy="6096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62" name="Line 22"/>
          <p:cNvSpPr/>
          <p:nvPr/>
        </p:nvSpPr>
        <p:spPr>
          <a:xfrm>
            <a:off x="8077200" y="32004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3" name="Line 23"/>
          <p:cNvSpPr/>
          <p:nvPr/>
        </p:nvSpPr>
        <p:spPr>
          <a:xfrm flipV="1">
            <a:off x="8077200" y="3352800"/>
            <a:ext cx="228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4" name="Line 24"/>
          <p:cNvSpPr/>
          <p:nvPr/>
        </p:nvSpPr>
        <p:spPr>
          <a:xfrm>
            <a:off x="8077200" y="3200400"/>
            <a:ext cx="228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5" name="Oval 25"/>
          <p:cNvSpPr/>
          <p:nvPr/>
        </p:nvSpPr>
        <p:spPr>
          <a:xfrm>
            <a:off x="8305800" y="32766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66" name="Line 26"/>
          <p:cNvSpPr/>
          <p:nvPr/>
        </p:nvSpPr>
        <p:spPr>
          <a:xfrm flipH="1">
            <a:off x="7696200" y="33528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7" name="Line 27"/>
          <p:cNvSpPr/>
          <p:nvPr/>
        </p:nvSpPr>
        <p:spPr>
          <a:xfrm flipH="1">
            <a:off x="8458200" y="33528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8" name="Oval 28"/>
          <p:cNvSpPr/>
          <p:nvPr/>
        </p:nvSpPr>
        <p:spPr>
          <a:xfrm>
            <a:off x="3810000" y="20574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69" name="Line 29"/>
          <p:cNvSpPr/>
          <p:nvPr/>
        </p:nvSpPr>
        <p:spPr>
          <a:xfrm flipH="1">
            <a:off x="2286000" y="21336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0" name="Line 30"/>
          <p:cNvSpPr/>
          <p:nvPr/>
        </p:nvSpPr>
        <p:spPr>
          <a:xfrm>
            <a:off x="2286000" y="21336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1" name="Oval 31"/>
          <p:cNvSpPr/>
          <p:nvPr/>
        </p:nvSpPr>
        <p:spPr>
          <a:xfrm>
            <a:off x="6705600" y="20574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2" name="Line 32"/>
          <p:cNvSpPr/>
          <p:nvPr/>
        </p:nvSpPr>
        <p:spPr>
          <a:xfrm>
            <a:off x="4267200" y="20574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3" name="Line 33"/>
          <p:cNvSpPr/>
          <p:nvPr/>
        </p:nvSpPr>
        <p:spPr>
          <a:xfrm>
            <a:off x="4267200" y="2286000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4" name="Line 34"/>
          <p:cNvSpPr/>
          <p:nvPr/>
        </p:nvSpPr>
        <p:spPr>
          <a:xfrm>
            <a:off x="5562600" y="1752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5" name="Line 35"/>
          <p:cNvSpPr/>
          <p:nvPr/>
        </p:nvSpPr>
        <p:spPr>
          <a:xfrm>
            <a:off x="6019800" y="17526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6" name="Oval 36"/>
          <p:cNvSpPr/>
          <p:nvPr/>
        </p:nvSpPr>
        <p:spPr>
          <a:xfrm>
            <a:off x="5943600" y="2209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7" name="Oval 37"/>
          <p:cNvSpPr/>
          <p:nvPr/>
        </p:nvSpPr>
        <p:spPr>
          <a:xfrm>
            <a:off x="5486400" y="1981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8" name="Line 38"/>
          <p:cNvSpPr/>
          <p:nvPr/>
        </p:nvSpPr>
        <p:spPr>
          <a:xfrm>
            <a:off x="6858000" y="21336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79" name="Line 39"/>
          <p:cNvSpPr/>
          <p:nvPr/>
        </p:nvSpPr>
        <p:spPr>
          <a:xfrm>
            <a:off x="7239000" y="21336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0" name="Line 40"/>
          <p:cNvSpPr/>
          <p:nvPr/>
        </p:nvSpPr>
        <p:spPr>
          <a:xfrm>
            <a:off x="990600" y="41148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1" name="Line 41"/>
          <p:cNvSpPr/>
          <p:nvPr/>
        </p:nvSpPr>
        <p:spPr>
          <a:xfrm>
            <a:off x="990600" y="42672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2" name="Line 42"/>
          <p:cNvSpPr/>
          <p:nvPr/>
        </p:nvSpPr>
        <p:spPr>
          <a:xfrm>
            <a:off x="990600" y="44196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3" name="Line 43"/>
          <p:cNvSpPr/>
          <p:nvPr/>
        </p:nvSpPr>
        <p:spPr>
          <a:xfrm>
            <a:off x="990600" y="4572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4" name="Line 44"/>
          <p:cNvSpPr/>
          <p:nvPr/>
        </p:nvSpPr>
        <p:spPr>
          <a:xfrm>
            <a:off x="990600" y="47244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5" name="Line 45"/>
          <p:cNvSpPr/>
          <p:nvPr/>
        </p:nvSpPr>
        <p:spPr>
          <a:xfrm>
            <a:off x="990600" y="48768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6" name="Line 46"/>
          <p:cNvSpPr/>
          <p:nvPr/>
        </p:nvSpPr>
        <p:spPr>
          <a:xfrm>
            <a:off x="990600" y="39624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7" name="Line 47"/>
          <p:cNvSpPr/>
          <p:nvPr/>
        </p:nvSpPr>
        <p:spPr>
          <a:xfrm flipV="1">
            <a:off x="990600" y="3352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8" name="Line 48"/>
          <p:cNvSpPr/>
          <p:nvPr/>
        </p:nvSpPr>
        <p:spPr>
          <a:xfrm>
            <a:off x="3657600" y="41148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89" name="Line 49"/>
          <p:cNvSpPr/>
          <p:nvPr/>
        </p:nvSpPr>
        <p:spPr>
          <a:xfrm flipV="1">
            <a:off x="3962400" y="44196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0" name="Line 50"/>
          <p:cNvSpPr/>
          <p:nvPr/>
        </p:nvSpPr>
        <p:spPr>
          <a:xfrm>
            <a:off x="4419600" y="4191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1" name="Line 51"/>
          <p:cNvSpPr/>
          <p:nvPr/>
        </p:nvSpPr>
        <p:spPr>
          <a:xfrm>
            <a:off x="5105400" y="3657600"/>
            <a:ext cx="1524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2" name="Line 52"/>
          <p:cNvSpPr/>
          <p:nvPr/>
        </p:nvSpPr>
        <p:spPr>
          <a:xfrm flipH="1">
            <a:off x="5105400" y="3733800"/>
            <a:ext cx="1524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3" name="Line 53"/>
          <p:cNvSpPr/>
          <p:nvPr/>
        </p:nvSpPr>
        <p:spPr>
          <a:xfrm>
            <a:off x="4572000" y="0"/>
            <a:ext cx="0" cy="655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4" name="Line 54"/>
          <p:cNvSpPr/>
          <p:nvPr/>
        </p:nvSpPr>
        <p:spPr>
          <a:xfrm flipH="1">
            <a:off x="4572000" y="37338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5" name="Line 55"/>
          <p:cNvSpPr/>
          <p:nvPr/>
        </p:nvSpPr>
        <p:spPr>
          <a:xfrm flipV="1">
            <a:off x="1600200" y="7620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6" name="Line 56"/>
          <p:cNvSpPr/>
          <p:nvPr/>
        </p:nvSpPr>
        <p:spPr>
          <a:xfrm>
            <a:off x="1600200" y="762000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7" name="Oval 57"/>
          <p:cNvSpPr/>
          <p:nvPr/>
        </p:nvSpPr>
        <p:spPr>
          <a:xfrm>
            <a:off x="1524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8" name="Line 58"/>
          <p:cNvSpPr/>
          <p:nvPr/>
        </p:nvSpPr>
        <p:spPr>
          <a:xfrm>
            <a:off x="2743200" y="28956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9" name="Line 59"/>
          <p:cNvSpPr/>
          <p:nvPr/>
        </p:nvSpPr>
        <p:spPr>
          <a:xfrm>
            <a:off x="2895600" y="2895600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0" name="Line 60"/>
          <p:cNvSpPr/>
          <p:nvPr/>
        </p:nvSpPr>
        <p:spPr>
          <a:xfrm>
            <a:off x="2895600" y="3733800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1" name="Line 61"/>
          <p:cNvSpPr/>
          <p:nvPr/>
        </p:nvSpPr>
        <p:spPr>
          <a:xfrm>
            <a:off x="3962400" y="44196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2" name="Line 62"/>
          <p:cNvSpPr/>
          <p:nvPr/>
        </p:nvSpPr>
        <p:spPr>
          <a:xfrm>
            <a:off x="6248400" y="10668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3" name="Line 63"/>
          <p:cNvSpPr/>
          <p:nvPr/>
        </p:nvSpPr>
        <p:spPr>
          <a:xfrm>
            <a:off x="8229600" y="1066800"/>
            <a:ext cx="0" cy="2209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4" name="Line 64"/>
          <p:cNvSpPr/>
          <p:nvPr/>
        </p:nvSpPr>
        <p:spPr>
          <a:xfrm flipH="1">
            <a:off x="5105400" y="10668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5" name="Line 65"/>
          <p:cNvSpPr/>
          <p:nvPr/>
        </p:nvSpPr>
        <p:spPr>
          <a:xfrm flipV="1">
            <a:off x="5105400" y="3810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6" name="Line 66"/>
          <p:cNvSpPr/>
          <p:nvPr/>
        </p:nvSpPr>
        <p:spPr>
          <a:xfrm flipV="1">
            <a:off x="5105400" y="381000"/>
            <a:ext cx="2819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7" name="Line 67"/>
          <p:cNvSpPr/>
          <p:nvPr/>
        </p:nvSpPr>
        <p:spPr>
          <a:xfrm>
            <a:off x="7924800" y="0"/>
            <a:ext cx="0" cy="655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08" name="Oval 68"/>
          <p:cNvSpPr/>
          <p:nvPr/>
        </p:nvSpPr>
        <p:spPr>
          <a:xfrm>
            <a:off x="7848600" y="304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9" name="Line 69"/>
          <p:cNvSpPr/>
          <p:nvPr/>
        </p:nvSpPr>
        <p:spPr>
          <a:xfrm>
            <a:off x="5867400" y="3810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0" name="Oval 70"/>
          <p:cNvSpPr/>
          <p:nvPr/>
        </p:nvSpPr>
        <p:spPr>
          <a:xfrm>
            <a:off x="5867400" y="41910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11" name="Line 71"/>
          <p:cNvSpPr/>
          <p:nvPr/>
        </p:nvSpPr>
        <p:spPr>
          <a:xfrm>
            <a:off x="6019800" y="42672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2" name="Line 72"/>
          <p:cNvSpPr/>
          <p:nvPr/>
        </p:nvSpPr>
        <p:spPr>
          <a:xfrm>
            <a:off x="6019800" y="49530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3" name="Line 73"/>
          <p:cNvSpPr/>
          <p:nvPr/>
        </p:nvSpPr>
        <p:spPr>
          <a:xfrm>
            <a:off x="6248400" y="42672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4" name="Line 74"/>
          <p:cNvSpPr/>
          <p:nvPr/>
        </p:nvSpPr>
        <p:spPr>
          <a:xfrm>
            <a:off x="8610600" y="3352800"/>
            <a:ext cx="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5" name="Line 75"/>
          <p:cNvSpPr/>
          <p:nvPr/>
        </p:nvSpPr>
        <p:spPr>
          <a:xfrm>
            <a:off x="6019800" y="5181600"/>
            <a:ext cx="2590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6" name="Line 76"/>
          <p:cNvSpPr/>
          <p:nvPr/>
        </p:nvSpPr>
        <p:spPr>
          <a:xfrm>
            <a:off x="6019800" y="5410200"/>
            <a:ext cx="2743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7" name="Line 77"/>
          <p:cNvSpPr/>
          <p:nvPr/>
        </p:nvSpPr>
        <p:spPr>
          <a:xfrm>
            <a:off x="8763000" y="5410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8" name="Line 78"/>
          <p:cNvSpPr/>
          <p:nvPr/>
        </p:nvSpPr>
        <p:spPr>
          <a:xfrm>
            <a:off x="6019800" y="5638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19" name="Line 79"/>
          <p:cNvSpPr/>
          <p:nvPr/>
        </p:nvSpPr>
        <p:spPr>
          <a:xfrm>
            <a:off x="6629400" y="56388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0" name="Line 80"/>
          <p:cNvSpPr/>
          <p:nvPr/>
        </p:nvSpPr>
        <p:spPr>
          <a:xfrm>
            <a:off x="6477000" y="58674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1" name="Line 81"/>
          <p:cNvSpPr/>
          <p:nvPr/>
        </p:nvSpPr>
        <p:spPr>
          <a:xfrm flipV="1">
            <a:off x="4800600" y="32004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2" name="Line 82"/>
          <p:cNvSpPr/>
          <p:nvPr/>
        </p:nvSpPr>
        <p:spPr>
          <a:xfrm>
            <a:off x="4800600" y="32004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3" name="Oval 83"/>
          <p:cNvSpPr/>
          <p:nvPr/>
        </p:nvSpPr>
        <p:spPr>
          <a:xfrm>
            <a:off x="4495800" y="3657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24" name="Oval 84"/>
          <p:cNvSpPr/>
          <p:nvPr/>
        </p:nvSpPr>
        <p:spPr>
          <a:xfrm>
            <a:off x="4724400" y="4114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25" name="Line 85"/>
          <p:cNvSpPr/>
          <p:nvPr/>
        </p:nvSpPr>
        <p:spPr>
          <a:xfrm flipH="1">
            <a:off x="1066800" y="5334000"/>
            <a:ext cx="403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6" name="Line 86"/>
          <p:cNvSpPr/>
          <p:nvPr/>
        </p:nvSpPr>
        <p:spPr>
          <a:xfrm>
            <a:off x="1066800" y="5105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7" name="Line 87"/>
          <p:cNvSpPr/>
          <p:nvPr/>
        </p:nvSpPr>
        <p:spPr>
          <a:xfrm flipV="1">
            <a:off x="762000" y="5105400"/>
            <a:ext cx="3048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8" name="Line 88"/>
          <p:cNvSpPr/>
          <p:nvPr/>
        </p:nvSpPr>
        <p:spPr>
          <a:xfrm>
            <a:off x="762000" y="5334000"/>
            <a:ext cx="3048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29" name="Oval 89"/>
          <p:cNvSpPr/>
          <p:nvPr/>
        </p:nvSpPr>
        <p:spPr>
          <a:xfrm>
            <a:off x="762000" y="54102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0" name="Line 90"/>
          <p:cNvSpPr/>
          <p:nvPr/>
        </p:nvSpPr>
        <p:spPr>
          <a:xfrm flipH="1">
            <a:off x="457200" y="51816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1" name="Line 91"/>
          <p:cNvSpPr/>
          <p:nvPr/>
        </p:nvSpPr>
        <p:spPr>
          <a:xfrm flipH="1">
            <a:off x="457200" y="54864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2" name="Line 92"/>
          <p:cNvSpPr/>
          <p:nvPr/>
        </p:nvSpPr>
        <p:spPr>
          <a:xfrm flipH="1">
            <a:off x="4800600" y="12192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3" name="Line 93"/>
          <p:cNvSpPr/>
          <p:nvPr/>
        </p:nvSpPr>
        <p:spPr>
          <a:xfrm>
            <a:off x="4800600" y="1219200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4" name="Line 94"/>
          <p:cNvSpPr/>
          <p:nvPr/>
        </p:nvSpPr>
        <p:spPr>
          <a:xfrm>
            <a:off x="4648200" y="1371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5" name="Line 95"/>
          <p:cNvSpPr/>
          <p:nvPr/>
        </p:nvSpPr>
        <p:spPr>
          <a:xfrm flipH="1">
            <a:off x="4953000" y="15240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6" name="Line 96"/>
          <p:cNvSpPr/>
          <p:nvPr/>
        </p:nvSpPr>
        <p:spPr>
          <a:xfrm flipH="1">
            <a:off x="1295400" y="2819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7" name="Line 97"/>
          <p:cNvSpPr/>
          <p:nvPr/>
        </p:nvSpPr>
        <p:spPr>
          <a:xfrm>
            <a:off x="1295400" y="28194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8" name="Line 98"/>
          <p:cNvSpPr/>
          <p:nvPr/>
        </p:nvSpPr>
        <p:spPr>
          <a:xfrm>
            <a:off x="1143000" y="30480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39" name="Oval 99"/>
          <p:cNvSpPr/>
          <p:nvPr/>
        </p:nvSpPr>
        <p:spPr>
          <a:xfrm>
            <a:off x="85344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0" name="Text Box 100"/>
          <p:cNvSpPr txBox="1"/>
          <p:nvPr/>
        </p:nvSpPr>
        <p:spPr>
          <a:xfrm>
            <a:off x="1752600" y="1371600"/>
            <a:ext cx="990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极性多路选择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1" name="Text Box 101"/>
          <p:cNvSpPr txBox="1"/>
          <p:nvPr/>
        </p:nvSpPr>
        <p:spPr>
          <a:xfrm>
            <a:off x="6248400" y="381000"/>
            <a:ext cx="990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三态多路选择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2" name="Text Box 102"/>
          <p:cNvSpPr txBox="1"/>
          <p:nvPr/>
        </p:nvSpPr>
        <p:spPr>
          <a:xfrm>
            <a:off x="6781800" y="4022725"/>
            <a:ext cx="990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输出多路选择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3" name="Text Box 103"/>
          <p:cNvSpPr txBox="1"/>
          <p:nvPr/>
        </p:nvSpPr>
        <p:spPr>
          <a:xfrm>
            <a:off x="6705600" y="5470525"/>
            <a:ext cx="990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反馈多路选择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4" name="Text Box 104"/>
          <p:cNvSpPr txBox="1"/>
          <p:nvPr/>
        </p:nvSpPr>
        <p:spPr>
          <a:xfrm>
            <a:off x="228600" y="3352800"/>
            <a:ext cx="685800" cy="1616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来自“与”阵列</a:t>
            </a:r>
            <a:endParaRPr lang="zh-CN" altLang="en-US" sz="2000" b="1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745" name="Object 105"/>
          <p:cNvGraphicFramePr>
            <a:graphicFrameLocks noChangeAspect="1"/>
          </p:cNvGraphicFramePr>
          <p:nvPr/>
        </p:nvGraphicFramePr>
        <p:xfrm>
          <a:off x="46672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72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6" name="Object 106"/>
          <p:cNvGraphicFramePr>
            <a:graphicFrameLocks noChangeAspect="1"/>
          </p:cNvGraphicFramePr>
          <p:nvPr/>
        </p:nvGraphicFramePr>
        <p:xfrm>
          <a:off x="752475" y="3848100"/>
          <a:ext cx="43815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75565" imgH="150495" progId="Equation.DSMT4">
                  <p:embed/>
                </p:oleObj>
              </mc:Choice>
              <mc:Fallback>
                <p:oleObj name="" r:id="rId3" imgW="75565" imgH="150495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2475" y="3848100"/>
                        <a:ext cx="438150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7" name="Text Box 107"/>
          <p:cNvSpPr txBox="1"/>
          <p:nvPr/>
        </p:nvSpPr>
        <p:spPr>
          <a:xfrm>
            <a:off x="0" y="5638800"/>
            <a:ext cx="12192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反馈到“与”阵列</a:t>
            </a:r>
            <a:endParaRPr lang="zh-CN" altLang="en-US" sz="2000" b="1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8" name="Text Box 108"/>
          <p:cNvSpPr txBox="1"/>
          <p:nvPr/>
        </p:nvSpPr>
        <p:spPr>
          <a:xfrm>
            <a:off x="3962400" y="6461125"/>
            <a:ext cx="11430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时钟</a:t>
            </a:r>
            <a:r>
              <a:rPr lang="en-US" altLang="zh-CN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CK</a:t>
            </a:r>
            <a:endParaRPr lang="en-US" altLang="zh-CN" sz="2000" b="1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9" name="Text Box 109"/>
          <p:cNvSpPr txBox="1"/>
          <p:nvPr/>
        </p:nvSpPr>
        <p:spPr>
          <a:xfrm>
            <a:off x="6324600" y="0"/>
            <a:ext cx="19050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使能控制</a:t>
            </a:r>
            <a:r>
              <a:rPr lang="en-US" altLang="zh-CN" sz="2000" b="1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OE</a:t>
            </a:r>
            <a:endParaRPr lang="en-US" altLang="zh-CN" sz="2000" b="1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0" name="Text Box 110"/>
          <p:cNvSpPr txBox="1"/>
          <p:nvPr/>
        </p:nvSpPr>
        <p:spPr>
          <a:xfrm>
            <a:off x="7924800" y="5486400"/>
            <a:ext cx="1219200" cy="1006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000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相邻</a:t>
            </a:r>
            <a:r>
              <a:rPr lang="en-US" altLang="zh-CN" sz="2000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OLMC(m)</a:t>
            </a:r>
            <a:r>
              <a:rPr lang="zh-CN" altLang="en-US" sz="2000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endParaRPr lang="zh-CN" altLang="en-US" sz="2000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1" name="Text Box 111"/>
          <p:cNvSpPr txBox="1"/>
          <p:nvPr/>
        </p:nvSpPr>
        <p:spPr>
          <a:xfrm>
            <a:off x="8458200" y="28194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00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I/On</a:t>
            </a:r>
            <a:endParaRPr lang="en-US" altLang="zh-CN" sz="2000" dirty="0">
              <a:solidFill>
                <a:srgbClr val="00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2" name="Text Box 112"/>
          <p:cNvSpPr txBox="1"/>
          <p:nvPr/>
        </p:nvSpPr>
        <p:spPr>
          <a:xfrm>
            <a:off x="3581400" y="4953000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XOR(n)</a:t>
            </a:r>
            <a:endParaRPr lang="en-US" altLang="zh-CN" sz="20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3" name="Line 113"/>
          <p:cNvSpPr/>
          <p:nvPr/>
        </p:nvSpPr>
        <p:spPr>
          <a:xfrm>
            <a:off x="5334000" y="58674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54" name="Line 114"/>
          <p:cNvSpPr/>
          <p:nvPr/>
        </p:nvSpPr>
        <p:spPr>
          <a:xfrm>
            <a:off x="5562600" y="5867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55" name="Line 115"/>
          <p:cNvSpPr/>
          <p:nvPr/>
        </p:nvSpPr>
        <p:spPr>
          <a:xfrm>
            <a:off x="5791200" y="58674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756" name="Text Box 116"/>
          <p:cNvSpPr txBox="1"/>
          <p:nvPr/>
        </p:nvSpPr>
        <p:spPr>
          <a:xfrm>
            <a:off x="4876800" y="1736725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</a:t>
            </a:r>
            <a:r>
              <a:rPr lang="en-US" altLang="zh-CN" sz="14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4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7" name="Text Box 117"/>
          <p:cNvSpPr txBox="1"/>
          <p:nvPr/>
        </p:nvSpPr>
        <p:spPr>
          <a:xfrm>
            <a:off x="5562600" y="2346325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</a:t>
            </a:r>
            <a:r>
              <a:rPr lang="en-US" altLang="zh-CN" sz="14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(n)</a:t>
            </a:r>
            <a:endParaRPr lang="en-US" altLang="zh-CN" sz="20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8" name="Text Box 118"/>
          <p:cNvSpPr txBox="1"/>
          <p:nvPr/>
        </p:nvSpPr>
        <p:spPr>
          <a:xfrm>
            <a:off x="4800600" y="59436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</a:t>
            </a:r>
            <a:r>
              <a:rPr lang="en-US" altLang="zh-CN" sz="14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14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9" name="Text Box 119"/>
          <p:cNvSpPr txBox="1"/>
          <p:nvPr/>
        </p:nvSpPr>
        <p:spPr>
          <a:xfrm>
            <a:off x="5105400" y="6232525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</a:t>
            </a:r>
            <a:r>
              <a:rPr lang="en-US" altLang="zh-CN" sz="14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(n)</a:t>
            </a:r>
            <a:endParaRPr lang="en-US" altLang="zh-CN" sz="20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0" name="Text Box 120"/>
          <p:cNvSpPr txBox="1"/>
          <p:nvPr/>
        </p:nvSpPr>
        <p:spPr>
          <a:xfrm>
            <a:off x="5715000" y="5927725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</a:t>
            </a:r>
            <a:r>
              <a:rPr lang="en-US" altLang="zh-CN" sz="14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(m)</a:t>
            </a:r>
            <a:endParaRPr lang="en-US" altLang="zh-CN" sz="200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1" name="Text Box 121"/>
          <p:cNvSpPr txBox="1"/>
          <p:nvPr/>
        </p:nvSpPr>
        <p:spPr>
          <a:xfrm>
            <a:off x="5943600" y="34290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2762" name="Group 122"/>
          <p:cNvGrpSpPr/>
          <p:nvPr/>
        </p:nvGrpSpPr>
        <p:grpSpPr>
          <a:xfrm>
            <a:off x="5943600" y="3886200"/>
            <a:ext cx="609600" cy="396875"/>
            <a:chOff x="3744" y="2400"/>
            <a:chExt cx="384" cy="250"/>
          </a:xfrm>
        </p:grpSpPr>
        <p:sp>
          <p:nvSpPr>
            <p:cNvPr id="112763" name="Text Box 123"/>
            <p:cNvSpPr txBox="1"/>
            <p:nvPr/>
          </p:nvSpPr>
          <p:spPr>
            <a:xfrm>
              <a:off x="3744" y="240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64" name="Line 124"/>
            <p:cNvSpPr/>
            <p:nvPr/>
          </p:nvSpPr>
          <p:spPr>
            <a:xfrm>
              <a:off x="3792" y="244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2765" name="Text Box 125"/>
          <p:cNvSpPr txBox="1"/>
          <p:nvPr/>
        </p:nvSpPr>
        <p:spPr>
          <a:xfrm>
            <a:off x="5105400" y="4022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6798" name="Rectangle 126"/>
          <p:cNvSpPr/>
          <p:nvPr/>
        </p:nvSpPr>
        <p:spPr>
          <a:xfrm>
            <a:off x="1219200" y="304800"/>
            <a:ext cx="6781800" cy="60198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7" name="Oval 127"/>
          <p:cNvSpPr/>
          <p:nvPr/>
        </p:nvSpPr>
        <p:spPr>
          <a:xfrm>
            <a:off x="6248400" y="19812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8" name="Text Box 128"/>
          <p:cNvSpPr txBox="1"/>
          <p:nvPr/>
        </p:nvSpPr>
        <p:spPr>
          <a:xfrm>
            <a:off x="4648200" y="1447800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VCC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6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6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79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Group 22"/>
          <p:cNvGraphicFramePr>
            <a:graphicFrameLocks noGrp="1"/>
          </p:cNvGraphicFramePr>
          <p:nvPr/>
        </p:nvGraphicFramePr>
        <p:xfrm>
          <a:off x="468313" y="333375"/>
          <a:ext cx="8229600" cy="6238875"/>
        </p:xfrm>
        <a:graphic>
          <a:graphicData uri="http://schemas.openxmlformats.org/drawingml/2006/table">
            <a:tbl>
              <a:tblPr/>
              <a:tblGrid>
                <a:gridCol w="1224136"/>
                <a:gridCol w="4536504"/>
                <a:gridCol w="2468960"/>
              </a:tblGrid>
              <a:tr h="1682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(n)=0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极性多路选择：与项（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参与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“或”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三态多路选择：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VCC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，三态常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开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输出多路选择：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组合逻辑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反馈多路选择：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(m)=0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，无反馈，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 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(m)=1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相邻宏单元反馈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组合逻辑输出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06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(n)=1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极性多路选择：与项（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参与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“或”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三态多路选择：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VCC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，三态常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闭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输出多路选择：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组合逻辑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反馈多路选择：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(m)=0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，无反馈，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 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(m)=1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相邻宏单元反馈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58775" marR="0" lvl="0" indent="-358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）本单元不输出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）辅助其他宏单元的组合逻辑输出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endParaRPr lang="zh-CN" altLang="en-US" sz="1800" dirty="0"/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33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(n)=0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极性多路选择：与项（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参与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“或”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三态多路选择：外部输入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OE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控制三态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输出多路选择：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时序逻辑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反馈多路选择：触发器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非反馈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zh-CN" altLang="en-US" sz="2000" dirty="0"/>
                        <a:t>时序逻辑输出</a:t>
                      </a:r>
                      <a:endParaRPr lang="zh-CN" altLang="en-US" sz="2000" dirty="0"/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2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(n)=1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endParaRPr lang="zh-CN" altLang="en-US" sz="1800" dirty="0"/>
                    </a:p>
                  </a:txBody>
                  <a:tcPr marL="0" marR="0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极性多路选择：与项（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不参与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“或”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三态多路选择：与项（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）控制三态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输出多路选择：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组合逻辑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反馈多路选择：三态门反馈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1</a:t>
                      </a:r>
                      <a:r>
                        <a:rPr lang="zh-CN" altLang="en-US" sz="2000" dirty="0"/>
                        <a:t>）输出受控的组合逻辑</a:t>
                      </a:r>
                      <a:endParaRPr lang="en-US" altLang="zh-CN" sz="2000" dirty="0"/>
                    </a:p>
                    <a:p>
                      <a:pPr marL="358775" marR="0" lvl="0" indent="-358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）反馈给其他宏单元使用</a:t>
                      </a:r>
                      <a:endParaRPr lang="zh-CN" altLang="en-US" sz="2000" dirty="0"/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58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单个输出逻辑宏单元的结构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四个输入配置的控制字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(m)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XOR(n)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692" name="Rectangle 4"/>
          <p:cNvSpPr/>
          <p:nvPr/>
        </p:nvSpPr>
        <p:spPr>
          <a:xfrm>
            <a:off x="304800" y="4114800"/>
            <a:ext cx="86106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3" name="Line 5"/>
          <p:cNvSpPr/>
          <p:nvPr/>
        </p:nvSpPr>
        <p:spPr>
          <a:xfrm>
            <a:off x="20574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4" name="Line 6"/>
          <p:cNvSpPr/>
          <p:nvPr/>
        </p:nvSpPr>
        <p:spPr>
          <a:xfrm>
            <a:off x="70866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5" name="Line 7"/>
          <p:cNvSpPr/>
          <p:nvPr/>
        </p:nvSpPr>
        <p:spPr>
          <a:xfrm>
            <a:off x="29718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6" name="Line 8"/>
          <p:cNvSpPr/>
          <p:nvPr/>
        </p:nvSpPr>
        <p:spPr>
          <a:xfrm>
            <a:off x="35814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7" name="Line 9"/>
          <p:cNvSpPr/>
          <p:nvPr/>
        </p:nvSpPr>
        <p:spPr>
          <a:xfrm>
            <a:off x="54864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8" name="Line 10"/>
          <p:cNvSpPr/>
          <p:nvPr/>
        </p:nvSpPr>
        <p:spPr>
          <a:xfrm>
            <a:off x="6096000" y="41148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699" name="Text Box 11"/>
          <p:cNvSpPr txBox="1"/>
          <p:nvPr/>
        </p:nvSpPr>
        <p:spPr>
          <a:xfrm>
            <a:off x="304800" y="4191000"/>
            <a:ext cx="1752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乘积项禁止位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0" name="Text Box 12"/>
          <p:cNvSpPr txBox="1"/>
          <p:nvPr/>
        </p:nvSpPr>
        <p:spPr>
          <a:xfrm>
            <a:off x="7086600" y="4191000"/>
            <a:ext cx="17526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乘积项禁止位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1" name="Text Box 13"/>
          <p:cNvSpPr txBox="1"/>
          <p:nvPr/>
        </p:nvSpPr>
        <p:spPr>
          <a:xfrm>
            <a:off x="1981200" y="4191000"/>
            <a:ext cx="10668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XOR(n) 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2" name="Text Box 14"/>
          <p:cNvSpPr txBox="1"/>
          <p:nvPr/>
        </p:nvSpPr>
        <p:spPr>
          <a:xfrm>
            <a:off x="6096000" y="4191000"/>
            <a:ext cx="10668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XOR(n) 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703" name="Text Box 15"/>
          <p:cNvSpPr txBox="1"/>
          <p:nvPr/>
        </p:nvSpPr>
        <p:spPr>
          <a:xfrm>
            <a:off x="2895600" y="4191000"/>
            <a:ext cx="7620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SYN1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5904" name="Text Box 16"/>
          <p:cNvSpPr txBox="1">
            <a:spLocks noChangeArrowheads="1"/>
          </p:cNvSpPr>
          <p:nvPr/>
        </p:nvSpPr>
        <p:spPr bwMode="auto">
          <a:xfrm>
            <a:off x="4038600" y="4191000"/>
            <a:ext cx="10668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</a:t>
            </a:r>
            <a:r>
              <a:rPr kumimoji="0" lang="en-US" altLang="zh-CN" sz="1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(n)</a:t>
            </a:r>
            <a:r>
              <a:rPr kumimoji="0" lang="en-US" altLang="zh-CN" sz="20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8</a:t>
            </a:r>
            <a:r>
              <a:rPr kumimoji="0" lang="zh-CN" altLang="en-US" sz="20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</a:t>
            </a:r>
            <a:endParaRPr kumimoji="0" lang="zh-CN" altLang="en-US" sz="20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5905" name="Rectangle 17"/>
          <p:cNvSpPr>
            <a:spLocks noChangeArrowheads="1"/>
          </p:cNvSpPr>
          <p:nvPr/>
        </p:nvSpPr>
        <p:spPr bwMode="auto">
          <a:xfrm>
            <a:off x="5486400" y="4191000"/>
            <a:ext cx="6858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4706" name="Group 18"/>
          <p:cNvGrpSpPr/>
          <p:nvPr/>
        </p:nvGrpSpPr>
        <p:grpSpPr>
          <a:xfrm>
            <a:off x="304800" y="3200400"/>
            <a:ext cx="8610600" cy="533400"/>
            <a:chOff x="192" y="1824"/>
            <a:chExt cx="5424" cy="336"/>
          </a:xfrm>
        </p:grpSpPr>
        <p:sp>
          <p:nvSpPr>
            <p:cNvPr id="114707" name="Line 19"/>
            <p:cNvSpPr/>
            <p:nvPr/>
          </p:nvSpPr>
          <p:spPr>
            <a:xfrm>
              <a:off x="192" y="182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08" name="Line 20"/>
            <p:cNvSpPr/>
            <p:nvPr/>
          </p:nvSpPr>
          <p:spPr>
            <a:xfrm>
              <a:off x="5616" y="182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09" name="Line 21"/>
            <p:cNvSpPr/>
            <p:nvPr/>
          </p:nvSpPr>
          <p:spPr>
            <a:xfrm>
              <a:off x="192" y="2016"/>
              <a:ext cx="25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triangle" w="lg" len="lg"/>
              <a:tailEnd type="none" w="med" len="med"/>
            </a:ln>
          </p:spPr>
        </p:sp>
        <p:sp>
          <p:nvSpPr>
            <p:cNvPr id="114710" name="Line 22"/>
            <p:cNvSpPr/>
            <p:nvPr/>
          </p:nvSpPr>
          <p:spPr>
            <a:xfrm>
              <a:off x="3168" y="2016"/>
              <a:ext cx="244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sp>
          <p:nvSpPr>
            <p:cNvPr id="114711" name="Text Box 23"/>
            <p:cNvSpPr txBox="1"/>
            <p:nvPr/>
          </p:nvSpPr>
          <p:spPr>
            <a:xfrm>
              <a:off x="2640" y="1872"/>
              <a:ext cx="6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位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40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1450"/>
            <a:ext cx="8534400" cy="5187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单个输出逻辑宏单元的结构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门电路和触发器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输入或门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可构成所有从管脚输入的与或表达式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输入异或门：由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XOR(n)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选择输出的极性（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XOR(n)=0,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原函数；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XOR(n)=1,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反函数）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存储异或门的输出状态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输入或门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AC1(n)=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OMUX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触发器的输出，构成时序逻辑；当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AC1(n)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不为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OMUX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选择异或门输出，构成组合逻辑。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输入与非门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AC1(n)=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阵列中的第一个乘积项作为三态多路选择的输入而被选中，作为输出三态门的控制端。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输入或门中的第一个输入为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76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1450"/>
            <a:ext cx="8153400" cy="511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单个输出逻辑宏单元的结构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与阵列输入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:8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时钟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CK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使能控制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相邻的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作为本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的输入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本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OLMC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(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配置为输入）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I/O(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配置为输出）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时钟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CK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使能控制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反馈到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阵列：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个，一正一反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9872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1450"/>
            <a:ext cx="8382000" cy="511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单个输出逻辑宏单元的结构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多路选择器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三态多路选择器：四选一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反馈多路选择器：四选一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极性多路选择器：二选一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输出多路选择器：二选一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GAL </a:t>
            </a: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通用阵列逻辑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28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通用可编程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体现在如下几点：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片内具有与或阵列，每个宏单元内有一个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通过不同的控制字设置成不同的工作方式（可编程）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应用灵活（通用）：即可以实现组合逻辑电路（将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触发器旁路），也可以实现时序逻辑电路。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05000"/>
            <a:ext cx="777240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大规模可编程芯片简介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813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本节课的目的是：拓宽同学们的知识面。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不属于考试内容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大家放松心情听课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几个常用的缩写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9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EPLD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Erasable Programmable Logic 			Device: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可擦除的可编程逻辑芯片）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CPLD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Programmable Logic 			Device: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复杂的可编程逻辑芯片）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FPGA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Field Programmable Gate Array: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现		场可编程门阵列）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52400"/>
            <a:ext cx="777240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可编程芯片的发展过程（一）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1295400"/>
            <a:ext cx="81534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发展过程：从简单到复杂，从小规模到大规模，从低速到高速的规律。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世纪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70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年代初：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PROM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70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年代末：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AMD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PAL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	     80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年代初：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Lattice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GAL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世纪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年代中：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Xilinx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公司生产了世界上第一片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FPGA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，同时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公司推出了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EPLD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84480" marR="0" lvl="0" indent="-2844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世纪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年代末：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Lattice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公司在线编程的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CPLD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可编程芯片的发展过程（二）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12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77724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近些年：可编程芯片进入飞速发展的阶段：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）生产工艺技术：可编程线宽从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0.18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m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提高到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7nm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；一个芯片几千逻辑门到最大可以集成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1000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万个逻辑门。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）器件速度：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EPLD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：入出延迟从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5ns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提高到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1ns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                         FPGA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门延迟：从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1ns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提高到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				平均小于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0.1ns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）降低功耗技术：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5V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3.3V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2.5V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1.8V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1.5V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1.2V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可编程芯片的发展趋势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22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0010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一、向高密度、大规模的方向发展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二、向系统内可重构的方向发展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三、向低电压、低功耗的方向发展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四、向高速可预测延时器件的方向发展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五、向混合可编程技术方向发展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28800"/>
            <a:ext cx="7772400" cy="914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可编程芯片的设计方法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可编程芯片的设计流程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979" name="Text Box 3"/>
          <p:cNvSpPr txBox="1"/>
          <p:nvPr/>
        </p:nvSpPr>
        <p:spPr>
          <a:xfrm>
            <a:off x="990600" y="1371600"/>
            <a:ext cx="2133600" cy="120015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设计输入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Tx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电路原理图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Tx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硬件描述语言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0" name="Text Box 4"/>
          <p:cNvSpPr txBox="1"/>
          <p:nvPr/>
        </p:nvSpPr>
        <p:spPr>
          <a:xfrm>
            <a:off x="990600" y="3124200"/>
            <a:ext cx="2133600" cy="156527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设计实现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Tx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优化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Tx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合并、映射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Tx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布局、布线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1" name="Text Box 5"/>
          <p:cNvSpPr txBox="1"/>
          <p:nvPr/>
        </p:nvSpPr>
        <p:spPr>
          <a:xfrm>
            <a:off x="990600" y="5181600"/>
            <a:ext cx="2133600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下载编程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2" name="Text Box 6"/>
          <p:cNvSpPr txBox="1"/>
          <p:nvPr/>
        </p:nvSpPr>
        <p:spPr>
          <a:xfrm>
            <a:off x="5410200" y="1676400"/>
            <a:ext cx="2133600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功能仿真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5410200" y="3429000"/>
            <a:ext cx="2133600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时序仿真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4" name="Text Box 8"/>
          <p:cNvSpPr txBox="1"/>
          <p:nvPr/>
        </p:nvSpPr>
        <p:spPr>
          <a:xfrm>
            <a:off x="5410200" y="5181600"/>
            <a:ext cx="2133600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器件测试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5" name="Line 9"/>
          <p:cNvSpPr/>
          <p:nvPr/>
        </p:nvSpPr>
        <p:spPr>
          <a:xfrm>
            <a:off x="3124200" y="18288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86" name="Line 10"/>
          <p:cNvSpPr/>
          <p:nvPr/>
        </p:nvSpPr>
        <p:spPr>
          <a:xfrm>
            <a:off x="3124200" y="35814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87" name="Line 11"/>
          <p:cNvSpPr/>
          <p:nvPr/>
        </p:nvSpPr>
        <p:spPr>
          <a:xfrm>
            <a:off x="3124200" y="52578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88" name="Line 12"/>
          <p:cNvSpPr/>
          <p:nvPr/>
        </p:nvSpPr>
        <p:spPr>
          <a:xfrm flipH="1">
            <a:off x="3124200" y="19812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89" name="Line 13"/>
          <p:cNvSpPr/>
          <p:nvPr/>
        </p:nvSpPr>
        <p:spPr>
          <a:xfrm flipH="1">
            <a:off x="3124200" y="38100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0" name="Line 14"/>
          <p:cNvSpPr/>
          <p:nvPr/>
        </p:nvSpPr>
        <p:spPr>
          <a:xfrm flipH="1">
            <a:off x="3124200" y="54864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1" name="Line 15"/>
          <p:cNvSpPr/>
          <p:nvPr/>
        </p:nvSpPr>
        <p:spPr>
          <a:xfrm>
            <a:off x="2057400" y="25908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2" name="Line 16"/>
          <p:cNvSpPr/>
          <p:nvPr/>
        </p:nvSpPr>
        <p:spPr>
          <a:xfrm>
            <a:off x="2057400" y="4724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3" name="Line 17"/>
          <p:cNvSpPr/>
          <p:nvPr/>
        </p:nvSpPr>
        <p:spPr>
          <a:xfrm>
            <a:off x="6477000" y="2209800"/>
            <a:ext cx="0" cy="1219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4" name="Line 18"/>
          <p:cNvSpPr/>
          <p:nvPr/>
        </p:nvSpPr>
        <p:spPr>
          <a:xfrm>
            <a:off x="6477000" y="3962400"/>
            <a:ext cx="0" cy="1219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可编程芯片的开发环境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75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1534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可编程芯片的设计离不开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软件有些是芯片厂商提供的，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如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Lattice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公司开发的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ISP Synario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系统；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Xilinx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公司开发的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Foundation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ISE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系统；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公司开发的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MAXPLUS II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QUARTUS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有些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软件是第三方设计的，如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Cadence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Mental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Synopsys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Viewlogic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公司等都提供相应的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芯片厂商提供的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软件一般支持该厂商芯片，而第三方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EDA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软件一般可以多种厂商的芯片。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可编程芯片的硬件描述语言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86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ABEL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Verilog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：由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Phil Moorby 1983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年设计的，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1995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规定了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Verilog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标准。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：由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1985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年美国国防部正式推出的，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1987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年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规定了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IEEE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标准。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目前的应用情况：美国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Verilog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占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60%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占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％。台湾各为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％。中国大陆为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Verilog10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％，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VHDL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90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％。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灯片编号占位符 6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VHDL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设计十进制计数器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1450"/>
            <a:ext cx="1660525" cy="660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真值表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09636" name="Group 4"/>
          <p:cNvGraphicFramePr>
            <a:graphicFrameLocks noGrp="1"/>
          </p:cNvGraphicFramePr>
          <p:nvPr>
            <p:ph sz="half" idx="1"/>
          </p:nvPr>
        </p:nvGraphicFramePr>
        <p:xfrm>
          <a:off x="1135063" y="2262188"/>
          <a:ext cx="7253288" cy="3344863"/>
        </p:xfrm>
        <a:graphic>
          <a:graphicData uri="http://schemas.openxmlformats.org/drawingml/2006/table">
            <a:tbl>
              <a:tblPr/>
              <a:tblGrid>
                <a:gridCol w="1044575"/>
                <a:gridCol w="1035050"/>
                <a:gridCol w="1093787"/>
                <a:gridCol w="973138"/>
                <a:gridCol w="1035050"/>
                <a:gridCol w="1036637"/>
                <a:gridCol w="1035050"/>
              </a:tblGrid>
              <a:tr h="6556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输入端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输出端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clr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clk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qc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qb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3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计数值＋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30094" name="Line 47"/>
          <p:cNvSpPr/>
          <p:nvPr/>
        </p:nvSpPr>
        <p:spPr>
          <a:xfrm flipV="1">
            <a:off x="3708400" y="5013325"/>
            <a:ext cx="0" cy="431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0658" name="Rectangle 2"/>
          <p:cNvSpPr>
            <a:spLocks noGrp="1" noChangeArrowheads="1"/>
          </p:cNvSpPr>
          <p:nvPr>
            <p:ph idx="1"/>
          </p:nvPr>
        </p:nvSpPr>
        <p:spPr>
          <a:xfrm>
            <a:off x="0" y="260350"/>
            <a:ext cx="9144000" cy="6408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LIBRARY IEEE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USE IEEE.STD_LOGIC_1164.ALL;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USE IEEE.STD_LOGIC_UNSIGNED.ALL;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ENTITY conut12en IS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PORT(clk,clr,en: IN STD_LOGIC;    qa,qb,qc,qd:OUT STD_LOGIC);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 count12en;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ARCHITECTURE rtl OF count12en IS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SIGNAL count_4 : STD_LOGIC_VECTOR(3 DOWNTO 0);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BEGIN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qa&lt;=count_4(0);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qb&lt;=count_4(1);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qc&lt;=count_4(2);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qd&lt;=count_4(3);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1682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496300" cy="6192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PROCESS(clk, clr)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BEGIN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(clr 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‘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THEN count_4&lt;=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0000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ELSIF (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clk’event AND clk=‘1’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THEN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IF (en=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‘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THEN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IF (count_4=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‘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1001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THEN count_4&lt;=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0000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ELSE  count_4&lt;=count_4+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END IF;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END IF;	  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END IF;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 PROCESS;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 rtl; 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en-US" altLang="zh-CN" sz="10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第五章  可编程逻辑电路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03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只读存储器（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ROM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可编程逻辑阵列（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大规模可编程逻辑电路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0</TotalTime>
  <Words>15085</Words>
  <Application>WPS 演示</Application>
  <PresentationFormat>全屏显示(4:3)</PresentationFormat>
  <Paragraphs>3508</Paragraphs>
  <Slides>111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111</vt:i4>
      </vt:variant>
    </vt:vector>
  </HeadingPairs>
  <TitlesOfParts>
    <vt:vector size="138" baseType="lpstr">
      <vt:lpstr>Arial</vt:lpstr>
      <vt:lpstr>宋体</vt:lpstr>
      <vt:lpstr>Wingdings</vt:lpstr>
      <vt:lpstr>Times New Roman</vt:lpstr>
      <vt:lpstr>Tahoma</vt:lpstr>
      <vt:lpstr>华文行楷</vt:lpstr>
      <vt:lpstr>Monotype Corsiva</vt:lpstr>
      <vt:lpstr>Wingdings 3</vt:lpstr>
      <vt:lpstr>Georgia</vt:lpstr>
      <vt:lpstr>Symbol</vt:lpstr>
      <vt:lpstr>Cambria Math</vt:lpstr>
      <vt:lpstr>微软雅黑</vt:lpstr>
      <vt:lpstr>Arial Unicode MS</vt:lpstr>
      <vt:lpstr>Arial</vt:lpstr>
      <vt:lpstr>Shimmer</vt:lpstr>
      <vt:lpstr>Paint.Picture</vt:lpstr>
      <vt:lpstr>Paint.Picture</vt:lpstr>
      <vt:lpstr>Equation.3</vt:lpstr>
      <vt:lpstr>Equation.DSMT4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 DCST91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同步时序电路</dc:title>
  <dc:creator>LiuLin</dc:creator>
  <cp:lastModifiedBy>张芝源(2024010701)</cp:lastModifiedBy>
  <cp:revision>316</cp:revision>
  <dcterms:created xsi:type="dcterms:W3CDTF">2001-11-19T11:23:35Z</dcterms:created>
  <dcterms:modified xsi:type="dcterms:W3CDTF">2026-06-07T09:42:21Z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0943E23C7AB44E3198CE79A6C3F844F3_13</vt:lpwstr>
  </property>
</Properties>
</file>