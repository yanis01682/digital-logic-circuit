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839" r:id="rId3"/>
    <p:sldId id="883" r:id="rId4"/>
    <p:sldId id="902" r:id="rId5"/>
    <p:sldId id="885" r:id="rId6"/>
    <p:sldId id="886" r:id="rId8"/>
    <p:sldId id="887" r:id="rId9"/>
    <p:sldId id="888" r:id="rId10"/>
    <p:sldId id="889" r:id="rId11"/>
    <p:sldId id="890" r:id="rId12"/>
    <p:sldId id="891" r:id="rId13"/>
    <p:sldId id="892" r:id="rId14"/>
    <p:sldId id="893" r:id="rId15"/>
    <p:sldId id="894" r:id="rId16"/>
    <p:sldId id="895" r:id="rId17"/>
    <p:sldId id="725" r:id="rId18"/>
    <p:sldId id="865" r:id="rId19"/>
    <p:sldId id="769" r:id="rId20"/>
    <p:sldId id="770" r:id="rId21"/>
    <p:sldId id="864" r:id="rId22"/>
    <p:sldId id="851" r:id="rId23"/>
    <p:sldId id="852" r:id="rId24"/>
    <p:sldId id="853" r:id="rId25"/>
    <p:sldId id="854" r:id="rId26"/>
    <p:sldId id="855" r:id="rId27"/>
    <p:sldId id="856" r:id="rId28"/>
    <p:sldId id="857" r:id="rId29"/>
    <p:sldId id="840" r:id="rId30"/>
    <p:sldId id="841" r:id="rId31"/>
    <p:sldId id="842" r:id="rId32"/>
    <p:sldId id="843" r:id="rId33"/>
    <p:sldId id="844" r:id="rId34"/>
    <p:sldId id="845" r:id="rId35"/>
    <p:sldId id="744" r:id="rId36"/>
    <p:sldId id="745" r:id="rId37"/>
    <p:sldId id="798" r:id="rId38"/>
    <p:sldId id="746" r:id="rId39"/>
    <p:sldId id="747" r:id="rId40"/>
    <p:sldId id="858" r:id="rId41"/>
    <p:sldId id="861" r:id="rId42"/>
    <p:sldId id="859" r:id="rId43"/>
    <p:sldId id="881" r:id="rId44"/>
    <p:sldId id="862" r:id="rId45"/>
    <p:sldId id="572" r:id="rId46"/>
    <p:sldId id="896" r:id="rId47"/>
    <p:sldId id="898" r:id="rId48"/>
    <p:sldId id="899" r:id="rId49"/>
    <p:sldId id="900" r:id="rId50"/>
    <p:sldId id="863" r:id="rId51"/>
    <p:sldId id="748" r:id="rId52"/>
    <p:sldId id="767" r:id="rId53"/>
    <p:sldId id="774" r:id="rId5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FF00"/>
    <a:srgbClr val="FF66FF"/>
    <a:srgbClr val="FF0000"/>
    <a:srgbClr val="FFFF00"/>
    <a:srgbClr val="FF99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979"/>
    <p:restoredTop sz="95758"/>
  </p:normalViewPr>
  <p:slideViewPr>
    <p:cSldViewPr showGuides="1">
      <p:cViewPr varScale="1">
        <p:scale>
          <a:sx n="87" d="100"/>
          <a:sy n="87" d="100"/>
        </p:scale>
        <p:origin x="756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同步时序电路的概念：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同步时序电路的概念：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7652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注意分清各个时刻上的区别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30724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X</a:t>
            </a:r>
            <a:r>
              <a:rPr lang="zh-CN" altLang="en-US" dirty="0"/>
              <a:t>为周期性脉冲序列，与</a:t>
            </a:r>
            <a:r>
              <a:rPr lang="en-US" altLang="zh-CN" dirty="0"/>
              <a:t>CP</a:t>
            </a:r>
            <a:r>
              <a:rPr lang="zh-CN" altLang="en-US" dirty="0"/>
              <a:t>同步</a:t>
            </a:r>
            <a:endParaRPr lang="zh-CN" altLang="en-US" dirty="0"/>
          </a:p>
          <a:p>
            <a:pPr lvl="0" eaLnBrk="1" hangingPunct="1"/>
            <a:r>
              <a:rPr lang="zh-CN" altLang="en-US" dirty="0"/>
              <a:t>假设原态</a:t>
            </a:r>
            <a:r>
              <a:rPr lang="en-US" altLang="zh-CN" dirty="0"/>
              <a:t>Q=0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43012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举例，实际上为</a:t>
            </a:r>
            <a:r>
              <a:rPr lang="en-US" altLang="zh-CN" dirty="0"/>
              <a:t>3</a:t>
            </a:r>
            <a:r>
              <a:rPr lang="zh-CN" altLang="en-US" dirty="0"/>
              <a:t>位格雷码计数器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45060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D</a:t>
            </a:r>
            <a:r>
              <a:rPr lang="zh-CN" altLang="en-US" dirty="0"/>
              <a:t>功能触发器，次态与</a:t>
            </a:r>
            <a:r>
              <a:rPr lang="en-US" altLang="zh-CN" dirty="0"/>
              <a:t>D</a:t>
            </a:r>
            <a:r>
              <a:rPr lang="zh-CN" altLang="en-US" dirty="0"/>
              <a:t>相同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47108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D</a:t>
            </a:r>
            <a:r>
              <a:rPr lang="zh-CN" altLang="en-US" dirty="0"/>
              <a:t>功能触发器，次态与</a:t>
            </a:r>
            <a:r>
              <a:rPr lang="en-US" altLang="zh-CN" dirty="0"/>
              <a:t>D</a:t>
            </a:r>
            <a:r>
              <a:rPr lang="zh-CN" altLang="en-US" dirty="0"/>
              <a:t>相同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632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2056" name="Group 3"/>
            <p:cNvGrpSpPr/>
            <p:nvPr/>
          </p:nvGrpSpPr>
          <p:grpSpPr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2067" name="Freeform 4"/>
              <p:cNvSpPr/>
              <p:nvPr/>
            </p:nvSpPr>
            <p:spPr>
              <a:xfrm>
                <a:off x="558" y="1161"/>
                <a:ext cx="5200" cy="3159"/>
              </a:xfrm>
              <a:custGeom>
                <a:avLst/>
                <a:gdLst/>
                <a:ahLst/>
                <a:cxnLst>
                  <a:cxn ang="0">
                    <a:pos x="0" y="3159"/>
                  </a:cxn>
                  <a:cxn ang="0">
                    <a:pos x="6121" y="3159"/>
                  </a:cxn>
                  <a:cxn ang="0">
                    <a:pos x="6121" y="0"/>
                  </a:cxn>
                  <a:cxn ang="0">
                    <a:pos x="0" y="0"/>
                  </a:cxn>
                  <a:cxn ang="0">
                    <a:pos x="0" y="3159"/>
                  </a:cxn>
                  <a:cxn ang="0">
                    <a:pos x="0" y="3159"/>
                  </a:cxn>
                </a:cxnLst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5"/>
              <p:cNvSpPr/>
              <p:nvPr/>
            </p:nvSpPr>
            <p:spPr>
              <a:xfrm>
                <a:off x="0" y="1161"/>
                <a:ext cx="558" cy="31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59"/>
                  </a:cxn>
                  <a:cxn ang="0">
                    <a:pos x="664" y="3159"/>
                  </a:cxn>
                  <a:cxn ang="0">
                    <a:pos x="664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Freeform 7"/>
            <p:cNvSpPr/>
            <p:nvPr/>
          </p:nvSpPr>
          <p:spPr>
            <a:xfrm>
              <a:off x="767" y="1155"/>
              <a:ext cx="252" cy="12"/>
            </a:xfrm>
            <a:custGeom>
              <a:avLst/>
              <a:gdLst/>
              <a:ahLst/>
              <a:cxnLst>
                <a:cxn ang="0">
                  <a:pos x="305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305" y="12"/>
                </a:cxn>
                <a:cxn ang="0">
                  <a:pos x="305" y="0"/>
                </a:cxn>
                <a:cxn ang="0">
                  <a:pos x="305" y="0"/>
                </a:cxn>
              </a:cxnLst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Freeform 8"/>
            <p:cNvSpPr/>
            <p:nvPr/>
          </p:nvSpPr>
          <p:spPr>
            <a:xfrm>
              <a:off x="0" y="1155"/>
              <a:ext cx="351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47483646" y="12"/>
                </a:cxn>
                <a:cxn ang="0">
                  <a:pos x="2147483646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0" name="Group 9"/>
            <p:cNvGrpSpPr/>
            <p:nvPr/>
          </p:nvGrpSpPr>
          <p:grpSpPr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2061" name="Freeform 10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2" name="Freeform 11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3" name="Freeform 12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5605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5605" y="12"/>
                  </a:cxn>
                  <a:cxn ang="0">
                    <a:pos x="5605" y="0"/>
                  </a:cxn>
                  <a:cxn ang="0">
                    <a:pos x="5605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4" name="Freeform 13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5" name="Freeform 14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/>
            <p:cNvSpPr/>
            <p:nvPr/>
          </p:nvSpPr>
          <p:spPr>
            <a:xfrm>
              <a:off x="558" y="1161"/>
              <a:ext cx="5200" cy="3159"/>
            </a:xfrm>
            <a:custGeom>
              <a:avLst/>
              <a:gdLst/>
              <a:ahLst/>
              <a:cxnLst>
                <a:cxn ang="0">
                  <a:pos x="0" y="3159"/>
                </a:cxn>
                <a:cxn ang="0">
                  <a:pos x="6121" y="3159"/>
                </a:cxn>
                <a:cxn ang="0">
                  <a:pos x="6121" y="0"/>
                </a:cxn>
                <a:cxn ang="0">
                  <a:pos x="0" y="0"/>
                </a:cxn>
                <a:cxn ang="0">
                  <a:pos x="0" y="3159"/>
                </a:cxn>
                <a:cxn ang="0">
                  <a:pos x="0" y="3159"/>
                </a:cxn>
              </a:cxnLst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Freeform 4"/>
            <p:cNvSpPr/>
            <p:nvPr/>
          </p:nvSpPr>
          <p:spPr>
            <a:xfrm>
              <a:off x="0" y="1161"/>
              <a:ext cx="558" cy="3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59"/>
                </a:cxn>
                <a:cxn ang="0">
                  <a:pos x="664" y="3159"/>
                </a:cxn>
                <a:cxn ang="0">
                  <a:pos x="664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chemeClr val="bg2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34" name="Group 5"/>
            <p:cNvGrpSpPr/>
            <p:nvPr userDrawn="1"/>
          </p:nvGrpSpPr>
          <p:grpSpPr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/>
              <p:nvPr/>
            </p:nvSpPr>
            <p:spPr>
              <a:xfrm>
                <a:off x="552" y="4"/>
                <a:ext cx="12" cy="69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695"/>
                  </a:cxn>
                  <a:cxn ang="0">
                    <a:pos x="12" y="695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6" name="Freeform 7"/>
              <p:cNvSpPr/>
              <p:nvPr/>
            </p:nvSpPr>
            <p:spPr>
              <a:xfrm>
                <a:off x="552" y="1623"/>
                <a:ext cx="12" cy="2697"/>
              </a:xfrm>
              <a:custGeom>
                <a:avLst/>
                <a:gdLst/>
                <a:ahLst/>
                <a:cxnLst>
                  <a:cxn ang="0">
                    <a:pos x="0" y="2697"/>
                  </a:cxn>
                  <a:cxn ang="0">
                    <a:pos x="12" y="2697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697"/>
                  </a:cxn>
                  <a:cxn ang="0">
                    <a:pos x="0" y="2697"/>
                  </a:cxn>
                </a:cxnLst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7" name="Freeform 8"/>
              <p:cNvSpPr/>
              <p:nvPr/>
            </p:nvSpPr>
            <p:spPr>
              <a:xfrm>
                <a:off x="1019" y="1155"/>
                <a:ext cx="4739" cy="12"/>
              </a:xfrm>
              <a:custGeom>
                <a:avLst/>
                <a:gdLst/>
                <a:ahLst/>
                <a:cxnLst>
                  <a:cxn ang="0">
                    <a:pos x="5605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5605" y="12"/>
                  </a:cxn>
                  <a:cxn ang="0">
                    <a:pos x="5605" y="0"/>
                  </a:cxn>
                  <a:cxn ang="0">
                    <a:pos x="5605" y="0"/>
                  </a:cxn>
                </a:cxnLst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>
              <a:xfrm>
                <a:off x="552" y="1371"/>
                <a:ext cx="12" cy="252"/>
              </a:xfrm>
              <a:custGeom>
                <a:avLst/>
                <a:gdLst/>
                <a:ahLst/>
                <a:cxnLst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0" y="252"/>
                  </a:cxn>
                </a:cxnLst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39" name="Freeform 10"/>
              <p:cNvSpPr/>
              <p:nvPr/>
            </p:nvSpPr>
            <p:spPr>
              <a:xfrm>
                <a:off x="552" y="699"/>
                <a:ext cx="12" cy="252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0"/>
                  </a:cxn>
                  <a:cxn ang="0">
                    <a:pos x="0" y="252"/>
                  </a:cxn>
                  <a:cxn ang="0">
                    <a:pos x="12" y="252"/>
                  </a:cxn>
                  <a:cxn ang="0">
                    <a:pos x="12" y="0"/>
                  </a:cxn>
                  <a:cxn ang="0">
                    <a:pos x="12" y="0"/>
                  </a:cxn>
                </a:cxnLst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Freeform 12"/>
              <p:cNvSpPr/>
              <p:nvPr/>
            </p:nvSpPr>
            <p:spPr>
              <a:xfrm>
                <a:off x="0" y="1155"/>
                <a:ext cx="351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2147483646" y="12"/>
                  </a:cxn>
                  <a:cxn ang="0">
                    <a:pos x="2147483646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alpha val="100000"/>
                    </a:schemeClr>
                  </a:gs>
                  <a:gs pos="100000">
                    <a:schemeClr val="accent2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>
              <a:xfrm>
                <a:off x="767" y="1155"/>
                <a:ext cx="252" cy="12"/>
              </a:xfrm>
              <a:custGeom>
                <a:avLst/>
                <a:gdLst/>
                <a:ahLst/>
                <a:cxnLst>
                  <a:cxn ang="0">
                    <a:pos x="305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305" y="12"/>
                  </a:cxn>
                  <a:cxn ang="0">
                    <a:pos x="305" y="0"/>
                  </a:cxn>
                  <a:cxn ang="0">
                    <a:pos x="305" y="0"/>
                  </a:cxn>
                </a:cxnLst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bg2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0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82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sp>
        <p:nvSpPr>
          <p:cNvPr id="82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</a:rPr>
            </a:fld>
            <a:endParaRPr lang="en-US" altLang="zh-CN" dirty="0"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Char char="–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image" Target="../media/image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74137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1447800"/>
            <a:ext cx="7620000" cy="4191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本周作业：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5.5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第三章 同步时序电路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Synchronous  Sequential Logic Circuit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972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§1. </a:t>
            </a:r>
            <a:r>
              <a:rPr kumimoji="0" lang="zh-CN" altLang="en-US" sz="28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触发器</a:t>
            </a:r>
            <a:endParaRPr kumimoji="0" lang="zh-CN" altLang="en-US" sz="28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§2. </a:t>
            </a:r>
            <a:r>
              <a:rPr kumimoji="0" lang="zh-CN" altLang="en-US" sz="28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同步时序电路的分析与设计方法</a:t>
            </a:r>
            <a:endParaRPr kumimoji="0" lang="zh-CN" altLang="en-US" sz="28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§3. </a:t>
            </a: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计数器</a:t>
            </a:r>
            <a:endParaRPr kumimoji="0" lang="zh-CN" altLang="en-US" sz="28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§4. </a:t>
            </a:r>
            <a:r>
              <a:rPr kumimoji="0" lang="zh-CN" altLang="en-US" sz="28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移位寄存器</a:t>
            </a:r>
            <a:endParaRPr kumimoji="0" lang="zh-CN" altLang="en-US" sz="24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973" name="Rectangle 5"/>
          <p:cNvSpPr/>
          <p:nvPr/>
        </p:nvSpPr>
        <p:spPr>
          <a:xfrm>
            <a:off x="762000" y="332105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7027" name="Rectangle 35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时序电路的一般结构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8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6149" name="组合 1"/>
          <p:cNvGrpSpPr/>
          <p:nvPr/>
        </p:nvGrpSpPr>
        <p:grpSpPr>
          <a:xfrm>
            <a:off x="131763" y="2398713"/>
            <a:ext cx="5815012" cy="3625850"/>
            <a:chOff x="956469" y="2420938"/>
            <a:chExt cx="5814225" cy="3625850"/>
          </a:xfrm>
        </p:grpSpPr>
        <p:sp>
          <p:nvSpPr>
            <p:cNvPr id="6190" name="Text Box 21"/>
            <p:cNvSpPr txBox="1"/>
            <p:nvPr/>
          </p:nvSpPr>
          <p:spPr>
            <a:xfrm>
              <a:off x="2403948" y="4897582"/>
              <a:ext cx="553998" cy="384031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191" name="Rectangle 3"/>
            <p:cNvSpPr/>
            <p:nvPr/>
          </p:nvSpPr>
          <p:spPr>
            <a:xfrm>
              <a:off x="2914651" y="2565400"/>
              <a:ext cx="2014538" cy="129540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dirty="0">
                  <a:latin typeface="Georgia" panose="02040502050405020303" pitchFamily="18" charset="0"/>
                </a:rPr>
                <a:t>组合电路</a:t>
              </a:r>
              <a:endParaRPr lang="zh-CN" altLang="en-US" dirty="0">
                <a:latin typeface="Georgia" panose="02040502050405020303" pitchFamily="18" charset="0"/>
              </a:endParaRPr>
            </a:p>
          </p:txBody>
        </p:sp>
        <p:sp>
          <p:nvSpPr>
            <p:cNvPr id="6192" name="Rectangle 4"/>
            <p:cNvSpPr/>
            <p:nvPr/>
          </p:nvSpPr>
          <p:spPr>
            <a:xfrm>
              <a:off x="2771778" y="4724400"/>
              <a:ext cx="1707720" cy="7921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latin typeface="Georgia" panose="02040502050405020303" pitchFamily="18" charset="0"/>
                </a:rPr>
                <a:t>记忆电路</a:t>
              </a:r>
              <a:endParaRPr lang="zh-CN" altLang="en-US" sz="2800" dirty="0">
                <a:latin typeface="Georgia" panose="02040502050405020303" pitchFamily="18" charset="0"/>
              </a:endParaRPr>
            </a:p>
          </p:txBody>
        </p:sp>
        <p:sp>
          <p:nvSpPr>
            <p:cNvPr id="6193" name="Line 5"/>
            <p:cNvSpPr/>
            <p:nvPr/>
          </p:nvSpPr>
          <p:spPr>
            <a:xfrm>
              <a:off x="4922844" y="3716338"/>
              <a:ext cx="4318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4" name="Line 6"/>
            <p:cNvSpPr/>
            <p:nvPr/>
          </p:nvSpPr>
          <p:spPr>
            <a:xfrm>
              <a:off x="4494219" y="4941888"/>
              <a:ext cx="8636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5" name="Line 7"/>
            <p:cNvSpPr/>
            <p:nvPr/>
          </p:nvSpPr>
          <p:spPr>
            <a:xfrm>
              <a:off x="5357819" y="3716338"/>
              <a:ext cx="0" cy="122555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6" name="Line 8"/>
            <p:cNvSpPr/>
            <p:nvPr/>
          </p:nvSpPr>
          <p:spPr>
            <a:xfrm>
              <a:off x="2479675" y="3716338"/>
              <a:ext cx="4318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7" name="Line 9"/>
            <p:cNvSpPr/>
            <p:nvPr/>
          </p:nvSpPr>
          <p:spPr>
            <a:xfrm flipV="1">
              <a:off x="2484438" y="4940299"/>
              <a:ext cx="287340" cy="15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8" name="Line 10"/>
            <p:cNvSpPr/>
            <p:nvPr/>
          </p:nvSpPr>
          <p:spPr>
            <a:xfrm>
              <a:off x="2484438" y="3716338"/>
              <a:ext cx="0" cy="122555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99" name="Text Box 11"/>
            <p:cNvSpPr txBox="1"/>
            <p:nvPr/>
          </p:nvSpPr>
          <p:spPr>
            <a:xfrm>
              <a:off x="2420374" y="4092676"/>
              <a:ext cx="1403350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内部输入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6200" name="Line 12"/>
            <p:cNvSpPr/>
            <p:nvPr/>
          </p:nvSpPr>
          <p:spPr>
            <a:xfrm>
              <a:off x="4922844" y="3284538"/>
              <a:ext cx="86677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1" name="Line 13"/>
            <p:cNvSpPr/>
            <p:nvPr/>
          </p:nvSpPr>
          <p:spPr>
            <a:xfrm>
              <a:off x="4460106" y="5264238"/>
              <a:ext cx="12954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2" name="Line 14"/>
            <p:cNvSpPr/>
            <p:nvPr/>
          </p:nvSpPr>
          <p:spPr>
            <a:xfrm flipH="1">
              <a:off x="5773315" y="3284538"/>
              <a:ext cx="16304" cy="19970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3" name="Line 15"/>
            <p:cNvSpPr/>
            <p:nvPr/>
          </p:nvSpPr>
          <p:spPr>
            <a:xfrm>
              <a:off x="2047875" y="3284538"/>
              <a:ext cx="86677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4" name="Line 16"/>
            <p:cNvSpPr/>
            <p:nvPr/>
          </p:nvSpPr>
          <p:spPr>
            <a:xfrm>
              <a:off x="2037528" y="5373841"/>
              <a:ext cx="7191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5" name="Line 17"/>
            <p:cNvSpPr/>
            <p:nvPr/>
          </p:nvSpPr>
          <p:spPr>
            <a:xfrm flipH="1">
              <a:off x="2044699" y="3284537"/>
              <a:ext cx="6350" cy="210486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06" name="Text Box 18"/>
            <p:cNvSpPr txBox="1"/>
            <p:nvPr/>
          </p:nvSpPr>
          <p:spPr>
            <a:xfrm>
              <a:off x="2393950" y="3357563"/>
              <a:ext cx="549275" cy="33972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07" name="Text Box 19"/>
            <p:cNvSpPr txBox="1"/>
            <p:nvPr/>
          </p:nvSpPr>
          <p:spPr>
            <a:xfrm>
              <a:off x="4953006" y="3357563"/>
              <a:ext cx="549275" cy="33972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08" name="Text Box 20"/>
            <p:cNvSpPr txBox="1"/>
            <p:nvPr/>
          </p:nvSpPr>
          <p:spPr>
            <a:xfrm>
              <a:off x="4631878" y="4950618"/>
              <a:ext cx="549275" cy="33972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09" name="Text Box 22"/>
            <p:cNvSpPr txBox="1"/>
            <p:nvPr/>
          </p:nvSpPr>
          <p:spPr>
            <a:xfrm>
              <a:off x="956469" y="5516563"/>
              <a:ext cx="2622550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（记忆电路输出）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6210" name="Text Box 23"/>
            <p:cNvSpPr txBox="1"/>
            <p:nvPr/>
          </p:nvSpPr>
          <p:spPr>
            <a:xfrm>
              <a:off x="3883819" y="5589588"/>
              <a:ext cx="2622550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（记忆电路输入）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6211" name="Text Box 24"/>
            <p:cNvSpPr txBox="1"/>
            <p:nvPr/>
          </p:nvSpPr>
          <p:spPr>
            <a:xfrm>
              <a:off x="4021362" y="4064000"/>
              <a:ext cx="1403350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Georgia" panose="02040502050405020303" pitchFamily="18" charset="0"/>
                </a:rPr>
                <a:t>内部输出</a:t>
              </a:r>
              <a:endParaRPr lang="zh-CN" altLang="en-US" sz="2400" dirty="0">
                <a:latin typeface="Georgia" panose="02040502050405020303" pitchFamily="18" charset="0"/>
              </a:endParaRPr>
            </a:p>
          </p:txBody>
        </p:sp>
        <p:sp>
          <p:nvSpPr>
            <p:cNvPr id="6212" name="Line 25"/>
            <p:cNvSpPr/>
            <p:nvPr/>
          </p:nvSpPr>
          <p:spPr>
            <a:xfrm>
              <a:off x="4926019" y="2708275"/>
              <a:ext cx="129698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3" name="Line 26"/>
            <p:cNvSpPr/>
            <p:nvPr/>
          </p:nvSpPr>
          <p:spPr>
            <a:xfrm>
              <a:off x="4926019" y="3141663"/>
              <a:ext cx="129698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14" name="Text Box 27"/>
            <p:cNvSpPr txBox="1"/>
            <p:nvPr/>
          </p:nvSpPr>
          <p:spPr>
            <a:xfrm>
              <a:off x="4997456" y="2781300"/>
              <a:ext cx="549275" cy="33972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15" name="Text Box 28"/>
            <p:cNvSpPr txBox="1"/>
            <p:nvPr/>
          </p:nvSpPr>
          <p:spPr>
            <a:xfrm>
              <a:off x="2438400" y="2781300"/>
              <a:ext cx="549275" cy="33972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…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16" name="Line 29"/>
            <p:cNvSpPr/>
            <p:nvPr/>
          </p:nvSpPr>
          <p:spPr>
            <a:xfrm flipH="1">
              <a:off x="1619250" y="3141663"/>
              <a:ext cx="12969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17" name="Line 30"/>
            <p:cNvSpPr/>
            <p:nvPr/>
          </p:nvSpPr>
          <p:spPr>
            <a:xfrm flipH="1">
              <a:off x="1619250" y="2708275"/>
              <a:ext cx="12969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18" name="Text Box 31"/>
            <p:cNvSpPr txBox="1"/>
            <p:nvPr/>
          </p:nvSpPr>
          <p:spPr>
            <a:xfrm>
              <a:off x="1116013" y="2420938"/>
              <a:ext cx="487362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X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19" name="Text Box 32"/>
            <p:cNvSpPr txBox="1"/>
            <p:nvPr/>
          </p:nvSpPr>
          <p:spPr>
            <a:xfrm>
              <a:off x="1131888" y="2900363"/>
              <a:ext cx="520700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X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n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20" name="Text Box 33"/>
            <p:cNvSpPr txBox="1"/>
            <p:nvPr/>
          </p:nvSpPr>
          <p:spPr>
            <a:xfrm>
              <a:off x="6223006" y="2420938"/>
              <a:ext cx="455613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Z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221" name="Text Box 34"/>
            <p:cNvSpPr txBox="1"/>
            <p:nvPr/>
          </p:nvSpPr>
          <p:spPr>
            <a:xfrm>
              <a:off x="6223006" y="2971800"/>
              <a:ext cx="547688" cy="4572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Z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m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143625" y="1357313"/>
            <a:ext cx="2882900" cy="4960937"/>
            <a:chOff x="5181602" y="1669119"/>
            <a:chExt cx="2882901" cy="4960281"/>
          </a:xfrm>
        </p:grpSpPr>
        <p:grpSp>
          <p:nvGrpSpPr>
            <p:cNvPr id="6153" name="Group 5"/>
            <p:cNvGrpSpPr/>
            <p:nvPr/>
          </p:nvGrpSpPr>
          <p:grpSpPr>
            <a:xfrm>
              <a:off x="5181602" y="1981200"/>
              <a:ext cx="2882901" cy="4648200"/>
              <a:chOff x="3264" y="1344"/>
              <a:chExt cx="1816" cy="2928"/>
            </a:xfrm>
          </p:grpSpPr>
          <p:sp>
            <p:nvSpPr>
              <p:cNvPr id="6156" name="Line 6"/>
              <p:cNvSpPr/>
              <p:nvPr/>
            </p:nvSpPr>
            <p:spPr>
              <a:xfrm flipV="1">
                <a:off x="3840" y="153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7" name="Line 7"/>
              <p:cNvSpPr/>
              <p:nvPr/>
            </p:nvSpPr>
            <p:spPr>
              <a:xfrm>
                <a:off x="4368" y="2496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8" name="Text Box 8"/>
              <p:cNvSpPr txBox="1"/>
              <p:nvPr/>
            </p:nvSpPr>
            <p:spPr>
              <a:xfrm>
                <a:off x="4724" y="2461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159" name="Line 9"/>
              <p:cNvSpPr/>
              <p:nvPr/>
            </p:nvSpPr>
            <p:spPr>
              <a:xfrm flipH="1" flipV="1">
                <a:off x="4320" y="1536"/>
                <a:ext cx="4" cy="34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160" name="Group 10"/>
              <p:cNvGrpSpPr/>
              <p:nvPr/>
            </p:nvGrpSpPr>
            <p:grpSpPr>
              <a:xfrm>
                <a:off x="3597" y="1869"/>
                <a:ext cx="972" cy="627"/>
                <a:chOff x="3597" y="1680"/>
                <a:chExt cx="972" cy="627"/>
              </a:xfrm>
            </p:grpSpPr>
            <p:sp>
              <p:nvSpPr>
                <p:cNvPr id="6187" name="Rectangle 11"/>
                <p:cNvSpPr/>
                <p:nvPr/>
              </p:nvSpPr>
              <p:spPr>
                <a:xfrm>
                  <a:off x="3597" y="1680"/>
                  <a:ext cx="972" cy="627"/>
                </a:xfrm>
                <a:prstGeom prst="rect">
                  <a:avLst/>
                </a:prstGeom>
                <a:noFill/>
                <a:ln w="9525" cap="rnd" cmpd="sng">
                  <a:solidFill>
                    <a:srgbClr val="FFFF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188" name="Rectangle 12"/>
                <p:cNvSpPr/>
                <p:nvPr/>
              </p:nvSpPr>
              <p:spPr>
                <a:xfrm>
                  <a:off x="3768" y="2049"/>
                  <a:ext cx="706" cy="2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D       CP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189" name="Rectangle 13"/>
                <p:cNvSpPr/>
                <p:nvPr/>
              </p:nvSpPr>
              <p:spPr>
                <a:xfrm>
                  <a:off x="3744" y="1728"/>
                  <a:ext cx="143" cy="2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FFFF"/>
                      </a:solidFill>
                      <a:latin typeface="Georgia" panose="02040502050405020303" pitchFamily="18" charset="0"/>
                    </a:rPr>
                    <a:t>Q</a:t>
                  </a:r>
                  <a:endParaRPr lang="en-US" altLang="zh-CN" sz="1800" dirty="0"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6161" name="Group 17"/>
              <p:cNvGrpSpPr/>
              <p:nvPr/>
            </p:nvGrpSpPr>
            <p:grpSpPr>
              <a:xfrm>
                <a:off x="3456" y="2496"/>
                <a:ext cx="816" cy="768"/>
                <a:chOff x="2112" y="2544"/>
                <a:chExt cx="816" cy="768"/>
              </a:xfrm>
            </p:grpSpPr>
            <p:sp>
              <p:nvSpPr>
                <p:cNvPr id="6182" name="Rectangle 18"/>
                <p:cNvSpPr/>
                <p:nvPr/>
              </p:nvSpPr>
              <p:spPr>
                <a:xfrm>
                  <a:off x="2112" y="2736"/>
                  <a:ext cx="816" cy="28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183" name="Line 19"/>
                <p:cNvSpPr/>
                <p:nvPr/>
              </p:nvSpPr>
              <p:spPr>
                <a:xfrm>
                  <a:off x="2496" y="2544"/>
                  <a:ext cx="0" cy="19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84" name="Text Box 20"/>
                <p:cNvSpPr txBox="1"/>
                <p:nvPr/>
              </p:nvSpPr>
              <p:spPr>
                <a:xfrm>
                  <a:off x="2352" y="2736"/>
                  <a:ext cx="38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zh-CN" altLang="en-US" sz="2400" dirty="0">
                      <a:latin typeface="Georgia" panose="02040502050405020303" pitchFamily="18" charset="0"/>
                    </a:rPr>
                    <a:t>＋</a:t>
                  </a:r>
                  <a:endParaRPr lang="zh-CN" altLang="en-US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6185" name="Rectangle 21"/>
                <p:cNvSpPr/>
                <p:nvPr/>
              </p:nvSpPr>
              <p:spPr>
                <a:xfrm>
                  <a:off x="2112" y="3024"/>
                  <a:ext cx="816" cy="28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186" name="Line 22"/>
                <p:cNvSpPr/>
                <p:nvPr/>
              </p:nvSpPr>
              <p:spPr>
                <a:xfrm>
                  <a:off x="2544" y="3024"/>
                  <a:ext cx="0" cy="28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62" name="Line 23"/>
              <p:cNvSpPr/>
              <p:nvPr/>
            </p:nvSpPr>
            <p:spPr>
              <a:xfrm flipV="1">
                <a:off x="4368" y="2587"/>
                <a:ext cx="386" cy="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3" name="Line 24"/>
              <p:cNvSpPr/>
              <p:nvPr/>
            </p:nvSpPr>
            <p:spPr>
              <a:xfrm>
                <a:off x="4032" y="3264"/>
                <a:ext cx="0" cy="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4" name="Line 25"/>
              <p:cNvSpPr/>
              <p:nvPr/>
            </p:nvSpPr>
            <p:spPr>
              <a:xfrm>
                <a:off x="4320" y="1728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5" name="Line 26"/>
              <p:cNvSpPr/>
              <p:nvPr/>
            </p:nvSpPr>
            <p:spPr>
              <a:xfrm>
                <a:off x="4656" y="1728"/>
                <a:ext cx="0" cy="16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6" name="Line 27"/>
              <p:cNvSpPr/>
              <p:nvPr/>
            </p:nvSpPr>
            <p:spPr>
              <a:xfrm flipH="1">
                <a:off x="4176" y="3408"/>
                <a:ext cx="4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7" name="Line 28"/>
              <p:cNvSpPr/>
              <p:nvPr/>
            </p:nvSpPr>
            <p:spPr>
              <a:xfrm flipV="1">
                <a:off x="4176" y="32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8" name="Line 29"/>
              <p:cNvSpPr/>
              <p:nvPr/>
            </p:nvSpPr>
            <p:spPr>
              <a:xfrm>
                <a:off x="3744" y="3264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9" name="Line 30"/>
              <p:cNvSpPr/>
              <p:nvPr/>
            </p:nvSpPr>
            <p:spPr>
              <a:xfrm>
                <a:off x="326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70" name="Line 31"/>
              <p:cNvSpPr/>
              <p:nvPr/>
            </p:nvSpPr>
            <p:spPr>
              <a:xfrm>
                <a:off x="3264" y="1728"/>
                <a:ext cx="0" cy="16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71" name="Line 32"/>
              <p:cNvSpPr/>
              <p:nvPr/>
            </p:nvSpPr>
            <p:spPr>
              <a:xfrm flipH="1">
                <a:off x="3264" y="3408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72" name="Line 33"/>
              <p:cNvSpPr/>
              <p:nvPr/>
            </p:nvSpPr>
            <p:spPr>
              <a:xfrm flipV="1">
                <a:off x="3600" y="32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173" name="Group 34"/>
              <p:cNvGrpSpPr/>
              <p:nvPr/>
            </p:nvGrpSpPr>
            <p:grpSpPr>
              <a:xfrm>
                <a:off x="3552" y="3456"/>
                <a:ext cx="384" cy="288"/>
                <a:chOff x="1584" y="2976"/>
                <a:chExt cx="384" cy="288"/>
              </a:xfrm>
            </p:grpSpPr>
            <p:sp>
              <p:nvSpPr>
                <p:cNvPr id="6180" name="Rectangle 35"/>
                <p:cNvSpPr/>
                <p:nvPr/>
              </p:nvSpPr>
              <p:spPr>
                <a:xfrm>
                  <a:off x="1584" y="3072"/>
                  <a:ext cx="384" cy="19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181" name="Oval 36"/>
                <p:cNvSpPr/>
                <p:nvPr/>
              </p:nvSpPr>
              <p:spPr>
                <a:xfrm>
                  <a:off x="1728" y="2976"/>
                  <a:ext cx="96" cy="9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</p:grpSp>
          <p:sp>
            <p:nvSpPr>
              <p:cNvPr id="6174" name="Line 37"/>
              <p:cNvSpPr/>
              <p:nvPr/>
            </p:nvSpPr>
            <p:spPr>
              <a:xfrm>
                <a:off x="3744" y="3744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75" name="Rectangle 38"/>
              <p:cNvSpPr/>
              <p:nvPr/>
            </p:nvSpPr>
            <p:spPr>
              <a:xfrm>
                <a:off x="3936" y="3984"/>
                <a:ext cx="230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Georgia" panose="02040502050405020303" pitchFamily="18" charset="0"/>
                  </a:rPr>
                  <a:t>J</a:t>
                </a:r>
                <a:endParaRPr lang="en-US" altLang="zh-CN" sz="2400" b="1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176" name="Rectangle 39"/>
              <p:cNvSpPr/>
              <p:nvPr/>
            </p:nvSpPr>
            <p:spPr>
              <a:xfrm>
                <a:off x="3610" y="3984"/>
                <a:ext cx="273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latin typeface="Georgia" panose="02040502050405020303" pitchFamily="18" charset="0"/>
                  </a:rPr>
                  <a:t>K</a:t>
                </a:r>
                <a:endParaRPr lang="en-US" altLang="zh-CN" sz="2400" b="1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177" name="Oval 40"/>
              <p:cNvSpPr/>
              <p:nvPr/>
            </p:nvSpPr>
            <p:spPr>
              <a:xfrm>
                <a:off x="379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178" name="Oval 41"/>
              <p:cNvSpPr/>
              <p:nvPr/>
            </p:nvSpPr>
            <p:spPr>
              <a:xfrm>
                <a:off x="4272" y="16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179" name="Rectangle 45"/>
              <p:cNvSpPr/>
              <p:nvPr/>
            </p:nvSpPr>
            <p:spPr>
              <a:xfrm>
                <a:off x="3648" y="1344"/>
                <a:ext cx="143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FFFF"/>
                    </a:solidFill>
                    <a:latin typeface="Georgia" panose="02040502050405020303" pitchFamily="18" charset="0"/>
                  </a:rPr>
                  <a:t>Q</a:t>
                </a:r>
                <a:endParaRPr lang="en-US" altLang="zh-CN" sz="1800" dirty="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6154" name="Text Box 55"/>
            <p:cNvSpPr txBox="1"/>
            <p:nvPr/>
          </p:nvSpPr>
          <p:spPr>
            <a:xfrm>
              <a:off x="6671121" y="2625006"/>
              <a:ext cx="413896" cy="7335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marL="0" lvl="0" indent="0"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6155" name="Text Box 55"/>
            <p:cNvSpPr txBox="1"/>
            <p:nvPr/>
          </p:nvSpPr>
          <p:spPr>
            <a:xfrm>
              <a:off x="6803452" y="1669119"/>
              <a:ext cx="413896" cy="7335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_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marL="0" lvl="0" indent="0" eaLnBrk="1" hangingPunct="1">
                <a:lnSpc>
                  <a:spcPts val="2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sp>
        <p:nvSpPr>
          <p:cNvPr id="6151" name="Text Box 8"/>
          <p:cNvSpPr txBox="1"/>
          <p:nvPr/>
        </p:nvSpPr>
        <p:spPr>
          <a:xfrm>
            <a:off x="5018088" y="4881563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CP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152" name="Line 16"/>
          <p:cNvSpPr/>
          <p:nvPr/>
        </p:nvSpPr>
        <p:spPr>
          <a:xfrm>
            <a:off x="3635375" y="5437188"/>
            <a:ext cx="1763713" cy="79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980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同步时序电路的特点：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各触发器使用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只有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约定时钟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到来，电路状态才能改变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一个脉冲只能改变一次状态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同步时序电路的分析工具：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时序电路涉及触发器及电路的状态变化，必须引入状态表、状态图等工具。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(State Diagram)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(State Table)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3058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20" name="Rectangle 3"/>
          <p:cNvSpPr/>
          <p:nvPr/>
        </p:nvSpPr>
        <p:spPr>
          <a:xfrm>
            <a:off x="609600" y="1371600"/>
            <a:ext cx="8153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/>
            <a:r>
              <a:rPr lang="zh-CN" altLang="en-US" b="1" dirty="0">
                <a:latin typeface="Times New Roman" panose="02020603050405020304" charset="0"/>
              </a:rPr>
              <a:t>同步时序电路的基本概念</a:t>
            </a:r>
            <a:endParaRPr lang="zh-CN" altLang="en-US" b="1" dirty="0">
              <a:latin typeface="Times New Roman" panose="02020603050405020304" charset="0"/>
            </a:endParaRPr>
          </a:p>
          <a:p>
            <a:pPr marL="742950" lvl="1" indent="-285750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charset="0"/>
              </a:rPr>
              <a:t>功能表：描述电路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输入输出关系</a:t>
            </a:r>
            <a:endParaRPr lang="zh-CN" altLang="en-US" b="1" dirty="0">
              <a:solidFill>
                <a:srgbClr val="FFC000"/>
              </a:solidFill>
              <a:latin typeface="Times New Roman" panose="0202060305040502030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Times New Roman" panose="02020603050405020304" charset="0"/>
              </a:rPr>
              <a:t>现态</a:t>
            </a:r>
            <a:r>
              <a:rPr lang="en-US" altLang="zh-CN" dirty="0">
                <a:latin typeface="Times New Roman" panose="02020603050405020304" charset="0"/>
              </a:rPr>
              <a:t>Q</a:t>
            </a:r>
            <a:r>
              <a:rPr lang="en-US" altLang="zh-CN" baseline="-25000" dirty="0">
                <a:latin typeface="Times New Roman" panose="02020603050405020304" charset="0"/>
              </a:rPr>
              <a:t>n </a:t>
            </a:r>
            <a:r>
              <a:rPr lang="zh-CN" altLang="en-US" b="1" dirty="0">
                <a:latin typeface="Times New Roman" panose="02020603050405020304" charset="0"/>
              </a:rPr>
              <a:t>：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约定时钟跳变</a:t>
            </a:r>
            <a:r>
              <a:rPr lang="zh-CN" altLang="en-US" b="1" dirty="0">
                <a:latin typeface="Times New Roman" panose="02020603050405020304" charset="0"/>
              </a:rPr>
              <a:t>到来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之前</a:t>
            </a:r>
            <a:r>
              <a:rPr lang="zh-CN" altLang="en-US" b="1" dirty="0">
                <a:latin typeface="Times New Roman" panose="02020603050405020304" charset="0"/>
              </a:rPr>
              <a:t>电路的状态</a:t>
            </a:r>
            <a:endParaRPr lang="zh-CN" altLang="en-US" b="1" dirty="0">
              <a:latin typeface="Times New Roman" panose="0202060305040502030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Times New Roman" panose="02020603050405020304" charset="0"/>
              </a:rPr>
              <a:t>次态</a:t>
            </a:r>
            <a:r>
              <a:rPr lang="en-US" altLang="zh-CN" b="1" dirty="0">
                <a:latin typeface="Times New Roman" panose="02020603050405020304" charset="0"/>
              </a:rPr>
              <a:t>Q</a:t>
            </a:r>
            <a:r>
              <a:rPr lang="en-US" altLang="zh-CN" b="1" baseline="-25000" dirty="0">
                <a:latin typeface="Times New Roman" panose="02020603050405020304" charset="0"/>
              </a:rPr>
              <a:t>n+1</a:t>
            </a:r>
            <a:r>
              <a:rPr lang="en-US" altLang="zh-CN" baseline="-25000" dirty="0">
                <a:latin typeface="Times New Roman" panose="02020603050405020304" charset="0"/>
              </a:rPr>
              <a:t> </a:t>
            </a:r>
            <a:r>
              <a:rPr lang="zh-CN" altLang="en-US" b="1" dirty="0">
                <a:latin typeface="Times New Roman" panose="02020603050405020304" charset="0"/>
              </a:rPr>
              <a:t>：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约定时钟跳变</a:t>
            </a:r>
            <a:r>
              <a:rPr lang="zh-CN" altLang="en-US" b="1" dirty="0">
                <a:latin typeface="Times New Roman" panose="02020603050405020304" charset="0"/>
              </a:rPr>
              <a:t>到来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之后</a:t>
            </a:r>
            <a:r>
              <a:rPr lang="zh-CN" altLang="en-US" b="1" dirty="0">
                <a:latin typeface="Times New Roman" panose="02020603050405020304" charset="0"/>
              </a:rPr>
              <a:t>电路的状态</a:t>
            </a:r>
            <a:endParaRPr lang="zh-CN" altLang="en-US" b="1" dirty="0">
              <a:latin typeface="Times New Roman" panose="0202060305040502030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Times New Roman" panose="02020603050405020304" charset="0"/>
              </a:rPr>
              <a:t>状态表与状态图：反映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输入与状态转换</a:t>
            </a:r>
            <a:r>
              <a:rPr lang="zh-CN" altLang="en-US" b="1" dirty="0">
                <a:latin typeface="Times New Roman" panose="02020603050405020304" charset="0"/>
              </a:rPr>
              <a:t>的关系</a:t>
            </a:r>
            <a:endParaRPr lang="zh-CN" altLang="en-US" b="1" dirty="0">
              <a:latin typeface="Times New Roman" panose="0202060305040502030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Times New Roman" panose="02020603050405020304" charset="0"/>
              </a:rPr>
              <a:t>状态方程：状态转换的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表达式</a:t>
            </a:r>
            <a:endParaRPr lang="zh-CN" altLang="en-US" b="1" dirty="0">
              <a:solidFill>
                <a:srgbClr val="FFC000"/>
              </a:solidFill>
              <a:latin typeface="Times New Roman" panose="02020603050405020304" charset="0"/>
            </a:endParaRPr>
          </a:p>
          <a:p>
            <a:pPr marL="742950" lvl="1" indent="-285750" eaLnBrk="1" hangingPunct="1"/>
            <a:r>
              <a:rPr lang="zh-CN" altLang="en-US" b="1" dirty="0">
                <a:latin typeface="Times New Roman" panose="02020603050405020304" charset="0"/>
              </a:rPr>
              <a:t>激励表：从现态转变到次态，对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charset="0"/>
              </a:rPr>
              <a:t>触发器激励</a:t>
            </a:r>
            <a:r>
              <a:rPr lang="zh-CN" altLang="en-US" b="1" dirty="0">
                <a:latin typeface="Times New Roman" panose="02020603050405020304" charset="0"/>
              </a:rPr>
              <a:t>的要求</a:t>
            </a:r>
            <a:endParaRPr lang="zh-CN" altLang="en-US" b="1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109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3058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触发器的功能表、激励表、状态表、状态图与状态方程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J-K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21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的功能表、激励表、状态表、状态图与状态方程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02116" name="Group 4"/>
          <p:cNvGraphicFramePr>
            <a:graphicFrameLocks noGrp="1"/>
          </p:cNvGraphicFramePr>
          <p:nvPr/>
        </p:nvGraphicFramePr>
        <p:xfrm>
          <a:off x="1371600" y="3200400"/>
          <a:ext cx="2514600" cy="2611438"/>
        </p:xfrm>
        <a:graphic>
          <a:graphicData uri="http://schemas.openxmlformats.org/drawingml/2006/table">
            <a:tbl>
              <a:tblPr/>
              <a:tblGrid>
                <a:gridCol w="1552575"/>
                <a:gridCol w="962025"/>
              </a:tblGrid>
              <a:tr h="55710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34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2127" name="Text Box 15"/>
          <p:cNvSpPr txBox="1">
            <a:spLocks noChangeArrowheads="1"/>
          </p:cNvSpPr>
          <p:nvPr/>
        </p:nvSpPr>
        <p:spPr bwMode="auto">
          <a:xfrm>
            <a:off x="1447800" y="2743200"/>
            <a:ext cx="2362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触发器功能表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2128" name="Text Box 16"/>
          <p:cNvSpPr txBox="1">
            <a:spLocks noChangeArrowheads="1"/>
          </p:cNvSpPr>
          <p:nvPr/>
        </p:nvSpPr>
        <p:spPr bwMode="auto">
          <a:xfrm>
            <a:off x="1447800" y="5943600"/>
            <a:ext cx="20875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简化功能表</a:t>
            </a:r>
            <a:r>
              <a:rPr kumimoji="0" lang="en-US" altLang="zh-CN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02143" name="Group 31"/>
          <p:cNvGraphicFramePr>
            <a:graphicFrameLocks noGrp="1"/>
          </p:cNvGraphicFramePr>
          <p:nvPr/>
        </p:nvGraphicFramePr>
        <p:xfrm>
          <a:off x="5172075" y="3230563"/>
          <a:ext cx="2447925" cy="2590800"/>
        </p:xfrm>
        <a:graphic>
          <a:graphicData uri="http://schemas.openxmlformats.org/drawingml/2006/table">
            <a:tbl>
              <a:tblPr/>
              <a:tblGrid>
                <a:gridCol w="1657350"/>
                <a:gridCol w="790575"/>
              </a:tblGrid>
              <a:tr h="5364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34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Text Box 28"/>
          <p:cNvSpPr txBox="1"/>
          <p:nvPr/>
        </p:nvSpPr>
        <p:spPr>
          <a:xfrm>
            <a:off x="5795963" y="2743200"/>
            <a:ext cx="1366837" cy="45720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激励表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31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的功能表、激励表、状态表、状态图与状态方程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990600" y="2938463"/>
            <a:ext cx="2286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状态表（ 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kern="1200" cap="none" spc="0" normalizeH="0" baseline="-2500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0" lang="zh-CN" altLang="en-US" sz="2400" b="1" kern="1200" cap="none" spc="0" normalizeH="0" baseline="0" noProof="0" dirty="0"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2400" b="1" kern="1200" cap="none" spc="0" normalizeH="0" baseline="0" noProof="0" dirty="0"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294" name="Group 5"/>
          <p:cNvGrpSpPr/>
          <p:nvPr/>
        </p:nvGrpSpPr>
        <p:grpSpPr>
          <a:xfrm>
            <a:off x="566738" y="3517900"/>
            <a:ext cx="2187575" cy="1511300"/>
            <a:chOff x="3755" y="1780"/>
            <a:chExt cx="1378" cy="1378"/>
          </a:xfrm>
        </p:grpSpPr>
        <p:sp>
          <p:nvSpPr>
            <p:cNvPr id="603142" name="Rectangle 6"/>
            <p:cNvSpPr>
              <a:spLocks noChangeArrowheads="1"/>
            </p:cNvSpPr>
            <p:nvPr/>
          </p:nvSpPr>
          <p:spPr bwMode="auto">
            <a:xfrm>
              <a:off x="4587" y="2622"/>
              <a:ext cx="546" cy="5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3143" name="Rectangle 7"/>
            <p:cNvSpPr>
              <a:spLocks noChangeArrowheads="1"/>
            </p:cNvSpPr>
            <p:nvPr/>
          </p:nvSpPr>
          <p:spPr bwMode="auto">
            <a:xfrm>
              <a:off x="4041" y="2622"/>
              <a:ext cx="546" cy="5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0 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3144" name="Rectangle 8"/>
            <p:cNvSpPr>
              <a:spLocks noChangeArrowheads="1"/>
            </p:cNvSpPr>
            <p:nvPr/>
          </p:nvSpPr>
          <p:spPr bwMode="auto">
            <a:xfrm>
              <a:off x="4587" y="2077"/>
              <a:ext cx="546" cy="5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1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3145" name="Rectangle 9"/>
            <p:cNvSpPr>
              <a:spLocks noChangeArrowheads="1"/>
            </p:cNvSpPr>
            <p:nvPr/>
          </p:nvSpPr>
          <p:spPr bwMode="auto">
            <a:xfrm>
              <a:off x="4041" y="2077"/>
              <a:ext cx="546" cy="5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0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06" name="Line 10"/>
            <p:cNvSpPr/>
            <p:nvPr/>
          </p:nvSpPr>
          <p:spPr>
            <a:xfrm>
              <a:off x="4041" y="2077"/>
              <a:ext cx="1092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7" name="Line 11"/>
            <p:cNvSpPr/>
            <p:nvPr/>
          </p:nvSpPr>
          <p:spPr>
            <a:xfrm>
              <a:off x="4041" y="2623"/>
              <a:ext cx="1092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8" name="Line 12"/>
            <p:cNvSpPr/>
            <p:nvPr/>
          </p:nvSpPr>
          <p:spPr>
            <a:xfrm>
              <a:off x="4041" y="3158"/>
              <a:ext cx="1092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9" name="Line 13"/>
            <p:cNvSpPr/>
            <p:nvPr/>
          </p:nvSpPr>
          <p:spPr>
            <a:xfrm>
              <a:off x="4041" y="2077"/>
              <a:ext cx="0" cy="1081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0" name="Line 14"/>
            <p:cNvSpPr/>
            <p:nvPr/>
          </p:nvSpPr>
          <p:spPr>
            <a:xfrm>
              <a:off x="4587" y="2077"/>
              <a:ext cx="0" cy="108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1" name="Line 15"/>
            <p:cNvSpPr/>
            <p:nvPr/>
          </p:nvSpPr>
          <p:spPr>
            <a:xfrm>
              <a:off x="5133" y="2077"/>
              <a:ext cx="0" cy="1081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12" name="Line 16"/>
            <p:cNvSpPr/>
            <p:nvPr/>
          </p:nvSpPr>
          <p:spPr>
            <a:xfrm flipH="1" flipV="1">
              <a:off x="3755" y="1780"/>
              <a:ext cx="286" cy="2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95" name="Text Box 17"/>
          <p:cNvSpPr txBox="1"/>
          <p:nvPr/>
        </p:nvSpPr>
        <p:spPr>
          <a:xfrm>
            <a:off x="1096963" y="3373438"/>
            <a:ext cx="165735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   0         1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03154" name="Rectangle 18"/>
          <p:cNvSpPr>
            <a:spLocks noChangeArrowheads="1"/>
          </p:cNvSpPr>
          <p:nvPr/>
        </p:nvSpPr>
        <p:spPr bwMode="auto">
          <a:xfrm>
            <a:off x="304800" y="3494088"/>
            <a:ext cx="5540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n</a:t>
            </a:r>
            <a:endParaRPr kumimoji="0" lang="en-US" altLang="zh-CN" sz="28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7" name="Text Box 19"/>
          <p:cNvSpPr txBox="1"/>
          <p:nvPr/>
        </p:nvSpPr>
        <p:spPr>
          <a:xfrm>
            <a:off x="593725" y="3949700"/>
            <a:ext cx="360363" cy="100488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0</a:t>
            </a:r>
            <a:endParaRPr lang="en-US" altLang="zh-CN" sz="2400" dirty="0">
              <a:latin typeface="Georgia" panose="02040502050405020303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12298" name="Text Box 20"/>
          <p:cNvSpPr txBox="1"/>
          <p:nvPr/>
        </p:nvSpPr>
        <p:spPr>
          <a:xfrm>
            <a:off x="666750" y="3302000"/>
            <a:ext cx="35877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pic>
        <p:nvPicPr>
          <p:cNvPr id="12299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2188" y="3738563"/>
            <a:ext cx="3097212" cy="1257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00" name="Text Box 22"/>
          <p:cNvSpPr txBox="1"/>
          <p:nvPr/>
        </p:nvSpPr>
        <p:spPr>
          <a:xfrm>
            <a:off x="4467225" y="3162300"/>
            <a:ext cx="1296988" cy="457200"/>
          </a:xfrm>
          <a:prstGeom prst="rect">
            <a:avLst/>
          </a:prstGeom>
          <a:noFill/>
          <a:ln w="571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状态图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sp>
        <p:nvSpPr>
          <p:cNvPr id="603159" name="Text Box 23"/>
          <p:cNvSpPr txBox="1">
            <a:spLocks noChangeArrowheads="1"/>
          </p:cNvSpPr>
          <p:nvPr/>
        </p:nvSpPr>
        <p:spPr bwMode="auto">
          <a:xfrm>
            <a:off x="6858000" y="3186113"/>
            <a:ext cx="1909763" cy="1552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状态方程：</a:t>
            </a:r>
            <a:endParaRPr kumimoji="0" lang="zh-CN" altLang="en-US" sz="2400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zh-CN" altLang="en-US" sz="2400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18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n+1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endParaRPr kumimoji="0" lang="en-US" altLang="zh-CN" sz="2400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0425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1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J-K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的功能表、激励表、状态表、状态图与状态方程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7" name="Rectangle 4"/>
          <p:cNvSpPr/>
          <p:nvPr/>
        </p:nvSpPr>
        <p:spPr>
          <a:xfrm>
            <a:off x="1143000" y="2362200"/>
            <a:ext cx="1766888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b="1" dirty="0">
                <a:latin typeface="Times New Roman" panose="02020603050405020304" charset="0"/>
              </a:rPr>
              <a:t>功能表</a:t>
            </a:r>
            <a:endParaRPr lang="zh-CN" altLang="en-US" sz="2400" b="1" dirty="0">
              <a:latin typeface="Times New Roman" panose="02020603050405020304" charset="0"/>
            </a:endParaRPr>
          </a:p>
        </p:txBody>
      </p:sp>
      <p:graphicFrame>
        <p:nvGraphicFramePr>
          <p:cNvPr id="604205" name="Group 45"/>
          <p:cNvGraphicFramePr>
            <a:graphicFrameLocks noGrp="1"/>
          </p:cNvGraphicFramePr>
          <p:nvPr/>
        </p:nvGraphicFramePr>
        <p:xfrm>
          <a:off x="533400" y="2819400"/>
          <a:ext cx="2808288" cy="3986213"/>
        </p:xfrm>
        <a:graphic>
          <a:graphicData uri="http://schemas.openxmlformats.org/drawingml/2006/table">
            <a:tbl>
              <a:tblPr/>
              <a:tblGrid>
                <a:gridCol w="1966913"/>
                <a:gridCol w="841375"/>
              </a:tblGrid>
              <a:tr h="4569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     K     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923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11303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7018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22352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7686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32258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6830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41402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5974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1     1     1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66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14" marB="456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329" name="AutoShape 16"/>
          <p:cNvSpPr/>
          <p:nvPr/>
        </p:nvSpPr>
        <p:spPr>
          <a:xfrm>
            <a:off x="3538538" y="3471863"/>
            <a:ext cx="215900" cy="431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sp>
        <p:nvSpPr>
          <p:cNvPr id="13330" name="AutoShape 17"/>
          <p:cNvSpPr/>
          <p:nvPr/>
        </p:nvSpPr>
        <p:spPr>
          <a:xfrm>
            <a:off x="3538538" y="4264025"/>
            <a:ext cx="215900" cy="431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sp>
        <p:nvSpPr>
          <p:cNvPr id="13331" name="AutoShape 18"/>
          <p:cNvSpPr/>
          <p:nvPr/>
        </p:nvSpPr>
        <p:spPr>
          <a:xfrm>
            <a:off x="3538538" y="5200650"/>
            <a:ext cx="215900" cy="431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sp>
        <p:nvSpPr>
          <p:cNvPr id="13332" name="AutoShape 19"/>
          <p:cNvSpPr/>
          <p:nvPr/>
        </p:nvSpPr>
        <p:spPr>
          <a:xfrm>
            <a:off x="3538538" y="6064250"/>
            <a:ext cx="215900" cy="431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sp>
        <p:nvSpPr>
          <p:cNvPr id="13333" name="Text Box 20"/>
          <p:cNvSpPr txBox="1"/>
          <p:nvPr/>
        </p:nvSpPr>
        <p:spPr>
          <a:xfrm>
            <a:off x="3951288" y="3417888"/>
            <a:ext cx="9318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 Hold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13334" name="Text Box 21"/>
          <p:cNvSpPr txBox="1"/>
          <p:nvPr/>
        </p:nvSpPr>
        <p:spPr>
          <a:xfrm>
            <a:off x="4022725" y="4210050"/>
            <a:ext cx="1158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Store 0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13335" name="Text Box 22"/>
          <p:cNvSpPr txBox="1"/>
          <p:nvPr/>
        </p:nvSpPr>
        <p:spPr>
          <a:xfrm>
            <a:off x="4022725" y="514667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Store 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13336" name="Text Box 23"/>
          <p:cNvSpPr txBox="1"/>
          <p:nvPr/>
        </p:nvSpPr>
        <p:spPr>
          <a:xfrm>
            <a:off x="4022725" y="6010275"/>
            <a:ext cx="1003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Count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grpSp>
        <p:nvGrpSpPr>
          <p:cNvPr id="604206" name="Group 46"/>
          <p:cNvGrpSpPr/>
          <p:nvPr/>
        </p:nvGrpSpPr>
        <p:grpSpPr>
          <a:xfrm>
            <a:off x="5638800" y="3505200"/>
            <a:ext cx="2808288" cy="2305050"/>
            <a:chOff x="3559" y="2196"/>
            <a:chExt cx="1769" cy="1452"/>
          </a:xfrm>
        </p:grpSpPr>
        <p:sp>
          <p:nvSpPr>
            <p:cNvPr id="604184" name="Rectangle 24"/>
            <p:cNvSpPr>
              <a:spLocks noChangeArrowheads="1"/>
            </p:cNvSpPr>
            <p:nvPr/>
          </p:nvSpPr>
          <p:spPr bwMode="auto">
            <a:xfrm>
              <a:off x="4829" y="2513"/>
              <a:ext cx="499" cy="10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185" name="Rectangle 25"/>
            <p:cNvSpPr>
              <a:spLocks noChangeArrowheads="1"/>
            </p:cNvSpPr>
            <p:nvPr/>
          </p:nvSpPr>
          <p:spPr bwMode="auto">
            <a:xfrm>
              <a:off x="3604" y="2514"/>
              <a:ext cx="1270" cy="108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533400" indent="-5334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914400" indent="-4572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295400" indent="-3810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0     0       0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0     1       1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     0       x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FF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     1       x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186" name="Rectangle 26"/>
            <p:cNvSpPr>
              <a:spLocks noChangeArrowheads="1"/>
            </p:cNvSpPr>
            <p:nvPr/>
          </p:nvSpPr>
          <p:spPr bwMode="auto">
            <a:xfrm>
              <a:off x="4829" y="2196"/>
              <a:ext cx="499" cy="3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K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187" name="Rectangle 27"/>
            <p:cNvSpPr>
              <a:spLocks noChangeArrowheads="1"/>
            </p:cNvSpPr>
            <p:nvPr/>
          </p:nvSpPr>
          <p:spPr bwMode="auto">
            <a:xfrm>
              <a:off x="3559" y="2196"/>
              <a:ext cx="1270" cy="3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n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J   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3" name="Line 28"/>
            <p:cNvSpPr/>
            <p:nvPr/>
          </p:nvSpPr>
          <p:spPr>
            <a:xfrm>
              <a:off x="3559" y="2196"/>
              <a:ext cx="176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4" name="Line 29"/>
            <p:cNvSpPr/>
            <p:nvPr/>
          </p:nvSpPr>
          <p:spPr>
            <a:xfrm>
              <a:off x="3559" y="2559"/>
              <a:ext cx="176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5" name="Line 30"/>
            <p:cNvSpPr/>
            <p:nvPr/>
          </p:nvSpPr>
          <p:spPr>
            <a:xfrm>
              <a:off x="3559" y="3648"/>
              <a:ext cx="176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6" name="Line 31"/>
            <p:cNvSpPr/>
            <p:nvPr/>
          </p:nvSpPr>
          <p:spPr>
            <a:xfrm>
              <a:off x="3559" y="2196"/>
              <a:ext cx="0" cy="145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7" name="Line 32"/>
            <p:cNvSpPr/>
            <p:nvPr/>
          </p:nvSpPr>
          <p:spPr>
            <a:xfrm>
              <a:off x="4466" y="2197"/>
              <a:ext cx="0" cy="140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48" name="Line 33"/>
            <p:cNvSpPr/>
            <p:nvPr/>
          </p:nvSpPr>
          <p:spPr>
            <a:xfrm>
              <a:off x="5328" y="2196"/>
              <a:ext cx="0" cy="145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04194" name="Rectangle 34"/>
          <p:cNvSpPr>
            <a:spLocks noChangeArrowheads="1"/>
          </p:cNvSpPr>
          <p:nvPr/>
        </p:nvSpPr>
        <p:spPr bwMode="auto">
          <a:xfrm>
            <a:off x="6608763" y="2838450"/>
            <a:ext cx="16335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rgbClr val="FFFF00"/>
              </a:buClr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激励表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5186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J-K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的功能表、激励表、状态表、状态图与状态方程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424863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8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4341" name="Group 4"/>
          <p:cNvGrpSpPr/>
          <p:nvPr/>
        </p:nvGrpSpPr>
        <p:grpSpPr>
          <a:xfrm>
            <a:off x="304800" y="2743200"/>
            <a:ext cx="3733800" cy="3276600"/>
            <a:chOff x="144" y="2016"/>
            <a:chExt cx="2352" cy="2064"/>
          </a:xfrm>
        </p:grpSpPr>
        <p:sp>
          <p:nvSpPr>
            <p:cNvPr id="605189" name="Rectangle 5"/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5190" name="Rectangle 6"/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幼圆" panose="02010509060101010101" pitchFamily="49" charset="-122"/>
                  <a:cs typeface="+mn-cs"/>
                </a:rPr>
                <a:t> 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605191" name="Rectangle 7"/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5" name="Line 8"/>
            <p:cNvSpPr/>
            <p:nvPr/>
          </p:nvSpPr>
          <p:spPr>
            <a:xfrm>
              <a:off x="555" y="2784"/>
              <a:ext cx="194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6" name="Line 9"/>
            <p:cNvSpPr/>
            <p:nvPr/>
          </p:nvSpPr>
          <p:spPr>
            <a:xfrm>
              <a:off x="555" y="3264"/>
              <a:ext cx="194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7" name="Line 10"/>
            <p:cNvSpPr/>
            <p:nvPr/>
          </p:nvSpPr>
          <p:spPr>
            <a:xfrm>
              <a:off x="555" y="3744"/>
              <a:ext cx="194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8" name="Line 11"/>
            <p:cNvSpPr/>
            <p:nvPr/>
          </p:nvSpPr>
          <p:spPr>
            <a:xfrm>
              <a:off x="555" y="2784"/>
              <a:ext cx="0" cy="95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9" name="Line 12"/>
            <p:cNvSpPr/>
            <p:nvPr/>
          </p:nvSpPr>
          <p:spPr>
            <a:xfrm>
              <a:off x="1008" y="2792"/>
              <a:ext cx="0" cy="95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0" name="Line 13"/>
            <p:cNvSpPr/>
            <p:nvPr/>
          </p:nvSpPr>
          <p:spPr>
            <a:xfrm>
              <a:off x="1536" y="2784"/>
              <a:ext cx="0" cy="95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1" name="Line 14"/>
            <p:cNvSpPr/>
            <p:nvPr/>
          </p:nvSpPr>
          <p:spPr>
            <a:xfrm>
              <a:off x="2016" y="2784"/>
              <a:ext cx="0" cy="95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2" name="Line 15"/>
            <p:cNvSpPr/>
            <p:nvPr/>
          </p:nvSpPr>
          <p:spPr>
            <a:xfrm>
              <a:off x="2496" y="2784"/>
              <a:ext cx="0" cy="952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3" name="Line 16"/>
            <p:cNvSpPr/>
            <p:nvPr/>
          </p:nvSpPr>
          <p:spPr>
            <a:xfrm>
              <a:off x="192" y="2400"/>
              <a:ext cx="363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4" name="Text Box 17"/>
            <p:cNvSpPr txBox="1"/>
            <p:nvPr/>
          </p:nvSpPr>
          <p:spPr>
            <a:xfrm>
              <a:off x="279" y="2280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endParaRPr lang="en-US" altLang="zh-CN" sz="2400" dirty="0"/>
            </a:p>
          </p:txBody>
        </p:sp>
        <p:sp>
          <p:nvSpPr>
            <p:cNvPr id="14365" name="Text Box 18"/>
            <p:cNvSpPr txBox="1"/>
            <p:nvPr/>
          </p:nvSpPr>
          <p:spPr>
            <a:xfrm>
              <a:off x="416" y="2462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K</a:t>
              </a:r>
              <a:endParaRPr lang="en-US" altLang="zh-CN" sz="2400" dirty="0"/>
            </a:p>
          </p:txBody>
        </p:sp>
        <p:sp>
          <p:nvSpPr>
            <p:cNvPr id="605203" name="Text Box 19"/>
            <p:cNvSpPr txBox="1">
              <a:spLocks noChangeArrowheads="1"/>
            </p:cNvSpPr>
            <p:nvPr/>
          </p:nvSpPr>
          <p:spPr bwMode="auto">
            <a:xfrm>
              <a:off x="144" y="255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kern="1200" cap="none" spc="0" normalizeH="0" baseline="-2500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0" lang="en-US" altLang="zh-CN" sz="2400" kern="1200" cap="none" spc="0" normalizeH="0" baseline="-2500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67" name="Group 20"/>
            <p:cNvGrpSpPr/>
            <p:nvPr/>
          </p:nvGrpSpPr>
          <p:grpSpPr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14382" name="Text Box 21"/>
              <p:cNvSpPr txBox="1"/>
              <p:nvPr/>
            </p:nvSpPr>
            <p:spPr>
              <a:xfrm>
                <a:off x="1156" y="2704"/>
                <a:ext cx="3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/>
                  <a:t>1</a:t>
                </a:r>
                <a:endParaRPr lang="en-US" altLang="zh-CN" sz="2400" dirty="0"/>
              </a:p>
            </p:txBody>
          </p:sp>
          <p:sp>
            <p:nvSpPr>
              <p:cNvPr id="14383" name="Text Box 22"/>
              <p:cNvSpPr txBox="1"/>
              <p:nvPr/>
            </p:nvSpPr>
            <p:spPr>
              <a:xfrm>
                <a:off x="1156" y="2205"/>
                <a:ext cx="3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/>
                  <a:t>0</a:t>
                </a:r>
                <a:endParaRPr lang="en-US" altLang="zh-CN" sz="2400" dirty="0"/>
              </a:p>
            </p:txBody>
          </p:sp>
        </p:grpSp>
        <p:sp>
          <p:nvSpPr>
            <p:cNvPr id="14368" name="Text Box 23"/>
            <p:cNvSpPr txBox="1"/>
            <p:nvPr/>
          </p:nvSpPr>
          <p:spPr>
            <a:xfrm>
              <a:off x="688" y="2507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00</a:t>
              </a:r>
              <a:endParaRPr lang="en-US" altLang="zh-CN" sz="2400" dirty="0"/>
            </a:p>
          </p:txBody>
        </p:sp>
        <p:sp>
          <p:nvSpPr>
            <p:cNvPr id="14369" name="Text Box 24"/>
            <p:cNvSpPr txBox="1"/>
            <p:nvPr/>
          </p:nvSpPr>
          <p:spPr>
            <a:xfrm>
              <a:off x="1605" y="2507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11</a:t>
              </a:r>
              <a:endParaRPr lang="en-US" altLang="zh-CN" sz="2400" dirty="0"/>
            </a:p>
          </p:txBody>
        </p:sp>
        <p:sp>
          <p:nvSpPr>
            <p:cNvPr id="14370" name="Text Box 25"/>
            <p:cNvSpPr txBox="1"/>
            <p:nvPr/>
          </p:nvSpPr>
          <p:spPr>
            <a:xfrm>
              <a:off x="1104" y="2507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01</a:t>
              </a:r>
              <a:endParaRPr lang="en-US" altLang="zh-CN" sz="2400" dirty="0"/>
            </a:p>
          </p:txBody>
        </p:sp>
        <p:sp>
          <p:nvSpPr>
            <p:cNvPr id="14371" name="Text Box 26"/>
            <p:cNvSpPr txBox="1"/>
            <p:nvPr/>
          </p:nvSpPr>
          <p:spPr>
            <a:xfrm>
              <a:off x="2085" y="2507"/>
              <a:ext cx="3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/>
                <a:t>10</a:t>
              </a:r>
              <a:endParaRPr lang="en-US" altLang="zh-CN" sz="2400" dirty="0"/>
            </a:p>
          </p:txBody>
        </p:sp>
        <p:sp>
          <p:nvSpPr>
            <p:cNvPr id="14372" name="Rectangle 27"/>
            <p:cNvSpPr/>
            <p:nvPr/>
          </p:nvSpPr>
          <p:spPr>
            <a:xfrm>
              <a:off x="1152" y="291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r>
                <a:rPr lang="en-US" altLang="zh-CN" sz="2400" b="1" dirty="0"/>
                <a:t> </a:t>
              </a:r>
              <a:endParaRPr lang="en-US" altLang="zh-CN" sz="2400" b="1" dirty="0"/>
            </a:p>
          </p:txBody>
        </p:sp>
        <p:sp>
          <p:nvSpPr>
            <p:cNvPr id="14373" name="Rectangle 28"/>
            <p:cNvSpPr/>
            <p:nvPr/>
          </p:nvSpPr>
          <p:spPr>
            <a:xfrm>
              <a:off x="672" y="2901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r>
                <a:rPr lang="en-US" altLang="zh-CN" sz="2400" b="1" dirty="0"/>
                <a:t> </a:t>
              </a:r>
              <a:endParaRPr lang="en-US" altLang="zh-CN" sz="2400" b="1" dirty="0"/>
            </a:p>
          </p:txBody>
        </p:sp>
        <p:sp>
          <p:nvSpPr>
            <p:cNvPr id="14374" name="Rectangle 29"/>
            <p:cNvSpPr/>
            <p:nvPr/>
          </p:nvSpPr>
          <p:spPr>
            <a:xfrm>
              <a:off x="1680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14375" name="Rectangle 30"/>
            <p:cNvSpPr/>
            <p:nvPr/>
          </p:nvSpPr>
          <p:spPr>
            <a:xfrm>
              <a:off x="2160" y="2915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r>
                <a:rPr lang="en-US" altLang="zh-CN" sz="2400" b="1" dirty="0"/>
                <a:t> </a:t>
              </a:r>
              <a:endParaRPr lang="en-US" altLang="zh-CN" sz="2400" b="1" dirty="0"/>
            </a:p>
          </p:txBody>
        </p:sp>
        <p:sp>
          <p:nvSpPr>
            <p:cNvPr id="14376" name="Rectangle 31"/>
            <p:cNvSpPr/>
            <p:nvPr/>
          </p:nvSpPr>
          <p:spPr>
            <a:xfrm>
              <a:off x="1152" y="341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endParaRPr lang="en-US" altLang="zh-CN" sz="2400" b="1" dirty="0"/>
            </a:p>
          </p:txBody>
        </p:sp>
        <p:sp>
          <p:nvSpPr>
            <p:cNvPr id="14377" name="Rectangle 32"/>
            <p:cNvSpPr/>
            <p:nvPr/>
          </p:nvSpPr>
          <p:spPr>
            <a:xfrm>
              <a:off x="644" y="3369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r>
                <a:rPr lang="en-US" altLang="zh-CN" sz="2400" b="1" dirty="0">
                  <a:solidFill>
                    <a:schemeClr val="folHlink"/>
                  </a:solidFill>
                </a:rPr>
                <a:t> </a:t>
              </a:r>
              <a:endParaRPr lang="en-US" altLang="zh-CN" sz="2400" b="1" dirty="0">
                <a:solidFill>
                  <a:schemeClr val="folHlink"/>
                </a:solidFill>
              </a:endParaRPr>
            </a:p>
          </p:txBody>
        </p:sp>
        <p:sp>
          <p:nvSpPr>
            <p:cNvPr id="14378" name="Rectangle 33"/>
            <p:cNvSpPr/>
            <p:nvPr/>
          </p:nvSpPr>
          <p:spPr>
            <a:xfrm>
              <a:off x="1680" y="3398"/>
              <a:ext cx="2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r>
                <a:rPr lang="en-US" altLang="zh-CN" sz="2400" b="1" dirty="0"/>
                <a:t> </a:t>
              </a:r>
              <a:endParaRPr lang="en-US" altLang="zh-CN" sz="2400" b="1" dirty="0"/>
            </a:p>
          </p:txBody>
        </p:sp>
        <p:sp>
          <p:nvSpPr>
            <p:cNvPr id="14379" name="Rectangle 34"/>
            <p:cNvSpPr/>
            <p:nvPr/>
          </p:nvSpPr>
          <p:spPr>
            <a:xfrm>
              <a:off x="2160" y="336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605219" name="Rectangle 35"/>
            <p:cNvSpPr>
              <a:spLocks noChangeArrowheads="1"/>
            </p:cNvSpPr>
            <p:nvPr/>
          </p:nvSpPr>
          <p:spPr bwMode="auto">
            <a:xfrm>
              <a:off x="1152" y="2016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状态表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5220" name="Rectangle 36"/>
            <p:cNvSpPr>
              <a:spLocks noChangeArrowheads="1"/>
            </p:cNvSpPr>
            <p:nvPr/>
          </p:nvSpPr>
          <p:spPr bwMode="auto">
            <a:xfrm>
              <a:off x="1352" y="379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n+1</a:t>
              </a:r>
              <a:endPara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342" name="Group 37"/>
          <p:cNvGrpSpPr/>
          <p:nvPr/>
        </p:nvGrpSpPr>
        <p:grpSpPr>
          <a:xfrm>
            <a:off x="4286250" y="2698750"/>
            <a:ext cx="4705350" cy="1949450"/>
            <a:chOff x="2700" y="1700"/>
            <a:chExt cx="2964" cy="1228"/>
          </a:xfrm>
        </p:grpSpPr>
        <p:pic>
          <p:nvPicPr>
            <p:cNvPr id="14347" name="Picture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00" y="2130"/>
              <a:ext cx="2964" cy="7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5223" name="Rectangle 39"/>
            <p:cNvSpPr>
              <a:spLocks noChangeArrowheads="1"/>
            </p:cNvSpPr>
            <p:nvPr/>
          </p:nvSpPr>
          <p:spPr bwMode="auto">
            <a:xfrm>
              <a:off x="3697" y="170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状态图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49" name="Group 40"/>
            <p:cNvGrpSpPr/>
            <p:nvPr/>
          </p:nvGrpSpPr>
          <p:grpSpPr>
            <a:xfrm>
              <a:off x="4786" y="1749"/>
              <a:ext cx="816" cy="288"/>
              <a:chOff x="2381" y="3022"/>
              <a:chExt cx="816" cy="288"/>
            </a:xfrm>
          </p:grpSpPr>
          <p:sp>
            <p:nvSpPr>
              <p:cNvPr id="14350" name="Text Box 41"/>
              <p:cNvSpPr txBox="1"/>
              <p:nvPr/>
            </p:nvSpPr>
            <p:spPr>
              <a:xfrm>
                <a:off x="2381" y="3022"/>
                <a:ext cx="8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JK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14351" name="Line 42"/>
              <p:cNvSpPr/>
              <p:nvPr/>
            </p:nvSpPr>
            <p:spPr>
              <a:xfrm flipV="1">
                <a:off x="2448" y="3264"/>
                <a:ext cx="57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4343" name="Group 43"/>
          <p:cNvGrpSpPr/>
          <p:nvPr/>
        </p:nvGrpSpPr>
        <p:grpSpPr>
          <a:xfrm>
            <a:off x="5334000" y="5029200"/>
            <a:ext cx="2562225" cy="1187450"/>
            <a:chOff x="3651" y="3317"/>
            <a:chExt cx="1614" cy="748"/>
          </a:xfrm>
        </p:grpSpPr>
        <p:sp>
          <p:nvSpPr>
            <p:cNvPr id="605228" name="Rectangle 44"/>
            <p:cNvSpPr>
              <a:spLocks noChangeArrowheads="1"/>
            </p:cNvSpPr>
            <p:nvPr/>
          </p:nvSpPr>
          <p:spPr bwMode="auto">
            <a:xfrm>
              <a:off x="3651" y="3317"/>
              <a:ext cx="1614" cy="74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状态方程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n+1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=J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+K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 </a:t>
              </a:r>
              <a:endPara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45" name="Line 45"/>
            <p:cNvSpPr/>
            <p:nvPr/>
          </p:nvSpPr>
          <p:spPr>
            <a:xfrm>
              <a:off x="4357" y="3832"/>
              <a:ext cx="1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6" name="Line 46"/>
            <p:cNvSpPr/>
            <p:nvPr/>
          </p:nvSpPr>
          <p:spPr>
            <a:xfrm>
              <a:off x="4765" y="3832"/>
              <a:ext cx="18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04813"/>
            <a:ext cx="8534400" cy="6492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6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的功能表、激励表、状态表、状态图与状态方程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06237" name="Group 29"/>
          <p:cNvGraphicFramePr>
            <a:graphicFrameLocks noGrp="1"/>
          </p:cNvGraphicFramePr>
          <p:nvPr/>
        </p:nvGraphicFramePr>
        <p:xfrm>
          <a:off x="914400" y="3505200"/>
          <a:ext cx="2362200" cy="2587625"/>
        </p:xfrm>
        <a:graphic>
          <a:graphicData uri="http://schemas.openxmlformats.org/drawingml/2006/table">
            <a:tbl>
              <a:tblPr/>
              <a:tblGrid>
                <a:gridCol w="1438275"/>
                <a:gridCol w="923925"/>
              </a:tblGrid>
              <a:tr h="53329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T  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433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1     0  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0     1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6223" name="Text Box 15"/>
          <p:cNvSpPr txBox="1">
            <a:spLocks noChangeArrowheads="1"/>
          </p:cNvSpPr>
          <p:nvPr/>
        </p:nvSpPr>
        <p:spPr bwMode="auto">
          <a:xfrm>
            <a:off x="1143000" y="2819400"/>
            <a:ext cx="1219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功能表</a:t>
            </a:r>
            <a:endParaRPr kumimoji="0" lang="zh-CN" altLang="en-US" sz="2400" kern="1200" cap="none" spc="0" normalizeH="0" baseline="0" noProof="0"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6224" name="Text Box 16"/>
          <p:cNvSpPr txBox="1">
            <a:spLocks noChangeArrowheads="1"/>
          </p:cNvSpPr>
          <p:nvPr/>
        </p:nvSpPr>
        <p:spPr bwMode="auto">
          <a:xfrm>
            <a:off x="4838700" y="2819400"/>
            <a:ext cx="11811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激励表</a:t>
            </a:r>
            <a:endParaRPr kumimoji="0" lang="zh-CN" altLang="en-US" sz="24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06240" name="Group 32"/>
          <p:cNvGraphicFramePr>
            <a:graphicFrameLocks noGrp="1"/>
          </p:cNvGraphicFramePr>
          <p:nvPr/>
        </p:nvGraphicFramePr>
        <p:xfrm>
          <a:off x="4343400" y="3522663"/>
          <a:ext cx="2295525" cy="2571750"/>
        </p:xfrm>
        <a:graphic>
          <a:graphicData uri="http://schemas.openxmlformats.org/drawingml/2006/table">
            <a:tbl>
              <a:tblPr/>
              <a:tblGrid>
                <a:gridCol w="1554163"/>
                <a:gridCol w="741362"/>
              </a:tblGrid>
              <a:tr h="5178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552" marB="45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552" marB="45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3942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552" marB="45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552" marB="45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10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72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的功能表、激励表、状态表、状态图与状态方程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6389" name="Group 4"/>
          <p:cNvGrpSpPr/>
          <p:nvPr/>
        </p:nvGrpSpPr>
        <p:grpSpPr>
          <a:xfrm>
            <a:off x="762000" y="2881313"/>
            <a:ext cx="2339975" cy="2833687"/>
            <a:chOff x="480" y="1815"/>
            <a:chExt cx="1474" cy="1785"/>
          </a:xfrm>
        </p:grpSpPr>
        <p:sp>
          <p:nvSpPr>
            <p:cNvPr id="16393" name="Text Box 5"/>
            <p:cNvSpPr txBox="1"/>
            <p:nvPr/>
          </p:nvSpPr>
          <p:spPr>
            <a:xfrm>
              <a:off x="1002" y="1815"/>
              <a:ext cx="861" cy="288"/>
            </a:xfrm>
            <a:prstGeom prst="rect">
              <a:avLst/>
            </a:prstGeom>
            <a:noFill/>
            <a:ln w="5715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</a:rPr>
                <a:t>状态表</a:t>
              </a:r>
              <a:endParaRPr lang="zh-CN" altLang="en-US" sz="24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16394" name="Group 6"/>
            <p:cNvGrpSpPr/>
            <p:nvPr/>
          </p:nvGrpSpPr>
          <p:grpSpPr>
            <a:xfrm>
              <a:off x="576" y="2253"/>
              <a:ext cx="1378" cy="952"/>
              <a:chOff x="3755" y="1780"/>
              <a:chExt cx="1378" cy="1378"/>
            </a:xfrm>
          </p:grpSpPr>
          <p:sp>
            <p:nvSpPr>
              <p:cNvPr id="607239" name="Rectangle 7"/>
              <p:cNvSpPr>
                <a:spLocks noChangeArrowheads="1"/>
              </p:cNvSpPr>
              <p:nvPr/>
            </p:nvSpPr>
            <p:spPr bwMode="auto">
              <a:xfrm>
                <a:off x="4587" y="2622"/>
                <a:ext cx="546" cy="5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   0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7240" name="Rectangle 8"/>
              <p:cNvSpPr>
                <a:spLocks noChangeArrowheads="1"/>
              </p:cNvSpPr>
              <p:nvPr/>
            </p:nvSpPr>
            <p:spPr bwMode="auto">
              <a:xfrm>
                <a:off x="4041" y="2622"/>
                <a:ext cx="546" cy="5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   1 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7241" name="Rectangle 9"/>
              <p:cNvSpPr>
                <a:spLocks noChangeArrowheads="1"/>
              </p:cNvSpPr>
              <p:nvPr/>
            </p:nvSpPr>
            <p:spPr bwMode="auto">
              <a:xfrm>
                <a:off x="4587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   1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7242" name="Rectangle 10"/>
              <p:cNvSpPr>
                <a:spLocks noChangeArrowheads="1"/>
              </p:cNvSpPr>
              <p:nvPr/>
            </p:nvSpPr>
            <p:spPr bwMode="auto">
              <a:xfrm>
                <a:off x="4041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  <a:cs typeface="+mn-cs"/>
                  </a:rPr>
                  <a:t>   0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04" name="Line 11"/>
              <p:cNvSpPr/>
              <p:nvPr/>
            </p:nvSpPr>
            <p:spPr>
              <a:xfrm>
                <a:off x="4041" y="2077"/>
                <a:ext cx="1092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5" name="Line 12"/>
              <p:cNvSpPr/>
              <p:nvPr/>
            </p:nvSpPr>
            <p:spPr>
              <a:xfrm>
                <a:off x="4041" y="2623"/>
                <a:ext cx="1092" cy="0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6" name="Line 13"/>
              <p:cNvSpPr/>
              <p:nvPr/>
            </p:nvSpPr>
            <p:spPr>
              <a:xfrm>
                <a:off x="4041" y="3158"/>
                <a:ext cx="1092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7" name="Line 14"/>
              <p:cNvSpPr/>
              <p:nvPr/>
            </p:nvSpPr>
            <p:spPr>
              <a:xfrm>
                <a:off x="4041" y="2077"/>
                <a:ext cx="0" cy="1081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8" name="Line 15"/>
              <p:cNvSpPr/>
              <p:nvPr/>
            </p:nvSpPr>
            <p:spPr>
              <a:xfrm>
                <a:off x="4587" y="2077"/>
                <a:ext cx="0" cy="1081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09" name="Line 16"/>
              <p:cNvSpPr/>
              <p:nvPr/>
            </p:nvSpPr>
            <p:spPr>
              <a:xfrm>
                <a:off x="5133" y="2077"/>
                <a:ext cx="0" cy="1081"/>
              </a:xfrm>
              <a:prstGeom prst="line">
                <a:avLst/>
              </a:prstGeom>
              <a:ln w="12700" cap="rnd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6410" name="Line 17"/>
              <p:cNvSpPr/>
              <p:nvPr/>
            </p:nvSpPr>
            <p:spPr>
              <a:xfrm flipH="1" flipV="1">
                <a:off x="3755" y="1780"/>
                <a:ext cx="286" cy="29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6395" name="Text Box 18"/>
            <p:cNvSpPr txBox="1"/>
            <p:nvPr/>
          </p:nvSpPr>
          <p:spPr>
            <a:xfrm>
              <a:off x="662" y="2144"/>
              <a:ext cx="22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T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607251" name="Rectangle 19"/>
            <p:cNvSpPr>
              <a:spLocks noChangeArrowheads="1"/>
            </p:cNvSpPr>
            <p:nvPr/>
          </p:nvSpPr>
          <p:spPr bwMode="auto">
            <a:xfrm>
              <a:off x="480" y="2254"/>
              <a:ext cx="373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8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</a:t>
              </a:r>
              <a:endPara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97" name="Text Box 20"/>
            <p:cNvSpPr txBox="1"/>
            <p:nvPr/>
          </p:nvSpPr>
          <p:spPr>
            <a:xfrm>
              <a:off x="864" y="2149"/>
              <a:ext cx="10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Georgia" panose="02040502050405020303" pitchFamily="18" charset="0"/>
                </a:rPr>
                <a:t>   </a:t>
              </a:r>
              <a:r>
                <a:rPr lang="en-US" altLang="zh-CN" sz="2800" dirty="0">
                  <a:latin typeface="Times New Roman" panose="02020603050405020304" charset="0"/>
                </a:rPr>
                <a:t>0        1</a:t>
              </a:r>
              <a:endParaRPr lang="en-US" altLang="zh-CN" sz="2800" dirty="0">
                <a:latin typeface="Times New Roman" panose="02020603050405020304" charset="0"/>
              </a:endParaRPr>
            </a:p>
          </p:txBody>
        </p:sp>
        <p:sp>
          <p:nvSpPr>
            <p:cNvPr id="16398" name="Text Box 21"/>
            <p:cNvSpPr txBox="1"/>
            <p:nvPr/>
          </p:nvSpPr>
          <p:spPr>
            <a:xfrm>
              <a:off x="637" y="2485"/>
              <a:ext cx="227" cy="7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charset="0"/>
                </a:rPr>
                <a:t>0</a:t>
              </a:r>
              <a:endParaRPr lang="en-US" altLang="zh-CN" sz="28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dirty="0">
                  <a:latin typeface="Times New Roman" panose="02020603050405020304" charset="0"/>
                </a:rPr>
                <a:t>1</a:t>
              </a:r>
              <a:endParaRPr lang="en-US" altLang="zh-CN" sz="2800" dirty="0">
                <a:latin typeface="Times New Roman" panose="02020603050405020304" charset="0"/>
              </a:endParaRPr>
            </a:p>
          </p:txBody>
        </p:sp>
        <p:sp>
          <p:nvSpPr>
            <p:cNvPr id="607254" name="Rectangle 22"/>
            <p:cNvSpPr>
              <a:spLocks noChangeArrowheads="1"/>
            </p:cNvSpPr>
            <p:nvPr/>
          </p:nvSpPr>
          <p:spPr bwMode="auto">
            <a:xfrm>
              <a:off x="1152" y="3312"/>
              <a:ext cx="472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n+1</a:t>
              </a:r>
              <a:endPara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6390" name="Object 23"/>
          <p:cNvGraphicFramePr>
            <a:graphicFrameLocks noChangeAspect="1"/>
          </p:cNvGraphicFramePr>
          <p:nvPr/>
        </p:nvGraphicFramePr>
        <p:xfrm>
          <a:off x="4191000" y="3505200"/>
          <a:ext cx="3816350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667125" imgH="1152525" progId="Paint.Picture">
                  <p:embed/>
                </p:oleObj>
              </mc:Choice>
              <mc:Fallback>
                <p:oleObj name="" r:id="rId1" imgW="3667125" imgH="11525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1000" y="3505200"/>
                        <a:ext cx="3816350" cy="1347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56" name="Rectangle 24"/>
          <p:cNvSpPr>
            <a:spLocks noChangeArrowheads="1"/>
          </p:cNvSpPr>
          <p:nvPr/>
        </p:nvSpPr>
        <p:spPr bwMode="auto">
          <a:xfrm>
            <a:off x="5410200" y="2947988"/>
            <a:ext cx="11033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状态图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7257" name="Rectangle 25"/>
          <p:cNvSpPr>
            <a:spLocks noChangeArrowheads="1"/>
          </p:cNvSpPr>
          <p:nvPr/>
        </p:nvSpPr>
        <p:spPr bwMode="auto">
          <a:xfrm>
            <a:off x="4648200" y="5292725"/>
            <a:ext cx="2376488" cy="9445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状态方程：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n+1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n</a:t>
            </a:r>
            <a:endParaRPr kumimoji="0" lang="en-US" altLang="zh-CN" sz="28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57410" name="Rectangle 2"/>
          <p:cNvSpPr>
            <a:spLocks noChangeArrowheads="1"/>
          </p:cNvSpPr>
          <p:nvPr/>
        </p:nvSpPr>
        <p:spPr bwMode="auto">
          <a:xfrm>
            <a:off x="609600" y="1143000"/>
            <a:ext cx="8153400" cy="50990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609600" indent="-609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526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09800" indent="-381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同步时序电路的分析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给定一个逻辑电路，分析该电路完成的逻辑功能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分析过程：逻辑图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状态图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文字描述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868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7412" name="Rectangle 4"/>
          <p:cNvSpPr>
            <a:spLocks noChangeArrowheads="1"/>
          </p:cNvSpPr>
          <p:nvPr/>
        </p:nvSpPr>
        <p:spPr bwMode="auto">
          <a:xfrm>
            <a:off x="609600" y="3124200"/>
            <a:ext cx="8534400" cy="24066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同步时序电路的设计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根据要求的逻辑功能，设计能够完成该逻辑功能的电路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同步时序电路设计过程是同步时序电路分析的逆过程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设计过程：文字描述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状态图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逻辑图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同步时序电路的分析与设计方法（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23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1534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小结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时序电路的一般结构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同步时序电路的特点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；时钟到来，状态改变；一个脉冲只能改变一次状态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同步时序电路的分析工具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状态图、状态表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同步时序电路的基本概念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功能表、现态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</a:t>
            </a:r>
            <a:r>
              <a:rPr kumimoji="0" lang="zh-CN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n+1</a:t>
            </a:r>
            <a:r>
              <a: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状态表、状态图、状态方程、激励表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三种触发器的功能表、激励表、状态表、状态图与状态方程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第四章 同步时序电路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Synchronous  Sequential Logic Circuit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972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§1.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触发器</a:t>
            </a:r>
            <a:endParaRPr kumimoji="0" lang="zh-CN" altLang="en-US" sz="2800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§2.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同步时序电路的分析与设计方法</a:t>
            </a:r>
            <a:endParaRPr kumimoji="0" lang="zh-CN" altLang="en-US" sz="28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§3. </a:t>
            </a: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计数器</a:t>
            </a:r>
            <a:endParaRPr kumimoji="0" lang="zh-CN" altLang="en-US" sz="2800" b="1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§4. </a:t>
            </a: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移位寄存器</a:t>
            </a:r>
            <a:endParaRPr kumimoji="0" lang="zh-CN" altLang="en-US" sz="2400" b="1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973" name="Rectangle 5"/>
          <p:cNvSpPr/>
          <p:nvPr/>
        </p:nvSpPr>
        <p:spPr>
          <a:xfrm>
            <a:off x="762000" y="332105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58775"/>
            <a:ext cx="8382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同步时序电路的分析方法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30" name="Group 32"/>
          <p:cNvGrpSpPr/>
          <p:nvPr/>
        </p:nvGrpSpPr>
        <p:grpSpPr>
          <a:xfrm>
            <a:off x="5168900" y="1997075"/>
            <a:ext cx="2160588" cy="3657600"/>
            <a:chOff x="2256" y="1872"/>
            <a:chExt cx="1361" cy="2304"/>
          </a:xfrm>
        </p:grpSpPr>
        <p:sp>
          <p:nvSpPr>
            <p:cNvPr id="22558" name="Text Box 33"/>
            <p:cNvSpPr txBox="1"/>
            <p:nvPr/>
          </p:nvSpPr>
          <p:spPr>
            <a:xfrm>
              <a:off x="2256" y="3888"/>
              <a:ext cx="136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</a:rPr>
                <a:t>简化的电路图</a:t>
              </a:r>
              <a:endParaRPr lang="zh-CN" altLang="en-US" sz="24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22559" name="Group 34"/>
            <p:cNvGrpSpPr/>
            <p:nvPr/>
          </p:nvGrpSpPr>
          <p:grpSpPr>
            <a:xfrm>
              <a:off x="2496" y="1872"/>
              <a:ext cx="768" cy="2016"/>
              <a:chOff x="2544" y="2016"/>
              <a:chExt cx="768" cy="2016"/>
            </a:xfrm>
          </p:grpSpPr>
          <p:sp>
            <p:nvSpPr>
              <p:cNvPr id="22560" name="Rectangle 35"/>
              <p:cNvSpPr/>
              <p:nvPr/>
            </p:nvSpPr>
            <p:spPr>
              <a:xfrm>
                <a:off x="2544" y="2640"/>
                <a:ext cx="768" cy="5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2561" name="Line 36"/>
              <p:cNvSpPr/>
              <p:nvPr/>
            </p:nvSpPr>
            <p:spPr>
              <a:xfrm flipV="1">
                <a:off x="2928" y="23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2" name="Line 37"/>
              <p:cNvSpPr/>
              <p:nvPr/>
            </p:nvSpPr>
            <p:spPr>
              <a:xfrm flipH="1" flipV="1">
                <a:off x="2784" y="3168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63" name="Text Box 38"/>
              <p:cNvSpPr txBox="1"/>
              <p:nvPr/>
            </p:nvSpPr>
            <p:spPr>
              <a:xfrm>
                <a:off x="2572" y="3744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64" name="Text Box 39"/>
              <p:cNvSpPr txBox="1"/>
              <p:nvPr/>
            </p:nvSpPr>
            <p:spPr>
              <a:xfrm>
                <a:off x="3024" y="3744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X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65" name="Text Box 40"/>
              <p:cNvSpPr txBox="1"/>
              <p:nvPr/>
            </p:nvSpPr>
            <p:spPr>
              <a:xfrm>
                <a:off x="2832" y="2016"/>
                <a:ext cx="2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Z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66" name="Line 41"/>
              <p:cNvSpPr/>
              <p:nvPr/>
            </p:nvSpPr>
            <p:spPr>
              <a:xfrm flipH="1" flipV="1">
                <a:off x="3072" y="3168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" name="组合 5"/>
          <p:cNvGrpSpPr/>
          <p:nvPr/>
        </p:nvGrpSpPr>
        <p:grpSpPr>
          <a:xfrm>
            <a:off x="1282700" y="1844675"/>
            <a:ext cx="2667000" cy="3810000"/>
            <a:chOff x="1282700" y="1844675"/>
            <a:chExt cx="2667000" cy="3810000"/>
          </a:xfrm>
        </p:grpSpPr>
        <p:grpSp>
          <p:nvGrpSpPr>
            <p:cNvPr id="22534" name="Group 6"/>
            <p:cNvGrpSpPr/>
            <p:nvPr/>
          </p:nvGrpSpPr>
          <p:grpSpPr>
            <a:xfrm>
              <a:off x="1282700" y="1844675"/>
              <a:ext cx="2667000" cy="3810000"/>
              <a:chOff x="720" y="1872"/>
              <a:chExt cx="1680" cy="2400"/>
            </a:xfrm>
          </p:grpSpPr>
          <p:sp>
            <p:nvSpPr>
              <p:cNvPr id="22536" name="Rectangle 7"/>
              <p:cNvSpPr/>
              <p:nvPr/>
            </p:nvSpPr>
            <p:spPr>
              <a:xfrm>
                <a:off x="763" y="2448"/>
                <a:ext cx="907" cy="4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  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  D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37" name="Line 8"/>
              <p:cNvSpPr/>
              <p:nvPr/>
            </p:nvSpPr>
            <p:spPr>
              <a:xfrm flipV="1">
                <a:off x="1488" y="225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38" name="Line 9"/>
              <p:cNvSpPr/>
              <p:nvPr/>
            </p:nvSpPr>
            <p:spPr>
              <a:xfrm>
                <a:off x="1488" y="2256"/>
                <a:ext cx="384" cy="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39" name="Line 10"/>
              <p:cNvSpPr/>
              <p:nvPr/>
            </p:nvSpPr>
            <p:spPr>
              <a:xfrm>
                <a:off x="2112" y="2832"/>
                <a:ext cx="0" cy="81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0" name="Line 11"/>
              <p:cNvSpPr/>
              <p:nvPr/>
            </p:nvSpPr>
            <p:spPr>
              <a:xfrm>
                <a:off x="2304" y="2832"/>
                <a:ext cx="1" cy="9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1" name="Line 12"/>
              <p:cNvSpPr/>
              <p:nvPr/>
            </p:nvSpPr>
            <p:spPr>
              <a:xfrm>
                <a:off x="1488" y="2924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2" name="Line 13"/>
              <p:cNvSpPr/>
              <p:nvPr/>
            </p:nvSpPr>
            <p:spPr>
              <a:xfrm flipH="1">
                <a:off x="960" y="2928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3" name="Text Box 14"/>
              <p:cNvSpPr txBox="1"/>
              <p:nvPr/>
            </p:nvSpPr>
            <p:spPr>
              <a:xfrm>
                <a:off x="720" y="3984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44" name="Rectangle 16"/>
              <p:cNvSpPr/>
              <p:nvPr/>
            </p:nvSpPr>
            <p:spPr>
              <a:xfrm>
                <a:off x="1307" y="3241"/>
                <a:ext cx="363" cy="2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45" name="Line 18"/>
              <p:cNvSpPr/>
              <p:nvPr/>
            </p:nvSpPr>
            <p:spPr>
              <a:xfrm>
                <a:off x="1579" y="3468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6" name="Line 19"/>
              <p:cNvSpPr/>
              <p:nvPr/>
            </p:nvSpPr>
            <p:spPr>
              <a:xfrm>
                <a:off x="1579" y="3650"/>
                <a:ext cx="5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7" name="Line 20"/>
              <p:cNvSpPr/>
              <p:nvPr/>
            </p:nvSpPr>
            <p:spPr>
              <a:xfrm>
                <a:off x="1392" y="3456"/>
                <a:ext cx="0" cy="49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8" name="Line 21"/>
              <p:cNvSpPr/>
              <p:nvPr/>
            </p:nvSpPr>
            <p:spPr>
              <a:xfrm>
                <a:off x="1398" y="3740"/>
                <a:ext cx="90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9" name="Text Box 22"/>
              <p:cNvSpPr txBox="1"/>
              <p:nvPr/>
            </p:nvSpPr>
            <p:spPr>
              <a:xfrm>
                <a:off x="1249" y="3984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X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2550" name="Rectangle 23"/>
              <p:cNvSpPr/>
              <p:nvPr/>
            </p:nvSpPr>
            <p:spPr>
              <a:xfrm>
                <a:off x="2016" y="2592"/>
                <a:ext cx="384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2551" name="Oval 24"/>
              <p:cNvSpPr/>
              <p:nvPr/>
            </p:nvSpPr>
            <p:spPr>
              <a:xfrm>
                <a:off x="2160" y="2496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2552" name="Line 25"/>
              <p:cNvSpPr/>
              <p:nvPr/>
            </p:nvSpPr>
            <p:spPr>
              <a:xfrm>
                <a:off x="1872" y="2256"/>
                <a:ext cx="0" cy="8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3" name="Line 26"/>
              <p:cNvSpPr/>
              <p:nvPr/>
            </p:nvSpPr>
            <p:spPr>
              <a:xfrm>
                <a:off x="1872" y="307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4" name="Oval 27"/>
              <p:cNvSpPr/>
              <p:nvPr/>
            </p:nvSpPr>
            <p:spPr>
              <a:xfrm>
                <a:off x="2064" y="30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2555" name="Line 28"/>
              <p:cNvSpPr/>
              <p:nvPr/>
            </p:nvSpPr>
            <p:spPr>
              <a:xfrm>
                <a:off x="2208" y="2016"/>
                <a:ext cx="1" cy="4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56" name="Oval 29"/>
              <p:cNvSpPr/>
              <p:nvPr/>
            </p:nvSpPr>
            <p:spPr>
              <a:xfrm>
                <a:off x="13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2557" name="Rectangle 30"/>
              <p:cNvSpPr/>
              <p:nvPr/>
            </p:nvSpPr>
            <p:spPr>
              <a:xfrm>
                <a:off x="1920" y="1872"/>
                <a:ext cx="23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Z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22535" name="文本框 2"/>
            <p:cNvSpPr txBox="1"/>
            <p:nvPr/>
          </p:nvSpPr>
          <p:spPr>
            <a:xfrm>
              <a:off x="2331833" y="3956784"/>
              <a:ext cx="45233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Cambria Math" panose="02040503050406030204" pitchFamily="18" charset="0"/>
                </a:rPr>
                <a:t>⊕</a:t>
              </a:r>
              <a:endParaRPr lang="zh-CN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553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63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0255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同步时序电路的分析步骤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根据电路图列出触发器激励函数表达式和电路输出函数；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（分析由于触发器输入的变化而引起次态的变化以及输出的变化，所以必须要明确触发器的输入变化）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根据电路输入和触发器激励函数建立次态表达式和状态表；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（分析触发器状态的变化规律）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画出状态图和时序图；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（能够更直观分析状态的变化规律）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分析输出序列和输入序列的关系，说明时序电路的逻辑功能；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4580" name="Group 26"/>
          <p:cNvGrpSpPr/>
          <p:nvPr/>
        </p:nvGrpSpPr>
        <p:grpSpPr>
          <a:xfrm>
            <a:off x="2057400" y="1371600"/>
            <a:ext cx="2438400" cy="4724400"/>
            <a:chOff x="1296" y="864"/>
            <a:chExt cx="1536" cy="2976"/>
          </a:xfrm>
        </p:grpSpPr>
        <p:sp>
          <p:nvSpPr>
            <p:cNvPr id="660485" name="Rectangle 5"/>
            <p:cNvSpPr>
              <a:spLocks noChangeArrowheads="1"/>
            </p:cNvSpPr>
            <p:nvPr/>
          </p:nvSpPr>
          <p:spPr bwMode="auto">
            <a:xfrm>
              <a:off x="1296" y="864"/>
              <a:ext cx="1536" cy="5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激励表达式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输出函数表达式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0" name="Rectangle 4"/>
            <p:cNvSpPr/>
            <p:nvPr/>
          </p:nvSpPr>
          <p:spPr>
            <a:xfrm>
              <a:off x="1296" y="864"/>
              <a:ext cx="1536" cy="52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60486" name="Rectangle 6"/>
            <p:cNvSpPr>
              <a:spLocks noChangeArrowheads="1"/>
            </p:cNvSpPr>
            <p:nvPr/>
          </p:nvSpPr>
          <p:spPr bwMode="auto">
            <a:xfrm>
              <a:off x="1488" y="1680"/>
              <a:ext cx="1081" cy="5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次态表达式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2" name="Rectangle 7"/>
            <p:cNvSpPr/>
            <p:nvPr/>
          </p:nvSpPr>
          <p:spPr>
            <a:xfrm>
              <a:off x="1296" y="1680"/>
              <a:ext cx="1536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60488" name="Rectangle 8"/>
            <p:cNvSpPr>
              <a:spLocks noChangeArrowheads="1"/>
            </p:cNvSpPr>
            <p:nvPr/>
          </p:nvSpPr>
          <p:spPr bwMode="auto">
            <a:xfrm>
              <a:off x="1632" y="2304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状态表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0489" name="Rectangle 9"/>
            <p:cNvSpPr>
              <a:spLocks noChangeArrowheads="1"/>
            </p:cNvSpPr>
            <p:nvPr/>
          </p:nvSpPr>
          <p:spPr bwMode="auto">
            <a:xfrm>
              <a:off x="1680" y="2928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状态图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5" name="Rectangle 10"/>
            <p:cNvSpPr/>
            <p:nvPr/>
          </p:nvSpPr>
          <p:spPr>
            <a:xfrm>
              <a:off x="1296" y="2304"/>
              <a:ext cx="1536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24596" name="Rectangle 11"/>
            <p:cNvSpPr/>
            <p:nvPr/>
          </p:nvSpPr>
          <p:spPr>
            <a:xfrm>
              <a:off x="1296" y="2928"/>
              <a:ext cx="1536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60492" name="Rectangle 12"/>
            <p:cNvSpPr>
              <a:spLocks noChangeArrowheads="1"/>
            </p:cNvSpPr>
            <p:nvPr/>
          </p:nvSpPr>
          <p:spPr bwMode="auto">
            <a:xfrm>
              <a:off x="1680" y="3552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时序图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8" name="Rectangle 13"/>
            <p:cNvSpPr/>
            <p:nvPr/>
          </p:nvSpPr>
          <p:spPr>
            <a:xfrm>
              <a:off x="1296" y="3552"/>
              <a:ext cx="1536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24599" name="Line 14"/>
            <p:cNvSpPr/>
            <p:nvPr/>
          </p:nvSpPr>
          <p:spPr>
            <a:xfrm>
              <a:off x="2016" y="1392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0" name="Line 15"/>
            <p:cNvSpPr/>
            <p:nvPr/>
          </p:nvSpPr>
          <p:spPr>
            <a:xfrm>
              <a:off x="2016" y="1968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1" name="Line 16"/>
            <p:cNvSpPr/>
            <p:nvPr/>
          </p:nvSpPr>
          <p:spPr>
            <a:xfrm>
              <a:off x="2016" y="2592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02" name="Line 17"/>
            <p:cNvSpPr/>
            <p:nvPr/>
          </p:nvSpPr>
          <p:spPr>
            <a:xfrm>
              <a:off x="2016" y="3216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60507" name="Group 27"/>
          <p:cNvGrpSpPr/>
          <p:nvPr/>
        </p:nvGrpSpPr>
        <p:grpSpPr>
          <a:xfrm>
            <a:off x="3733800" y="2895600"/>
            <a:ext cx="3886200" cy="2743200"/>
            <a:chOff x="2352" y="1824"/>
            <a:chExt cx="2448" cy="1728"/>
          </a:xfrm>
        </p:grpSpPr>
        <p:sp>
          <p:nvSpPr>
            <p:cNvPr id="24582" name="Line 19"/>
            <p:cNvSpPr/>
            <p:nvPr/>
          </p:nvSpPr>
          <p:spPr>
            <a:xfrm>
              <a:off x="2832" y="1824"/>
              <a:ext cx="12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0500" name="Rectangle 20"/>
            <p:cNvSpPr>
              <a:spLocks noChangeArrowheads="1"/>
            </p:cNvSpPr>
            <p:nvPr/>
          </p:nvSpPr>
          <p:spPr bwMode="auto">
            <a:xfrm>
              <a:off x="3264" y="2064"/>
              <a:ext cx="1536" cy="5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次态表达式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输出函数表达式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84" name="Rectangle 21"/>
            <p:cNvSpPr/>
            <p:nvPr/>
          </p:nvSpPr>
          <p:spPr>
            <a:xfrm>
              <a:off x="3264" y="2064"/>
              <a:ext cx="1536" cy="52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24585" name="Line 22"/>
            <p:cNvSpPr/>
            <p:nvPr/>
          </p:nvSpPr>
          <p:spPr>
            <a:xfrm>
              <a:off x="4032" y="1824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6" name="Line 23"/>
            <p:cNvSpPr/>
            <p:nvPr/>
          </p:nvSpPr>
          <p:spPr>
            <a:xfrm>
              <a:off x="4032" y="2592"/>
              <a:ext cx="0" cy="7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7" name="Line 24"/>
            <p:cNvSpPr/>
            <p:nvPr/>
          </p:nvSpPr>
          <p:spPr>
            <a:xfrm>
              <a:off x="2352" y="3360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8" name="Line 25"/>
            <p:cNvSpPr/>
            <p:nvPr/>
          </p:nvSpPr>
          <p:spPr>
            <a:xfrm>
              <a:off x="2352" y="3360"/>
              <a:ext cx="16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36930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习题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5.1)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分析如下时序电路，作出它的状态表和状态图。作出电平输入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序列为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010111100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时的电路的时序图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6932" name="Text Box 4"/>
          <p:cNvSpPr txBox="1">
            <a:spLocks noChangeArrowheads="1"/>
          </p:cNvSpPr>
          <p:nvPr/>
        </p:nvSpPr>
        <p:spPr bwMode="auto">
          <a:xfrm>
            <a:off x="5486400" y="3200400"/>
            <a:ext cx="3457575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FFFF00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solidFill>
                  <a:srgbClr val="FFFF00"/>
                </a:solidFill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写出</a:t>
            </a:r>
            <a:r>
              <a:rPr kumimoji="0" lang="zh-CN" altLang="en-US" sz="24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激励函数</a:t>
            </a:r>
            <a:r>
              <a:rPr kumimoji="0" lang="en-US" altLang="zh-CN" sz="2400" b="1" kern="1200" cap="none" spc="0" normalizeH="0" baseline="0" noProof="0" dirty="0">
                <a:solidFill>
                  <a:srgbClr val="FFFF00"/>
                </a:solidFill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sz="24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表达式</a:t>
            </a:r>
            <a:endParaRPr kumimoji="0" lang="zh-CN" altLang="en-US" sz="24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和电路输出函数</a:t>
            </a:r>
            <a:r>
              <a:rPr kumimoji="0" lang="en-US" altLang="zh-CN" sz="2400" b="1" kern="1200" cap="none" spc="0" normalizeH="0" baseline="0" noProof="0" dirty="0">
                <a:solidFill>
                  <a:srgbClr val="FFFF00"/>
                </a:solidFill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0" lang="zh-CN" altLang="en-US" sz="2400" b="1" kern="1200" cap="none" spc="0" normalizeH="0" baseline="0" noProof="0" dirty="0">
                <a:solidFill>
                  <a:srgbClr val="FFFF00"/>
                </a:solidFill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表达式</a:t>
            </a:r>
            <a:endParaRPr kumimoji="0" lang="zh-CN" altLang="en-US" sz="2400" b="1" kern="1200" cap="none" spc="0" normalizeH="0" baseline="0" noProof="0" dirty="0">
              <a:solidFill>
                <a:srgbClr val="FFFF00"/>
              </a:solidFill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59" name="Rectangle 31"/>
          <p:cNvSpPr/>
          <p:nvPr/>
        </p:nvSpPr>
        <p:spPr>
          <a:xfrm>
            <a:off x="381000" y="3429000"/>
            <a:ext cx="2971800" cy="2590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grpSp>
        <p:nvGrpSpPr>
          <p:cNvPr id="636960" name="Group 32"/>
          <p:cNvGrpSpPr/>
          <p:nvPr/>
        </p:nvGrpSpPr>
        <p:grpSpPr>
          <a:xfrm>
            <a:off x="3402013" y="2971800"/>
            <a:ext cx="2160587" cy="3657600"/>
            <a:chOff x="2256" y="1872"/>
            <a:chExt cx="1361" cy="2304"/>
          </a:xfrm>
        </p:grpSpPr>
        <p:sp>
          <p:nvSpPr>
            <p:cNvPr id="25635" name="Text Box 33"/>
            <p:cNvSpPr txBox="1"/>
            <p:nvPr/>
          </p:nvSpPr>
          <p:spPr>
            <a:xfrm>
              <a:off x="2256" y="3888"/>
              <a:ext cx="136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</a:rPr>
                <a:t>简化的电路图</a:t>
              </a:r>
              <a:endParaRPr lang="zh-CN" altLang="en-US" sz="24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25636" name="Group 34"/>
            <p:cNvGrpSpPr/>
            <p:nvPr/>
          </p:nvGrpSpPr>
          <p:grpSpPr>
            <a:xfrm>
              <a:off x="2496" y="1872"/>
              <a:ext cx="768" cy="2016"/>
              <a:chOff x="2544" y="2016"/>
              <a:chExt cx="768" cy="2016"/>
            </a:xfrm>
          </p:grpSpPr>
          <p:sp>
            <p:nvSpPr>
              <p:cNvPr id="25637" name="Rectangle 35"/>
              <p:cNvSpPr/>
              <p:nvPr/>
            </p:nvSpPr>
            <p:spPr>
              <a:xfrm>
                <a:off x="2544" y="2640"/>
                <a:ext cx="768" cy="5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5638" name="Line 36"/>
              <p:cNvSpPr/>
              <p:nvPr/>
            </p:nvSpPr>
            <p:spPr>
              <a:xfrm flipV="1">
                <a:off x="2928" y="23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39" name="Line 37"/>
              <p:cNvSpPr/>
              <p:nvPr/>
            </p:nvSpPr>
            <p:spPr>
              <a:xfrm flipH="1" flipV="1">
                <a:off x="2784" y="3168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40" name="Text Box 38"/>
              <p:cNvSpPr txBox="1"/>
              <p:nvPr/>
            </p:nvSpPr>
            <p:spPr>
              <a:xfrm>
                <a:off x="2572" y="3744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41" name="Text Box 39"/>
              <p:cNvSpPr txBox="1"/>
              <p:nvPr/>
            </p:nvSpPr>
            <p:spPr>
              <a:xfrm>
                <a:off x="3024" y="3744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X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42" name="Text Box 40"/>
              <p:cNvSpPr txBox="1"/>
              <p:nvPr/>
            </p:nvSpPr>
            <p:spPr>
              <a:xfrm>
                <a:off x="2832" y="2016"/>
                <a:ext cx="23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Z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43" name="Line 41"/>
              <p:cNvSpPr/>
              <p:nvPr/>
            </p:nvSpPr>
            <p:spPr>
              <a:xfrm flipH="1" flipV="1">
                <a:off x="3072" y="3168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4" name="组合 43"/>
          <p:cNvGrpSpPr/>
          <p:nvPr/>
        </p:nvGrpSpPr>
        <p:grpSpPr>
          <a:xfrm>
            <a:off x="534988" y="2971800"/>
            <a:ext cx="2667000" cy="3810000"/>
            <a:chOff x="1282700" y="1844675"/>
            <a:chExt cx="2667000" cy="3810000"/>
          </a:xfrm>
        </p:grpSpPr>
        <p:grpSp>
          <p:nvGrpSpPr>
            <p:cNvPr id="25611" name="Group 6"/>
            <p:cNvGrpSpPr/>
            <p:nvPr/>
          </p:nvGrpSpPr>
          <p:grpSpPr>
            <a:xfrm>
              <a:off x="1282700" y="1844675"/>
              <a:ext cx="2667000" cy="3810000"/>
              <a:chOff x="720" y="1872"/>
              <a:chExt cx="1680" cy="2400"/>
            </a:xfrm>
          </p:grpSpPr>
          <p:sp>
            <p:nvSpPr>
              <p:cNvPr id="25613" name="Rectangle 7"/>
              <p:cNvSpPr/>
              <p:nvPr/>
            </p:nvSpPr>
            <p:spPr>
              <a:xfrm>
                <a:off x="763" y="2448"/>
                <a:ext cx="907" cy="4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  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  D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14" name="Line 8"/>
              <p:cNvSpPr/>
              <p:nvPr/>
            </p:nvSpPr>
            <p:spPr>
              <a:xfrm flipV="1">
                <a:off x="1488" y="225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15" name="Line 9"/>
              <p:cNvSpPr/>
              <p:nvPr/>
            </p:nvSpPr>
            <p:spPr>
              <a:xfrm>
                <a:off x="1488" y="2256"/>
                <a:ext cx="384" cy="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16" name="Line 10"/>
              <p:cNvSpPr/>
              <p:nvPr/>
            </p:nvSpPr>
            <p:spPr>
              <a:xfrm>
                <a:off x="2112" y="2832"/>
                <a:ext cx="0" cy="81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17" name="Line 11"/>
              <p:cNvSpPr/>
              <p:nvPr/>
            </p:nvSpPr>
            <p:spPr>
              <a:xfrm>
                <a:off x="2304" y="2832"/>
                <a:ext cx="1" cy="9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18" name="Line 12"/>
              <p:cNvSpPr/>
              <p:nvPr/>
            </p:nvSpPr>
            <p:spPr>
              <a:xfrm>
                <a:off x="1488" y="2924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19" name="Line 13"/>
              <p:cNvSpPr/>
              <p:nvPr/>
            </p:nvSpPr>
            <p:spPr>
              <a:xfrm flipH="1">
                <a:off x="960" y="2928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0" name="Text Box 14"/>
              <p:cNvSpPr txBox="1"/>
              <p:nvPr/>
            </p:nvSpPr>
            <p:spPr>
              <a:xfrm>
                <a:off x="720" y="3984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21" name="Rectangle 16"/>
              <p:cNvSpPr/>
              <p:nvPr/>
            </p:nvSpPr>
            <p:spPr>
              <a:xfrm>
                <a:off x="1307" y="3241"/>
                <a:ext cx="363" cy="2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22" name="Line 18"/>
              <p:cNvSpPr/>
              <p:nvPr/>
            </p:nvSpPr>
            <p:spPr>
              <a:xfrm>
                <a:off x="1579" y="3468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3" name="Line 19"/>
              <p:cNvSpPr/>
              <p:nvPr/>
            </p:nvSpPr>
            <p:spPr>
              <a:xfrm>
                <a:off x="1579" y="3650"/>
                <a:ext cx="5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4" name="Line 20"/>
              <p:cNvSpPr/>
              <p:nvPr/>
            </p:nvSpPr>
            <p:spPr>
              <a:xfrm>
                <a:off x="1392" y="3456"/>
                <a:ext cx="0" cy="49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5" name="Line 21"/>
              <p:cNvSpPr/>
              <p:nvPr/>
            </p:nvSpPr>
            <p:spPr>
              <a:xfrm>
                <a:off x="1398" y="3740"/>
                <a:ext cx="90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26" name="Text Box 22"/>
              <p:cNvSpPr txBox="1"/>
              <p:nvPr/>
            </p:nvSpPr>
            <p:spPr>
              <a:xfrm>
                <a:off x="1249" y="3984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X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5627" name="Rectangle 23"/>
              <p:cNvSpPr/>
              <p:nvPr/>
            </p:nvSpPr>
            <p:spPr>
              <a:xfrm>
                <a:off x="2016" y="2592"/>
                <a:ext cx="384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5628" name="Oval 24"/>
              <p:cNvSpPr/>
              <p:nvPr/>
            </p:nvSpPr>
            <p:spPr>
              <a:xfrm>
                <a:off x="2160" y="2496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5629" name="Line 25"/>
              <p:cNvSpPr/>
              <p:nvPr/>
            </p:nvSpPr>
            <p:spPr>
              <a:xfrm>
                <a:off x="1872" y="2256"/>
                <a:ext cx="0" cy="8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30" name="Line 26"/>
              <p:cNvSpPr/>
              <p:nvPr/>
            </p:nvSpPr>
            <p:spPr>
              <a:xfrm>
                <a:off x="1872" y="307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31" name="Oval 27"/>
              <p:cNvSpPr/>
              <p:nvPr/>
            </p:nvSpPr>
            <p:spPr>
              <a:xfrm>
                <a:off x="2064" y="30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5632" name="Line 28"/>
              <p:cNvSpPr/>
              <p:nvPr/>
            </p:nvSpPr>
            <p:spPr>
              <a:xfrm>
                <a:off x="2208" y="2016"/>
                <a:ext cx="1" cy="4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33" name="Oval 29"/>
              <p:cNvSpPr/>
              <p:nvPr/>
            </p:nvSpPr>
            <p:spPr>
              <a:xfrm>
                <a:off x="13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5634" name="Rectangle 30"/>
              <p:cNvSpPr/>
              <p:nvPr/>
            </p:nvSpPr>
            <p:spPr>
              <a:xfrm>
                <a:off x="1920" y="1872"/>
                <a:ext cx="23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Z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25612" name="文本框 48"/>
            <p:cNvSpPr txBox="1"/>
            <p:nvPr/>
          </p:nvSpPr>
          <p:spPr>
            <a:xfrm>
              <a:off x="2331833" y="3956784"/>
              <a:ext cx="45233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Cambria Math" panose="02040503050406030204" pitchFamily="18" charset="0"/>
                </a:rPr>
                <a:t>⊕</a:t>
              </a:r>
              <a:endParaRPr lang="zh-CN" altLang="en-US" sz="2000" dirty="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778500" y="4175125"/>
            <a:ext cx="26812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n+1</a:t>
            </a:r>
            <a:r>
              <a:rPr lang="en-US" altLang="zh-CN" sz="2800" dirty="0"/>
              <a:t>=D=X</a:t>
            </a:r>
            <a:r>
              <a:rPr lang="en-US" altLang="zh-CN" sz="2800" dirty="0">
                <a:sym typeface="Symbol" panose="05050102010706020507" pitchFamily="18" charset="2"/>
              </a:rPr>
              <a:t>Q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  <p:sp>
        <p:nvSpPr>
          <p:cNvPr id="50" name="文本框 49"/>
          <p:cNvSpPr txBox="1"/>
          <p:nvPr/>
        </p:nvSpPr>
        <p:spPr>
          <a:xfrm>
            <a:off x="5830888" y="4906963"/>
            <a:ext cx="2681287" cy="573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——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Z=X</a:t>
            </a:r>
            <a:r>
              <a:rPr lang="en-US" altLang="zh-CN" sz="2800" dirty="0">
                <a:sym typeface="Symbol" panose="05050102010706020507" pitchFamily="18" charset="2"/>
              </a:rPr>
              <a:t>Q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36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6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6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2" grpId="0"/>
      <p:bldP spid="636959" grpId="0" animBg="1"/>
      <p:bldP spid="2" grpId="0"/>
      <p:bldP spid="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83613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637955" name="Group 3"/>
          <p:cNvGrpSpPr/>
          <p:nvPr/>
        </p:nvGrpSpPr>
        <p:grpSpPr>
          <a:xfrm>
            <a:off x="4656138" y="2590800"/>
            <a:ext cx="4106862" cy="2944813"/>
            <a:chOff x="2933" y="1169"/>
            <a:chExt cx="2587" cy="1855"/>
          </a:xfrm>
        </p:grpSpPr>
        <p:sp>
          <p:nvSpPr>
            <p:cNvPr id="26672" name="Text Box 4"/>
            <p:cNvSpPr txBox="1"/>
            <p:nvPr/>
          </p:nvSpPr>
          <p:spPr>
            <a:xfrm>
              <a:off x="3932" y="1169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 dirty="0">
                  <a:latin typeface="Georgia" panose="02040502050405020303" pitchFamily="18" charset="0"/>
                </a:rPr>
                <a:t>状态表</a:t>
              </a:r>
              <a:endParaRPr lang="zh-CN" altLang="en-US" sz="2800" b="1" dirty="0">
                <a:latin typeface="Georgia" panose="02040502050405020303" pitchFamily="18" charset="0"/>
              </a:endParaRPr>
            </a:p>
          </p:txBody>
        </p:sp>
        <p:sp>
          <p:nvSpPr>
            <p:cNvPr id="637957" name="Rectangle 5"/>
            <p:cNvSpPr>
              <a:spLocks noChangeArrowheads="1"/>
            </p:cNvSpPr>
            <p:nvPr/>
          </p:nvSpPr>
          <p:spPr bwMode="auto">
            <a:xfrm>
              <a:off x="4386" y="1842"/>
              <a:ext cx="1134" cy="11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0        1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1        1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1        1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0        0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7958" name="Rectangle 6"/>
            <p:cNvSpPr>
              <a:spLocks noChangeArrowheads="1"/>
            </p:cNvSpPr>
            <p:nvPr/>
          </p:nvSpPr>
          <p:spPr bwMode="auto">
            <a:xfrm>
              <a:off x="2934" y="1842"/>
              <a:ext cx="1452" cy="11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533400" indent="-5334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914400" indent="-4572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295400" indent="-3810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714500" indent="-342900"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1717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0     0        0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1     0        1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0     1        1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  <a:p>
              <a:pPr marL="533400" marR="0" lvl="0" indent="-5334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1     1        0   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7959" name="Rectangle 7"/>
            <p:cNvSpPr>
              <a:spLocks noChangeArrowheads="1"/>
            </p:cNvSpPr>
            <p:nvPr/>
          </p:nvSpPr>
          <p:spPr bwMode="auto">
            <a:xfrm>
              <a:off x="4386" y="1524"/>
              <a:ext cx="1134" cy="3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n+1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     Z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7960" name="Rectangle 8"/>
            <p:cNvSpPr>
              <a:spLocks noChangeArrowheads="1"/>
            </p:cNvSpPr>
            <p:nvPr/>
          </p:nvSpPr>
          <p:spPr bwMode="auto">
            <a:xfrm>
              <a:off x="2933" y="1524"/>
              <a:ext cx="1452" cy="3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X    Q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n        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77" name="Line 9"/>
            <p:cNvSpPr/>
            <p:nvPr/>
          </p:nvSpPr>
          <p:spPr>
            <a:xfrm>
              <a:off x="2934" y="1524"/>
              <a:ext cx="258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8" name="Line 10"/>
            <p:cNvSpPr/>
            <p:nvPr/>
          </p:nvSpPr>
          <p:spPr>
            <a:xfrm>
              <a:off x="2934" y="3024"/>
              <a:ext cx="258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79" name="Line 11"/>
            <p:cNvSpPr/>
            <p:nvPr/>
          </p:nvSpPr>
          <p:spPr>
            <a:xfrm>
              <a:off x="2934" y="1524"/>
              <a:ext cx="0" cy="15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80" name="Line 12"/>
            <p:cNvSpPr/>
            <p:nvPr/>
          </p:nvSpPr>
          <p:spPr>
            <a:xfrm>
              <a:off x="5520" y="1524"/>
              <a:ext cx="0" cy="15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6681" name="Group 13"/>
            <p:cNvGrpSpPr/>
            <p:nvPr/>
          </p:nvGrpSpPr>
          <p:grpSpPr>
            <a:xfrm>
              <a:off x="2934" y="1524"/>
              <a:ext cx="2586" cy="1500"/>
              <a:chOff x="2934" y="1524"/>
              <a:chExt cx="2586" cy="1500"/>
            </a:xfrm>
          </p:grpSpPr>
          <p:sp>
            <p:nvSpPr>
              <p:cNvPr id="26682" name="Line 14"/>
              <p:cNvSpPr/>
              <p:nvPr/>
            </p:nvSpPr>
            <p:spPr>
              <a:xfrm>
                <a:off x="2934" y="1842"/>
                <a:ext cx="258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3" name="Line 15"/>
              <p:cNvSpPr/>
              <p:nvPr/>
            </p:nvSpPr>
            <p:spPr>
              <a:xfrm>
                <a:off x="4386" y="1524"/>
                <a:ext cx="0" cy="150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84" name="Line 16"/>
              <p:cNvSpPr/>
              <p:nvPr/>
            </p:nvSpPr>
            <p:spPr>
              <a:xfrm>
                <a:off x="3932" y="1524"/>
                <a:ext cx="0" cy="149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37972" name="Group 20"/>
          <p:cNvGrpSpPr/>
          <p:nvPr/>
        </p:nvGrpSpPr>
        <p:grpSpPr>
          <a:xfrm>
            <a:off x="4565650" y="5611813"/>
            <a:ext cx="762000" cy="1203325"/>
            <a:chOff x="672" y="3072"/>
            <a:chExt cx="480" cy="1083"/>
          </a:xfrm>
        </p:grpSpPr>
        <p:sp>
          <p:nvSpPr>
            <p:cNvPr id="637973" name="Text Box 21"/>
            <p:cNvSpPr txBox="1">
              <a:spLocks noChangeArrowheads="1"/>
            </p:cNvSpPr>
            <p:nvPr/>
          </p:nvSpPr>
          <p:spPr bwMode="auto">
            <a:xfrm>
              <a:off x="672" y="3744"/>
              <a:ext cx="480" cy="4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输入</a:t>
              </a:r>
              <a:endParaRPr kumimoji="0" lang="zh-CN" altLang="en-US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71" name="Line 22"/>
            <p:cNvSpPr/>
            <p:nvPr/>
          </p:nvSpPr>
          <p:spPr>
            <a:xfrm flipV="1">
              <a:off x="864" y="307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37975" name="Group 23"/>
          <p:cNvGrpSpPr/>
          <p:nvPr/>
        </p:nvGrpSpPr>
        <p:grpSpPr>
          <a:xfrm>
            <a:off x="5480050" y="5611813"/>
            <a:ext cx="685800" cy="1203325"/>
            <a:chOff x="1248" y="3072"/>
            <a:chExt cx="432" cy="1083"/>
          </a:xfrm>
        </p:grpSpPr>
        <p:sp>
          <p:nvSpPr>
            <p:cNvPr id="637976" name="Text Box 24"/>
            <p:cNvSpPr txBox="1">
              <a:spLocks noChangeArrowheads="1"/>
            </p:cNvSpPr>
            <p:nvPr/>
          </p:nvSpPr>
          <p:spPr bwMode="auto">
            <a:xfrm>
              <a:off x="1248" y="3744"/>
              <a:ext cx="432" cy="4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现态</a:t>
              </a:r>
              <a:endParaRPr kumimoji="0" lang="zh-CN" altLang="en-US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9" name="Line 25"/>
            <p:cNvSpPr/>
            <p:nvPr/>
          </p:nvSpPr>
          <p:spPr>
            <a:xfrm flipV="1">
              <a:off x="1440" y="307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37978" name="Group 26"/>
          <p:cNvGrpSpPr/>
          <p:nvPr/>
        </p:nvGrpSpPr>
        <p:grpSpPr>
          <a:xfrm>
            <a:off x="6318250" y="5611813"/>
            <a:ext cx="762000" cy="1184275"/>
            <a:chOff x="1776" y="3072"/>
            <a:chExt cx="480" cy="1094"/>
          </a:xfrm>
        </p:grpSpPr>
        <p:sp>
          <p:nvSpPr>
            <p:cNvPr id="637979" name="Text Box 27"/>
            <p:cNvSpPr txBox="1">
              <a:spLocks noChangeArrowheads="1"/>
            </p:cNvSpPr>
            <p:nvPr/>
          </p:nvSpPr>
          <p:spPr bwMode="auto">
            <a:xfrm>
              <a:off x="1776" y="3744"/>
              <a:ext cx="480" cy="4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激励</a:t>
              </a:r>
              <a:endParaRPr kumimoji="0" lang="zh-CN" altLang="en-US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7" name="Line 28"/>
            <p:cNvSpPr/>
            <p:nvPr/>
          </p:nvSpPr>
          <p:spPr>
            <a:xfrm flipV="1">
              <a:off x="1968" y="307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37981" name="Group 29"/>
          <p:cNvGrpSpPr/>
          <p:nvPr/>
        </p:nvGrpSpPr>
        <p:grpSpPr>
          <a:xfrm>
            <a:off x="7156450" y="5611813"/>
            <a:ext cx="762000" cy="1203325"/>
            <a:chOff x="2304" y="3072"/>
            <a:chExt cx="480" cy="1083"/>
          </a:xfrm>
        </p:grpSpPr>
        <p:sp>
          <p:nvSpPr>
            <p:cNvPr id="637982" name="Text Box 30"/>
            <p:cNvSpPr txBox="1">
              <a:spLocks noChangeArrowheads="1"/>
            </p:cNvSpPr>
            <p:nvPr/>
          </p:nvSpPr>
          <p:spPr bwMode="auto">
            <a:xfrm>
              <a:off x="2304" y="3744"/>
              <a:ext cx="480" cy="41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次态</a:t>
              </a:r>
              <a:endParaRPr kumimoji="0" lang="zh-CN" altLang="en-US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5" name="Line 31"/>
            <p:cNvSpPr/>
            <p:nvPr/>
          </p:nvSpPr>
          <p:spPr>
            <a:xfrm flipV="1">
              <a:off x="2496" y="307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37984" name="Group 32"/>
          <p:cNvGrpSpPr/>
          <p:nvPr/>
        </p:nvGrpSpPr>
        <p:grpSpPr>
          <a:xfrm>
            <a:off x="7994650" y="5611813"/>
            <a:ext cx="762000" cy="1184275"/>
            <a:chOff x="2832" y="3072"/>
            <a:chExt cx="480" cy="1094"/>
          </a:xfrm>
        </p:grpSpPr>
        <p:sp>
          <p:nvSpPr>
            <p:cNvPr id="637985" name="Text Box 33"/>
            <p:cNvSpPr txBox="1">
              <a:spLocks noChangeArrowheads="1"/>
            </p:cNvSpPr>
            <p:nvPr/>
          </p:nvSpPr>
          <p:spPr bwMode="auto">
            <a:xfrm>
              <a:off x="2832" y="3744"/>
              <a:ext cx="480" cy="4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rIns="0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4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rPr>
                <a:t>输出</a:t>
              </a:r>
              <a:endParaRPr kumimoji="0" lang="zh-CN" altLang="en-US" sz="2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3" name="Line 34"/>
            <p:cNvSpPr/>
            <p:nvPr/>
          </p:nvSpPr>
          <p:spPr>
            <a:xfrm flipV="1">
              <a:off x="2976" y="307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37987" name="Rectangle 35"/>
          <p:cNvSpPr>
            <a:spLocks noChangeArrowheads="1"/>
          </p:cNvSpPr>
          <p:nvPr/>
        </p:nvSpPr>
        <p:spPr bwMode="auto">
          <a:xfrm>
            <a:off x="457200" y="1600200"/>
            <a:ext cx="4953000" cy="1552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94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528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862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196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9768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340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8912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484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根据电路输入和触发器激励函数建立次态表达式和状态表；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（分析触发器状态的变化规律）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假设初始状态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635" name="组合 60"/>
          <p:cNvGrpSpPr/>
          <p:nvPr/>
        </p:nvGrpSpPr>
        <p:grpSpPr>
          <a:xfrm>
            <a:off x="534988" y="3159125"/>
            <a:ext cx="2667000" cy="3622675"/>
            <a:chOff x="1282700" y="2032000"/>
            <a:chExt cx="2667000" cy="3622675"/>
          </a:xfrm>
        </p:grpSpPr>
        <p:grpSp>
          <p:nvGrpSpPr>
            <p:cNvPr id="26638" name="Group 6"/>
            <p:cNvGrpSpPr/>
            <p:nvPr/>
          </p:nvGrpSpPr>
          <p:grpSpPr>
            <a:xfrm>
              <a:off x="1282700" y="2032000"/>
              <a:ext cx="2667000" cy="3622675"/>
              <a:chOff x="720" y="1990"/>
              <a:chExt cx="1680" cy="2282"/>
            </a:xfrm>
          </p:grpSpPr>
          <p:sp>
            <p:nvSpPr>
              <p:cNvPr id="26640" name="Rectangle 7"/>
              <p:cNvSpPr/>
              <p:nvPr/>
            </p:nvSpPr>
            <p:spPr>
              <a:xfrm>
                <a:off x="763" y="2448"/>
                <a:ext cx="907" cy="4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  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  D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6641" name="Line 8"/>
              <p:cNvSpPr/>
              <p:nvPr/>
            </p:nvSpPr>
            <p:spPr>
              <a:xfrm flipV="1">
                <a:off x="1488" y="2256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2" name="Line 9"/>
              <p:cNvSpPr/>
              <p:nvPr/>
            </p:nvSpPr>
            <p:spPr>
              <a:xfrm>
                <a:off x="1488" y="2256"/>
                <a:ext cx="384" cy="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3" name="Line 10"/>
              <p:cNvSpPr/>
              <p:nvPr/>
            </p:nvSpPr>
            <p:spPr>
              <a:xfrm>
                <a:off x="2112" y="2832"/>
                <a:ext cx="0" cy="81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4" name="Line 11"/>
              <p:cNvSpPr/>
              <p:nvPr/>
            </p:nvSpPr>
            <p:spPr>
              <a:xfrm>
                <a:off x="2304" y="2832"/>
                <a:ext cx="1" cy="9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5" name="Line 12"/>
              <p:cNvSpPr/>
              <p:nvPr/>
            </p:nvSpPr>
            <p:spPr>
              <a:xfrm>
                <a:off x="1488" y="2924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6" name="Line 13"/>
              <p:cNvSpPr/>
              <p:nvPr/>
            </p:nvSpPr>
            <p:spPr>
              <a:xfrm flipH="1">
                <a:off x="960" y="2928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7" name="Text Box 14"/>
              <p:cNvSpPr txBox="1"/>
              <p:nvPr/>
            </p:nvSpPr>
            <p:spPr>
              <a:xfrm>
                <a:off x="720" y="3984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6648" name="Rectangle 16"/>
              <p:cNvSpPr/>
              <p:nvPr/>
            </p:nvSpPr>
            <p:spPr>
              <a:xfrm>
                <a:off x="1307" y="3241"/>
                <a:ext cx="363" cy="22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6649" name="Line 18"/>
              <p:cNvSpPr/>
              <p:nvPr/>
            </p:nvSpPr>
            <p:spPr>
              <a:xfrm>
                <a:off x="1579" y="3468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0" name="Line 19"/>
              <p:cNvSpPr/>
              <p:nvPr/>
            </p:nvSpPr>
            <p:spPr>
              <a:xfrm>
                <a:off x="1579" y="3650"/>
                <a:ext cx="5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1" name="Line 20"/>
              <p:cNvSpPr/>
              <p:nvPr/>
            </p:nvSpPr>
            <p:spPr>
              <a:xfrm>
                <a:off x="1392" y="3456"/>
                <a:ext cx="0" cy="49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2" name="Line 21"/>
              <p:cNvSpPr/>
              <p:nvPr/>
            </p:nvSpPr>
            <p:spPr>
              <a:xfrm>
                <a:off x="1398" y="3740"/>
                <a:ext cx="90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3" name="Text Box 22"/>
              <p:cNvSpPr txBox="1"/>
              <p:nvPr/>
            </p:nvSpPr>
            <p:spPr>
              <a:xfrm>
                <a:off x="1249" y="3984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X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6654" name="Rectangle 23"/>
              <p:cNvSpPr/>
              <p:nvPr/>
            </p:nvSpPr>
            <p:spPr>
              <a:xfrm>
                <a:off x="2016" y="2592"/>
                <a:ext cx="384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6655" name="Oval 24"/>
              <p:cNvSpPr/>
              <p:nvPr/>
            </p:nvSpPr>
            <p:spPr>
              <a:xfrm>
                <a:off x="2160" y="2496"/>
                <a:ext cx="96" cy="9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6656" name="Line 25"/>
              <p:cNvSpPr/>
              <p:nvPr/>
            </p:nvSpPr>
            <p:spPr>
              <a:xfrm>
                <a:off x="1872" y="2256"/>
                <a:ext cx="0" cy="8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7" name="Line 26"/>
              <p:cNvSpPr/>
              <p:nvPr/>
            </p:nvSpPr>
            <p:spPr>
              <a:xfrm>
                <a:off x="1872" y="3072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58" name="Oval 27"/>
              <p:cNvSpPr/>
              <p:nvPr/>
            </p:nvSpPr>
            <p:spPr>
              <a:xfrm>
                <a:off x="2064" y="30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6659" name="Line 28"/>
              <p:cNvSpPr/>
              <p:nvPr/>
            </p:nvSpPr>
            <p:spPr>
              <a:xfrm>
                <a:off x="2208" y="2016"/>
                <a:ext cx="1" cy="4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60" name="Oval 29"/>
              <p:cNvSpPr/>
              <p:nvPr/>
            </p:nvSpPr>
            <p:spPr>
              <a:xfrm>
                <a:off x="13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26661" name="Rectangle 30"/>
              <p:cNvSpPr/>
              <p:nvPr/>
            </p:nvSpPr>
            <p:spPr>
              <a:xfrm>
                <a:off x="2012" y="1990"/>
                <a:ext cx="232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Z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26639" name="文本框 63"/>
            <p:cNvSpPr txBox="1"/>
            <p:nvPr/>
          </p:nvSpPr>
          <p:spPr>
            <a:xfrm>
              <a:off x="2331833" y="3956784"/>
              <a:ext cx="45233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Cambria Math" panose="02040503050406030204" pitchFamily="18" charset="0"/>
                </a:rPr>
                <a:t>⊕</a:t>
              </a:r>
              <a:endParaRPr lang="zh-CN" altLang="en-US" sz="2000" dirty="0"/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5619750" y="1143000"/>
            <a:ext cx="26828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n+1</a:t>
            </a:r>
            <a:r>
              <a:rPr lang="en-US" altLang="zh-CN" sz="2800" dirty="0"/>
              <a:t>=D=X</a:t>
            </a:r>
            <a:r>
              <a:rPr lang="en-US" altLang="zh-CN" sz="2800" dirty="0">
                <a:sym typeface="Symbol" panose="05050102010706020507" pitchFamily="18" charset="2"/>
              </a:rPr>
              <a:t>Q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  <p:sp>
        <p:nvSpPr>
          <p:cNvPr id="62" name="文本框 61"/>
          <p:cNvSpPr txBox="1"/>
          <p:nvPr/>
        </p:nvSpPr>
        <p:spPr>
          <a:xfrm>
            <a:off x="5673725" y="1874838"/>
            <a:ext cx="2681288" cy="573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——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Z=X</a:t>
            </a:r>
            <a:r>
              <a:rPr lang="en-US" altLang="zh-CN" sz="2800" dirty="0">
                <a:sym typeface="Symbol" panose="05050102010706020507" pitchFamily="18" charset="2"/>
              </a:rPr>
              <a:t>Q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63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63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63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63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63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87" grpId="0"/>
      <p:bldP spid="61" grpId="0"/>
      <p:bldP spid="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59155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6" name="Text Box 3"/>
          <p:cNvSpPr txBox="1"/>
          <p:nvPr/>
        </p:nvSpPr>
        <p:spPr>
          <a:xfrm>
            <a:off x="1219200" y="33528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状态表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graphicFrame>
        <p:nvGraphicFramePr>
          <p:cNvPr id="640005" name="Group 5"/>
          <p:cNvGraphicFramePr>
            <a:graphicFrameLocks noGrp="1"/>
          </p:cNvGraphicFramePr>
          <p:nvPr/>
        </p:nvGraphicFramePr>
        <p:xfrm>
          <a:off x="600075" y="3883025"/>
          <a:ext cx="2447925" cy="2268538"/>
        </p:xfrm>
        <a:graphic>
          <a:graphicData uri="http://schemas.openxmlformats.org/drawingml/2006/table">
            <a:tbl>
              <a:tblPr/>
              <a:tblGrid>
                <a:gridCol w="935038"/>
                <a:gridCol w="433387"/>
                <a:gridCol w="1079500"/>
              </a:tblGrid>
              <a:tr h="49471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  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7" marB="456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7" marB="456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7" marB="456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3828">
                <a:tc>
                  <a:txBody>
                    <a:bodyPr/>
                    <a:lstStyle>
                      <a:lvl1pPr marL="533400" indent="-5334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14400" indent="-4572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295400" indent="-3810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7145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171700" indent="-342900"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6289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30861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5433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4000500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667" marB="4566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7" marB="456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67" marB="4566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40036" name="Group 36"/>
          <p:cNvGrpSpPr/>
          <p:nvPr/>
        </p:nvGrpSpPr>
        <p:grpSpPr>
          <a:xfrm>
            <a:off x="5257800" y="2438400"/>
            <a:ext cx="2022475" cy="457200"/>
            <a:chOff x="3312" y="1536"/>
            <a:chExt cx="1274" cy="288"/>
          </a:xfrm>
        </p:grpSpPr>
        <p:sp>
          <p:nvSpPr>
            <p:cNvPr id="28708" name="Text Box 4"/>
            <p:cNvSpPr txBox="1"/>
            <p:nvPr/>
          </p:nvSpPr>
          <p:spPr>
            <a:xfrm>
              <a:off x="4128" y="1536"/>
              <a:ext cx="4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X/</a:t>
              </a:r>
              <a:r>
                <a:rPr lang="en-US" altLang="zh-CN" sz="2400" dirty="0">
                  <a:solidFill>
                    <a:srgbClr val="FFFF00"/>
                  </a:solidFill>
                  <a:latin typeface="Georgia" panose="02040502050405020303" pitchFamily="18" charset="0"/>
                </a:rPr>
                <a:t>Z</a:t>
              </a:r>
              <a:endParaRPr lang="en-US" altLang="zh-CN" sz="2400" dirty="0">
                <a:solidFill>
                  <a:srgbClr val="FFFF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28709" name="Text Box 19"/>
            <p:cNvSpPr txBox="1"/>
            <p:nvPr/>
          </p:nvSpPr>
          <p:spPr>
            <a:xfrm>
              <a:off x="3312" y="1536"/>
              <a:ext cx="6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</a:rPr>
                <a:t>状态图</a:t>
              </a:r>
              <a:endParaRPr lang="zh-CN" altLang="en-US" sz="2400" b="1" dirty="0">
                <a:latin typeface="Georgia" panose="02040502050405020303" pitchFamily="18" charset="0"/>
              </a:endParaRPr>
            </a:p>
          </p:txBody>
        </p:sp>
      </p:grpSp>
      <p:sp>
        <p:nvSpPr>
          <p:cNvPr id="640020" name="Rectangle 20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习题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5.1)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40021" name="Rectangle 21"/>
          <p:cNvSpPr>
            <a:spLocks noChangeArrowheads="1"/>
          </p:cNvSpPr>
          <p:nvPr/>
        </p:nvSpPr>
        <p:spPr bwMode="auto">
          <a:xfrm>
            <a:off x="304800" y="1981200"/>
            <a:ext cx="42672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78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512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846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41808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8752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3324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896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24688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画出状态图和时序图；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（能够更直观分析状态的变化规律）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40022" name="Group 22"/>
          <p:cNvGrpSpPr/>
          <p:nvPr/>
        </p:nvGrpSpPr>
        <p:grpSpPr>
          <a:xfrm>
            <a:off x="4724400" y="3886200"/>
            <a:ext cx="685800" cy="685800"/>
            <a:chOff x="2976" y="2592"/>
            <a:chExt cx="432" cy="432"/>
          </a:xfrm>
        </p:grpSpPr>
        <p:sp>
          <p:nvSpPr>
            <p:cNvPr id="28706" name="Oval 23"/>
            <p:cNvSpPr/>
            <p:nvPr/>
          </p:nvSpPr>
          <p:spPr>
            <a:xfrm>
              <a:off x="2976" y="2592"/>
              <a:ext cx="432" cy="432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40024" name="Text Box 24"/>
            <p:cNvSpPr txBox="1">
              <a:spLocks noChangeArrowheads="1"/>
            </p:cNvSpPr>
            <p:nvPr/>
          </p:nvSpPr>
          <p:spPr bwMode="auto">
            <a:xfrm>
              <a:off x="3072" y="2640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40025" name="Group 25"/>
          <p:cNvGrpSpPr/>
          <p:nvPr/>
        </p:nvGrpSpPr>
        <p:grpSpPr>
          <a:xfrm>
            <a:off x="6781800" y="3886200"/>
            <a:ext cx="685800" cy="685800"/>
            <a:chOff x="2976" y="2592"/>
            <a:chExt cx="432" cy="432"/>
          </a:xfrm>
        </p:grpSpPr>
        <p:sp>
          <p:nvSpPr>
            <p:cNvPr id="28704" name="Oval 26"/>
            <p:cNvSpPr/>
            <p:nvPr/>
          </p:nvSpPr>
          <p:spPr>
            <a:xfrm>
              <a:off x="2976" y="2592"/>
              <a:ext cx="432" cy="432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40027" name="Text Box 27"/>
            <p:cNvSpPr txBox="1">
              <a:spLocks noChangeArrowheads="1"/>
            </p:cNvSpPr>
            <p:nvPr/>
          </p:nvSpPr>
          <p:spPr bwMode="auto">
            <a:xfrm>
              <a:off x="3072" y="2640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32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40028" name="Freeform 28"/>
          <p:cNvSpPr/>
          <p:nvPr/>
        </p:nvSpPr>
        <p:spPr>
          <a:xfrm>
            <a:off x="4406900" y="3886200"/>
            <a:ext cx="469900" cy="863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6" h="544">
                <a:moveTo>
                  <a:pt x="248" y="48"/>
                </a:moveTo>
                <a:cubicBezTo>
                  <a:pt x="216" y="24"/>
                  <a:pt x="184" y="0"/>
                  <a:pt x="152" y="0"/>
                </a:cubicBezTo>
                <a:cubicBezTo>
                  <a:pt x="120" y="0"/>
                  <a:pt x="80" y="8"/>
                  <a:pt x="56" y="48"/>
                </a:cubicBezTo>
                <a:cubicBezTo>
                  <a:pt x="32" y="88"/>
                  <a:pt x="0" y="168"/>
                  <a:pt x="8" y="240"/>
                </a:cubicBezTo>
                <a:cubicBezTo>
                  <a:pt x="16" y="312"/>
                  <a:pt x="72" y="432"/>
                  <a:pt x="104" y="480"/>
                </a:cubicBezTo>
                <a:cubicBezTo>
                  <a:pt x="136" y="528"/>
                  <a:pt x="168" y="544"/>
                  <a:pt x="200" y="528"/>
                </a:cubicBezTo>
                <a:cubicBezTo>
                  <a:pt x="232" y="512"/>
                  <a:pt x="264" y="448"/>
                  <a:pt x="296" y="384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0029" name="Text Box 29"/>
          <p:cNvSpPr txBox="1"/>
          <p:nvPr/>
        </p:nvSpPr>
        <p:spPr>
          <a:xfrm>
            <a:off x="3922713" y="4040188"/>
            <a:ext cx="5730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0/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charset="0"/>
              </a:rPr>
              <a:t>1</a:t>
            </a:r>
            <a:endParaRPr lang="en-US" altLang="zh-CN" sz="24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  <p:sp>
        <p:nvSpPr>
          <p:cNvPr id="640030" name="Freeform 30"/>
          <p:cNvSpPr/>
          <p:nvPr/>
        </p:nvSpPr>
        <p:spPr>
          <a:xfrm>
            <a:off x="5105400" y="3581400"/>
            <a:ext cx="1981200" cy="3048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248" h="192">
                <a:moveTo>
                  <a:pt x="0" y="192"/>
                </a:moveTo>
                <a:cubicBezTo>
                  <a:pt x="48" y="136"/>
                  <a:pt x="96" y="80"/>
                  <a:pt x="192" y="48"/>
                </a:cubicBezTo>
                <a:cubicBezTo>
                  <a:pt x="288" y="16"/>
                  <a:pt x="432" y="0"/>
                  <a:pt x="576" y="0"/>
                </a:cubicBezTo>
                <a:cubicBezTo>
                  <a:pt x="720" y="0"/>
                  <a:pt x="944" y="16"/>
                  <a:pt x="1056" y="48"/>
                </a:cubicBezTo>
                <a:cubicBezTo>
                  <a:pt x="1168" y="80"/>
                  <a:pt x="1208" y="136"/>
                  <a:pt x="1248" y="192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0031" name="Freeform 31"/>
          <p:cNvSpPr/>
          <p:nvPr/>
        </p:nvSpPr>
        <p:spPr>
          <a:xfrm>
            <a:off x="5181600" y="4533900"/>
            <a:ext cx="1981200" cy="5715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1248" h="360">
                <a:moveTo>
                  <a:pt x="1248" y="24"/>
                </a:moveTo>
                <a:cubicBezTo>
                  <a:pt x="1232" y="12"/>
                  <a:pt x="1216" y="0"/>
                  <a:pt x="1200" y="24"/>
                </a:cubicBezTo>
                <a:cubicBezTo>
                  <a:pt x="1184" y="48"/>
                  <a:pt x="1176" y="128"/>
                  <a:pt x="1152" y="168"/>
                </a:cubicBezTo>
                <a:cubicBezTo>
                  <a:pt x="1128" y="208"/>
                  <a:pt x="1104" y="240"/>
                  <a:pt x="1056" y="264"/>
                </a:cubicBezTo>
                <a:cubicBezTo>
                  <a:pt x="1008" y="288"/>
                  <a:pt x="992" y="304"/>
                  <a:pt x="864" y="312"/>
                </a:cubicBezTo>
                <a:cubicBezTo>
                  <a:pt x="736" y="320"/>
                  <a:pt x="432" y="360"/>
                  <a:pt x="288" y="312"/>
                </a:cubicBezTo>
                <a:cubicBezTo>
                  <a:pt x="144" y="264"/>
                  <a:pt x="72" y="144"/>
                  <a:pt x="0" y="24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0032" name="Freeform 32"/>
          <p:cNvSpPr/>
          <p:nvPr/>
        </p:nvSpPr>
        <p:spPr>
          <a:xfrm flipH="1">
            <a:off x="7315200" y="3886200"/>
            <a:ext cx="444500" cy="863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6" h="544">
                <a:moveTo>
                  <a:pt x="248" y="48"/>
                </a:moveTo>
                <a:cubicBezTo>
                  <a:pt x="216" y="24"/>
                  <a:pt x="184" y="0"/>
                  <a:pt x="152" y="0"/>
                </a:cubicBezTo>
                <a:cubicBezTo>
                  <a:pt x="120" y="0"/>
                  <a:pt x="80" y="8"/>
                  <a:pt x="56" y="48"/>
                </a:cubicBezTo>
                <a:cubicBezTo>
                  <a:pt x="32" y="88"/>
                  <a:pt x="0" y="168"/>
                  <a:pt x="8" y="240"/>
                </a:cubicBezTo>
                <a:cubicBezTo>
                  <a:pt x="16" y="312"/>
                  <a:pt x="72" y="432"/>
                  <a:pt x="104" y="480"/>
                </a:cubicBezTo>
                <a:cubicBezTo>
                  <a:pt x="136" y="528"/>
                  <a:pt x="168" y="544"/>
                  <a:pt x="200" y="528"/>
                </a:cubicBezTo>
                <a:cubicBezTo>
                  <a:pt x="232" y="512"/>
                  <a:pt x="264" y="448"/>
                  <a:pt x="296" y="384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0033" name="Text Box 33"/>
          <p:cNvSpPr txBox="1"/>
          <p:nvPr/>
        </p:nvSpPr>
        <p:spPr>
          <a:xfrm>
            <a:off x="7696200" y="4038600"/>
            <a:ext cx="573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0/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charset="0"/>
              </a:rPr>
              <a:t>1</a:t>
            </a:r>
            <a:endParaRPr lang="en-US" altLang="zh-CN" sz="24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  <p:sp>
        <p:nvSpPr>
          <p:cNvPr id="640034" name="Text Box 34"/>
          <p:cNvSpPr txBox="1"/>
          <p:nvPr/>
        </p:nvSpPr>
        <p:spPr>
          <a:xfrm>
            <a:off x="5791200" y="3124200"/>
            <a:ext cx="573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1/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charset="0"/>
              </a:rPr>
              <a:t>1</a:t>
            </a:r>
            <a:endParaRPr lang="en-US" altLang="zh-CN" sz="24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  <p:sp>
        <p:nvSpPr>
          <p:cNvPr id="640035" name="Text Box 35"/>
          <p:cNvSpPr txBox="1"/>
          <p:nvPr/>
        </p:nvSpPr>
        <p:spPr>
          <a:xfrm>
            <a:off x="5980113" y="5029200"/>
            <a:ext cx="57785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1/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charset="0"/>
              </a:rPr>
              <a:t>0</a:t>
            </a:r>
            <a:endParaRPr lang="en-US" altLang="zh-CN" sz="24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4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0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0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64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0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40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64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40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40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64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4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2" dur="500"/>
                                        <p:tgtEl>
                                          <p:spTgt spid="64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29" grpId="0"/>
      <p:bldP spid="640033" grpId="0"/>
      <p:bldP spid="640034" grpId="0"/>
      <p:bldP spid="6400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41026" name="Line 2"/>
          <p:cNvSpPr/>
          <p:nvPr/>
        </p:nvSpPr>
        <p:spPr>
          <a:xfrm>
            <a:off x="19812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27" name="Line 3"/>
          <p:cNvSpPr/>
          <p:nvPr/>
        </p:nvSpPr>
        <p:spPr>
          <a:xfrm>
            <a:off x="13716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28" name="Line 4"/>
          <p:cNvSpPr/>
          <p:nvPr/>
        </p:nvSpPr>
        <p:spPr>
          <a:xfrm>
            <a:off x="25908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29" name="Line 5"/>
          <p:cNvSpPr/>
          <p:nvPr/>
        </p:nvSpPr>
        <p:spPr>
          <a:xfrm>
            <a:off x="32004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30" name="Line 6"/>
          <p:cNvSpPr/>
          <p:nvPr/>
        </p:nvSpPr>
        <p:spPr>
          <a:xfrm>
            <a:off x="38100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31" name="Line 7"/>
          <p:cNvSpPr/>
          <p:nvPr/>
        </p:nvSpPr>
        <p:spPr>
          <a:xfrm>
            <a:off x="44196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32" name="Line 8"/>
          <p:cNvSpPr/>
          <p:nvPr/>
        </p:nvSpPr>
        <p:spPr>
          <a:xfrm>
            <a:off x="50292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33" name="Line 9"/>
          <p:cNvSpPr/>
          <p:nvPr/>
        </p:nvSpPr>
        <p:spPr>
          <a:xfrm>
            <a:off x="56388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34" name="Line 10"/>
          <p:cNvSpPr/>
          <p:nvPr/>
        </p:nvSpPr>
        <p:spPr>
          <a:xfrm>
            <a:off x="62484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41035" name="Rectangle 11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1036" name="Rectangle 12"/>
          <p:cNvSpPr>
            <a:spLocks noGrp="1" noChangeArrowheads="1"/>
          </p:cNvSpPr>
          <p:nvPr>
            <p:ph idx="1"/>
          </p:nvPr>
        </p:nvSpPr>
        <p:spPr>
          <a:xfrm>
            <a:off x="344488" y="984250"/>
            <a:ext cx="7924800" cy="974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应用举例：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习题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5.1)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X=010111100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的时序图：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41037" name="Line 13"/>
          <p:cNvSpPr/>
          <p:nvPr/>
        </p:nvSpPr>
        <p:spPr>
          <a:xfrm flipV="1">
            <a:off x="1409700" y="5776913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1038" name="Group 14"/>
          <p:cNvGrpSpPr/>
          <p:nvPr/>
        </p:nvGrpSpPr>
        <p:grpSpPr>
          <a:xfrm>
            <a:off x="228600" y="5443538"/>
            <a:ext cx="454025" cy="1138237"/>
            <a:chOff x="157" y="3392"/>
            <a:chExt cx="277" cy="672"/>
          </a:xfrm>
        </p:grpSpPr>
        <p:sp>
          <p:nvSpPr>
            <p:cNvPr id="29830" name="Text Box 15"/>
            <p:cNvSpPr txBox="1"/>
            <p:nvPr/>
          </p:nvSpPr>
          <p:spPr>
            <a:xfrm>
              <a:off x="157" y="3392"/>
              <a:ext cx="25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29831" name="Text Box 16"/>
            <p:cNvSpPr txBox="1"/>
            <p:nvPr/>
          </p:nvSpPr>
          <p:spPr>
            <a:xfrm>
              <a:off x="202" y="3776"/>
              <a:ext cx="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Z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sp>
        <p:nvSpPr>
          <p:cNvPr id="641041" name="Line 17"/>
          <p:cNvSpPr/>
          <p:nvPr/>
        </p:nvSpPr>
        <p:spPr>
          <a:xfrm flipV="1">
            <a:off x="838200" y="60706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1042" name="Group 18"/>
          <p:cNvGrpSpPr/>
          <p:nvPr/>
        </p:nvGrpSpPr>
        <p:grpSpPr>
          <a:xfrm>
            <a:off x="2590800" y="5395913"/>
            <a:ext cx="609600" cy="381000"/>
            <a:chOff x="1824" y="3216"/>
            <a:chExt cx="384" cy="240"/>
          </a:xfrm>
        </p:grpSpPr>
        <p:sp>
          <p:nvSpPr>
            <p:cNvPr id="29828" name="Line 19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9" name="Line 20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404" name="Line 22"/>
          <p:cNvSpPr/>
          <p:nvPr/>
        </p:nvSpPr>
        <p:spPr>
          <a:xfrm>
            <a:off x="1981200" y="607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1048" name="Group 24"/>
          <p:cNvGrpSpPr/>
          <p:nvPr/>
        </p:nvGrpSpPr>
        <p:grpSpPr>
          <a:xfrm>
            <a:off x="3838575" y="5384800"/>
            <a:ext cx="609600" cy="381000"/>
            <a:chOff x="2592" y="3216"/>
            <a:chExt cx="384" cy="240"/>
          </a:xfrm>
        </p:grpSpPr>
        <p:sp>
          <p:nvSpPr>
            <p:cNvPr id="29826" name="Line 25"/>
            <p:cNvSpPr/>
            <p:nvPr/>
          </p:nvSpPr>
          <p:spPr>
            <a:xfrm>
              <a:off x="2592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7" name="Line 26"/>
            <p:cNvSpPr/>
            <p:nvPr/>
          </p:nvSpPr>
          <p:spPr>
            <a:xfrm>
              <a:off x="2592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16" name="Text Box 27"/>
          <p:cNvSpPr txBox="1"/>
          <p:nvPr/>
        </p:nvSpPr>
        <p:spPr>
          <a:xfrm>
            <a:off x="995363" y="1965325"/>
            <a:ext cx="233997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假定原态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n</a:t>
            </a:r>
            <a:r>
              <a:rPr lang="zh-CN" altLang="en-US" sz="2400" b="1" dirty="0">
                <a:latin typeface="Georgia" panose="02040502050405020303" pitchFamily="18" charset="0"/>
              </a:rPr>
              <a:t>＝</a:t>
            </a:r>
            <a:r>
              <a:rPr lang="en-US" altLang="zh-CN" sz="2400" b="1" dirty="0">
                <a:latin typeface="Georgia" panose="02040502050405020303" pitchFamily="18" charset="0"/>
              </a:rPr>
              <a:t>0</a:t>
            </a:r>
            <a:endParaRPr lang="en-US" altLang="zh-CN" sz="2400" b="1" dirty="0">
              <a:latin typeface="Georgia" panose="02040502050405020303" pitchFamily="18" charset="0"/>
            </a:endParaRPr>
          </a:p>
        </p:txBody>
      </p:sp>
      <p:grpSp>
        <p:nvGrpSpPr>
          <p:cNvPr id="641053" name="Group 29"/>
          <p:cNvGrpSpPr/>
          <p:nvPr/>
        </p:nvGrpSpPr>
        <p:grpSpPr>
          <a:xfrm>
            <a:off x="228600" y="3937000"/>
            <a:ext cx="6629400" cy="523875"/>
            <a:chOff x="720" y="2304"/>
            <a:chExt cx="4176" cy="330"/>
          </a:xfrm>
        </p:grpSpPr>
        <p:sp>
          <p:nvSpPr>
            <p:cNvPr id="29788" name="Line 30"/>
            <p:cNvSpPr/>
            <p:nvPr/>
          </p:nvSpPr>
          <p:spPr>
            <a:xfrm>
              <a:off x="1123" y="2592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9" name="Line 31"/>
            <p:cNvSpPr/>
            <p:nvPr/>
          </p:nvSpPr>
          <p:spPr>
            <a:xfrm flipV="1">
              <a:off x="144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790" name="Line 32"/>
            <p:cNvSpPr/>
            <p:nvPr/>
          </p:nvSpPr>
          <p:spPr>
            <a:xfrm flipV="1">
              <a:off x="1440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1" name="Line 33"/>
            <p:cNvSpPr/>
            <p:nvPr/>
          </p:nvSpPr>
          <p:spPr>
            <a:xfrm>
              <a:off x="1632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2" name="Line 34"/>
            <p:cNvSpPr/>
            <p:nvPr/>
          </p:nvSpPr>
          <p:spPr>
            <a:xfrm flipV="1">
              <a:off x="163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3" name="Text Box 35"/>
            <p:cNvSpPr txBox="1"/>
            <p:nvPr/>
          </p:nvSpPr>
          <p:spPr>
            <a:xfrm>
              <a:off x="720" y="2346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29794" name="Line 36"/>
            <p:cNvSpPr/>
            <p:nvPr/>
          </p:nvSpPr>
          <p:spPr>
            <a:xfrm flipV="1">
              <a:off x="182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795" name="Line 37"/>
            <p:cNvSpPr/>
            <p:nvPr/>
          </p:nvSpPr>
          <p:spPr>
            <a:xfrm flipV="1">
              <a:off x="1824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6" name="Line 38"/>
            <p:cNvSpPr/>
            <p:nvPr/>
          </p:nvSpPr>
          <p:spPr>
            <a:xfrm>
              <a:off x="2016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7" name="Line 39"/>
            <p:cNvSpPr/>
            <p:nvPr/>
          </p:nvSpPr>
          <p:spPr>
            <a:xfrm flipV="1">
              <a:off x="2016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98" name="Line 40"/>
            <p:cNvSpPr/>
            <p:nvPr/>
          </p:nvSpPr>
          <p:spPr>
            <a:xfrm flipV="1">
              <a:off x="220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799" name="Line 41"/>
            <p:cNvSpPr/>
            <p:nvPr/>
          </p:nvSpPr>
          <p:spPr>
            <a:xfrm flipV="1">
              <a:off x="2208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0" name="Line 42"/>
            <p:cNvSpPr/>
            <p:nvPr/>
          </p:nvSpPr>
          <p:spPr>
            <a:xfrm>
              <a:off x="2400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1" name="Line 43"/>
            <p:cNvSpPr/>
            <p:nvPr/>
          </p:nvSpPr>
          <p:spPr>
            <a:xfrm flipV="1">
              <a:off x="240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2" name="Line 44"/>
            <p:cNvSpPr/>
            <p:nvPr/>
          </p:nvSpPr>
          <p:spPr>
            <a:xfrm flipV="1">
              <a:off x="259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803" name="Line 45"/>
            <p:cNvSpPr/>
            <p:nvPr/>
          </p:nvSpPr>
          <p:spPr>
            <a:xfrm flipV="1">
              <a:off x="2592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4" name="Line 46"/>
            <p:cNvSpPr/>
            <p:nvPr/>
          </p:nvSpPr>
          <p:spPr>
            <a:xfrm>
              <a:off x="2784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5" name="Line 47"/>
            <p:cNvSpPr/>
            <p:nvPr/>
          </p:nvSpPr>
          <p:spPr>
            <a:xfrm flipV="1">
              <a:off x="278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6" name="Line 48"/>
            <p:cNvSpPr/>
            <p:nvPr/>
          </p:nvSpPr>
          <p:spPr>
            <a:xfrm flipV="1">
              <a:off x="2976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807" name="Line 49"/>
            <p:cNvSpPr/>
            <p:nvPr/>
          </p:nvSpPr>
          <p:spPr>
            <a:xfrm flipV="1">
              <a:off x="2976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8" name="Line 50"/>
            <p:cNvSpPr/>
            <p:nvPr/>
          </p:nvSpPr>
          <p:spPr>
            <a:xfrm>
              <a:off x="3168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09" name="Line 51"/>
            <p:cNvSpPr/>
            <p:nvPr/>
          </p:nvSpPr>
          <p:spPr>
            <a:xfrm flipV="1">
              <a:off x="316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0" name="Line 52"/>
            <p:cNvSpPr/>
            <p:nvPr/>
          </p:nvSpPr>
          <p:spPr>
            <a:xfrm flipV="1">
              <a:off x="336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811" name="Line 53"/>
            <p:cNvSpPr/>
            <p:nvPr/>
          </p:nvSpPr>
          <p:spPr>
            <a:xfrm flipV="1">
              <a:off x="3360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2" name="Line 54"/>
            <p:cNvSpPr/>
            <p:nvPr/>
          </p:nvSpPr>
          <p:spPr>
            <a:xfrm>
              <a:off x="3552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3" name="Line 55"/>
            <p:cNvSpPr/>
            <p:nvPr/>
          </p:nvSpPr>
          <p:spPr>
            <a:xfrm flipV="1">
              <a:off x="355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4" name="Line 56"/>
            <p:cNvSpPr/>
            <p:nvPr/>
          </p:nvSpPr>
          <p:spPr>
            <a:xfrm flipV="1">
              <a:off x="374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815" name="Line 57"/>
            <p:cNvSpPr/>
            <p:nvPr/>
          </p:nvSpPr>
          <p:spPr>
            <a:xfrm flipV="1">
              <a:off x="3744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6" name="Line 58"/>
            <p:cNvSpPr/>
            <p:nvPr/>
          </p:nvSpPr>
          <p:spPr>
            <a:xfrm>
              <a:off x="3936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7" name="Line 59"/>
            <p:cNvSpPr/>
            <p:nvPr/>
          </p:nvSpPr>
          <p:spPr>
            <a:xfrm flipV="1">
              <a:off x="3936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18" name="Line 60"/>
            <p:cNvSpPr/>
            <p:nvPr/>
          </p:nvSpPr>
          <p:spPr>
            <a:xfrm flipV="1">
              <a:off x="412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819" name="Line 61"/>
            <p:cNvSpPr/>
            <p:nvPr/>
          </p:nvSpPr>
          <p:spPr>
            <a:xfrm flipV="1">
              <a:off x="4128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0" name="Line 62"/>
            <p:cNvSpPr/>
            <p:nvPr/>
          </p:nvSpPr>
          <p:spPr>
            <a:xfrm>
              <a:off x="4320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1" name="Line 63"/>
            <p:cNvSpPr/>
            <p:nvPr/>
          </p:nvSpPr>
          <p:spPr>
            <a:xfrm flipV="1">
              <a:off x="432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2" name="Line 64"/>
            <p:cNvSpPr/>
            <p:nvPr/>
          </p:nvSpPr>
          <p:spPr>
            <a:xfrm flipV="1">
              <a:off x="451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9823" name="Line 65"/>
            <p:cNvSpPr/>
            <p:nvPr/>
          </p:nvSpPr>
          <p:spPr>
            <a:xfrm flipV="1">
              <a:off x="4512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4" name="Line 66"/>
            <p:cNvSpPr/>
            <p:nvPr/>
          </p:nvSpPr>
          <p:spPr>
            <a:xfrm>
              <a:off x="4704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825" name="Line 67"/>
            <p:cNvSpPr/>
            <p:nvPr/>
          </p:nvSpPr>
          <p:spPr>
            <a:xfrm flipV="1">
              <a:off x="470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1092" name="Group 68"/>
          <p:cNvGrpSpPr/>
          <p:nvPr/>
        </p:nvGrpSpPr>
        <p:grpSpPr>
          <a:xfrm>
            <a:off x="304800" y="4665663"/>
            <a:ext cx="7010400" cy="554037"/>
            <a:chOff x="768" y="2960"/>
            <a:chExt cx="4416" cy="349"/>
          </a:xfrm>
        </p:grpSpPr>
        <p:sp>
          <p:nvSpPr>
            <p:cNvPr id="29769" name="Line 69"/>
            <p:cNvSpPr/>
            <p:nvPr/>
          </p:nvSpPr>
          <p:spPr>
            <a:xfrm flipV="1">
              <a:off x="1104" y="3216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0" name="Line 70"/>
            <p:cNvSpPr/>
            <p:nvPr/>
          </p:nvSpPr>
          <p:spPr>
            <a:xfrm flipV="1">
              <a:off x="1824" y="2960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1" name="Line 71"/>
            <p:cNvSpPr/>
            <p:nvPr/>
          </p:nvSpPr>
          <p:spPr>
            <a:xfrm flipH="1" flipV="1">
              <a:off x="1824" y="296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2" name="Line 72"/>
            <p:cNvSpPr/>
            <p:nvPr/>
          </p:nvSpPr>
          <p:spPr>
            <a:xfrm flipV="1">
              <a:off x="2208" y="296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3" name="Line 73"/>
            <p:cNvSpPr/>
            <p:nvPr/>
          </p:nvSpPr>
          <p:spPr>
            <a:xfrm>
              <a:off x="2208" y="324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4" name="Line 74"/>
            <p:cNvSpPr/>
            <p:nvPr/>
          </p:nvSpPr>
          <p:spPr>
            <a:xfrm>
              <a:off x="2592" y="2960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5" name="Line 75"/>
            <p:cNvSpPr/>
            <p:nvPr/>
          </p:nvSpPr>
          <p:spPr>
            <a:xfrm>
              <a:off x="4128" y="3248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6" name="Line 76"/>
            <p:cNvSpPr/>
            <p:nvPr/>
          </p:nvSpPr>
          <p:spPr>
            <a:xfrm flipV="1">
              <a:off x="2592" y="2960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7" name="Text Box 77"/>
            <p:cNvSpPr txBox="1"/>
            <p:nvPr/>
          </p:nvSpPr>
          <p:spPr>
            <a:xfrm>
              <a:off x="1564" y="296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78" name="Text Box 78"/>
            <p:cNvSpPr txBox="1"/>
            <p:nvPr/>
          </p:nvSpPr>
          <p:spPr>
            <a:xfrm>
              <a:off x="1872" y="296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79" name="Text Box 79"/>
            <p:cNvSpPr txBox="1"/>
            <p:nvPr/>
          </p:nvSpPr>
          <p:spPr>
            <a:xfrm>
              <a:off x="2310" y="296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80" name="Text Box 80"/>
            <p:cNvSpPr txBox="1"/>
            <p:nvPr/>
          </p:nvSpPr>
          <p:spPr>
            <a:xfrm>
              <a:off x="768" y="3021"/>
              <a:ext cx="2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X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29781" name="Text Box 81"/>
            <p:cNvSpPr txBox="1"/>
            <p:nvPr/>
          </p:nvSpPr>
          <p:spPr>
            <a:xfrm>
              <a:off x="2681" y="2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82" name="Text Box 82"/>
            <p:cNvSpPr txBox="1"/>
            <p:nvPr/>
          </p:nvSpPr>
          <p:spPr>
            <a:xfrm>
              <a:off x="3052" y="2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83" name="Text Box 83"/>
            <p:cNvSpPr txBox="1"/>
            <p:nvPr/>
          </p:nvSpPr>
          <p:spPr>
            <a:xfrm>
              <a:off x="3484" y="2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84" name="Text Box 84"/>
            <p:cNvSpPr txBox="1"/>
            <p:nvPr/>
          </p:nvSpPr>
          <p:spPr>
            <a:xfrm>
              <a:off x="3868" y="2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85" name="Line 85"/>
            <p:cNvSpPr/>
            <p:nvPr/>
          </p:nvSpPr>
          <p:spPr>
            <a:xfrm flipV="1">
              <a:off x="4128" y="296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6" name="Text Box 86"/>
            <p:cNvSpPr txBox="1"/>
            <p:nvPr/>
          </p:nvSpPr>
          <p:spPr>
            <a:xfrm>
              <a:off x="4252" y="2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29787" name="Text Box 87"/>
            <p:cNvSpPr txBox="1"/>
            <p:nvPr/>
          </p:nvSpPr>
          <p:spPr>
            <a:xfrm>
              <a:off x="4588" y="2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sp>
        <p:nvSpPr>
          <p:cNvPr id="641112" name="Line 88"/>
          <p:cNvSpPr/>
          <p:nvPr/>
        </p:nvSpPr>
        <p:spPr>
          <a:xfrm flipV="1">
            <a:off x="1974850" y="5765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1113" name="Line 89"/>
          <p:cNvSpPr/>
          <p:nvPr/>
        </p:nvSpPr>
        <p:spPr>
          <a:xfrm flipV="1">
            <a:off x="1371600" y="607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1114" name="Group 90"/>
          <p:cNvGrpSpPr/>
          <p:nvPr/>
        </p:nvGrpSpPr>
        <p:grpSpPr>
          <a:xfrm>
            <a:off x="3206750" y="6057900"/>
            <a:ext cx="609600" cy="381000"/>
            <a:chOff x="1824" y="3648"/>
            <a:chExt cx="384" cy="240"/>
          </a:xfrm>
        </p:grpSpPr>
        <p:sp>
          <p:nvSpPr>
            <p:cNvPr id="29767" name="Line 91"/>
            <p:cNvSpPr/>
            <p:nvPr/>
          </p:nvSpPr>
          <p:spPr>
            <a:xfrm>
              <a:off x="1824" y="38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8" name="Line 92"/>
            <p:cNvSpPr/>
            <p:nvPr/>
          </p:nvSpPr>
          <p:spPr>
            <a:xfrm flipV="1">
              <a:off x="182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1117" name="Line 93"/>
          <p:cNvSpPr/>
          <p:nvPr/>
        </p:nvSpPr>
        <p:spPr>
          <a:xfrm flipV="1">
            <a:off x="3228975" y="5384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1118" name="Line 94"/>
          <p:cNvSpPr/>
          <p:nvPr/>
        </p:nvSpPr>
        <p:spPr>
          <a:xfrm>
            <a:off x="2609850" y="607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1119" name="Group 95"/>
          <p:cNvGrpSpPr/>
          <p:nvPr/>
        </p:nvGrpSpPr>
        <p:grpSpPr>
          <a:xfrm>
            <a:off x="4448175" y="5384800"/>
            <a:ext cx="609600" cy="381000"/>
            <a:chOff x="2976" y="3216"/>
            <a:chExt cx="384" cy="240"/>
          </a:xfrm>
        </p:grpSpPr>
        <p:sp>
          <p:nvSpPr>
            <p:cNvPr id="29765" name="Line 96"/>
            <p:cNvSpPr/>
            <p:nvPr/>
          </p:nvSpPr>
          <p:spPr>
            <a:xfrm flipV="1">
              <a:off x="2976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6" name="Line 97"/>
            <p:cNvSpPr/>
            <p:nvPr/>
          </p:nvSpPr>
          <p:spPr>
            <a:xfrm>
              <a:off x="2976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1125" name="Group 101"/>
          <p:cNvGrpSpPr/>
          <p:nvPr/>
        </p:nvGrpSpPr>
        <p:grpSpPr>
          <a:xfrm>
            <a:off x="5057775" y="5384800"/>
            <a:ext cx="609600" cy="381000"/>
            <a:chOff x="3360" y="3216"/>
            <a:chExt cx="384" cy="240"/>
          </a:xfrm>
        </p:grpSpPr>
        <p:sp>
          <p:nvSpPr>
            <p:cNvPr id="29763" name="Line 102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4" name="Line 103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1128" name="Group 104"/>
          <p:cNvGrpSpPr/>
          <p:nvPr/>
        </p:nvGrpSpPr>
        <p:grpSpPr>
          <a:xfrm>
            <a:off x="3816350" y="6070600"/>
            <a:ext cx="609600" cy="381000"/>
            <a:chOff x="3360" y="3648"/>
            <a:chExt cx="384" cy="240"/>
          </a:xfrm>
        </p:grpSpPr>
        <p:sp>
          <p:nvSpPr>
            <p:cNvPr id="29761" name="Line 105"/>
            <p:cNvSpPr/>
            <p:nvPr/>
          </p:nvSpPr>
          <p:spPr>
            <a:xfrm>
              <a:off x="3360" y="364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2" name="Line 106"/>
            <p:cNvSpPr/>
            <p:nvPr/>
          </p:nvSpPr>
          <p:spPr>
            <a:xfrm flipV="1">
              <a:off x="3360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1131" name="Group 107"/>
          <p:cNvGrpSpPr/>
          <p:nvPr/>
        </p:nvGrpSpPr>
        <p:grpSpPr>
          <a:xfrm>
            <a:off x="5667375" y="5384800"/>
            <a:ext cx="609600" cy="381000"/>
            <a:chOff x="3744" y="3216"/>
            <a:chExt cx="384" cy="240"/>
          </a:xfrm>
        </p:grpSpPr>
        <p:sp>
          <p:nvSpPr>
            <p:cNvPr id="29759" name="Line 108"/>
            <p:cNvSpPr/>
            <p:nvPr/>
          </p:nvSpPr>
          <p:spPr>
            <a:xfrm flipV="1">
              <a:off x="374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0" name="Line 109"/>
            <p:cNvSpPr/>
            <p:nvPr/>
          </p:nvSpPr>
          <p:spPr>
            <a:xfrm>
              <a:off x="3744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1134" name="Group 110"/>
          <p:cNvGrpSpPr/>
          <p:nvPr/>
        </p:nvGrpSpPr>
        <p:grpSpPr>
          <a:xfrm>
            <a:off x="4432300" y="6070600"/>
            <a:ext cx="609600" cy="381000"/>
            <a:chOff x="3744" y="3648"/>
            <a:chExt cx="384" cy="240"/>
          </a:xfrm>
        </p:grpSpPr>
        <p:sp>
          <p:nvSpPr>
            <p:cNvPr id="29757" name="Line 111"/>
            <p:cNvSpPr/>
            <p:nvPr/>
          </p:nvSpPr>
          <p:spPr>
            <a:xfrm>
              <a:off x="3744" y="38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8" name="Line 112"/>
            <p:cNvSpPr/>
            <p:nvPr/>
          </p:nvSpPr>
          <p:spPr>
            <a:xfrm flipV="1">
              <a:off x="3744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1137" name="Line 113"/>
          <p:cNvSpPr/>
          <p:nvPr/>
        </p:nvSpPr>
        <p:spPr>
          <a:xfrm flipV="1">
            <a:off x="6276975" y="5384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1138" name="Group 114"/>
          <p:cNvGrpSpPr/>
          <p:nvPr/>
        </p:nvGrpSpPr>
        <p:grpSpPr>
          <a:xfrm>
            <a:off x="5029200" y="6096000"/>
            <a:ext cx="609600" cy="381000"/>
            <a:chOff x="4128" y="3648"/>
            <a:chExt cx="384" cy="240"/>
          </a:xfrm>
        </p:grpSpPr>
        <p:sp>
          <p:nvSpPr>
            <p:cNvPr id="29755" name="Line 115"/>
            <p:cNvSpPr/>
            <p:nvPr/>
          </p:nvSpPr>
          <p:spPr>
            <a:xfrm>
              <a:off x="4128" y="364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6" name="Line 116"/>
            <p:cNvSpPr/>
            <p:nvPr/>
          </p:nvSpPr>
          <p:spPr>
            <a:xfrm flipV="1">
              <a:off x="4128" y="364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1141" name="Line 117"/>
          <p:cNvSpPr/>
          <p:nvPr/>
        </p:nvSpPr>
        <p:spPr>
          <a:xfrm flipV="1">
            <a:off x="6886575" y="5384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1142" name="Line 118"/>
          <p:cNvSpPr/>
          <p:nvPr/>
        </p:nvSpPr>
        <p:spPr>
          <a:xfrm>
            <a:off x="5632450" y="60960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1144" name="Text Box 120"/>
          <p:cNvSpPr txBox="1">
            <a:spLocks noChangeArrowheads="1"/>
          </p:cNvSpPr>
          <p:nvPr/>
        </p:nvSpPr>
        <p:spPr bwMode="auto">
          <a:xfrm>
            <a:off x="6934200" y="3733800"/>
            <a:ext cx="2057400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rIns="0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功能：当输入偶数个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时，输出为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" name="Line 13"/>
          <p:cNvSpPr/>
          <p:nvPr/>
        </p:nvSpPr>
        <p:spPr>
          <a:xfrm flipV="1">
            <a:off x="868363" y="57658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4" name="Line 118"/>
          <p:cNvSpPr/>
          <p:nvPr/>
        </p:nvSpPr>
        <p:spPr>
          <a:xfrm>
            <a:off x="6226175" y="60960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9736" name="组合 124"/>
          <p:cNvGrpSpPr/>
          <p:nvPr/>
        </p:nvGrpSpPr>
        <p:grpSpPr>
          <a:xfrm>
            <a:off x="3670300" y="1679575"/>
            <a:ext cx="3960813" cy="1971675"/>
            <a:chOff x="3922713" y="3124200"/>
            <a:chExt cx="4346575" cy="2487481"/>
          </a:xfrm>
        </p:grpSpPr>
        <p:grpSp>
          <p:nvGrpSpPr>
            <p:cNvPr id="29741" name="Group 22"/>
            <p:cNvGrpSpPr/>
            <p:nvPr/>
          </p:nvGrpSpPr>
          <p:grpSpPr>
            <a:xfrm>
              <a:off x="4724400" y="3886200"/>
              <a:ext cx="685800" cy="685800"/>
              <a:chOff x="2976" y="2592"/>
              <a:chExt cx="432" cy="432"/>
            </a:xfrm>
          </p:grpSpPr>
          <p:sp>
            <p:nvSpPr>
              <p:cNvPr id="29753" name="Oval 23"/>
              <p:cNvSpPr/>
              <p:nvPr/>
            </p:nvSpPr>
            <p:spPr>
              <a:xfrm>
                <a:off x="2976" y="2592"/>
                <a:ext cx="432" cy="432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139" name="Text Box 24"/>
              <p:cNvSpPr txBox="1">
                <a:spLocks noChangeArrowheads="1"/>
              </p:cNvSpPr>
              <p:nvPr/>
            </p:nvSpPr>
            <p:spPr bwMode="auto">
              <a:xfrm>
                <a:off x="3072" y="2638"/>
                <a:ext cx="239" cy="3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32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3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9742" name="Group 25"/>
            <p:cNvGrpSpPr/>
            <p:nvPr/>
          </p:nvGrpSpPr>
          <p:grpSpPr>
            <a:xfrm>
              <a:off x="6781800" y="3886200"/>
              <a:ext cx="685800" cy="685800"/>
              <a:chOff x="2976" y="2592"/>
              <a:chExt cx="432" cy="432"/>
            </a:xfrm>
          </p:grpSpPr>
          <p:sp>
            <p:nvSpPr>
              <p:cNvPr id="29751" name="Oval 26"/>
              <p:cNvSpPr/>
              <p:nvPr/>
            </p:nvSpPr>
            <p:spPr>
              <a:xfrm>
                <a:off x="2976" y="2592"/>
                <a:ext cx="432" cy="432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137" name="Text Box 27"/>
              <p:cNvSpPr txBox="1">
                <a:spLocks noChangeArrowheads="1"/>
              </p:cNvSpPr>
              <p:nvPr/>
            </p:nvSpPr>
            <p:spPr bwMode="auto">
              <a:xfrm>
                <a:off x="3072" y="2638"/>
                <a:ext cx="239" cy="3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32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3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743" name="Freeform 28"/>
            <p:cNvSpPr/>
            <p:nvPr/>
          </p:nvSpPr>
          <p:spPr>
            <a:xfrm>
              <a:off x="4406900" y="3886200"/>
              <a:ext cx="469900" cy="8636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96" h="544">
                  <a:moveTo>
                    <a:pt x="248" y="48"/>
                  </a:moveTo>
                  <a:cubicBezTo>
                    <a:pt x="216" y="24"/>
                    <a:pt x="184" y="0"/>
                    <a:pt x="152" y="0"/>
                  </a:cubicBezTo>
                  <a:cubicBezTo>
                    <a:pt x="120" y="0"/>
                    <a:pt x="80" y="8"/>
                    <a:pt x="56" y="48"/>
                  </a:cubicBezTo>
                  <a:cubicBezTo>
                    <a:pt x="32" y="88"/>
                    <a:pt x="0" y="168"/>
                    <a:pt x="8" y="240"/>
                  </a:cubicBezTo>
                  <a:cubicBezTo>
                    <a:pt x="16" y="312"/>
                    <a:pt x="72" y="432"/>
                    <a:pt x="104" y="480"/>
                  </a:cubicBezTo>
                  <a:cubicBezTo>
                    <a:pt x="136" y="528"/>
                    <a:pt x="168" y="544"/>
                    <a:pt x="200" y="528"/>
                  </a:cubicBezTo>
                  <a:cubicBezTo>
                    <a:pt x="232" y="512"/>
                    <a:pt x="264" y="448"/>
                    <a:pt x="296" y="384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44" name="Text Box 29"/>
            <p:cNvSpPr txBox="1"/>
            <p:nvPr/>
          </p:nvSpPr>
          <p:spPr>
            <a:xfrm>
              <a:off x="3922713" y="4040188"/>
              <a:ext cx="5730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0/</a:t>
              </a: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charset="0"/>
                </a:rPr>
                <a:t>1</a:t>
              </a:r>
              <a:endParaRPr lang="en-US" altLang="zh-CN" sz="2400" b="1" dirty="0">
                <a:solidFill>
                  <a:srgbClr val="FFFF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9745" name="Freeform 30"/>
            <p:cNvSpPr/>
            <p:nvPr/>
          </p:nvSpPr>
          <p:spPr>
            <a:xfrm>
              <a:off x="5105400" y="3581400"/>
              <a:ext cx="1981200" cy="304800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1248" h="192">
                  <a:moveTo>
                    <a:pt x="0" y="192"/>
                  </a:moveTo>
                  <a:cubicBezTo>
                    <a:pt x="48" y="136"/>
                    <a:pt x="96" y="80"/>
                    <a:pt x="192" y="48"/>
                  </a:cubicBezTo>
                  <a:cubicBezTo>
                    <a:pt x="288" y="16"/>
                    <a:pt x="432" y="0"/>
                    <a:pt x="576" y="0"/>
                  </a:cubicBezTo>
                  <a:cubicBezTo>
                    <a:pt x="720" y="0"/>
                    <a:pt x="944" y="16"/>
                    <a:pt x="1056" y="48"/>
                  </a:cubicBezTo>
                  <a:cubicBezTo>
                    <a:pt x="1168" y="80"/>
                    <a:pt x="1208" y="136"/>
                    <a:pt x="1248" y="192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46" name="Freeform 31"/>
            <p:cNvSpPr/>
            <p:nvPr/>
          </p:nvSpPr>
          <p:spPr>
            <a:xfrm>
              <a:off x="5181600" y="4533900"/>
              <a:ext cx="1981200" cy="5715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</a:cxnLst>
              <a:pathLst>
                <a:path w="1248" h="360">
                  <a:moveTo>
                    <a:pt x="1248" y="24"/>
                  </a:moveTo>
                  <a:cubicBezTo>
                    <a:pt x="1232" y="12"/>
                    <a:pt x="1216" y="0"/>
                    <a:pt x="1200" y="24"/>
                  </a:cubicBezTo>
                  <a:cubicBezTo>
                    <a:pt x="1184" y="48"/>
                    <a:pt x="1176" y="128"/>
                    <a:pt x="1152" y="168"/>
                  </a:cubicBezTo>
                  <a:cubicBezTo>
                    <a:pt x="1128" y="208"/>
                    <a:pt x="1104" y="240"/>
                    <a:pt x="1056" y="264"/>
                  </a:cubicBezTo>
                  <a:cubicBezTo>
                    <a:pt x="1008" y="288"/>
                    <a:pt x="992" y="304"/>
                    <a:pt x="864" y="312"/>
                  </a:cubicBezTo>
                  <a:cubicBezTo>
                    <a:pt x="736" y="320"/>
                    <a:pt x="432" y="360"/>
                    <a:pt x="288" y="312"/>
                  </a:cubicBezTo>
                  <a:cubicBezTo>
                    <a:pt x="144" y="264"/>
                    <a:pt x="72" y="144"/>
                    <a:pt x="0" y="24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47" name="Freeform 32"/>
            <p:cNvSpPr/>
            <p:nvPr/>
          </p:nvSpPr>
          <p:spPr>
            <a:xfrm flipH="1">
              <a:off x="7315200" y="3886200"/>
              <a:ext cx="444500" cy="8636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pathLst>
                <a:path w="296" h="544">
                  <a:moveTo>
                    <a:pt x="248" y="48"/>
                  </a:moveTo>
                  <a:cubicBezTo>
                    <a:pt x="216" y="24"/>
                    <a:pt x="184" y="0"/>
                    <a:pt x="152" y="0"/>
                  </a:cubicBezTo>
                  <a:cubicBezTo>
                    <a:pt x="120" y="0"/>
                    <a:pt x="80" y="8"/>
                    <a:pt x="56" y="48"/>
                  </a:cubicBezTo>
                  <a:cubicBezTo>
                    <a:pt x="32" y="88"/>
                    <a:pt x="0" y="168"/>
                    <a:pt x="8" y="240"/>
                  </a:cubicBezTo>
                  <a:cubicBezTo>
                    <a:pt x="16" y="312"/>
                    <a:pt x="72" y="432"/>
                    <a:pt x="104" y="480"/>
                  </a:cubicBezTo>
                  <a:cubicBezTo>
                    <a:pt x="136" y="528"/>
                    <a:pt x="168" y="544"/>
                    <a:pt x="200" y="528"/>
                  </a:cubicBezTo>
                  <a:cubicBezTo>
                    <a:pt x="232" y="512"/>
                    <a:pt x="264" y="448"/>
                    <a:pt x="296" y="384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48" name="Text Box 33"/>
            <p:cNvSpPr txBox="1"/>
            <p:nvPr/>
          </p:nvSpPr>
          <p:spPr>
            <a:xfrm>
              <a:off x="7696200" y="4038600"/>
              <a:ext cx="573088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0/</a:t>
              </a: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charset="0"/>
                </a:rPr>
                <a:t>1</a:t>
              </a:r>
              <a:endParaRPr lang="en-US" altLang="zh-CN" sz="2400" b="1" dirty="0">
                <a:solidFill>
                  <a:srgbClr val="FFFF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9749" name="Text Box 34"/>
            <p:cNvSpPr txBox="1"/>
            <p:nvPr/>
          </p:nvSpPr>
          <p:spPr>
            <a:xfrm>
              <a:off x="5791200" y="3124200"/>
              <a:ext cx="633638" cy="582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1/</a:t>
              </a: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charset="0"/>
                </a:rPr>
                <a:t>1</a:t>
              </a:r>
              <a:endParaRPr lang="en-US" altLang="zh-CN" sz="2400" b="1" dirty="0">
                <a:solidFill>
                  <a:srgbClr val="FFFF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29750" name="Text Box 35"/>
            <p:cNvSpPr txBox="1"/>
            <p:nvPr/>
          </p:nvSpPr>
          <p:spPr>
            <a:xfrm>
              <a:off x="5980113" y="5029198"/>
              <a:ext cx="633638" cy="582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1/</a:t>
              </a:r>
              <a:r>
                <a:rPr lang="en-US" altLang="zh-CN" sz="2400" b="1" dirty="0">
                  <a:solidFill>
                    <a:srgbClr val="FFFF00"/>
                  </a:solidFill>
                  <a:latin typeface="Times New Roman" panose="02020603050405020304" charset="0"/>
                </a:rPr>
                <a:t>0</a:t>
              </a:r>
              <a:endParaRPr lang="en-US" altLang="zh-CN" sz="2400" b="1" dirty="0">
                <a:solidFill>
                  <a:srgbClr val="FFFF00"/>
                </a:solidFill>
                <a:latin typeface="Times New Roman" panose="0202060305040502030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05313" y="3228975"/>
            <a:ext cx="333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Text Box 120"/>
          <p:cNvSpPr txBox="1">
            <a:spLocks noChangeArrowheads="1"/>
          </p:cNvSpPr>
          <p:nvPr/>
        </p:nvSpPr>
        <p:spPr bwMode="auto">
          <a:xfrm>
            <a:off x="6799263" y="5521325"/>
            <a:ext cx="2151063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rIns="0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串行奇偶检测器</a:t>
            </a:r>
            <a:endParaRPr kumimoji="0" lang="zh-CN" altLang="en-US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39" name="文本框 134"/>
          <p:cNvSpPr txBox="1"/>
          <p:nvPr/>
        </p:nvSpPr>
        <p:spPr>
          <a:xfrm>
            <a:off x="809625" y="2381250"/>
            <a:ext cx="26812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n+1</a:t>
            </a:r>
            <a:r>
              <a:rPr lang="en-US" altLang="zh-CN" sz="2800" dirty="0"/>
              <a:t>=D=X</a:t>
            </a:r>
            <a:r>
              <a:rPr lang="en-US" altLang="zh-CN" sz="2800" dirty="0">
                <a:sym typeface="Symbol" panose="05050102010706020507" pitchFamily="18" charset="2"/>
              </a:rPr>
              <a:t>Q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  <p:sp>
        <p:nvSpPr>
          <p:cNvPr id="29740" name="文本框 135"/>
          <p:cNvSpPr txBox="1"/>
          <p:nvPr/>
        </p:nvSpPr>
        <p:spPr>
          <a:xfrm>
            <a:off x="830263" y="2932113"/>
            <a:ext cx="2681287" cy="571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——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Z=X</a:t>
            </a:r>
            <a:r>
              <a:rPr lang="en-US" altLang="zh-CN" sz="2800" dirty="0">
                <a:sym typeface="Symbol" panose="05050102010706020507" pitchFamily="18" charset="2"/>
              </a:rPr>
              <a:t>Q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4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64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64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6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64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64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64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64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64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64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64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64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64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64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64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7" dur="500"/>
                                        <p:tgtEl>
                                          <p:spTgt spid="64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2" dur="500"/>
                                        <p:tgtEl>
                                          <p:spTgt spid="64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64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64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64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64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7" dur="500"/>
                                        <p:tgtEl>
                                          <p:spTgt spid="64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2" dur="500"/>
                                        <p:tgtEl>
                                          <p:spTgt spid="64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00"/>
                                        <p:tgtEl>
                                          <p:spTgt spid="64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64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7" dur="500"/>
                                        <p:tgtEl>
                                          <p:spTgt spid="64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2" dur="500"/>
                                        <p:tgtEl>
                                          <p:spTgt spid="64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641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41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144" grpId="0"/>
      <p:bldP spid="1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0255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同步时序电路的分析步骤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根据电路图列出触发器激励函数表达式和电路输出函数；（分析由于触发器输入的变化而引起次态的变化以及输出的变化，所以必须要明确触发器的输入变化）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根据电路输入和触发器激励函数建立次态表达式和状态表； （分析触发器状态的变化规律）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画出状态图和时序图；（能够更直观分析状态的变化规律）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输出序列和输入序列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的关系，说明时序电路的逻辑功能；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0179" name="Rectangle 3"/>
          <p:cNvSpPr>
            <a:spLocks noGrp="1" noChangeArrowheads="1"/>
          </p:cNvSpPr>
          <p:nvPr>
            <p:ph idx="1"/>
          </p:nvPr>
        </p:nvSpPr>
        <p:spPr>
          <a:xfrm>
            <a:off x="696913" y="1439863"/>
            <a:ext cx="79248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：分析下面同步时序电路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90180" name="Text Box 4"/>
          <p:cNvSpPr txBox="1"/>
          <p:nvPr/>
        </p:nvSpPr>
        <p:spPr>
          <a:xfrm>
            <a:off x="762000" y="5105400"/>
            <a:ext cx="403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）写出激励函数和输出函数</a:t>
            </a:r>
            <a:endParaRPr lang="zh-CN" altLang="en-US" sz="2400" dirty="0"/>
          </a:p>
        </p:txBody>
      </p:sp>
      <p:grpSp>
        <p:nvGrpSpPr>
          <p:cNvPr id="32774" name="Group 6"/>
          <p:cNvGrpSpPr/>
          <p:nvPr/>
        </p:nvGrpSpPr>
        <p:grpSpPr>
          <a:xfrm>
            <a:off x="687388" y="2193925"/>
            <a:ext cx="7467600" cy="2590800"/>
            <a:chOff x="432" y="1392"/>
            <a:chExt cx="4704" cy="1632"/>
          </a:xfrm>
        </p:grpSpPr>
        <p:grpSp>
          <p:nvGrpSpPr>
            <p:cNvPr id="32778" name="Group 7"/>
            <p:cNvGrpSpPr/>
            <p:nvPr/>
          </p:nvGrpSpPr>
          <p:grpSpPr>
            <a:xfrm>
              <a:off x="2688" y="1776"/>
              <a:ext cx="768" cy="1104"/>
              <a:chOff x="2208" y="1680"/>
              <a:chExt cx="768" cy="1104"/>
            </a:xfrm>
          </p:grpSpPr>
          <p:sp>
            <p:nvSpPr>
              <p:cNvPr id="32821" name="Rectangle 8"/>
              <p:cNvSpPr/>
              <p:nvPr/>
            </p:nvSpPr>
            <p:spPr>
              <a:xfrm>
                <a:off x="2304" y="1680"/>
                <a:ext cx="672" cy="110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32822" name="Text Box 9"/>
              <p:cNvSpPr txBox="1"/>
              <p:nvPr/>
            </p:nvSpPr>
            <p:spPr>
              <a:xfrm>
                <a:off x="2304" y="1776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J</a:t>
                </a:r>
                <a:endParaRPr lang="en-US" altLang="zh-CN" sz="2000" dirty="0"/>
              </a:p>
            </p:txBody>
          </p:sp>
          <p:sp>
            <p:nvSpPr>
              <p:cNvPr id="32823" name="Text Box 10"/>
              <p:cNvSpPr txBox="1"/>
              <p:nvPr/>
            </p:nvSpPr>
            <p:spPr>
              <a:xfrm>
                <a:off x="2304" y="2438"/>
                <a:ext cx="19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K</a:t>
                </a:r>
                <a:endParaRPr lang="en-US" altLang="zh-CN" sz="2000" dirty="0"/>
              </a:p>
            </p:txBody>
          </p:sp>
          <p:sp>
            <p:nvSpPr>
              <p:cNvPr id="32824" name="Text Box 11"/>
              <p:cNvSpPr txBox="1"/>
              <p:nvPr/>
            </p:nvSpPr>
            <p:spPr>
              <a:xfrm>
                <a:off x="2688" y="1766"/>
                <a:ext cx="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Q</a:t>
                </a:r>
                <a:endParaRPr lang="en-US" altLang="zh-CN" sz="2000" dirty="0"/>
              </a:p>
            </p:txBody>
          </p:sp>
          <p:grpSp>
            <p:nvGrpSpPr>
              <p:cNvPr id="32825" name="Group 12"/>
              <p:cNvGrpSpPr/>
              <p:nvPr/>
            </p:nvGrpSpPr>
            <p:grpSpPr>
              <a:xfrm>
                <a:off x="2688" y="2448"/>
                <a:ext cx="288" cy="250"/>
                <a:chOff x="3648" y="2400"/>
                <a:chExt cx="288" cy="250"/>
              </a:xfrm>
            </p:grpSpPr>
            <p:sp>
              <p:nvSpPr>
                <p:cNvPr id="32827" name="Text Box 13"/>
                <p:cNvSpPr txBox="1"/>
                <p:nvPr/>
              </p:nvSpPr>
              <p:spPr>
                <a:xfrm>
                  <a:off x="3648" y="2400"/>
                  <a:ext cx="28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 dirty="0"/>
                    <a:t>Q</a:t>
                  </a:r>
                  <a:endParaRPr lang="en-US" altLang="zh-CN" sz="2000" dirty="0"/>
                </a:p>
              </p:txBody>
            </p:sp>
            <p:sp>
              <p:nvSpPr>
                <p:cNvPr id="32828" name="Line 14"/>
                <p:cNvSpPr/>
                <p:nvPr/>
              </p:nvSpPr>
              <p:spPr>
                <a:xfrm>
                  <a:off x="3720" y="2440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2826" name="Text Box 15"/>
              <p:cNvSpPr txBox="1"/>
              <p:nvPr/>
            </p:nvSpPr>
            <p:spPr>
              <a:xfrm>
                <a:off x="2208" y="2112"/>
                <a:ext cx="4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/>
                  <a:t>CP</a:t>
                </a:r>
                <a:endParaRPr lang="en-US" altLang="zh-CN" sz="2000" dirty="0"/>
              </a:p>
            </p:txBody>
          </p:sp>
        </p:grpSp>
        <p:sp>
          <p:nvSpPr>
            <p:cNvPr id="32779" name="Rectangle 16"/>
            <p:cNvSpPr/>
            <p:nvPr/>
          </p:nvSpPr>
          <p:spPr>
            <a:xfrm>
              <a:off x="2256" y="1824"/>
              <a:ext cx="240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780" name="Line 17"/>
            <p:cNvSpPr/>
            <p:nvPr/>
          </p:nvSpPr>
          <p:spPr>
            <a:xfrm>
              <a:off x="2496" y="196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1" name="Line 18"/>
            <p:cNvSpPr/>
            <p:nvPr/>
          </p:nvSpPr>
          <p:spPr>
            <a:xfrm>
              <a:off x="768" y="1920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2" name="Line 19"/>
            <p:cNvSpPr/>
            <p:nvPr/>
          </p:nvSpPr>
          <p:spPr>
            <a:xfrm>
              <a:off x="768" y="2064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3" name="Rectangle 20"/>
            <p:cNvSpPr/>
            <p:nvPr/>
          </p:nvSpPr>
          <p:spPr>
            <a:xfrm>
              <a:off x="1632" y="2400"/>
              <a:ext cx="240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784" name="Oval 21"/>
            <p:cNvSpPr/>
            <p:nvPr/>
          </p:nvSpPr>
          <p:spPr>
            <a:xfrm>
              <a:off x="1872" y="2496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785" name="Line 22"/>
            <p:cNvSpPr/>
            <p:nvPr/>
          </p:nvSpPr>
          <p:spPr>
            <a:xfrm>
              <a:off x="1248" y="1920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Line 23"/>
            <p:cNvSpPr/>
            <p:nvPr/>
          </p:nvSpPr>
          <p:spPr>
            <a:xfrm>
              <a:off x="1104" y="1488"/>
              <a:ext cx="0" cy="13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7" name="Oval 24"/>
            <p:cNvSpPr/>
            <p:nvPr/>
          </p:nvSpPr>
          <p:spPr>
            <a:xfrm>
              <a:off x="1200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788" name="Oval 25"/>
            <p:cNvSpPr/>
            <p:nvPr/>
          </p:nvSpPr>
          <p:spPr>
            <a:xfrm>
              <a:off x="1056" y="2016"/>
              <a:ext cx="96" cy="9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789" name="Line 26"/>
            <p:cNvSpPr/>
            <p:nvPr/>
          </p:nvSpPr>
          <p:spPr>
            <a:xfrm>
              <a:off x="1248" y="2544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0" name="Line 27"/>
            <p:cNvSpPr/>
            <p:nvPr/>
          </p:nvSpPr>
          <p:spPr>
            <a:xfrm>
              <a:off x="1104" y="2880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1" name="Line 28"/>
            <p:cNvSpPr/>
            <p:nvPr/>
          </p:nvSpPr>
          <p:spPr>
            <a:xfrm>
              <a:off x="2496" y="26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2" name="Line 29"/>
            <p:cNvSpPr/>
            <p:nvPr/>
          </p:nvSpPr>
          <p:spPr>
            <a:xfrm flipH="1" flipV="1">
              <a:off x="2592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3" name="Line 30"/>
            <p:cNvSpPr/>
            <p:nvPr/>
          </p:nvSpPr>
          <p:spPr>
            <a:xfrm flipH="1">
              <a:off x="768" y="2304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4" name="Text Box 31"/>
            <p:cNvSpPr txBox="1"/>
            <p:nvPr/>
          </p:nvSpPr>
          <p:spPr>
            <a:xfrm>
              <a:off x="432" y="177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A</a:t>
              </a:r>
              <a:endParaRPr lang="en-US" altLang="zh-CN" sz="2000" dirty="0"/>
            </a:p>
          </p:txBody>
        </p:sp>
        <p:sp>
          <p:nvSpPr>
            <p:cNvPr id="32795" name="Text Box 32"/>
            <p:cNvSpPr txBox="1"/>
            <p:nvPr/>
          </p:nvSpPr>
          <p:spPr>
            <a:xfrm>
              <a:off x="432" y="1958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B</a:t>
              </a:r>
              <a:endParaRPr lang="en-US" altLang="zh-CN" sz="2000" dirty="0"/>
            </a:p>
          </p:txBody>
        </p:sp>
        <p:sp>
          <p:nvSpPr>
            <p:cNvPr id="32796" name="Rectangle 33"/>
            <p:cNvSpPr/>
            <p:nvPr/>
          </p:nvSpPr>
          <p:spPr>
            <a:xfrm>
              <a:off x="480" y="2246"/>
              <a:ext cx="3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CP</a:t>
              </a:r>
              <a:endParaRPr lang="en-US" altLang="zh-CN" sz="2000" dirty="0"/>
            </a:p>
          </p:txBody>
        </p:sp>
        <p:grpSp>
          <p:nvGrpSpPr>
            <p:cNvPr id="32797" name="Group 34"/>
            <p:cNvGrpSpPr/>
            <p:nvPr/>
          </p:nvGrpSpPr>
          <p:grpSpPr>
            <a:xfrm>
              <a:off x="3456" y="1392"/>
              <a:ext cx="336" cy="336"/>
              <a:chOff x="3984" y="1872"/>
              <a:chExt cx="336" cy="336"/>
            </a:xfrm>
          </p:grpSpPr>
          <p:sp>
            <p:nvSpPr>
              <p:cNvPr id="32819" name="Rectangle 35"/>
              <p:cNvSpPr/>
              <p:nvPr/>
            </p:nvSpPr>
            <p:spPr>
              <a:xfrm>
                <a:off x="4032" y="1872"/>
                <a:ext cx="240" cy="33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32820" name="Text Box 36"/>
              <p:cNvSpPr txBox="1"/>
              <p:nvPr/>
            </p:nvSpPr>
            <p:spPr>
              <a:xfrm>
                <a:off x="3984" y="1920"/>
                <a:ext cx="3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sym typeface="Symbol" panose="05050102010706020507" pitchFamily="18" charset="2"/>
                  </a:rPr>
                  <a:t></a:t>
                </a:r>
                <a:endParaRPr lang="en-US" altLang="zh-CN" sz="2000" dirty="0"/>
              </a:p>
            </p:txBody>
          </p:sp>
        </p:grpSp>
        <p:grpSp>
          <p:nvGrpSpPr>
            <p:cNvPr id="32798" name="Group 37"/>
            <p:cNvGrpSpPr/>
            <p:nvPr/>
          </p:nvGrpSpPr>
          <p:grpSpPr>
            <a:xfrm>
              <a:off x="4032" y="1728"/>
              <a:ext cx="336" cy="336"/>
              <a:chOff x="3984" y="1872"/>
              <a:chExt cx="336" cy="336"/>
            </a:xfrm>
          </p:grpSpPr>
          <p:sp>
            <p:nvSpPr>
              <p:cNvPr id="32817" name="Rectangle 38"/>
              <p:cNvSpPr/>
              <p:nvPr/>
            </p:nvSpPr>
            <p:spPr>
              <a:xfrm>
                <a:off x="4032" y="1872"/>
                <a:ext cx="240" cy="33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32818" name="Text Box 39"/>
              <p:cNvSpPr txBox="1"/>
              <p:nvPr/>
            </p:nvSpPr>
            <p:spPr>
              <a:xfrm>
                <a:off x="3984" y="1920"/>
                <a:ext cx="3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 dirty="0">
                    <a:sym typeface="Symbol" panose="05050102010706020507" pitchFamily="18" charset="2"/>
                  </a:rPr>
                  <a:t></a:t>
                </a:r>
                <a:endParaRPr lang="en-US" altLang="zh-CN" sz="2000" dirty="0"/>
              </a:p>
            </p:txBody>
          </p:sp>
        </p:grpSp>
        <p:sp>
          <p:nvSpPr>
            <p:cNvPr id="32799" name="Line 40"/>
            <p:cNvSpPr/>
            <p:nvPr/>
          </p:nvSpPr>
          <p:spPr>
            <a:xfrm flipV="1">
              <a:off x="1248" y="163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0" name="Line 41"/>
            <p:cNvSpPr/>
            <p:nvPr/>
          </p:nvSpPr>
          <p:spPr>
            <a:xfrm flipH="1">
              <a:off x="1248" y="1632"/>
              <a:ext cx="22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1" name="Line 42"/>
            <p:cNvSpPr/>
            <p:nvPr/>
          </p:nvSpPr>
          <p:spPr>
            <a:xfrm>
              <a:off x="1104" y="1488"/>
              <a:ext cx="24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2" name="Line 43"/>
            <p:cNvSpPr/>
            <p:nvPr/>
          </p:nvSpPr>
          <p:spPr>
            <a:xfrm>
              <a:off x="3744" y="1536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3" name="Line 44"/>
            <p:cNvSpPr/>
            <p:nvPr/>
          </p:nvSpPr>
          <p:spPr>
            <a:xfrm>
              <a:off x="3936" y="153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4" name="Line 45"/>
            <p:cNvSpPr/>
            <p:nvPr/>
          </p:nvSpPr>
          <p:spPr>
            <a:xfrm>
              <a:off x="3456" y="1968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5" name="Line 46"/>
            <p:cNvSpPr/>
            <p:nvPr/>
          </p:nvSpPr>
          <p:spPr>
            <a:xfrm>
              <a:off x="3936" y="18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6" name="Line 47"/>
            <p:cNvSpPr/>
            <p:nvPr/>
          </p:nvSpPr>
          <p:spPr>
            <a:xfrm>
              <a:off x="4320" y="1872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07" name="Text Box 48"/>
            <p:cNvSpPr txBox="1"/>
            <p:nvPr/>
          </p:nvSpPr>
          <p:spPr>
            <a:xfrm>
              <a:off x="4704" y="1766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/>
                <a:t>Z</a:t>
              </a:r>
              <a:endParaRPr lang="en-US" altLang="zh-CN" sz="2000" dirty="0"/>
            </a:p>
          </p:txBody>
        </p:sp>
        <p:sp>
          <p:nvSpPr>
            <p:cNvPr id="32808" name="Rectangle 49"/>
            <p:cNvSpPr/>
            <p:nvPr/>
          </p:nvSpPr>
          <p:spPr>
            <a:xfrm>
              <a:off x="1632" y="2736"/>
              <a:ext cx="240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809" name="Oval 50"/>
            <p:cNvSpPr/>
            <p:nvPr/>
          </p:nvSpPr>
          <p:spPr>
            <a:xfrm>
              <a:off x="1872" y="2832"/>
              <a:ext cx="96" cy="9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810" name="Rectangle 51"/>
            <p:cNvSpPr/>
            <p:nvPr/>
          </p:nvSpPr>
          <p:spPr>
            <a:xfrm>
              <a:off x="2256" y="2544"/>
              <a:ext cx="240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32811" name="Line 52"/>
            <p:cNvSpPr/>
            <p:nvPr/>
          </p:nvSpPr>
          <p:spPr>
            <a:xfrm>
              <a:off x="1968" y="254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2" name="Line 53"/>
            <p:cNvSpPr/>
            <p:nvPr/>
          </p:nvSpPr>
          <p:spPr>
            <a:xfrm>
              <a:off x="1968" y="288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3" name="Line 54"/>
            <p:cNvSpPr/>
            <p:nvPr/>
          </p:nvSpPr>
          <p:spPr>
            <a:xfrm>
              <a:off x="2064" y="254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4" name="Line 55"/>
            <p:cNvSpPr/>
            <p:nvPr/>
          </p:nvSpPr>
          <p:spPr>
            <a:xfrm flipV="1">
              <a:off x="2064" y="278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5" name="Line 56"/>
            <p:cNvSpPr/>
            <p:nvPr/>
          </p:nvSpPr>
          <p:spPr>
            <a:xfrm>
              <a:off x="2064" y="264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16" name="Line 57"/>
            <p:cNvSpPr/>
            <p:nvPr/>
          </p:nvSpPr>
          <p:spPr>
            <a:xfrm>
              <a:off x="2064" y="278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799" name="文本框 1"/>
          <p:cNvSpPr txBox="1"/>
          <p:nvPr/>
        </p:nvSpPr>
        <p:spPr>
          <a:xfrm>
            <a:off x="6045200" y="3848100"/>
            <a:ext cx="24257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Z=A</a:t>
            </a:r>
            <a:r>
              <a:rPr lang="en-US" altLang="zh-CN" sz="2800" dirty="0">
                <a:sym typeface="Symbol" panose="05050102010706020507" pitchFamily="18" charset="2"/>
              </a:rPr>
              <a:t>B Q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  <p:sp>
        <p:nvSpPr>
          <p:cNvPr id="33800" name="文本框 61"/>
          <p:cNvSpPr txBox="1"/>
          <p:nvPr/>
        </p:nvSpPr>
        <p:spPr>
          <a:xfrm>
            <a:off x="6021388" y="4451350"/>
            <a:ext cx="24257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J=A </a:t>
            </a:r>
            <a:r>
              <a:rPr lang="en-US" altLang="zh-CN" sz="2800" dirty="0">
                <a:sym typeface="Symbol" panose="05050102010706020507" pitchFamily="18" charset="2"/>
              </a:rPr>
              <a:t>B </a:t>
            </a:r>
            <a:endParaRPr lang="zh-CN" altLang="en-US" sz="2800" baseline="-25000" dirty="0"/>
          </a:p>
        </p:txBody>
      </p:sp>
      <p:sp>
        <p:nvSpPr>
          <p:cNvPr id="33801" name="文本框 62"/>
          <p:cNvSpPr txBox="1"/>
          <p:nvPr/>
        </p:nvSpPr>
        <p:spPr>
          <a:xfrm>
            <a:off x="6019800" y="4948238"/>
            <a:ext cx="2427288" cy="569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— 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K= A </a:t>
            </a:r>
            <a:r>
              <a:rPr lang="en-US" altLang="zh-CN" sz="2800" dirty="0">
                <a:sym typeface="Symbol" panose="05050102010706020507" pitchFamily="18" charset="2"/>
              </a:rPr>
              <a:t>B 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80" grpId="0"/>
      <p:bldP spid="33799" grpId="0"/>
      <p:bldP spid="33800" grpId="0"/>
      <p:bldP spid="3380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1203" name="Rectangle 3"/>
          <p:cNvSpPr/>
          <p:nvPr/>
        </p:nvSpPr>
        <p:spPr>
          <a:xfrm>
            <a:off x="392113" y="1322388"/>
            <a:ext cx="37036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）写出触发器的状态方程</a:t>
            </a:r>
            <a:endParaRPr lang="zh-CN" altLang="en-US" sz="2400" dirty="0"/>
          </a:p>
        </p:txBody>
      </p:sp>
      <p:sp>
        <p:nvSpPr>
          <p:cNvPr id="691205" name="Rectangle 5"/>
          <p:cNvSpPr/>
          <p:nvPr/>
        </p:nvSpPr>
        <p:spPr>
          <a:xfrm>
            <a:off x="381000" y="2667000"/>
            <a:ext cx="4313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）计算同步时序电路的状态表</a:t>
            </a:r>
            <a:endParaRPr lang="zh-CN" altLang="en-US" sz="2400" dirty="0"/>
          </a:p>
        </p:txBody>
      </p:sp>
      <p:graphicFrame>
        <p:nvGraphicFramePr>
          <p:cNvPr id="691265" name="Group 65"/>
          <p:cNvGraphicFramePr>
            <a:graphicFrameLocks noGrp="1"/>
          </p:cNvGraphicFramePr>
          <p:nvPr/>
        </p:nvGraphicFramePr>
        <p:xfrm>
          <a:off x="76200" y="3200400"/>
          <a:ext cx="4419600" cy="3489325"/>
        </p:xfrm>
        <a:graphic>
          <a:graphicData uri="http://schemas.openxmlformats.org/drawingml/2006/table">
            <a:tbl>
              <a:tblPr/>
              <a:tblGrid>
                <a:gridCol w="914400"/>
                <a:gridCol w="762000"/>
                <a:gridCol w="1371600"/>
                <a:gridCol w="762000"/>
                <a:gridCol w="609600"/>
              </a:tblGrid>
              <a:tr h="4473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输入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现态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触发器输入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次态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输出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23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     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J     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 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75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1255" name="Rectangle 55"/>
          <p:cNvSpPr>
            <a:spLocks noChangeArrowheads="1"/>
          </p:cNvSpPr>
          <p:nvPr/>
        </p:nvSpPr>
        <p:spPr bwMode="auto">
          <a:xfrm>
            <a:off x="1828800" y="4005263"/>
            <a:ext cx="1219200" cy="2770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0     1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0     0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0     0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1     0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0     1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0     0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0     0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1     0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1256" name="Rectangle 56"/>
          <p:cNvSpPr>
            <a:spLocks noChangeArrowheads="1"/>
          </p:cNvSpPr>
          <p:nvPr/>
        </p:nvSpPr>
        <p:spPr bwMode="auto">
          <a:xfrm>
            <a:off x="3200400" y="4005263"/>
            <a:ext cx="609600" cy="27416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1257" name="Rectangle 57"/>
          <p:cNvSpPr>
            <a:spLocks noChangeArrowheads="1"/>
          </p:cNvSpPr>
          <p:nvPr/>
        </p:nvSpPr>
        <p:spPr bwMode="auto">
          <a:xfrm>
            <a:off x="3886200" y="4005263"/>
            <a:ext cx="609600" cy="27416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1266" name="Rectangle 66"/>
          <p:cNvSpPr>
            <a:spLocks noChangeArrowheads="1"/>
          </p:cNvSpPr>
          <p:nvPr/>
        </p:nvSpPr>
        <p:spPr bwMode="auto">
          <a:xfrm>
            <a:off x="5105400" y="26670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状态图：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91267" name="Group 67"/>
          <p:cNvGrpSpPr/>
          <p:nvPr/>
        </p:nvGrpSpPr>
        <p:grpSpPr>
          <a:xfrm>
            <a:off x="5638800" y="3505200"/>
            <a:ext cx="2439988" cy="457200"/>
            <a:chOff x="3312" y="1536"/>
            <a:chExt cx="1537" cy="288"/>
          </a:xfrm>
        </p:grpSpPr>
        <p:sp>
          <p:nvSpPr>
            <p:cNvPr id="33849" name="Text Box 68"/>
            <p:cNvSpPr txBox="1"/>
            <p:nvPr/>
          </p:nvSpPr>
          <p:spPr>
            <a:xfrm>
              <a:off x="4128" y="1536"/>
              <a:ext cx="7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(AB/Z)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3850" name="Text Box 69"/>
            <p:cNvSpPr txBox="1"/>
            <p:nvPr/>
          </p:nvSpPr>
          <p:spPr>
            <a:xfrm>
              <a:off x="3312" y="1536"/>
              <a:ext cx="6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</a:rPr>
                <a:t>状态图</a:t>
              </a:r>
              <a:endParaRPr lang="zh-CN" altLang="en-US" sz="2400" b="1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691270" name="Group 70"/>
          <p:cNvGrpSpPr/>
          <p:nvPr/>
        </p:nvGrpSpPr>
        <p:grpSpPr>
          <a:xfrm>
            <a:off x="5599113" y="4648200"/>
            <a:ext cx="685800" cy="685800"/>
            <a:chOff x="2976" y="2592"/>
            <a:chExt cx="432" cy="432"/>
          </a:xfrm>
        </p:grpSpPr>
        <p:sp>
          <p:nvSpPr>
            <p:cNvPr id="33847" name="Oval 71"/>
            <p:cNvSpPr/>
            <p:nvPr/>
          </p:nvSpPr>
          <p:spPr>
            <a:xfrm>
              <a:off x="2976" y="2592"/>
              <a:ext cx="432" cy="432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91272" name="Text Box 72"/>
            <p:cNvSpPr txBox="1">
              <a:spLocks noChangeArrowheads="1"/>
            </p:cNvSpPr>
            <p:nvPr/>
          </p:nvSpPr>
          <p:spPr bwMode="auto">
            <a:xfrm>
              <a:off x="3072" y="2640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32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91273" name="Group 73"/>
          <p:cNvGrpSpPr/>
          <p:nvPr/>
        </p:nvGrpSpPr>
        <p:grpSpPr>
          <a:xfrm>
            <a:off x="7162800" y="4648200"/>
            <a:ext cx="685800" cy="685800"/>
            <a:chOff x="2976" y="2592"/>
            <a:chExt cx="432" cy="432"/>
          </a:xfrm>
        </p:grpSpPr>
        <p:sp>
          <p:nvSpPr>
            <p:cNvPr id="33845" name="Oval 74"/>
            <p:cNvSpPr/>
            <p:nvPr/>
          </p:nvSpPr>
          <p:spPr>
            <a:xfrm>
              <a:off x="2976" y="2592"/>
              <a:ext cx="432" cy="432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 dirty="0"/>
            </a:p>
          </p:txBody>
        </p:sp>
        <p:sp>
          <p:nvSpPr>
            <p:cNvPr id="691275" name="Text Box 75"/>
            <p:cNvSpPr txBox="1">
              <a:spLocks noChangeArrowheads="1"/>
            </p:cNvSpPr>
            <p:nvPr/>
          </p:nvSpPr>
          <p:spPr bwMode="auto">
            <a:xfrm>
              <a:off x="3072" y="2640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32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91276" name="Freeform 76"/>
          <p:cNvSpPr/>
          <p:nvPr/>
        </p:nvSpPr>
        <p:spPr>
          <a:xfrm>
            <a:off x="5281613" y="4648200"/>
            <a:ext cx="469900" cy="863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6" h="544">
                <a:moveTo>
                  <a:pt x="248" y="48"/>
                </a:moveTo>
                <a:cubicBezTo>
                  <a:pt x="216" y="24"/>
                  <a:pt x="184" y="0"/>
                  <a:pt x="152" y="0"/>
                </a:cubicBezTo>
                <a:cubicBezTo>
                  <a:pt x="120" y="0"/>
                  <a:pt x="80" y="8"/>
                  <a:pt x="56" y="48"/>
                </a:cubicBezTo>
                <a:cubicBezTo>
                  <a:pt x="32" y="88"/>
                  <a:pt x="0" y="168"/>
                  <a:pt x="8" y="240"/>
                </a:cubicBezTo>
                <a:cubicBezTo>
                  <a:pt x="16" y="312"/>
                  <a:pt x="72" y="432"/>
                  <a:pt x="104" y="480"/>
                </a:cubicBezTo>
                <a:cubicBezTo>
                  <a:pt x="136" y="528"/>
                  <a:pt x="168" y="544"/>
                  <a:pt x="200" y="528"/>
                </a:cubicBezTo>
                <a:cubicBezTo>
                  <a:pt x="232" y="512"/>
                  <a:pt x="264" y="448"/>
                  <a:pt x="296" y="384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1277" name="Text Box 77"/>
          <p:cNvSpPr txBox="1"/>
          <p:nvPr/>
        </p:nvSpPr>
        <p:spPr>
          <a:xfrm>
            <a:off x="4673600" y="4876800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01/1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78" name="Freeform 78"/>
          <p:cNvSpPr/>
          <p:nvPr/>
        </p:nvSpPr>
        <p:spPr>
          <a:xfrm>
            <a:off x="5980113" y="4343400"/>
            <a:ext cx="1335087" cy="3048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248" h="192">
                <a:moveTo>
                  <a:pt x="0" y="192"/>
                </a:moveTo>
                <a:cubicBezTo>
                  <a:pt x="48" y="136"/>
                  <a:pt x="96" y="80"/>
                  <a:pt x="192" y="48"/>
                </a:cubicBezTo>
                <a:cubicBezTo>
                  <a:pt x="288" y="16"/>
                  <a:pt x="432" y="0"/>
                  <a:pt x="576" y="0"/>
                </a:cubicBezTo>
                <a:cubicBezTo>
                  <a:pt x="720" y="0"/>
                  <a:pt x="944" y="16"/>
                  <a:pt x="1056" y="48"/>
                </a:cubicBezTo>
                <a:cubicBezTo>
                  <a:pt x="1168" y="80"/>
                  <a:pt x="1208" y="136"/>
                  <a:pt x="1248" y="192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1279" name="Freeform 79"/>
          <p:cNvSpPr/>
          <p:nvPr/>
        </p:nvSpPr>
        <p:spPr>
          <a:xfrm>
            <a:off x="6056313" y="5295900"/>
            <a:ext cx="1335087" cy="5715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1248" h="360">
                <a:moveTo>
                  <a:pt x="1248" y="24"/>
                </a:moveTo>
                <a:cubicBezTo>
                  <a:pt x="1232" y="12"/>
                  <a:pt x="1216" y="0"/>
                  <a:pt x="1200" y="24"/>
                </a:cubicBezTo>
                <a:cubicBezTo>
                  <a:pt x="1184" y="48"/>
                  <a:pt x="1176" y="128"/>
                  <a:pt x="1152" y="168"/>
                </a:cubicBezTo>
                <a:cubicBezTo>
                  <a:pt x="1128" y="208"/>
                  <a:pt x="1104" y="240"/>
                  <a:pt x="1056" y="264"/>
                </a:cubicBezTo>
                <a:cubicBezTo>
                  <a:pt x="1008" y="288"/>
                  <a:pt x="992" y="304"/>
                  <a:pt x="864" y="312"/>
                </a:cubicBezTo>
                <a:cubicBezTo>
                  <a:pt x="736" y="320"/>
                  <a:pt x="432" y="360"/>
                  <a:pt x="288" y="312"/>
                </a:cubicBezTo>
                <a:cubicBezTo>
                  <a:pt x="144" y="264"/>
                  <a:pt x="72" y="144"/>
                  <a:pt x="0" y="24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1280" name="Freeform 80"/>
          <p:cNvSpPr/>
          <p:nvPr/>
        </p:nvSpPr>
        <p:spPr>
          <a:xfrm flipH="1">
            <a:off x="7696200" y="4648200"/>
            <a:ext cx="444500" cy="863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6" h="544">
                <a:moveTo>
                  <a:pt x="248" y="48"/>
                </a:moveTo>
                <a:cubicBezTo>
                  <a:pt x="216" y="24"/>
                  <a:pt x="184" y="0"/>
                  <a:pt x="152" y="0"/>
                </a:cubicBezTo>
                <a:cubicBezTo>
                  <a:pt x="120" y="0"/>
                  <a:pt x="80" y="8"/>
                  <a:pt x="56" y="48"/>
                </a:cubicBezTo>
                <a:cubicBezTo>
                  <a:pt x="32" y="88"/>
                  <a:pt x="0" y="168"/>
                  <a:pt x="8" y="240"/>
                </a:cubicBezTo>
                <a:cubicBezTo>
                  <a:pt x="16" y="312"/>
                  <a:pt x="72" y="432"/>
                  <a:pt x="104" y="480"/>
                </a:cubicBezTo>
                <a:cubicBezTo>
                  <a:pt x="136" y="528"/>
                  <a:pt x="168" y="544"/>
                  <a:pt x="200" y="528"/>
                </a:cubicBezTo>
                <a:cubicBezTo>
                  <a:pt x="232" y="512"/>
                  <a:pt x="264" y="448"/>
                  <a:pt x="296" y="384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1281" name="Text Box 81"/>
          <p:cNvSpPr txBox="1"/>
          <p:nvPr/>
        </p:nvSpPr>
        <p:spPr>
          <a:xfrm>
            <a:off x="8113713" y="4495800"/>
            <a:ext cx="725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01/0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82" name="Text Box 82"/>
          <p:cNvSpPr txBox="1"/>
          <p:nvPr/>
        </p:nvSpPr>
        <p:spPr>
          <a:xfrm>
            <a:off x="6248400" y="3962400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11/0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83" name="Text Box 83"/>
          <p:cNvSpPr txBox="1"/>
          <p:nvPr/>
        </p:nvSpPr>
        <p:spPr>
          <a:xfrm>
            <a:off x="6477000" y="5791200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00/1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84" name="Text Box 84"/>
          <p:cNvSpPr txBox="1"/>
          <p:nvPr/>
        </p:nvSpPr>
        <p:spPr>
          <a:xfrm>
            <a:off x="4648200" y="4495800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00/0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85" name="Text Box 85"/>
          <p:cNvSpPr txBox="1"/>
          <p:nvPr/>
        </p:nvSpPr>
        <p:spPr>
          <a:xfrm>
            <a:off x="4648200" y="5257800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10/1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86" name="Text Box 86"/>
          <p:cNvSpPr txBox="1"/>
          <p:nvPr/>
        </p:nvSpPr>
        <p:spPr>
          <a:xfrm>
            <a:off x="8113713" y="4876800"/>
            <a:ext cx="725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10/0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691287" name="Text Box 87"/>
          <p:cNvSpPr txBox="1"/>
          <p:nvPr/>
        </p:nvSpPr>
        <p:spPr>
          <a:xfrm>
            <a:off x="8113713" y="5257800"/>
            <a:ext cx="725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charset="0"/>
              </a:rPr>
              <a:t>11/1</a:t>
            </a:r>
            <a:endParaRPr lang="en-US" altLang="zh-CN" sz="2400" b="1" dirty="0">
              <a:latin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1663" y="2197100"/>
            <a:ext cx="24257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Z=A</a:t>
            </a:r>
            <a:r>
              <a:rPr lang="en-US" altLang="zh-CN" sz="2400" dirty="0">
                <a:sym typeface="Symbol" panose="05050102010706020507" pitchFamily="18" charset="2"/>
              </a:rPr>
              <a:t>B Q</a:t>
            </a:r>
            <a:r>
              <a:rPr lang="en-US" altLang="zh-CN" sz="2400" baseline="-25000" dirty="0">
                <a:sym typeface="Symbol" panose="05050102010706020507" pitchFamily="18" charset="2"/>
              </a:rPr>
              <a:t>n</a:t>
            </a:r>
            <a:endParaRPr lang="zh-CN" altLang="en-US" sz="2400" baseline="-25000" dirty="0"/>
          </a:p>
        </p:txBody>
      </p:sp>
      <p:sp>
        <p:nvSpPr>
          <p:cNvPr id="37" name="文本框 36"/>
          <p:cNvSpPr txBox="1"/>
          <p:nvPr/>
        </p:nvSpPr>
        <p:spPr>
          <a:xfrm>
            <a:off x="539750" y="1435100"/>
            <a:ext cx="8070850" cy="790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                            ____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—   —             —    — —             — </a:t>
            </a:r>
            <a:endParaRPr lang="en-US" altLang="zh-CN" sz="24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n+1</a:t>
            </a:r>
            <a:r>
              <a:rPr lang="en-US" altLang="zh-CN" sz="2400" dirty="0"/>
              <a:t>=J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n</a:t>
            </a:r>
            <a:r>
              <a:rPr lang="en-US" altLang="zh-CN" sz="2400" dirty="0"/>
              <a:t> +K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n</a:t>
            </a:r>
            <a:r>
              <a:rPr lang="en-US" altLang="zh-CN" sz="2400" dirty="0"/>
              <a:t> =A B Q</a:t>
            </a:r>
            <a:r>
              <a:rPr lang="en-US" altLang="zh-CN" sz="2400" baseline="-25000" dirty="0"/>
              <a:t>n </a:t>
            </a:r>
            <a:r>
              <a:rPr lang="en-US" altLang="zh-CN" sz="2400" dirty="0"/>
              <a:t>+ A  B Q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=A B Q</a:t>
            </a:r>
            <a:r>
              <a:rPr lang="en-US" altLang="zh-CN" sz="2400" baseline="-25000" dirty="0"/>
              <a:t>n </a:t>
            </a:r>
            <a:r>
              <a:rPr lang="en-US" altLang="zh-CN" sz="2400" dirty="0"/>
              <a:t>+ (A+B) Q</a:t>
            </a:r>
            <a:r>
              <a:rPr lang="en-US" altLang="zh-CN" sz="2400" baseline="-25000" dirty="0"/>
              <a:t>n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9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9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9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6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126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126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9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9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9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69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91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9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9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91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9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91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69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9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9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69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9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9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9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9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9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1" dur="500"/>
                                        <p:tgtEl>
                                          <p:spTgt spid="69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91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9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203" grpId="0"/>
      <p:bldP spid="691205" grpId="0"/>
      <p:bldP spid="691255" grpId="0"/>
      <p:bldP spid="691256" grpId="0"/>
      <p:bldP spid="691257" grpId="0"/>
      <p:bldP spid="691266" grpId="0" build="p"/>
      <p:bldP spid="691277" grpId="0"/>
      <p:bldP spid="691281" grpId="0"/>
      <p:bldP spid="691282" grpId="0"/>
      <p:bldP spid="691283" grpId="0"/>
      <p:bldP spid="691284" grpId="0"/>
      <p:bldP spid="691285" grpId="0"/>
      <p:bldP spid="691286" grpId="0"/>
      <p:bldP spid="691287" grpId="0"/>
      <p:bldP spid="36" grpId="0"/>
      <p:bldP spid="3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692228" name="Group 4"/>
          <p:cNvGrpSpPr/>
          <p:nvPr/>
        </p:nvGrpSpPr>
        <p:grpSpPr>
          <a:xfrm>
            <a:off x="914400" y="3810000"/>
            <a:ext cx="6629400" cy="523875"/>
            <a:chOff x="720" y="2304"/>
            <a:chExt cx="4176" cy="330"/>
          </a:xfrm>
        </p:grpSpPr>
        <p:sp>
          <p:nvSpPr>
            <p:cNvPr id="34925" name="Line 5"/>
            <p:cNvSpPr/>
            <p:nvPr/>
          </p:nvSpPr>
          <p:spPr>
            <a:xfrm>
              <a:off x="1123" y="2592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26" name="Line 6"/>
            <p:cNvSpPr/>
            <p:nvPr/>
          </p:nvSpPr>
          <p:spPr>
            <a:xfrm flipV="1">
              <a:off x="144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27" name="Line 7"/>
            <p:cNvSpPr/>
            <p:nvPr/>
          </p:nvSpPr>
          <p:spPr>
            <a:xfrm flipV="1">
              <a:off x="1440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28" name="Line 8"/>
            <p:cNvSpPr/>
            <p:nvPr/>
          </p:nvSpPr>
          <p:spPr>
            <a:xfrm>
              <a:off x="1632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29" name="Line 9"/>
            <p:cNvSpPr/>
            <p:nvPr/>
          </p:nvSpPr>
          <p:spPr>
            <a:xfrm flipV="1">
              <a:off x="163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0" name="Text Box 10"/>
            <p:cNvSpPr txBox="1"/>
            <p:nvPr/>
          </p:nvSpPr>
          <p:spPr>
            <a:xfrm>
              <a:off x="720" y="2346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4931" name="Line 11"/>
            <p:cNvSpPr/>
            <p:nvPr/>
          </p:nvSpPr>
          <p:spPr>
            <a:xfrm flipV="1">
              <a:off x="182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32" name="Line 12"/>
            <p:cNvSpPr/>
            <p:nvPr/>
          </p:nvSpPr>
          <p:spPr>
            <a:xfrm flipV="1">
              <a:off x="1824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3" name="Line 13"/>
            <p:cNvSpPr/>
            <p:nvPr/>
          </p:nvSpPr>
          <p:spPr>
            <a:xfrm>
              <a:off x="2016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4" name="Line 14"/>
            <p:cNvSpPr/>
            <p:nvPr/>
          </p:nvSpPr>
          <p:spPr>
            <a:xfrm flipV="1">
              <a:off x="2016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5" name="Line 15"/>
            <p:cNvSpPr/>
            <p:nvPr/>
          </p:nvSpPr>
          <p:spPr>
            <a:xfrm flipV="1">
              <a:off x="220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36" name="Line 16"/>
            <p:cNvSpPr/>
            <p:nvPr/>
          </p:nvSpPr>
          <p:spPr>
            <a:xfrm flipV="1">
              <a:off x="2208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7" name="Line 17"/>
            <p:cNvSpPr/>
            <p:nvPr/>
          </p:nvSpPr>
          <p:spPr>
            <a:xfrm>
              <a:off x="2400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8" name="Line 18"/>
            <p:cNvSpPr/>
            <p:nvPr/>
          </p:nvSpPr>
          <p:spPr>
            <a:xfrm flipV="1">
              <a:off x="240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39" name="Line 19"/>
            <p:cNvSpPr/>
            <p:nvPr/>
          </p:nvSpPr>
          <p:spPr>
            <a:xfrm flipV="1">
              <a:off x="259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40" name="Line 20"/>
            <p:cNvSpPr/>
            <p:nvPr/>
          </p:nvSpPr>
          <p:spPr>
            <a:xfrm flipV="1">
              <a:off x="2592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1" name="Line 21"/>
            <p:cNvSpPr/>
            <p:nvPr/>
          </p:nvSpPr>
          <p:spPr>
            <a:xfrm>
              <a:off x="2784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2" name="Line 22"/>
            <p:cNvSpPr/>
            <p:nvPr/>
          </p:nvSpPr>
          <p:spPr>
            <a:xfrm flipV="1">
              <a:off x="278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3" name="Line 23"/>
            <p:cNvSpPr/>
            <p:nvPr/>
          </p:nvSpPr>
          <p:spPr>
            <a:xfrm flipV="1">
              <a:off x="2976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44" name="Line 24"/>
            <p:cNvSpPr/>
            <p:nvPr/>
          </p:nvSpPr>
          <p:spPr>
            <a:xfrm flipV="1">
              <a:off x="2976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5" name="Line 25"/>
            <p:cNvSpPr/>
            <p:nvPr/>
          </p:nvSpPr>
          <p:spPr>
            <a:xfrm>
              <a:off x="3168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6" name="Line 26"/>
            <p:cNvSpPr/>
            <p:nvPr/>
          </p:nvSpPr>
          <p:spPr>
            <a:xfrm flipV="1">
              <a:off x="316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7" name="Line 27"/>
            <p:cNvSpPr/>
            <p:nvPr/>
          </p:nvSpPr>
          <p:spPr>
            <a:xfrm flipV="1">
              <a:off x="336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48" name="Line 28"/>
            <p:cNvSpPr/>
            <p:nvPr/>
          </p:nvSpPr>
          <p:spPr>
            <a:xfrm flipV="1">
              <a:off x="3360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49" name="Line 29"/>
            <p:cNvSpPr/>
            <p:nvPr/>
          </p:nvSpPr>
          <p:spPr>
            <a:xfrm>
              <a:off x="3552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0" name="Line 30"/>
            <p:cNvSpPr/>
            <p:nvPr/>
          </p:nvSpPr>
          <p:spPr>
            <a:xfrm flipV="1">
              <a:off x="355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1" name="Line 31"/>
            <p:cNvSpPr/>
            <p:nvPr/>
          </p:nvSpPr>
          <p:spPr>
            <a:xfrm flipV="1">
              <a:off x="374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52" name="Line 32"/>
            <p:cNvSpPr/>
            <p:nvPr/>
          </p:nvSpPr>
          <p:spPr>
            <a:xfrm flipV="1">
              <a:off x="3744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3" name="Line 33"/>
            <p:cNvSpPr/>
            <p:nvPr/>
          </p:nvSpPr>
          <p:spPr>
            <a:xfrm>
              <a:off x="3936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4" name="Line 34"/>
            <p:cNvSpPr/>
            <p:nvPr/>
          </p:nvSpPr>
          <p:spPr>
            <a:xfrm flipV="1">
              <a:off x="3936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5" name="Line 35"/>
            <p:cNvSpPr/>
            <p:nvPr/>
          </p:nvSpPr>
          <p:spPr>
            <a:xfrm flipV="1">
              <a:off x="4128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56" name="Line 36"/>
            <p:cNvSpPr/>
            <p:nvPr/>
          </p:nvSpPr>
          <p:spPr>
            <a:xfrm flipV="1">
              <a:off x="4128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7" name="Line 37"/>
            <p:cNvSpPr/>
            <p:nvPr/>
          </p:nvSpPr>
          <p:spPr>
            <a:xfrm>
              <a:off x="4320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8" name="Line 38"/>
            <p:cNvSpPr/>
            <p:nvPr/>
          </p:nvSpPr>
          <p:spPr>
            <a:xfrm flipV="1">
              <a:off x="4320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59" name="Line 39"/>
            <p:cNvSpPr/>
            <p:nvPr/>
          </p:nvSpPr>
          <p:spPr>
            <a:xfrm flipV="1">
              <a:off x="4512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4960" name="Line 40"/>
            <p:cNvSpPr/>
            <p:nvPr/>
          </p:nvSpPr>
          <p:spPr>
            <a:xfrm flipV="1">
              <a:off x="4512" y="230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61" name="Line 41"/>
            <p:cNvSpPr/>
            <p:nvPr/>
          </p:nvSpPr>
          <p:spPr>
            <a:xfrm>
              <a:off x="4704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62" name="Line 42"/>
            <p:cNvSpPr/>
            <p:nvPr/>
          </p:nvSpPr>
          <p:spPr>
            <a:xfrm flipV="1">
              <a:off x="4704" y="2304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267" name="Rectangle 43"/>
          <p:cNvSpPr>
            <a:spLocks noChangeArrowheads="1"/>
          </p:cNvSpPr>
          <p:nvPr/>
        </p:nvSpPr>
        <p:spPr bwMode="auto">
          <a:xfrm>
            <a:off x="457200" y="3276600"/>
            <a:ext cx="4648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根据状态图画出时序图：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2268" name="Line 44"/>
          <p:cNvSpPr/>
          <p:nvPr/>
        </p:nvSpPr>
        <p:spPr>
          <a:xfrm>
            <a:off x="20574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2269" name="Text Box 45"/>
          <p:cNvSpPr txBox="1"/>
          <p:nvPr/>
        </p:nvSpPr>
        <p:spPr>
          <a:xfrm>
            <a:off x="762000" y="4600575"/>
            <a:ext cx="685800" cy="2044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80000"/>
              </a:spcBef>
              <a:buClrTx/>
              <a:buFontTx/>
              <a:buNone/>
            </a:pPr>
            <a:r>
              <a:rPr lang="en-US" altLang="zh-CN" sz="2000" dirty="0"/>
              <a:t>A</a:t>
            </a:r>
            <a:endParaRPr lang="en-US" altLang="zh-CN" sz="2000" dirty="0"/>
          </a:p>
          <a:p>
            <a:pPr marL="0" lvl="0" indent="0" algn="ctr" eaLnBrk="1" hangingPunct="1">
              <a:spcBef>
                <a:spcPct val="80000"/>
              </a:spcBef>
              <a:buClrTx/>
              <a:buFontTx/>
              <a:buNone/>
            </a:pPr>
            <a:r>
              <a:rPr lang="en-US" altLang="zh-CN" sz="2000" dirty="0"/>
              <a:t>B</a:t>
            </a:r>
            <a:endParaRPr lang="en-US" altLang="zh-CN" sz="2000" dirty="0"/>
          </a:p>
          <a:p>
            <a:pPr marL="0" lvl="0" indent="0" algn="ctr" eaLnBrk="1" hangingPunct="1">
              <a:spcBef>
                <a:spcPct val="8000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en-US" altLang="zh-CN" sz="2000" dirty="0"/>
          </a:p>
          <a:p>
            <a:pPr marL="0" lvl="0" indent="0" algn="ctr" eaLnBrk="1" hangingPunct="1">
              <a:spcBef>
                <a:spcPct val="80000"/>
              </a:spcBef>
              <a:buClrTx/>
              <a:buFontTx/>
              <a:buNone/>
            </a:pPr>
            <a:r>
              <a:rPr lang="en-US" altLang="zh-CN" sz="2000" dirty="0"/>
              <a:t>Z</a:t>
            </a:r>
            <a:endParaRPr lang="en-US" altLang="zh-CN" sz="2000" dirty="0"/>
          </a:p>
        </p:txBody>
      </p:sp>
      <p:sp>
        <p:nvSpPr>
          <p:cNvPr id="692273" name="Line 49"/>
          <p:cNvSpPr/>
          <p:nvPr/>
        </p:nvSpPr>
        <p:spPr>
          <a:xfrm>
            <a:off x="26670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2274" name="Line 50"/>
          <p:cNvSpPr/>
          <p:nvPr/>
        </p:nvSpPr>
        <p:spPr>
          <a:xfrm>
            <a:off x="2057400" y="4876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75" name="Line 51"/>
          <p:cNvSpPr/>
          <p:nvPr/>
        </p:nvSpPr>
        <p:spPr>
          <a:xfrm>
            <a:off x="2057400" y="5410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276" name="Line 52"/>
          <p:cNvSpPr/>
          <p:nvPr/>
        </p:nvSpPr>
        <p:spPr>
          <a:xfrm>
            <a:off x="2667000" y="6019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330" name="Group 106"/>
          <p:cNvGrpSpPr/>
          <p:nvPr/>
        </p:nvGrpSpPr>
        <p:grpSpPr>
          <a:xfrm>
            <a:off x="4724400" y="1066800"/>
            <a:ext cx="4191000" cy="2743200"/>
            <a:chOff x="2928" y="2208"/>
            <a:chExt cx="2640" cy="1728"/>
          </a:xfrm>
        </p:grpSpPr>
        <p:grpSp>
          <p:nvGrpSpPr>
            <p:cNvPr id="34904" name="Group 85"/>
            <p:cNvGrpSpPr/>
            <p:nvPr/>
          </p:nvGrpSpPr>
          <p:grpSpPr>
            <a:xfrm>
              <a:off x="3552" y="2208"/>
              <a:ext cx="1537" cy="288"/>
              <a:chOff x="3312" y="1536"/>
              <a:chExt cx="1537" cy="288"/>
            </a:xfrm>
          </p:grpSpPr>
          <p:sp>
            <p:nvSpPr>
              <p:cNvPr id="34923" name="Text Box 86"/>
              <p:cNvSpPr txBox="1"/>
              <p:nvPr/>
            </p:nvSpPr>
            <p:spPr>
              <a:xfrm>
                <a:off x="4128" y="1536"/>
                <a:ext cx="72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(AB/Z)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34924" name="Text Box 87"/>
              <p:cNvSpPr txBox="1"/>
              <p:nvPr/>
            </p:nvSpPr>
            <p:spPr>
              <a:xfrm>
                <a:off x="3312" y="1536"/>
                <a:ext cx="69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b="1" dirty="0">
                    <a:latin typeface="Georgia" panose="02040502050405020303" pitchFamily="18" charset="0"/>
                  </a:rPr>
                  <a:t>状态图</a:t>
                </a:r>
                <a:endParaRPr lang="zh-CN" altLang="en-US" sz="2400" b="1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34905" name="Group 88"/>
            <p:cNvGrpSpPr/>
            <p:nvPr/>
          </p:nvGrpSpPr>
          <p:grpSpPr>
            <a:xfrm>
              <a:off x="3527" y="2928"/>
              <a:ext cx="432" cy="432"/>
              <a:chOff x="2976" y="2592"/>
              <a:chExt cx="432" cy="432"/>
            </a:xfrm>
          </p:grpSpPr>
          <p:sp>
            <p:nvSpPr>
              <p:cNvPr id="34921" name="Oval 89"/>
              <p:cNvSpPr/>
              <p:nvPr/>
            </p:nvSpPr>
            <p:spPr>
              <a:xfrm>
                <a:off x="2976" y="2592"/>
                <a:ext cx="432" cy="432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92314" name="Text Box 90"/>
              <p:cNvSpPr txBox="1">
                <a:spLocks noChangeArrowheads="1"/>
              </p:cNvSpPr>
              <p:nvPr/>
            </p:nvSpPr>
            <p:spPr bwMode="auto">
              <a:xfrm>
                <a:off x="3072" y="2640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32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32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4906" name="Group 91"/>
            <p:cNvGrpSpPr/>
            <p:nvPr/>
          </p:nvGrpSpPr>
          <p:grpSpPr>
            <a:xfrm>
              <a:off x="4512" y="2928"/>
              <a:ext cx="432" cy="432"/>
              <a:chOff x="2976" y="2592"/>
              <a:chExt cx="432" cy="432"/>
            </a:xfrm>
          </p:grpSpPr>
          <p:sp>
            <p:nvSpPr>
              <p:cNvPr id="34919" name="Oval 92"/>
              <p:cNvSpPr/>
              <p:nvPr/>
            </p:nvSpPr>
            <p:spPr>
              <a:xfrm>
                <a:off x="2976" y="2592"/>
                <a:ext cx="432" cy="432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92317" name="Text Box 93"/>
              <p:cNvSpPr txBox="1">
                <a:spLocks noChangeArrowheads="1"/>
              </p:cNvSpPr>
              <p:nvPr/>
            </p:nvSpPr>
            <p:spPr bwMode="auto">
              <a:xfrm>
                <a:off x="3072" y="2640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32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3200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907" name="Freeform 94"/>
            <p:cNvSpPr/>
            <p:nvPr/>
          </p:nvSpPr>
          <p:spPr>
            <a:xfrm>
              <a:off x="3327" y="2928"/>
              <a:ext cx="296" cy="544"/>
            </a:xfrm>
            <a:custGeom>
              <a:avLst/>
              <a:gdLst/>
              <a:ahLst/>
              <a:cxnLst>
                <a:cxn ang="0">
                  <a:pos x="248" y="48"/>
                </a:cxn>
                <a:cxn ang="0">
                  <a:pos x="152" y="0"/>
                </a:cxn>
                <a:cxn ang="0">
                  <a:pos x="56" y="48"/>
                </a:cxn>
                <a:cxn ang="0">
                  <a:pos x="8" y="240"/>
                </a:cxn>
                <a:cxn ang="0">
                  <a:pos x="104" y="480"/>
                </a:cxn>
                <a:cxn ang="0">
                  <a:pos x="200" y="528"/>
                </a:cxn>
                <a:cxn ang="0">
                  <a:pos x="296" y="384"/>
                </a:cxn>
              </a:cxnLst>
              <a:pathLst>
                <a:path w="296" h="544">
                  <a:moveTo>
                    <a:pt x="248" y="48"/>
                  </a:moveTo>
                  <a:cubicBezTo>
                    <a:pt x="216" y="24"/>
                    <a:pt x="184" y="0"/>
                    <a:pt x="152" y="0"/>
                  </a:cubicBezTo>
                  <a:cubicBezTo>
                    <a:pt x="120" y="0"/>
                    <a:pt x="80" y="8"/>
                    <a:pt x="56" y="48"/>
                  </a:cubicBezTo>
                  <a:cubicBezTo>
                    <a:pt x="32" y="88"/>
                    <a:pt x="0" y="168"/>
                    <a:pt x="8" y="240"/>
                  </a:cubicBezTo>
                  <a:cubicBezTo>
                    <a:pt x="16" y="312"/>
                    <a:pt x="72" y="432"/>
                    <a:pt x="104" y="480"/>
                  </a:cubicBezTo>
                  <a:cubicBezTo>
                    <a:pt x="136" y="528"/>
                    <a:pt x="168" y="544"/>
                    <a:pt x="200" y="528"/>
                  </a:cubicBezTo>
                  <a:cubicBezTo>
                    <a:pt x="232" y="512"/>
                    <a:pt x="264" y="448"/>
                    <a:pt x="296" y="384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908" name="Text Box 95"/>
            <p:cNvSpPr txBox="1"/>
            <p:nvPr/>
          </p:nvSpPr>
          <p:spPr>
            <a:xfrm>
              <a:off x="2928" y="3072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01/1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09" name="Freeform 96"/>
            <p:cNvSpPr/>
            <p:nvPr/>
          </p:nvSpPr>
          <p:spPr>
            <a:xfrm>
              <a:off x="3767" y="2736"/>
              <a:ext cx="841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1" y="48"/>
                </a:cxn>
                <a:cxn ang="0">
                  <a:pos x="1" y="0"/>
                </a:cxn>
                <a:cxn ang="0">
                  <a:pos x="1" y="48"/>
                </a:cxn>
                <a:cxn ang="0">
                  <a:pos x="1" y="192"/>
                </a:cxn>
              </a:cxnLst>
              <a:pathLst>
                <a:path w="1248" h="192">
                  <a:moveTo>
                    <a:pt x="0" y="192"/>
                  </a:moveTo>
                  <a:cubicBezTo>
                    <a:pt x="48" y="136"/>
                    <a:pt x="96" y="80"/>
                    <a:pt x="192" y="48"/>
                  </a:cubicBezTo>
                  <a:cubicBezTo>
                    <a:pt x="288" y="16"/>
                    <a:pt x="432" y="0"/>
                    <a:pt x="576" y="0"/>
                  </a:cubicBezTo>
                  <a:cubicBezTo>
                    <a:pt x="720" y="0"/>
                    <a:pt x="944" y="16"/>
                    <a:pt x="1056" y="48"/>
                  </a:cubicBezTo>
                  <a:cubicBezTo>
                    <a:pt x="1168" y="80"/>
                    <a:pt x="1208" y="136"/>
                    <a:pt x="1248" y="192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910" name="Freeform 97"/>
            <p:cNvSpPr/>
            <p:nvPr/>
          </p:nvSpPr>
          <p:spPr>
            <a:xfrm>
              <a:off x="3815" y="3336"/>
              <a:ext cx="841" cy="360"/>
            </a:xfrm>
            <a:custGeom>
              <a:avLst/>
              <a:gdLst/>
              <a:ahLst/>
              <a:cxnLst>
                <a:cxn ang="0">
                  <a:pos x="1" y="24"/>
                </a:cxn>
                <a:cxn ang="0">
                  <a:pos x="1" y="24"/>
                </a:cxn>
                <a:cxn ang="0">
                  <a:pos x="1" y="168"/>
                </a:cxn>
                <a:cxn ang="0">
                  <a:pos x="1" y="264"/>
                </a:cxn>
                <a:cxn ang="0">
                  <a:pos x="1" y="312"/>
                </a:cxn>
                <a:cxn ang="0">
                  <a:pos x="1" y="312"/>
                </a:cxn>
                <a:cxn ang="0">
                  <a:pos x="0" y="24"/>
                </a:cxn>
              </a:cxnLst>
              <a:pathLst>
                <a:path w="1248" h="360">
                  <a:moveTo>
                    <a:pt x="1248" y="24"/>
                  </a:moveTo>
                  <a:cubicBezTo>
                    <a:pt x="1232" y="12"/>
                    <a:pt x="1216" y="0"/>
                    <a:pt x="1200" y="24"/>
                  </a:cubicBezTo>
                  <a:cubicBezTo>
                    <a:pt x="1184" y="48"/>
                    <a:pt x="1176" y="128"/>
                    <a:pt x="1152" y="168"/>
                  </a:cubicBezTo>
                  <a:cubicBezTo>
                    <a:pt x="1128" y="208"/>
                    <a:pt x="1104" y="240"/>
                    <a:pt x="1056" y="264"/>
                  </a:cubicBezTo>
                  <a:cubicBezTo>
                    <a:pt x="1008" y="288"/>
                    <a:pt x="992" y="304"/>
                    <a:pt x="864" y="312"/>
                  </a:cubicBezTo>
                  <a:cubicBezTo>
                    <a:pt x="736" y="320"/>
                    <a:pt x="432" y="360"/>
                    <a:pt x="288" y="312"/>
                  </a:cubicBezTo>
                  <a:cubicBezTo>
                    <a:pt x="144" y="264"/>
                    <a:pt x="72" y="144"/>
                    <a:pt x="0" y="24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911" name="Freeform 98"/>
            <p:cNvSpPr/>
            <p:nvPr/>
          </p:nvSpPr>
          <p:spPr>
            <a:xfrm flipH="1">
              <a:off x="4848" y="2928"/>
              <a:ext cx="280" cy="544"/>
            </a:xfrm>
            <a:custGeom>
              <a:avLst/>
              <a:gdLst/>
              <a:ahLst/>
              <a:cxnLst>
                <a:cxn ang="0">
                  <a:pos x="9" y="48"/>
                </a:cxn>
                <a:cxn ang="0">
                  <a:pos x="9" y="0"/>
                </a:cxn>
                <a:cxn ang="0">
                  <a:pos x="9" y="48"/>
                </a:cxn>
                <a:cxn ang="0">
                  <a:pos x="8" y="240"/>
                </a:cxn>
                <a:cxn ang="0">
                  <a:pos x="9" y="480"/>
                </a:cxn>
                <a:cxn ang="0">
                  <a:pos x="9" y="528"/>
                </a:cxn>
                <a:cxn ang="0">
                  <a:pos x="10" y="384"/>
                </a:cxn>
              </a:cxnLst>
              <a:pathLst>
                <a:path w="296" h="544">
                  <a:moveTo>
                    <a:pt x="248" y="48"/>
                  </a:moveTo>
                  <a:cubicBezTo>
                    <a:pt x="216" y="24"/>
                    <a:pt x="184" y="0"/>
                    <a:pt x="152" y="0"/>
                  </a:cubicBezTo>
                  <a:cubicBezTo>
                    <a:pt x="120" y="0"/>
                    <a:pt x="80" y="8"/>
                    <a:pt x="56" y="48"/>
                  </a:cubicBezTo>
                  <a:cubicBezTo>
                    <a:pt x="32" y="88"/>
                    <a:pt x="0" y="168"/>
                    <a:pt x="8" y="240"/>
                  </a:cubicBezTo>
                  <a:cubicBezTo>
                    <a:pt x="16" y="312"/>
                    <a:pt x="72" y="432"/>
                    <a:pt x="104" y="480"/>
                  </a:cubicBezTo>
                  <a:cubicBezTo>
                    <a:pt x="136" y="528"/>
                    <a:pt x="168" y="544"/>
                    <a:pt x="200" y="528"/>
                  </a:cubicBezTo>
                  <a:cubicBezTo>
                    <a:pt x="232" y="512"/>
                    <a:pt x="264" y="448"/>
                    <a:pt x="296" y="384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912" name="Text Box 99"/>
            <p:cNvSpPr txBox="1"/>
            <p:nvPr/>
          </p:nvSpPr>
          <p:spPr>
            <a:xfrm>
              <a:off x="5111" y="2832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01/0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13" name="Text Box 100"/>
            <p:cNvSpPr txBox="1"/>
            <p:nvPr/>
          </p:nvSpPr>
          <p:spPr>
            <a:xfrm>
              <a:off x="3936" y="2496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11/0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14" name="Text Box 101"/>
            <p:cNvSpPr txBox="1"/>
            <p:nvPr/>
          </p:nvSpPr>
          <p:spPr>
            <a:xfrm>
              <a:off x="4080" y="3648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00/1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15" name="Text Box 102"/>
            <p:cNvSpPr txBox="1"/>
            <p:nvPr/>
          </p:nvSpPr>
          <p:spPr>
            <a:xfrm>
              <a:off x="2928" y="2832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00/0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16" name="Text Box 103"/>
            <p:cNvSpPr txBox="1"/>
            <p:nvPr/>
          </p:nvSpPr>
          <p:spPr>
            <a:xfrm>
              <a:off x="2928" y="3312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10/1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17" name="Text Box 104"/>
            <p:cNvSpPr txBox="1"/>
            <p:nvPr/>
          </p:nvSpPr>
          <p:spPr>
            <a:xfrm>
              <a:off x="5111" y="3072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10/0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  <p:sp>
          <p:nvSpPr>
            <p:cNvPr id="34918" name="Text Box 105"/>
            <p:cNvSpPr txBox="1"/>
            <p:nvPr/>
          </p:nvSpPr>
          <p:spPr>
            <a:xfrm>
              <a:off x="5111" y="3312"/>
              <a:ext cx="45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</a:rPr>
                <a:t>11/1</a:t>
              </a:r>
              <a:endParaRPr lang="en-US" altLang="zh-CN" sz="2400" b="1" dirty="0">
                <a:latin typeface="Times New Roman" panose="02020603050405020304" charset="0"/>
              </a:endParaRPr>
            </a:p>
          </p:txBody>
        </p:sp>
      </p:grpSp>
      <p:grpSp>
        <p:nvGrpSpPr>
          <p:cNvPr id="692332" name="Group 108"/>
          <p:cNvGrpSpPr/>
          <p:nvPr/>
        </p:nvGrpSpPr>
        <p:grpSpPr>
          <a:xfrm>
            <a:off x="1447800" y="4876800"/>
            <a:ext cx="609600" cy="1676400"/>
            <a:chOff x="912" y="3072"/>
            <a:chExt cx="384" cy="1056"/>
          </a:xfrm>
        </p:grpSpPr>
        <p:sp>
          <p:nvSpPr>
            <p:cNvPr id="34900" name="Line 46"/>
            <p:cNvSpPr/>
            <p:nvPr/>
          </p:nvSpPr>
          <p:spPr>
            <a:xfrm>
              <a:off x="912" y="307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01" name="Line 47"/>
            <p:cNvSpPr/>
            <p:nvPr/>
          </p:nvSpPr>
          <p:spPr>
            <a:xfrm>
              <a:off x="912" y="340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02" name="Line 48"/>
            <p:cNvSpPr/>
            <p:nvPr/>
          </p:nvSpPr>
          <p:spPr>
            <a:xfrm>
              <a:off x="912" y="379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903" name="Line 107"/>
            <p:cNvSpPr/>
            <p:nvPr/>
          </p:nvSpPr>
          <p:spPr>
            <a:xfrm>
              <a:off x="912" y="412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33" name="Line 109"/>
          <p:cNvSpPr/>
          <p:nvPr/>
        </p:nvSpPr>
        <p:spPr>
          <a:xfrm>
            <a:off x="2057400" y="6553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34" name="Line 110"/>
          <p:cNvSpPr/>
          <p:nvPr/>
        </p:nvSpPr>
        <p:spPr>
          <a:xfrm>
            <a:off x="32766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92335" name="Group 111"/>
          <p:cNvGrpSpPr/>
          <p:nvPr/>
        </p:nvGrpSpPr>
        <p:grpSpPr>
          <a:xfrm>
            <a:off x="2667000" y="5029200"/>
            <a:ext cx="609600" cy="381000"/>
            <a:chOff x="1824" y="3216"/>
            <a:chExt cx="384" cy="240"/>
          </a:xfrm>
        </p:grpSpPr>
        <p:sp>
          <p:nvSpPr>
            <p:cNvPr id="34898" name="Line 112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9" name="Line 113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38" name="Line 114"/>
          <p:cNvSpPr/>
          <p:nvPr/>
        </p:nvSpPr>
        <p:spPr>
          <a:xfrm>
            <a:off x="2667000" y="4876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339" name="Group 115"/>
          <p:cNvGrpSpPr/>
          <p:nvPr/>
        </p:nvGrpSpPr>
        <p:grpSpPr>
          <a:xfrm>
            <a:off x="2667000" y="6172200"/>
            <a:ext cx="609600" cy="381000"/>
            <a:chOff x="1824" y="3216"/>
            <a:chExt cx="384" cy="240"/>
          </a:xfrm>
        </p:grpSpPr>
        <p:sp>
          <p:nvSpPr>
            <p:cNvPr id="34896" name="Line 116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7" name="Line 117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42" name="Line 118"/>
          <p:cNvSpPr/>
          <p:nvPr/>
        </p:nvSpPr>
        <p:spPr>
          <a:xfrm>
            <a:off x="3276600" y="6019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43" name="Line 119"/>
          <p:cNvSpPr/>
          <p:nvPr/>
        </p:nvSpPr>
        <p:spPr>
          <a:xfrm>
            <a:off x="3886200" y="37084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92344" name="Group 120"/>
          <p:cNvGrpSpPr/>
          <p:nvPr/>
        </p:nvGrpSpPr>
        <p:grpSpPr>
          <a:xfrm>
            <a:off x="3276600" y="4495800"/>
            <a:ext cx="609600" cy="381000"/>
            <a:chOff x="1824" y="3216"/>
            <a:chExt cx="384" cy="240"/>
          </a:xfrm>
        </p:grpSpPr>
        <p:sp>
          <p:nvSpPr>
            <p:cNvPr id="34894" name="Line 121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5" name="Line 122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92347" name="Group 123"/>
          <p:cNvGrpSpPr/>
          <p:nvPr/>
        </p:nvGrpSpPr>
        <p:grpSpPr>
          <a:xfrm>
            <a:off x="3276600" y="5029200"/>
            <a:ext cx="609600" cy="381000"/>
            <a:chOff x="3360" y="3216"/>
            <a:chExt cx="384" cy="240"/>
          </a:xfrm>
        </p:grpSpPr>
        <p:sp>
          <p:nvSpPr>
            <p:cNvPr id="34892" name="Line 124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3" name="Line 125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50" name="Line 126"/>
          <p:cNvSpPr/>
          <p:nvPr/>
        </p:nvSpPr>
        <p:spPr>
          <a:xfrm>
            <a:off x="3886200" y="6019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51" name="Line 127"/>
          <p:cNvSpPr/>
          <p:nvPr/>
        </p:nvSpPr>
        <p:spPr>
          <a:xfrm>
            <a:off x="2057400" y="6019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52" name="Line 128"/>
          <p:cNvSpPr/>
          <p:nvPr/>
        </p:nvSpPr>
        <p:spPr>
          <a:xfrm flipV="1">
            <a:off x="3276600" y="6172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56" name="Line 132"/>
          <p:cNvSpPr/>
          <p:nvPr/>
        </p:nvSpPr>
        <p:spPr>
          <a:xfrm flipV="1">
            <a:off x="3886200" y="4495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357" name="Group 133"/>
          <p:cNvGrpSpPr/>
          <p:nvPr/>
        </p:nvGrpSpPr>
        <p:grpSpPr>
          <a:xfrm>
            <a:off x="3886200" y="5029200"/>
            <a:ext cx="609600" cy="381000"/>
            <a:chOff x="1824" y="3216"/>
            <a:chExt cx="384" cy="240"/>
          </a:xfrm>
        </p:grpSpPr>
        <p:sp>
          <p:nvSpPr>
            <p:cNvPr id="34890" name="Line 134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91" name="Line 135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60" name="Line 136"/>
          <p:cNvSpPr/>
          <p:nvPr/>
        </p:nvSpPr>
        <p:spPr>
          <a:xfrm>
            <a:off x="4495800" y="36576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92361" name="Group 137"/>
          <p:cNvGrpSpPr/>
          <p:nvPr/>
        </p:nvGrpSpPr>
        <p:grpSpPr>
          <a:xfrm>
            <a:off x="3886200" y="6172200"/>
            <a:ext cx="609600" cy="381000"/>
            <a:chOff x="3360" y="3216"/>
            <a:chExt cx="384" cy="240"/>
          </a:xfrm>
        </p:grpSpPr>
        <p:sp>
          <p:nvSpPr>
            <p:cNvPr id="34888" name="Line 138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9" name="Line 139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64" name="Line 140"/>
          <p:cNvSpPr/>
          <p:nvPr/>
        </p:nvSpPr>
        <p:spPr>
          <a:xfrm>
            <a:off x="5105400" y="36576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92365" name="Group 141"/>
          <p:cNvGrpSpPr/>
          <p:nvPr/>
        </p:nvGrpSpPr>
        <p:grpSpPr>
          <a:xfrm>
            <a:off x="4495800" y="5638800"/>
            <a:ext cx="609600" cy="381000"/>
            <a:chOff x="1824" y="3216"/>
            <a:chExt cx="384" cy="240"/>
          </a:xfrm>
        </p:grpSpPr>
        <p:sp>
          <p:nvSpPr>
            <p:cNvPr id="34886" name="Line 142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7" name="Line 143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92368" name="Group 144"/>
          <p:cNvGrpSpPr/>
          <p:nvPr/>
        </p:nvGrpSpPr>
        <p:grpSpPr>
          <a:xfrm>
            <a:off x="4495800" y="4495800"/>
            <a:ext cx="609600" cy="381000"/>
            <a:chOff x="3360" y="3216"/>
            <a:chExt cx="384" cy="240"/>
          </a:xfrm>
        </p:grpSpPr>
        <p:sp>
          <p:nvSpPr>
            <p:cNvPr id="34884" name="Line 145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5" name="Line 146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71" name="Line 147"/>
          <p:cNvSpPr/>
          <p:nvPr/>
        </p:nvSpPr>
        <p:spPr>
          <a:xfrm flipV="1">
            <a:off x="4495800" y="5029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75" name="Line 151"/>
          <p:cNvSpPr/>
          <p:nvPr/>
        </p:nvSpPr>
        <p:spPr>
          <a:xfrm>
            <a:off x="5715000" y="36576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2376" name="Line 152"/>
          <p:cNvSpPr/>
          <p:nvPr/>
        </p:nvSpPr>
        <p:spPr>
          <a:xfrm flipV="1">
            <a:off x="5105400" y="5638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377" name="Group 153"/>
          <p:cNvGrpSpPr/>
          <p:nvPr/>
        </p:nvGrpSpPr>
        <p:grpSpPr>
          <a:xfrm>
            <a:off x="5105400" y="4495800"/>
            <a:ext cx="609600" cy="381000"/>
            <a:chOff x="1824" y="3216"/>
            <a:chExt cx="384" cy="240"/>
          </a:xfrm>
        </p:grpSpPr>
        <p:sp>
          <p:nvSpPr>
            <p:cNvPr id="34882" name="Line 154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3" name="Line 155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92380" name="Group 156"/>
          <p:cNvGrpSpPr/>
          <p:nvPr/>
        </p:nvGrpSpPr>
        <p:grpSpPr>
          <a:xfrm>
            <a:off x="5105400" y="5029200"/>
            <a:ext cx="609600" cy="381000"/>
            <a:chOff x="3360" y="3216"/>
            <a:chExt cx="384" cy="240"/>
          </a:xfrm>
        </p:grpSpPr>
        <p:sp>
          <p:nvSpPr>
            <p:cNvPr id="34880" name="Line 157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81" name="Line 158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86" name="Line 162"/>
          <p:cNvSpPr/>
          <p:nvPr/>
        </p:nvSpPr>
        <p:spPr>
          <a:xfrm>
            <a:off x="6324600" y="36576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2387" name="Line 163"/>
          <p:cNvSpPr/>
          <p:nvPr/>
        </p:nvSpPr>
        <p:spPr>
          <a:xfrm flipV="1">
            <a:off x="5715000" y="5638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88" name="Line 164"/>
          <p:cNvSpPr/>
          <p:nvPr/>
        </p:nvSpPr>
        <p:spPr>
          <a:xfrm flipV="1">
            <a:off x="5715000" y="4495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389" name="Group 165"/>
          <p:cNvGrpSpPr/>
          <p:nvPr/>
        </p:nvGrpSpPr>
        <p:grpSpPr>
          <a:xfrm>
            <a:off x="5715000" y="5029200"/>
            <a:ext cx="609600" cy="381000"/>
            <a:chOff x="1824" y="3216"/>
            <a:chExt cx="384" cy="240"/>
          </a:xfrm>
        </p:grpSpPr>
        <p:sp>
          <p:nvSpPr>
            <p:cNvPr id="34878" name="Line 166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9" name="Line 167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92" name="Line 168"/>
          <p:cNvSpPr/>
          <p:nvPr/>
        </p:nvSpPr>
        <p:spPr>
          <a:xfrm>
            <a:off x="6934200" y="36576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92394" name="Line 170"/>
          <p:cNvSpPr/>
          <p:nvPr/>
        </p:nvSpPr>
        <p:spPr>
          <a:xfrm flipV="1">
            <a:off x="6324600" y="5638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395" name="Group 171"/>
          <p:cNvGrpSpPr/>
          <p:nvPr/>
        </p:nvGrpSpPr>
        <p:grpSpPr>
          <a:xfrm>
            <a:off x="5715000" y="6172200"/>
            <a:ext cx="609600" cy="381000"/>
            <a:chOff x="1824" y="3216"/>
            <a:chExt cx="384" cy="240"/>
          </a:xfrm>
        </p:grpSpPr>
        <p:sp>
          <p:nvSpPr>
            <p:cNvPr id="34876" name="Line 172"/>
            <p:cNvSpPr/>
            <p:nvPr/>
          </p:nvSpPr>
          <p:spPr>
            <a:xfrm flipV="1">
              <a:off x="1824" y="3232"/>
              <a:ext cx="0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7" name="Line 173"/>
            <p:cNvSpPr/>
            <p:nvPr/>
          </p:nvSpPr>
          <p:spPr>
            <a:xfrm flipV="1">
              <a:off x="1824" y="32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398" name="Line 174"/>
          <p:cNvSpPr/>
          <p:nvPr/>
        </p:nvSpPr>
        <p:spPr>
          <a:xfrm>
            <a:off x="4495800" y="6553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399" name="Line 175"/>
          <p:cNvSpPr/>
          <p:nvPr/>
        </p:nvSpPr>
        <p:spPr>
          <a:xfrm>
            <a:off x="5105400" y="6553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92400" name="Group 176"/>
          <p:cNvGrpSpPr/>
          <p:nvPr/>
        </p:nvGrpSpPr>
        <p:grpSpPr>
          <a:xfrm>
            <a:off x="6324600" y="4495800"/>
            <a:ext cx="609600" cy="381000"/>
            <a:chOff x="3360" y="3216"/>
            <a:chExt cx="384" cy="240"/>
          </a:xfrm>
        </p:grpSpPr>
        <p:sp>
          <p:nvSpPr>
            <p:cNvPr id="34874" name="Line 177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5" name="Line 178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92403" name="Group 179"/>
          <p:cNvGrpSpPr/>
          <p:nvPr/>
        </p:nvGrpSpPr>
        <p:grpSpPr>
          <a:xfrm>
            <a:off x="6324600" y="5029200"/>
            <a:ext cx="609600" cy="381000"/>
            <a:chOff x="3360" y="3216"/>
            <a:chExt cx="384" cy="240"/>
          </a:xfrm>
        </p:grpSpPr>
        <p:sp>
          <p:nvSpPr>
            <p:cNvPr id="34872" name="Line 180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3" name="Line 181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406" name="Line 182"/>
          <p:cNvSpPr/>
          <p:nvPr/>
        </p:nvSpPr>
        <p:spPr>
          <a:xfrm flipV="1">
            <a:off x="6324600" y="6172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2407" name="Line 183"/>
          <p:cNvSpPr/>
          <p:nvPr/>
        </p:nvSpPr>
        <p:spPr>
          <a:xfrm>
            <a:off x="7543800" y="36576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92408" name="Group 184"/>
          <p:cNvGrpSpPr/>
          <p:nvPr/>
        </p:nvGrpSpPr>
        <p:grpSpPr>
          <a:xfrm>
            <a:off x="6934200" y="5638800"/>
            <a:ext cx="609600" cy="381000"/>
            <a:chOff x="3360" y="3216"/>
            <a:chExt cx="384" cy="240"/>
          </a:xfrm>
        </p:grpSpPr>
        <p:sp>
          <p:nvSpPr>
            <p:cNvPr id="34870" name="Line 185"/>
            <p:cNvSpPr/>
            <p:nvPr/>
          </p:nvSpPr>
          <p:spPr>
            <a:xfrm>
              <a:off x="3360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71" name="Line 186"/>
            <p:cNvSpPr/>
            <p:nvPr/>
          </p:nvSpPr>
          <p:spPr>
            <a:xfrm>
              <a:off x="3360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92411" name="Text Box 187"/>
          <p:cNvSpPr txBox="1"/>
          <p:nvPr/>
        </p:nvSpPr>
        <p:spPr>
          <a:xfrm>
            <a:off x="7772400" y="4343400"/>
            <a:ext cx="12192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dirty="0"/>
              <a:t>串行二进制加法器</a:t>
            </a:r>
            <a:endParaRPr lang="zh-CN" altLang="en-US" sz="2000" dirty="0"/>
          </a:p>
        </p:txBody>
      </p:sp>
      <p:sp>
        <p:nvSpPr>
          <p:cNvPr id="150" name="文本框 149"/>
          <p:cNvSpPr txBox="1"/>
          <p:nvPr/>
        </p:nvSpPr>
        <p:spPr>
          <a:xfrm>
            <a:off x="539750" y="1014413"/>
            <a:ext cx="24257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Z=A</a:t>
            </a:r>
            <a:r>
              <a:rPr lang="en-US" altLang="zh-CN" sz="2800" dirty="0">
                <a:sym typeface="Symbol" panose="05050102010706020507" pitchFamily="18" charset="2"/>
              </a:rPr>
              <a:t>B Q</a:t>
            </a:r>
            <a:r>
              <a:rPr lang="en-US" altLang="zh-CN" sz="2800" baseline="-25000" dirty="0">
                <a:sym typeface="Symbol" panose="05050102010706020507" pitchFamily="18" charset="2"/>
              </a:rPr>
              <a:t>n</a:t>
            </a:r>
            <a:endParaRPr lang="zh-CN" altLang="en-US" sz="2800" baseline="-25000" dirty="0"/>
          </a:p>
        </p:txBody>
      </p:sp>
      <p:sp>
        <p:nvSpPr>
          <p:cNvPr id="5" name="文本框 4"/>
          <p:cNvSpPr txBox="1"/>
          <p:nvPr/>
        </p:nvSpPr>
        <p:spPr>
          <a:xfrm>
            <a:off x="498475" y="52388"/>
            <a:ext cx="8070850" cy="790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                            ____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—   —             —    — —             — </a:t>
            </a:r>
            <a:endParaRPr lang="en-US" altLang="zh-CN" sz="24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n+1</a:t>
            </a:r>
            <a:r>
              <a:rPr lang="en-US" altLang="zh-CN" sz="2400" dirty="0"/>
              <a:t>=J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n</a:t>
            </a:r>
            <a:r>
              <a:rPr lang="en-US" altLang="zh-CN" sz="2400" dirty="0"/>
              <a:t> +K 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n</a:t>
            </a:r>
            <a:r>
              <a:rPr lang="en-US" altLang="zh-CN" sz="2400" dirty="0"/>
              <a:t> =A B Q</a:t>
            </a:r>
            <a:r>
              <a:rPr lang="en-US" altLang="zh-CN" sz="2400" baseline="-25000" dirty="0"/>
              <a:t>n </a:t>
            </a:r>
            <a:r>
              <a:rPr lang="en-US" altLang="zh-CN" sz="2400" dirty="0"/>
              <a:t>+ A  B Q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 =A B Q</a:t>
            </a:r>
            <a:r>
              <a:rPr lang="en-US" altLang="zh-CN" sz="2400" baseline="-25000" dirty="0"/>
              <a:t>n </a:t>
            </a:r>
            <a:r>
              <a:rPr lang="en-US" altLang="zh-CN" sz="2400" dirty="0"/>
              <a:t>+ (A+B) Q</a:t>
            </a:r>
            <a:r>
              <a:rPr lang="en-US" altLang="zh-CN" sz="2400" baseline="-25000" dirty="0"/>
              <a:t>n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2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2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69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9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69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69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69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69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69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69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69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692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69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500"/>
                                        <p:tgtEl>
                                          <p:spTgt spid="69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69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4" dur="500"/>
                                        <p:tgtEl>
                                          <p:spTgt spid="69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69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4" dur="500"/>
                                        <p:tgtEl>
                                          <p:spTgt spid="69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69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69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9" dur="500"/>
                                        <p:tgtEl>
                                          <p:spTgt spid="69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4" dur="500"/>
                                        <p:tgtEl>
                                          <p:spTgt spid="69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9" dur="500"/>
                                        <p:tgtEl>
                                          <p:spTgt spid="69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4" dur="500"/>
                                        <p:tgtEl>
                                          <p:spTgt spid="69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9" dur="500"/>
                                        <p:tgtEl>
                                          <p:spTgt spid="69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4" dur="500"/>
                                        <p:tgtEl>
                                          <p:spTgt spid="69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9" dur="500"/>
                                        <p:tgtEl>
                                          <p:spTgt spid="69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4" dur="500"/>
                                        <p:tgtEl>
                                          <p:spTgt spid="69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9" dur="500"/>
                                        <p:tgtEl>
                                          <p:spTgt spid="69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4" dur="500"/>
                                        <p:tgtEl>
                                          <p:spTgt spid="69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9" dur="500"/>
                                        <p:tgtEl>
                                          <p:spTgt spid="69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4" dur="500"/>
                                        <p:tgtEl>
                                          <p:spTgt spid="69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9" dur="500"/>
                                        <p:tgtEl>
                                          <p:spTgt spid="69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4" dur="500"/>
                                        <p:tgtEl>
                                          <p:spTgt spid="69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9" dur="500"/>
                                        <p:tgtEl>
                                          <p:spTgt spid="69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4" dur="500"/>
                                        <p:tgtEl>
                                          <p:spTgt spid="69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9" dur="500"/>
                                        <p:tgtEl>
                                          <p:spTgt spid="69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4" dur="500"/>
                                        <p:tgtEl>
                                          <p:spTgt spid="69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9" dur="500"/>
                                        <p:tgtEl>
                                          <p:spTgt spid="69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4" dur="500"/>
                                        <p:tgtEl>
                                          <p:spTgt spid="69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9" dur="500"/>
                                        <p:tgtEl>
                                          <p:spTgt spid="69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4" dur="500"/>
                                        <p:tgtEl>
                                          <p:spTgt spid="69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9" dur="500"/>
                                        <p:tgtEl>
                                          <p:spTgt spid="69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4" dur="500"/>
                                        <p:tgtEl>
                                          <p:spTgt spid="69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9" dur="500"/>
                                        <p:tgtEl>
                                          <p:spTgt spid="69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4" dur="500"/>
                                        <p:tgtEl>
                                          <p:spTgt spid="69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9" dur="500"/>
                                        <p:tgtEl>
                                          <p:spTgt spid="69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92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692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67" grpId="0"/>
      <p:bldP spid="692269" grpId="0"/>
      <p:bldP spid="692411" grpId="0"/>
      <p:bldP spid="150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27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5344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：分析下面时序电路的功能并给出时序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5845" name="Group 4"/>
          <p:cNvGrpSpPr/>
          <p:nvPr/>
        </p:nvGrpSpPr>
        <p:grpSpPr>
          <a:xfrm>
            <a:off x="1054100" y="2057400"/>
            <a:ext cx="6184900" cy="2557463"/>
            <a:chOff x="664" y="1296"/>
            <a:chExt cx="3896" cy="1611"/>
          </a:xfrm>
        </p:grpSpPr>
        <p:sp>
          <p:nvSpPr>
            <p:cNvPr id="35850" name="Rectangle 6"/>
            <p:cNvSpPr/>
            <p:nvPr/>
          </p:nvSpPr>
          <p:spPr>
            <a:xfrm>
              <a:off x="1020" y="2147"/>
              <a:ext cx="771" cy="49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  Q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     D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5851" name="Line 8"/>
            <p:cNvSpPr/>
            <p:nvPr/>
          </p:nvSpPr>
          <p:spPr>
            <a:xfrm>
              <a:off x="1201" y="2646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2" name="Line 9"/>
            <p:cNvSpPr/>
            <p:nvPr/>
          </p:nvSpPr>
          <p:spPr>
            <a:xfrm flipV="1">
              <a:off x="1201" y="1739"/>
              <a:ext cx="0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3" name="Rectangle 11"/>
            <p:cNvSpPr/>
            <p:nvPr/>
          </p:nvSpPr>
          <p:spPr>
            <a:xfrm>
              <a:off x="2108" y="2147"/>
              <a:ext cx="771" cy="49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  Q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     D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5854" name="Line 13"/>
            <p:cNvSpPr/>
            <p:nvPr/>
          </p:nvSpPr>
          <p:spPr>
            <a:xfrm>
              <a:off x="2289" y="2646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5" name="Line 14"/>
            <p:cNvSpPr/>
            <p:nvPr/>
          </p:nvSpPr>
          <p:spPr>
            <a:xfrm flipV="1">
              <a:off x="2698" y="1603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6" name="Rectangle 16"/>
            <p:cNvSpPr/>
            <p:nvPr/>
          </p:nvSpPr>
          <p:spPr>
            <a:xfrm>
              <a:off x="3514" y="2147"/>
              <a:ext cx="771" cy="47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         Q</a:t>
              </a:r>
              <a:endParaRPr lang="en-US" altLang="zh-CN" sz="2400" dirty="0">
                <a:latin typeface="Georgia" panose="02040502050405020303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     D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5857" name="Line 18"/>
            <p:cNvSpPr/>
            <p:nvPr/>
          </p:nvSpPr>
          <p:spPr>
            <a:xfrm flipH="1">
              <a:off x="3695" y="2619"/>
              <a:ext cx="1" cy="2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8" name="Line 19"/>
            <p:cNvSpPr/>
            <p:nvPr/>
          </p:nvSpPr>
          <p:spPr>
            <a:xfrm flipV="1">
              <a:off x="4104" y="1603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59" name="Line 20"/>
            <p:cNvSpPr/>
            <p:nvPr/>
          </p:nvSpPr>
          <p:spPr>
            <a:xfrm>
              <a:off x="2698" y="2646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0" name="Line 21"/>
            <p:cNvSpPr/>
            <p:nvPr/>
          </p:nvSpPr>
          <p:spPr>
            <a:xfrm>
              <a:off x="2698" y="2737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1" name="Line 22"/>
            <p:cNvSpPr/>
            <p:nvPr/>
          </p:nvSpPr>
          <p:spPr>
            <a:xfrm flipH="1">
              <a:off x="748" y="2827"/>
              <a:ext cx="29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2" name="Text Box 23"/>
            <p:cNvSpPr txBox="1"/>
            <p:nvPr/>
          </p:nvSpPr>
          <p:spPr>
            <a:xfrm>
              <a:off x="664" y="255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5863" name="Line 24"/>
            <p:cNvSpPr/>
            <p:nvPr/>
          </p:nvSpPr>
          <p:spPr>
            <a:xfrm>
              <a:off x="1609" y="2646"/>
              <a:ext cx="0" cy="1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4" name="Line 25"/>
            <p:cNvSpPr/>
            <p:nvPr/>
          </p:nvSpPr>
          <p:spPr>
            <a:xfrm>
              <a:off x="1609" y="2747"/>
              <a:ext cx="40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5" name="Line 26"/>
            <p:cNvSpPr/>
            <p:nvPr/>
          </p:nvSpPr>
          <p:spPr>
            <a:xfrm>
              <a:off x="4128" y="2619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6" name="Line 27"/>
            <p:cNvSpPr/>
            <p:nvPr/>
          </p:nvSpPr>
          <p:spPr>
            <a:xfrm>
              <a:off x="4128" y="2907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7" name="Line 28"/>
            <p:cNvSpPr/>
            <p:nvPr/>
          </p:nvSpPr>
          <p:spPr>
            <a:xfrm flipV="1">
              <a:off x="3333" y="1875"/>
              <a:ext cx="0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8" name="Line 29"/>
            <p:cNvSpPr/>
            <p:nvPr/>
          </p:nvSpPr>
          <p:spPr>
            <a:xfrm>
              <a:off x="3333" y="1875"/>
              <a:ext cx="7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9" name="Line 30"/>
            <p:cNvSpPr/>
            <p:nvPr/>
          </p:nvSpPr>
          <p:spPr>
            <a:xfrm flipH="1" flipV="1">
              <a:off x="4558" y="1739"/>
              <a:ext cx="2" cy="11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0" name="Line 31"/>
            <p:cNvSpPr/>
            <p:nvPr/>
          </p:nvSpPr>
          <p:spPr>
            <a:xfrm flipH="1">
              <a:off x="1201" y="1739"/>
              <a:ext cx="335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1" name="Line 32"/>
            <p:cNvSpPr/>
            <p:nvPr/>
          </p:nvSpPr>
          <p:spPr>
            <a:xfrm flipV="1">
              <a:off x="1655" y="1603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35872" name="Picture 33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83" y="1996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5873" name="Picture 34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90" y="1860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5874" name="Picture 35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75" y="281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5875" name="Picture 36" descr="do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87" y="2813"/>
              <a:ext cx="60" cy="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76" name="Text Box 37"/>
            <p:cNvSpPr txBox="1"/>
            <p:nvPr/>
          </p:nvSpPr>
          <p:spPr>
            <a:xfrm>
              <a:off x="1551" y="1296"/>
              <a:ext cx="33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2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35877" name="Text Box 38"/>
            <p:cNvSpPr txBox="1"/>
            <p:nvPr/>
          </p:nvSpPr>
          <p:spPr>
            <a:xfrm>
              <a:off x="2549" y="1296"/>
              <a:ext cx="3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1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35878" name="Text Box 39"/>
            <p:cNvSpPr txBox="1"/>
            <p:nvPr/>
          </p:nvSpPr>
          <p:spPr>
            <a:xfrm>
              <a:off x="3923" y="1296"/>
              <a:ext cx="34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0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35879" name="Line 40"/>
            <p:cNvSpPr/>
            <p:nvPr/>
          </p:nvSpPr>
          <p:spPr>
            <a:xfrm flipH="1">
              <a:off x="2018" y="2021"/>
              <a:ext cx="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80" name="Line 41"/>
            <p:cNvSpPr/>
            <p:nvPr/>
          </p:nvSpPr>
          <p:spPr>
            <a:xfrm>
              <a:off x="2018" y="2021"/>
              <a:ext cx="0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46" name="Text Box 43"/>
          <p:cNvSpPr txBox="1"/>
          <p:nvPr/>
        </p:nvSpPr>
        <p:spPr>
          <a:xfrm>
            <a:off x="2139950" y="4627563"/>
            <a:ext cx="2773363" cy="163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2(n+1)</a:t>
            </a:r>
            <a:r>
              <a:rPr lang="en-US" altLang="zh-CN" sz="2400" dirty="0">
                <a:latin typeface="Georgia" panose="02040502050405020303" pitchFamily="18" charset="0"/>
              </a:rPr>
              <a:t>=D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</a:t>
            </a:r>
            <a:r>
              <a:rPr lang="zh-CN" altLang="en-US" sz="18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1n</a:t>
            </a:r>
            <a:endParaRPr lang="en-US" altLang="zh-CN" sz="24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6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1(n+1)</a:t>
            </a:r>
            <a:r>
              <a:rPr lang="zh-CN" altLang="en-US" sz="24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</a:t>
            </a:r>
            <a:r>
              <a:rPr lang="zh-CN" altLang="en-US" sz="18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0n</a:t>
            </a:r>
            <a:endParaRPr lang="en-US" altLang="zh-CN" sz="24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lnSpc>
                <a:spcPts val="23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aseline="-25000" dirty="0">
                <a:latin typeface="Georgia" panose="02040502050405020303" pitchFamily="18" charset="0"/>
              </a:rPr>
              <a:t>                                   —     </a:t>
            </a:r>
            <a:endParaRPr lang="en-US" altLang="zh-CN" sz="24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lnSpc>
                <a:spcPts val="23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0(n+1)</a:t>
            </a:r>
            <a:r>
              <a:rPr lang="zh-CN" altLang="en-US" sz="24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r>
              <a:rPr lang="zh-CN" altLang="en-US" sz="18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2n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  <p:sp>
        <p:nvSpPr>
          <p:cNvPr id="35847" name="文本框 1"/>
          <p:cNvSpPr txBox="1"/>
          <p:nvPr/>
        </p:nvSpPr>
        <p:spPr>
          <a:xfrm>
            <a:off x="3449638" y="3395663"/>
            <a:ext cx="430212" cy="482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  <a:endParaRPr lang="en-US" altLang="zh-CN" sz="2000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35848" name="文本框 43"/>
          <p:cNvSpPr txBox="1"/>
          <p:nvPr/>
        </p:nvSpPr>
        <p:spPr>
          <a:xfrm>
            <a:off x="1728788" y="3382963"/>
            <a:ext cx="431800" cy="482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  <a:endParaRPr lang="en-US" altLang="zh-CN" sz="2000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35849" name="文本框 44"/>
          <p:cNvSpPr txBox="1"/>
          <p:nvPr/>
        </p:nvSpPr>
        <p:spPr>
          <a:xfrm>
            <a:off x="5664200" y="3390900"/>
            <a:ext cx="431800" cy="48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  <a:endParaRPr lang="en-US" altLang="zh-CN" sz="2000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3861" name="Rectangle 5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5344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2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40775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03892" name="Group 84"/>
          <p:cNvGraphicFramePr>
            <a:graphicFrameLocks noGrp="1"/>
          </p:cNvGraphicFramePr>
          <p:nvPr/>
        </p:nvGraphicFramePr>
        <p:xfrm>
          <a:off x="3886200" y="1752600"/>
          <a:ext cx="4953000" cy="3108325"/>
        </p:xfrm>
        <a:graphic>
          <a:graphicData uri="http://schemas.openxmlformats.org/drawingml/2006/table">
            <a:tbl>
              <a:tblPr/>
              <a:tblGrid>
                <a:gridCol w="785813"/>
                <a:gridCol w="781050"/>
                <a:gridCol w="642937"/>
                <a:gridCol w="981075"/>
                <a:gridCol w="881063"/>
                <a:gridCol w="881062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2n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1n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3862" name="Rectangle 54"/>
          <p:cNvSpPr/>
          <p:nvPr/>
        </p:nvSpPr>
        <p:spPr>
          <a:xfrm>
            <a:off x="6019800" y="1143000"/>
            <a:ext cx="1103313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dirty="0">
                <a:latin typeface="Times New Roman" panose="02020603050405020304" charset="0"/>
              </a:rPr>
              <a:t>状态表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sp>
        <p:nvSpPr>
          <p:cNvPr id="503871" name="Text Box 63"/>
          <p:cNvSpPr txBox="1"/>
          <p:nvPr/>
        </p:nvSpPr>
        <p:spPr>
          <a:xfrm>
            <a:off x="609600" y="5181600"/>
            <a:ext cx="2232025" cy="12001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Georgia" panose="02040502050405020303" pitchFamily="18" charset="0"/>
              </a:rPr>
              <a:t>假设初始状态</a:t>
            </a:r>
            <a:r>
              <a:rPr lang="en-US" altLang="zh-CN" sz="2400" dirty="0">
                <a:latin typeface="Georgia" panose="02040502050405020303" pitchFamily="18" charset="0"/>
              </a:rPr>
              <a:t>: 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</a:t>
            </a:r>
            <a:r>
              <a:rPr lang="zh-CN" altLang="en-US" sz="2400" dirty="0">
                <a:latin typeface="Times New Roman" panose="02020603050405020304" charset="0"/>
              </a:rPr>
              <a:t>、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</a:t>
            </a:r>
            <a:r>
              <a:rPr lang="zh-CN" altLang="en-US" sz="2400" dirty="0">
                <a:latin typeface="Times New Roman" panose="02020603050405020304" charset="0"/>
              </a:rPr>
              <a:t>、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dirty="0">
                <a:latin typeface="Times New Roman" panose="02020603050405020304" charset="0"/>
              </a:rPr>
              <a:t>为 “</a:t>
            </a:r>
            <a:r>
              <a:rPr lang="en-US" altLang="zh-CN" sz="2400" dirty="0">
                <a:latin typeface="Times New Roman" panose="02020603050405020304" charset="0"/>
              </a:rPr>
              <a:t>000”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2" name="Rectangle 64"/>
          <p:cNvSpPr/>
          <p:nvPr/>
        </p:nvSpPr>
        <p:spPr>
          <a:xfrm>
            <a:off x="3324225" y="5013325"/>
            <a:ext cx="1008063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000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3" name="Rectangle 65"/>
          <p:cNvSpPr/>
          <p:nvPr/>
        </p:nvSpPr>
        <p:spPr>
          <a:xfrm>
            <a:off x="5197475" y="5013325"/>
            <a:ext cx="1008063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001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4" name="Rectangle 66"/>
          <p:cNvSpPr/>
          <p:nvPr/>
        </p:nvSpPr>
        <p:spPr>
          <a:xfrm>
            <a:off x="5197475" y="5949950"/>
            <a:ext cx="1008063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110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5" name="Rectangle 67"/>
          <p:cNvSpPr/>
          <p:nvPr/>
        </p:nvSpPr>
        <p:spPr>
          <a:xfrm>
            <a:off x="7069138" y="5949950"/>
            <a:ext cx="10080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111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6" name="Rectangle 68"/>
          <p:cNvSpPr/>
          <p:nvPr/>
        </p:nvSpPr>
        <p:spPr>
          <a:xfrm>
            <a:off x="7069138" y="5013325"/>
            <a:ext cx="10080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011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7" name="Rectangle 69"/>
          <p:cNvSpPr/>
          <p:nvPr/>
        </p:nvSpPr>
        <p:spPr>
          <a:xfrm>
            <a:off x="3324225" y="5949950"/>
            <a:ext cx="1008063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100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03878" name="Line 70"/>
          <p:cNvSpPr/>
          <p:nvPr/>
        </p:nvSpPr>
        <p:spPr>
          <a:xfrm flipV="1">
            <a:off x="3829050" y="5445125"/>
            <a:ext cx="0" cy="5048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3879" name="Line 71"/>
          <p:cNvSpPr/>
          <p:nvPr/>
        </p:nvSpPr>
        <p:spPr>
          <a:xfrm>
            <a:off x="4332288" y="5229225"/>
            <a:ext cx="8651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3880" name="Line 72"/>
          <p:cNvSpPr/>
          <p:nvPr/>
        </p:nvSpPr>
        <p:spPr>
          <a:xfrm flipH="1">
            <a:off x="6273800" y="6165850"/>
            <a:ext cx="7223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3881" name="Line 73"/>
          <p:cNvSpPr/>
          <p:nvPr/>
        </p:nvSpPr>
        <p:spPr>
          <a:xfrm>
            <a:off x="6205538" y="5229225"/>
            <a:ext cx="865187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3882" name="Line 74"/>
          <p:cNvSpPr/>
          <p:nvPr/>
        </p:nvSpPr>
        <p:spPr>
          <a:xfrm>
            <a:off x="7573963" y="5445125"/>
            <a:ext cx="0" cy="5048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3883" name="Line 75"/>
          <p:cNvSpPr/>
          <p:nvPr/>
        </p:nvSpPr>
        <p:spPr>
          <a:xfrm flipH="1">
            <a:off x="4402138" y="6165850"/>
            <a:ext cx="7223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933" name="Line 78"/>
          <p:cNvSpPr/>
          <p:nvPr/>
        </p:nvSpPr>
        <p:spPr>
          <a:xfrm>
            <a:off x="2895600" y="1588"/>
            <a:ext cx="36036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34" name="Text Box 43"/>
          <p:cNvSpPr txBox="1"/>
          <p:nvPr/>
        </p:nvSpPr>
        <p:spPr>
          <a:xfrm>
            <a:off x="482600" y="2708275"/>
            <a:ext cx="2773363" cy="163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2(n+1)</a:t>
            </a:r>
            <a:r>
              <a:rPr lang="en-US" altLang="zh-CN" sz="2400" dirty="0">
                <a:latin typeface="Georgia" panose="02040502050405020303" pitchFamily="18" charset="0"/>
              </a:rPr>
              <a:t>=D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</a:t>
            </a:r>
            <a:r>
              <a:rPr lang="zh-CN" altLang="en-US" sz="18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1n</a:t>
            </a:r>
            <a:endParaRPr lang="en-US" altLang="zh-CN" sz="24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6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1(n+1)</a:t>
            </a:r>
            <a:r>
              <a:rPr lang="zh-CN" altLang="en-US" sz="24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1</a:t>
            </a:r>
            <a:r>
              <a:rPr lang="zh-CN" altLang="en-US" sz="18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0n</a:t>
            </a:r>
            <a:endParaRPr lang="en-US" altLang="zh-CN" sz="24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lnSpc>
                <a:spcPts val="23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aseline="-25000" dirty="0">
                <a:latin typeface="Georgia" panose="02040502050405020303" pitchFamily="18" charset="0"/>
              </a:rPr>
              <a:t>                                   —     </a:t>
            </a:r>
            <a:endParaRPr lang="en-US" altLang="zh-CN" sz="2400" baseline="-25000" dirty="0">
              <a:latin typeface="Georgia" panose="02040502050405020303" pitchFamily="18" charset="0"/>
            </a:endParaRPr>
          </a:p>
          <a:p>
            <a:pPr marL="0" lvl="0" indent="0" eaLnBrk="1" hangingPunct="1">
              <a:lnSpc>
                <a:spcPts val="23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0(n+1)</a:t>
            </a:r>
            <a:r>
              <a:rPr lang="zh-CN" altLang="en-US" sz="24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D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0</a:t>
            </a:r>
            <a:r>
              <a:rPr lang="zh-CN" altLang="en-US" sz="1800" dirty="0">
                <a:latin typeface="Georgia" panose="02040502050405020303" pitchFamily="18" charset="0"/>
              </a:rPr>
              <a:t>＝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2400" baseline="-25000" dirty="0">
                <a:latin typeface="Georgia" panose="02040502050405020303" pitchFamily="18" charset="0"/>
              </a:rPr>
              <a:t>2n</a:t>
            </a:r>
            <a:endParaRPr lang="en-US" altLang="zh-CN" sz="2400" baseline="-25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3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3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50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0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50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0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50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0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50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0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50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0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8" dur="500"/>
                                        <p:tgtEl>
                                          <p:spTgt spid="50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62" grpId="0"/>
      <p:bldP spid="503871" grpId="0"/>
      <p:bldP spid="503872" grpId="0" animBg="1"/>
      <p:bldP spid="503873" grpId="0" animBg="1"/>
      <p:bldP spid="503874" grpId="0" animBg="1"/>
      <p:bldP spid="503875" grpId="0" animBg="1"/>
      <p:bldP spid="503876" grpId="0" animBg="1"/>
      <p:bldP spid="5038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04834" name="Line 2"/>
          <p:cNvSpPr/>
          <p:nvPr/>
        </p:nvSpPr>
        <p:spPr>
          <a:xfrm>
            <a:off x="7924800" y="19812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35" name="Line 3"/>
          <p:cNvSpPr/>
          <p:nvPr/>
        </p:nvSpPr>
        <p:spPr>
          <a:xfrm>
            <a:off x="6858000" y="19812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36" name="Line 4"/>
          <p:cNvSpPr/>
          <p:nvPr/>
        </p:nvSpPr>
        <p:spPr>
          <a:xfrm>
            <a:off x="5867400" y="19812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37" name="Line 5"/>
          <p:cNvSpPr/>
          <p:nvPr/>
        </p:nvSpPr>
        <p:spPr>
          <a:xfrm>
            <a:off x="4876800" y="19812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38" name="Line 6"/>
          <p:cNvSpPr/>
          <p:nvPr/>
        </p:nvSpPr>
        <p:spPr>
          <a:xfrm>
            <a:off x="3810000" y="19812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39" name="Line 7"/>
          <p:cNvSpPr/>
          <p:nvPr/>
        </p:nvSpPr>
        <p:spPr>
          <a:xfrm>
            <a:off x="2819400" y="1981200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40" name="Line 8"/>
          <p:cNvSpPr/>
          <p:nvPr/>
        </p:nvSpPr>
        <p:spPr>
          <a:xfrm>
            <a:off x="1828800" y="1989138"/>
            <a:ext cx="0" cy="299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04841" name="Rectangle 9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860425" y="1989138"/>
            <a:ext cx="8054975" cy="525462"/>
            <a:chOff x="542" y="1253"/>
            <a:chExt cx="5074" cy="331"/>
          </a:xfrm>
        </p:grpSpPr>
        <p:sp>
          <p:nvSpPr>
            <p:cNvPr id="37959" name="Line 11"/>
            <p:cNvSpPr/>
            <p:nvPr/>
          </p:nvSpPr>
          <p:spPr>
            <a:xfrm>
              <a:off x="1171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0" name="Line 12"/>
            <p:cNvSpPr/>
            <p:nvPr/>
          </p:nvSpPr>
          <p:spPr>
            <a:xfrm>
              <a:off x="1171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1" name="Line 13"/>
            <p:cNvSpPr/>
            <p:nvPr/>
          </p:nvSpPr>
          <p:spPr>
            <a:xfrm flipV="1">
              <a:off x="1488" y="15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2" name="Line 14"/>
            <p:cNvSpPr/>
            <p:nvPr/>
          </p:nvSpPr>
          <p:spPr>
            <a:xfrm>
              <a:off x="1488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3" name="Line 15"/>
            <p:cNvSpPr/>
            <p:nvPr/>
          </p:nvSpPr>
          <p:spPr>
            <a:xfrm>
              <a:off x="1776" y="1296"/>
              <a:ext cx="347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4" name="Line 16"/>
            <p:cNvSpPr/>
            <p:nvPr/>
          </p:nvSpPr>
          <p:spPr>
            <a:xfrm>
              <a:off x="1776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5" name="Line 17"/>
            <p:cNvSpPr/>
            <p:nvPr/>
          </p:nvSpPr>
          <p:spPr>
            <a:xfrm>
              <a:off x="2112" y="15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6" name="Line 18"/>
            <p:cNvSpPr/>
            <p:nvPr/>
          </p:nvSpPr>
          <p:spPr>
            <a:xfrm flipH="1">
              <a:off x="2112" y="1298"/>
              <a:ext cx="11" cy="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7" name="Line 19"/>
            <p:cNvSpPr/>
            <p:nvPr/>
          </p:nvSpPr>
          <p:spPr>
            <a:xfrm>
              <a:off x="2400" y="1296"/>
              <a:ext cx="359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8" name="Line 20"/>
            <p:cNvSpPr/>
            <p:nvPr/>
          </p:nvSpPr>
          <p:spPr>
            <a:xfrm>
              <a:off x="2400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69" name="Line 21"/>
            <p:cNvSpPr/>
            <p:nvPr/>
          </p:nvSpPr>
          <p:spPr>
            <a:xfrm>
              <a:off x="2759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0" name="Line 22"/>
            <p:cNvSpPr/>
            <p:nvPr/>
          </p:nvSpPr>
          <p:spPr>
            <a:xfrm>
              <a:off x="2759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1" name="Line 23"/>
            <p:cNvSpPr/>
            <p:nvPr/>
          </p:nvSpPr>
          <p:spPr>
            <a:xfrm>
              <a:off x="3077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2" name="Line 24"/>
            <p:cNvSpPr/>
            <p:nvPr/>
          </p:nvSpPr>
          <p:spPr>
            <a:xfrm>
              <a:off x="3077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3" name="Line 25"/>
            <p:cNvSpPr/>
            <p:nvPr/>
          </p:nvSpPr>
          <p:spPr>
            <a:xfrm>
              <a:off x="3394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4" name="Line 26"/>
            <p:cNvSpPr/>
            <p:nvPr/>
          </p:nvSpPr>
          <p:spPr>
            <a:xfrm>
              <a:off x="3394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5" name="Line 27"/>
            <p:cNvSpPr/>
            <p:nvPr/>
          </p:nvSpPr>
          <p:spPr>
            <a:xfrm>
              <a:off x="3712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6" name="Line 28"/>
            <p:cNvSpPr/>
            <p:nvPr/>
          </p:nvSpPr>
          <p:spPr>
            <a:xfrm>
              <a:off x="3696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7" name="Line 29"/>
            <p:cNvSpPr/>
            <p:nvPr/>
          </p:nvSpPr>
          <p:spPr>
            <a:xfrm>
              <a:off x="4032" y="15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8" name="Line 30"/>
            <p:cNvSpPr/>
            <p:nvPr/>
          </p:nvSpPr>
          <p:spPr>
            <a:xfrm>
              <a:off x="4029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79" name="Line 31"/>
            <p:cNvSpPr/>
            <p:nvPr/>
          </p:nvSpPr>
          <p:spPr>
            <a:xfrm>
              <a:off x="4320" y="1296"/>
              <a:ext cx="344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0" name="Line 32"/>
            <p:cNvSpPr/>
            <p:nvPr/>
          </p:nvSpPr>
          <p:spPr>
            <a:xfrm>
              <a:off x="4320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1" name="Line 33"/>
            <p:cNvSpPr/>
            <p:nvPr/>
          </p:nvSpPr>
          <p:spPr>
            <a:xfrm>
              <a:off x="4664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2" name="Line 34"/>
            <p:cNvSpPr/>
            <p:nvPr/>
          </p:nvSpPr>
          <p:spPr>
            <a:xfrm>
              <a:off x="4664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3" name="Line 35"/>
            <p:cNvSpPr/>
            <p:nvPr/>
          </p:nvSpPr>
          <p:spPr>
            <a:xfrm>
              <a:off x="4982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4" name="Line 36"/>
            <p:cNvSpPr/>
            <p:nvPr/>
          </p:nvSpPr>
          <p:spPr>
            <a:xfrm>
              <a:off x="4982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5" name="Line 37"/>
            <p:cNvSpPr/>
            <p:nvPr/>
          </p:nvSpPr>
          <p:spPr>
            <a:xfrm>
              <a:off x="5299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6" name="Line 38"/>
            <p:cNvSpPr/>
            <p:nvPr/>
          </p:nvSpPr>
          <p:spPr>
            <a:xfrm>
              <a:off x="5299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7" name="Line 39"/>
            <p:cNvSpPr/>
            <p:nvPr/>
          </p:nvSpPr>
          <p:spPr>
            <a:xfrm flipH="1">
              <a:off x="807" y="1571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88" name="Text Box 40"/>
            <p:cNvSpPr txBox="1"/>
            <p:nvPr/>
          </p:nvSpPr>
          <p:spPr>
            <a:xfrm>
              <a:off x="542" y="1253"/>
              <a:ext cx="35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3" name="Group 41"/>
          <p:cNvGrpSpPr/>
          <p:nvPr/>
        </p:nvGrpSpPr>
        <p:grpSpPr>
          <a:xfrm>
            <a:off x="685800" y="2819400"/>
            <a:ext cx="555625" cy="2133600"/>
            <a:chOff x="432" y="1776"/>
            <a:chExt cx="350" cy="1344"/>
          </a:xfrm>
        </p:grpSpPr>
        <p:sp>
          <p:nvSpPr>
            <p:cNvPr id="37956" name="Text Box 42"/>
            <p:cNvSpPr txBox="1"/>
            <p:nvPr/>
          </p:nvSpPr>
          <p:spPr>
            <a:xfrm>
              <a:off x="444" y="2832"/>
              <a:ext cx="33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7957" name="Text Box 43"/>
            <p:cNvSpPr txBox="1"/>
            <p:nvPr/>
          </p:nvSpPr>
          <p:spPr>
            <a:xfrm>
              <a:off x="432" y="2304"/>
              <a:ext cx="31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37958" name="Text Box 44"/>
            <p:cNvSpPr txBox="1"/>
            <p:nvPr/>
          </p:nvSpPr>
          <p:spPr>
            <a:xfrm>
              <a:off x="432" y="1776"/>
              <a:ext cx="33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sp>
        <p:nvSpPr>
          <p:cNvPr id="504877" name="Rectangle 45"/>
          <p:cNvSpPr/>
          <p:nvPr/>
        </p:nvSpPr>
        <p:spPr>
          <a:xfrm>
            <a:off x="2057400" y="6096000"/>
            <a:ext cx="4692650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Georgia" panose="02040502050405020303" pitchFamily="18" charset="0"/>
              </a:rPr>
              <a:t>电路功能：</a:t>
            </a:r>
            <a:r>
              <a:rPr lang="en-US" altLang="zh-CN" sz="2800" dirty="0">
                <a:latin typeface="Georgia" panose="02040502050405020303" pitchFamily="18" charset="0"/>
              </a:rPr>
              <a:t>3</a:t>
            </a:r>
            <a:r>
              <a:rPr lang="zh-CN" altLang="en-US" sz="2800" dirty="0">
                <a:latin typeface="Georgia" panose="02040502050405020303" pitchFamily="18" charset="0"/>
              </a:rPr>
              <a:t>位格雷码计数器</a:t>
            </a:r>
            <a:endParaRPr lang="zh-CN" altLang="en-US" sz="2800" dirty="0">
              <a:latin typeface="Georgia" panose="02040502050405020303" pitchFamily="18" charset="0"/>
            </a:endParaRPr>
          </a:p>
        </p:txBody>
      </p:sp>
      <p:sp>
        <p:nvSpPr>
          <p:cNvPr id="504878" name="Rectangle 46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5344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Group 47"/>
          <p:cNvGrpSpPr/>
          <p:nvPr/>
        </p:nvGrpSpPr>
        <p:grpSpPr>
          <a:xfrm>
            <a:off x="6858000" y="2822575"/>
            <a:ext cx="1066800" cy="2741613"/>
            <a:chOff x="4320" y="1778"/>
            <a:chExt cx="672" cy="1727"/>
          </a:xfrm>
        </p:grpSpPr>
        <p:sp>
          <p:nvSpPr>
            <p:cNvPr id="37950" name="Text Box 48"/>
            <p:cNvSpPr txBox="1"/>
            <p:nvPr/>
          </p:nvSpPr>
          <p:spPr>
            <a:xfrm>
              <a:off x="4464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000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grpSp>
          <p:nvGrpSpPr>
            <p:cNvPr id="37951" name="Group 49"/>
            <p:cNvGrpSpPr/>
            <p:nvPr/>
          </p:nvGrpSpPr>
          <p:grpSpPr>
            <a:xfrm>
              <a:off x="4320" y="1778"/>
              <a:ext cx="672" cy="1247"/>
              <a:chOff x="4320" y="1778"/>
              <a:chExt cx="672" cy="1247"/>
            </a:xfrm>
          </p:grpSpPr>
          <p:sp>
            <p:nvSpPr>
              <p:cNvPr id="37952" name="Line 50"/>
              <p:cNvSpPr/>
              <p:nvPr/>
            </p:nvSpPr>
            <p:spPr>
              <a:xfrm>
                <a:off x="4333" y="2064"/>
                <a:ext cx="65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3" name="Line 51"/>
              <p:cNvSpPr/>
              <p:nvPr/>
            </p:nvSpPr>
            <p:spPr>
              <a:xfrm>
                <a:off x="4320" y="1778"/>
                <a:ext cx="12" cy="28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4" name="Line 52"/>
              <p:cNvSpPr/>
              <p:nvPr/>
            </p:nvSpPr>
            <p:spPr>
              <a:xfrm>
                <a:off x="4320" y="3024"/>
                <a:ext cx="670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5" name="Line 53"/>
              <p:cNvSpPr/>
              <p:nvPr/>
            </p:nvSpPr>
            <p:spPr>
              <a:xfrm>
                <a:off x="4320" y="2544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" name="Group 54"/>
          <p:cNvGrpSpPr/>
          <p:nvPr/>
        </p:nvGrpSpPr>
        <p:grpSpPr>
          <a:xfrm>
            <a:off x="7924800" y="3276600"/>
            <a:ext cx="1046163" cy="1524000"/>
            <a:chOff x="4992" y="2064"/>
            <a:chExt cx="659" cy="960"/>
          </a:xfrm>
        </p:grpSpPr>
        <p:sp>
          <p:nvSpPr>
            <p:cNvPr id="37946" name="Line 55"/>
            <p:cNvSpPr/>
            <p:nvPr/>
          </p:nvSpPr>
          <p:spPr>
            <a:xfrm>
              <a:off x="4992" y="2751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7" name="Line 56"/>
            <p:cNvSpPr/>
            <p:nvPr/>
          </p:nvSpPr>
          <p:spPr>
            <a:xfrm>
              <a:off x="4992" y="2751"/>
              <a:ext cx="5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8" name="Line 57"/>
            <p:cNvSpPr/>
            <p:nvPr/>
          </p:nvSpPr>
          <p:spPr>
            <a:xfrm>
              <a:off x="4992" y="254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49" name="Line 58"/>
            <p:cNvSpPr/>
            <p:nvPr/>
          </p:nvSpPr>
          <p:spPr>
            <a:xfrm>
              <a:off x="4992" y="2064"/>
              <a:ext cx="65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59"/>
          <p:cNvGrpSpPr/>
          <p:nvPr/>
        </p:nvGrpSpPr>
        <p:grpSpPr>
          <a:xfrm>
            <a:off x="1143000" y="3278188"/>
            <a:ext cx="711200" cy="2286000"/>
            <a:chOff x="720" y="2065"/>
            <a:chExt cx="448" cy="1440"/>
          </a:xfrm>
        </p:grpSpPr>
        <p:grpSp>
          <p:nvGrpSpPr>
            <p:cNvPr id="37941" name="Group 60"/>
            <p:cNvGrpSpPr/>
            <p:nvPr/>
          </p:nvGrpSpPr>
          <p:grpSpPr>
            <a:xfrm>
              <a:off x="793" y="2065"/>
              <a:ext cx="375" cy="958"/>
              <a:chOff x="793" y="2065"/>
              <a:chExt cx="375" cy="958"/>
            </a:xfrm>
          </p:grpSpPr>
          <p:sp>
            <p:nvSpPr>
              <p:cNvPr id="37943" name="Line 61"/>
              <p:cNvSpPr/>
              <p:nvPr/>
            </p:nvSpPr>
            <p:spPr>
              <a:xfrm flipH="1">
                <a:off x="805" y="3023"/>
                <a:ext cx="36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44" name="Line 62"/>
              <p:cNvSpPr/>
              <p:nvPr/>
            </p:nvSpPr>
            <p:spPr>
              <a:xfrm flipH="1" flipV="1">
                <a:off x="816" y="2544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45" name="Line 63"/>
              <p:cNvSpPr/>
              <p:nvPr/>
            </p:nvSpPr>
            <p:spPr>
              <a:xfrm flipH="1" flipV="1">
                <a:off x="793" y="2065"/>
                <a:ext cx="359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42" name="Rectangle 64"/>
            <p:cNvSpPr/>
            <p:nvPr/>
          </p:nvSpPr>
          <p:spPr>
            <a:xfrm>
              <a:off x="720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000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grpSp>
        <p:nvGrpSpPr>
          <p:cNvPr id="9" name="Group 65"/>
          <p:cNvGrpSpPr/>
          <p:nvPr/>
        </p:nvGrpSpPr>
        <p:grpSpPr>
          <a:xfrm>
            <a:off x="1828800" y="3279775"/>
            <a:ext cx="1009650" cy="2284413"/>
            <a:chOff x="1152" y="2066"/>
            <a:chExt cx="636" cy="1439"/>
          </a:xfrm>
        </p:grpSpPr>
        <p:grpSp>
          <p:nvGrpSpPr>
            <p:cNvPr id="37935" name="Group 66"/>
            <p:cNvGrpSpPr/>
            <p:nvPr/>
          </p:nvGrpSpPr>
          <p:grpSpPr>
            <a:xfrm>
              <a:off x="1152" y="2066"/>
              <a:ext cx="636" cy="958"/>
              <a:chOff x="1152" y="2066"/>
              <a:chExt cx="636" cy="958"/>
            </a:xfrm>
          </p:grpSpPr>
          <p:sp>
            <p:nvSpPr>
              <p:cNvPr id="37937" name="Line 67"/>
              <p:cNvSpPr/>
              <p:nvPr/>
            </p:nvSpPr>
            <p:spPr>
              <a:xfrm flipV="1">
                <a:off x="1152" y="2726"/>
                <a:ext cx="636" cy="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8" name="Line 68"/>
              <p:cNvSpPr/>
              <p:nvPr/>
            </p:nvSpPr>
            <p:spPr>
              <a:xfrm>
                <a:off x="1152" y="2726"/>
                <a:ext cx="4" cy="29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9" name="Line 69"/>
              <p:cNvSpPr/>
              <p:nvPr/>
            </p:nvSpPr>
            <p:spPr>
              <a:xfrm flipH="1" flipV="1">
                <a:off x="1152" y="2544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40" name="Line 70"/>
              <p:cNvSpPr/>
              <p:nvPr/>
            </p:nvSpPr>
            <p:spPr>
              <a:xfrm flipH="1" flipV="1">
                <a:off x="1152" y="2066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36" name="Rectangle 71"/>
            <p:cNvSpPr/>
            <p:nvPr/>
          </p:nvSpPr>
          <p:spPr>
            <a:xfrm>
              <a:off x="1293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grpSp>
        <p:nvGrpSpPr>
          <p:cNvPr id="11" name="Group 72"/>
          <p:cNvGrpSpPr/>
          <p:nvPr/>
        </p:nvGrpSpPr>
        <p:grpSpPr>
          <a:xfrm>
            <a:off x="2819400" y="3279775"/>
            <a:ext cx="1009650" cy="2284413"/>
            <a:chOff x="1776" y="2066"/>
            <a:chExt cx="636" cy="1439"/>
          </a:xfrm>
        </p:grpSpPr>
        <p:grpSp>
          <p:nvGrpSpPr>
            <p:cNvPr id="37929" name="Group 73"/>
            <p:cNvGrpSpPr/>
            <p:nvPr/>
          </p:nvGrpSpPr>
          <p:grpSpPr>
            <a:xfrm>
              <a:off x="1776" y="2066"/>
              <a:ext cx="636" cy="660"/>
              <a:chOff x="1776" y="2066"/>
              <a:chExt cx="636" cy="660"/>
            </a:xfrm>
          </p:grpSpPr>
          <p:sp>
            <p:nvSpPr>
              <p:cNvPr id="37931" name="Line 74"/>
              <p:cNvSpPr/>
              <p:nvPr/>
            </p:nvSpPr>
            <p:spPr>
              <a:xfrm>
                <a:off x="1776" y="2256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2" name="Line 75"/>
              <p:cNvSpPr/>
              <p:nvPr/>
            </p:nvSpPr>
            <p:spPr>
              <a:xfrm flipH="1">
                <a:off x="1776" y="2256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3" name="Line 76"/>
              <p:cNvSpPr/>
              <p:nvPr/>
            </p:nvSpPr>
            <p:spPr>
              <a:xfrm>
                <a:off x="1788" y="2726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4" name="Line 77"/>
              <p:cNvSpPr/>
              <p:nvPr/>
            </p:nvSpPr>
            <p:spPr>
              <a:xfrm flipH="1" flipV="1">
                <a:off x="1776" y="2066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30" name="Rectangle 78"/>
            <p:cNvSpPr/>
            <p:nvPr/>
          </p:nvSpPr>
          <p:spPr>
            <a:xfrm>
              <a:off x="1872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grpSp>
        <p:nvGrpSpPr>
          <p:cNvPr id="13" name="Group 79"/>
          <p:cNvGrpSpPr/>
          <p:nvPr/>
        </p:nvGrpSpPr>
        <p:grpSpPr>
          <a:xfrm>
            <a:off x="3810000" y="2822575"/>
            <a:ext cx="1085850" cy="2741613"/>
            <a:chOff x="2400" y="1778"/>
            <a:chExt cx="684" cy="1727"/>
          </a:xfrm>
        </p:grpSpPr>
        <p:grpSp>
          <p:nvGrpSpPr>
            <p:cNvPr id="37923" name="Group 80"/>
            <p:cNvGrpSpPr/>
            <p:nvPr/>
          </p:nvGrpSpPr>
          <p:grpSpPr>
            <a:xfrm>
              <a:off x="2400" y="1778"/>
              <a:ext cx="684" cy="948"/>
              <a:chOff x="2400" y="1778"/>
              <a:chExt cx="684" cy="948"/>
            </a:xfrm>
          </p:grpSpPr>
          <p:sp>
            <p:nvSpPr>
              <p:cNvPr id="37925" name="Line 81"/>
              <p:cNvSpPr/>
              <p:nvPr/>
            </p:nvSpPr>
            <p:spPr>
              <a:xfrm>
                <a:off x="2400" y="1778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6" name="Line 82"/>
              <p:cNvSpPr/>
              <p:nvPr/>
            </p:nvSpPr>
            <p:spPr>
              <a:xfrm>
                <a:off x="2400" y="1792"/>
                <a:ext cx="0" cy="27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7" name="Line 83"/>
              <p:cNvSpPr/>
              <p:nvPr/>
            </p:nvSpPr>
            <p:spPr>
              <a:xfrm>
                <a:off x="2412" y="2726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8" name="Line 84"/>
              <p:cNvSpPr/>
              <p:nvPr/>
            </p:nvSpPr>
            <p:spPr>
              <a:xfrm>
                <a:off x="2400" y="2256"/>
                <a:ext cx="6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24" name="Rectangle 85"/>
            <p:cNvSpPr/>
            <p:nvPr/>
          </p:nvSpPr>
          <p:spPr>
            <a:xfrm>
              <a:off x="2544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111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grpSp>
        <p:nvGrpSpPr>
          <p:cNvPr id="15" name="Group 86"/>
          <p:cNvGrpSpPr/>
          <p:nvPr/>
        </p:nvGrpSpPr>
        <p:grpSpPr>
          <a:xfrm>
            <a:off x="4876800" y="2822575"/>
            <a:ext cx="990600" cy="2741613"/>
            <a:chOff x="3072" y="1778"/>
            <a:chExt cx="624" cy="1727"/>
          </a:xfrm>
        </p:grpSpPr>
        <p:grpSp>
          <p:nvGrpSpPr>
            <p:cNvPr id="37917" name="Group 87"/>
            <p:cNvGrpSpPr/>
            <p:nvPr/>
          </p:nvGrpSpPr>
          <p:grpSpPr>
            <a:xfrm>
              <a:off x="3072" y="1778"/>
              <a:ext cx="624" cy="1246"/>
              <a:chOff x="3072" y="1778"/>
              <a:chExt cx="624" cy="1246"/>
            </a:xfrm>
          </p:grpSpPr>
          <p:sp>
            <p:nvSpPr>
              <p:cNvPr id="37919" name="Line 88"/>
              <p:cNvSpPr/>
              <p:nvPr/>
            </p:nvSpPr>
            <p:spPr>
              <a:xfrm>
                <a:off x="3074" y="3023"/>
                <a:ext cx="622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0" name="Line 89"/>
              <p:cNvSpPr/>
              <p:nvPr/>
            </p:nvSpPr>
            <p:spPr>
              <a:xfrm>
                <a:off x="3073" y="2750"/>
                <a:ext cx="0" cy="27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1" name="Line 90"/>
              <p:cNvSpPr/>
              <p:nvPr/>
            </p:nvSpPr>
            <p:spPr>
              <a:xfrm>
                <a:off x="3072" y="1778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2" name="Line 91"/>
              <p:cNvSpPr/>
              <p:nvPr/>
            </p:nvSpPr>
            <p:spPr>
              <a:xfrm>
                <a:off x="3072" y="2256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18" name="Rectangle 92"/>
            <p:cNvSpPr/>
            <p:nvPr/>
          </p:nvSpPr>
          <p:spPr>
            <a:xfrm>
              <a:off x="3168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grpSp>
        <p:nvGrpSpPr>
          <p:cNvPr id="17" name="Group 93"/>
          <p:cNvGrpSpPr/>
          <p:nvPr/>
        </p:nvGrpSpPr>
        <p:grpSpPr>
          <a:xfrm>
            <a:off x="5867400" y="2819400"/>
            <a:ext cx="990600" cy="2744788"/>
            <a:chOff x="3696" y="1776"/>
            <a:chExt cx="624" cy="1729"/>
          </a:xfrm>
        </p:grpSpPr>
        <p:grpSp>
          <p:nvGrpSpPr>
            <p:cNvPr id="37911" name="Group 94"/>
            <p:cNvGrpSpPr/>
            <p:nvPr/>
          </p:nvGrpSpPr>
          <p:grpSpPr>
            <a:xfrm>
              <a:off x="3696" y="1776"/>
              <a:ext cx="624" cy="1247"/>
              <a:chOff x="3696" y="1776"/>
              <a:chExt cx="624" cy="1247"/>
            </a:xfrm>
          </p:grpSpPr>
          <p:sp>
            <p:nvSpPr>
              <p:cNvPr id="37913" name="Line 95"/>
              <p:cNvSpPr/>
              <p:nvPr/>
            </p:nvSpPr>
            <p:spPr>
              <a:xfrm>
                <a:off x="3696" y="2544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14" name="Line 96"/>
              <p:cNvSpPr/>
              <p:nvPr/>
            </p:nvSpPr>
            <p:spPr>
              <a:xfrm flipH="1">
                <a:off x="3696" y="2248"/>
                <a:ext cx="1" cy="2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15" name="Line 97"/>
              <p:cNvSpPr/>
              <p:nvPr/>
            </p:nvSpPr>
            <p:spPr>
              <a:xfrm>
                <a:off x="3696" y="1776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16" name="Line 98"/>
              <p:cNvSpPr/>
              <p:nvPr/>
            </p:nvSpPr>
            <p:spPr>
              <a:xfrm>
                <a:off x="3696" y="3022"/>
                <a:ext cx="622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12" name="Rectangle 99"/>
            <p:cNvSpPr/>
            <p:nvPr/>
          </p:nvSpPr>
          <p:spPr>
            <a:xfrm>
              <a:off x="3792" y="3217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0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50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50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50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50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0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7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795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分析是否完成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79588" name="Group 4"/>
          <p:cNvGraphicFramePr>
            <a:graphicFrameLocks noGrp="1"/>
          </p:cNvGraphicFramePr>
          <p:nvPr/>
        </p:nvGraphicFramePr>
        <p:xfrm>
          <a:off x="3886200" y="1752600"/>
          <a:ext cx="4953000" cy="3108325"/>
        </p:xfrm>
        <a:graphic>
          <a:graphicData uri="http://schemas.openxmlformats.org/drawingml/2006/table">
            <a:tbl>
              <a:tblPr/>
              <a:tblGrid>
                <a:gridCol w="785813"/>
                <a:gridCol w="781050"/>
                <a:gridCol w="642937"/>
                <a:gridCol w="981075"/>
                <a:gridCol w="881063"/>
                <a:gridCol w="881062"/>
              </a:tblGrid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67" name="Rectangle 54"/>
          <p:cNvSpPr/>
          <p:nvPr/>
        </p:nvSpPr>
        <p:spPr>
          <a:xfrm>
            <a:off x="6019800" y="1143000"/>
            <a:ext cx="1103313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dirty="0">
                <a:latin typeface="Times New Roman" panose="02020603050405020304" charset="0"/>
              </a:rPr>
              <a:t>状态表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grpSp>
        <p:nvGrpSpPr>
          <p:cNvPr id="38968" name="Group 55"/>
          <p:cNvGrpSpPr/>
          <p:nvPr/>
        </p:nvGrpSpPr>
        <p:grpSpPr>
          <a:xfrm>
            <a:off x="685800" y="2743200"/>
            <a:ext cx="2773363" cy="1187450"/>
            <a:chOff x="1344" y="2976"/>
            <a:chExt cx="1747" cy="748"/>
          </a:xfrm>
        </p:grpSpPr>
        <p:sp>
          <p:nvSpPr>
            <p:cNvPr id="39000" name="Text Box 56"/>
            <p:cNvSpPr txBox="1"/>
            <p:nvPr/>
          </p:nvSpPr>
          <p:spPr>
            <a:xfrm>
              <a:off x="1344" y="2976"/>
              <a:ext cx="1747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Q2(n+1)=D</a:t>
              </a:r>
              <a:r>
                <a:rPr lang="en-US" altLang="zh-CN" sz="1800" dirty="0">
                  <a:latin typeface="Georgia" panose="02040502050405020303" pitchFamily="18" charset="0"/>
                </a:rPr>
                <a:t>2</a:t>
              </a:r>
              <a:r>
                <a:rPr lang="zh-CN" altLang="en-US" sz="1800" dirty="0">
                  <a:latin typeface="Georgia" panose="02040502050405020303" pitchFamily="18" charset="0"/>
                </a:rPr>
                <a:t>＝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1</a:t>
              </a:r>
              <a:endParaRPr lang="en-US" altLang="zh-CN" sz="1800" dirty="0">
                <a:latin typeface="Georgia" panose="02040502050405020303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Q1(n+1) D</a:t>
              </a:r>
              <a:r>
                <a:rPr lang="en-US" altLang="zh-CN" sz="1800" dirty="0">
                  <a:latin typeface="Georgia" panose="02040502050405020303" pitchFamily="18" charset="0"/>
                </a:rPr>
                <a:t>1</a:t>
              </a:r>
              <a:r>
                <a:rPr lang="zh-CN" altLang="en-US" sz="1800" dirty="0">
                  <a:latin typeface="Georgia" panose="02040502050405020303" pitchFamily="18" charset="0"/>
                </a:rPr>
                <a:t>＝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0</a:t>
              </a:r>
              <a:endParaRPr lang="en-US" altLang="zh-CN" sz="1800" dirty="0">
                <a:latin typeface="Georgia" panose="02040502050405020303" pitchFamily="18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Q0(n+1) D</a:t>
              </a:r>
              <a:r>
                <a:rPr lang="en-US" altLang="zh-CN" sz="1800" dirty="0">
                  <a:latin typeface="Georgia" panose="02040502050405020303" pitchFamily="18" charset="0"/>
                </a:rPr>
                <a:t>0</a:t>
              </a:r>
              <a:r>
                <a:rPr lang="zh-CN" altLang="en-US" sz="1800" dirty="0">
                  <a:latin typeface="Georgia" panose="02040502050405020303" pitchFamily="18" charset="0"/>
                </a:rPr>
                <a:t>＝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1800" dirty="0">
                  <a:latin typeface="Georgia" panose="02040502050405020303" pitchFamily="18" charset="0"/>
                </a:rPr>
                <a:t>2</a:t>
              </a:r>
              <a:endParaRPr lang="en-US" altLang="zh-CN" sz="1800" dirty="0">
                <a:latin typeface="Georgia" panose="02040502050405020303" pitchFamily="18" charset="0"/>
              </a:endParaRPr>
            </a:p>
          </p:txBody>
        </p:sp>
        <p:sp>
          <p:nvSpPr>
            <p:cNvPr id="39001" name="Line 57"/>
            <p:cNvSpPr/>
            <p:nvPr/>
          </p:nvSpPr>
          <p:spPr>
            <a:xfrm>
              <a:off x="2496" y="350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79642" name="Rectangle 58"/>
          <p:cNvSpPr/>
          <p:nvPr/>
        </p:nvSpPr>
        <p:spPr>
          <a:xfrm>
            <a:off x="381000" y="4419600"/>
            <a:ext cx="3554413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dirty="0">
                <a:latin typeface="Times New Roman" panose="02020603050405020304" charset="0"/>
              </a:rPr>
              <a:t>还有两个状态没有分析！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graphicFrame>
        <p:nvGraphicFramePr>
          <p:cNvPr id="579695" name="Group 111"/>
          <p:cNvGraphicFramePr>
            <a:graphicFrameLocks noGrp="1"/>
          </p:cNvGraphicFramePr>
          <p:nvPr/>
        </p:nvGraphicFramePr>
        <p:xfrm>
          <a:off x="3886200" y="5029200"/>
          <a:ext cx="4953000" cy="1387475"/>
        </p:xfrm>
        <a:graphic>
          <a:graphicData uri="http://schemas.openxmlformats.org/drawingml/2006/table">
            <a:tbl>
              <a:tblPr/>
              <a:tblGrid>
                <a:gridCol w="785813"/>
                <a:gridCol w="781050"/>
                <a:gridCol w="642937"/>
                <a:gridCol w="914400"/>
                <a:gridCol w="947738"/>
                <a:gridCol w="881062"/>
              </a:tblGrid>
              <a:tr h="5336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0n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0(n+1)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9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91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9696" name="Rectangle 112"/>
          <p:cNvSpPr/>
          <p:nvPr/>
        </p:nvSpPr>
        <p:spPr>
          <a:xfrm>
            <a:off x="685800" y="5334000"/>
            <a:ext cx="1008063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101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79697" name="Rectangle 113"/>
          <p:cNvSpPr/>
          <p:nvPr/>
        </p:nvSpPr>
        <p:spPr>
          <a:xfrm>
            <a:off x="2559050" y="5334000"/>
            <a:ext cx="1008063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010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579698" name="Line 114"/>
          <p:cNvSpPr/>
          <p:nvPr/>
        </p:nvSpPr>
        <p:spPr>
          <a:xfrm>
            <a:off x="1676400" y="5410200"/>
            <a:ext cx="8651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79699" name="Line 115"/>
          <p:cNvSpPr/>
          <p:nvPr/>
        </p:nvSpPr>
        <p:spPr>
          <a:xfrm flipH="1">
            <a:off x="1752600" y="5638800"/>
            <a:ext cx="7223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9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7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7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7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7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57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642" grpId="0"/>
      <p:bldP spid="579696" grpId="0" animBg="1"/>
      <p:bldP spid="57969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16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假设当前状态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101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143"/>
          <p:cNvGrpSpPr/>
          <p:nvPr/>
        </p:nvGrpSpPr>
        <p:grpSpPr>
          <a:xfrm>
            <a:off x="1828800" y="2438400"/>
            <a:ext cx="6096000" cy="3005138"/>
            <a:chOff x="1152" y="1536"/>
            <a:chExt cx="3840" cy="1893"/>
          </a:xfrm>
        </p:grpSpPr>
        <p:sp>
          <p:nvSpPr>
            <p:cNvPr id="40035" name="Line 4"/>
            <p:cNvSpPr/>
            <p:nvPr/>
          </p:nvSpPr>
          <p:spPr>
            <a:xfrm>
              <a:off x="4992" y="1536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36" name="Line 5"/>
            <p:cNvSpPr/>
            <p:nvPr/>
          </p:nvSpPr>
          <p:spPr>
            <a:xfrm>
              <a:off x="4320" y="1536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37" name="Line 6"/>
            <p:cNvSpPr/>
            <p:nvPr/>
          </p:nvSpPr>
          <p:spPr>
            <a:xfrm>
              <a:off x="3696" y="1536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38" name="Line 7"/>
            <p:cNvSpPr/>
            <p:nvPr/>
          </p:nvSpPr>
          <p:spPr>
            <a:xfrm>
              <a:off x="3072" y="1536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39" name="Line 8"/>
            <p:cNvSpPr/>
            <p:nvPr/>
          </p:nvSpPr>
          <p:spPr>
            <a:xfrm>
              <a:off x="2400" y="1536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40" name="Line 9"/>
            <p:cNvSpPr/>
            <p:nvPr/>
          </p:nvSpPr>
          <p:spPr>
            <a:xfrm>
              <a:off x="1776" y="1536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0041" name="Line 10"/>
            <p:cNvSpPr/>
            <p:nvPr/>
          </p:nvSpPr>
          <p:spPr>
            <a:xfrm>
              <a:off x="1152" y="1541"/>
              <a:ext cx="0" cy="18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3" name="Group 11"/>
          <p:cNvGrpSpPr/>
          <p:nvPr/>
        </p:nvGrpSpPr>
        <p:grpSpPr>
          <a:xfrm>
            <a:off x="860425" y="2438400"/>
            <a:ext cx="8054975" cy="525463"/>
            <a:chOff x="542" y="1253"/>
            <a:chExt cx="5074" cy="331"/>
          </a:xfrm>
        </p:grpSpPr>
        <p:sp>
          <p:nvSpPr>
            <p:cNvPr id="40005" name="Line 12"/>
            <p:cNvSpPr/>
            <p:nvPr/>
          </p:nvSpPr>
          <p:spPr>
            <a:xfrm>
              <a:off x="1171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6" name="Line 13"/>
            <p:cNvSpPr/>
            <p:nvPr/>
          </p:nvSpPr>
          <p:spPr>
            <a:xfrm>
              <a:off x="1171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7" name="Line 14"/>
            <p:cNvSpPr/>
            <p:nvPr/>
          </p:nvSpPr>
          <p:spPr>
            <a:xfrm flipV="1">
              <a:off x="1488" y="15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8" name="Line 15"/>
            <p:cNvSpPr/>
            <p:nvPr/>
          </p:nvSpPr>
          <p:spPr>
            <a:xfrm>
              <a:off x="1488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9" name="Line 16"/>
            <p:cNvSpPr/>
            <p:nvPr/>
          </p:nvSpPr>
          <p:spPr>
            <a:xfrm>
              <a:off x="1776" y="1296"/>
              <a:ext cx="347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0" name="Line 17"/>
            <p:cNvSpPr/>
            <p:nvPr/>
          </p:nvSpPr>
          <p:spPr>
            <a:xfrm>
              <a:off x="1776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1" name="Line 18"/>
            <p:cNvSpPr/>
            <p:nvPr/>
          </p:nvSpPr>
          <p:spPr>
            <a:xfrm>
              <a:off x="2112" y="15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2" name="Line 19"/>
            <p:cNvSpPr/>
            <p:nvPr/>
          </p:nvSpPr>
          <p:spPr>
            <a:xfrm flipH="1">
              <a:off x="2112" y="1298"/>
              <a:ext cx="11" cy="2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3" name="Line 20"/>
            <p:cNvSpPr/>
            <p:nvPr/>
          </p:nvSpPr>
          <p:spPr>
            <a:xfrm>
              <a:off x="2400" y="1296"/>
              <a:ext cx="359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4" name="Line 21"/>
            <p:cNvSpPr/>
            <p:nvPr/>
          </p:nvSpPr>
          <p:spPr>
            <a:xfrm>
              <a:off x="2400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5" name="Line 22"/>
            <p:cNvSpPr/>
            <p:nvPr/>
          </p:nvSpPr>
          <p:spPr>
            <a:xfrm>
              <a:off x="2759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6" name="Line 23"/>
            <p:cNvSpPr/>
            <p:nvPr/>
          </p:nvSpPr>
          <p:spPr>
            <a:xfrm>
              <a:off x="2759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7" name="Line 24"/>
            <p:cNvSpPr/>
            <p:nvPr/>
          </p:nvSpPr>
          <p:spPr>
            <a:xfrm>
              <a:off x="3077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8" name="Line 25"/>
            <p:cNvSpPr/>
            <p:nvPr/>
          </p:nvSpPr>
          <p:spPr>
            <a:xfrm>
              <a:off x="3077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19" name="Line 26"/>
            <p:cNvSpPr/>
            <p:nvPr/>
          </p:nvSpPr>
          <p:spPr>
            <a:xfrm>
              <a:off x="3394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0" name="Line 27"/>
            <p:cNvSpPr/>
            <p:nvPr/>
          </p:nvSpPr>
          <p:spPr>
            <a:xfrm>
              <a:off x="3394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1" name="Line 28"/>
            <p:cNvSpPr/>
            <p:nvPr/>
          </p:nvSpPr>
          <p:spPr>
            <a:xfrm>
              <a:off x="3712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2" name="Line 29"/>
            <p:cNvSpPr/>
            <p:nvPr/>
          </p:nvSpPr>
          <p:spPr>
            <a:xfrm>
              <a:off x="3696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3" name="Line 30"/>
            <p:cNvSpPr/>
            <p:nvPr/>
          </p:nvSpPr>
          <p:spPr>
            <a:xfrm>
              <a:off x="4032" y="15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4" name="Line 31"/>
            <p:cNvSpPr/>
            <p:nvPr/>
          </p:nvSpPr>
          <p:spPr>
            <a:xfrm>
              <a:off x="4029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5" name="Line 32"/>
            <p:cNvSpPr/>
            <p:nvPr/>
          </p:nvSpPr>
          <p:spPr>
            <a:xfrm>
              <a:off x="4320" y="1296"/>
              <a:ext cx="344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6" name="Line 33"/>
            <p:cNvSpPr/>
            <p:nvPr/>
          </p:nvSpPr>
          <p:spPr>
            <a:xfrm>
              <a:off x="4320" y="129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7" name="Line 34"/>
            <p:cNvSpPr/>
            <p:nvPr/>
          </p:nvSpPr>
          <p:spPr>
            <a:xfrm>
              <a:off x="4664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8" name="Line 35"/>
            <p:cNvSpPr/>
            <p:nvPr/>
          </p:nvSpPr>
          <p:spPr>
            <a:xfrm>
              <a:off x="4664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29" name="Line 36"/>
            <p:cNvSpPr/>
            <p:nvPr/>
          </p:nvSpPr>
          <p:spPr>
            <a:xfrm>
              <a:off x="4982" y="1298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30" name="Line 37"/>
            <p:cNvSpPr/>
            <p:nvPr/>
          </p:nvSpPr>
          <p:spPr>
            <a:xfrm>
              <a:off x="4982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31" name="Line 38"/>
            <p:cNvSpPr/>
            <p:nvPr/>
          </p:nvSpPr>
          <p:spPr>
            <a:xfrm>
              <a:off x="5299" y="1571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32" name="Line 39"/>
            <p:cNvSpPr/>
            <p:nvPr/>
          </p:nvSpPr>
          <p:spPr>
            <a:xfrm>
              <a:off x="5299" y="1298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33" name="Line 40"/>
            <p:cNvSpPr/>
            <p:nvPr/>
          </p:nvSpPr>
          <p:spPr>
            <a:xfrm flipH="1">
              <a:off x="807" y="1571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34" name="Text Box 41"/>
            <p:cNvSpPr txBox="1"/>
            <p:nvPr/>
          </p:nvSpPr>
          <p:spPr>
            <a:xfrm>
              <a:off x="542" y="1253"/>
              <a:ext cx="35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CP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4" name="Group 42"/>
          <p:cNvGrpSpPr/>
          <p:nvPr/>
        </p:nvGrpSpPr>
        <p:grpSpPr>
          <a:xfrm>
            <a:off x="685800" y="3276600"/>
            <a:ext cx="555625" cy="2133600"/>
            <a:chOff x="432" y="1776"/>
            <a:chExt cx="350" cy="1344"/>
          </a:xfrm>
        </p:grpSpPr>
        <p:sp>
          <p:nvSpPr>
            <p:cNvPr id="40002" name="Text Box 43"/>
            <p:cNvSpPr txBox="1"/>
            <p:nvPr/>
          </p:nvSpPr>
          <p:spPr>
            <a:xfrm>
              <a:off x="444" y="2832"/>
              <a:ext cx="33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0003" name="Text Box 44"/>
            <p:cNvSpPr txBox="1"/>
            <p:nvPr/>
          </p:nvSpPr>
          <p:spPr>
            <a:xfrm>
              <a:off x="432" y="2304"/>
              <a:ext cx="31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0004" name="Text Box 45"/>
            <p:cNvSpPr txBox="1"/>
            <p:nvPr/>
          </p:nvSpPr>
          <p:spPr>
            <a:xfrm>
              <a:off x="432" y="1776"/>
              <a:ext cx="33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5" name="Group 142"/>
          <p:cNvGrpSpPr/>
          <p:nvPr/>
        </p:nvGrpSpPr>
        <p:grpSpPr>
          <a:xfrm>
            <a:off x="1143000" y="3276600"/>
            <a:ext cx="685800" cy="2743200"/>
            <a:chOff x="720" y="2064"/>
            <a:chExt cx="432" cy="1728"/>
          </a:xfrm>
        </p:grpSpPr>
        <p:sp>
          <p:nvSpPr>
            <p:cNvPr id="39998" name="Line 60"/>
            <p:cNvSpPr/>
            <p:nvPr/>
          </p:nvSpPr>
          <p:spPr>
            <a:xfrm flipH="1">
              <a:off x="789" y="3024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9" name="Line 61"/>
            <p:cNvSpPr/>
            <p:nvPr/>
          </p:nvSpPr>
          <p:spPr>
            <a:xfrm flipH="1" flipV="1">
              <a:off x="816" y="283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0" name="Line 62"/>
            <p:cNvSpPr/>
            <p:nvPr/>
          </p:nvSpPr>
          <p:spPr>
            <a:xfrm flipH="1" flipV="1">
              <a:off x="793" y="2064"/>
              <a:ext cx="359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001" name="Rectangle 63"/>
            <p:cNvSpPr/>
            <p:nvPr/>
          </p:nvSpPr>
          <p:spPr>
            <a:xfrm>
              <a:off x="720" y="3504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</p:grpSp>
      <p:grpSp>
        <p:nvGrpSpPr>
          <p:cNvPr id="39945" name="Group 103"/>
          <p:cNvGrpSpPr/>
          <p:nvPr/>
        </p:nvGrpSpPr>
        <p:grpSpPr>
          <a:xfrm>
            <a:off x="5181600" y="1600200"/>
            <a:ext cx="2881313" cy="431800"/>
            <a:chOff x="3044" y="1296"/>
            <a:chExt cx="1815" cy="272"/>
          </a:xfrm>
        </p:grpSpPr>
        <p:sp>
          <p:nvSpPr>
            <p:cNvPr id="39994" name="Rectangle 99"/>
            <p:cNvSpPr/>
            <p:nvPr/>
          </p:nvSpPr>
          <p:spPr>
            <a:xfrm>
              <a:off x="3044" y="1296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95" name="Rectangle 100"/>
            <p:cNvSpPr/>
            <p:nvPr/>
          </p:nvSpPr>
          <p:spPr>
            <a:xfrm>
              <a:off x="4224" y="1296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96" name="Line 101"/>
            <p:cNvSpPr/>
            <p:nvPr/>
          </p:nvSpPr>
          <p:spPr>
            <a:xfrm>
              <a:off x="3668" y="1344"/>
              <a:ext cx="5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97" name="Line 102"/>
            <p:cNvSpPr/>
            <p:nvPr/>
          </p:nvSpPr>
          <p:spPr>
            <a:xfrm flipH="1">
              <a:off x="3716" y="1488"/>
              <a:ext cx="4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108"/>
          <p:cNvGrpSpPr/>
          <p:nvPr/>
        </p:nvGrpSpPr>
        <p:grpSpPr>
          <a:xfrm>
            <a:off x="1828800" y="3276600"/>
            <a:ext cx="1009650" cy="2743200"/>
            <a:chOff x="1152" y="2064"/>
            <a:chExt cx="636" cy="1728"/>
          </a:xfrm>
        </p:grpSpPr>
        <p:sp>
          <p:nvSpPr>
            <p:cNvPr id="39987" name="Line 66"/>
            <p:cNvSpPr/>
            <p:nvPr/>
          </p:nvSpPr>
          <p:spPr>
            <a:xfrm flipV="1">
              <a:off x="1152" y="3312"/>
              <a:ext cx="636" cy="1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8" name="Line 67"/>
            <p:cNvSpPr/>
            <p:nvPr/>
          </p:nvSpPr>
          <p:spPr>
            <a:xfrm>
              <a:off x="1152" y="3012"/>
              <a:ext cx="4" cy="2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9" name="Line 68"/>
            <p:cNvSpPr/>
            <p:nvPr/>
          </p:nvSpPr>
          <p:spPr>
            <a:xfrm flipH="1" flipV="1">
              <a:off x="1152" y="254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0" name="Line 69"/>
            <p:cNvSpPr/>
            <p:nvPr/>
          </p:nvSpPr>
          <p:spPr>
            <a:xfrm flipH="1" flipV="1">
              <a:off x="1152" y="2352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1" name="Rectangle 70"/>
            <p:cNvSpPr/>
            <p:nvPr/>
          </p:nvSpPr>
          <p:spPr>
            <a:xfrm>
              <a:off x="1293" y="3504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92" name="Line 104"/>
            <p:cNvSpPr/>
            <p:nvPr/>
          </p:nvSpPr>
          <p:spPr>
            <a:xfrm>
              <a:off x="1152" y="2064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93" name="Line 105"/>
            <p:cNvSpPr/>
            <p:nvPr/>
          </p:nvSpPr>
          <p:spPr>
            <a:xfrm flipH="1">
              <a:off x="1152" y="25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109"/>
          <p:cNvGrpSpPr/>
          <p:nvPr/>
        </p:nvGrpSpPr>
        <p:grpSpPr>
          <a:xfrm>
            <a:off x="2819400" y="3276600"/>
            <a:ext cx="990600" cy="2743200"/>
            <a:chOff x="1776" y="2064"/>
            <a:chExt cx="624" cy="1728"/>
          </a:xfrm>
        </p:grpSpPr>
        <p:sp>
          <p:nvSpPr>
            <p:cNvPr id="39980" name="Line 73"/>
            <p:cNvSpPr/>
            <p:nvPr/>
          </p:nvSpPr>
          <p:spPr>
            <a:xfrm>
              <a:off x="1776" y="2832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1" name="Line 74"/>
            <p:cNvSpPr/>
            <p:nvPr/>
          </p:nvSpPr>
          <p:spPr>
            <a:xfrm flipH="1">
              <a:off x="1776" y="25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2" name="Line 75"/>
            <p:cNvSpPr/>
            <p:nvPr/>
          </p:nvSpPr>
          <p:spPr>
            <a:xfrm>
              <a:off x="1776" y="302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3" name="Line 76"/>
            <p:cNvSpPr/>
            <p:nvPr/>
          </p:nvSpPr>
          <p:spPr>
            <a:xfrm flipH="1" flipV="1">
              <a:off x="1776" y="206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4" name="Rectangle 77"/>
            <p:cNvSpPr/>
            <p:nvPr/>
          </p:nvSpPr>
          <p:spPr>
            <a:xfrm>
              <a:off x="1872" y="3504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85" name="Line 106"/>
            <p:cNvSpPr/>
            <p:nvPr/>
          </p:nvSpPr>
          <p:spPr>
            <a:xfrm flipH="1">
              <a:off x="1776" y="302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6" name="Line 107"/>
            <p:cNvSpPr/>
            <p:nvPr/>
          </p:nvSpPr>
          <p:spPr>
            <a:xfrm flipH="1">
              <a:off x="1776" y="206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110"/>
          <p:cNvGrpSpPr/>
          <p:nvPr/>
        </p:nvGrpSpPr>
        <p:grpSpPr>
          <a:xfrm>
            <a:off x="3810000" y="3276600"/>
            <a:ext cx="1066800" cy="2743200"/>
            <a:chOff x="1152" y="2064"/>
            <a:chExt cx="636" cy="1728"/>
          </a:xfrm>
        </p:grpSpPr>
        <p:sp>
          <p:nvSpPr>
            <p:cNvPr id="39973" name="Line 111"/>
            <p:cNvSpPr/>
            <p:nvPr/>
          </p:nvSpPr>
          <p:spPr>
            <a:xfrm flipV="1">
              <a:off x="1152" y="3312"/>
              <a:ext cx="636" cy="1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4" name="Line 112"/>
            <p:cNvSpPr/>
            <p:nvPr/>
          </p:nvSpPr>
          <p:spPr>
            <a:xfrm>
              <a:off x="1152" y="3012"/>
              <a:ext cx="4" cy="2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5" name="Line 113"/>
            <p:cNvSpPr/>
            <p:nvPr/>
          </p:nvSpPr>
          <p:spPr>
            <a:xfrm flipH="1" flipV="1">
              <a:off x="1152" y="254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6" name="Line 114"/>
            <p:cNvSpPr/>
            <p:nvPr/>
          </p:nvSpPr>
          <p:spPr>
            <a:xfrm flipH="1" flipV="1">
              <a:off x="1152" y="2352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7" name="Rectangle 115"/>
            <p:cNvSpPr/>
            <p:nvPr/>
          </p:nvSpPr>
          <p:spPr>
            <a:xfrm>
              <a:off x="1293" y="3504"/>
              <a:ext cx="38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78" name="Line 116"/>
            <p:cNvSpPr/>
            <p:nvPr/>
          </p:nvSpPr>
          <p:spPr>
            <a:xfrm>
              <a:off x="1152" y="2064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9" name="Line 117"/>
            <p:cNvSpPr/>
            <p:nvPr/>
          </p:nvSpPr>
          <p:spPr>
            <a:xfrm flipH="1">
              <a:off x="1152" y="25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118"/>
          <p:cNvGrpSpPr/>
          <p:nvPr/>
        </p:nvGrpSpPr>
        <p:grpSpPr>
          <a:xfrm>
            <a:off x="4876800" y="3276600"/>
            <a:ext cx="990600" cy="2743200"/>
            <a:chOff x="1776" y="2064"/>
            <a:chExt cx="624" cy="1728"/>
          </a:xfrm>
        </p:grpSpPr>
        <p:sp>
          <p:nvSpPr>
            <p:cNvPr id="39966" name="Line 119"/>
            <p:cNvSpPr/>
            <p:nvPr/>
          </p:nvSpPr>
          <p:spPr>
            <a:xfrm>
              <a:off x="1776" y="2832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7" name="Line 120"/>
            <p:cNvSpPr/>
            <p:nvPr/>
          </p:nvSpPr>
          <p:spPr>
            <a:xfrm flipH="1">
              <a:off x="1776" y="25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8" name="Line 121"/>
            <p:cNvSpPr/>
            <p:nvPr/>
          </p:nvSpPr>
          <p:spPr>
            <a:xfrm>
              <a:off x="1776" y="302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9" name="Line 122"/>
            <p:cNvSpPr/>
            <p:nvPr/>
          </p:nvSpPr>
          <p:spPr>
            <a:xfrm flipH="1" flipV="1">
              <a:off x="1776" y="206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0" name="Rectangle 123"/>
            <p:cNvSpPr/>
            <p:nvPr/>
          </p:nvSpPr>
          <p:spPr>
            <a:xfrm>
              <a:off x="1872" y="3504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71" name="Line 124"/>
            <p:cNvSpPr/>
            <p:nvPr/>
          </p:nvSpPr>
          <p:spPr>
            <a:xfrm flipH="1">
              <a:off x="1776" y="302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2" name="Line 125"/>
            <p:cNvSpPr/>
            <p:nvPr/>
          </p:nvSpPr>
          <p:spPr>
            <a:xfrm flipH="1">
              <a:off x="1776" y="206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126"/>
          <p:cNvGrpSpPr/>
          <p:nvPr/>
        </p:nvGrpSpPr>
        <p:grpSpPr>
          <a:xfrm>
            <a:off x="5867400" y="3276600"/>
            <a:ext cx="990600" cy="2743200"/>
            <a:chOff x="1152" y="2064"/>
            <a:chExt cx="636" cy="1728"/>
          </a:xfrm>
        </p:grpSpPr>
        <p:sp>
          <p:nvSpPr>
            <p:cNvPr id="39959" name="Line 127"/>
            <p:cNvSpPr/>
            <p:nvPr/>
          </p:nvSpPr>
          <p:spPr>
            <a:xfrm flipV="1">
              <a:off x="1152" y="3312"/>
              <a:ext cx="636" cy="1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0" name="Line 128"/>
            <p:cNvSpPr/>
            <p:nvPr/>
          </p:nvSpPr>
          <p:spPr>
            <a:xfrm>
              <a:off x="1152" y="3012"/>
              <a:ext cx="4" cy="2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1" name="Line 129"/>
            <p:cNvSpPr/>
            <p:nvPr/>
          </p:nvSpPr>
          <p:spPr>
            <a:xfrm flipH="1" flipV="1">
              <a:off x="1152" y="254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2" name="Line 130"/>
            <p:cNvSpPr/>
            <p:nvPr/>
          </p:nvSpPr>
          <p:spPr>
            <a:xfrm flipH="1" flipV="1">
              <a:off x="1152" y="2352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3" name="Rectangle 131"/>
            <p:cNvSpPr/>
            <p:nvPr/>
          </p:nvSpPr>
          <p:spPr>
            <a:xfrm>
              <a:off x="1293" y="3504"/>
              <a:ext cx="411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64" name="Line 132"/>
            <p:cNvSpPr/>
            <p:nvPr/>
          </p:nvSpPr>
          <p:spPr>
            <a:xfrm>
              <a:off x="1152" y="2064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5" name="Line 133"/>
            <p:cNvSpPr/>
            <p:nvPr/>
          </p:nvSpPr>
          <p:spPr>
            <a:xfrm flipH="1">
              <a:off x="1152" y="25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134"/>
          <p:cNvGrpSpPr/>
          <p:nvPr/>
        </p:nvGrpSpPr>
        <p:grpSpPr>
          <a:xfrm>
            <a:off x="6858000" y="3276600"/>
            <a:ext cx="990600" cy="2743200"/>
            <a:chOff x="1776" y="2064"/>
            <a:chExt cx="624" cy="1728"/>
          </a:xfrm>
        </p:grpSpPr>
        <p:sp>
          <p:nvSpPr>
            <p:cNvPr id="39952" name="Line 135"/>
            <p:cNvSpPr/>
            <p:nvPr/>
          </p:nvSpPr>
          <p:spPr>
            <a:xfrm>
              <a:off x="1776" y="2832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3" name="Line 136"/>
            <p:cNvSpPr/>
            <p:nvPr/>
          </p:nvSpPr>
          <p:spPr>
            <a:xfrm flipH="1">
              <a:off x="1776" y="254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4" name="Line 137"/>
            <p:cNvSpPr/>
            <p:nvPr/>
          </p:nvSpPr>
          <p:spPr>
            <a:xfrm>
              <a:off x="1776" y="302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5" name="Line 138"/>
            <p:cNvSpPr/>
            <p:nvPr/>
          </p:nvSpPr>
          <p:spPr>
            <a:xfrm flipH="1" flipV="1">
              <a:off x="1776" y="2064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6" name="Rectangle 139"/>
            <p:cNvSpPr/>
            <p:nvPr/>
          </p:nvSpPr>
          <p:spPr>
            <a:xfrm>
              <a:off x="1872" y="3504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39957" name="Line 140"/>
            <p:cNvSpPr/>
            <p:nvPr/>
          </p:nvSpPr>
          <p:spPr>
            <a:xfrm flipH="1">
              <a:off x="1776" y="302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8" name="Line 141"/>
            <p:cNvSpPr/>
            <p:nvPr/>
          </p:nvSpPr>
          <p:spPr>
            <a:xfrm flipH="1">
              <a:off x="1776" y="206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06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完整的状态图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0965" name="Group 21"/>
          <p:cNvGrpSpPr/>
          <p:nvPr/>
        </p:nvGrpSpPr>
        <p:grpSpPr>
          <a:xfrm>
            <a:off x="3429000" y="2209800"/>
            <a:ext cx="4752975" cy="2336800"/>
            <a:chOff x="2160" y="1392"/>
            <a:chExt cx="2994" cy="1472"/>
          </a:xfrm>
        </p:grpSpPr>
        <p:sp>
          <p:nvSpPr>
            <p:cNvPr id="40968" name="Rectangle 5"/>
            <p:cNvSpPr/>
            <p:nvPr/>
          </p:nvSpPr>
          <p:spPr>
            <a:xfrm>
              <a:off x="2160" y="139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000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69" name="Rectangle 6"/>
            <p:cNvSpPr/>
            <p:nvPr/>
          </p:nvSpPr>
          <p:spPr>
            <a:xfrm>
              <a:off x="3340" y="139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70" name="Rectangle 7"/>
            <p:cNvSpPr/>
            <p:nvPr/>
          </p:nvSpPr>
          <p:spPr>
            <a:xfrm>
              <a:off x="3340" y="198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71" name="Rectangle 8"/>
            <p:cNvSpPr/>
            <p:nvPr/>
          </p:nvSpPr>
          <p:spPr>
            <a:xfrm>
              <a:off x="4519" y="198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111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72" name="Rectangle 9"/>
            <p:cNvSpPr/>
            <p:nvPr/>
          </p:nvSpPr>
          <p:spPr>
            <a:xfrm>
              <a:off x="4519" y="139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73" name="Rectangle 10"/>
            <p:cNvSpPr/>
            <p:nvPr/>
          </p:nvSpPr>
          <p:spPr>
            <a:xfrm>
              <a:off x="2160" y="198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74" name="Line 11"/>
            <p:cNvSpPr/>
            <p:nvPr/>
          </p:nvSpPr>
          <p:spPr>
            <a:xfrm flipV="1">
              <a:off x="2478" y="1664"/>
              <a:ext cx="0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5" name="Line 12"/>
            <p:cNvSpPr/>
            <p:nvPr/>
          </p:nvSpPr>
          <p:spPr>
            <a:xfrm>
              <a:off x="2795" y="1528"/>
              <a:ext cx="5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6" name="Line 13"/>
            <p:cNvSpPr/>
            <p:nvPr/>
          </p:nvSpPr>
          <p:spPr>
            <a:xfrm flipH="1">
              <a:off x="4018" y="2118"/>
              <a:ext cx="4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7" name="Line 14"/>
            <p:cNvSpPr/>
            <p:nvPr/>
          </p:nvSpPr>
          <p:spPr>
            <a:xfrm>
              <a:off x="3975" y="1528"/>
              <a:ext cx="5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8" name="Line 15"/>
            <p:cNvSpPr/>
            <p:nvPr/>
          </p:nvSpPr>
          <p:spPr>
            <a:xfrm>
              <a:off x="4837" y="1664"/>
              <a:ext cx="0" cy="3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9" name="Line 16"/>
            <p:cNvSpPr/>
            <p:nvPr/>
          </p:nvSpPr>
          <p:spPr>
            <a:xfrm flipH="1">
              <a:off x="2839" y="2118"/>
              <a:ext cx="4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0" name="Rectangle 17"/>
            <p:cNvSpPr/>
            <p:nvPr/>
          </p:nvSpPr>
          <p:spPr>
            <a:xfrm>
              <a:off x="2256" y="259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101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81" name="Rectangle 18"/>
            <p:cNvSpPr/>
            <p:nvPr/>
          </p:nvSpPr>
          <p:spPr>
            <a:xfrm>
              <a:off x="3436" y="2592"/>
              <a:ext cx="635" cy="27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010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0982" name="Line 19"/>
            <p:cNvSpPr/>
            <p:nvPr/>
          </p:nvSpPr>
          <p:spPr>
            <a:xfrm>
              <a:off x="2880" y="2640"/>
              <a:ext cx="54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83" name="Line 20"/>
            <p:cNvSpPr/>
            <p:nvPr/>
          </p:nvSpPr>
          <p:spPr>
            <a:xfrm flipH="1">
              <a:off x="2928" y="2784"/>
              <a:ext cx="45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0966" name="Rectangle 22"/>
          <p:cNvSpPr/>
          <p:nvPr/>
        </p:nvSpPr>
        <p:spPr>
          <a:xfrm>
            <a:off x="1219200" y="4800600"/>
            <a:ext cx="7162800" cy="12001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dirty="0">
                <a:latin typeface="Times New Roman" panose="02020603050405020304" charset="0"/>
              </a:rPr>
              <a:t>功能：如果进入前六个状态中的任意一个，则是格雷码计数器。如果进入后两个状态，则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Times New Roman" panose="02020603050405020304" charset="0"/>
              </a:rPr>
              <a:t>0</a:t>
            </a:r>
            <a:r>
              <a:rPr lang="zh-CN" altLang="en-US" sz="2400" dirty="0">
                <a:latin typeface="Times New Roman" panose="02020603050405020304" charset="0"/>
              </a:rPr>
              <a:t>和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Times New Roman" panose="02020603050405020304" charset="0"/>
              </a:rPr>
              <a:t>2</a:t>
            </a:r>
            <a:r>
              <a:rPr lang="zh-CN" altLang="en-US" sz="2400" dirty="0">
                <a:latin typeface="Times New Roman" panose="02020603050405020304" charset="0"/>
              </a:rPr>
              <a:t>是</a:t>
            </a:r>
            <a:r>
              <a:rPr lang="en-US" altLang="zh-CN" sz="2400" dirty="0">
                <a:latin typeface="Times New Roman" panose="02020603050405020304" charset="0"/>
              </a:rPr>
              <a:t>clk</a:t>
            </a:r>
            <a:r>
              <a:rPr lang="zh-CN" altLang="en-US" sz="2400" dirty="0">
                <a:latin typeface="Times New Roman" panose="02020603050405020304" charset="0"/>
              </a:rPr>
              <a:t>的</a:t>
            </a:r>
            <a:r>
              <a:rPr lang="en-US" altLang="zh-CN" sz="2400" dirty="0">
                <a:latin typeface="Times New Roman" panose="02020603050405020304" charset="0"/>
              </a:rPr>
              <a:t>2</a:t>
            </a:r>
            <a:r>
              <a:rPr lang="zh-CN" altLang="en-US" sz="2400" dirty="0">
                <a:latin typeface="Times New Roman" panose="02020603050405020304" charset="0"/>
              </a:rPr>
              <a:t>分频，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Times New Roman" panose="02020603050405020304" charset="0"/>
              </a:rPr>
              <a:t>1</a:t>
            </a:r>
            <a:r>
              <a:rPr lang="zh-CN" altLang="en-US" sz="2400" dirty="0">
                <a:latin typeface="Times New Roman" panose="02020603050405020304" charset="0"/>
              </a:rPr>
              <a:t>是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Times New Roman" panose="02020603050405020304" charset="0"/>
              </a:rPr>
              <a:t>0</a:t>
            </a:r>
            <a:r>
              <a:rPr lang="zh-CN" altLang="en-US" sz="2400" dirty="0">
                <a:latin typeface="Times New Roman" panose="02020603050405020304" charset="0"/>
              </a:rPr>
              <a:t>和</a:t>
            </a:r>
            <a:r>
              <a:rPr lang="en-US" altLang="zh-CN" sz="2400" dirty="0">
                <a:latin typeface="Times New Roman" panose="02020603050405020304" charset="0"/>
              </a:rPr>
              <a:t>Q</a:t>
            </a:r>
            <a:r>
              <a:rPr lang="en-US" altLang="zh-CN" sz="2400" baseline="-25000" dirty="0">
                <a:latin typeface="Times New Roman" panose="02020603050405020304" charset="0"/>
              </a:rPr>
              <a:t>2</a:t>
            </a:r>
            <a:r>
              <a:rPr lang="zh-CN" altLang="en-US" sz="2400" dirty="0">
                <a:latin typeface="Times New Roman" panose="02020603050405020304" charset="0"/>
              </a:rPr>
              <a:t>的反向。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sp>
        <p:nvSpPr>
          <p:cNvPr id="580631" name="Rectangle 23"/>
          <p:cNvSpPr/>
          <p:nvPr/>
        </p:nvSpPr>
        <p:spPr>
          <a:xfrm>
            <a:off x="1295400" y="6019800"/>
            <a:ext cx="7380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dirty="0">
                <a:latin typeface="Times New Roman" panose="02020603050405020304" charset="0"/>
              </a:rPr>
              <a:t>该电路完成的功能：不能自启动的格雷码计数器</a:t>
            </a:r>
            <a:endParaRPr lang="zh-CN" altLang="en-US" sz="24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8500" name="Rectangle 4"/>
          <p:cNvSpPr>
            <a:spLocks noGrp="1" noChangeArrowheads="1"/>
          </p:cNvSpPr>
          <p:nvPr>
            <p:ph idx="1"/>
          </p:nvPr>
        </p:nvSpPr>
        <p:spPr>
          <a:xfrm>
            <a:off x="395288" y="1371600"/>
            <a:ext cx="85344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例题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：分析下面时序电路的功能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1989" name="Group 5"/>
          <p:cNvGrpSpPr/>
          <p:nvPr/>
        </p:nvGrpSpPr>
        <p:grpSpPr>
          <a:xfrm>
            <a:off x="2114550" y="1906588"/>
            <a:ext cx="6115050" cy="3732212"/>
            <a:chOff x="1332" y="1201"/>
            <a:chExt cx="3852" cy="2351"/>
          </a:xfrm>
        </p:grpSpPr>
        <p:sp>
          <p:nvSpPr>
            <p:cNvPr id="41997" name="Text Box 6"/>
            <p:cNvSpPr txBox="1"/>
            <p:nvPr/>
          </p:nvSpPr>
          <p:spPr>
            <a:xfrm>
              <a:off x="2400" y="1201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Q</a:t>
              </a:r>
              <a:r>
                <a:rPr lang="en-US" altLang="zh-CN" sz="2400" baseline="-25000" dirty="0">
                  <a:latin typeface="Times New Roman" panose="02020603050405020304" charset="0"/>
                </a:rPr>
                <a:t>2</a:t>
              </a:r>
              <a:endParaRPr lang="en-US" altLang="zh-CN" sz="2400" baseline="-25000" dirty="0">
                <a:latin typeface="Times New Roman" panose="02020603050405020304" charset="0"/>
              </a:endParaRPr>
            </a:p>
          </p:txBody>
        </p:sp>
        <p:sp>
          <p:nvSpPr>
            <p:cNvPr id="41998" name="Text Box 7"/>
            <p:cNvSpPr txBox="1"/>
            <p:nvPr/>
          </p:nvSpPr>
          <p:spPr>
            <a:xfrm>
              <a:off x="3468" y="1201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Q</a:t>
              </a:r>
              <a:r>
                <a:rPr lang="en-US" altLang="zh-CN" sz="2400" baseline="-25000" dirty="0">
                  <a:latin typeface="Times New Roman" panose="02020603050405020304" charset="0"/>
                </a:rPr>
                <a:t>1</a:t>
              </a:r>
              <a:endParaRPr lang="en-US" altLang="zh-CN" sz="2400" baseline="-25000" dirty="0">
                <a:latin typeface="Times New Roman" panose="02020603050405020304" charset="0"/>
              </a:endParaRPr>
            </a:p>
          </p:txBody>
        </p:sp>
        <p:sp>
          <p:nvSpPr>
            <p:cNvPr id="41999" name="Text Box 8"/>
            <p:cNvSpPr txBox="1"/>
            <p:nvPr/>
          </p:nvSpPr>
          <p:spPr>
            <a:xfrm>
              <a:off x="4625" y="1201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Q</a:t>
              </a:r>
              <a:r>
                <a:rPr lang="en-US" altLang="zh-CN" sz="2400" baseline="-25000" dirty="0">
                  <a:latin typeface="Times New Roman" panose="02020603050405020304" charset="0"/>
                </a:rPr>
                <a:t>0</a:t>
              </a:r>
              <a:endParaRPr lang="en-US" altLang="zh-CN" sz="2400" baseline="-25000" dirty="0">
                <a:latin typeface="Times New Roman" panose="02020603050405020304" charset="0"/>
              </a:endParaRPr>
            </a:p>
          </p:txBody>
        </p:sp>
        <p:grpSp>
          <p:nvGrpSpPr>
            <p:cNvPr id="42000" name="Group 9"/>
            <p:cNvGrpSpPr/>
            <p:nvPr/>
          </p:nvGrpSpPr>
          <p:grpSpPr>
            <a:xfrm>
              <a:off x="1332" y="1507"/>
              <a:ext cx="3852" cy="2045"/>
              <a:chOff x="612" y="1507"/>
              <a:chExt cx="3852" cy="2045"/>
            </a:xfrm>
          </p:grpSpPr>
          <p:sp>
            <p:nvSpPr>
              <p:cNvPr id="42001" name="Rectangle 11"/>
              <p:cNvSpPr/>
              <p:nvPr/>
            </p:nvSpPr>
            <p:spPr>
              <a:xfrm>
                <a:off x="1202" y="2051"/>
                <a:ext cx="771" cy="49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42002" name="Line 13"/>
              <p:cNvSpPr/>
              <p:nvPr/>
            </p:nvSpPr>
            <p:spPr>
              <a:xfrm>
                <a:off x="1383" y="255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3" name="Line 14"/>
              <p:cNvSpPr/>
              <p:nvPr/>
            </p:nvSpPr>
            <p:spPr>
              <a:xfrm flipV="1">
                <a:off x="1383" y="1643"/>
                <a:ext cx="0" cy="4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4" name="Rectangle 16"/>
              <p:cNvSpPr/>
              <p:nvPr/>
            </p:nvSpPr>
            <p:spPr>
              <a:xfrm>
                <a:off x="2290" y="2051"/>
                <a:ext cx="771" cy="49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42005" name="Line 18"/>
              <p:cNvSpPr/>
              <p:nvPr/>
            </p:nvSpPr>
            <p:spPr>
              <a:xfrm>
                <a:off x="2448" y="2544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6" name="Line 19"/>
              <p:cNvSpPr/>
              <p:nvPr/>
            </p:nvSpPr>
            <p:spPr>
              <a:xfrm flipV="1">
                <a:off x="2880" y="1507"/>
                <a:ext cx="0" cy="5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7" name="Rectangle 21"/>
              <p:cNvSpPr/>
              <p:nvPr/>
            </p:nvSpPr>
            <p:spPr>
              <a:xfrm>
                <a:off x="3501" y="2051"/>
                <a:ext cx="771" cy="499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         Q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     D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42008" name="Line 23"/>
              <p:cNvSpPr/>
              <p:nvPr/>
            </p:nvSpPr>
            <p:spPr>
              <a:xfrm>
                <a:off x="3696" y="2544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09" name="Line 24"/>
              <p:cNvSpPr/>
              <p:nvPr/>
            </p:nvSpPr>
            <p:spPr>
              <a:xfrm flipV="1">
                <a:off x="4091" y="1507"/>
                <a:ext cx="0" cy="5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0" name="Line 25"/>
              <p:cNvSpPr/>
              <p:nvPr/>
            </p:nvSpPr>
            <p:spPr>
              <a:xfrm flipH="1">
                <a:off x="3408" y="1920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1" name="Line 26"/>
              <p:cNvSpPr/>
              <p:nvPr/>
            </p:nvSpPr>
            <p:spPr>
              <a:xfrm>
                <a:off x="2880" y="2550"/>
                <a:ext cx="0" cy="9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2" name="Line 27"/>
              <p:cNvSpPr/>
              <p:nvPr/>
            </p:nvSpPr>
            <p:spPr>
              <a:xfrm flipV="1">
                <a:off x="2880" y="2640"/>
                <a:ext cx="384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3" name="Line 28"/>
              <p:cNvSpPr/>
              <p:nvPr/>
            </p:nvSpPr>
            <p:spPr>
              <a:xfrm flipH="1" flipV="1">
                <a:off x="960" y="2736"/>
                <a:ext cx="27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4" name="Text Box 29"/>
              <p:cNvSpPr txBox="1"/>
              <p:nvPr/>
            </p:nvSpPr>
            <p:spPr>
              <a:xfrm>
                <a:off x="612" y="2579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CP</a:t>
                </a:r>
                <a:endParaRPr lang="en-US" altLang="zh-CN" sz="24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42015" name="Line 30"/>
              <p:cNvSpPr/>
              <p:nvPr/>
            </p:nvSpPr>
            <p:spPr>
              <a:xfrm>
                <a:off x="3696" y="1920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6" name="Rectangle 31"/>
              <p:cNvSpPr/>
              <p:nvPr/>
            </p:nvSpPr>
            <p:spPr>
              <a:xfrm>
                <a:off x="4001" y="2731"/>
                <a:ext cx="273" cy="181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42017" name="Line 32"/>
              <p:cNvSpPr/>
              <p:nvPr/>
            </p:nvSpPr>
            <p:spPr>
              <a:xfrm flipV="1">
                <a:off x="4137" y="255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pic>
            <p:nvPicPr>
              <p:cNvPr id="42018" name="Picture 33" descr="与非门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936" y="3094"/>
                <a:ext cx="292" cy="22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2019" name="Line 34"/>
              <p:cNvSpPr/>
              <p:nvPr/>
            </p:nvSpPr>
            <p:spPr>
              <a:xfrm flipV="1">
                <a:off x="4092" y="2913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0" name="Line 35"/>
              <p:cNvSpPr/>
              <p:nvPr/>
            </p:nvSpPr>
            <p:spPr>
              <a:xfrm flipH="1">
                <a:off x="1776" y="254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1" name="Line 36"/>
              <p:cNvSpPr/>
              <p:nvPr/>
            </p:nvSpPr>
            <p:spPr>
              <a:xfrm flipH="1">
                <a:off x="2112" y="1920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2" name="Line 37"/>
              <p:cNvSpPr/>
              <p:nvPr/>
            </p:nvSpPr>
            <p:spPr>
              <a:xfrm>
                <a:off x="2112" y="1920"/>
                <a:ext cx="0" cy="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3" name="Line 38"/>
              <p:cNvSpPr/>
              <p:nvPr/>
            </p:nvSpPr>
            <p:spPr>
              <a:xfrm flipV="1">
                <a:off x="3168" y="3552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4" name="Line 39"/>
              <p:cNvSpPr/>
              <p:nvPr/>
            </p:nvSpPr>
            <p:spPr>
              <a:xfrm flipV="1">
                <a:off x="4032" y="3312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5" name="Line 40"/>
              <p:cNvSpPr/>
              <p:nvPr/>
            </p:nvSpPr>
            <p:spPr>
              <a:xfrm>
                <a:off x="1776" y="2640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6" name="Line 41"/>
              <p:cNvSpPr/>
              <p:nvPr/>
            </p:nvSpPr>
            <p:spPr>
              <a:xfrm flipH="1">
                <a:off x="4176" y="2928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7" name="Line 42"/>
              <p:cNvSpPr/>
              <p:nvPr/>
            </p:nvSpPr>
            <p:spPr>
              <a:xfrm>
                <a:off x="4176" y="3024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8" name="Line 43"/>
              <p:cNvSpPr/>
              <p:nvPr/>
            </p:nvSpPr>
            <p:spPr>
              <a:xfrm flipV="1">
                <a:off x="3264" y="1824"/>
                <a:ext cx="0" cy="81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9" name="Line 44"/>
              <p:cNvSpPr/>
              <p:nvPr/>
            </p:nvSpPr>
            <p:spPr>
              <a:xfrm>
                <a:off x="3264" y="1824"/>
                <a:ext cx="8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0" name="Line 45"/>
              <p:cNvSpPr/>
              <p:nvPr/>
            </p:nvSpPr>
            <p:spPr>
              <a:xfrm flipV="1">
                <a:off x="4464" y="1632"/>
                <a:ext cx="0" cy="13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1" name="Line 46"/>
              <p:cNvSpPr/>
              <p:nvPr/>
            </p:nvSpPr>
            <p:spPr>
              <a:xfrm flipH="1">
                <a:off x="1392" y="1632"/>
                <a:ext cx="307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2" name="Line 47"/>
              <p:cNvSpPr/>
              <p:nvPr/>
            </p:nvSpPr>
            <p:spPr>
              <a:xfrm flipV="1">
                <a:off x="1837" y="1507"/>
                <a:ext cx="0" cy="5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3" name="Line 48"/>
              <p:cNvSpPr/>
              <p:nvPr/>
            </p:nvSpPr>
            <p:spPr>
              <a:xfrm flipV="1">
                <a:off x="4128" y="3312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4" name="Line 49"/>
              <p:cNvSpPr/>
              <p:nvPr/>
            </p:nvSpPr>
            <p:spPr>
              <a:xfrm>
                <a:off x="3408" y="345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35" name="Line 50"/>
              <p:cNvSpPr/>
              <p:nvPr/>
            </p:nvSpPr>
            <p:spPr>
              <a:xfrm>
                <a:off x="3408" y="1920"/>
                <a:ext cx="0" cy="15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pic>
            <p:nvPicPr>
              <p:cNvPr id="42036" name="Picture 51" descr="dot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44" y="2688"/>
                <a:ext cx="119" cy="11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2037" name="Picture 52" descr="dot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32" y="1776"/>
                <a:ext cx="119" cy="11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2038" name="Picture 53" descr="dot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32" y="1872"/>
                <a:ext cx="119" cy="11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42039" name="Picture 54" descr="dot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00" y="2688"/>
                <a:ext cx="119" cy="11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2040" name="Line 55"/>
              <p:cNvSpPr/>
              <p:nvPr/>
            </p:nvSpPr>
            <p:spPr>
              <a:xfrm>
                <a:off x="3168" y="1920"/>
                <a:ext cx="0" cy="16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41" name="Line 56"/>
              <p:cNvSpPr/>
              <p:nvPr/>
            </p:nvSpPr>
            <p:spPr>
              <a:xfrm flipH="1">
                <a:off x="2880" y="1920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618553" name="Text Box 57"/>
          <p:cNvSpPr txBox="1"/>
          <p:nvPr/>
        </p:nvSpPr>
        <p:spPr>
          <a:xfrm>
            <a:off x="325438" y="2697163"/>
            <a:ext cx="2286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）写出激励方程</a:t>
            </a:r>
            <a:endParaRPr lang="zh-CN" altLang="en-US" sz="2000" b="1" dirty="0"/>
          </a:p>
        </p:txBody>
      </p:sp>
      <p:sp>
        <p:nvSpPr>
          <p:cNvPr id="41991" name="文本框 56"/>
          <p:cNvSpPr txBox="1"/>
          <p:nvPr/>
        </p:nvSpPr>
        <p:spPr>
          <a:xfrm>
            <a:off x="6743700" y="3213100"/>
            <a:ext cx="431800" cy="48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  <a:endParaRPr lang="en-US" altLang="zh-CN" sz="2000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41992" name="文本框 57"/>
          <p:cNvSpPr txBox="1"/>
          <p:nvPr/>
        </p:nvSpPr>
        <p:spPr>
          <a:xfrm>
            <a:off x="4857750" y="3216275"/>
            <a:ext cx="431800" cy="48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  <a:endParaRPr lang="en-US" altLang="zh-CN" sz="2000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41993" name="文本框 58"/>
          <p:cNvSpPr txBox="1"/>
          <p:nvPr/>
        </p:nvSpPr>
        <p:spPr>
          <a:xfrm>
            <a:off x="3106738" y="3230563"/>
            <a:ext cx="430212" cy="481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—</a:t>
            </a:r>
            <a:endParaRPr lang="en-US" altLang="zh-CN" sz="2000" dirty="0"/>
          </a:p>
          <a:p>
            <a:pPr marL="0" lvl="0" indent="0">
              <a:lnSpc>
                <a:spcPts val="15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Q</a:t>
            </a:r>
            <a:endParaRPr lang="zh-CN" altLang="en-US" sz="2000" dirty="0"/>
          </a:p>
        </p:txBody>
      </p:sp>
      <p:sp>
        <p:nvSpPr>
          <p:cNvPr id="56" name="文本框 55"/>
          <p:cNvSpPr txBox="1"/>
          <p:nvPr/>
        </p:nvSpPr>
        <p:spPr>
          <a:xfrm>
            <a:off x="460375" y="4924425"/>
            <a:ext cx="2724150" cy="596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——</a:t>
            </a:r>
            <a:endParaRPr lang="en-US" altLang="zh-CN" sz="2800" dirty="0"/>
          </a:p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—      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D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0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en-US" altLang="zh-CN" sz="2800" dirty="0"/>
              <a:t> Q</a:t>
            </a:r>
            <a:r>
              <a:rPr lang="en-US" altLang="zh-CN" sz="2800" baseline="-25000" dirty="0"/>
              <a:t>2n</a:t>
            </a:r>
            <a:endParaRPr lang="zh-CN" altLang="en-US" sz="2800" baseline="-25000" dirty="0"/>
          </a:p>
        </p:txBody>
      </p:sp>
      <p:sp>
        <p:nvSpPr>
          <p:cNvPr id="57" name="文本框 56"/>
          <p:cNvSpPr txBox="1"/>
          <p:nvPr/>
        </p:nvSpPr>
        <p:spPr>
          <a:xfrm>
            <a:off x="476250" y="3549650"/>
            <a:ext cx="2724150" cy="466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en-US" altLang="zh-CN" sz="2800" dirty="0"/>
              <a:t> </a:t>
            </a:r>
            <a:endParaRPr lang="zh-CN" altLang="en-US" sz="2800" baseline="-25000" dirty="0"/>
          </a:p>
        </p:txBody>
      </p:sp>
      <p:sp>
        <p:nvSpPr>
          <p:cNvPr id="58" name="文本框 57"/>
          <p:cNvSpPr txBox="1"/>
          <p:nvPr/>
        </p:nvSpPr>
        <p:spPr>
          <a:xfrm>
            <a:off x="460375" y="4300538"/>
            <a:ext cx="2724150" cy="466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0n</a:t>
            </a:r>
            <a:r>
              <a:rPr lang="en-US" altLang="zh-CN" sz="2800" dirty="0"/>
              <a:t> 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53" grpId="0"/>
      <p:bldP spid="56" grpId="0"/>
      <p:bldP spid="57" grpId="0"/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205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0568" name="Rectangle 1048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5344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）写出状态方程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4713" y="3575050"/>
            <a:ext cx="7361237" cy="59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               ——</a:t>
            </a:r>
            <a:endParaRPr lang="en-US" altLang="zh-CN" sz="2800" dirty="0"/>
          </a:p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               —      —                 —     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0</a:t>
            </a:r>
            <a:r>
              <a:rPr lang="zh-CN" altLang="en-US" sz="2800" baseline="-25000" dirty="0"/>
              <a:t>（</a:t>
            </a:r>
            <a:r>
              <a:rPr lang="en-US" altLang="zh-CN" sz="2800" baseline="-25000" dirty="0"/>
              <a:t>n+1</a:t>
            </a:r>
            <a:r>
              <a:rPr lang="zh-CN" altLang="en-US" sz="2800" baseline="-25000" dirty="0"/>
              <a:t>）</a:t>
            </a:r>
            <a:r>
              <a:rPr lang="en-US" altLang="zh-CN" sz="2800" dirty="0"/>
              <a:t>= D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0n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en-US" altLang="zh-CN" sz="2800" dirty="0"/>
              <a:t> Q</a:t>
            </a:r>
            <a:r>
              <a:rPr lang="en-US" altLang="zh-CN" sz="2800" baseline="-25000" dirty="0"/>
              <a:t>2n</a:t>
            </a:r>
            <a:r>
              <a:rPr lang="en-US" altLang="zh-CN" sz="2800" dirty="0"/>
              <a:t> =</a:t>
            </a:r>
            <a:r>
              <a:rPr lang="zh-CN" altLang="en-US" sz="2800" dirty="0"/>
              <a:t>（</a:t>
            </a:r>
            <a:r>
              <a:rPr lang="en-US" altLang="zh-CN" sz="2800" dirty="0">
                <a:sym typeface="Symbol" panose="05050102010706020507" pitchFamily="18" charset="2"/>
              </a:rPr>
              <a:t> Q</a:t>
            </a:r>
            <a:r>
              <a:rPr lang="en-US" altLang="zh-CN" sz="2800" baseline="-25000" dirty="0">
                <a:sym typeface="Symbol" panose="05050102010706020507" pitchFamily="18" charset="2"/>
              </a:rPr>
              <a:t>0n</a:t>
            </a:r>
            <a:r>
              <a:rPr lang="en-US" altLang="zh-CN" sz="2800" dirty="0">
                <a:sym typeface="Symbol" panose="05050102010706020507" pitchFamily="18" charset="2"/>
              </a:rPr>
              <a:t>+Q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zh-CN" altLang="en-US" sz="2800" dirty="0"/>
              <a:t>）</a:t>
            </a:r>
            <a:r>
              <a:rPr lang="en-US" altLang="zh-CN" sz="2800" dirty="0"/>
              <a:t>Q</a:t>
            </a:r>
            <a:r>
              <a:rPr lang="en-US" altLang="zh-CN" sz="2800" baseline="-25000" dirty="0"/>
              <a:t>2n</a:t>
            </a:r>
            <a:endParaRPr lang="zh-CN" altLang="en-US" sz="2800" baseline="-25000" dirty="0"/>
          </a:p>
        </p:txBody>
      </p:sp>
      <p:sp>
        <p:nvSpPr>
          <p:cNvPr id="8" name="文本框 7"/>
          <p:cNvSpPr txBox="1"/>
          <p:nvPr/>
        </p:nvSpPr>
        <p:spPr>
          <a:xfrm>
            <a:off x="900113" y="2209800"/>
            <a:ext cx="4392612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baseline="-25000" dirty="0"/>
              <a:t>（</a:t>
            </a:r>
            <a:r>
              <a:rPr lang="en-US" altLang="zh-CN" sz="2800" baseline="-25000" dirty="0"/>
              <a:t>n+1</a:t>
            </a:r>
            <a:r>
              <a:rPr lang="zh-CN" altLang="en-US" sz="2800" baseline="-25000" dirty="0"/>
              <a:t>）</a:t>
            </a:r>
            <a:r>
              <a:rPr lang="en-US" altLang="zh-CN" sz="2800" dirty="0"/>
              <a:t>=D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en-US" altLang="zh-CN" sz="2800" dirty="0"/>
              <a:t> </a:t>
            </a:r>
            <a:endParaRPr lang="zh-CN" altLang="en-US" sz="2800" baseline="-25000" dirty="0"/>
          </a:p>
        </p:txBody>
      </p:sp>
      <p:sp>
        <p:nvSpPr>
          <p:cNvPr id="9" name="文本框 8"/>
          <p:cNvSpPr txBox="1"/>
          <p:nvPr/>
        </p:nvSpPr>
        <p:spPr>
          <a:xfrm>
            <a:off x="882650" y="2962275"/>
            <a:ext cx="4625975" cy="466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1</a:t>
            </a:r>
            <a:r>
              <a:rPr lang="zh-CN" altLang="en-US" sz="2800" baseline="-25000" dirty="0"/>
              <a:t>（</a:t>
            </a:r>
            <a:r>
              <a:rPr lang="en-US" altLang="zh-CN" sz="2800" baseline="-25000" dirty="0"/>
              <a:t>n+1</a:t>
            </a:r>
            <a:r>
              <a:rPr lang="zh-CN" altLang="en-US" sz="2800" baseline="-25000" dirty="0"/>
              <a:t>）</a:t>
            </a:r>
            <a:r>
              <a:rPr lang="en-US" altLang="zh-CN" sz="2800" dirty="0"/>
              <a:t>= D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0n</a:t>
            </a:r>
            <a:r>
              <a:rPr lang="en-US" altLang="zh-CN" sz="2800" dirty="0"/>
              <a:t> 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694306" name="Group 34"/>
          <p:cNvGrpSpPr/>
          <p:nvPr/>
        </p:nvGrpSpPr>
        <p:grpSpPr>
          <a:xfrm>
            <a:off x="3810000" y="2462213"/>
            <a:ext cx="4495800" cy="3633787"/>
            <a:chOff x="2400" y="1551"/>
            <a:chExt cx="2832" cy="2289"/>
          </a:xfrm>
        </p:grpSpPr>
        <p:sp>
          <p:nvSpPr>
            <p:cNvPr id="46094" name="Line 24"/>
            <p:cNvSpPr/>
            <p:nvPr/>
          </p:nvSpPr>
          <p:spPr>
            <a:xfrm>
              <a:off x="2532" y="1920"/>
              <a:ext cx="25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5" name="Line 25"/>
            <p:cNvSpPr/>
            <p:nvPr/>
          </p:nvSpPr>
          <p:spPr>
            <a:xfrm flipH="1">
              <a:off x="3408" y="1584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6" name="Text Box 26"/>
            <p:cNvSpPr txBox="1"/>
            <p:nvPr/>
          </p:nvSpPr>
          <p:spPr>
            <a:xfrm>
              <a:off x="2400" y="1551"/>
              <a:ext cx="1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en-US" altLang="zh-CN" sz="2400" dirty="0">
                  <a:latin typeface="Georgia" panose="02040502050405020303" pitchFamily="18" charset="0"/>
                </a:rPr>
                <a:t> 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0n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6097" name="Text Box 27"/>
            <p:cNvSpPr txBox="1"/>
            <p:nvPr/>
          </p:nvSpPr>
          <p:spPr>
            <a:xfrm>
              <a:off x="3444" y="1584"/>
              <a:ext cx="17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2(n+1)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1(n+1) 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0(n+1) 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</p:grpSp>
      <p:sp>
        <p:nvSpPr>
          <p:cNvPr id="694300" name="Text Box 28"/>
          <p:cNvSpPr txBox="1"/>
          <p:nvPr/>
        </p:nvSpPr>
        <p:spPr>
          <a:xfrm>
            <a:off x="3954463" y="3103563"/>
            <a:ext cx="1250950" cy="301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0    0    0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0    0    1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0    1    0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0    1    1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1    0    0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1    0    1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1    1    0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1    1    1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694301" name="Rectangle 29"/>
          <p:cNvSpPr/>
          <p:nvPr/>
        </p:nvSpPr>
        <p:spPr>
          <a:xfrm>
            <a:off x="5695950" y="3124200"/>
            <a:ext cx="476250" cy="30130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694302" name="Rectangle 30"/>
          <p:cNvSpPr/>
          <p:nvPr/>
        </p:nvSpPr>
        <p:spPr>
          <a:xfrm>
            <a:off x="4800600" y="1828800"/>
            <a:ext cx="1828800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>
                <a:latin typeface="Times New Roman" panose="02020603050405020304" charset="0"/>
              </a:rPr>
              <a:t>状态表</a:t>
            </a:r>
            <a:endParaRPr lang="zh-CN" altLang="en-US" sz="2800" b="1" dirty="0">
              <a:latin typeface="Times New Roman" panose="02020603050405020304" charset="0"/>
            </a:endParaRPr>
          </a:p>
        </p:txBody>
      </p:sp>
      <p:sp>
        <p:nvSpPr>
          <p:cNvPr id="694303" name="Rectangle 31"/>
          <p:cNvSpPr>
            <a:spLocks noChangeArrowheads="1"/>
          </p:cNvSpPr>
          <p:nvPr/>
        </p:nvSpPr>
        <p:spPr bwMode="auto">
          <a:xfrm>
            <a:off x="457200" y="1371600"/>
            <a:ext cx="431323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）根据状态方程计算出状态表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4304" name="Rectangle 32"/>
          <p:cNvSpPr/>
          <p:nvPr/>
        </p:nvSpPr>
        <p:spPr>
          <a:xfrm>
            <a:off x="7391400" y="3124200"/>
            <a:ext cx="457200" cy="30130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694305" name="Rectangle 33"/>
          <p:cNvSpPr/>
          <p:nvPr/>
        </p:nvSpPr>
        <p:spPr>
          <a:xfrm>
            <a:off x="6477000" y="3124200"/>
            <a:ext cx="533400" cy="30130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0          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charset="0"/>
              </a:rPr>
              <a:t>1          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8600" y="3876675"/>
            <a:ext cx="4478338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               —   —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0(n+1</a:t>
            </a:r>
            <a:r>
              <a:rPr lang="zh-CN" altLang="en-US" sz="2800" baseline="-25000" dirty="0"/>
              <a:t>）</a:t>
            </a:r>
            <a:r>
              <a:rPr lang="en-US" altLang="zh-CN" sz="2800" dirty="0"/>
              <a:t>=(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0n</a:t>
            </a:r>
            <a:r>
              <a:rPr lang="en-US" altLang="zh-CN" sz="2800" dirty="0">
                <a:sym typeface="Symbol" panose="05050102010706020507" pitchFamily="18" charset="2"/>
              </a:rPr>
              <a:t>+Q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en-US" altLang="zh-CN" sz="2800" dirty="0"/>
              <a:t>Q</a:t>
            </a:r>
            <a:r>
              <a:rPr lang="en-US" altLang="zh-CN" sz="2800" baseline="-25000" dirty="0"/>
              <a:t>2n</a:t>
            </a:r>
            <a:endParaRPr lang="zh-CN" altLang="en-US" sz="2800" baseline="-25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168275" y="2470150"/>
            <a:ext cx="4392613" cy="46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baseline="-25000" dirty="0"/>
              <a:t>（</a:t>
            </a:r>
            <a:r>
              <a:rPr lang="en-US" altLang="zh-CN" sz="2800" baseline="-25000" dirty="0"/>
              <a:t>n+1</a:t>
            </a:r>
            <a:r>
              <a:rPr lang="zh-CN" altLang="en-US" sz="2800" baseline="-25000" dirty="0"/>
              <a:t>）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1n</a:t>
            </a:r>
            <a:r>
              <a:rPr lang="en-US" altLang="zh-CN" sz="2800" dirty="0"/>
              <a:t> </a:t>
            </a:r>
            <a:endParaRPr lang="zh-CN" altLang="en-US" sz="2800" baseline="-25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77800" y="3163888"/>
            <a:ext cx="4624388" cy="468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1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      </a:t>
            </a:r>
            <a:endParaRPr lang="en-US" altLang="zh-CN" sz="2800" dirty="0"/>
          </a:p>
          <a:p>
            <a:pPr marL="0" lvl="0" indent="0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Q</a:t>
            </a:r>
            <a:r>
              <a:rPr lang="en-US" altLang="zh-CN" sz="2800" baseline="-25000" dirty="0"/>
              <a:t>1</a:t>
            </a:r>
            <a:r>
              <a:rPr lang="zh-CN" altLang="en-US" sz="2800" baseline="-25000" dirty="0"/>
              <a:t>（</a:t>
            </a:r>
            <a:r>
              <a:rPr lang="en-US" altLang="zh-CN" sz="2800" baseline="-25000" dirty="0"/>
              <a:t>n+1</a:t>
            </a:r>
            <a:r>
              <a:rPr lang="zh-CN" altLang="en-US" sz="2800" baseline="-25000" dirty="0"/>
              <a:t>）</a:t>
            </a:r>
            <a:r>
              <a:rPr lang="en-US" altLang="zh-CN" sz="2800" dirty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Q</a:t>
            </a:r>
            <a:r>
              <a:rPr lang="en-US" altLang="zh-CN" sz="2800" baseline="-25000" dirty="0">
                <a:sym typeface="Symbol" panose="05050102010706020507" pitchFamily="18" charset="2"/>
              </a:rPr>
              <a:t>0n</a:t>
            </a:r>
            <a:r>
              <a:rPr lang="en-US" altLang="zh-CN" sz="2800" dirty="0"/>
              <a:t> 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9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9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9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9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9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300" grpId="0"/>
      <p:bldP spid="694301" grpId="0"/>
      <p:bldP spid="694302" grpId="0"/>
      <p:bldP spid="694303" grpId="0"/>
      <p:bldP spid="694304" grpId="0"/>
      <p:bldP spid="694305" grpId="0"/>
      <p:bldP spid="18" grpId="0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225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2595" name="Rectangle 1027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）根据状态表画出状态图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2596" name="Rectangle 1028"/>
          <p:cNvSpPr/>
          <p:nvPr/>
        </p:nvSpPr>
        <p:spPr>
          <a:xfrm>
            <a:off x="5105400" y="1905000"/>
            <a:ext cx="1828800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>
                <a:latin typeface="Times New Roman" panose="02020603050405020304" charset="0"/>
              </a:rPr>
              <a:t>状态图</a:t>
            </a:r>
            <a:endParaRPr lang="zh-CN" altLang="en-US" sz="2800" b="1" dirty="0">
              <a:latin typeface="Times New Roman" panose="02020603050405020304" charset="0"/>
            </a:endParaRPr>
          </a:p>
        </p:txBody>
      </p:sp>
      <p:grpSp>
        <p:nvGrpSpPr>
          <p:cNvPr id="622597" name="Group 1029"/>
          <p:cNvGrpSpPr/>
          <p:nvPr/>
        </p:nvGrpSpPr>
        <p:grpSpPr>
          <a:xfrm>
            <a:off x="152400" y="1905000"/>
            <a:ext cx="4495800" cy="4308475"/>
            <a:chOff x="96" y="1200"/>
            <a:chExt cx="2832" cy="2714"/>
          </a:xfrm>
        </p:grpSpPr>
        <p:sp>
          <p:nvSpPr>
            <p:cNvPr id="48165" name="Line 1030"/>
            <p:cNvSpPr/>
            <p:nvPr/>
          </p:nvSpPr>
          <p:spPr>
            <a:xfrm>
              <a:off x="228" y="1968"/>
              <a:ext cx="25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6" name="Line 1031"/>
            <p:cNvSpPr/>
            <p:nvPr/>
          </p:nvSpPr>
          <p:spPr>
            <a:xfrm flipH="1">
              <a:off x="1104" y="1632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7" name="Text Box 1032"/>
            <p:cNvSpPr txBox="1"/>
            <p:nvPr/>
          </p:nvSpPr>
          <p:spPr>
            <a:xfrm>
              <a:off x="96" y="1599"/>
              <a:ext cx="1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2n</a:t>
              </a:r>
              <a:r>
                <a:rPr lang="en-US" altLang="zh-CN" sz="2400" dirty="0">
                  <a:latin typeface="Georgia" panose="02040502050405020303" pitchFamily="18" charset="0"/>
                </a:rPr>
                <a:t> 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1n 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0n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8168" name="Text Box 1033"/>
            <p:cNvSpPr txBox="1"/>
            <p:nvPr/>
          </p:nvSpPr>
          <p:spPr>
            <a:xfrm>
              <a:off x="1140" y="1632"/>
              <a:ext cx="17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2(n+1)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1(n+1) </a:t>
              </a:r>
              <a:r>
                <a:rPr lang="en-US" altLang="zh-CN" sz="2400" dirty="0"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latin typeface="Georgia" panose="02040502050405020303" pitchFamily="18" charset="0"/>
                </a:rPr>
                <a:t>0(n+1) </a:t>
              </a:r>
              <a:endParaRPr lang="en-US" altLang="zh-CN" sz="2400" baseline="-25000" dirty="0">
                <a:latin typeface="Georgia" panose="02040502050405020303" pitchFamily="18" charset="0"/>
              </a:endParaRPr>
            </a:p>
          </p:txBody>
        </p:sp>
        <p:sp>
          <p:nvSpPr>
            <p:cNvPr id="48169" name="Text Box 1034"/>
            <p:cNvSpPr txBox="1"/>
            <p:nvPr/>
          </p:nvSpPr>
          <p:spPr>
            <a:xfrm>
              <a:off x="187" y="2003"/>
              <a:ext cx="78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0    0    0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0    0    1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0    1    0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0    1    1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1    0    0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1    0    1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1    1    0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1    1    1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8170" name="Rectangle 1035"/>
            <p:cNvSpPr/>
            <p:nvPr/>
          </p:nvSpPr>
          <p:spPr>
            <a:xfrm>
              <a:off x="1188" y="2016"/>
              <a:ext cx="1536" cy="189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0         0          1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0         1          1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1         0          0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1         1          1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0         0          0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0         1          0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1         0          0</a:t>
              </a:r>
              <a:endParaRPr lang="en-US" altLang="zh-CN" sz="2400" dirty="0">
                <a:latin typeface="Times New Roman" panose="02020603050405020304" charset="0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Times New Roman" panose="02020603050405020304" charset="0"/>
                </a:rPr>
                <a:t>1         1          0</a:t>
              </a:r>
              <a:endParaRPr lang="en-US" altLang="zh-CN" sz="2400" dirty="0">
                <a:latin typeface="Times New Roman" panose="02020603050405020304" charset="0"/>
              </a:endParaRPr>
            </a:p>
          </p:txBody>
        </p:sp>
        <p:sp>
          <p:nvSpPr>
            <p:cNvPr id="48171" name="Rectangle 1036"/>
            <p:cNvSpPr/>
            <p:nvPr/>
          </p:nvSpPr>
          <p:spPr>
            <a:xfrm>
              <a:off x="720" y="1200"/>
              <a:ext cx="115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zh-CN" altLang="en-US" sz="2800" b="1" dirty="0">
                  <a:latin typeface="Times New Roman" panose="02020603050405020304" charset="0"/>
                </a:rPr>
                <a:t>状态表</a:t>
              </a:r>
              <a:endParaRPr lang="zh-CN" altLang="en-US" sz="2800" b="1" dirty="0">
                <a:latin typeface="Times New Roman" panose="02020603050405020304" charset="0"/>
              </a:endParaRPr>
            </a:p>
          </p:txBody>
        </p:sp>
      </p:grpSp>
      <p:sp>
        <p:nvSpPr>
          <p:cNvPr id="622605" name="Rectangle 1037"/>
          <p:cNvSpPr/>
          <p:nvPr/>
        </p:nvSpPr>
        <p:spPr>
          <a:xfrm>
            <a:off x="4495800" y="3733800"/>
            <a:ext cx="685800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000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06" name="Rectangle 1038"/>
          <p:cNvSpPr/>
          <p:nvPr/>
        </p:nvSpPr>
        <p:spPr>
          <a:xfrm>
            <a:off x="5605463" y="3733800"/>
            <a:ext cx="642937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001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07" name="Rectangle 1039"/>
          <p:cNvSpPr/>
          <p:nvPr/>
        </p:nvSpPr>
        <p:spPr>
          <a:xfrm>
            <a:off x="5715000" y="5257800"/>
            <a:ext cx="566738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101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08" name="Rectangle 1040"/>
          <p:cNvSpPr/>
          <p:nvPr/>
        </p:nvSpPr>
        <p:spPr>
          <a:xfrm>
            <a:off x="6934200" y="5257800"/>
            <a:ext cx="585788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110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09" name="Rectangle 1041"/>
          <p:cNvSpPr/>
          <p:nvPr/>
        </p:nvSpPr>
        <p:spPr>
          <a:xfrm>
            <a:off x="8153400" y="5257800"/>
            <a:ext cx="609600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111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10" name="Rectangle 1042"/>
          <p:cNvSpPr/>
          <p:nvPr/>
        </p:nvSpPr>
        <p:spPr>
          <a:xfrm>
            <a:off x="6858000" y="3733800"/>
            <a:ext cx="609600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010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11" name="Rectangle 1043"/>
          <p:cNvSpPr/>
          <p:nvPr/>
        </p:nvSpPr>
        <p:spPr>
          <a:xfrm>
            <a:off x="8077200" y="3733800"/>
            <a:ext cx="685800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011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12" name="Rectangle 1044"/>
          <p:cNvSpPr/>
          <p:nvPr/>
        </p:nvSpPr>
        <p:spPr>
          <a:xfrm>
            <a:off x="4495800" y="5257800"/>
            <a:ext cx="627063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100</a:t>
            </a:r>
            <a:endParaRPr lang="en-US" altLang="zh-CN" sz="2400" dirty="0">
              <a:latin typeface="Georgia" panose="02040502050405020303" pitchFamily="18" charset="0"/>
            </a:endParaRPr>
          </a:p>
        </p:txBody>
      </p:sp>
      <p:sp>
        <p:nvSpPr>
          <p:cNvPr id="622613" name="Line 1045"/>
          <p:cNvSpPr/>
          <p:nvPr/>
        </p:nvSpPr>
        <p:spPr>
          <a:xfrm flipV="1">
            <a:off x="4800600" y="4191000"/>
            <a:ext cx="0" cy="1079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2614" name="Line 1046"/>
          <p:cNvSpPr/>
          <p:nvPr/>
        </p:nvSpPr>
        <p:spPr>
          <a:xfrm>
            <a:off x="5181600" y="3962400"/>
            <a:ext cx="40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22615" name="Group 1047"/>
          <p:cNvGrpSpPr/>
          <p:nvPr/>
        </p:nvGrpSpPr>
        <p:grpSpPr>
          <a:xfrm>
            <a:off x="5105400" y="4191000"/>
            <a:ext cx="1981200" cy="1219200"/>
            <a:chOff x="3216" y="2640"/>
            <a:chExt cx="1248" cy="768"/>
          </a:xfrm>
        </p:grpSpPr>
        <p:sp>
          <p:nvSpPr>
            <p:cNvPr id="48161" name="Line 1048"/>
            <p:cNvSpPr/>
            <p:nvPr/>
          </p:nvSpPr>
          <p:spPr>
            <a:xfrm>
              <a:off x="4464" y="2640"/>
              <a:ext cx="0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2" name="Line 1049"/>
            <p:cNvSpPr/>
            <p:nvPr/>
          </p:nvSpPr>
          <p:spPr>
            <a:xfrm flipH="1">
              <a:off x="3360" y="292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3" name="Line 1050"/>
            <p:cNvSpPr/>
            <p:nvPr/>
          </p:nvSpPr>
          <p:spPr>
            <a:xfrm flipH="1">
              <a:off x="3360" y="2928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4" name="Line 1051"/>
            <p:cNvSpPr/>
            <p:nvPr/>
          </p:nvSpPr>
          <p:spPr>
            <a:xfrm flipH="1">
              <a:off x="3216" y="340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22620" name="Line 1052"/>
          <p:cNvSpPr/>
          <p:nvPr/>
        </p:nvSpPr>
        <p:spPr>
          <a:xfrm flipH="1">
            <a:off x="7543800" y="54864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22621" name="Group 1053"/>
          <p:cNvGrpSpPr/>
          <p:nvPr/>
        </p:nvGrpSpPr>
        <p:grpSpPr>
          <a:xfrm>
            <a:off x="6092825" y="4191000"/>
            <a:ext cx="1222375" cy="1066800"/>
            <a:chOff x="3838" y="2640"/>
            <a:chExt cx="770" cy="672"/>
          </a:xfrm>
        </p:grpSpPr>
        <p:sp>
          <p:nvSpPr>
            <p:cNvPr id="48158" name="Line 1054"/>
            <p:cNvSpPr/>
            <p:nvPr/>
          </p:nvSpPr>
          <p:spPr>
            <a:xfrm flipV="1">
              <a:off x="3838" y="3072"/>
              <a:ext cx="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9" name="Line 1055"/>
            <p:cNvSpPr/>
            <p:nvPr/>
          </p:nvSpPr>
          <p:spPr>
            <a:xfrm flipV="1">
              <a:off x="3840" y="3072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60" name="Line 1056"/>
            <p:cNvSpPr/>
            <p:nvPr/>
          </p:nvSpPr>
          <p:spPr>
            <a:xfrm flipV="1">
              <a:off x="4608" y="2640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22625" name="Group 1057"/>
          <p:cNvGrpSpPr/>
          <p:nvPr/>
        </p:nvGrpSpPr>
        <p:grpSpPr>
          <a:xfrm>
            <a:off x="5943600" y="3429000"/>
            <a:ext cx="2438400" cy="317500"/>
            <a:chOff x="3744" y="2160"/>
            <a:chExt cx="1536" cy="200"/>
          </a:xfrm>
        </p:grpSpPr>
        <p:sp>
          <p:nvSpPr>
            <p:cNvPr id="48155" name="Line 1058"/>
            <p:cNvSpPr/>
            <p:nvPr/>
          </p:nvSpPr>
          <p:spPr>
            <a:xfrm flipV="1">
              <a:off x="3744" y="2160"/>
              <a:ext cx="2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6" name="Line 1059"/>
            <p:cNvSpPr/>
            <p:nvPr/>
          </p:nvSpPr>
          <p:spPr>
            <a:xfrm>
              <a:off x="3744" y="2160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7" name="Line 1060"/>
            <p:cNvSpPr/>
            <p:nvPr/>
          </p:nvSpPr>
          <p:spPr>
            <a:xfrm>
              <a:off x="5280" y="216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22629" name="Line 1061"/>
          <p:cNvSpPr/>
          <p:nvPr/>
        </p:nvSpPr>
        <p:spPr>
          <a:xfrm>
            <a:off x="8458200" y="4191000"/>
            <a:ext cx="0" cy="1079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22630" name="Group 1062"/>
          <p:cNvGrpSpPr/>
          <p:nvPr/>
        </p:nvGrpSpPr>
        <p:grpSpPr>
          <a:xfrm>
            <a:off x="4800600" y="5715000"/>
            <a:ext cx="2438400" cy="228600"/>
            <a:chOff x="3024" y="3600"/>
            <a:chExt cx="1536" cy="144"/>
          </a:xfrm>
        </p:grpSpPr>
        <p:sp>
          <p:nvSpPr>
            <p:cNvPr id="48152" name="Line 1063"/>
            <p:cNvSpPr/>
            <p:nvPr/>
          </p:nvSpPr>
          <p:spPr>
            <a:xfrm>
              <a:off x="4560" y="360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3" name="Line 1064"/>
            <p:cNvSpPr/>
            <p:nvPr/>
          </p:nvSpPr>
          <p:spPr>
            <a:xfrm flipH="1">
              <a:off x="3024" y="3744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4" name="Line 1065"/>
            <p:cNvSpPr/>
            <p:nvPr/>
          </p:nvSpPr>
          <p:spPr>
            <a:xfrm flipV="1">
              <a:off x="3024" y="3600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22634" name="Rectangle 1066"/>
          <p:cNvSpPr/>
          <p:nvPr/>
        </p:nvSpPr>
        <p:spPr>
          <a:xfrm>
            <a:off x="6400800" y="1981200"/>
            <a:ext cx="1223963" cy="431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1800" dirty="0">
                <a:latin typeface="Georgia" panose="02040502050405020303" pitchFamily="18" charset="0"/>
              </a:rPr>
              <a:t>2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1800" dirty="0">
                <a:latin typeface="Georgia" panose="02040502050405020303" pitchFamily="18" charset="0"/>
              </a:rPr>
              <a:t>1</a:t>
            </a:r>
            <a:r>
              <a:rPr lang="en-US" altLang="zh-CN" sz="2400" dirty="0">
                <a:latin typeface="Georgia" panose="02040502050405020303" pitchFamily="18" charset="0"/>
              </a:rPr>
              <a:t>Q</a:t>
            </a:r>
            <a:r>
              <a:rPr lang="en-US" altLang="zh-CN" sz="1800" dirty="0">
                <a:latin typeface="Georgia" panose="02040502050405020303" pitchFamily="18" charset="0"/>
              </a:rPr>
              <a:t>0</a:t>
            </a:r>
            <a:endParaRPr lang="en-US" altLang="zh-CN" sz="18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2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2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2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2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22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2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2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62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62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62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62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2" dur="500"/>
                                        <p:tgtEl>
                                          <p:spTgt spid="62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62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62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62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6" grpId="0"/>
      <p:bldP spid="622605" grpId="0" animBg="1"/>
      <p:bldP spid="622606" grpId="0" animBg="1"/>
      <p:bldP spid="622607" grpId="0" animBg="1"/>
      <p:bldP spid="622608" grpId="0" animBg="1"/>
      <p:bldP spid="622609" grpId="0" animBg="1"/>
      <p:bldP spid="622610" grpId="0" animBg="1"/>
      <p:bldP spid="622611" grpId="0" animBg="1"/>
      <p:bldP spid="622612" grpId="0" animBg="1"/>
      <p:bldP spid="6226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623619" name="Group 3"/>
          <p:cNvGrpSpPr/>
          <p:nvPr/>
        </p:nvGrpSpPr>
        <p:grpSpPr>
          <a:xfrm>
            <a:off x="1042988" y="4556125"/>
            <a:ext cx="7416800" cy="1393825"/>
            <a:chOff x="657" y="2870"/>
            <a:chExt cx="4672" cy="878"/>
          </a:xfrm>
        </p:grpSpPr>
        <p:sp>
          <p:nvSpPr>
            <p:cNvPr id="49190" name="Rectangle 4"/>
            <p:cNvSpPr/>
            <p:nvPr/>
          </p:nvSpPr>
          <p:spPr>
            <a:xfrm>
              <a:off x="2335" y="288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1" name="Rectangle 5"/>
            <p:cNvSpPr/>
            <p:nvPr/>
          </p:nvSpPr>
          <p:spPr>
            <a:xfrm>
              <a:off x="3515" y="288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2" name="Rectangle 6"/>
            <p:cNvSpPr/>
            <p:nvPr/>
          </p:nvSpPr>
          <p:spPr>
            <a:xfrm>
              <a:off x="3515" y="347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3" name="Rectangle 7"/>
            <p:cNvSpPr/>
            <p:nvPr/>
          </p:nvSpPr>
          <p:spPr>
            <a:xfrm>
              <a:off x="4694" y="347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4" name="Rectangle 8"/>
            <p:cNvSpPr/>
            <p:nvPr/>
          </p:nvSpPr>
          <p:spPr>
            <a:xfrm>
              <a:off x="657" y="3475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5" name="Rectangle 9"/>
            <p:cNvSpPr/>
            <p:nvPr/>
          </p:nvSpPr>
          <p:spPr>
            <a:xfrm>
              <a:off x="4694" y="288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6" name="Rectangle 10"/>
            <p:cNvSpPr/>
            <p:nvPr/>
          </p:nvSpPr>
          <p:spPr>
            <a:xfrm>
              <a:off x="1474" y="347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7" name="Rectangle 11"/>
            <p:cNvSpPr/>
            <p:nvPr/>
          </p:nvSpPr>
          <p:spPr>
            <a:xfrm>
              <a:off x="2335" y="3476"/>
              <a:ext cx="63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98" name="Line 12"/>
            <p:cNvSpPr/>
            <p:nvPr/>
          </p:nvSpPr>
          <p:spPr>
            <a:xfrm flipV="1">
              <a:off x="2653" y="3158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99" name="Line 13"/>
            <p:cNvSpPr/>
            <p:nvPr/>
          </p:nvSpPr>
          <p:spPr>
            <a:xfrm>
              <a:off x="2970" y="3022"/>
              <a:ext cx="5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0" name="Line 14"/>
            <p:cNvSpPr/>
            <p:nvPr/>
          </p:nvSpPr>
          <p:spPr>
            <a:xfrm flipH="1">
              <a:off x="2976" y="3600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1" name="Line 15"/>
            <p:cNvSpPr/>
            <p:nvPr/>
          </p:nvSpPr>
          <p:spPr>
            <a:xfrm flipH="1">
              <a:off x="4176" y="3600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2" name="Line 16"/>
            <p:cNvSpPr/>
            <p:nvPr/>
          </p:nvSpPr>
          <p:spPr>
            <a:xfrm>
              <a:off x="4150" y="3022"/>
              <a:ext cx="5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3" name="Line 17"/>
            <p:cNvSpPr/>
            <p:nvPr/>
          </p:nvSpPr>
          <p:spPr>
            <a:xfrm>
              <a:off x="2154" y="3612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4" name="Line 18"/>
            <p:cNvSpPr/>
            <p:nvPr/>
          </p:nvSpPr>
          <p:spPr>
            <a:xfrm>
              <a:off x="5012" y="3158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5" name="Line 19"/>
            <p:cNvSpPr/>
            <p:nvPr/>
          </p:nvSpPr>
          <p:spPr>
            <a:xfrm>
              <a:off x="1338" y="3612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206" name="Text Box 20"/>
            <p:cNvSpPr txBox="1"/>
            <p:nvPr/>
          </p:nvSpPr>
          <p:spPr>
            <a:xfrm>
              <a:off x="748" y="2870"/>
              <a:ext cx="154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 dirty="0">
                  <a:latin typeface="Georgia" panose="02040502050405020303" pitchFamily="18" charset="0"/>
                </a:rPr>
                <a:t>整理后的状态图</a:t>
              </a:r>
              <a:endParaRPr lang="zh-CN" altLang="en-US" sz="2400" b="1" dirty="0">
                <a:latin typeface="Georgia" panose="02040502050405020303" pitchFamily="18" charset="0"/>
              </a:endParaRPr>
            </a:p>
          </p:txBody>
        </p:sp>
      </p:grpSp>
      <p:sp>
        <p:nvSpPr>
          <p:cNvPr id="623637" name="Rectangle 21"/>
          <p:cNvSpPr/>
          <p:nvPr/>
        </p:nvSpPr>
        <p:spPr>
          <a:xfrm>
            <a:off x="1114425" y="6140450"/>
            <a:ext cx="6408738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能够自行进入工作循环的</a:t>
            </a:r>
            <a:r>
              <a:rPr lang="en-US" altLang="zh-CN" sz="2400" b="1" dirty="0">
                <a:latin typeface="Georgia" panose="02040502050405020303" pitchFamily="18" charset="0"/>
              </a:rPr>
              <a:t>3</a:t>
            </a:r>
            <a:r>
              <a:rPr lang="zh-CN" altLang="en-US" sz="2400" b="1" dirty="0">
                <a:latin typeface="Georgia" panose="02040502050405020303" pitchFamily="18" charset="0"/>
              </a:rPr>
              <a:t>位格雷码计数器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grpSp>
        <p:nvGrpSpPr>
          <p:cNvPr id="49158" name="Group 22"/>
          <p:cNvGrpSpPr/>
          <p:nvPr/>
        </p:nvGrpSpPr>
        <p:grpSpPr>
          <a:xfrm>
            <a:off x="4267200" y="1447800"/>
            <a:ext cx="4267200" cy="2514600"/>
            <a:chOff x="2832" y="2160"/>
            <a:chExt cx="2688" cy="1584"/>
          </a:xfrm>
        </p:grpSpPr>
        <p:sp>
          <p:nvSpPr>
            <p:cNvPr id="49161" name="Rectangle 23"/>
            <p:cNvSpPr/>
            <p:nvPr/>
          </p:nvSpPr>
          <p:spPr>
            <a:xfrm>
              <a:off x="2832" y="2352"/>
              <a:ext cx="432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2" name="Rectangle 24"/>
            <p:cNvSpPr/>
            <p:nvPr/>
          </p:nvSpPr>
          <p:spPr>
            <a:xfrm>
              <a:off x="3531" y="2352"/>
              <a:ext cx="40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001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3" name="Rectangle 25"/>
            <p:cNvSpPr/>
            <p:nvPr/>
          </p:nvSpPr>
          <p:spPr>
            <a:xfrm>
              <a:off x="3600" y="3312"/>
              <a:ext cx="357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4" name="Rectangle 26"/>
            <p:cNvSpPr/>
            <p:nvPr/>
          </p:nvSpPr>
          <p:spPr>
            <a:xfrm>
              <a:off x="4368" y="3312"/>
              <a:ext cx="369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5" name="Rectangle 27"/>
            <p:cNvSpPr/>
            <p:nvPr/>
          </p:nvSpPr>
          <p:spPr>
            <a:xfrm>
              <a:off x="5136" y="3312"/>
              <a:ext cx="384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111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6" name="Rectangle 28"/>
            <p:cNvSpPr/>
            <p:nvPr/>
          </p:nvSpPr>
          <p:spPr>
            <a:xfrm>
              <a:off x="4320" y="2352"/>
              <a:ext cx="384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7" name="Rectangle 29"/>
            <p:cNvSpPr/>
            <p:nvPr/>
          </p:nvSpPr>
          <p:spPr>
            <a:xfrm>
              <a:off x="5088" y="2352"/>
              <a:ext cx="432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011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8" name="Rectangle 30"/>
            <p:cNvSpPr/>
            <p:nvPr/>
          </p:nvSpPr>
          <p:spPr>
            <a:xfrm>
              <a:off x="2832" y="3312"/>
              <a:ext cx="395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100</a:t>
              </a:r>
              <a:endParaRPr lang="en-US" altLang="zh-CN" sz="2400" dirty="0">
                <a:latin typeface="Georgia" panose="02040502050405020303" pitchFamily="18" charset="0"/>
              </a:endParaRPr>
            </a:p>
          </p:txBody>
        </p:sp>
        <p:sp>
          <p:nvSpPr>
            <p:cNvPr id="49169" name="Line 31"/>
            <p:cNvSpPr/>
            <p:nvPr/>
          </p:nvSpPr>
          <p:spPr>
            <a:xfrm flipV="1">
              <a:off x="3024" y="2640"/>
              <a:ext cx="0" cy="6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0" name="Line 32"/>
            <p:cNvSpPr/>
            <p:nvPr/>
          </p:nvSpPr>
          <p:spPr>
            <a:xfrm>
              <a:off x="3264" y="2496"/>
              <a:ext cx="2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49171" name="Group 33"/>
            <p:cNvGrpSpPr/>
            <p:nvPr/>
          </p:nvGrpSpPr>
          <p:grpSpPr>
            <a:xfrm>
              <a:off x="3216" y="2640"/>
              <a:ext cx="1248" cy="768"/>
              <a:chOff x="3216" y="2640"/>
              <a:chExt cx="1248" cy="768"/>
            </a:xfrm>
          </p:grpSpPr>
          <p:sp>
            <p:nvSpPr>
              <p:cNvPr id="49186" name="Line 34"/>
              <p:cNvSpPr/>
              <p:nvPr/>
            </p:nvSpPr>
            <p:spPr>
              <a:xfrm>
                <a:off x="4464" y="2640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7" name="Line 35"/>
              <p:cNvSpPr/>
              <p:nvPr/>
            </p:nvSpPr>
            <p:spPr>
              <a:xfrm flipH="1">
                <a:off x="3360" y="2928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8" name="Line 36"/>
              <p:cNvSpPr/>
              <p:nvPr/>
            </p:nvSpPr>
            <p:spPr>
              <a:xfrm flipH="1">
                <a:off x="3360" y="2928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9" name="Line 37"/>
              <p:cNvSpPr/>
              <p:nvPr/>
            </p:nvSpPr>
            <p:spPr>
              <a:xfrm flipH="1">
                <a:off x="3216" y="3408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9172" name="Line 38"/>
            <p:cNvSpPr/>
            <p:nvPr/>
          </p:nvSpPr>
          <p:spPr>
            <a:xfrm flipH="1">
              <a:off x="4752" y="345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49173" name="Group 39"/>
            <p:cNvGrpSpPr/>
            <p:nvPr/>
          </p:nvGrpSpPr>
          <p:grpSpPr>
            <a:xfrm>
              <a:off x="3838" y="2640"/>
              <a:ext cx="770" cy="672"/>
              <a:chOff x="3838" y="2640"/>
              <a:chExt cx="770" cy="672"/>
            </a:xfrm>
          </p:grpSpPr>
          <p:sp>
            <p:nvSpPr>
              <p:cNvPr id="49183" name="Line 40"/>
              <p:cNvSpPr/>
              <p:nvPr/>
            </p:nvSpPr>
            <p:spPr>
              <a:xfrm flipV="1">
                <a:off x="3838" y="3072"/>
                <a:ext cx="2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4" name="Line 41"/>
              <p:cNvSpPr/>
              <p:nvPr/>
            </p:nvSpPr>
            <p:spPr>
              <a:xfrm flipV="1">
                <a:off x="3840" y="3072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5" name="Line 42"/>
              <p:cNvSpPr/>
              <p:nvPr/>
            </p:nvSpPr>
            <p:spPr>
              <a:xfrm flipV="1">
                <a:off x="4608" y="2640"/>
                <a:ext cx="0" cy="4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49174" name="Group 43"/>
            <p:cNvGrpSpPr/>
            <p:nvPr/>
          </p:nvGrpSpPr>
          <p:grpSpPr>
            <a:xfrm>
              <a:off x="3744" y="2160"/>
              <a:ext cx="1536" cy="200"/>
              <a:chOff x="3744" y="2160"/>
              <a:chExt cx="1536" cy="200"/>
            </a:xfrm>
          </p:grpSpPr>
          <p:sp>
            <p:nvSpPr>
              <p:cNvPr id="49180" name="Line 44"/>
              <p:cNvSpPr/>
              <p:nvPr/>
            </p:nvSpPr>
            <p:spPr>
              <a:xfrm flipV="1">
                <a:off x="3744" y="2160"/>
                <a:ext cx="2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1" name="Line 45"/>
              <p:cNvSpPr/>
              <p:nvPr/>
            </p:nvSpPr>
            <p:spPr>
              <a:xfrm>
                <a:off x="3744" y="2160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82" name="Line 46"/>
              <p:cNvSpPr/>
              <p:nvPr/>
            </p:nvSpPr>
            <p:spPr>
              <a:xfrm>
                <a:off x="5280" y="2160"/>
                <a:ext cx="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9175" name="Line 47"/>
            <p:cNvSpPr/>
            <p:nvPr/>
          </p:nvSpPr>
          <p:spPr>
            <a:xfrm>
              <a:off x="5328" y="2640"/>
              <a:ext cx="0" cy="6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49176" name="Group 48"/>
            <p:cNvGrpSpPr/>
            <p:nvPr/>
          </p:nvGrpSpPr>
          <p:grpSpPr>
            <a:xfrm>
              <a:off x="3024" y="3600"/>
              <a:ext cx="1536" cy="144"/>
              <a:chOff x="3024" y="3600"/>
              <a:chExt cx="1536" cy="144"/>
            </a:xfrm>
          </p:grpSpPr>
          <p:sp>
            <p:nvSpPr>
              <p:cNvPr id="49177" name="Line 49"/>
              <p:cNvSpPr/>
              <p:nvPr/>
            </p:nvSpPr>
            <p:spPr>
              <a:xfrm>
                <a:off x="4560" y="3600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8" name="Line 50"/>
              <p:cNvSpPr/>
              <p:nvPr/>
            </p:nvSpPr>
            <p:spPr>
              <a:xfrm flipH="1">
                <a:off x="3024" y="3744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179" name="Line 51"/>
              <p:cNvSpPr/>
              <p:nvPr/>
            </p:nvSpPr>
            <p:spPr>
              <a:xfrm flipV="1">
                <a:off x="3024" y="3600"/>
                <a:ext cx="0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623668" name="Rectangle 5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）整理状态图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23669" name="Line 53"/>
          <p:cNvSpPr/>
          <p:nvPr/>
        </p:nvSpPr>
        <p:spPr>
          <a:xfrm>
            <a:off x="304800" y="4114800"/>
            <a:ext cx="8686800" cy="0"/>
          </a:xfrm>
          <a:prstGeom prst="line">
            <a:avLst/>
          </a:prstGeom>
          <a:ln w="28575" cap="flat" cmpd="sng">
            <a:solidFill>
              <a:srgbClr val="FFFF00"/>
            </a:solidFill>
            <a:prstDash val="dash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2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3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3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1450" y="881063"/>
            <a:ext cx="8496300" cy="1905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例五：如图所示，分析并说明逻辑功能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50181" name="组合 128"/>
          <p:cNvGrpSpPr/>
          <p:nvPr/>
        </p:nvGrpSpPr>
        <p:grpSpPr>
          <a:xfrm>
            <a:off x="1981200" y="1482725"/>
            <a:ext cx="6858000" cy="5105400"/>
            <a:chOff x="1981200" y="1482485"/>
            <a:chExt cx="6858000" cy="5105400"/>
          </a:xfrm>
        </p:grpSpPr>
        <p:grpSp>
          <p:nvGrpSpPr>
            <p:cNvPr id="50182" name="Group 4"/>
            <p:cNvGrpSpPr/>
            <p:nvPr/>
          </p:nvGrpSpPr>
          <p:grpSpPr>
            <a:xfrm>
              <a:off x="2971800" y="1482485"/>
              <a:ext cx="5715000" cy="2057400"/>
              <a:chOff x="1776" y="672"/>
              <a:chExt cx="3600" cy="1296"/>
            </a:xfrm>
          </p:grpSpPr>
          <p:grpSp>
            <p:nvGrpSpPr>
              <p:cNvPr id="50270" name="Group 5"/>
              <p:cNvGrpSpPr/>
              <p:nvPr/>
            </p:nvGrpSpPr>
            <p:grpSpPr>
              <a:xfrm>
                <a:off x="4656" y="1392"/>
                <a:ext cx="720" cy="576"/>
                <a:chOff x="1680" y="1248"/>
                <a:chExt cx="720" cy="576"/>
              </a:xfrm>
            </p:grpSpPr>
            <p:sp>
              <p:nvSpPr>
                <p:cNvPr id="50300" name="Rectangle 6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3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303" name="Rectangle 9"/>
                <p:cNvSpPr/>
                <p:nvPr/>
              </p:nvSpPr>
              <p:spPr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304" name="Rectangle 10"/>
                <p:cNvSpPr/>
                <p:nvPr/>
              </p:nvSpPr>
              <p:spPr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305" name="Line 11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0271" name="Group 12"/>
              <p:cNvGrpSpPr/>
              <p:nvPr/>
            </p:nvGrpSpPr>
            <p:grpSpPr>
              <a:xfrm>
                <a:off x="2688" y="1392"/>
                <a:ext cx="720" cy="576"/>
                <a:chOff x="1680" y="1248"/>
                <a:chExt cx="720" cy="576"/>
              </a:xfrm>
            </p:grpSpPr>
            <p:sp>
              <p:nvSpPr>
                <p:cNvPr id="50294" name="Rectangle 13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3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297" name="Rectangle 16"/>
                <p:cNvSpPr/>
                <p:nvPr/>
              </p:nvSpPr>
              <p:spPr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298" name="Rectangle 17"/>
                <p:cNvSpPr/>
                <p:nvPr/>
              </p:nvSpPr>
              <p:spPr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299" name="Line 18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0272" name="Group 19"/>
              <p:cNvGrpSpPr/>
              <p:nvPr/>
            </p:nvGrpSpPr>
            <p:grpSpPr>
              <a:xfrm>
                <a:off x="3696" y="1392"/>
                <a:ext cx="720" cy="576"/>
                <a:chOff x="1680" y="1248"/>
                <a:chExt cx="720" cy="576"/>
              </a:xfrm>
            </p:grpSpPr>
            <p:sp>
              <p:nvSpPr>
                <p:cNvPr id="50288" name="Rectangle 20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2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291" name="Rectangle 23"/>
                <p:cNvSpPr/>
                <p:nvPr/>
              </p:nvSpPr>
              <p:spPr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292" name="Rectangle 24"/>
                <p:cNvSpPr/>
                <p:nvPr/>
              </p:nvSpPr>
              <p:spPr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293" name="Line 25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0273" name="Group 26"/>
              <p:cNvGrpSpPr/>
              <p:nvPr/>
            </p:nvGrpSpPr>
            <p:grpSpPr>
              <a:xfrm>
                <a:off x="1776" y="1392"/>
                <a:ext cx="720" cy="576"/>
                <a:chOff x="1680" y="1248"/>
                <a:chExt cx="720" cy="576"/>
              </a:xfrm>
            </p:grpSpPr>
            <p:sp>
              <p:nvSpPr>
                <p:cNvPr id="50282" name="Rectangle 27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1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285" name="Rectangle 30"/>
                <p:cNvSpPr/>
                <p:nvPr/>
              </p:nvSpPr>
              <p:spPr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286" name="Rectangle 31"/>
                <p:cNvSpPr/>
                <p:nvPr/>
              </p:nvSpPr>
              <p:spPr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latin typeface="Georgia" panose="02040502050405020303" pitchFamily="18" charset="0"/>
                    </a:rPr>
                    <a:t>Q</a:t>
                  </a:r>
                  <a:endParaRPr lang="en-US" altLang="zh-CN" sz="24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50287" name="Line 32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0274" name="Line 33"/>
              <p:cNvSpPr/>
              <p:nvPr/>
            </p:nvSpPr>
            <p:spPr>
              <a:xfrm flipV="1">
                <a:off x="1920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75" name="Line 34"/>
              <p:cNvSpPr/>
              <p:nvPr/>
            </p:nvSpPr>
            <p:spPr>
              <a:xfrm flipV="1">
                <a:off x="2832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76" name="Line 35"/>
              <p:cNvSpPr/>
              <p:nvPr/>
            </p:nvSpPr>
            <p:spPr>
              <a:xfrm flipV="1">
                <a:off x="3840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77" name="Line 36"/>
              <p:cNvSpPr/>
              <p:nvPr/>
            </p:nvSpPr>
            <p:spPr>
              <a:xfrm flipV="1">
                <a:off x="4800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" name="Text Box 37"/>
              <p:cNvSpPr txBox="1">
                <a:spLocks noChangeArrowheads="1"/>
              </p:cNvSpPr>
              <p:nvPr/>
            </p:nvSpPr>
            <p:spPr bwMode="auto">
              <a:xfrm>
                <a:off x="177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kern="1200" cap="none" spc="0" normalizeH="0" baseline="-2500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0</a:t>
                </a:r>
                <a:endParaRPr kumimoji="0" lang="en-US" altLang="zh-CN" sz="24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Text Box 38"/>
              <p:cNvSpPr txBox="1">
                <a:spLocks noChangeArrowheads="1"/>
              </p:cNvSpPr>
              <p:nvPr/>
            </p:nvSpPr>
            <p:spPr bwMode="auto">
              <a:xfrm>
                <a:off x="273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kern="1200" cap="none" spc="0" normalizeH="0" baseline="-2500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24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Text Box 39"/>
              <p:cNvSpPr txBox="1">
                <a:spLocks noChangeArrowheads="1"/>
              </p:cNvSpPr>
              <p:nvPr/>
            </p:nvSpPr>
            <p:spPr bwMode="auto">
              <a:xfrm>
                <a:off x="3744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kern="1200" cap="none" spc="0" normalizeH="0" baseline="-2500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24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 Box 40"/>
              <p:cNvSpPr txBox="1">
                <a:spLocks noChangeArrowheads="1"/>
              </p:cNvSpPr>
              <p:nvPr/>
            </p:nvSpPr>
            <p:spPr bwMode="auto">
              <a:xfrm>
                <a:off x="465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2400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</a:t>
                </a:r>
                <a:r>
                  <a:rPr kumimoji="0" lang="en-US" altLang="zh-CN" sz="2400" kern="1200" cap="none" spc="0" normalizeH="0" baseline="-2500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en-US" altLang="zh-CN" sz="2400" kern="1200" cap="none" spc="0" normalizeH="0" baseline="-2500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0183" name="Group 41"/>
            <p:cNvGrpSpPr/>
            <p:nvPr/>
          </p:nvGrpSpPr>
          <p:grpSpPr>
            <a:xfrm>
              <a:off x="2590800" y="2396885"/>
              <a:ext cx="1143000" cy="1295400"/>
              <a:chOff x="1536" y="1248"/>
              <a:chExt cx="720" cy="816"/>
            </a:xfrm>
          </p:grpSpPr>
          <p:sp>
            <p:nvSpPr>
              <p:cNvPr id="50265" name="Line 42"/>
              <p:cNvSpPr/>
              <p:nvPr/>
            </p:nvSpPr>
            <p:spPr>
              <a:xfrm flipV="1">
                <a:off x="2256" y="124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66" name="Line 43"/>
              <p:cNvSpPr/>
              <p:nvPr/>
            </p:nvSpPr>
            <p:spPr>
              <a:xfrm flipH="1">
                <a:off x="1536" y="1248"/>
                <a:ext cx="72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67" name="Line 44"/>
              <p:cNvSpPr/>
              <p:nvPr/>
            </p:nvSpPr>
            <p:spPr>
              <a:xfrm>
                <a:off x="1536" y="1248"/>
                <a:ext cx="0" cy="81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68" name="Line 45"/>
              <p:cNvSpPr/>
              <p:nvPr/>
            </p:nvSpPr>
            <p:spPr>
              <a:xfrm>
                <a:off x="1536" y="2064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69" name="Line 46"/>
              <p:cNvSpPr/>
              <p:nvPr/>
            </p:nvSpPr>
            <p:spPr>
              <a:xfrm flipV="1">
                <a:off x="1968" y="1920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0184" name="Group 47"/>
            <p:cNvGrpSpPr/>
            <p:nvPr/>
          </p:nvGrpSpPr>
          <p:grpSpPr>
            <a:xfrm>
              <a:off x="3657600" y="2320685"/>
              <a:ext cx="1981200" cy="4191000"/>
              <a:chOff x="2208" y="1200"/>
              <a:chExt cx="1248" cy="2640"/>
            </a:xfrm>
          </p:grpSpPr>
          <p:grpSp>
            <p:nvGrpSpPr>
              <p:cNvPr id="50246" name="Group 48"/>
              <p:cNvGrpSpPr/>
              <p:nvPr/>
            </p:nvGrpSpPr>
            <p:grpSpPr>
              <a:xfrm>
                <a:off x="2640" y="2352"/>
                <a:ext cx="384" cy="336"/>
                <a:chOff x="2928" y="2256"/>
                <a:chExt cx="384" cy="336"/>
              </a:xfrm>
            </p:grpSpPr>
            <p:sp>
              <p:nvSpPr>
                <p:cNvPr id="50262" name="Rectangle 49"/>
                <p:cNvSpPr/>
                <p:nvPr/>
              </p:nvSpPr>
              <p:spPr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263" name="Oval 50"/>
                <p:cNvSpPr/>
                <p:nvPr/>
              </p:nvSpPr>
              <p:spPr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</a:t>
                  </a: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0247" name="Line 52"/>
              <p:cNvSpPr/>
              <p:nvPr/>
            </p:nvSpPr>
            <p:spPr>
              <a:xfrm>
                <a:off x="2208" y="1248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48" name="Line 53"/>
              <p:cNvSpPr/>
              <p:nvPr/>
            </p:nvSpPr>
            <p:spPr>
              <a:xfrm flipH="1">
                <a:off x="2544" y="1248"/>
                <a:ext cx="0" cy="25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49" name="Oval 54"/>
              <p:cNvSpPr/>
              <p:nvPr/>
            </p:nvSpPr>
            <p:spPr>
              <a:xfrm>
                <a:off x="2208" y="12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50250" name="Line 55"/>
              <p:cNvSpPr/>
              <p:nvPr/>
            </p:nvSpPr>
            <p:spPr>
              <a:xfrm>
                <a:off x="2544" y="384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1" name="Line 56"/>
              <p:cNvSpPr/>
              <p:nvPr/>
            </p:nvSpPr>
            <p:spPr>
              <a:xfrm>
                <a:off x="2736" y="26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2" name="Line 57"/>
              <p:cNvSpPr/>
              <p:nvPr/>
            </p:nvSpPr>
            <p:spPr>
              <a:xfrm>
                <a:off x="2832" y="192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0253" name="Group 58"/>
              <p:cNvGrpSpPr/>
              <p:nvPr/>
            </p:nvGrpSpPr>
            <p:grpSpPr>
              <a:xfrm>
                <a:off x="2592" y="2928"/>
                <a:ext cx="288" cy="288"/>
                <a:chOff x="2784" y="2736"/>
                <a:chExt cx="288" cy="288"/>
              </a:xfrm>
            </p:grpSpPr>
            <p:sp>
              <p:nvSpPr>
                <p:cNvPr id="50260" name="Rectangle 59"/>
                <p:cNvSpPr/>
                <p:nvPr/>
              </p:nvSpPr>
              <p:spPr>
                <a:xfrm>
                  <a:off x="2784" y="2832"/>
                  <a:ext cx="288" cy="192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261" name="Oval 60"/>
                <p:cNvSpPr/>
                <p:nvPr/>
              </p:nvSpPr>
              <p:spPr>
                <a:xfrm>
                  <a:off x="2880" y="273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</p:grpSp>
          <p:sp>
            <p:nvSpPr>
              <p:cNvPr id="50254" name="Line 61"/>
              <p:cNvSpPr/>
              <p:nvPr/>
            </p:nvSpPr>
            <p:spPr>
              <a:xfrm>
                <a:off x="2736" y="3216"/>
                <a:ext cx="0" cy="62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5" name="Line 62"/>
              <p:cNvSpPr/>
              <p:nvPr/>
            </p:nvSpPr>
            <p:spPr>
              <a:xfrm flipV="1">
                <a:off x="3168" y="124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6" name="Line 63"/>
              <p:cNvSpPr/>
              <p:nvPr/>
            </p:nvSpPr>
            <p:spPr>
              <a:xfrm>
                <a:off x="3168" y="1248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7" name="Line 64"/>
              <p:cNvSpPr/>
              <p:nvPr/>
            </p:nvSpPr>
            <p:spPr>
              <a:xfrm flipH="1">
                <a:off x="3456" y="1248"/>
                <a:ext cx="0" cy="15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8" name="Line 65"/>
              <p:cNvSpPr/>
              <p:nvPr/>
            </p:nvSpPr>
            <p:spPr>
              <a:xfrm>
                <a:off x="2928" y="2832"/>
                <a:ext cx="52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59" name="Line 66"/>
              <p:cNvSpPr/>
              <p:nvPr/>
            </p:nvSpPr>
            <p:spPr>
              <a:xfrm>
                <a:off x="2928" y="268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0185" name="Group 67"/>
            <p:cNvGrpSpPr/>
            <p:nvPr/>
          </p:nvGrpSpPr>
          <p:grpSpPr>
            <a:xfrm>
              <a:off x="4419600" y="2396885"/>
              <a:ext cx="2819400" cy="4191000"/>
              <a:chOff x="2688" y="1248"/>
              <a:chExt cx="1776" cy="2640"/>
            </a:xfrm>
          </p:grpSpPr>
          <p:grpSp>
            <p:nvGrpSpPr>
              <p:cNvPr id="50224" name="Group 68"/>
              <p:cNvGrpSpPr/>
              <p:nvPr/>
            </p:nvGrpSpPr>
            <p:grpSpPr>
              <a:xfrm>
                <a:off x="3696" y="2352"/>
                <a:ext cx="384" cy="336"/>
                <a:chOff x="2928" y="2256"/>
                <a:chExt cx="384" cy="336"/>
              </a:xfrm>
            </p:grpSpPr>
            <p:sp>
              <p:nvSpPr>
                <p:cNvPr id="50243" name="Rectangle 69"/>
                <p:cNvSpPr/>
                <p:nvPr/>
              </p:nvSpPr>
              <p:spPr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244" name="Oval 70"/>
                <p:cNvSpPr/>
                <p:nvPr/>
              </p:nvSpPr>
              <p:spPr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90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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0225" name="Group 72"/>
              <p:cNvGrpSpPr/>
              <p:nvPr/>
            </p:nvGrpSpPr>
            <p:grpSpPr>
              <a:xfrm>
                <a:off x="3600" y="2928"/>
                <a:ext cx="384" cy="336"/>
                <a:chOff x="2928" y="2256"/>
                <a:chExt cx="384" cy="336"/>
              </a:xfrm>
            </p:grpSpPr>
            <p:sp>
              <p:nvSpPr>
                <p:cNvPr id="50240" name="Rectangle 73"/>
                <p:cNvSpPr/>
                <p:nvPr/>
              </p:nvSpPr>
              <p:spPr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241" name="Oval 74"/>
                <p:cNvSpPr/>
                <p:nvPr/>
              </p:nvSpPr>
              <p:spPr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87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+</a:t>
                  </a: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0226" name="Line 76"/>
              <p:cNvSpPr/>
              <p:nvPr/>
            </p:nvSpPr>
            <p:spPr>
              <a:xfrm>
                <a:off x="3888" y="192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27" name="Oval 77"/>
              <p:cNvSpPr/>
              <p:nvPr/>
            </p:nvSpPr>
            <p:spPr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50228" name="Line 78"/>
              <p:cNvSpPr/>
              <p:nvPr/>
            </p:nvSpPr>
            <p:spPr>
              <a:xfrm>
                <a:off x="3456" y="2832"/>
                <a:ext cx="0" cy="6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29" name="Line 79"/>
              <p:cNvSpPr/>
              <p:nvPr/>
            </p:nvSpPr>
            <p:spPr>
              <a:xfrm>
                <a:off x="3696" y="326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0" name="Line 80"/>
              <p:cNvSpPr/>
              <p:nvPr/>
            </p:nvSpPr>
            <p:spPr>
              <a:xfrm>
                <a:off x="3456" y="3504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1" name="Line 81"/>
              <p:cNvSpPr/>
              <p:nvPr/>
            </p:nvSpPr>
            <p:spPr>
              <a:xfrm>
                <a:off x="3792" y="26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2" name="Oval 82"/>
              <p:cNvSpPr/>
              <p:nvPr/>
            </p:nvSpPr>
            <p:spPr>
              <a:xfrm>
                <a:off x="2688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50233" name="Line 83"/>
              <p:cNvSpPr/>
              <p:nvPr/>
            </p:nvSpPr>
            <p:spPr>
              <a:xfrm>
                <a:off x="2736" y="3840"/>
                <a:ext cx="11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4" name="Line 84"/>
              <p:cNvSpPr/>
              <p:nvPr/>
            </p:nvSpPr>
            <p:spPr>
              <a:xfrm>
                <a:off x="3888" y="3264"/>
                <a:ext cx="0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5" name="Line 85"/>
              <p:cNvSpPr/>
              <p:nvPr/>
            </p:nvSpPr>
            <p:spPr>
              <a:xfrm flipV="1">
                <a:off x="4176" y="124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6" name="Line 86"/>
              <p:cNvSpPr/>
              <p:nvPr/>
            </p:nvSpPr>
            <p:spPr>
              <a:xfrm>
                <a:off x="4176" y="1248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7" name="Line 87"/>
              <p:cNvSpPr/>
              <p:nvPr/>
            </p:nvSpPr>
            <p:spPr>
              <a:xfrm flipH="1">
                <a:off x="4464" y="1248"/>
                <a:ext cx="0" cy="15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8" name="Line 88"/>
              <p:cNvSpPr/>
              <p:nvPr/>
            </p:nvSpPr>
            <p:spPr>
              <a:xfrm>
                <a:off x="3984" y="283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239" name="Line 89"/>
              <p:cNvSpPr/>
              <p:nvPr/>
            </p:nvSpPr>
            <p:spPr>
              <a:xfrm>
                <a:off x="3984" y="268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0186" name="Group 90"/>
            <p:cNvGrpSpPr/>
            <p:nvPr/>
          </p:nvGrpSpPr>
          <p:grpSpPr>
            <a:xfrm>
              <a:off x="5943600" y="2396885"/>
              <a:ext cx="2895600" cy="4191000"/>
              <a:chOff x="3648" y="1248"/>
              <a:chExt cx="1824" cy="2640"/>
            </a:xfrm>
          </p:grpSpPr>
          <p:sp>
            <p:nvSpPr>
              <p:cNvPr id="50198" name="Line 91"/>
              <p:cNvSpPr/>
              <p:nvPr/>
            </p:nvSpPr>
            <p:spPr>
              <a:xfrm>
                <a:off x="4752" y="326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0199" name="Group 92"/>
              <p:cNvGrpSpPr/>
              <p:nvPr/>
            </p:nvGrpSpPr>
            <p:grpSpPr>
              <a:xfrm>
                <a:off x="3648" y="1248"/>
                <a:ext cx="1824" cy="2640"/>
                <a:chOff x="3648" y="1248"/>
                <a:chExt cx="1824" cy="2640"/>
              </a:xfrm>
            </p:grpSpPr>
            <p:grpSp>
              <p:nvGrpSpPr>
                <p:cNvPr id="50200" name="Group 93"/>
                <p:cNvGrpSpPr/>
                <p:nvPr/>
              </p:nvGrpSpPr>
              <p:grpSpPr>
                <a:xfrm>
                  <a:off x="4608" y="2352"/>
                  <a:ext cx="384" cy="336"/>
                  <a:chOff x="2928" y="2256"/>
                  <a:chExt cx="384" cy="336"/>
                </a:xfrm>
              </p:grpSpPr>
              <p:sp>
                <p:nvSpPr>
                  <p:cNvPr id="50221" name="Rectangle 94"/>
                  <p:cNvSpPr/>
                  <p:nvPr/>
                </p:nvSpPr>
                <p:spPr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50222" name="Oval 95"/>
                  <p:cNvSpPr/>
                  <p:nvPr/>
                </p:nvSpPr>
                <p:spPr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117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" y="2342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ea typeface="宋体" panose="02010600030101010101" pitchFamily="2" charset="-122"/>
                        <a:cs typeface="+mn-cs"/>
                        <a:sym typeface="Symbol" panose="05050102010706020507" pitchFamily="18" charset="2"/>
                      </a:rPr>
                      <a:t></a:t>
                    </a:r>
                    <a:endParaRPr kumimoji="0" lang="en-US" altLang="zh-CN" b="1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50201" name="Group 97"/>
                <p:cNvGrpSpPr/>
                <p:nvPr/>
              </p:nvGrpSpPr>
              <p:grpSpPr>
                <a:xfrm>
                  <a:off x="4560" y="2928"/>
                  <a:ext cx="384" cy="336"/>
                  <a:chOff x="2928" y="2256"/>
                  <a:chExt cx="384" cy="336"/>
                </a:xfrm>
              </p:grpSpPr>
              <p:sp>
                <p:nvSpPr>
                  <p:cNvPr id="50218" name="Rectangle 98"/>
                  <p:cNvSpPr/>
                  <p:nvPr/>
                </p:nvSpPr>
                <p:spPr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50219" name="Oval 99"/>
                  <p:cNvSpPr/>
                  <p:nvPr/>
                </p:nvSpPr>
                <p:spPr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114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" y="2342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ea typeface="宋体" panose="02010600030101010101" pitchFamily="2" charset="-122"/>
                        <a:cs typeface="+mn-cs"/>
                        <a:sym typeface="Symbol" panose="05050102010706020507" pitchFamily="18" charset="2"/>
                      </a:rPr>
                      <a:t>+</a:t>
                    </a:r>
                    <a:endParaRPr kumimoji="0" lang="en-US" altLang="zh-CN" b="1" kern="1200" cap="none" spc="0" normalizeH="0" baseline="0" noProof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50202" name="Oval 101"/>
                <p:cNvSpPr/>
                <p:nvPr/>
              </p:nvSpPr>
              <p:spPr>
                <a:xfrm>
                  <a:off x="4416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203" name="Line 102"/>
                <p:cNvSpPr/>
                <p:nvPr/>
              </p:nvSpPr>
              <p:spPr>
                <a:xfrm>
                  <a:off x="4800" y="1920"/>
                  <a:ext cx="0" cy="43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04" name="Oval 103"/>
                <p:cNvSpPr/>
                <p:nvPr/>
              </p:nvSpPr>
              <p:spPr>
                <a:xfrm>
                  <a:off x="3840" y="37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205" name="Line 104"/>
                <p:cNvSpPr/>
                <p:nvPr/>
              </p:nvSpPr>
              <p:spPr>
                <a:xfrm>
                  <a:off x="3888" y="3840"/>
                  <a:ext cx="100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06" name="Line 105"/>
                <p:cNvSpPr/>
                <p:nvPr/>
              </p:nvSpPr>
              <p:spPr>
                <a:xfrm>
                  <a:off x="4896" y="3264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07" name="Line 106"/>
                <p:cNvSpPr/>
                <p:nvPr/>
              </p:nvSpPr>
              <p:spPr>
                <a:xfrm>
                  <a:off x="3696" y="3504"/>
                  <a:ext cx="105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08" name="Line 107"/>
                <p:cNvSpPr/>
                <p:nvPr/>
              </p:nvSpPr>
              <p:spPr>
                <a:xfrm>
                  <a:off x="4464" y="2832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09" name="Line 108"/>
                <p:cNvSpPr/>
                <p:nvPr/>
              </p:nvSpPr>
              <p:spPr>
                <a:xfrm>
                  <a:off x="4464" y="3408"/>
                  <a:ext cx="14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0" name="Line 109"/>
                <p:cNvSpPr/>
                <p:nvPr/>
              </p:nvSpPr>
              <p:spPr>
                <a:xfrm>
                  <a:off x="4608" y="3264"/>
                  <a:ext cx="0" cy="14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1" name="Line 110"/>
                <p:cNvSpPr/>
                <p:nvPr/>
              </p:nvSpPr>
              <p:spPr>
                <a:xfrm>
                  <a:off x="4752" y="2688"/>
                  <a:ext cx="0" cy="24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2" name="Line 111"/>
                <p:cNvSpPr/>
                <p:nvPr/>
              </p:nvSpPr>
              <p:spPr>
                <a:xfrm flipV="1">
                  <a:off x="5184" y="1248"/>
                  <a:ext cx="0" cy="14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3" name="Line 112"/>
                <p:cNvSpPr/>
                <p:nvPr/>
              </p:nvSpPr>
              <p:spPr>
                <a:xfrm>
                  <a:off x="5184" y="1248"/>
                  <a:ext cx="28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4" name="Line 113"/>
                <p:cNvSpPr/>
                <p:nvPr/>
              </p:nvSpPr>
              <p:spPr>
                <a:xfrm flipH="1">
                  <a:off x="5472" y="1248"/>
                  <a:ext cx="0" cy="158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5" name="Line 114"/>
                <p:cNvSpPr/>
                <p:nvPr/>
              </p:nvSpPr>
              <p:spPr>
                <a:xfrm>
                  <a:off x="4896" y="2832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6" name="Line 115"/>
                <p:cNvSpPr/>
                <p:nvPr/>
              </p:nvSpPr>
              <p:spPr>
                <a:xfrm>
                  <a:off x="4896" y="2688"/>
                  <a:ext cx="0" cy="14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217" name="Oval 116"/>
                <p:cNvSpPr/>
                <p:nvPr/>
              </p:nvSpPr>
              <p:spPr>
                <a:xfrm>
                  <a:off x="3648" y="345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</p:grpSp>
        </p:grpSp>
        <p:grpSp>
          <p:nvGrpSpPr>
            <p:cNvPr id="50187" name="Group 118"/>
            <p:cNvGrpSpPr/>
            <p:nvPr/>
          </p:nvGrpSpPr>
          <p:grpSpPr>
            <a:xfrm>
              <a:off x="1981200" y="3463685"/>
              <a:ext cx="6400800" cy="914400"/>
              <a:chOff x="1152" y="1632"/>
              <a:chExt cx="4032" cy="576"/>
            </a:xfrm>
          </p:grpSpPr>
          <p:grpSp>
            <p:nvGrpSpPr>
              <p:cNvPr id="50188" name="Group 119"/>
              <p:cNvGrpSpPr/>
              <p:nvPr/>
            </p:nvGrpSpPr>
            <p:grpSpPr>
              <a:xfrm>
                <a:off x="1200" y="1632"/>
                <a:ext cx="3984" cy="336"/>
                <a:chOff x="1200" y="1632"/>
                <a:chExt cx="3984" cy="336"/>
              </a:xfrm>
            </p:grpSpPr>
            <p:sp>
              <p:nvSpPr>
                <p:cNvPr id="50190" name="Line 120"/>
                <p:cNvSpPr/>
                <p:nvPr/>
              </p:nvSpPr>
              <p:spPr>
                <a:xfrm>
                  <a:off x="1200" y="1920"/>
                  <a:ext cx="398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191" name="Line 121"/>
                <p:cNvSpPr/>
                <p:nvPr/>
              </p:nvSpPr>
              <p:spPr>
                <a:xfrm>
                  <a:off x="2304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192" name="Oval 122"/>
                <p:cNvSpPr/>
                <p:nvPr/>
              </p:nvSpPr>
              <p:spPr>
                <a:xfrm>
                  <a:off x="225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193" name="Line 123"/>
                <p:cNvSpPr/>
                <p:nvPr/>
              </p:nvSpPr>
              <p:spPr>
                <a:xfrm>
                  <a:off x="3216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194" name="Oval 124"/>
                <p:cNvSpPr/>
                <p:nvPr/>
              </p:nvSpPr>
              <p:spPr>
                <a:xfrm>
                  <a:off x="3168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195" name="Line 125"/>
                <p:cNvSpPr/>
                <p:nvPr/>
              </p:nvSpPr>
              <p:spPr>
                <a:xfrm>
                  <a:off x="4224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0196" name="Oval 126"/>
                <p:cNvSpPr/>
                <p:nvPr/>
              </p:nvSpPr>
              <p:spPr>
                <a:xfrm>
                  <a:off x="417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50197" name="Line 127"/>
                <p:cNvSpPr/>
                <p:nvPr/>
              </p:nvSpPr>
              <p:spPr>
                <a:xfrm>
                  <a:off x="5184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0" name="Rectangle 128"/>
              <p:cNvSpPr>
                <a:spLocks noChangeArrowheads="1"/>
              </p:cNvSpPr>
              <p:nvPr/>
            </p:nvSpPr>
            <p:spPr bwMode="auto">
              <a:xfrm>
                <a:off x="1152" y="192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" name="Rectangle 33"/>
          <p:cNvSpPr>
            <a:spLocks noChangeArrowheads="1"/>
          </p:cNvSpPr>
          <p:nvPr/>
        </p:nvSpPr>
        <p:spPr bwMode="auto">
          <a:xfrm>
            <a:off x="531813" y="2349500"/>
            <a:ext cx="1952625" cy="8302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激励函数的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表达式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28"/>
          <p:cNvSpPr/>
          <p:nvPr/>
        </p:nvSpPr>
        <p:spPr>
          <a:xfrm>
            <a:off x="5153025" y="3756025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sp>
        <p:nvSpPr>
          <p:cNvPr id="20" name="Rectangle 29"/>
          <p:cNvSpPr>
            <a:spLocks noChangeArrowheads="1"/>
          </p:cNvSpPr>
          <p:nvPr/>
        </p:nvSpPr>
        <p:spPr bwMode="auto">
          <a:xfrm>
            <a:off x="6434138" y="2362200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状态方程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30"/>
          <p:cNvSpPr>
            <a:spLocks noChangeArrowheads="1"/>
          </p:cNvSpPr>
          <p:nvPr/>
        </p:nvSpPr>
        <p:spPr bwMode="auto">
          <a:xfrm>
            <a:off x="3294063" y="2305050"/>
            <a:ext cx="1731963" cy="830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改写后的激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励函数达式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32"/>
          <p:cNvSpPr/>
          <p:nvPr/>
        </p:nvSpPr>
        <p:spPr>
          <a:xfrm>
            <a:off x="2449513" y="3798888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5956300" y="3322638"/>
            <a:ext cx="3308350" cy="2124075"/>
            <a:chOff x="-2867808" y="3904978"/>
            <a:chExt cx="3412120" cy="2124342"/>
          </a:xfrm>
        </p:grpSpPr>
        <p:sp>
          <p:nvSpPr>
            <p:cNvPr id="51220" name="文本框 15"/>
            <p:cNvSpPr txBox="1"/>
            <p:nvPr/>
          </p:nvSpPr>
          <p:spPr>
            <a:xfrm>
              <a:off x="-2742341" y="3904978"/>
              <a:ext cx="2410024" cy="4696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 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0(n+1)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51221" name="文本框 16"/>
            <p:cNvSpPr txBox="1"/>
            <p:nvPr/>
          </p:nvSpPr>
          <p:spPr>
            <a:xfrm>
              <a:off x="-2788947" y="4613574"/>
              <a:ext cx="2914389" cy="2901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1(n+1)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  <p:sp>
          <p:nvSpPr>
            <p:cNvPr id="51222" name="文本框 17"/>
            <p:cNvSpPr txBox="1"/>
            <p:nvPr/>
          </p:nvSpPr>
          <p:spPr>
            <a:xfrm>
              <a:off x="-2830324" y="5158703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2(n+1)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dirty="0"/>
            </a:p>
          </p:txBody>
        </p:sp>
        <p:sp>
          <p:nvSpPr>
            <p:cNvPr id="51223" name="文本框 18"/>
            <p:cNvSpPr txBox="1"/>
            <p:nvPr/>
          </p:nvSpPr>
          <p:spPr>
            <a:xfrm>
              <a:off x="-2867808" y="5736668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3(n+1)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3n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316288" y="3351213"/>
            <a:ext cx="3276600" cy="2068512"/>
            <a:chOff x="-2742341" y="3904978"/>
            <a:chExt cx="3379130" cy="2068569"/>
          </a:xfrm>
        </p:grpSpPr>
        <p:sp>
          <p:nvSpPr>
            <p:cNvPr id="51216" name="文本框 15"/>
            <p:cNvSpPr txBox="1"/>
            <p:nvPr/>
          </p:nvSpPr>
          <p:spPr>
            <a:xfrm>
              <a:off x="-2742341" y="3904978"/>
              <a:ext cx="2410024" cy="4696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0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51217" name="文本框 16"/>
            <p:cNvSpPr txBox="1"/>
            <p:nvPr/>
          </p:nvSpPr>
          <p:spPr>
            <a:xfrm>
              <a:off x="-2742341" y="4614123"/>
              <a:ext cx="2914389" cy="2901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  <p:sp>
          <p:nvSpPr>
            <p:cNvPr id="51218" name="文本框 17"/>
            <p:cNvSpPr txBox="1"/>
            <p:nvPr/>
          </p:nvSpPr>
          <p:spPr>
            <a:xfrm>
              <a:off x="-2737847" y="5134840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dirty="0"/>
            </a:p>
          </p:txBody>
        </p:sp>
        <p:sp>
          <p:nvSpPr>
            <p:cNvPr id="51219" name="文本框 18"/>
            <p:cNvSpPr txBox="1"/>
            <p:nvPr/>
          </p:nvSpPr>
          <p:spPr>
            <a:xfrm>
              <a:off x="-2742341" y="5680895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3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3n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50825" y="3395663"/>
            <a:ext cx="3724275" cy="2390775"/>
            <a:chOff x="-2763470" y="3904978"/>
            <a:chExt cx="3840827" cy="2389921"/>
          </a:xfrm>
        </p:grpSpPr>
        <p:sp>
          <p:nvSpPr>
            <p:cNvPr id="51212" name="文本框 15"/>
            <p:cNvSpPr txBox="1"/>
            <p:nvPr/>
          </p:nvSpPr>
          <p:spPr>
            <a:xfrm>
              <a:off x="-2742341" y="3904978"/>
              <a:ext cx="2410024" cy="4696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0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51213" name="文本框 16"/>
            <p:cNvSpPr txBox="1"/>
            <p:nvPr/>
          </p:nvSpPr>
          <p:spPr>
            <a:xfrm>
              <a:off x="-2742341" y="4558240"/>
              <a:ext cx="2914389" cy="485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————</a:t>
              </a:r>
              <a:endParaRPr lang="en-US" altLang="zh-CN" sz="2400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</a:t>
              </a:r>
              <a:endParaRPr lang="en-US" altLang="zh-CN" sz="2400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endParaRPr lang="zh-CN" altLang="en-US" sz="2400" baseline="-25000" dirty="0"/>
            </a:p>
          </p:txBody>
        </p:sp>
        <p:sp>
          <p:nvSpPr>
            <p:cNvPr id="51214" name="文本框 17"/>
            <p:cNvSpPr txBox="1"/>
            <p:nvPr/>
          </p:nvSpPr>
          <p:spPr>
            <a:xfrm>
              <a:off x="-2742341" y="5166640"/>
              <a:ext cx="3374637" cy="485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——————</a:t>
              </a:r>
              <a:endParaRPr lang="en-US" altLang="zh-CN" sz="2400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————</a:t>
              </a:r>
              <a:endParaRPr lang="en-US" altLang="zh-CN" sz="2400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    —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r>
                <a:rPr lang="en-US" altLang="zh-CN" sz="2400" dirty="0"/>
                <a:t>+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endParaRPr lang="zh-CN" altLang="en-US" sz="2400" dirty="0"/>
            </a:p>
          </p:txBody>
        </p:sp>
        <p:sp>
          <p:nvSpPr>
            <p:cNvPr id="51215" name="文本框 18"/>
            <p:cNvSpPr txBox="1"/>
            <p:nvPr/>
          </p:nvSpPr>
          <p:spPr>
            <a:xfrm>
              <a:off x="-2763470" y="5809881"/>
              <a:ext cx="3840827" cy="485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—————————</a:t>
              </a:r>
              <a:endParaRPr lang="en-US" altLang="zh-CN" sz="2400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——————</a:t>
              </a:r>
              <a:endParaRPr lang="en-US" altLang="zh-CN" sz="2400" dirty="0"/>
            </a:p>
            <a:p>
              <a:pPr marL="0" lvl="0" indent="0"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—    —    —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D</a:t>
              </a:r>
              <a:r>
                <a:rPr lang="en-US" altLang="zh-CN" sz="2400" baseline="-25000" dirty="0"/>
                <a:t>3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r>
                <a:rPr lang="en-US" altLang="zh-CN" sz="2400" dirty="0"/>
                <a:t>+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/>
                <a:t>+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3n</a:t>
              </a:r>
              <a:endParaRPr lang="zh-CN" altLang="en-US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  <p:bldP spid="20" grpId="0"/>
      <p:bldP spid="21" grpId="0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" name="灯片编号占位符 5"/>
          <p:cNvSpPr txBox="1"/>
          <p:nvPr/>
        </p:nvSpPr>
        <p:spPr bwMode="auto">
          <a:xfrm>
            <a:off x="6689725" y="5413375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aphicFrame>
        <p:nvGraphicFramePr>
          <p:cNvPr id="6" name="Group 247"/>
          <p:cNvGraphicFramePr>
            <a:graphicFrameLocks noGrp="1"/>
          </p:cNvGraphicFramePr>
          <p:nvPr/>
        </p:nvGraphicFramePr>
        <p:xfrm>
          <a:off x="3244850" y="231775"/>
          <a:ext cx="5791200" cy="5791200"/>
        </p:xfrm>
        <a:graphic>
          <a:graphicData uri="http://schemas.openxmlformats.org/drawingml/2006/table">
            <a:tbl>
              <a:tblPr/>
              <a:tblGrid>
                <a:gridCol w="609600"/>
                <a:gridCol w="533400"/>
                <a:gridCol w="685800"/>
                <a:gridCol w="533400"/>
                <a:gridCol w="609600"/>
                <a:gridCol w="685800"/>
                <a:gridCol w="685800"/>
                <a:gridCol w="762000"/>
                <a:gridCol w="685800"/>
              </a:tblGrid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25"/>
          <p:cNvGraphicFramePr>
            <a:graphicFrameLocks noGrp="1"/>
          </p:cNvGraphicFramePr>
          <p:nvPr/>
        </p:nvGraphicFramePr>
        <p:xfrm>
          <a:off x="6156325" y="674688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762000"/>
                <a:gridCol w="685800"/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246"/>
          <p:cNvGraphicFramePr>
            <a:graphicFrameLocks noGrp="1"/>
          </p:cNvGraphicFramePr>
          <p:nvPr/>
        </p:nvGraphicFramePr>
        <p:xfrm>
          <a:off x="6156325" y="993775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762000"/>
                <a:gridCol w="685800"/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268"/>
          <p:cNvGraphicFramePr>
            <a:graphicFrameLocks noGrp="1"/>
          </p:cNvGraphicFramePr>
          <p:nvPr/>
        </p:nvGraphicFramePr>
        <p:xfrm>
          <a:off x="6156325" y="1360488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762000"/>
                <a:gridCol w="685800"/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Group 289"/>
          <p:cNvGraphicFramePr>
            <a:graphicFrameLocks noGrp="1"/>
          </p:cNvGraphicFramePr>
          <p:nvPr/>
        </p:nvGraphicFramePr>
        <p:xfrm>
          <a:off x="6156325" y="1679575"/>
          <a:ext cx="2819400" cy="396875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762000"/>
                <a:gridCol w="685800"/>
              </a:tblGrid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459"/>
          <p:cNvGraphicFramePr>
            <a:graphicFrameLocks noGrp="1"/>
          </p:cNvGraphicFramePr>
          <p:nvPr/>
        </p:nvGraphicFramePr>
        <p:xfrm>
          <a:off x="6156325" y="2060575"/>
          <a:ext cx="2819400" cy="3976688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762000"/>
                <a:gridCol w="685800"/>
              </a:tblGrid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7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7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42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Rectangle 29"/>
          <p:cNvSpPr>
            <a:spLocks noChangeArrowheads="1"/>
          </p:cNvSpPr>
          <p:nvPr/>
        </p:nvSpPr>
        <p:spPr bwMode="auto">
          <a:xfrm>
            <a:off x="577850" y="1971675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状态方程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6038" y="2924175"/>
            <a:ext cx="3308350" cy="2125663"/>
            <a:chOff x="-2867808" y="3904978"/>
            <a:chExt cx="3412120" cy="2124342"/>
          </a:xfrm>
        </p:grpSpPr>
        <p:sp>
          <p:nvSpPr>
            <p:cNvPr id="52481" name="文本框 15"/>
            <p:cNvSpPr txBox="1"/>
            <p:nvPr/>
          </p:nvSpPr>
          <p:spPr>
            <a:xfrm>
              <a:off x="-2742341" y="3904978"/>
              <a:ext cx="2410024" cy="4696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 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0(n+1)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52482" name="文本框 16"/>
            <p:cNvSpPr txBox="1"/>
            <p:nvPr/>
          </p:nvSpPr>
          <p:spPr>
            <a:xfrm>
              <a:off x="-2788947" y="4613574"/>
              <a:ext cx="2914389" cy="2901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1(n+1)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  <p:sp>
          <p:nvSpPr>
            <p:cNvPr id="52483" name="文本框 17"/>
            <p:cNvSpPr txBox="1"/>
            <p:nvPr/>
          </p:nvSpPr>
          <p:spPr>
            <a:xfrm>
              <a:off x="-2830324" y="5158703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2(n+1)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dirty="0"/>
            </a:p>
          </p:txBody>
        </p:sp>
        <p:sp>
          <p:nvSpPr>
            <p:cNvPr id="52484" name="文本框 18"/>
            <p:cNvSpPr txBox="1"/>
            <p:nvPr/>
          </p:nvSpPr>
          <p:spPr>
            <a:xfrm>
              <a:off x="-2867808" y="5736668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3(n+1)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3n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aphicFrame>
        <p:nvGraphicFramePr>
          <p:cNvPr id="6" name="Group 247"/>
          <p:cNvGraphicFramePr>
            <a:graphicFrameLocks noGrp="1"/>
          </p:cNvGraphicFramePr>
          <p:nvPr/>
        </p:nvGraphicFramePr>
        <p:xfrm>
          <a:off x="3275013" y="211138"/>
          <a:ext cx="5791200" cy="5791200"/>
        </p:xfrm>
        <a:graphic>
          <a:graphicData uri="http://schemas.openxmlformats.org/drawingml/2006/table">
            <a:tbl>
              <a:tblPr/>
              <a:tblGrid>
                <a:gridCol w="609600"/>
                <a:gridCol w="533400"/>
                <a:gridCol w="685800"/>
                <a:gridCol w="533400"/>
                <a:gridCol w="609600"/>
                <a:gridCol w="685800"/>
                <a:gridCol w="685800"/>
                <a:gridCol w="762000"/>
                <a:gridCol w="685800"/>
              </a:tblGrid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29"/>
          <p:cNvSpPr>
            <a:spLocks noChangeArrowheads="1"/>
          </p:cNvSpPr>
          <p:nvPr/>
        </p:nvSpPr>
        <p:spPr bwMode="auto">
          <a:xfrm>
            <a:off x="577850" y="1971675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状态方程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59788" y="692150"/>
            <a:ext cx="515937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04138" y="692150"/>
            <a:ext cx="514350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43738" y="692150"/>
            <a:ext cx="515937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84925" y="674688"/>
            <a:ext cx="514350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6038" y="2924175"/>
            <a:ext cx="3308350" cy="2125663"/>
            <a:chOff x="-2867808" y="3904978"/>
            <a:chExt cx="3412120" cy="2124342"/>
          </a:xfrm>
        </p:grpSpPr>
        <p:sp>
          <p:nvSpPr>
            <p:cNvPr id="53439" name="文本框 15"/>
            <p:cNvSpPr txBox="1"/>
            <p:nvPr/>
          </p:nvSpPr>
          <p:spPr>
            <a:xfrm>
              <a:off x="-2742341" y="3904978"/>
              <a:ext cx="2410024" cy="4696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           —</a:t>
              </a:r>
              <a:endParaRPr lang="en-US" altLang="zh-CN" sz="2400" dirty="0"/>
            </a:p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0(n+1)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53440" name="文本框 16"/>
            <p:cNvSpPr txBox="1"/>
            <p:nvPr/>
          </p:nvSpPr>
          <p:spPr>
            <a:xfrm>
              <a:off x="-2788947" y="4613574"/>
              <a:ext cx="2914389" cy="2901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1(n+1)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  <p:sp>
          <p:nvSpPr>
            <p:cNvPr id="53441" name="文本框 17"/>
            <p:cNvSpPr txBox="1"/>
            <p:nvPr/>
          </p:nvSpPr>
          <p:spPr>
            <a:xfrm>
              <a:off x="-2830324" y="5158703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2(n+1)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dirty="0"/>
            </a:p>
          </p:txBody>
        </p:sp>
        <p:sp>
          <p:nvSpPr>
            <p:cNvPr id="53442" name="文本框 18"/>
            <p:cNvSpPr txBox="1"/>
            <p:nvPr/>
          </p:nvSpPr>
          <p:spPr>
            <a:xfrm>
              <a:off x="-2867808" y="5736668"/>
              <a:ext cx="3374636" cy="2926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Q</a:t>
              </a:r>
              <a:r>
                <a:rPr lang="en-US" altLang="zh-CN" sz="2400" baseline="-25000" dirty="0"/>
                <a:t>3(n+1)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3n</a:t>
              </a:r>
              <a:r>
                <a:rPr lang="en-US" altLang="zh-CN" sz="2400" dirty="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400" dirty="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0n</a:t>
              </a:r>
              <a:endParaRPr lang="zh-CN" altLang="en-US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19" grpId="0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状态图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42888" y="2287588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38288" y="2287588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909888" y="22875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281488" y="2287588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213725" y="3319463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243888" y="2287588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946900" y="2287588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576888" y="22875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14"/>
          <p:cNvSpPr/>
          <p:nvPr/>
        </p:nvSpPr>
        <p:spPr>
          <a:xfrm flipV="1">
            <a:off x="879475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Line 17"/>
          <p:cNvSpPr/>
          <p:nvPr/>
        </p:nvSpPr>
        <p:spPr>
          <a:xfrm>
            <a:off x="8548688" y="2720975"/>
            <a:ext cx="0" cy="557213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Line 20"/>
          <p:cNvSpPr/>
          <p:nvPr/>
        </p:nvSpPr>
        <p:spPr>
          <a:xfrm flipH="1" flipV="1">
            <a:off x="471488" y="2720975"/>
            <a:ext cx="0" cy="53340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Line 23"/>
          <p:cNvSpPr/>
          <p:nvPr/>
        </p:nvSpPr>
        <p:spPr>
          <a:xfrm flipV="1">
            <a:off x="2224088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" name="Line 26"/>
          <p:cNvSpPr/>
          <p:nvPr/>
        </p:nvSpPr>
        <p:spPr>
          <a:xfrm flipV="1">
            <a:off x="3546475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" name="Line 29"/>
          <p:cNvSpPr/>
          <p:nvPr/>
        </p:nvSpPr>
        <p:spPr>
          <a:xfrm flipV="1">
            <a:off x="4891088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" name="Line 32"/>
          <p:cNvSpPr/>
          <p:nvPr/>
        </p:nvSpPr>
        <p:spPr>
          <a:xfrm flipV="1">
            <a:off x="6213475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" name="Line 35"/>
          <p:cNvSpPr/>
          <p:nvPr/>
        </p:nvSpPr>
        <p:spPr>
          <a:xfrm flipV="1">
            <a:off x="7558088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" name="Line 38"/>
          <p:cNvSpPr/>
          <p:nvPr/>
        </p:nvSpPr>
        <p:spPr>
          <a:xfrm>
            <a:off x="8548688" y="3811588"/>
            <a:ext cx="0" cy="45720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" name="Text Box 40"/>
          <p:cNvSpPr txBox="1">
            <a:spLocks noChangeArrowheads="1"/>
          </p:cNvSpPr>
          <p:nvPr/>
        </p:nvSpPr>
        <p:spPr bwMode="auto">
          <a:xfrm>
            <a:off x="8167688" y="4310063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Text Box 41"/>
          <p:cNvSpPr txBox="1">
            <a:spLocks noChangeArrowheads="1"/>
          </p:cNvSpPr>
          <p:nvPr/>
        </p:nvSpPr>
        <p:spPr bwMode="auto">
          <a:xfrm>
            <a:off x="166688" y="4268788"/>
            <a:ext cx="6556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1538288" y="4310063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Text Box 43"/>
          <p:cNvSpPr txBox="1">
            <a:spLocks noChangeArrowheads="1"/>
          </p:cNvSpPr>
          <p:nvPr/>
        </p:nvSpPr>
        <p:spPr bwMode="auto">
          <a:xfrm>
            <a:off x="2909888" y="431006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281488" y="4310063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45"/>
          <p:cNvSpPr txBox="1">
            <a:spLocks noChangeArrowheads="1"/>
          </p:cNvSpPr>
          <p:nvPr/>
        </p:nvSpPr>
        <p:spPr bwMode="auto">
          <a:xfrm>
            <a:off x="6872288" y="4310063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Text Box 46"/>
          <p:cNvSpPr txBox="1">
            <a:spLocks noChangeArrowheads="1"/>
          </p:cNvSpPr>
          <p:nvPr/>
        </p:nvSpPr>
        <p:spPr bwMode="auto">
          <a:xfrm>
            <a:off x="5576888" y="431006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Line 48"/>
          <p:cNvSpPr/>
          <p:nvPr/>
        </p:nvSpPr>
        <p:spPr>
          <a:xfrm flipV="1">
            <a:off x="852488" y="4456113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" name="Text Box 50"/>
          <p:cNvSpPr txBox="1">
            <a:spLocks noChangeArrowheads="1"/>
          </p:cNvSpPr>
          <p:nvPr/>
        </p:nvSpPr>
        <p:spPr bwMode="auto">
          <a:xfrm>
            <a:off x="166688" y="3278188"/>
            <a:ext cx="63341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Line 52"/>
          <p:cNvSpPr/>
          <p:nvPr/>
        </p:nvSpPr>
        <p:spPr>
          <a:xfrm flipH="1" flipV="1">
            <a:off x="471488" y="3659188"/>
            <a:ext cx="0" cy="60960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" name="Line 55"/>
          <p:cNvSpPr/>
          <p:nvPr/>
        </p:nvSpPr>
        <p:spPr>
          <a:xfrm flipV="1">
            <a:off x="22240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4" name="Line 58"/>
          <p:cNvSpPr/>
          <p:nvPr/>
        </p:nvSpPr>
        <p:spPr>
          <a:xfrm flipV="1">
            <a:off x="35956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5" name="Line 61"/>
          <p:cNvSpPr/>
          <p:nvPr/>
        </p:nvSpPr>
        <p:spPr>
          <a:xfrm flipV="1">
            <a:off x="48910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6" name="Line 64"/>
          <p:cNvSpPr/>
          <p:nvPr/>
        </p:nvSpPr>
        <p:spPr>
          <a:xfrm flipV="1">
            <a:off x="61864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7" name="Line 67"/>
          <p:cNvSpPr/>
          <p:nvPr/>
        </p:nvSpPr>
        <p:spPr>
          <a:xfrm flipV="1">
            <a:off x="74818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8" name="Rectangle 21"/>
          <p:cNvSpPr/>
          <p:nvPr/>
        </p:nvSpPr>
        <p:spPr>
          <a:xfrm>
            <a:off x="1204913" y="5273675"/>
            <a:ext cx="6408737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能够自启动的</a:t>
            </a:r>
            <a:r>
              <a:rPr lang="en-US" altLang="zh-CN" sz="2400" b="1" dirty="0">
                <a:latin typeface="Georgia" panose="02040502050405020303" pitchFamily="18" charset="0"/>
              </a:rPr>
              <a:t>4</a:t>
            </a:r>
            <a:r>
              <a:rPr lang="zh-CN" altLang="en-US" sz="2400" b="1" dirty="0">
                <a:latin typeface="Georgia" panose="02040502050405020303" pitchFamily="18" charset="0"/>
              </a:rPr>
              <a:t>位二进制计数器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charset="0"/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charset="0"/>
            </a:endParaRPr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298450"/>
            <a:ext cx="7142163" cy="990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四位二进制计数器 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300" name="Line 3"/>
          <p:cNvSpPr/>
          <p:nvPr/>
        </p:nvSpPr>
        <p:spPr>
          <a:xfrm flipV="1">
            <a:off x="1306513" y="3225800"/>
            <a:ext cx="4318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5301" name="Group 4"/>
          <p:cNvGrpSpPr/>
          <p:nvPr/>
        </p:nvGrpSpPr>
        <p:grpSpPr>
          <a:xfrm>
            <a:off x="1738313" y="2936875"/>
            <a:ext cx="865187" cy="288925"/>
            <a:chOff x="657" y="1570"/>
            <a:chExt cx="545" cy="182"/>
          </a:xfrm>
        </p:grpSpPr>
        <p:sp>
          <p:nvSpPr>
            <p:cNvPr id="55464" name="Line 5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65" name="Line 6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66" name="Line 7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67" name="Line 8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2" name="Group 9"/>
          <p:cNvGrpSpPr/>
          <p:nvPr/>
        </p:nvGrpSpPr>
        <p:grpSpPr>
          <a:xfrm>
            <a:off x="2601913" y="2936875"/>
            <a:ext cx="865187" cy="288925"/>
            <a:chOff x="657" y="1570"/>
            <a:chExt cx="545" cy="182"/>
          </a:xfrm>
        </p:grpSpPr>
        <p:sp>
          <p:nvSpPr>
            <p:cNvPr id="55460" name="Line 10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61" name="Line 11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62" name="Line 12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63" name="Line 13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3" name="Group 14"/>
          <p:cNvGrpSpPr/>
          <p:nvPr/>
        </p:nvGrpSpPr>
        <p:grpSpPr>
          <a:xfrm>
            <a:off x="3467100" y="2936875"/>
            <a:ext cx="865188" cy="288925"/>
            <a:chOff x="657" y="1570"/>
            <a:chExt cx="545" cy="182"/>
          </a:xfrm>
        </p:grpSpPr>
        <p:sp>
          <p:nvSpPr>
            <p:cNvPr id="55456" name="Line 15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7" name="Line 16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8" name="Line 17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9" name="Line 18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4" name="Group 19"/>
          <p:cNvGrpSpPr/>
          <p:nvPr/>
        </p:nvGrpSpPr>
        <p:grpSpPr>
          <a:xfrm>
            <a:off x="4330700" y="2936875"/>
            <a:ext cx="865188" cy="288925"/>
            <a:chOff x="657" y="1570"/>
            <a:chExt cx="545" cy="182"/>
          </a:xfrm>
        </p:grpSpPr>
        <p:sp>
          <p:nvSpPr>
            <p:cNvPr id="55452" name="Line 20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3" name="Line 21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4" name="Line 22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5" name="Line 23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5" name="Group 24"/>
          <p:cNvGrpSpPr/>
          <p:nvPr/>
        </p:nvGrpSpPr>
        <p:grpSpPr>
          <a:xfrm>
            <a:off x="5194300" y="2936875"/>
            <a:ext cx="865188" cy="288925"/>
            <a:chOff x="657" y="1570"/>
            <a:chExt cx="545" cy="182"/>
          </a:xfrm>
        </p:grpSpPr>
        <p:sp>
          <p:nvSpPr>
            <p:cNvPr id="55448" name="Line 25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9" name="Line 26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0" name="Line 27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51" name="Line 28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6" name="Group 29"/>
          <p:cNvGrpSpPr/>
          <p:nvPr/>
        </p:nvGrpSpPr>
        <p:grpSpPr>
          <a:xfrm>
            <a:off x="6057900" y="2936875"/>
            <a:ext cx="865188" cy="288925"/>
            <a:chOff x="657" y="1570"/>
            <a:chExt cx="545" cy="182"/>
          </a:xfrm>
        </p:grpSpPr>
        <p:sp>
          <p:nvSpPr>
            <p:cNvPr id="55444" name="Line 30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5" name="Line 31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6" name="Line 32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7" name="Line 33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7" name="Group 34"/>
          <p:cNvGrpSpPr/>
          <p:nvPr/>
        </p:nvGrpSpPr>
        <p:grpSpPr>
          <a:xfrm>
            <a:off x="6923088" y="2936875"/>
            <a:ext cx="865187" cy="288925"/>
            <a:chOff x="657" y="1570"/>
            <a:chExt cx="545" cy="182"/>
          </a:xfrm>
        </p:grpSpPr>
        <p:sp>
          <p:nvSpPr>
            <p:cNvPr id="55440" name="Line 35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1" name="Line 36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2" name="Line 37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43" name="Line 38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8" name="Group 39"/>
          <p:cNvGrpSpPr/>
          <p:nvPr/>
        </p:nvGrpSpPr>
        <p:grpSpPr>
          <a:xfrm>
            <a:off x="7786688" y="2936875"/>
            <a:ext cx="865187" cy="288925"/>
            <a:chOff x="657" y="1570"/>
            <a:chExt cx="545" cy="182"/>
          </a:xfrm>
        </p:grpSpPr>
        <p:sp>
          <p:nvSpPr>
            <p:cNvPr id="55436" name="Line 40"/>
            <p:cNvSpPr/>
            <p:nvPr/>
          </p:nvSpPr>
          <p:spPr>
            <a:xfrm>
              <a:off x="657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7" name="Line 41"/>
            <p:cNvSpPr/>
            <p:nvPr/>
          </p:nvSpPr>
          <p:spPr>
            <a:xfrm>
              <a:off x="657" y="1570"/>
              <a:ext cx="2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8" name="Line 42"/>
            <p:cNvSpPr/>
            <p:nvPr/>
          </p:nvSpPr>
          <p:spPr>
            <a:xfrm>
              <a:off x="930" y="1570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9" name="Line 43"/>
            <p:cNvSpPr/>
            <p:nvPr/>
          </p:nvSpPr>
          <p:spPr>
            <a:xfrm>
              <a:off x="930" y="1752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09" name="Group 44"/>
          <p:cNvGrpSpPr/>
          <p:nvPr/>
        </p:nvGrpSpPr>
        <p:grpSpPr>
          <a:xfrm>
            <a:off x="1306513" y="3370263"/>
            <a:ext cx="7345362" cy="288925"/>
            <a:chOff x="385" y="1842"/>
            <a:chExt cx="4627" cy="182"/>
          </a:xfrm>
        </p:grpSpPr>
        <p:sp>
          <p:nvSpPr>
            <p:cNvPr id="55418" name="Line 45"/>
            <p:cNvSpPr/>
            <p:nvPr/>
          </p:nvSpPr>
          <p:spPr>
            <a:xfrm>
              <a:off x="928" y="1842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19" name="Line 46"/>
            <p:cNvSpPr/>
            <p:nvPr/>
          </p:nvSpPr>
          <p:spPr>
            <a:xfrm>
              <a:off x="928" y="1842"/>
              <a:ext cx="5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0" name="Line 47"/>
            <p:cNvSpPr/>
            <p:nvPr/>
          </p:nvSpPr>
          <p:spPr>
            <a:xfrm>
              <a:off x="1473" y="1842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1" name="Line 48"/>
            <p:cNvSpPr/>
            <p:nvPr/>
          </p:nvSpPr>
          <p:spPr>
            <a:xfrm>
              <a:off x="1473" y="202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5422" name="Group 49"/>
            <p:cNvGrpSpPr/>
            <p:nvPr/>
          </p:nvGrpSpPr>
          <p:grpSpPr>
            <a:xfrm>
              <a:off x="2017" y="1842"/>
              <a:ext cx="1089" cy="182"/>
              <a:chOff x="657" y="1570"/>
              <a:chExt cx="545" cy="182"/>
            </a:xfrm>
          </p:grpSpPr>
          <p:sp>
            <p:nvSpPr>
              <p:cNvPr id="55432" name="Line 5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33" name="Line 5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34" name="Line 5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35" name="Line 5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423" name="Line 54"/>
            <p:cNvSpPr/>
            <p:nvPr/>
          </p:nvSpPr>
          <p:spPr>
            <a:xfrm>
              <a:off x="3106" y="1842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4" name="Line 55"/>
            <p:cNvSpPr/>
            <p:nvPr/>
          </p:nvSpPr>
          <p:spPr>
            <a:xfrm>
              <a:off x="3106" y="1842"/>
              <a:ext cx="5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5" name="Line 56"/>
            <p:cNvSpPr/>
            <p:nvPr/>
          </p:nvSpPr>
          <p:spPr>
            <a:xfrm>
              <a:off x="3651" y="1842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6" name="Line 57"/>
            <p:cNvSpPr/>
            <p:nvPr/>
          </p:nvSpPr>
          <p:spPr>
            <a:xfrm>
              <a:off x="3651" y="202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7" name="Line 58"/>
            <p:cNvSpPr/>
            <p:nvPr/>
          </p:nvSpPr>
          <p:spPr>
            <a:xfrm>
              <a:off x="4194" y="1842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8" name="Line 59"/>
            <p:cNvSpPr/>
            <p:nvPr/>
          </p:nvSpPr>
          <p:spPr>
            <a:xfrm>
              <a:off x="4194" y="1842"/>
              <a:ext cx="5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29" name="Line 60"/>
            <p:cNvSpPr/>
            <p:nvPr/>
          </p:nvSpPr>
          <p:spPr>
            <a:xfrm>
              <a:off x="4739" y="1842"/>
              <a:ext cx="0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0" name="Line 61"/>
            <p:cNvSpPr/>
            <p:nvPr/>
          </p:nvSpPr>
          <p:spPr>
            <a:xfrm>
              <a:off x="385" y="202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431" name="Line 62"/>
            <p:cNvSpPr/>
            <p:nvPr/>
          </p:nvSpPr>
          <p:spPr>
            <a:xfrm>
              <a:off x="4740" y="2024"/>
              <a:ext cx="2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10" name="Group 63"/>
          <p:cNvGrpSpPr/>
          <p:nvPr/>
        </p:nvGrpSpPr>
        <p:grpSpPr>
          <a:xfrm>
            <a:off x="1306513" y="3800475"/>
            <a:ext cx="7416800" cy="290513"/>
            <a:chOff x="385" y="2114"/>
            <a:chExt cx="4672" cy="183"/>
          </a:xfrm>
        </p:grpSpPr>
        <p:grpSp>
          <p:nvGrpSpPr>
            <p:cNvPr id="55407" name="Group 64"/>
            <p:cNvGrpSpPr/>
            <p:nvPr/>
          </p:nvGrpSpPr>
          <p:grpSpPr>
            <a:xfrm>
              <a:off x="385" y="2114"/>
              <a:ext cx="2177" cy="182"/>
              <a:chOff x="385" y="2114"/>
              <a:chExt cx="1088" cy="182"/>
            </a:xfrm>
          </p:grpSpPr>
          <p:sp>
            <p:nvSpPr>
              <p:cNvPr id="55414" name="Line 65"/>
              <p:cNvSpPr/>
              <p:nvPr/>
            </p:nvSpPr>
            <p:spPr>
              <a:xfrm>
                <a:off x="928" y="2114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15" name="Line 66"/>
              <p:cNvSpPr/>
              <p:nvPr/>
            </p:nvSpPr>
            <p:spPr>
              <a:xfrm>
                <a:off x="928" y="2114"/>
                <a:ext cx="5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16" name="Line 67"/>
              <p:cNvSpPr/>
              <p:nvPr/>
            </p:nvSpPr>
            <p:spPr>
              <a:xfrm>
                <a:off x="1473" y="2114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17" name="Line 68"/>
              <p:cNvSpPr/>
              <p:nvPr/>
            </p:nvSpPr>
            <p:spPr>
              <a:xfrm>
                <a:off x="385" y="2296"/>
                <a:ext cx="5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408" name="Group 69"/>
            <p:cNvGrpSpPr/>
            <p:nvPr/>
          </p:nvGrpSpPr>
          <p:grpSpPr>
            <a:xfrm>
              <a:off x="2562" y="2115"/>
              <a:ext cx="2177" cy="182"/>
              <a:chOff x="385" y="2114"/>
              <a:chExt cx="1088" cy="182"/>
            </a:xfrm>
          </p:grpSpPr>
          <p:sp>
            <p:nvSpPr>
              <p:cNvPr id="55410" name="Line 70"/>
              <p:cNvSpPr/>
              <p:nvPr/>
            </p:nvSpPr>
            <p:spPr>
              <a:xfrm>
                <a:off x="928" y="2114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11" name="Line 71"/>
              <p:cNvSpPr/>
              <p:nvPr/>
            </p:nvSpPr>
            <p:spPr>
              <a:xfrm>
                <a:off x="928" y="2114"/>
                <a:ext cx="5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12" name="Line 72"/>
              <p:cNvSpPr/>
              <p:nvPr/>
            </p:nvSpPr>
            <p:spPr>
              <a:xfrm>
                <a:off x="1473" y="2114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13" name="Line 73"/>
              <p:cNvSpPr/>
              <p:nvPr/>
            </p:nvSpPr>
            <p:spPr>
              <a:xfrm>
                <a:off x="385" y="2296"/>
                <a:ext cx="5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409" name="Line 74"/>
            <p:cNvSpPr/>
            <p:nvPr/>
          </p:nvSpPr>
          <p:spPr>
            <a:xfrm>
              <a:off x="4740" y="2296"/>
              <a:ext cx="31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11" name="Group 75"/>
          <p:cNvGrpSpPr/>
          <p:nvPr/>
        </p:nvGrpSpPr>
        <p:grpSpPr>
          <a:xfrm>
            <a:off x="1306513" y="4235450"/>
            <a:ext cx="7416800" cy="287338"/>
            <a:chOff x="385" y="2387"/>
            <a:chExt cx="4672" cy="181"/>
          </a:xfrm>
        </p:grpSpPr>
        <p:grpSp>
          <p:nvGrpSpPr>
            <p:cNvPr id="55401" name="Group 76"/>
            <p:cNvGrpSpPr/>
            <p:nvPr/>
          </p:nvGrpSpPr>
          <p:grpSpPr>
            <a:xfrm>
              <a:off x="385" y="2387"/>
              <a:ext cx="4355" cy="181"/>
              <a:chOff x="385" y="2114"/>
              <a:chExt cx="1088" cy="182"/>
            </a:xfrm>
          </p:grpSpPr>
          <p:sp>
            <p:nvSpPr>
              <p:cNvPr id="55403" name="Line 77"/>
              <p:cNvSpPr/>
              <p:nvPr/>
            </p:nvSpPr>
            <p:spPr>
              <a:xfrm>
                <a:off x="928" y="2114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04" name="Line 78"/>
              <p:cNvSpPr/>
              <p:nvPr/>
            </p:nvSpPr>
            <p:spPr>
              <a:xfrm>
                <a:off x="928" y="2114"/>
                <a:ext cx="5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05" name="Line 79"/>
              <p:cNvSpPr/>
              <p:nvPr/>
            </p:nvSpPr>
            <p:spPr>
              <a:xfrm>
                <a:off x="1473" y="2114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06" name="Line 80"/>
              <p:cNvSpPr/>
              <p:nvPr/>
            </p:nvSpPr>
            <p:spPr>
              <a:xfrm>
                <a:off x="385" y="2296"/>
                <a:ext cx="5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402" name="Line 81"/>
            <p:cNvSpPr/>
            <p:nvPr/>
          </p:nvSpPr>
          <p:spPr>
            <a:xfrm>
              <a:off x="4740" y="2568"/>
              <a:ext cx="31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5312" name="Text Box 83"/>
          <p:cNvSpPr txBox="1"/>
          <p:nvPr/>
        </p:nvSpPr>
        <p:spPr>
          <a:xfrm>
            <a:off x="900113" y="5175250"/>
            <a:ext cx="80645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从波形上分析，若</a:t>
            </a:r>
            <a:r>
              <a:rPr lang="en-US" altLang="zh-CN" sz="2400" b="1" dirty="0">
                <a:latin typeface="Georgia" panose="02040502050405020303" pitchFamily="18" charset="0"/>
              </a:rPr>
              <a:t>CP</a:t>
            </a:r>
            <a:r>
              <a:rPr lang="zh-CN" altLang="en-US" sz="2400" b="1" dirty="0">
                <a:latin typeface="Georgia" panose="02040502050405020303" pitchFamily="18" charset="0"/>
              </a:rPr>
              <a:t>脉冲的频率为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 </a:t>
            </a:r>
            <a:r>
              <a:rPr lang="zh-CN" altLang="en-US" sz="2400" b="1" dirty="0">
                <a:latin typeface="Georgia" panose="02040502050405020303" pitchFamily="18" charset="0"/>
              </a:rPr>
              <a:t>，则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的输出分别为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</a:t>
            </a:r>
            <a:r>
              <a:rPr lang="en-US" altLang="zh-CN" sz="2400" b="1" dirty="0">
                <a:latin typeface="Georgia" panose="02040502050405020303" pitchFamily="18" charset="0"/>
              </a:rPr>
              <a:t>1/2, 1/4, 1/8</a:t>
            </a:r>
            <a:r>
              <a:rPr lang="zh-CN" altLang="en-US" sz="2400" b="1" dirty="0">
                <a:latin typeface="Georgia" panose="02040502050405020303" pitchFamily="18" charset="0"/>
              </a:rPr>
              <a:t>和</a:t>
            </a:r>
            <a:r>
              <a:rPr lang="en-US" altLang="zh-CN" sz="2400" b="1" dirty="0">
                <a:latin typeface="Georgia" panose="02040502050405020303" pitchFamily="18" charset="0"/>
              </a:rPr>
              <a:t>1/16, </a:t>
            </a:r>
            <a:r>
              <a:rPr lang="zh-CN" altLang="en-US" sz="2400" b="1" dirty="0">
                <a:latin typeface="Georgia" panose="02040502050405020303" pitchFamily="18" charset="0"/>
              </a:rPr>
              <a:t>这就是计数器的分频功能，也叫“分频器”。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是二分频，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latin typeface="Georgia" panose="02040502050405020303" pitchFamily="18" charset="0"/>
              </a:rPr>
              <a:t>是四分频等。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  <p:sp>
        <p:nvSpPr>
          <p:cNvPr id="55313" name="Text Box 84"/>
          <p:cNvSpPr txBox="1"/>
          <p:nvPr/>
        </p:nvSpPr>
        <p:spPr>
          <a:xfrm>
            <a:off x="684213" y="2794000"/>
            <a:ext cx="792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endParaRPr lang="en-US" altLang="zh-CN" sz="2400" b="1" baseline="-25000" dirty="0">
              <a:latin typeface="Georgia" panose="02040502050405020303" pitchFamily="18" charset="0"/>
            </a:endParaRPr>
          </a:p>
        </p:txBody>
      </p:sp>
      <p:sp>
        <p:nvSpPr>
          <p:cNvPr id="55314" name="Text Box 85"/>
          <p:cNvSpPr txBox="1"/>
          <p:nvPr/>
        </p:nvSpPr>
        <p:spPr>
          <a:xfrm>
            <a:off x="684213" y="3225800"/>
            <a:ext cx="792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endParaRPr lang="en-US" altLang="zh-CN" sz="2400" b="1" baseline="-25000" dirty="0">
              <a:latin typeface="Georgia" panose="02040502050405020303" pitchFamily="18" charset="0"/>
            </a:endParaRPr>
          </a:p>
        </p:txBody>
      </p:sp>
      <p:sp>
        <p:nvSpPr>
          <p:cNvPr id="55315" name="Text Box 86"/>
          <p:cNvSpPr txBox="1"/>
          <p:nvPr/>
        </p:nvSpPr>
        <p:spPr>
          <a:xfrm>
            <a:off x="684213" y="3659188"/>
            <a:ext cx="792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  <a:endParaRPr lang="en-US" altLang="zh-CN" sz="2400" b="1" baseline="-25000" dirty="0">
              <a:latin typeface="Georgia" panose="02040502050405020303" pitchFamily="18" charset="0"/>
            </a:endParaRPr>
          </a:p>
        </p:txBody>
      </p:sp>
      <p:sp>
        <p:nvSpPr>
          <p:cNvPr id="55316" name="Text Box 87"/>
          <p:cNvSpPr txBox="1"/>
          <p:nvPr/>
        </p:nvSpPr>
        <p:spPr>
          <a:xfrm>
            <a:off x="684213" y="4065588"/>
            <a:ext cx="792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  <a:endParaRPr lang="en-US" altLang="zh-CN" sz="2400" b="1" baseline="-25000" dirty="0">
              <a:latin typeface="Georgia" panose="02040502050405020303" pitchFamily="18" charset="0"/>
            </a:endParaRPr>
          </a:p>
        </p:txBody>
      </p:sp>
      <p:grpSp>
        <p:nvGrpSpPr>
          <p:cNvPr id="55317" name="Group 88"/>
          <p:cNvGrpSpPr/>
          <p:nvPr/>
        </p:nvGrpSpPr>
        <p:grpSpPr>
          <a:xfrm>
            <a:off x="1366838" y="2433638"/>
            <a:ext cx="7272337" cy="288925"/>
            <a:chOff x="884" y="1343"/>
            <a:chExt cx="4581" cy="182"/>
          </a:xfrm>
        </p:grpSpPr>
        <p:grpSp>
          <p:nvGrpSpPr>
            <p:cNvPr id="55320" name="Group 89"/>
            <p:cNvGrpSpPr/>
            <p:nvPr/>
          </p:nvGrpSpPr>
          <p:grpSpPr>
            <a:xfrm>
              <a:off x="1111" y="1343"/>
              <a:ext cx="272" cy="182"/>
              <a:chOff x="657" y="1570"/>
              <a:chExt cx="545" cy="182"/>
            </a:xfrm>
          </p:grpSpPr>
          <p:sp>
            <p:nvSpPr>
              <p:cNvPr id="55397" name="Line 9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8" name="Line 9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9" name="Line 9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400" name="Line 9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1" name="Group 94"/>
            <p:cNvGrpSpPr/>
            <p:nvPr/>
          </p:nvGrpSpPr>
          <p:grpSpPr>
            <a:xfrm>
              <a:off x="1383" y="1343"/>
              <a:ext cx="272" cy="182"/>
              <a:chOff x="657" y="1570"/>
              <a:chExt cx="545" cy="182"/>
            </a:xfrm>
          </p:grpSpPr>
          <p:sp>
            <p:nvSpPr>
              <p:cNvPr id="55393" name="Line 9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4" name="Line 9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5" name="Line 9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6" name="Line 9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2" name="Group 99"/>
            <p:cNvGrpSpPr/>
            <p:nvPr/>
          </p:nvGrpSpPr>
          <p:grpSpPr>
            <a:xfrm>
              <a:off x="1656" y="1343"/>
              <a:ext cx="272" cy="182"/>
              <a:chOff x="657" y="1570"/>
              <a:chExt cx="545" cy="182"/>
            </a:xfrm>
          </p:grpSpPr>
          <p:sp>
            <p:nvSpPr>
              <p:cNvPr id="55389" name="Line 10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0" name="Line 10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1" name="Line 10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92" name="Line 10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3" name="Group 104"/>
            <p:cNvGrpSpPr/>
            <p:nvPr/>
          </p:nvGrpSpPr>
          <p:grpSpPr>
            <a:xfrm>
              <a:off x="1928" y="1343"/>
              <a:ext cx="272" cy="182"/>
              <a:chOff x="657" y="1570"/>
              <a:chExt cx="545" cy="182"/>
            </a:xfrm>
          </p:grpSpPr>
          <p:sp>
            <p:nvSpPr>
              <p:cNvPr id="55385" name="Line 10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6" name="Line 10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7" name="Line 10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8" name="Line 10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4" name="Group 109"/>
            <p:cNvGrpSpPr/>
            <p:nvPr/>
          </p:nvGrpSpPr>
          <p:grpSpPr>
            <a:xfrm>
              <a:off x="2200" y="1343"/>
              <a:ext cx="272" cy="182"/>
              <a:chOff x="657" y="1570"/>
              <a:chExt cx="545" cy="182"/>
            </a:xfrm>
          </p:grpSpPr>
          <p:sp>
            <p:nvSpPr>
              <p:cNvPr id="55381" name="Line 11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2" name="Line 11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3" name="Line 11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4" name="Line 11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5" name="Group 114"/>
            <p:cNvGrpSpPr/>
            <p:nvPr/>
          </p:nvGrpSpPr>
          <p:grpSpPr>
            <a:xfrm>
              <a:off x="2472" y="1343"/>
              <a:ext cx="272" cy="182"/>
              <a:chOff x="657" y="1570"/>
              <a:chExt cx="545" cy="182"/>
            </a:xfrm>
          </p:grpSpPr>
          <p:sp>
            <p:nvSpPr>
              <p:cNvPr id="55377" name="Line 11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8" name="Line 11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9" name="Line 11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80" name="Line 11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6" name="Group 119"/>
            <p:cNvGrpSpPr/>
            <p:nvPr/>
          </p:nvGrpSpPr>
          <p:grpSpPr>
            <a:xfrm>
              <a:off x="2745" y="1343"/>
              <a:ext cx="272" cy="182"/>
              <a:chOff x="657" y="1570"/>
              <a:chExt cx="545" cy="182"/>
            </a:xfrm>
          </p:grpSpPr>
          <p:sp>
            <p:nvSpPr>
              <p:cNvPr id="55373" name="Line 12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4" name="Line 12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5" name="Line 12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6" name="Line 12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7" name="Group 124"/>
            <p:cNvGrpSpPr/>
            <p:nvPr/>
          </p:nvGrpSpPr>
          <p:grpSpPr>
            <a:xfrm>
              <a:off x="3017" y="1343"/>
              <a:ext cx="272" cy="182"/>
              <a:chOff x="657" y="1570"/>
              <a:chExt cx="545" cy="182"/>
            </a:xfrm>
          </p:grpSpPr>
          <p:sp>
            <p:nvSpPr>
              <p:cNvPr id="55369" name="Line 12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0" name="Line 12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1" name="Line 12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72" name="Line 12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8" name="Group 129"/>
            <p:cNvGrpSpPr/>
            <p:nvPr/>
          </p:nvGrpSpPr>
          <p:grpSpPr>
            <a:xfrm>
              <a:off x="3287" y="1343"/>
              <a:ext cx="272" cy="182"/>
              <a:chOff x="657" y="1570"/>
              <a:chExt cx="545" cy="182"/>
            </a:xfrm>
          </p:grpSpPr>
          <p:sp>
            <p:nvSpPr>
              <p:cNvPr id="55365" name="Line 13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6" name="Line 13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7" name="Line 13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8" name="Line 13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29" name="Group 134"/>
            <p:cNvGrpSpPr/>
            <p:nvPr/>
          </p:nvGrpSpPr>
          <p:grpSpPr>
            <a:xfrm>
              <a:off x="3559" y="1343"/>
              <a:ext cx="272" cy="182"/>
              <a:chOff x="657" y="1570"/>
              <a:chExt cx="545" cy="182"/>
            </a:xfrm>
          </p:grpSpPr>
          <p:sp>
            <p:nvSpPr>
              <p:cNvPr id="55361" name="Line 13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2" name="Line 13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3" name="Line 13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4" name="Line 13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0" name="Group 139"/>
            <p:cNvGrpSpPr/>
            <p:nvPr/>
          </p:nvGrpSpPr>
          <p:grpSpPr>
            <a:xfrm>
              <a:off x="3832" y="1343"/>
              <a:ext cx="272" cy="182"/>
              <a:chOff x="657" y="1570"/>
              <a:chExt cx="545" cy="182"/>
            </a:xfrm>
          </p:grpSpPr>
          <p:sp>
            <p:nvSpPr>
              <p:cNvPr id="55357" name="Line 14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8" name="Line 14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9" name="Line 14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60" name="Line 14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1" name="Group 144"/>
            <p:cNvGrpSpPr/>
            <p:nvPr/>
          </p:nvGrpSpPr>
          <p:grpSpPr>
            <a:xfrm>
              <a:off x="4104" y="1343"/>
              <a:ext cx="272" cy="182"/>
              <a:chOff x="657" y="1570"/>
              <a:chExt cx="545" cy="182"/>
            </a:xfrm>
          </p:grpSpPr>
          <p:sp>
            <p:nvSpPr>
              <p:cNvPr id="55353" name="Line 14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4" name="Line 14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5" name="Line 14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6" name="Line 14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2" name="Group 149"/>
            <p:cNvGrpSpPr/>
            <p:nvPr/>
          </p:nvGrpSpPr>
          <p:grpSpPr>
            <a:xfrm>
              <a:off x="4376" y="1343"/>
              <a:ext cx="272" cy="182"/>
              <a:chOff x="657" y="1570"/>
              <a:chExt cx="545" cy="182"/>
            </a:xfrm>
          </p:grpSpPr>
          <p:sp>
            <p:nvSpPr>
              <p:cNvPr id="55349" name="Line 15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0" name="Line 15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1" name="Line 15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52" name="Line 15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3" name="Group 154"/>
            <p:cNvGrpSpPr/>
            <p:nvPr/>
          </p:nvGrpSpPr>
          <p:grpSpPr>
            <a:xfrm>
              <a:off x="4648" y="1343"/>
              <a:ext cx="272" cy="182"/>
              <a:chOff x="657" y="1570"/>
              <a:chExt cx="545" cy="182"/>
            </a:xfrm>
          </p:grpSpPr>
          <p:sp>
            <p:nvSpPr>
              <p:cNvPr id="55345" name="Line 15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6" name="Line 15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7" name="Line 15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8" name="Line 15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4" name="Group 159"/>
            <p:cNvGrpSpPr/>
            <p:nvPr/>
          </p:nvGrpSpPr>
          <p:grpSpPr>
            <a:xfrm>
              <a:off x="4921" y="1343"/>
              <a:ext cx="272" cy="182"/>
              <a:chOff x="657" y="1570"/>
              <a:chExt cx="545" cy="182"/>
            </a:xfrm>
          </p:grpSpPr>
          <p:sp>
            <p:nvSpPr>
              <p:cNvPr id="55341" name="Line 160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2" name="Line 161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3" name="Line 162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4" name="Line 163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5335" name="Group 164"/>
            <p:cNvGrpSpPr/>
            <p:nvPr/>
          </p:nvGrpSpPr>
          <p:grpSpPr>
            <a:xfrm>
              <a:off x="5193" y="1343"/>
              <a:ext cx="272" cy="182"/>
              <a:chOff x="657" y="1570"/>
              <a:chExt cx="545" cy="182"/>
            </a:xfrm>
          </p:grpSpPr>
          <p:sp>
            <p:nvSpPr>
              <p:cNvPr id="55337" name="Line 165"/>
              <p:cNvSpPr/>
              <p:nvPr/>
            </p:nvSpPr>
            <p:spPr>
              <a:xfrm>
                <a:off x="657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38" name="Line 166"/>
              <p:cNvSpPr/>
              <p:nvPr/>
            </p:nvSpPr>
            <p:spPr>
              <a:xfrm>
                <a:off x="657" y="1570"/>
                <a:ext cx="2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39" name="Line 167"/>
              <p:cNvSpPr/>
              <p:nvPr/>
            </p:nvSpPr>
            <p:spPr>
              <a:xfrm>
                <a:off x="930" y="1570"/>
                <a:ext cx="0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0" name="Line 168"/>
              <p:cNvSpPr/>
              <p:nvPr/>
            </p:nvSpPr>
            <p:spPr>
              <a:xfrm>
                <a:off x="930" y="1752"/>
                <a:ext cx="27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336" name="Line 169"/>
            <p:cNvSpPr/>
            <p:nvPr/>
          </p:nvSpPr>
          <p:spPr>
            <a:xfrm flipH="1">
              <a:off x="884" y="1525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94090" name="Rectangle 170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计数器波形图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319" name="文本框 1"/>
          <p:cNvSpPr txBox="1"/>
          <p:nvPr/>
        </p:nvSpPr>
        <p:spPr>
          <a:xfrm>
            <a:off x="635000" y="2420938"/>
            <a:ext cx="6477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/>
              <a:t>CP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57347" name="组合 92"/>
          <p:cNvGrpSpPr/>
          <p:nvPr/>
        </p:nvGrpSpPr>
        <p:grpSpPr>
          <a:xfrm>
            <a:off x="4343400" y="549275"/>
            <a:ext cx="4724400" cy="6002338"/>
            <a:chOff x="4069122" y="764704"/>
            <a:chExt cx="4724735" cy="6002338"/>
          </a:xfrm>
        </p:grpSpPr>
        <p:grpSp>
          <p:nvGrpSpPr>
            <p:cNvPr id="57353" name="组合 4"/>
            <p:cNvGrpSpPr/>
            <p:nvPr/>
          </p:nvGrpSpPr>
          <p:grpSpPr>
            <a:xfrm>
              <a:off x="4069122" y="1291299"/>
              <a:ext cx="2476500" cy="4943475"/>
              <a:chOff x="2993838" y="1057444"/>
              <a:chExt cx="2477237" cy="4943374"/>
            </a:xfrm>
          </p:grpSpPr>
          <p:grpSp>
            <p:nvGrpSpPr>
              <p:cNvPr id="57430" name="组合 119"/>
              <p:cNvGrpSpPr/>
              <p:nvPr/>
            </p:nvGrpSpPr>
            <p:grpSpPr>
              <a:xfrm>
                <a:off x="2993838" y="1330042"/>
                <a:ext cx="2477237" cy="4670776"/>
                <a:chOff x="981461" y="743213"/>
                <a:chExt cx="2477237" cy="4670776"/>
              </a:xfrm>
            </p:grpSpPr>
            <p:sp>
              <p:nvSpPr>
                <p:cNvPr id="57432" name="Line 47"/>
                <p:cNvSpPr/>
                <p:nvPr/>
              </p:nvSpPr>
              <p:spPr>
                <a:xfrm>
                  <a:off x="981461" y="812799"/>
                  <a:ext cx="2424455" cy="9016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433" name="Line 49"/>
                <p:cNvSpPr/>
                <p:nvPr/>
              </p:nvSpPr>
              <p:spPr>
                <a:xfrm>
                  <a:off x="3059593" y="834874"/>
                  <a:ext cx="25519" cy="4579115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pic>
              <p:nvPicPr>
                <p:cNvPr id="57434" name="Picture 5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 flipH="1" flipV="1">
                  <a:off x="2970390" y="743213"/>
                  <a:ext cx="135549" cy="1355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57435" name="Line 47"/>
                <p:cNvSpPr/>
                <p:nvPr/>
              </p:nvSpPr>
              <p:spPr>
                <a:xfrm>
                  <a:off x="3066093" y="2376934"/>
                  <a:ext cx="360212" cy="1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436" name="Line 47"/>
                <p:cNvSpPr/>
                <p:nvPr/>
              </p:nvSpPr>
              <p:spPr>
                <a:xfrm>
                  <a:off x="3078368" y="3938789"/>
                  <a:ext cx="360212" cy="1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437" name="Line 47"/>
                <p:cNvSpPr/>
                <p:nvPr/>
              </p:nvSpPr>
              <p:spPr>
                <a:xfrm>
                  <a:off x="3078368" y="5408351"/>
                  <a:ext cx="380330" cy="1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pic>
              <p:nvPicPr>
                <p:cNvPr id="57438" name="Picture 5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 flipH="1" flipV="1">
                  <a:off x="2979495" y="2288713"/>
                  <a:ext cx="135549" cy="1355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7439" name="Picture 5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 flipH="1" flipV="1">
                  <a:off x="2985563" y="3860080"/>
                  <a:ext cx="135549" cy="1355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57431" name="矩形 120"/>
              <p:cNvSpPr/>
              <p:nvPr/>
            </p:nvSpPr>
            <p:spPr>
              <a:xfrm>
                <a:off x="2993838" y="1057444"/>
                <a:ext cx="506870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Georgia" panose="02040502050405020303" pitchFamily="18" charset="0"/>
                  </a:rPr>
                  <a:t>CP</a:t>
                </a:r>
                <a:endParaRPr lang="en-US" altLang="zh-CN" sz="2000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57354" name="组合 15"/>
            <p:cNvGrpSpPr/>
            <p:nvPr/>
          </p:nvGrpSpPr>
          <p:grpSpPr>
            <a:xfrm>
              <a:off x="4860032" y="764704"/>
              <a:ext cx="3933825" cy="6002338"/>
              <a:chOff x="4788024" y="476811"/>
              <a:chExt cx="3933715" cy="6001387"/>
            </a:xfrm>
          </p:grpSpPr>
          <p:grpSp>
            <p:nvGrpSpPr>
              <p:cNvPr id="57355" name="组合 123"/>
              <p:cNvGrpSpPr/>
              <p:nvPr/>
            </p:nvGrpSpPr>
            <p:grpSpPr>
              <a:xfrm>
                <a:off x="4788024" y="476811"/>
                <a:ext cx="3681837" cy="6001387"/>
                <a:chOff x="4788024" y="476811"/>
                <a:chExt cx="3681837" cy="6001387"/>
              </a:xfrm>
            </p:grpSpPr>
            <p:sp>
              <p:nvSpPr>
                <p:cNvPr id="57360" name="文本框 58"/>
                <p:cNvSpPr txBox="1"/>
                <p:nvPr/>
              </p:nvSpPr>
              <p:spPr>
                <a:xfrm>
                  <a:off x="6729468" y="476811"/>
                  <a:ext cx="660987" cy="4001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 dirty="0"/>
                    <a:t>FF0</a:t>
                  </a:r>
                  <a:endParaRPr lang="zh-CN" altLang="en-US" sz="2000" dirty="0"/>
                </a:p>
              </p:txBody>
            </p:sp>
            <p:grpSp>
              <p:nvGrpSpPr>
                <p:cNvPr id="57361" name="组合 112"/>
                <p:cNvGrpSpPr/>
                <p:nvPr/>
              </p:nvGrpSpPr>
              <p:grpSpPr>
                <a:xfrm>
                  <a:off x="4788024" y="599437"/>
                  <a:ext cx="3681837" cy="5878761"/>
                  <a:chOff x="3789788" y="680603"/>
                  <a:chExt cx="3681837" cy="5878761"/>
                </a:xfrm>
              </p:grpSpPr>
              <p:sp>
                <p:nvSpPr>
                  <p:cNvPr id="57362" name="Line 47"/>
                  <p:cNvSpPr/>
                  <p:nvPr/>
                </p:nvSpPr>
                <p:spPr>
                  <a:xfrm>
                    <a:off x="4402629" y="1097514"/>
                    <a:ext cx="100965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63" name="Line 48"/>
                  <p:cNvSpPr/>
                  <p:nvPr/>
                </p:nvSpPr>
                <p:spPr>
                  <a:xfrm>
                    <a:off x="5203583" y="1817594"/>
                    <a:ext cx="22908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64" name="Line 49"/>
                  <p:cNvSpPr/>
                  <p:nvPr/>
                </p:nvSpPr>
                <p:spPr>
                  <a:xfrm>
                    <a:off x="5203584" y="1097514"/>
                    <a:ext cx="0" cy="72008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365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5164524" y="1016552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366" name="Text Box 51"/>
                  <p:cNvSpPr txBox="1"/>
                  <p:nvPr/>
                </p:nvSpPr>
                <p:spPr>
                  <a:xfrm>
                    <a:off x="4289715" y="680603"/>
                    <a:ext cx="566738" cy="45720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>
                        <a:latin typeface="Georgia" panose="02040502050405020303" pitchFamily="18" charset="0"/>
                      </a:rPr>
                      <a:t>“1”</a:t>
                    </a:r>
                    <a:endParaRPr lang="en-US" altLang="zh-CN" sz="2400" dirty="0">
                      <a:latin typeface="Georgia" panose="02040502050405020303" pitchFamily="18" charset="0"/>
                    </a:endParaRPr>
                  </a:p>
                </p:txBody>
              </p:sp>
              <p:grpSp>
                <p:nvGrpSpPr>
                  <p:cNvPr id="57367" name="组合 33"/>
                  <p:cNvGrpSpPr/>
                  <p:nvPr/>
                </p:nvGrpSpPr>
                <p:grpSpPr>
                  <a:xfrm>
                    <a:off x="5432669" y="898909"/>
                    <a:ext cx="1080121" cy="1088814"/>
                    <a:chOff x="5915826" y="4248050"/>
                    <a:chExt cx="1295400" cy="1088814"/>
                  </a:xfrm>
                </p:grpSpPr>
                <p:sp>
                  <p:nvSpPr>
                    <p:cNvPr id="57426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57427" name="组合 35"/>
                    <p:cNvGrpSpPr/>
                    <p:nvPr/>
                  </p:nvGrpSpPr>
                  <p:grpSpPr>
                    <a:xfrm>
                      <a:off x="6621963" y="4879664"/>
                      <a:ext cx="411163" cy="457200"/>
                      <a:chOff x="3001273" y="3799544"/>
                      <a:chExt cx="411163" cy="457200"/>
                    </a:xfrm>
                  </p:grpSpPr>
                  <p:sp>
                    <p:nvSpPr>
                      <p:cNvPr id="57428" name="Rectangle 31"/>
                      <p:cNvSpPr/>
                      <p:nvPr/>
                    </p:nvSpPr>
                    <p:spPr>
                      <a:xfrm>
                        <a:off x="3001273" y="3799544"/>
                        <a:ext cx="411163" cy="4572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24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24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57429" name="直接连接符 37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grpSp>
                <p:nvGrpSpPr>
                  <p:cNvPr id="57368" name="组合 43"/>
                  <p:cNvGrpSpPr/>
                  <p:nvPr/>
                </p:nvGrpSpPr>
                <p:grpSpPr>
                  <a:xfrm>
                    <a:off x="5432669" y="2444169"/>
                    <a:ext cx="1080121" cy="1088814"/>
                    <a:chOff x="5915826" y="4248050"/>
                    <a:chExt cx="1295400" cy="1088814"/>
                  </a:xfrm>
                </p:grpSpPr>
                <p:sp>
                  <p:nvSpPr>
                    <p:cNvPr id="57422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57423" name="组合 45"/>
                    <p:cNvGrpSpPr/>
                    <p:nvPr/>
                  </p:nvGrpSpPr>
                  <p:grpSpPr>
                    <a:xfrm>
                      <a:off x="6621963" y="4879664"/>
                      <a:ext cx="411163" cy="457200"/>
                      <a:chOff x="3001273" y="3799544"/>
                      <a:chExt cx="411163" cy="457200"/>
                    </a:xfrm>
                  </p:grpSpPr>
                  <p:sp>
                    <p:nvSpPr>
                      <p:cNvPr id="57424" name="Rectangle 31"/>
                      <p:cNvSpPr/>
                      <p:nvPr/>
                    </p:nvSpPr>
                    <p:spPr>
                      <a:xfrm>
                        <a:off x="3001273" y="3799544"/>
                        <a:ext cx="411163" cy="4572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24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24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57425" name="直接连接符 47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grpSp>
                <p:nvGrpSpPr>
                  <p:cNvPr id="57369" name="组合 48"/>
                  <p:cNvGrpSpPr/>
                  <p:nvPr/>
                </p:nvGrpSpPr>
                <p:grpSpPr>
                  <a:xfrm>
                    <a:off x="5453101" y="4005184"/>
                    <a:ext cx="1080121" cy="1088814"/>
                    <a:chOff x="5915826" y="4248050"/>
                    <a:chExt cx="1295400" cy="1088814"/>
                  </a:xfrm>
                </p:grpSpPr>
                <p:sp>
                  <p:nvSpPr>
                    <p:cNvPr id="57418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57419" name="组合 50"/>
                    <p:cNvGrpSpPr/>
                    <p:nvPr/>
                  </p:nvGrpSpPr>
                  <p:grpSpPr>
                    <a:xfrm>
                      <a:off x="6621963" y="4879664"/>
                      <a:ext cx="411163" cy="457200"/>
                      <a:chOff x="3001273" y="3799544"/>
                      <a:chExt cx="411163" cy="457200"/>
                    </a:xfrm>
                  </p:grpSpPr>
                  <p:sp>
                    <p:nvSpPr>
                      <p:cNvPr id="57420" name="Rectangle 31"/>
                      <p:cNvSpPr/>
                      <p:nvPr/>
                    </p:nvSpPr>
                    <p:spPr>
                      <a:xfrm>
                        <a:off x="3001273" y="3799544"/>
                        <a:ext cx="411163" cy="4572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24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24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57421" name="直接连接符 52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grpSp>
                <p:nvGrpSpPr>
                  <p:cNvPr id="57370" name="组合 53"/>
                  <p:cNvGrpSpPr/>
                  <p:nvPr/>
                </p:nvGrpSpPr>
                <p:grpSpPr>
                  <a:xfrm>
                    <a:off x="5467829" y="5470550"/>
                    <a:ext cx="1080121" cy="1088814"/>
                    <a:chOff x="5915826" y="4248050"/>
                    <a:chExt cx="1295400" cy="1088814"/>
                  </a:xfrm>
                </p:grpSpPr>
                <p:sp>
                  <p:nvSpPr>
                    <p:cNvPr id="57414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24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24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57415" name="组合 55"/>
                    <p:cNvGrpSpPr/>
                    <p:nvPr/>
                  </p:nvGrpSpPr>
                  <p:grpSpPr>
                    <a:xfrm>
                      <a:off x="6621963" y="4879664"/>
                      <a:ext cx="411163" cy="457200"/>
                      <a:chOff x="3001273" y="3799544"/>
                      <a:chExt cx="411163" cy="457200"/>
                    </a:xfrm>
                  </p:grpSpPr>
                  <p:sp>
                    <p:nvSpPr>
                      <p:cNvPr id="57416" name="Rectangle 31"/>
                      <p:cNvSpPr/>
                      <p:nvPr/>
                    </p:nvSpPr>
                    <p:spPr>
                      <a:xfrm>
                        <a:off x="3001273" y="3799544"/>
                        <a:ext cx="411163" cy="4572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24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24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57417" name="直接连接符 57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sp>
                <p:nvSpPr>
                  <p:cNvPr id="57371" name="文本框 59"/>
                  <p:cNvSpPr txBox="1"/>
                  <p:nvPr/>
                </p:nvSpPr>
                <p:spPr>
                  <a:xfrm>
                    <a:off x="5700846" y="2120628"/>
                    <a:ext cx="660987" cy="4001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 dirty="0"/>
                      <a:t>FF1</a:t>
                    </a:r>
                    <a:endParaRPr lang="zh-CN" altLang="en-US" sz="2000" dirty="0"/>
                  </a:p>
                </p:txBody>
              </p:sp>
              <p:sp>
                <p:nvSpPr>
                  <p:cNvPr id="57372" name="文本框 60"/>
                  <p:cNvSpPr txBox="1"/>
                  <p:nvPr/>
                </p:nvSpPr>
                <p:spPr>
                  <a:xfrm>
                    <a:off x="5690961" y="3689034"/>
                    <a:ext cx="660987" cy="4001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 dirty="0"/>
                      <a:t>FF2</a:t>
                    </a:r>
                    <a:endParaRPr lang="zh-CN" altLang="en-US" sz="2000" dirty="0"/>
                  </a:p>
                </p:txBody>
              </p:sp>
              <p:sp>
                <p:nvSpPr>
                  <p:cNvPr id="57373" name="文本框 61"/>
                  <p:cNvSpPr txBox="1"/>
                  <p:nvPr/>
                </p:nvSpPr>
                <p:spPr>
                  <a:xfrm>
                    <a:off x="5736006" y="5156965"/>
                    <a:ext cx="660987" cy="4001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000" dirty="0"/>
                      <a:t>FF3</a:t>
                    </a:r>
                    <a:endParaRPr lang="zh-CN" altLang="en-US" sz="2000" dirty="0"/>
                  </a:p>
                </p:txBody>
              </p:sp>
              <p:sp>
                <p:nvSpPr>
                  <p:cNvPr id="57374" name="Line 46"/>
                  <p:cNvSpPr/>
                  <p:nvPr/>
                </p:nvSpPr>
                <p:spPr>
                  <a:xfrm flipV="1">
                    <a:off x="6512790" y="1086391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75" name="Line 49"/>
                  <p:cNvSpPr/>
                  <p:nvPr/>
                </p:nvSpPr>
                <p:spPr>
                  <a:xfrm>
                    <a:off x="6860401" y="1097514"/>
                    <a:ext cx="12602" cy="1057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76" name="Line 46"/>
                  <p:cNvSpPr/>
                  <p:nvPr/>
                </p:nvSpPr>
                <p:spPr>
                  <a:xfrm flipV="1">
                    <a:off x="6512790" y="2609682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77" name="Line 46"/>
                  <p:cNvSpPr/>
                  <p:nvPr/>
                </p:nvSpPr>
                <p:spPr>
                  <a:xfrm flipV="1">
                    <a:off x="6547950" y="4193858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78" name="Line 46"/>
                  <p:cNvSpPr/>
                  <p:nvPr/>
                </p:nvSpPr>
                <p:spPr>
                  <a:xfrm flipV="1">
                    <a:off x="6547950" y="5634018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379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6788393" y="1021218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380" name="Line 46"/>
                  <p:cNvSpPr/>
                  <p:nvPr/>
                </p:nvSpPr>
                <p:spPr>
                  <a:xfrm>
                    <a:off x="3863342" y="2154740"/>
                    <a:ext cx="3018045" cy="600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81" name="Line 49"/>
                  <p:cNvSpPr/>
                  <p:nvPr/>
                </p:nvSpPr>
                <p:spPr>
                  <a:xfrm flipH="1">
                    <a:off x="3823312" y="2154739"/>
                    <a:ext cx="39649" cy="399876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82" name="Line 46"/>
                  <p:cNvSpPr/>
                  <p:nvPr/>
                </p:nvSpPr>
                <p:spPr>
                  <a:xfrm flipV="1">
                    <a:off x="3863342" y="2589010"/>
                    <a:ext cx="1569326" cy="10035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83" name="Line 46"/>
                  <p:cNvSpPr/>
                  <p:nvPr/>
                </p:nvSpPr>
                <p:spPr>
                  <a:xfrm flipV="1">
                    <a:off x="4765264" y="3309090"/>
                    <a:ext cx="66740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84" name="Rectangle 54"/>
                  <p:cNvSpPr/>
                  <p:nvPr/>
                </p:nvSpPr>
                <p:spPr>
                  <a:xfrm>
                    <a:off x="4420651" y="4206639"/>
                    <a:ext cx="323850" cy="609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57385" name="Rectangle 54"/>
                  <p:cNvSpPr/>
                  <p:nvPr/>
                </p:nvSpPr>
                <p:spPr>
                  <a:xfrm>
                    <a:off x="4432983" y="5672222"/>
                    <a:ext cx="323850" cy="609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57386" name="Line 49"/>
                  <p:cNvSpPr/>
                  <p:nvPr/>
                </p:nvSpPr>
                <p:spPr>
                  <a:xfrm>
                    <a:off x="4758127" y="2589011"/>
                    <a:ext cx="0" cy="72008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387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4692955" y="2518528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388" name="Line 49"/>
                  <p:cNvSpPr/>
                  <p:nvPr/>
                </p:nvSpPr>
                <p:spPr>
                  <a:xfrm>
                    <a:off x="6873003" y="2598338"/>
                    <a:ext cx="8384" cy="1090695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89" name="Line 49"/>
                  <p:cNvSpPr/>
                  <p:nvPr/>
                </p:nvSpPr>
                <p:spPr>
                  <a:xfrm flipH="1">
                    <a:off x="6873003" y="4193858"/>
                    <a:ext cx="0" cy="98521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390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6828145" y="2539199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57391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6826987" y="4121546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392" name="Line 46"/>
                  <p:cNvSpPr/>
                  <p:nvPr/>
                </p:nvSpPr>
                <p:spPr>
                  <a:xfrm flipV="1">
                    <a:off x="4050069" y="3692298"/>
                    <a:ext cx="2851223" cy="8687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93" name="Line 49"/>
                  <p:cNvSpPr/>
                  <p:nvPr/>
                </p:nvSpPr>
                <p:spPr>
                  <a:xfrm flipH="1">
                    <a:off x="4037705" y="3700985"/>
                    <a:ext cx="11983" cy="228514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94" name="Line 46"/>
                  <p:cNvSpPr/>
                  <p:nvPr/>
                </p:nvSpPr>
                <p:spPr>
                  <a:xfrm>
                    <a:off x="4212459" y="5170546"/>
                    <a:ext cx="2668927" cy="189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95" name="Line 49"/>
                  <p:cNvSpPr/>
                  <p:nvPr/>
                </p:nvSpPr>
                <p:spPr>
                  <a:xfrm>
                    <a:off x="4210006" y="5170546"/>
                    <a:ext cx="2454" cy="62359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396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3813962" y="2523839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397" name="Line 46"/>
                  <p:cNvSpPr/>
                  <p:nvPr/>
                </p:nvSpPr>
                <p:spPr>
                  <a:xfrm>
                    <a:off x="4742352" y="4533227"/>
                    <a:ext cx="111701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98" name="Line 46"/>
                  <p:cNvSpPr/>
                  <p:nvPr/>
                </p:nvSpPr>
                <p:spPr>
                  <a:xfrm flipV="1">
                    <a:off x="3863342" y="4388786"/>
                    <a:ext cx="549344" cy="42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399" name="Line 46"/>
                  <p:cNvSpPr/>
                  <p:nvPr/>
                </p:nvSpPr>
                <p:spPr>
                  <a:xfrm>
                    <a:off x="3813962" y="6156332"/>
                    <a:ext cx="616566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400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3789788" y="4305437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401" name="Line 46"/>
                  <p:cNvSpPr/>
                  <p:nvPr/>
                </p:nvSpPr>
                <p:spPr>
                  <a:xfrm flipV="1">
                    <a:off x="4050069" y="4630632"/>
                    <a:ext cx="37058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402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3992899" y="4551765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403" name="Line 46"/>
                  <p:cNvSpPr/>
                  <p:nvPr/>
                </p:nvSpPr>
                <p:spPr>
                  <a:xfrm>
                    <a:off x="4037705" y="5986125"/>
                    <a:ext cx="392823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04" name="Line 46"/>
                  <p:cNvSpPr/>
                  <p:nvPr/>
                </p:nvSpPr>
                <p:spPr>
                  <a:xfrm flipV="1">
                    <a:off x="4212461" y="5794139"/>
                    <a:ext cx="218067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05" name="Line 49"/>
                  <p:cNvSpPr/>
                  <p:nvPr/>
                </p:nvSpPr>
                <p:spPr>
                  <a:xfrm>
                    <a:off x="4854051" y="4173187"/>
                    <a:ext cx="1" cy="72007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06" name="Line 46"/>
                  <p:cNvSpPr/>
                  <p:nvPr/>
                </p:nvSpPr>
                <p:spPr>
                  <a:xfrm>
                    <a:off x="4854053" y="4173187"/>
                    <a:ext cx="59904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07" name="Line 46"/>
                  <p:cNvSpPr/>
                  <p:nvPr/>
                </p:nvSpPr>
                <p:spPr>
                  <a:xfrm flipV="1">
                    <a:off x="4854050" y="4888185"/>
                    <a:ext cx="599049" cy="508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408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4798202" y="4456679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7409" name="Line 46"/>
                  <p:cNvSpPr/>
                  <p:nvPr/>
                </p:nvSpPr>
                <p:spPr>
                  <a:xfrm>
                    <a:off x="4751016" y="5973385"/>
                    <a:ext cx="111701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10" name="Line 49"/>
                  <p:cNvSpPr/>
                  <p:nvPr/>
                </p:nvSpPr>
                <p:spPr>
                  <a:xfrm>
                    <a:off x="4862715" y="5613345"/>
                    <a:ext cx="1" cy="72007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11" name="Line 46"/>
                  <p:cNvSpPr/>
                  <p:nvPr/>
                </p:nvSpPr>
                <p:spPr>
                  <a:xfrm>
                    <a:off x="4862717" y="5613345"/>
                    <a:ext cx="60511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7412" name="Line 46"/>
                  <p:cNvSpPr/>
                  <p:nvPr/>
                </p:nvSpPr>
                <p:spPr>
                  <a:xfrm flipV="1">
                    <a:off x="4862714" y="6333424"/>
                    <a:ext cx="605113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57413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4806866" y="5896837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</p:grpSp>
          <p:sp>
            <p:nvSpPr>
              <p:cNvPr id="57356" name="文本框 124"/>
              <p:cNvSpPr txBox="1"/>
              <p:nvPr/>
            </p:nvSpPr>
            <p:spPr>
              <a:xfrm>
                <a:off x="7879621" y="628799"/>
                <a:ext cx="711525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/>
                  <a:t>Q</a:t>
                </a:r>
                <a:r>
                  <a:rPr lang="en-US" altLang="zh-CN" sz="2000" baseline="-25000" dirty="0"/>
                  <a:t>0</a:t>
                </a:r>
                <a:endParaRPr lang="zh-CN" altLang="en-US" sz="2000" baseline="-25000" dirty="0"/>
              </a:p>
            </p:txBody>
          </p:sp>
          <p:sp>
            <p:nvSpPr>
              <p:cNvPr id="57357" name="文本框 125"/>
              <p:cNvSpPr txBox="1"/>
              <p:nvPr/>
            </p:nvSpPr>
            <p:spPr>
              <a:xfrm>
                <a:off x="7941487" y="2105940"/>
                <a:ext cx="711525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/>
                  <a:t>Q</a:t>
                </a:r>
                <a:r>
                  <a:rPr lang="en-US" altLang="zh-CN" sz="2000" baseline="-25000" dirty="0"/>
                  <a:t>1</a:t>
                </a:r>
                <a:endParaRPr lang="zh-CN" altLang="en-US" sz="2000" baseline="-25000" dirty="0"/>
              </a:p>
            </p:txBody>
          </p:sp>
          <p:sp>
            <p:nvSpPr>
              <p:cNvPr id="57358" name="文本框 126"/>
              <p:cNvSpPr txBox="1"/>
              <p:nvPr/>
            </p:nvSpPr>
            <p:spPr>
              <a:xfrm>
                <a:off x="7972863" y="3734803"/>
                <a:ext cx="711525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/>
                  <a:t>Q</a:t>
                </a:r>
                <a:r>
                  <a:rPr lang="en-US" altLang="zh-CN" sz="2000" baseline="-25000" dirty="0"/>
                  <a:t>2</a:t>
                </a:r>
                <a:endParaRPr lang="zh-CN" altLang="en-US" sz="2000" baseline="-25000" dirty="0"/>
              </a:p>
            </p:txBody>
          </p:sp>
          <p:sp>
            <p:nvSpPr>
              <p:cNvPr id="57359" name="文本框 127"/>
              <p:cNvSpPr txBox="1"/>
              <p:nvPr/>
            </p:nvSpPr>
            <p:spPr>
              <a:xfrm>
                <a:off x="8010214" y="5179076"/>
                <a:ext cx="711525" cy="4001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/>
                  <a:t>Q</a:t>
                </a:r>
                <a:r>
                  <a:rPr lang="en-US" altLang="zh-CN" sz="2000" baseline="-25000" dirty="0"/>
                  <a:t>3</a:t>
                </a:r>
                <a:endParaRPr lang="zh-CN" altLang="en-US" sz="2000" baseline="-25000" dirty="0"/>
              </a:p>
            </p:txBody>
          </p:sp>
        </p:grpSp>
      </p:grpSp>
      <p:sp>
        <p:nvSpPr>
          <p:cNvPr id="92" name="内容占位符 2"/>
          <p:cNvSpPr>
            <a:spLocks noGrp="1"/>
          </p:cNvSpPr>
          <p:nvPr>
            <p:ph idx="1"/>
          </p:nvPr>
        </p:nvSpPr>
        <p:spPr>
          <a:xfrm>
            <a:off x="136525" y="103188"/>
            <a:ext cx="8496300" cy="1905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例六：如图所示，分析并说明逻辑功能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3425" y="2028825"/>
            <a:ext cx="21605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J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=K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=1</a:t>
            </a:r>
            <a:endParaRPr lang="zh-CN" altLang="en-US" sz="2800" dirty="0"/>
          </a:p>
        </p:txBody>
      </p:sp>
      <p:sp>
        <p:nvSpPr>
          <p:cNvPr id="98" name="文本框 97"/>
          <p:cNvSpPr txBox="1"/>
          <p:nvPr/>
        </p:nvSpPr>
        <p:spPr>
          <a:xfrm>
            <a:off x="733425" y="2722563"/>
            <a:ext cx="2160588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J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=K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=Q</a:t>
            </a:r>
            <a:r>
              <a:rPr lang="en-US" altLang="zh-CN" sz="2800" baseline="-25000" dirty="0"/>
              <a:t>0n</a:t>
            </a:r>
            <a:endParaRPr lang="zh-CN" altLang="en-US" sz="2800" baseline="-25000" dirty="0"/>
          </a:p>
        </p:txBody>
      </p:sp>
      <p:sp>
        <p:nvSpPr>
          <p:cNvPr id="99" name="文本框 98"/>
          <p:cNvSpPr txBox="1"/>
          <p:nvPr/>
        </p:nvSpPr>
        <p:spPr>
          <a:xfrm>
            <a:off x="744538" y="4264025"/>
            <a:ext cx="43894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J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=K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=Q</a:t>
            </a:r>
            <a:r>
              <a:rPr lang="en-US" altLang="zh-CN" sz="2800" baseline="-25000" dirty="0"/>
              <a:t>0n</a:t>
            </a:r>
            <a:r>
              <a:rPr lang="en-US" altLang="zh-CN" sz="2800" dirty="0"/>
              <a:t> Q</a:t>
            </a:r>
            <a:r>
              <a:rPr lang="en-US" altLang="zh-CN" sz="2800" baseline="-25000" dirty="0"/>
              <a:t>1n</a:t>
            </a:r>
            <a:r>
              <a:rPr lang="en-US" altLang="zh-CN" sz="2800" dirty="0"/>
              <a:t> Q</a:t>
            </a:r>
            <a:r>
              <a:rPr lang="en-US" altLang="zh-CN" sz="2800" baseline="-25000" dirty="0"/>
              <a:t>2n</a:t>
            </a:r>
            <a:endParaRPr lang="zh-CN" altLang="en-US" sz="2800" baseline="-25000" dirty="0"/>
          </a:p>
        </p:txBody>
      </p:sp>
      <p:sp>
        <p:nvSpPr>
          <p:cNvPr id="100" name="文本框 99"/>
          <p:cNvSpPr txBox="1"/>
          <p:nvPr/>
        </p:nvSpPr>
        <p:spPr>
          <a:xfrm>
            <a:off x="719138" y="3462338"/>
            <a:ext cx="2954337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dirty="0"/>
              <a:t>J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=K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=Q</a:t>
            </a:r>
            <a:r>
              <a:rPr lang="en-US" altLang="zh-CN" sz="2800" baseline="-25000" dirty="0"/>
              <a:t>n0</a:t>
            </a:r>
            <a:r>
              <a:rPr lang="en-US" altLang="zh-CN" sz="2800" dirty="0"/>
              <a:t> Q</a:t>
            </a:r>
            <a:r>
              <a:rPr lang="en-US" altLang="zh-CN" sz="2800" baseline="-25000" dirty="0"/>
              <a:t>1n</a:t>
            </a:r>
            <a:endParaRPr lang="zh-CN" altLang="en-US" sz="28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8" grpId="0"/>
      <p:bldP spid="99" grpId="0"/>
      <p:bldP spid="10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aphicFrame>
        <p:nvGraphicFramePr>
          <p:cNvPr id="5" name="Group 247"/>
          <p:cNvGraphicFramePr>
            <a:graphicFrameLocks noGrp="1"/>
          </p:cNvGraphicFramePr>
          <p:nvPr/>
        </p:nvGraphicFramePr>
        <p:xfrm>
          <a:off x="2916238" y="423863"/>
          <a:ext cx="5791200" cy="5791200"/>
        </p:xfrm>
        <a:graphic>
          <a:graphicData uri="http://schemas.openxmlformats.org/drawingml/2006/table">
            <a:tbl>
              <a:tblPr/>
              <a:tblGrid>
                <a:gridCol w="609600"/>
                <a:gridCol w="533400"/>
                <a:gridCol w="685800"/>
                <a:gridCol w="533400"/>
                <a:gridCol w="609600"/>
                <a:gridCol w="685800"/>
                <a:gridCol w="685800"/>
                <a:gridCol w="762000"/>
                <a:gridCol w="685800"/>
              </a:tblGrid>
              <a:tr h="4889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0n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CC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CC66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175625" y="881063"/>
            <a:ext cx="515938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51725" y="881063"/>
            <a:ext cx="514350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27825" y="881063"/>
            <a:ext cx="515938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59488" y="881063"/>
            <a:ext cx="514350" cy="539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1</a:t>
            </a:r>
            <a:endParaRPr lang="en-US" altLang="zh-CN" sz="2000" b="1" dirty="0">
              <a:solidFill>
                <a:srgbClr val="00FF00"/>
              </a:solidFill>
            </a:endParaRPr>
          </a:p>
          <a:p>
            <a:pPr marL="0" lvl="0" indent="0">
              <a:lnSpc>
                <a:spcPts val="26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00FF00"/>
                </a:solidFill>
              </a:rPr>
              <a:t>0</a:t>
            </a:r>
            <a:endParaRPr lang="zh-CN" altLang="en-US" sz="2000" b="1" dirty="0">
              <a:solidFill>
                <a:srgbClr val="00FF00"/>
              </a:solidFill>
            </a:endParaRPr>
          </a:p>
        </p:txBody>
      </p:sp>
      <p:grpSp>
        <p:nvGrpSpPr>
          <p:cNvPr id="58557" name="组合 1"/>
          <p:cNvGrpSpPr/>
          <p:nvPr/>
        </p:nvGrpSpPr>
        <p:grpSpPr>
          <a:xfrm>
            <a:off x="250825" y="2133600"/>
            <a:ext cx="3459163" cy="2695575"/>
            <a:chOff x="106212" y="2084753"/>
            <a:chExt cx="4414323" cy="2695911"/>
          </a:xfrm>
        </p:grpSpPr>
        <p:sp>
          <p:nvSpPr>
            <p:cNvPr id="58558" name="文本框 13"/>
            <p:cNvSpPr txBox="1"/>
            <p:nvPr/>
          </p:nvSpPr>
          <p:spPr>
            <a:xfrm>
              <a:off x="120462" y="2084753"/>
              <a:ext cx="216024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r>
                <a:rPr lang="en-US" altLang="zh-CN" sz="2400" baseline="-25000" dirty="0"/>
                <a:t>0</a:t>
              </a:r>
              <a:r>
                <a:rPr lang="en-US" altLang="zh-CN" sz="2400" dirty="0"/>
                <a:t>=K</a:t>
              </a:r>
              <a:r>
                <a:rPr lang="en-US" altLang="zh-CN" sz="2400" baseline="-25000" dirty="0"/>
                <a:t>0</a:t>
              </a:r>
              <a:r>
                <a:rPr lang="en-US" altLang="zh-CN" sz="2400" dirty="0"/>
                <a:t>=1</a:t>
              </a:r>
              <a:endParaRPr lang="zh-CN" altLang="en-US" sz="2400" dirty="0"/>
            </a:p>
          </p:txBody>
        </p:sp>
        <p:sp>
          <p:nvSpPr>
            <p:cNvPr id="58559" name="文本框 14"/>
            <p:cNvSpPr txBox="1"/>
            <p:nvPr/>
          </p:nvSpPr>
          <p:spPr>
            <a:xfrm>
              <a:off x="120462" y="2777417"/>
              <a:ext cx="2160240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/>
                <a:t>=K</a:t>
              </a:r>
              <a:r>
                <a:rPr lang="en-US" altLang="zh-CN" sz="2400" baseline="-25000" dirty="0"/>
                <a:t>1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endParaRPr lang="zh-CN" altLang="en-US" sz="2400" baseline="-25000" dirty="0"/>
            </a:p>
          </p:txBody>
        </p:sp>
        <p:sp>
          <p:nvSpPr>
            <p:cNvPr id="58560" name="文本框 15"/>
            <p:cNvSpPr txBox="1"/>
            <p:nvPr/>
          </p:nvSpPr>
          <p:spPr>
            <a:xfrm>
              <a:off x="131980" y="4318999"/>
              <a:ext cx="438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r>
                <a:rPr lang="en-US" altLang="zh-CN" sz="2400" baseline="-25000" dirty="0"/>
                <a:t>3</a:t>
              </a:r>
              <a:r>
                <a:rPr lang="en-US" altLang="zh-CN" sz="2400" dirty="0"/>
                <a:t>=K</a:t>
              </a:r>
              <a:r>
                <a:rPr lang="en-US" altLang="zh-CN" sz="2400" baseline="-25000" dirty="0"/>
                <a:t>3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0n</a:t>
              </a:r>
              <a:r>
                <a:rPr lang="en-US" altLang="zh-CN" sz="2400" dirty="0"/>
                <a:t> Q</a:t>
              </a:r>
              <a:r>
                <a:rPr lang="en-US" altLang="zh-CN" sz="2400" baseline="-25000" dirty="0"/>
                <a:t>1n</a:t>
              </a:r>
              <a:r>
                <a:rPr lang="en-US" altLang="zh-CN" sz="2400" dirty="0"/>
                <a:t> Q</a:t>
              </a:r>
              <a:r>
                <a:rPr lang="en-US" altLang="zh-CN" sz="2400" baseline="-25000" dirty="0"/>
                <a:t>2n</a:t>
              </a:r>
              <a:endParaRPr lang="zh-CN" altLang="en-US" sz="2400" baseline="-25000" dirty="0"/>
            </a:p>
          </p:txBody>
        </p:sp>
        <p:sp>
          <p:nvSpPr>
            <p:cNvPr id="58561" name="文本框 16"/>
            <p:cNvSpPr txBox="1"/>
            <p:nvPr/>
          </p:nvSpPr>
          <p:spPr>
            <a:xfrm>
              <a:off x="106212" y="3517105"/>
              <a:ext cx="2954453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l"/>
                <a:defRPr sz="32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Ø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ü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Char char="–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/>
                <a:t>J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=K</a:t>
              </a:r>
              <a:r>
                <a:rPr lang="en-US" altLang="zh-CN" sz="2400" baseline="-25000" dirty="0"/>
                <a:t>2</a:t>
              </a:r>
              <a:r>
                <a:rPr lang="en-US" altLang="zh-CN" sz="2400" dirty="0"/>
                <a:t>=Q</a:t>
              </a:r>
              <a:r>
                <a:rPr lang="en-US" altLang="zh-CN" sz="2400" baseline="-25000" dirty="0"/>
                <a:t>n0</a:t>
              </a:r>
              <a:r>
                <a:rPr lang="en-US" altLang="zh-CN" sz="2400" dirty="0"/>
                <a:t> Q</a:t>
              </a:r>
              <a:r>
                <a:rPr lang="en-US" altLang="zh-CN" sz="2400" baseline="-25000" dirty="0"/>
                <a:t>1n</a:t>
              </a:r>
              <a:endParaRPr lang="zh-CN" altLang="en-US" sz="2400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状态图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42888" y="2287588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wrap="none"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38288" y="2287588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909888" y="22875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281488" y="2287588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0011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213725" y="3319463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243888" y="2287588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946900" y="2287588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576888" y="2287588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0100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14"/>
          <p:cNvSpPr/>
          <p:nvPr/>
        </p:nvSpPr>
        <p:spPr>
          <a:xfrm flipV="1">
            <a:off x="879475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Line 17"/>
          <p:cNvSpPr/>
          <p:nvPr/>
        </p:nvSpPr>
        <p:spPr>
          <a:xfrm>
            <a:off x="8548688" y="2720975"/>
            <a:ext cx="0" cy="557213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Line 20"/>
          <p:cNvSpPr/>
          <p:nvPr/>
        </p:nvSpPr>
        <p:spPr>
          <a:xfrm flipH="1" flipV="1">
            <a:off x="471488" y="2720975"/>
            <a:ext cx="0" cy="53340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Line 23"/>
          <p:cNvSpPr/>
          <p:nvPr/>
        </p:nvSpPr>
        <p:spPr>
          <a:xfrm flipV="1">
            <a:off x="2224088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" name="Line 26"/>
          <p:cNvSpPr/>
          <p:nvPr/>
        </p:nvSpPr>
        <p:spPr>
          <a:xfrm flipV="1">
            <a:off x="3546475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" name="Line 29"/>
          <p:cNvSpPr/>
          <p:nvPr/>
        </p:nvSpPr>
        <p:spPr>
          <a:xfrm flipV="1">
            <a:off x="4891088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" name="Line 32"/>
          <p:cNvSpPr/>
          <p:nvPr/>
        </p:nvSpPr>
        <p:spPr>
          <a:xfrm flipV="1">
            <a:off x="6213475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" name="Line 35"/>
          <p:cNvSpPr/>
          <p:nvPr/>
        </p:nvSpPr>
        <p:spPr>
          <a:xfrm flipV="1">
            <a:off x="7558088" y="24923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" name="Line 38"/>
          <p:cNvSpPr/>
          <p:nvPr/>
        </p:nvSpPr>
        <p:spPr>
          <a:xfrm>
            <a:off x="8548688" y="3811588"/>
            <a:ext cx="0" cy="45720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" name="Text Box 40"/>
          <p:cNvSpPr txBox="1">
            <a:spLocks noChangeArrowheads="1"/>
          </p:cNvSpPr>
          <p:nvPr/>
        </p:nvSpPr>
        <p:spPr bwMode="auto">
          <a:xfrm>
            <a:off x="8167688" y="4310063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Text Box 41"/>
          <p:cNvSpPr txBox="1">
            <a:spLocks noChangeArrowheads="1"/>
          </p:cNvSpPr>
          <p:nvPr/>
        </p:nvSpPr>
        <p:spPr bwMode="auto">
          <a:xfrm>
            <a:off x="166688" y="4268788"/>
            <a:ext cx="6556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1538288" y="4310063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Text Box 43"/>
          <p:cNvSpPr txBox="1">
            <a:spLocks noChangeArrowheads="1"/>
          </p:cNvSpPr>
          <p:nvPr/>
        </p:nvSpPr>
        <p:spPr bwMode="auto">
          <a:xfrm>
            <a:off x="2909888" y="431006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1100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Text Box 44"/>
          <p:cNvSpPr txBox="1">
            <a:spLocks noChangeArrowheads="1"/>
          </p:cNvSpPr>
          <p:nvPr/>
        </p:nvSpPr>
        <p:spPr bwMode="auto">
          <a:xfrm>
            <a:off x="4281488" y="4310063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45"/>
          <p:cNvSpPr txBox="1">
            <a:spLocks noChangeArrowheads="1"/>
          </p:cNvSpPr>
          <p:nvPr/>
        </p:nvSpPr>
        <p:spPr bwMode="auto">
          <a:xfrm>
            <a:off x="6872288" y="4310063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1001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Text Box 46"/>
          <p:cNvSpPr txBox="1">
            <a:spLocks noChangeArrowheads="1"/>
          </p:cNvSpPr>
          <p:nvPr/>
        </p:nvSpPr>
        <p:spPr bwMode="auto">
          <a:xfrm>
            <a:off x="5576888" y="4310063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1010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Line 48"/>
          <p:cNvSpPr/>
          <p:nvPr/>
        </p:nvSpPr>
        <p:spPr>
          <a:xfrm flipV="1">
            <a:off x="852488" y="4456113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" name="Text Box 50"/>
          <p:cNvSpPr txBox="1">
            <a:spLocks noChangeArrowheads="1"/>
          </p:cNvSpPr>
          <p:nvPr/>
        </p:nvSpPr>
        <p:spPr bwMode="auto">
          <a:xfrm>
            <a:off x="166688" y="3278188"/>
            <a:ext cx="63341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</a:ln>
          <a:effectLst/>
        </p:spPr>
        <p:txBody>
          <a:bodyPr lIns="0" rIns="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  <a:ea typeface="宋体" panose="02010600030101010101" pitchFamily="2" charset="-122"/>
                <a:cs typeface="+mn-cs"/>
              </a:rPr>
              <a:t>1111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Georgia" panose="020405020504050203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Line 52"/>
          <p:cNvSpPr/>
          <p:nvPr/>
        </p:nvSpPr>
        <p:spPr>
          <a:xfrm flipH="1" flipV="1">
            <a:off x="471488" y="3659188"/>
            <a:ext cx="0" cy="60960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" name="Line 55"/>
          <p:cNvSpPr/>
          <p:nvPr/>
        </p:nvSpPr>
        <p:spPr>
          <a:xfrm flipV="1">
            <a:off x="22240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4" name="Line 58"/>
          <p:cNvSpPr/>
          <p:nvPr/>
        </p:nvSpPr>
        <p:spPr>
          <a:xfrm flipV="1">
            <a:off x="35956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5" name="Line 61"/>
          <p:cNvSpPr/>
          <p:nvPr/>
        </p:nvSpPr>
        <p:spPr>
          <a:xfrm flipV="1">
            <a:off x="48910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6" name="Line 64"/>
          <p:cNvSpPr/>
          <p:nvPr/>
        </p:nvSpPr>
        <p:spPr>
          <a:xfrm flipV="1">
            <a:off x="61864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7" name="Line 67"/>
          <p:cNvSpPr/>
          <p:nvPr/>
        </p:nvSpPr>
        <p:spPr>
          <a:xfrm flipV="1">
            <a:off x="7481888" y="4473575"/>
            <a:ext cx="685800" cy="0"/>
          </a:xfrm>
          <a:prstGeom prst="line">
            <a:avLst/>
          </a:prstGeom>
          <a:ln w="19050" cap="flat" cmpd="sng">
            <a:solidFill>
              <a:srgbClr val="FFFF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8" name="Rectangle 21"/>
          <p:cNvSpPr/>
          <p:nvPr/>
        </p:nvSpPr>
        <p:spPr>
          <a:xfrm>
            <a:off x="1204913" y="5273675"/>
            <a:ext cx="6408737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能够自启动的</a:t>
            </a:r>
            <a:r>
              <a:rPr lang="en-US" altLang="zh-CN" sz="2400" b="1" dirty="0">
                <a:latin typeface="Georgia" panose="02040502050405020303" pitchFamily="18" charset="0"/>
              </a:rPr>
              <a:t>4</a:t>
            </a:r>
            <a:r>
              <a:rPr lang="zh-CN" altLang="en-US" sz="2400" b="1" dirty="0">
                <a:latin typeface="Georgia" panose="02040502050405020303" pitchFamily="18" charset="0"/>
              </a:rPr>
              <a:t>位二进制计数器</a:t>
            </a:r>
            <a:endParaRPr lang="zh-CN" altLang="en-US" sz="24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82000" cy="11509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用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触发器和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JK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触发器实现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位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进制计数器的复杂性比较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pSp>
        <p:nvGrpSpPr>
          <p:cNvPr id="60420" name="组合 128"/>
          <p:cNvGrpSpPr/>
          <p:nvPr/>
        </p:nvGrpSpPr>
        <p:grpSpPr>
          <a:xfrm>
            <a:off x="17463" y="2241550"/>
            <a:ext cx="4535487" cy="4216400"/>
            <a:chOff x="1981200" y="1436448"/>
            <a:chExt cx="6858000" cy="5151437"/>
          </a:xfrm>
        </p:grpSpPr>
        <p:grpSp>
          <p:nvGrpSpPr>
            <p:cNvPr id="60509" name="Group 4"/>
            <p:cNvGrpSpPr/>
            <p:nvPr/>
          </p:nvGrpSpPr>
          <p:grpSpPr>
            <a:xfrm>
              <a:off x="2971800" y="1436448"/>
              <a:ext cx="5791200" cy="2060575"/>
              <a:chOff x="1776" y="643"/>
              <a:chExt cx="3648" cy="1298"/>
            </a:xfrm>
          </p:grpSpPr>
          <p:grpSp>
            <p:nvGrpSpPr>
              <p:cNvPr id="60597" name="Group 5"/>
              <p:cNvGrpSpPr/>
              <p:nvPr/>
            </p:nvGrpSpPr>
            <p:grpSpPr>
              <a:xfrm>
                <a:off x="4656" y="1392"/>
                <a:ext cx="768" cy="549"/>
                <a:chOff x="1680" y="1248"/>
                <a:chExt cx="768" cy="549"/>
              </a:xfrm>
            </p:grpSpPr>
            <p:sp>
              <p:nvSpPr>
                <p:cNvPr id="60627" name="Rectangle 6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12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15" y="1536"/>
                  <a:ext cx="431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" name="Rectangle 9"/>
                <p:cNvSpPr>
                  <a:spLocks noChangeArrowheads="1"/>
                </p:cNvSpPr>
                <p:nvPr/>
              </p:nvSpPr>
              <p:spPr bwMode="auto">
                <a:xfrm>
                  <a:off x="1708" y="1248"/>
                  <a:ext cx="32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" name="Rectangle 10"/>
                <p:cNvSpPr>
                  <a:spLocks noChangeArrowheads="1"/>
                </p:cNvSpPr>
                <p:nvPr/>
              </p:nvSpPr>
              <p:spPr bwMode="auto">
                <a:xfrm>
                  <a:off x="2044" y="1248"/>
                  <a:ext cx="32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632" name="Line 11"/>
                <p:cNvSpPr/>
                <p:nvPr/>
              </p:nvSpPr>
              <p:spPr>
                <a:xfrm flipH="1">
                  <a:off x="2112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0598" name="Group 12"/>
              <p:cNvGrpSpPr/>
              <p:nvPr/>
            </p:nvGrpSpPr>
            <p:grpSpPr>
              <a:xfrm>
                <a:off x="2688" y="1392"/>
                <a:ext cx="843" cy="549"/>
                <a:chOff x="1680" y="1248"/>
                <a:chExt cx="843" cy="549"/>
              </a:xfrm>
            </p:grpSpPr>
            <p:sp>
              <p:nvSpPr>
                <p:cNvPr id="60621" name="Rectangle 13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1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29" y="1536"/>
                  <a:ext cx="239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507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1" name="Rectangle 16"/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321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" name="Rectangle 17"/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321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626" name="Line 18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0599" name="Group 19"/>
              <p:cNvGrpSpPr/>
              <p:nvPr/>
            </p:nvGrpSpPr>
            <p:grpSpPr>
              <a:xfrm>
                <a:off x="3696" y="1392"/>
                <a:ext cx="824" cy="549"/>
                <a:chOff x="1680" y="1248"/>
                <a:chExt cx="824" cy="549"/>
              </a:xfrm>
            </p:grpSpPr>
            <p:sp>
              <p:nvSpPr>
                <p:cNvPr id="60615" name="Rectangle 20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1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39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015" y="1536"/>
                  <a:ext cx="487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" name="Rectangle 23"/>
                <p:cNvSpPr>
                  <a:spLocks noChangeArrowheads="1"/>
                </p:cNvSpPr>
                <p:nvPr/>
              </p:nvSpPr>
              <p:spPr bwMode="auto">
                <a:xfrm>
                  <a:off x="1708" y="1248"/>
                  <a:ext cx="321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" name="Rectangle 24"/>
                <p:cNvSpPr>
                  <a:spLocks noChangeArrowheads="1"/>
                </p:cNvSpPr>
                <p:nvPr/>
              </p:nvSpPr>
              <p:spPr bwMode="auto">
                <a:xfrm>
                  <a:off x="2044" y="1248"/>
                  <a:ext cx="32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620" name="Line 25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0600" name="Group 26"/>
              <p:cNvGrpSpPr/>
              <p:nvPr/>
            </p:nvGrpSpPr>
            <p:grpSpPr>
              <a:xfrm>
                <a:off x="1776" y="1392"/>
                <a:ext cx="720" cy="549"/>
                <a:chOff x="1680" y="1248"/>
                <a:chExt cx="720" cy="549"/>
              </a:xfrm>
            </p:grpSpPr>
            <p:sp>
              <p:nvSpPr>
                <p:cNvPr id="60609" name="Rectangle 27"/>
                <p:cNvSpPr/>
                <p:nvPr/>
              </p:nvSpPr>
              <p:spPr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10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29" y="1536"/>
                  <a:ext cx="239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D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968" y="1536"/>
                  <a:ext cx="432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CP</a:t>
                  </a:r>
                  <a:endPara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9" name="Rectangle 30"/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321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0" name="Rectangle 31"/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322" cy="2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Char char="–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rPr>
                    <a:t>Q</a:t>
                  </a:r>
                  <a:endPara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614" name="Line 32"/>
                <p:cNvSpPr/>
                <p:nvPr/>
              </p:nvSpPr>
              <p:spPr>
                <a:xfrm flipH="1">
                  <a:off x="2064" y="1296"/>
                  <a:ext cx="19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0601" name="Line 33"/>
              <p:cNvSpPr/>
              <p:nvPr/>
            </p:nvSpPr>
            <p:spPr>
              <a:xfrm flipV="1">
                <a:off x="1920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602" name="Line 34"/>
              <p:cNvSpPr/>
              <p:nvPr/>
            </p:nvSpPr>
            <p:spPr>
              <a:xfrm flipV="1">
                <a:off x="2832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603" name="Line 35"/>
              <p:cNvSpPr/>
              <p:nvPr/>
            </p:nvSpPr>
            <p:spPr>
              <a:xfrm flipV="1">
                <a:off x="3840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604" name="Line 36"/>
              <p:cNvSpPr/>
              <p:nvPr/>
            </p:nvSpPr>
            <p:spPr>
              <a:xfrm flipV="1">
                <a:off x="4800" y="96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2" name="Text Box 37"/>
              <p:cNvSpPr txBox="1">
                <a:spLocks noChangeArrowheads="1"/>
              </p:cNvSpPr>
              <p:nvPr/>
            </p:nvSpPr>
            <p:spPr bwMode="auto">
              <a:xfrm>
                <a:off x="1776" y="672"/>
                <a:ext cx="576" cy="2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Q0</a:t>
                </a:r>
                <a:endParaRPr kumimoji="0" lang="en-US" altLang="zh-CN" sz="16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" name="Text Box 38"/>
              <p:cNvSpPr txBox="1">
                <a:spLocks noChangeArrowheads="1"/>
              </p:cNvSpPr>
              <p:nvPr/>
            </p:nvSpPr>
            <p:spPr bwMode="auto">
              <a:xfrm>
                <a:off x="2737" y="672"/>
                <a:ext cx="431" cy="2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Q1</a:t>
                </a:r>
                <a:endParaRPr kumimoji="0" lang="en-US" altLang="zh-CN" sz="16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" name="Text Box 39"/>
              <p:cNvSpPr txBox="1">
                <a:spLocks noChangeArrowheads="1"/>
              </p:cNvSpPr>
              <p:nvPr/>
            </p:nvSpPr>
            <p:spPr bwMode="auto">
              <a:xfrm>
                <a:off x="3744" y="672"/>
                <a:ext cx="432" cy="2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Q2</a:t>
                </a:r>
                <a:endParaRPr kumimoji="0" lang="en-US" altLang="zh-CN" sz="16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" name="Text Box 40"/>
              <p:cNvSpPr txBox="1">
                <a:spLocks noChangeArrowheads="1"/>
              </p:cNvSpPr>
              <p:nvPr/>
            </p:nvSpPr>
            <p:spPr bwMode="auto">
              <a:xfrm>
                <a:off x="4755" y="643"/>
                <a:ext cx="431" cy="2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1600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Q3</a:t>
                </a:r>
                <a:endParaRPr kumimoji="0" lang="en-US" altLang="zh-CN" sz="16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0510" name="Group 41"/>
            <p:cNvGrpSpPr/>
            <p:nvPr/>
          </p:nvGrpSpPr>
          <p:grpSpPr>
            <a:xfrm>
              <a:off x="2590800" y="2396885"/>
              <a:ext cx="1143000" cy="1295400"/>
              <a:chOff x="1536" y="1248"/>
              <a:chExt cx="720" cy="816"/>
            </a:xfrm>
          </p:grpSpPr>
          <p:sp>
            <p:nvSpPr>
              <p:cNvPr id="60592" name="Line 42"/>
              <p:cNvSpPr/>
              <p:nvPr/>
            </p:nvSpPr>
            <p:spPr>
              <a:xfrm flipV="1">
                <a:off x="2256" y="124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93" name="Line 43"/>
              <p:cNvSpPr/>
              <p:nvPr/>
            </p:nvSpPr>
            <p:spPr>
              <a:xfrm flipH="1">
                <a:off x="1536" y="1248"/>
                <a:ext cx="72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94" name="Line 44"/>
              <p:cNvSpPr/>
              <p:nvPr/>
            </p:nvSpPr>
            <p:spPr>
              <a:xfrm>
                <a:off x="1536" y="1248"/>
                <a:ext cx="0" cy="81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95" name="Line 45"/>
              <p:cNvSpPr/>
              <p:nvPr/>
            </p:nvSpPr>
            <p:spPr>
              <a:xfrm>
                <a:off x="1536" y="2064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96" name="Line 46"/>
              <p:cNvSpPr/>
              <p:nvPr/>
            </p:nvSpPr>
            <p:spPr>
              <a:xfrm flipV="1">
                <a:off x="1968" y="1920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0511" name="Group 47"/>
            <p:cNvGrpSpPr/>
            <p:nvPr/>
          </p:nvGrpSpPr>
          <p:grpSpPr>
            <a:xfrm>
              <a:off x="3657600" y="2320685"/>
              <a:ext cx="1981200" cy="4191000"/>
              <a:chOff x="2208" y="1200"/>
              <a:chExt cx="1248" cy="2640"/>
            </a:xfrm>
          </p:grpSpPr>
          <p:grpSp>
            <p:nvGrpSpPr>
              <p:cNvPr id="60573" name="Group 48"/>
              <p:cNvGrpSpPr/>
              <p:nvPr/>
            </p:nvGrpSpPr>
            <p:grpSpPr>
              <a:xfrm>
                <a:off x="2640" y="2352"/>
                <a:ext cx="384" cy="336"/>
                <a:chOff x="2928" y="2256"/>
                <a:chExt cx="384" cy="336"/>
              </a:xfrm>
            </p:grpSpPr>
            <p:sp>
              <p:nvSpPr>
                <p:cNvPr id="60589" name="Rectangle 49"/>
                <p:cNvSpPr/>
                <p:nvPr/>
              </p:nvSpPr>
              <p:spPr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90" name="Oval 50"/>
                <p:cNvSpPr/>
                <p:nvPr/>
              </p:nvSpPr>
              <p:spPr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8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945" y="2317"/>
                  <a:ext cx="23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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0574" name="Line 52"/>
              <p:cNvSpPr/>
              <p:nvPr/>
            </p:nvSpPr>
            <p:spPr>
              <a:xfrm>
                <a:off x="2208" y="1248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75" name="Line 53"/>
              <p:cNvSpPr/>
              <p:nvPr/>
            </p:nvSpPr>
            <p:spPr>
              <a:xfrm flipH="1">
                <a:off x="2544" y="1248"/>
                <a:ext cx="0" cy="25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76" name="Oval 54"/>
              <p:cNvSpPr/>
              <p:nvPr/>
            </p:nvSpPr>
            <p:spPr>
              <a:xfrm>
                <a:off x="2208" y="12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0577" name="Line 55"/>
              <p:cNvSpPr/>
              <p:nvPr/>
            </p:nvSpPr>
            <p:spPr>
              <a:xfrm>
                <a:off x="2544" y="384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78" name="Line 56"/>
              <p:cNvSpPr/>
              <p:nvPr/>
            </p:nvSpPr>
            <p:spPr>
              <a:xfrm>
                <a:off x="2736" y="26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79" name="Line 57"/>
              <p:cNvSpPr/>
              <p:nvPr/>
            </p:nvSpPr>
            <p:spPr>
              <a:xfrm>
                <a:off x="2832" y="192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0580" name="Group 58"/>
              <p:cNvGrpSpPr/>
              <p:nvPr/>
            </p:nvGrpSpPr>
            <p:grpSpPr>
              <a:xfrm>
                <a:off x="2592" y="2928"/>
                <a:ext cx="288" cy="288"/>
                <a:chOff x="2784" y="2736"/>
                <a:chExt cx="288" cy="288"/>
              </a:xfrm>
            </p:grpSpPr>
            <p:sp>
              <p:nvSpPr>
                <p:cNvPr id="60587" name="Rectangle 59"/>
                <p:cNvSpPr/>
                <p:nvPr/>
              </p:nvSpPr>
              <p:spPr>
                <a:xfrm>
                  <a:off x="2784" y="2832"/>
                  <a:ext cx="288" cy="192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88" name="Oval 60"/>
                <p:cNvSpPr/>
                <p:nvPr/>
              </p:nvSpPr>
              <p:spPr>
                <a:xfrm>
                  <a:off x="2880" y="273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</p:grpSp>
          <p:sp>
            <p:nvSpPr>
              <p:cNvPr id="60581" name="Line 61"/>
              <p:cNvSpPr/>
              <p:nvPr/>
            </p:nvSpPr>
            <p:spPr>
              <a:xfrm>
                <a:off x="2736" y="3216"/>
                <a:ext cx="0" cy="62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2" name="Line 62"/>
              <p:cNvSpPr/>
              <p:nvPr/>
            </p:nvSpPr>
            <p:spPr>
              <a:xfrm flipV="1">
                <a:off x="3168" y="124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3" name="Line 63"/>
              <p:cNvSpPr/>
              <p:nvPr/>
            </p:nvSpPr>
            <p:spPr>
              <a:xfrm>
                <a:off x="3168" y="1248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4" name="Line 64"/>
              <p:cNvSpPr/>
              <p:nvPr/>
            </p:nvSpPr>
            <p:spPr>
              <a:xfrm flipH="1">
                <a:off x="3456" y="1248"/>
                <a:ext cx="0" cy="15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5" name="Line 65"/>
              <p:cNvSpPr/>
              <p:nvPr/>
            </p:nvSpPr>
            <p:spPr>
              <a:xfrm>
                <a:off x="2928" y="2832"/>
                <a:ext cx="52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86" name="Line 66"/>
              <p:cNvSpPr/>
              <p:nvPr/>
            </p:nvSpPr>
            <p:spPr>
              <a:xfrm>
                <a:off x="2928" y="268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0512" name="Group 67"/>
            <p:cNvGrpSpPr/>
            <p:nvPr/>
          </p:nvGrpSpPr>
          <p:grpSpPr>
            <a:xfrm>
              <a:off x="4419600" y="2396885"/>
              <a:ext cx="2832100" cy="4191000"/>
              <a:chOff x="2688" y="1248"/>
              <a:chExt cx="1784" cy="2640"/>
            </a:xfrm>
          </p:grpSpPr>
          <p:grpSp>
            <p:nvGrpSpPr>
              <p:cNvPr id="60551" name="Group 68"/>
              <p:cNvGrpSpPr/>
              <p:nvPr/>
            </p:nvGrpSpPr>
            <p:grpSpPr>
              <a:xfrm>
                <a:off x="3696" y="2352"/>
                <a:ext cx="384" cy="336"/>
                <a:chOff x="2928" y="2256"/>
                <a:chExt cx="384" cy="336"/>
              </a:xfrm>
            </p:grpSpPr>
            <p:sp>
              <p:nvSpPr>
                <p:cNvPr id="60570" name="Rectangle 69"/>
                <p:cNvSpPr/>
                <p:nvPr/>
              </p:nvSpPr>
              <p:spPr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71" name="Oval 70"/>
                <p:cNvSpPr/>
                <p:nvPr/>
              </p:nvSpPr>
              <p:spPr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9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930" y="2320"/>
                  <a:ext cx="239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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60552" name="Group 72"/>
              <p:cNvGrpSpPr/>
              <p:nvPr/>
            </p:nvGrpSpPr>
            <p:grpSpPr>
              <a:xfrm>
                <a:off x="3600" y="2928"/>
                <a:ext cx="384" cy="336"/>
                <a:chOff x="2928" y="2256"/>
                <a:chExt cx="384" cy="336"/>
              </a:xfrm>
            </p:grpSpPr>
            <p:sp>
              <p:nvSpPr>
                <p:cNvPr id="60567" name="Rectangle 73"/>
                <p:cNvSpPr/>
                <p:nvPr/>
              </p:nvSpPr>
              <p:spPr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68" name="Oval 74"/>
                <p:cNvSpPr/>
                <p:nvPr/>
              </p:nvSpPr>
              <p:spPr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2952" y="2291"/>
                  <a:ext cx="24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  <a:sym typeface="Symbol" panose="05050102010706020507" pitchFamily="18" charset="2"/>
                    </a:rPr>
                    <a:t>+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60553" name="Line 76"/>
              <p:cNvSpPr/>
              <p:nvPr/>
            </p:nvSpPr>
            <p:spPr>
              <a:xfrm>
                <a:off x="3888" y="1920"/>
                <a:ext cx="0" cy="4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54" name="Oval 77"/>
              <p:cNvSpPr/>
              <p:nvPr/>
            </p:nvSpPr>
            <p:spPr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0555" name="Line 78"/>
              <p:cNvSpPr/>
              <p:nvPr/>
            </p:nvSpPr>
            <p:spPr>
              <a:xfrm>
                <a:off x="3456" y="2832"/>
                <a:ext cx="0" cy="67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56" name="Line 79"/>
              <p:cNvSpPr/>
              <p:nvPr/>
            </p:nvSpPr>
            <p:spPr>
              <a:xfrm>
                <a:off x="3696" y="326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57" name="Line 80"/>
              <p:cNvSpPr/>
              <p:nvPr/>
            </p:nvSpPr>
            <p:spPr>
              <a:xfrm>
                <a:off x="3456" y="3504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58" name="Line 81"/>
              <p:cNvSpPr/>
              <p:nvPr/>
            </p:nvSpPr>
            <p:spPr>
              <a:xfrm>
                <a:off x="3792" y="2688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59" name="Oval 82"/>
              <p:cNvSpPr/>
              <p:nvPr/>
            </p:nvSpPr>
            <p:spPr>
              <a:xfrm>
                <a:off x="2688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 dirty="0"/>
              </a:p>
            </p:txBody>
          </p:sp>
          <p:sp>
            <p:nvSpPr>
              <p:cNvPr id="60560" name="Line 83"/>
              <p:cNvSpPr/>
              <p:nvPr/>
            </p:nvSpPr>
            <p:spPr>
              <a:xfrm>
                <a:off x="2736" y="3840"/>
                <a:ext cx="11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61" name="Line 84"/>
              <p:cNvSpPr/>
              <p:nvPr/>
            </p:nvSpPr>
            <p:spPr>
              <a:xfrm>
                <a:off x="3888" y="3264"/>
                <a:ext cx="0" cy="57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62" name="Line 85"/>
              <p:cNvSpPr/>
              <p:nvPr/>
            </p:nvSpPr>
            <p:spPr>
              <a:xfrm flipV="1">
                <a:off x="4176" y="124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63" name="Line 86"/>
              <p:cNvSpPr/>
              <p:nvPr/>
            </p:nvSpPr>
            <p:spPr>
              <a:xfrm>
                <a:off x="4176" y="1248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64" name="Line 87"/>
              <p:cNvSpPr/>
              <p:nvPr/>
            </p:nvSpPr>
            <p:spPr>
              <a:xfrm flipH="1">
                <a:off x="4472" y="1248"/>
                <a:ext cx="0" cy="15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65" name="Line 88"/>
              <p:cNvSpPr/>
              <p:nvPr/>
            </p:nvSpPr>
            <p:spPr>
              <a:xfrm>
                <a:off x="3984" y="2832"/>
                <a:ext cx="4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566" name="Line 89"/>
              <p:cNvSpPr/>
              <p:nvPr/>
            </p:nvSpPr>
            <p:spPr>
              <a:xfrm>
                <a:off x="3984" y="2688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0513" name="Group 90"/>
            <p:cNvGrpSpPr/>
            <p:nvPr/>
          </p:nvGrpSpPr>
          <p:grpSpPr>
            <a:xfrm>
              <a:off x="5943600" y="2396885"/>
              <a:ext cx="2895600" cy="4191000"/>
              <a:chOff x="3648" y="1248"/>
              <a:chExt cx="1824" cy="2640"/>
            </a:xfrm>
          </p:grpSpPr>
          <p:sp>
            <p:nvSpPr>
              <p:cNvPr id="60525" name="Line 91"/>
              <p:cNvSpPr/>
              <p:nvPr/>
            </p:nvSpPr>
            <p:spPr>
              <a:xfrm>
                <a:off x="4752" y="326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0526" name="Group 92"/>
              <p:cNvGrpSpPr/>
              <p:nvPr/>
            </p:nvGrpSpPr>
            <p:grpSpPr>
              <a:xfrm>
                <a:off x="3648" y="1248"/>
                <a:ext cx="1824" cy="2640"/>
                <a:chOff x="3648" y="1248"/>
                <a:chExt cx="1824" cy="2640"/>
              </a:xfrm>
            </p:grpSpPr>
            <p:grpSp>
              <p:nvGrpSpPr>
                <p:cNvPr id="60527" name="Group 93"/>
                <p:cNvGrpSpPr/>
                <p:nvPr/>
              </p:nvGrpSpPr>
              <p:grpSpPr>
                <a:xfrm>
                  <a:off x="4608" y="2352"/>
                  <a:ext cx="384" cy="336"/>
                  <a:chOff x="2928" y="2256"/>
                  <a:chExt cx="384" cy="336"/>
                </a:xfrm>
              </p:grpSpPr>
              <p:sp>
                <p:nvSpPr>
                  <p:cNvPr id="60548" name="Rectangle 94"/>
                  <p:cNvSpPr/>
                  <p:nvPr/>
                </p:nvSpPr>
                <p:spPr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60549" name="Oval 95"/>
                  <p:cNvSpPr/>
                  <p:nvPr/>
                </p:nvSpPr>
                <p:spPr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47" name="Text Box 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5" y="2317"/>
                    <a:ext cx="23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b="1" kern="1200" cap="none" spc="0" normalizeH="0" baseline="0" noProof="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ea typeface="宋体" panose="02010600030101010101" pitchFamily="2" charset="-122"/>
                        <a:cs typeface="+mn-cs"/>
                        <a:sym typeface="Symbol" panose="05050102010706020507" pitchFamily="18" charset="2"/>
                      </a:rPr>
                      <a:t></a:t>
                    </a:r>
                    <a:endPara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60528" name="Group 97"/>
                <p:cNvGrpSpPr/>
                <p:nvPr/>
              </p:nvGrpSpPr>
              <p:grpSpPr>
                <a:xfrm>
                  <a:off x="4560" y="2928"/>
                  <a:ext cx="384" cy="336"/>
                  <a:chOff x="2928" y="2256"/>
                  <a:chExt cx="384" cy="336"/>
                </a:xfrm>
              </p:grpSpPr>
              <p:sp>
                <p:nvSpPr>
                  <p:cNvPr id="60545" name="Rectangle 98"/>
                  <p:cNvSpPr/>
                  <p:nvPr/>
                </p:nvSpPr>
                <p:spPr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60546" name="Oval 99"/>
                  <p:cNvSpPr/>
                  <p:nvPr/>
                </p:nvSpPr>
                <p:spPr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 dirty="0"/>
                  </a:p>
                </p:txBody>
              </p:sp>
              <p:sp>
                <p:nvSpPr>
                  <p:cNvPr id="44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33" y="2297"/>
                    <a:ext cx="240" cy="24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R="0" defTabSz="914400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b="1" kern="1200" cap="none" spc="0" normalizeH="0" baseline="0" noProof="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ea typeface="宋体" panose="02010600030101010101" pitchFamily="2" charset="-122"/>
                        <a:cs typeface="+mn-cs"/>
                        <a:sym typeface="Symbol" panose="05050102010706020507" pitchFamily="18" charset="2"/>
                      </a:rPr>
                      <a:t>+</a:t>
                    </a:r>
                    <a:endPara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60529" name="Oval 101"/>
                <p:cNvSpPr/>
                <p:nvPr/>
              </p:nvSpPr>
              <p:spPr>
                <a:xfrm>
                  <a:off x="4416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30" name="Line 102"/>
                <p:cNvSpPr/>
                <p:nvPr/>
              </p:nvSpPr>
              <p:spPr>
                <a:xfrm>
                  <a:off x="4800" y="1920"/>
                  <a:ext cx="0" cy="43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1" name="Oval 103"/>
                <p:cNvSpPr/>
                <p:nvPr/>
              </p:nvSpPr>
              <p:spPr>
                <a:xfrm>
                  <a:off x="3840" y="37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32" name="Line 104"/>
                <p:cNvSpPr/>
                <p:nvPr/>
              </p:nvSpPr>
              <p:spPr>
                <a:xfrm>
                  <a:off x="3888" y="3840"/>
                  <a:ext cx="100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3" name="Line 105"/>
                <p:cNvSpPr/>
                <p:nvPr/>
              </p:nvSpPr>
              <p:spPr>
                <a:xfrm>
                  <a:off x="4896" y="3264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4" name="Line 106"/>
                <p:cNvSpPr/>
                <p:nvPr/>
              </p:nvSpPr>
              <p:spPr>
                <a:xfrm>
                  <a:off x="3696" y="3504"/>
                  <a:ext cx="105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5" name="Line 107"/>
                <p:cNvSpPr/>
                <p:nvPr/>
              </p:nvSpPr>
              <p:spPr>
                <a:xfrm>
                  <a:off x="4464" y="2832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6" name="Line 108"/>
                <p:cNvSpPr/>
                <p:nvPr/>
              </p:nvSpPr>
              <p:spPr>
                <a:xfrm>
                  <a:off x="4464" y="3408"/>
                  <a:ext cx="14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7" name="Line 109"/>
                <p:cNvSpPr/>
                <p:nvPr/>
              </p:nvSpPr>
              <p:spPr>
                <a:xfrm>
                  <a:off x="4608" y="3264"/>
                  <a:ext cx="0" cy="14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8" name="Line 110"/>
                <p:cNvSpPr/>
                <p:nvPr/>
              </p:nvSpPr>
              <p:spPr>
                <a:xfrm>
                  <a:off x="4752" y="2688"/>
                  <a:ext cx="0" cy="24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39" name="Line 111"/>
                <p:cNvSpPr/>
                <p:nvPr/>
              </p:nvSpPr>
              <p:spPr>
                <a:xfrm flipV="1">
                  <a:off x="5184" y="1248"/>
                  <a:ext cx="0" cy="14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40" name="Line 112"/>
                <p:cNvSpPr/>
                <p:nvPr/>
              </p:nvSpPr>
              <p:spPr>
                <a:xfrm>
                  <a:off x="5184" y="1248"/>
                  <a:ext cx="28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41" name="Line 113"/>
                <p:cNvSpPr/>
                <p:nvPr/>
              </p:nvSpPr>
              <p:spPr>
                <a:xfrm flipH="1">
                  <a:off x="5472" y="1248"/>
                  <a:ext cx="0" cy="158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42" name="Line 114"/>
                <p:cNvSpPr/>
                <p:nvPr/>
              </p:nvSpPr>
              <p:spPr>
                <a:xfrm>
                  <a:off x="4896" y="2832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43" name="Line 115"/>
                <p:cNvSpPr/>
                <p:nvPr/>
              </p:nvSpPr>
              <p:spPr>
                <a:xfrm>
                  <a:off x="4896" y="2688"/>
                  <a:ext cx="0" cy="14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44" name="Oval 116"/>
                <p:cNvSpPr/>
                <p:nvPr/>
              </p:nvSpPr>
              <p:spPr>
                <a:xfrm>
                  <a:off x="3648" y="345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</p:grpSp>
        </p:grpSp>
        <p:grpSp>
          <p:nvGrpSpPr>
            <p:cNvPr id="60514" name="Group 118"/>
            <p:cNvGrpSpPr/>
            <p:nvPr/>
          </p:nvGrpSpPr>
          <p:grpSpPr>
            <a:xfrm>
              <a:off x="1981200" y="3463686"/>
              <a:ext cx="6400800" cy="871538"/>
              <a:chOff x="1152" y="1632"/>
              <a:chExt cx="4032" cy="549"/>
            </a:xfrm>
          </p:grpSpPr>
          <p:grpSp>
            <p:nvGrpSpPr>
              <p:cNvPr id="60515" name="Group 119"/>
              <p:cNvGrpSpPr/>
              <p:nvPr/>
            </p:nvGrpSpPr>
            <p:grpSpPr>
              <a:xfrm>
                <a:off x="1200" y="1632"/>
                <a:ext cx="3984" cy="336"/>
                <a:chOff x="1200" y="1632"/>
                <a:chExt cx="3984" cy="336"/>
              </a:xfrm>
            </p:grpSpPr>
            <p:sp>
              <p:nvSpPr>
                <p:cNvPr id="60517" name="Line 120"/>
                <p:cNvSpPr/>
                <p:nvPr/>
              </p:nvSpPr>
              <p:spPr>
                <a:xfrm>
                  <a:off x="1200" y="1920"/>
                  <a:ext cx="3984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18" name="Line 121"/>
                <p:cNvSpPr/>
                <p:nvPr/>
              </p:nvSpPr>
              <p:spPr>
                <a:xfrm>
                  <a:off x="2304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19" name="Oval 122"/>
                <p:cNvSpPr/>
                <p:nvPr/>
              </p:nvSpPr>
              <p:spPr>
                <a:xfrm>
                  <a:off x="225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20" name="Line 123"/>
                <p:cNvSpPr/>
                <p:nvPr/>
              </p:nvSpPr>
              <p:spPr>
                <a:xfrm>
                  <a:off x="3216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21" name="Oval 124"/>
                <p:cNvSpPr/>
                <p:nvPr/>
              </p:nvSpPr>
              <p:spPr>
                <a:xfrm>
                  <a:off x="3168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22" name="Line 125"/>
                <p:cNvSpPr/>
                <p:nvPr/>
              </p:nvSpPr>
              <p:spPr>
                <a:xfrm>
                  <a:off x="4224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23" name="Oval 126"/>
                <p:cNvSpPr/>
                <p:nvPr/>
              </p:nvSpPr>
              <p:spPr>
                <a:xfrm>
                  <a:off x="417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 dirty="0"/>
                </a:p>
              </p:txBody>
            </p:sp>
            <p:sp>
              <p:nvSpPr>
                <p:cNvPr id="60524" name="Line 127"/>
                <p:cNvSpPr/>
                <p:nvPr/>
              </p:nvSpPr>
              <p:spPr>
                <a:xfrm>
                  <a:off x="5184" y="163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" name="Rectangle 128"/>
              <p:cNvSpPr>
                <a:spLocks noChangeArrowheads="1"/>
              </p:cNvSpPr>
              <p:nvPr/>
            </p:nvSpPr>
            <p:spPr bwMode="auto">
              <a:xfrm>
                <a:off x="1152" y="1920"/>
                <a:ext cx="420" cy="2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Georgia" panose="02040502050405020303" pitchFamily="18" charset="0"/>
                    <a:ea typeface="宋体" panose="02010600030101010101" pitchFamily="2" charset="-122"/>
                    <a:cs typeface="+mn-cs"/>
                  </a:rPr>
                  <a:t>CP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eorgia" panose="020405020504050203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60421" name="组合 92"/>
          <p:cNvGrpSpPr/>
          <p:nvPr/>
        </p:nvGrpSpPr>
        <p:grpSpPr>
          <a:xfrm>
            <a:off x="5308600" y="1404938"/>
            <a:ext cx="3368675" cy="5324475"/>
            <a:chOff x="4860032" y="764704"/>
            <a:chExt cx="3933825" cy="5967370"/>
          </a:xfrm>
        </p:grpSpPr>
        <p:grpSp>
          <p:nvGrpSpPr>
            <p:cNvPr id="60422" name="组合 4"/>
            <p:cNvGrpSpPr/>
            <p:nvPr/>
          </p:nvGrpSpPr>
          <p:grpSpPr>
            <a:xfrm>
              <a:off x="5280260" y="1358382"/>
              <a:ext cx="1265360" cy="4876392"/>
              <a:chOff x="4205338" y="1124526"/>
              <a:chExt cx="1265737" cy="4876292"/>
            </a:xfrm>
          </p:grpSpPr>
          <p:grpSp>
            <p:nvGrpSpPr>
              <p:cNvPr id="60499" name="组合 119"/>
              <p:cNvGrpSpPr/>
              <p:nvPr/>
            </p:nvGrpSpPr>
            <p:grpSpPr>
              <a:xfrm>
                <a:off x="4205338" y="1330042"/>
                <a:ext cx="1265737" cy="4670776"/>
                <a:chOff x="2192961" y="743213"/>
                <a:chExt cx="1265737" cy="4670776"/>
              </a:xfrm>
            </p:grpSpPr>
            <p:sp>
              <p:nvSpPr>
                <p:cNvPr id="60501" name="Line 47"/>
                <p:cNvSpPr/>
                <p:nvPr/>
              </p:nvSpPr>
              <p:spPr>
                <a:xfrm>
                  <a:off x="2192961" y="818948"/>
                  <a:ext cx="1212954" cy="2866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02" name="Line 49"/>
                <p:cNvSpPr/>
                <p:nvPr/>
              </p:nvSpPr>
              <p:spPr>
                <a:xfrm>
                  <a:off x="3059593" y="834874"/>
                  <a:ext cx="25519" cy="4579115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pic>
              <p:nvPicPr>
                <p:cNvPr id="60503" name="Picture 5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 flipH="1" flipV="1">
                  <a:off x="2970390" y="743213"/>
                  <a:ext cx="135549" cy="1355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60504" name="Line 47"/>
                <p:cNvSpPr/>
                <p:nvPr/>
              </p:nvSpPr>
              <p:spPr>
                <a:xfrm>
                  <a:off x="3066093" y="2376934"/>
                  <a:ext cx="360212" cy="1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05" name="Line 47"/>
                <p:cNvSpPr/>
                <p:nvPr/>
              </p:nvSpPr>
              <p:spPr>
                <a:xfrm>
                  <a:off x="3078368" y="3938789"/>
                  <a:ext cx="360212" cy="1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0506" name="Line 47"/>
                <p:cNvSpPr/>
                <p:nvPr/>
              </p:nvSpPr>
              <p:spPr>
                <a:xfrm>
                  <a:off x="3078368" y="5408351"/>
                  <a:ext cx="380330" cy="1"/>
                </a:xfrm>
                <a:prstGeom prst="line">
                  <a:avLst/>
                </a:prstGeom>
                <a:ln w="222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pic>
              <p:nvPicPr>
                <p:cNvPr id="60507" name="Picture 5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 flipH="1" flipV="1">
                  <a:off x="2979495" y="2288713"/>
                  <a:ext cx="135549" cy="1355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60508" name="Picture 50" descr="dot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 flipH="1" flipV="1">
                  <a:off x="2985563" y="3860080"/>
                  <a:ext cx="135549" cy="1355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60500" name="矩形 120"/>
              <p:cNvSpPr/>
              <p:nvPr/>
            </p:nvSpPr>
            <p:spPr>
              <a:xfrm>
                <a:off x="4206978" y="1124526"/>
                <a:ext cx="515428" cy="3794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latin typeface="Georgia" panose="02040502050405020303" pitchFamily="18" charset="0"/>
                  </a:rPr>
                  <a:t>CP</a:t>
                </a:r>
                <a:endParaRPr lang="en-US" altLang="zh-CN" sz="1600" dirty="0">
                  <a:latin typeface="Georgia" panose="02040502050405020303" pitchFamily="18" charset="0"/>
                </a:endParaRPr>
              </a:p>
            </p:txBody>
          </p:sp>
        </p:grpSp>
        <p:grpSp>
          <p:nvGrpSpPr>
            <p:cNvPr id="60423" name="组合 15"/>
            <p:cNvGrpSpPr/>
            <p:nvPr/>
          </p:nvGrpSpPr>
          <p:grpSpPr>
            <a:xfrm>
              <a:off x="4860032" y="764704"/>
              <a:ext cx="3933825" cy="5967370"/>
              <a:chOff x="4788024" y="476811"/>
              <a:chExt cx="3933715" cy="5966425"/>
            </a:xfrm>
          </p:grpSpPr>
          <p:grpSp>
            <p:nvGrpSpPr>
              <p:cNvPr id="60424" name="组合 123"/>
              <p:cNvGrpSpPr/>
              <p:nvPr/>
            </p:nvGrpSpPr>
            <p:grpSpPr>
              <a:xfrm>
                <a:off x="4788024" y="476811"/>
                <a:ext cx="3681837" cy="5966425"/>
                <a:chOff x="4788024" y="476811"/>
                <a:chExt cx="3681837" cy="5966425"/>
              </a:xfrm>
            </p:grpSpPr>
            <p:sp>
              <p:nvSpPr>
                <p:cNvPr id="60429" name="文本框 58"/>
                <p:cNvSpPr txBox="1"/>
                <p:nvPr/>
              </p:nvSpPr>
              <p:spPr>
                <a:xfrm>
                  <a:off x="6729468" y="476811"/>
                  <a:ext cx="660987" cy="37943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Char char="–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 kern="12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600" dirty="0"/>
                    <a:t>FF0</a:t>
                  </a:r>
                  <a:endParaRPr lang="zh-CN" altLang="en-US" sz="1600" dirty="0"/>
                </a:p>
              </p:txBody>
            </p:sp>
            <p:grpSp>
              <p:nvGrpSpPr>
                <p:cNvPr id="60430" name="组合 112"/>
                <p:cNvGrpSpPr/>
                <p:nvPr/>
              </p:nvGrpSpPr>
              <p:grpSpPr>
                <a:xfrm>
                  <a:off x="4788024" y="599437"/>
                  <a:ext cx="3681837" cy="5843799"/>
                  <a:chOff x="3789788" y="680603"/>
                  <a:chExt cx="3681837" cy="5843799"/>
                </a:xfrm>
              </p:grpSpPr>
              <p:sp>
                <p:nvSpPr>
                  <p:cNvPr id="60431" name="Line 47"/>
                  <p:cNvSpPr/>
                  <p:nvPr/>
                </p:nvSpPr>
                <p:spPr>
                  <a:xfrm>
                    <a:off x="4402629" y="1097514"/>
                    <a:ext cx="100965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32" name="Line 48"/>
                  <p:cNvSpPr/>
                  <p:nvPr/>
                </p:nvSpPr>
                <p:spPr>
                  <a:xfrm>
                    <a:off x="5203583" y="1817594"/>
                    <a:ext cx="22908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33" name="Line 49"/>
                  <p:cNvSpPr/>
                  <p:nvPr/>
                </p:nvSpPr>
                <p:spPr>
                  <a:xfrm>
                    <a:off x="5203584" y="1097514"/>
                    <a:ext cx="0" cy="72008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34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5164524" y="1016552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35" name="Text Box 51"/>
                  <p:cNvSpPr txBox="1"/>
                  <p:nvPr/>
                </p:nvSpPr>
                <p:spPr>
                  <a:xfrm>
                    <a:off x="4289715" y="680603"/>
                    <a:ext cx="517134" cy="3794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>
                        <a:latin typeface="Georgia" panose="02040502050405020303" pitchFamily="18" charset="0"/>
                      </a:rPr>
                      <a:t>“1”</a:t>
                    </a:r>
                    <a:endParaRPr lang="en-US" altLang="zh-CN" sz="1600" dirty="0">
                      <a:latin typeface="Georgia" panose="02040502050405020303" pitchFamily="18" charset="0"/>
                    </a:endParaRPr>
                  </a:p>
                </p:txBody>
              </p:sp>
              <p:grpSp>
                <p:nvGrpSpPr>
                  <p:cNvPr id="60436" name="组合 33"/>
                  <p:cNvGrpSpPr/>
                  <p:nvPr/>
                </p:nvGrpSpPr>
                <p:grpSpPr>
                  <a:xfrm>
                    <a:off x="5432669" y="898909"/>
                    <a:ext cx="1080121" cy="1053852"/>
                    <a:chOff x="5915826" y="4248050"/>
                    <a:chExt cx="1295400" cy="1053852"/>
                  </a:xfrm>
                </p:grpSpPr>
                <p:sp>
                  <p:nvSpPr>
                    <p:cNvPr id="60495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60496" name="组合 35"/>
                    <p:cNvGrpSpPr/>
                    <p:nvPr/>
                  </p:nvGrpSpPr>
                  <p:grpSpPr>
                    <a:xfrm>
                      <a:off x="6621963" y="4879664"/>
                      <a:ext cx="472003" cy="379430"/>
                      <a:chOff x="3001273" y="3799544"/>
                      <a:chExt cx="472003" cy="379430"/>
                    </a:xfrm>
                  </p:grpSpPr>
                  <p:sp>
                    <p:nvSpPr>
                      <p:cNvPr id="60497" name="Rectangle 31"/>
                      <p:cNvSpPr/>
                      <p:nvPr/>
                    </p:nvSpPr>
                    <p:spPr>
                      <a:xfrm>
                        <a:off x="3001273" y="3799544"/>
                        <a:ext cx="472003" cy="37943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16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16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60498" name="直接连接符 37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grpSp>
                <p:nvGrpSpPr>
                  <p:cNvPr id="60437" name="组合 43"/>
                  <p:cNvGrpSpPr/>
                  <p:nvPr/>
                </p:nvGrpSpPr>
                <p:grpSpPr>
                  <a:xfrm>
                    <a:off x="5432668" y="2444170"/>
                    <a:ext cx="1080121" cy="1053852"/>
                    <a:chOff x="5915824" y="4248051"/>
                    <a:chExt cx="1295400" cy="1053852"/>
                  </a:xfrm>
                </p:grpSpPr>
                <p:sp>
                  <p:nvSpPr>
                    <p:cNvPr id="60491" name="Rectangle 45"/>
                    <p:cNvSpPr/>
                    <p:nvPr/>
                  </p:nvSpPr>
                  <p:spPr>
                    <a:xfrm>
                      <a:off x="5915824" y="4248051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60492" name="组合 45"/>
                    <p:cNvGrpSpPr/>
                    <p:nvPr/>
                  </p:nvGrpSpPr>
                  <p:grpSpPr>
                    <a:xfrm>
                      <a:off x="6621963" y="4879664"/>
                      <a:ext cx="472003" cy="379430"/>
                      <a:chOff x="3001273" y="3799544"/>
                      <a:chExt cx="472003" cy="379430"/>
                    </a:xfrm>
                  </p:grpSpPr>
                  <p:sp>
                    <p:nvSpPr>
                      <p:cNvPr id="60493" name="Rectangle 31"/>
                      <p:cNvSpPr/>
                      <p:nvPr/>
                    </p:nvSpPr>
                    <p:spPr>
                      <a:xfrm>
                        <a:off x="3001273" y="3799544"/>
                        <a:ext cx="472003" cy="37943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16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16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60494" name="直接连接符 47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grpSp>
                <p:nvGrpSpPr>
                  <p:cNvPr id="60438" name="组合 48"/>
                  <p:cNvGrpSpPr/>
                  <p:nvPr/>
                </p:nvGrpSpPr>
                <p:grpSpPr>
                  <a:xfrm>
                    <a:off x="5453101" y="4005184"/>
                    <a:ext cx="1080121" cy="1053852"/>
                    <a:chOff x="5915826" y="4248050"/>
                    <a:chExt cx="1295400" cy="1053852"/>
                  </a:xfrm>
                </p:grpSpPr>
                <p:sp>
                  <p:nvSpPr>
                    <p:cNvPr id="60487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60488" name="组合 50"/>
                    <p:cNvGrpSpPr/>
                    <p:nvPr/>
                  </p:nvGrpSpPr>
                  <p:grpSpPr>
                    <a:xfrm>
                      <a:off x="6621963" y="4879664"/>
                      <a:ext cx="472003" cy="379430"/>
                      <a:chOff x="3001273" y="3799544"/>
                      <a:chExt cx="472003" cy="379430"/>
                    </a:xfrm>
                  </p:grpSpPr>
                  <p:sp>
                    <p:nvSpPr>
                      <p:cNvPr id="60489" name="Rectangle 31"/>
                      <p:cNvSpPr/>
                      <p:nvPr/>
                    </p:nvSpPr>
                    <p:spPr>
                      <a:xfrm>
                        <a:off x="3001273" y="3799544"/>
                        <a:ext cx="472003" cy="37943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16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16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60490" name="直接连接符 52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grpSp>
                <p:nvGrpSpPr>
                  <p:cNvPr id="60439" name="组合 53"/>
                  <p:cNvGrpSpPr/>
                  <p:nvPr/>
                </p:nvGrpSpPr>
                <p:grpSpPr>
                  <a:xfrm>
                    <a:off x="5467829" y="5470550"/>
                    <a:ext cx="1080121" cy="1053852"/>
                    <a:chOff x="5915826" y="4248050"/>
                    <a:chExt cx="1295400" cy="1053852"/>
                  </a:xfrm>
                </p:grpSpPr>
                <p:sp>
                  <p:nvSpPr>
                    <p:cNvPr id="60483" name="Rectangle 45"/>
                    <p:cNvSpPr/>
                    <p:nvPr/>
                  </p:nvSpPr>
                  <p:spPr>
                    <a:xfrm>
                      <a:off x="5915826" y="4248050"/>
                      <a:ext cx="1295400" cy="1053852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Char char="–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J      Q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CP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  <a:p>
                      <a:pPr marL="0" lvl="0" indent="0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600" dirty="0">
                          <a:latin typeface="Georgia" panose="02040502050405020303" pitchFamily="18" charset="0"/>
                        </a:rPr>
                        <a:t>K         </a:t>
                      </a:r>
                      <a:endParaRPr lang="en-US" altLang="zh-CN" sz="1600" dirty="0">
                        <a:latin typeface="Georgia" panose="02040502050405020303" pitchFamily="18" charset="0"/>
                      </a:endParaRPr>
                    </a:p>
                  </p:txBody>
                </p:sp>
                <p:grpSp>
                  <p:nvGrpSpPr>
                    <p:cNvPr id="60484" name="组合 55"/>
                    <p:cNvGrpSpPr/>
                    <p:nvPr/>
                  </p:nvGrpSpPr>
                  <p:grpSpPr>
                    <a:xfrm>
                      <a:off x="6621963" y="4879664"/>
                      <a:ext cx="472003" cy="379430"/>
                      <a:chOff x="3001273" y="3799544"/>
                      <a:chExt cx="472003" cy="379430"/>
                    </a:xfrm>
                  </p:grpSpPr>
                  <p:sp>
                    <p:nvSpPr>
                      <p:cNvPr id="60485" name="Rectangle 31"/>
                      <p:cNvSpPr/>
                      <p:nvPr/>
                    </p:nvSpPr>
                    <p:spPr>
                      <a:xfrm>
                        <a:off x="3001273" y="3799544"/>
                        <a:ext cx="472003" cy="37943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</a:ln>
                    </p:spPr>
                    <p:txBody>
                      <a:bodyPr wrap="none">
                        <a:spAutoFit/>
                      </a:bodyPr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l"/>
                          <a:defRPr sz="32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Ø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ü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Char char="–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FFFF00"/>
                          </a:buClr>
                          <a:buFont typeface="Wingdings" panose="05000000000000000000" pitchFamily="2" charset="2"/>
                          <a:buChar char="n"/>
                          <a:defRPr sz="2400" kern="12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50000"/>
                          </a:spcBef>
                          <a:buClrTx/>
                          <a:buFontTx/>
                          <a:buNone/>
                        </a:pPr>
                        <a:r>
                          <a:rPr lang="en-US" altLang="zh-CN" sz="1600" dirty="0">
                            <a:latin typeface="Georgia" panose="02040502050405020303" pitchFamily="18" charset="0"/>
                          </a:rPr>
                          <a:t>Q</a:t>
                        </a:r>
                        <a:endParaRPr lang="en-US" altLang="zh-CN" sz="1600" dirty="0">
                          <a:latin typeface="Georgia" panose="02040502050405020303" pitchFamily="18" charset="0"/>
                        </a:endParaRPr>
                      </a:p>
                    </p:txBody>
                  </p:sp>
                  <p:cxnSp>
                    <p:nvCxnSpPr>
                      <p:cNvPr id="60486" name="直接连接符 57"/>
                      <p:cNvCxnSpPr/>
                      <p:nvPr/>
                    </p:nvCxnSpPr>
                    <p:spPr>
                      <a:xfrm>
                        <a:off x="3121459" y="3871552"/>
                        <a:ext cx="2880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cxnSp>
                </p:grpSp>
              </p:grpSp>
              <p:sp>
                <p:nvSpPr>
                  <p:cNvPr id="60440" name="文本框 59"/>
                  <p:cNvSpPr txBox="1"/>
                  <p:nvPr/>
                </p:nvSpPr>
                <p:spPr>
                  <a:xfrm>
                    <a:off x="5700846" y="2120628"/>
                    <a:ext cx="660987" cy="3794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/>
                      <a:t>FF1</a:t>
                    </a:r>
                    <a:endParaRPr lang="zh-CN" altLang="en-US" sz="1600" dirty="0"/>
                  </a:p>
                </p:txBody>
              </p:sp>
              <p:sp>
                <p:nvSpPr>
                  <p:cNvPr id="60441" name="文本框 60"/>
                  <p:cNvSpPr txBox="1"/>
                  <p:nvPr/>
                </p:nvSpPr>
                <p:spPr>
                  <a:xfrm>
                    <a:off x="5690961" y="3689034"/>
                    <a:ext cx="660987" cy="3794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/>
                      <a:t>FF2</a:t>
                    </a:r>
                    <a:endParaRPr lang="zh-CN" altLang="en-US" sz="1600" dirty="0"/>
                  </a:p>
                </p:txBody>
              </p:sp>
              <p:sp>
                <p:nvSpPr>
                  <p:cNvPr id="60442" name="文本框 61"/>
                  <p:cNvSpPr txBox="1"/>
                  <p:nvPr/>
                </p:nvSpPr>
                <p:spPr>
                  <a:xfrm>
                    <a:off x="5736006" y="5156965"/>
                    <a:ext cx="660987" cy="3794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1600" dirty="0"/>
                      <a:t>FF3</a:t>
                    </a:r>
                    <a:endParaRPr lang="zh-CN" altLang="en-US" sz="1600" dirty="0"/>
                  </a:p>
                </p:txBody>
              </p:sp>
              <p:sp>
                <p:nvSpPr>
                  <p:cNvPr id="60443" name="Line 46"/>
                  <p:cNvSpPr/>
                  <p:nvPr/>
                </p:nvSpPr>
                <p:spPr>
                  <a:xfrm flipV="1">
                    <a:off x="6512790" y="1086391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44" name="Line 49"/>
                  <p:cNvSpPr/>
                  <p:nvPr/>
                </p:nvSpPr>
                <p:spPr>
                  <a:xfrm>
                    <a:off x="6860401" y="1097514"/>
                    <a:ext cx="12602" cy="10572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45" name="Line 46"/>
                  <p:cNvSpPr/>
                  <p:nvPr/>
                </p:nvSpPr>
                <p:spPr>
                  <a:xfrm flipV="1">
                    <a:off x="6512790" y="2609682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46" name="Line 46"/>
                  <p:cNvSpPr/>
                  <p:nvPr/>
                </p:nvSpPr>
                <p:spPr>
                  <a:xfrm flipV="1">
                    <a:off x="6547950" y="4193858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47" name="Line 46"/>
                  <p:cNvSpPr/>
                  <p:nvPr/>
                </p:nvSpPr>
                <p:spPr>
                  <a:xfrm flipV="1">
                    <a:off x="6547950" y="5634018"/>
                    <a:ext cx="92367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48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6788393" y="1021218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49" name="Line 46"/>
                  <p:cNvSpPr/>
                  <p:nvPr/>
                </p:nvSpPr>
                <p:spPr>
                  <a:xfrm>
                    <a:off x="3863342" y="2154740"/>
                    <a:ext cx="3018045" cy="600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50" name="Line 49"/>
                  <p:cNvSpPr/>
                  <p:nvPr/>
                </p:nvSpPr>
                <p:spPr>
                  <a:xfrm flipH="1">
                    <a:off x="3823312" y="2154739"/>
                    <a:ext cx="39649" cy="399876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51" name="Line 46"/>
                  <p:cNvSpPr/>
                  <p:nvPr/>
                </p:nvSpPr>
                <p:spPr>
                  <a:xfrm flipV="1">
                    <a:off x="3863342" y="2589010"/>
                    <a:ext cx="1569326" cy="10035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52" name="Line 46"/>
                  <p:cNvSpPr/>
                  <p:nvPr/>
                </p:nvSpPr>
                <p:spPr>
                  <a:xfrm flipV="1">
                    <a:off x="4765264" y="3309090"/>
                    <a:ext cx="66740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53" name="Rectangle 54"/>
                  <p:cNvSpPr/>
                  <p:nvPr/>
                </p:nvSpPr>
                <p:spPr>
                  <a:xfrm>
                    <a:off x="4420651" y="4206639"/>
                    <a:ext cx="323850" cy="609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1600" dirty="0"/>
                  </a:p>
                </p:txBody>
              </p:sp>
              <p:sp>
                <p:nvSpPr>
                  <p:cNvPr id="60454" name="Rectangle 54"/>
                  <p:cNvSpPr/>
                  <p:nvPr/>
                </p:nvSpPr>
                <p:spPr>
                  <a:xfrm>
                    <a:off x="4432983" y="5672222"/>
                    <a:ext cx="323850" cy="609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Char char="–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1600" dirty="0"/>
                  </a:p>
                </p:txBody>
              </p:sp>
              <p:sp>
                <p:nvSpPr>
                  <p:cNvPr id="60455" name="Line 49"/>
                  <p:cNvSpPr/>
                  <p:nvPr/>
                </p:nvSpPr>
                <p:spPr>
                  <a:xfrm>
                    <a:off x="4758127" y="2589011"/>
                    <a:ext cx="0" cy="72008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56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4692955" y="2518528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57" name="Line 49"/>
                  <p:cNvSpPr/>
                  <p:nvPr/>
                </p:nvSpPr>
                <p:spPr>
                  <a:xfrm>
                    <a:off x="6873003" y="2598338"/>
                    <a:ext cx="8384" cy="1090695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58" name="Line 49"/>
                  <p:cNvSpPr/>
                  <p:nvPr/>
                </p:nvSpPr>
                <p:spPr>
                  <a:xfrm flipH="1">
                    <a:off x="6873003" y="4193858"/>
                    <a:ext cx="0" cy="98521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59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6828145" y="2539199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60460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6826987" y="4121546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61" name="Line 46"/>
                  <p:cNvSpPr/>
                  <p:nvPr/>
                </p:nvSpPr>
                <p:spPr>
                  <a:xfrm flipV="1">
                    <a:off x="4050069" y="3692298"/>
                    <a:ext cx="2851223" cy="8687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62" name="Line 49"/>
                  <p:cNvSpPr/>
                  <p:nvPr/>
                </p:nvSpPr>
                <p:spPr>
                  <a:xfrm flipH="1">
                    <a:off x="4037705" y="3700985"/>
                    <a:ext cx="11983" cy="228514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63" name="Line 46"/>
                  <p:cNvSpPr/>
                  <p:nvPr/>
                </p:nvSpPr>
                <p:spPr>
                  <a:xfrm>
                    <a:off x="4212459" y="5170546"/>
                    <a:ext cx="2668927" cy="189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64" name="Line 49"/>
                  <p:cNvSpPr/>
                  <p:nvPr/>
                </p:nvSpPr>
                <p:spPr>
                  <a:xfrm>
                    <a:off x="4210006" y="5170546"/>
                    <a:ext cx="2454" cy="62359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65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3813962" y="2523839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66" name="Line 46"/>
                  <p:cNvSpPr/>
                  <p:nvPr/>
                </p:nvSpPr>
                <p:spPr>
                  <a:xfrm>
                    <a:off x="4742352" y="4533227"/>
                    <a:ext cx="111701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67" name="Line 46"/>
                  <p:cNvSpPr/>
                  <p:nvPr/>
                </p:nvSpPr>
                <p:spPr>
                  <a:xfrm flipV="1">
                    <a:off x="3863342" y="4388786"/>
                    <a:ext cx="549344" cy="424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68" name="Line 46"/>
                  <p:cNvSpPr/>
                  <p:nvPr/>
                </p:nvSpPr>
                <p:spPr>
                  <a:xfrm>
                    <a:off x="3813962" y="6156332"/>
                    <a:ext cx="616566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69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3789788" y="4305437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70" name="Line 46"/>
                  <p:cNvSpPr/>
                  <p:nvPr/>
                </p:nvSpPr>
                <p:spPr>
                  <a:xfrm flipV="1">
                    <a:off x="4050069" y="4630632"/>
                    <a:ext cx="37058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71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3992899" y="4551765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72" name="Line 46"/>
                  <p:cNvSpPr/>
                  <p:nvPr/>
                </p:nvSpPr>
                <p:spPr>
                  <a:xfrm>
                    <a:off x="4037705" y="5986125"/>
                    <a:ext cx="392823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73" name="Line 46"/>
                  <p:cNvSpPr/>
                  <p:nvPr/>
                </p:nvSpPr>
                <p:spPr>
                  <a:xfrm flipV="1">
                    <a:off x="4212461" y="5794139"/>
                    <a:ext cx="218067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74" name="Line 49"/>
                  <p:cNvSpPr/>
                  <p:nvPr/>
                </p:nvSpPr>
                <p:spPr>
                  <a:xfrm>
                    <a:off x="4854051" y="4173187"/>
                    <a:ext cx="1" cy="72007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75" name="Line 46"/>
                  <p:cNvSpPr/>
                  <p:nvPr/>
                </p:nvSpPr>
                <p:spPr>
                  <a:xfrm>
                    <a:off x="4854053" y="4173187"/>
                    <a:ext cx="59904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76" name="Line 46"/>
                  <p:cNvSpPr/>
                  <p:nvPr/>
                </p:nvSpPr>
                <p:spPr>
                  <a:xfrm flipV="1">
                    <a:off x="4854050" y="4888185"/>
                    <a:ext cx="599049" cy="5082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77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4798202" y="4456679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60478" name="Line 46"/>
                  <p:cNvSpPr/>
                  <p:nvPr/>
                </p:nvSpPr>
                <p:spPr>
                  <a:xfrm>
                    <a:off x="4751016" y="5973385"/>
                    <a:ext cx="111701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79" name="Line 49"/>
                  <p:cNvSpPr/>
                  <p:nvPr/>
                </p:nvSpPr>
                <p:spPr>
                  <a:xfrm>
                    <a:off x="4862715" y="5613345"/>
                    <a:ext cx="1" cy="72007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80" name="Line 46"/>
                  <p:cNvSpPr/>
                  <p:nvPr/>
                </p:nvSpPr>
                <p:spPr>
                  <a:xfrm>
                    <a:off x="4862717" y="5613345"/>
                    <a:ext cx="60511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0481" name="Line 46"/>
                  <p:cNvSpPr/>
                  <p:nvPr/>
                </p:nvSpPr>
                <p:spPr>
                  <a:xfrm flipV="1">
                    <a:off x="4862714" y="6333424"/>
                    <a:ext cx="605113" cy="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pic>
                <p:nvPicPr>
                  <p:cNvPr id="60482" name="Picture 50" descr="dot"/>
                  <p:cNvPicPr>
                    <a:picLocks noChangeAspect="1"/>
                  </p:cNvPicPr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 flipV="1">
                    <a:off x="4806866" y="5896837"/>
                    <a:ext cx="130343" cy="1303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</p:grpSp>
          <p:sp>
            <p:nvSpPr>
              <p:cNvPr id="60425" name="文本框 124"/>
              <p:cNvSpPr txBox="1"/>
              <p:nvPr/>
            </p:nvSpPr>
            <p:spPr>
              <a:xfrm>
                <a:off x="7879621" y="628799"/>
                <a:ext cx="711524" cy="3794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/>
                  <a:t>Q</a:t>
                </a:r>
                <a:r>
                  <a:rPr lang="en-US" altLang="zh-CN" sz="1600" baseline="-25000" dirty="0"/>
                  <a:t>0</a:t>
                </a:r>
                <a:endParaRPr lang="zh-CN" altLang="en-US" sz="1600" baseline="-25000" dirty="0"/>
              </a:p>
            </p:txBody>
          </p:sp>
          <p:sp>
            <p:nvSpPr>
              <p:cNvPr id="60426" name="文本框 125"/>
              <p:cNvSpPr txBox="1"/>
              <p:nvPr/>
            </p:nvSpPr>
            <p:spPr>
              <a:xfrm>
                <a:off x="7941487" y="2105940"/>
                <a:ext cx="711524" cy="3794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/>
                  <a:t>Q</a:t>
                </a:r>
                <a:r>
                  <a:rPr lang="en-US" altLang="zh-CN" sz="1600" baseline="-25000" dirty="0"/>
                  <a:t>1</a:t>
                </a:r>
                <a:endParaRPr lang="zh-CN" altLang="en-US" sz="1600" baseline="-25000" dirty="0"/>
              </a:p>
            </p:txBody>
          </p:sp>
          <p:sp>
            <p:nvSpPr>
              <p:cNvPr id="60427" name="文本框 126"/>
              <p:cNvSpPr txBox="1"/>
              <p:nvPr/>
            </p:nvSpPr>
            <p:spPr>
              <a:xfrm>
                <a:off x="7972863" y="3734803"/>
                <a:ext cx="711524" cy="3794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/>
                  <a:t>Q</a:t>
                </a:r>
                <a:r>
                  <a:rPr lang="en-US" altLang="zh-CN" sz="1600" baseline="-25000" dirty="0"/>
                  <a:t>2</a:t>
                </a:r>
                <a:endParaRPr lang="zh-CN" altLang="en-US" sz="1600" baseline="-25000" dirty="0"/>
              </a:p>
            </p:txBody>
          </p:sp>
          <p:sp>
            <p:nvSpPr>
              <p:cNvPr id="60428" name="文本框 127"/>
              <p:cNvSpPr txBox="1"/>
              <p:nvPr/>
            </p:nvSpPr>
            <p:spPr>
              <a:xfrm>
                <a:off x="8010215" y="5179076"/>
                <a:ext cx="711524" cy="3794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Char char="–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/>
                  <a:t>Q</a:t>
                </a:r>
                <a:r>
                  <a:rPr lang="en-US" altLang="zh-CN" sz="1600" baseline="-25000" dirty="0"/>
                  <a:t>3</a:t>
                </a:r>
                <a:endParaRPr lang="zh-CN" altLang="en-US" sz="1600" baseline="-25000" dirty="0"/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553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5363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0255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同步时序电路的分析步骤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根据电路图列出触发器激励函数表达式和电路输出函数；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（分析由于触发器输入的变化而引起次态的变化以及输出的变化，所以必须要明确触发器的输入变化）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根据电路输入和触发器激励函数建立次态表达式和状态表；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（分析触发器状态的变化规律）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画出状态图和时序图；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（能够更直观分析状态的变化规律）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分析输出序列和输入序列的关系，说明时序电路的逻辑功能；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1534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同步时序电路的分析与设计方法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——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小结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时序电路的一般结构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同步时序电路的特点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；时钟到来，状态改变；一个脉冲只能改变一次状态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同步时序电路的分析工具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状态图、状态表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同步时序电路的基本概念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功能表、现态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</a:t>
            </a:r>
            <a:r>
              <a:rPr kumimoji="0" lang="zh-CN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n+1</a:t>
            </a:r>
            <a:r>
              <a: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状态表、状态图、状态方程、激励表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三种触发器的功能表、激励表、状态表、状态图与状态方程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5229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同步时序电路的分析与设计方法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52291" name="Rectangle 2051"/>
          <p:cNvSpPr>
            <a:spLocks noGrp="1" noChangeArrowheads="1"/>
          </p:cNvSpPr>
          <p:nvPr>
            <p:ph idx="1"/>
          </p:nvPr>
        </p:nvSpPr>
        <p:spPr>
          <a:xfrm>
            <a:off x="609600" y="1509713"/>
            <a:ext cx="8153400" cy="4967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同步时序电路的分析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给定一个同步时序电路，根据给出同步时序电路图，分析该同步时序电路的逻辑功能。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分析时序电路，要抓住时序电路的主要特点：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时序电路具有内部状态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内部状态随着时钟的推移和外部输入的不断变化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触发器的状态同时变化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AutoNum type="arabicParenR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内部状态的改变会影响到输出的状态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分析时序电路的关键是：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找出逻辑电路的变化规律。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20"/>
          <p:cNvSpPr txBox="1">
            <a:spLocks noGrp="1" noChangeArrowheads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00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6686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457200"/>
            <a:ext cx="7086600" cy="14319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第四章 同步时序电路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99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668675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Monotype Corsiva" panose="03010101010201010101" pitchFamily="66" charset="0"/>
                <a:ea typeface="宋体" panose="02010600030101010101" pitchFamily="2" charset="-122"/>
                <a:cs typeface="+mn-cs"/>
              </a:rPr>
              <a:t>Synchronous  Sequential Logic Circuit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Monotype Corsiva" panose="03010101010201010101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8676" name="Text Box 4"/>
          <p:cNvSpPr txBox="1">
            <a:spLocks noChangeArrowheads="1"/>
          </p:cNvSpPr>
          <p:nvPr/>
        </p:nvSpPr>
        <p:spPr bwMode="auto">
          <a:xfrm>
            <a:off x="1447800" y="2743200"/>
            <a:ext cx="7200900" cy="24431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§1.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触发器</a:t>
            </a:r>
            <a:endParaRPr kumimoji="0" lang="zh-CN" altLang="en-US" sz="2800" b="1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§2. </a:t>
            </a:r>
            <a:r>
              <a:rPr kumimoji="0" lang="zh-CN" altLang="en-US" sz="28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同步时序电路的分析与设计方法</a:t>
            </a:r>
            <a:endParaRPr kumimoji="0" lang="zh-CN" altLang="en-US" sz="28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§3. </a:t>
            </a: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计数器</a:t>
            </a:r>
            <a:endParaRPr kumimoji="0" lang="zh-CN" altLang="en-US" sz="2800" b="1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§4. </a:t>
            </a:r>
            <a:r>
              <a:rPr kumimoji="0" lang="zh-CN" altLang="en-US" sz="28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寄存器</a:t>
            </a:r>
            <a:endParaRPr kumimoji="0" lang="zh-CN" altLang="en-US" sz="2400" b="1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8677" name="Rectangle 5"/>
          <p:cNvSpPr/>
          <p:nvPr/>
        </p:nvSpPr>
        <p:spPr>
          <a:xfrm>
            <a:off x="762000" y="3321050"/>
            <a:ext cx="758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Char char="–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Times New Roman" panose="02020603050405020304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FF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7" grpId="0"/>
    </p:bldLst>
  </p:timing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0</TotalTime>
  <Words>8136</Words>
  <Application>WPS 演示</Application>
  <PresentationFormat>全屏显示(4:3)</PresentationFormat>
  <Paragraphs>2663</Paragraphs>
  <Slides>51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Arial</vt:lpstr>
      <vt:lpstr>宋体</vt:lpstr>
      <vt:lpstr>Wingdings</vt:lpstr>
      <vt:lpstr>Tahoma</vt:lpstr>
      <vt:lpstr>华文行楷</vt:lpstr>
      <vt:lpstr>Monotype Corsiva</vt:lpstr>
      <vt:lpstr>Times New Roman</vt:lpstr>
      <vt:lpstr>Wingdings 3</vt:lpstr>
      <vt:lpstr>Georgia</vt:lpstr>
      <vt:lpstr>幼圆</vt:lpstr>
      <vt:lpstr>Symbol</vt:lpstr>
      <vt:lpstr>Cambria Math</vt:lpstr>
      <vt:lpstr>微软雅黑</vt:lpstr>
      <vt:lpstr>Arial Unicode MS</vt:lpstr>
      <vt:lpstr>Shimmer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张芝源(2024010701)</cp:lastModifiedBy>
  <cp:revision>363</cp:revision>
  <dcterms:created xsi:type="dcterms:W3CDTF">2002-01-04T07:22:46Z</dcterms:created>
  <dcterms:modified xsi:type="dcterms:W3CDTF">2026-06-07T09:42:42Z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4068258B288C40AE8054A1B27341675E_13</vt:lpwstr>
  </property>
  <property fmtid="{D5CDD505-2E9C-101B-9397-08002B2CF9AE}" pid="3" name="KSOProductBuildVer">
    <vt:lpwstr>2052-12.1.0.26375</vt:lpwstr>
  </property>
</Properties>
</file>