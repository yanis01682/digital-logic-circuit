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1279" r:id="rId3"/>
    <p:sldId id="1183" r:id="rId4"/>
    <p:sldId id="1184" r:id="rId5"/>
    <p:sldId id="1185" r:id="rId6"/>
    <p:sldId id="1186" r:id="rId8"/>
    <p:sldId id="1187" r:id="rId9"/>
    <p:sldId id="1188" r:id="rId10"/>
    <p:sldId id="1189" r:id="rId11"/>
    <p:sldId id="1191" r:id="rId12"/>
    <p:sldId id="1192" r:id="rId13"/>
    <p:sldId id="1193" r:id="rId14"/>
    <p:sldId id="1194" r:id="rId15"/>
    <p:sldId id="1288" r:id="rId16"/>
    <p:sldId id="1196" r:id="rId17"/>
    <p:sldId id="1197" r:id="rId18"/>
    <p:sldId id="1198" r:id="rId19"/>
    <p:sldId id="1281" r:id="rId20"/>
    <p:sldId id="1283" r:id="rId21"/>
    <p:sldId id="1199" r:id="rId22"/>
    <p:sldId id="1282" r:id="rId23"/>
    <p:sldId id="1280" r:id="rId24"/>
    <p:sldId id="1200" r:id="rId25"/>
    <p:sldId id="1201" r:id="rId26"/>
    <p:sldId id="1202" r:id="rId27"/>
    <p:sldId id="1203" r:id="rId28"/>
    <p:sldId id="1204" r:id="rId29"/>
    <p:sldId id="1205" r:id="rId30"/>
    <p:sldId id="1206" r:id="rId31"/>
    <p:sldId id="1207" r:id="rId32"/>
    <p:sldId id="1208" r:id="rId33"/>
    <p:sldId id="1209" r:id="rId34"/>
    <p:sldId id="1210" r:id="rId35"/>
    <p:sldId id="1211" r:id="rId36"/>
    <p:sldId id="1212" r:id="rId37"/>
    <p:sldId id="1213" r:id="rId38"/>
    <p:sldId id="1214" r:id="rId39"/>
    <p:sldId id="1215" r:id="rId40"/>
    <p:sldId id="1216" r:id="rId41"/>
    <p:sldId id="1217" r:id="rId42"/>
    <p:sldId id="1218" r:id="rId43"/>
    <p:sldId id="1219" r:id="rId44"/>
    <p:sldId id="1220" r:id="rId45"/>
    <p:sldId id="1221" r:id="rId46"/>
    <p:sldId id="1222" r:id="rId47"/>
    <p:sldId id="1223" r:id="rId48"/>
    <p:sldId id="1224" r:id="rId49"/>
    <p:sldId id="1225" r:id="rId50"/>
    <p:sldId id="1226" r:id="rId51"/>
    <p:sldId id="1284" r:id="rId52"/>
    <p:sldId id="1227" r:id="rId53"/>
    <p:sldId id="1228" r:id="rId54"/>
    <p:sldId id="1229" r:id="rId55"/>
    <p:sldId id="1230" r:id="rId56"/>
    <p:sldId id="1231" r:id="rId57"/>
    <p:sldId id="1232" r:id="rId58"/>
    <p:sldId id="1233" r:id="rId59"/>
    <p:sldId id="1234" r:id="rId60"/>
    <p:sldId id="1286" r:id="rId61"/>
    <p:sldId id="1235" r:id="rId62"/>
    <p:sldId id="1236" r:id="rId63"/>
    <p:sldId id="1237" r:id="rId64"/>
    <p:sldId id="1238" r:id="rId65"/>
    <p:sldId id="1239" r:id="rId66"/>
    <p:sldId id="1240" r:id="rId67"/>
    <p:sldId id="1241" r:id="rId68"/>
    <p:sldId id="1242" r:id="rId69"/>
    <p:sldId id="1243" r:id="rId70"/>
    <p:sldId id="1244" r:id="rId71"/>
    <p:sldId id="1245" r:id="rId72"/>
    <p:sldId id="1289" r:id="rId73"/>
    <p:sldId id="1295" r:id="rId74"/>
    <p:sldId id="424" r:id="rId75"/>
    <p:sldId id="1290" r:id="rId76"/>
    <p:sldId id="1291" r:id="rId77"/>
    <p:sldId id="1292" r:id="rId78"/>
    <p:sldId id="1293" r:id="rId79"/>
    <p:sldId id="1296" r:id="rId80"/>
    <p:sldId id="1294" r:id="rId81"/>
    <p:sldId id="1297" r:id="rId82"/>
    <p:sldId id="1298" r:id="rId83"/>
    <p:sldId id="1246" r:id="rId84"/>
  </p:sldIdLst>
  <p:sldSz cx="9144000" cy="6858000" type="screen4x3"/>
  <p:notesSz cx="6797675" cy="992632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4817"/>
    <a:srgbClr val="CCECFF"/>
    <a:srgbClr val="CC0000"/>
    <a:srgbClr val="CC00FF"/>
    <a:srgbClr val="66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6" autoAdjust="0"/>
    <p:restoredTop sz="89871" autoAdjust="0"/>
  </p:normalViewPr>
  <p:slideViewPr>
    <p:cSldViewPr showGuides="1">
      <p:cViewPr varScale="1">
        <p:scale>
          <a:sx n="70" d="100"/>
          <a:sy n="70" d="100"/>
        </p:scale>
        <p:origin x="144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80.xml"/><Relationship Id="rId8" Type="http://schemas.openxmlformats.org/officeDocument/2006/relationships/slide" Target="slides/slide79.xml"/><Relationship Id="rId7" Type="http://schemas.openxmlformats.org/officeDocument/2006/relationships/slide" Target="slides/slide78.xml"/><Relationship Id="rId6" Type="http://schemas.openxmlformats.org/officeDocument/2006/relationships/slide" Target="slides/slide76.xml"/><Relationship Id="rId5" Type="http://schemas.openxmlformats.org/officeDocument/2006/relationships/slide" Target="slides/slide75.xml"/><Relationship Id="rId4" Type="http://schemas.openxmlformats.org/officeDocument/2006/relationships/slide" Target="slides/slide74.xml"/><Relationship Id="rId3" Type="http://schemas.openxmlformats.org/officeDocument/2006/relationships/slide" Target="slides/slide73.xml"/><Relationship Id="rId2" Type="http://schemas.openxmlformats.org/officeDocument/2006/relationships/slide" Target="slides/slide72.xml"/><Relationship Id="rId1" Type="http://schemas.openxmlformats.org/officeDocument/2006/relationships/slide" Target="slides/slide7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3.wmf"/><Relationship Id="rId1" Type="http://schemas.openxmlformats.org/officeDocument/2006/relationships/image" Target="../media/image12.png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2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2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ng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image" Target="../media/image66.wmf"/><Relationship Id="rId7" Type="http://schemas.openxmlformats.org/officeDocument/2006/relationships/image" Target="../media/image65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2" Type="http://schemas.openxmlformats.org/officeDocument/2006/relationships/image" Target="../media/image70.wmf"/><Relationship Id="rId11" Type="http://schemas.openxmlformats.org/officeDocument/2006/relationships/image" Target="../media/image69.wmf"/><Relationship Id="rId10" Type="http://schemas.openxmlformats.org/officeDocument/2006/relationships/image" Target="../media/image68.wmf"/><Relationship Id="rId1" Type="http://schemas.openxmlformats.org/officeDocument/2006/relationships/image" Target="../media/image59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png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png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png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png"/></Relationships>
</file>

<file path=ppt/drawings/_rels/vmlDrawing32.vml.rels><?xml version="1.0" encoding="UTF-8" standalone="yes"?>
<Relationships xmlns="http://schemas.openxmlformats.org/package/2006/relationships"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33.vml.rels><?xml version="1.0" encoding="UTF-8" standalone="yes"?>
<Relationships xmlns="http://schemas.openxmlformats.org/package/2006/relationships"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png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image" Target="../media/image9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7" y="1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8" y="4715153"/>
            <a:ext cx="4984961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306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7" y="9430306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/>
          <a:lstStyle>
            <a:lvl1pPr algn="r">
              <a:defRPr sz="1200"/>
            </a:lvl1pPr>
          </a:lstStyle>
          <a:p>
            <a:fld id="{2799DC8E-3E0C-4B83-A882-B6D750375AC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3BCC492-2C04-4F0B-8829-4EC94607D096}" type="slidenum">
              <a:rPr lang="en-US" altLang="zh-CN"/>
            </a:fld>
            <a:endParaRPr lang="en-US" altLang="zh-CN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altLang="zh-CN"/>
              <a:t>Adder</a:t>
            </a:r>
            <a:r>
              <a:rPr lang="zh-CN" altLang="en-US"/>
              <a:t>是计算机的一个基本运算部件，也是构成</a:t>
            </a:r>
            <a:r>
              <a:rPr lang="en-US" altLang="zh-CN"/>
              <a:t>ALU</a:t>
            </a:r>
            <a:r>
              <a:rPr lang="zh-CN" altLang="en-US"/>
              <a:t>的基础 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B9186CD-F157-42CD-AAFD-5ED2B1DFA951}" type="slidenum">
              <a:rPr lang="en-US" altLang="zh-CN"/>
            </a:fld>
            <a:endParaRPr lang="en-US" altLang="zh-CN"/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 dirty="0"/>
              <a:t>用类似四位并行加法器中</a:t>
            </a:r>
            <a:r>
              <a:rPr lang="en-US" altLang="zh-CN" dirty="0"/>
              <a:t>C1</a:t>
            </a:r>
            <a:r>
              <a:rPr lang="zh-CN" altLang="en-US" dirty="0"/>
              <a:t>、</a:t>
            </a:r>
            <a:r>
              <a:rPr lang="en-US" altLang="zh-CN" dirty="0"/>
              <a:t>C2</a:t>
            </a:r>
            <a:r>
              <a:rPr lang="zh-CN" altLang="en-US" dirty="0"/>
              <a:t>、</a:t>
            </a:r>
            <a:r>
              <a:rPr lang="en-US" altLang="zh-CN" dirty="0"/>
              <a:t>C3</a:t>
            </a:r>
            <a:r>
              <a:rPr lang="zh-CN" altLang="en-US" dirty="0"/>
              <a:t>、</a:t>
            </a:r>
            <a:r>
              <a:rPr lang="en-US" altLang="zh-CN" dirty="0"/>
              <a:t>C4</a:t>
            </a:r>
            <a:r>
              <a:rPr lang="zh-CN" altLang="en-US" dirty="0"/>
              <a:t>形成的原理，去形成片间快速进位</a:t>
            </a:r>
            <a:r>
              <a:rPr lang="en-US" altLang="zh-CN" dirty="0"/>
              <a:t>C4</a:t>
            </a:r>
            <a:r>
              <a:rPr lang="zh-CN" altLang="en-US" dirty="0"/>
              <a:t>、</a:t>
            </a:r>
            <a:r>
              <a:rPr lang="en-US" altLang="zh-CN" dirty="0"/>
              <a:t>C8</a:t>
            </a:r>
            <a:r>
              <a:rPr lang="zh-CN" altLang="en-US" dirty="0"/>
              <a:t>、</a:t>
            </a:r>
            <a:r>
              <a:rPr lang="en-US" altLang="zh-CN" dirty="0"/>
              <a:t>C12</a:t>
            </a:r>
            <a:r>
              <a:rPr lang="zh-CN" altLang="en-US" dirty="0"/>
              <a:t>、</a:t>
            </a:r>
            <a:r>
              <a:rPr lang="en-US" altLang="zh-CN" dirty="0"/>
              <a:t>C16 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55848FC-EF2B-4D61-A77F-5D980ADF8F29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585EB-7DA3-4213-AA50-1E7517F29883}" type="slidenum">
              <a:rPr lang="en-US" altLang="zh-CN" smtClean="0"/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BD98-E874-460E-93D2-A66AF25586CC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59822-5265-469A-AED4-05EC09D52EC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BF70-ECAA-49E5-B0CD-0C6107879468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2B7BE3C-D36C-4FF6-A391-2F85173D0C5C}" type="slidenum">
              <a:rPr lang="en-US" altLang="zh-CN" smtClean="0"/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1FA9-0AB0-4260-A7EE-88F170B505A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FE4C-3867-48B5-BA8A-ABF8890382D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  <a:endParaRPr kumimoji="0" lang="zh-CN" altLang="en-US" dirty="0"/>
          </a:p>
          <a:p>
            <a:pPr lvl="1" eaLnBrk="1" latinLnBrk="0" hangingPunct="1"/>
            <a:r>
              <a:rPr kumimoji="0" lang="zh-CN" altLang="en-US" dirty="0"/>
              <a:t>第二级</a:t>
            </a:r>
            <a:endParaRPr kumimoji="0" lang="zh-CN" altLang="en-US" dirty="0"/>
          </a:p>
          <a:p>
            <a:pPr lvl="2" eaLnBrk="1" latinLnBrk="0" hangingPunct="1"/>
            <a:r>
              <a:rPr kumimoji="0" lang="zh-CN" altLang="en-US" dirty="0"/>
              <a:t>第三级</a:t>
            </a:r>
            <a:endParaRPr kumimoji="0" lang="zh-CN" altLang="en-US" dirty="0"/>
          </a:p>
          <a:p>
            <a:pPr lvl="3" eaLnBrk="1" latinLnBrk="0" hangingPunct="1"/>
            <a:r>
              <a:rPr kumimoji="0" lang="zh-CN" altLang="en-US" dirty="0"/>
              <a:t>第四级</a:t>
            </a:r>
            <a:endParaRPr kumimoji="0" lang="zh-CN" altLang="en-US" dirty="0"/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</p:titleStyle>
    <p:bodyStyle>
      <a:lvl1pPr marL="360045" indent="-360045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anose="05000000000000000000" pitchFamily="2" charset="2"/>
        <a:buChar char="n"/>
        <a:defRPr kumimoji="0" sz="36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612140" indent="-360045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anose="05000000000000000000" pitchFamily="2" charset="2"/>
        <a:buChar char="p"/>
        <a:defRPr kumimoji="0" sz="32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2pPr>
      <a:lvl3pPr marL="864235" indent="-360045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anose="05000000000000000000" pitchFamily="2" charset="2"/>
        <a:buChar char="l"/>
        <a:defRPr kumimoji="0" sz="28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oleObject" Target="../embeddings/oleObject9.bin"/><Relationship Id="rId7" Type="http://schemas.openxmlformats.org/officeDocument/2006/relationships/image" Target="../media/image10.png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2.png"/><Relationship Id="rId1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4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9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0.png"/><Relationship Id="rId1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0.png"/><Relationship Id="rId3" Type="http://schemas.openxmlformats.org/officeDocument/2006/relationships/oleObject" Target="../embeddings/oleObject23.bin"/><Relationship Id="rId2" Type="http://schemas.openxmlformats.org/officeDocument/2006/relationships/image" Target="../media/image12.png"/><Relationship Id="rId1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8.png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7.png"/><Relationship Id="rId1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0.png"/><Relationship Id="rId3" Type="http://schemas.openxmlformats.org/officeDocument/2006/relationships/oleObject" Target="../embeddings/oleObject28.bin"/><Relationship Id="rId2" Type="http://schemas.openxmlformats.org/officeDocument/2006/relationships/image" Target="../media/image12.png"/><Relationship Id="rId1" Type="http://schemas.openxmlformats.org/officeDocument/2006/relationships/oleObject" Target="../embeddings/oleObject27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8.png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7.png"/><Relationship Id="rId1" Type="http://schemas.openxmlformats.org/officeDocument/2006/relationships/oleObject" Target="../embeddings/oleObject29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oleObject" Target="../embeddings/oleObject31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4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3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3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39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2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45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2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9.png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47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oleObject" Target="../embeddings/oleObject52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oleObject" Target="../embeddings/oleObject53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5.wmf"/><Relationship Id="rId1" Type="http://schemas.openxmlformats.org/officeDocument/2006/relationships/oleObject" Target="../embeddings/oleObject54.bin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57.wmf"/><Relationship Id="rId1" Type="http://schemas.openxmlformats.org/officeDocument/2006/relationships/oleObject" Target="../embeddings/oleObject56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59.bin"/><Relationship Id="rId26" Type="http://schemas.openxmlformats.org/officeDocument/2006/relationships/vmlDrawing" Target="../drawings/vmlDrawing23.v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70.wmf"/><Relationship Id="rId23" Type="http://schemas.openxmlformats.org/officeDocument/2006/relationships/oleObject" Target="../embeddings/oleObject69.bin"/><Relationship Id="rId22" Type="http://schemas.openxmlformats.org/officeDocument/2006/relationships/image" Target="../media/image69.wmf"/><Relationship Id="rId21" Type="http://schemas.openxmlformats.org/officeDocument/2006/relationships/oleObject" Target="../embeddings/oleObject68.bin"/><Relationship Id="rId20" Type="http://schemas.openxmlformats.org/officeDocument/2006/relationships/image" Target="../media/image68.wmf"/><Relationship Id="rId2" Type="http://schemas.openxmlformats.org/officeDocument/2006/relationships/image" Target="../media/image59.wmf"/><Relationship Id="rId19" Type="http://schemas.openxmlformats.org/officeDocument/2006/relationships/oleObject" Target="../embeddings/oleObject67.bin"/><Relationship Id="rId18" Type="http://schemas.openxmlformats.org/officeDocument/2006/relationships/image" Target="../media/image67.w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58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2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71.png"/><Relationship Id="rId1" Type="http://schemas.openxmlformats.org/officeDocument/2006/relationships/oleObject" Target="../embeddings/oleObject70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oleObject" Target="../embeddings/oleObject72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oleObject" Target="../embeddings/oleObject73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oleObject" Target="../embeddings/oleObject74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oleObject" Target="../embeddings/oleObject75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oleObject" Target="../embeddings/oleObject76.bin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1" Type="http://schemas.openxmlformats.org/officeDocument/2006/relationships/oleObject" Target="../embeddings/oleObject77.bin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1" Type="http://schemas.openxmlformats.org/officeDocument/2006/relationships/oleObject" Target="../embeddings/oleObject78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3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84.wmf"/><Relationship Id="rId12" Type="http://schemas.openxmlformats.org/officeDocument/2006/relationships/vmlDrawing" Target="../drawings/vmlDrawing3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79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2.w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9.wmf"/><Relationship Id="rId10" Type="http://schemas.openxmlformats.org/officeDocument/2006/relationships/vmlDrawing" Target="../drawings/vmlDrawing33.vml"/><Relationship Id="rId1" Type="http://schemas.openxmlformats.org/officeDocument/2006/relationships/oleObject" Target="../embeddings/oleObject84.bin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1" Type="http://schemas.openxmlformats.org/officeDocument/2006/relationships/oleObject" Target="../embeddings/oleObject88.bin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5.png"/><Relationship Id="rId3" Type="http://schemas.openxmlformats.org/officeDocument/2006/relationships/oleObject" Target="../embeddings/oleObject90.bin"/><Relationship Id="rId2" Type="http://schemas.openxmlformats.org/officeDocument/2006/relationships/image" Target="../media/image94.wmf"/><Relationship Id="rId1" Type="http://schemas.openxmlformats.org/officeDocument/2006/relationships/oleObject" Target="../embeddings/oleObject89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7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1" Type="http://schemas.openxmlformats.org/officeDocument/2006/relationships/image" Target="../media/image1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2.jpeg"/><Relationship Id="rId1" Type="http://schemas.openxmlformats.org/officeDocument/2006/relationships/image" Target="../media/image1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清华大学计算机系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陶品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taopin@tsinghua.edu.cn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</a:t>
            </a:r>
            <a:r>
              <a:rPr 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自强楼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1-902 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13717813059</a:t>
            </a:r>
            <a:r>
              <a:rPr lang="zh-CN" altLang="en-US" sz="24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            </a:t>
            </a:r>
            <a:endParaRPr lang="zh-CN" altLang="en-US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数字逻辑电路</a:t>
            </a:r>
            <a:endParaRPr lang="en-US" altLang="zh-CN" sz="3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  </a:t>
            </a:r>
            <a:r>
              <a:rPr lang="zh-CN" altLang="en-US" sz="3600"/>
              <a:t>常用的中规模组合逻辑电路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E3D3-744B-40C4-8A2B-E00EF81B0C1F}" type="slidenum">
              <a:rPr lang="en-US" altLang="zh-CN"/>
            </a:fld>
            <a:endParaRPr lang="en-US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译码器</a:t>
            </a:r>
            <a:endParaRPr lang="zh-CN" altLang="en-US" b="1" dirty="0"/>
          </a:p>
          <a:p>
            <a:pPr>
              <a:buNone/>
            </a:pPr>
            <a:r>
              <a:rPr lang="en-US" altLang="zh-CN" dirty="0"/>
              <a:t>3.3.2 </a:t>
            </a:r>
            <a:r>
              <a:rPr lang="zh-CN" altLang="en-US" dirty="0"/>
              <a:t>数据选择器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3.3.3 </a:t>
            </a:r>
            <a:r>
              <a:rPr lang="zh-CN" altLang="en-US" b="1" dirty="0"/>
              <a:t>编码器</a:t>
            </a:r>
            <a:endParaRPr lang="zh-CN" altLang="en-US" b="1" dirty="0"/>
          </a:p>
          <a:p>
            <a:pPr>
              <a:buNone/>
            </a:pPr>
            <a:r>
              <a:rPr lang="en-US" altLang="zh-CN" b="1" dirty="0"/>
              <a:t>3.3.4 </a:t>
            </a:r>
            <a:r>
              <a:rPr lang="zh-CN" altLang="en-US" b="1" dirty="0"/>
              <a:t>数据比较器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3.3.5 </a:t>
            </a:r>
            <a:r>
              <a:rPr lang="zh-CN" altLang="en-US" dirty="0"/>
              <a:t>奇偶校验器</a:t>
            </a:r>
            <a:endParaRPr lang="en-US" altLang="zh-CN" dirty="0"/>
          </a:p>
          <a:p>
            <a:pPr>
              <a:buNone/>
            </a:pPr>
            <a:r>
              <a:rPr lang="en-US" altLang="zh-CN" b="1" dirty="0"/>
              <a:t>3</a:t>
            </a:r>
            <a:r>
              <a:rPr lang="en-US" altLang="zh-CN" dirty="0"/>
              <a:t>.3.6 </a:t>
            </a:r>
            <a:r>
              <a:rPr lang="zh-CN" altLang="en-US" dirty="0"/>
              <a:t>可编程逻辑器件</a:t>
            </a:r>
            <a:endParaRPr lang="zh-CN" altLang="en-US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3.3.7 </a:t>
            </a:r>
            <a:r>
              <a:rPr lang="zh-CN" altLang="en-US" b="1" dirty="0">
                <a:solidFill>
                  <a:srgbClr val="7030A0"/>
                </a:solidFill>
              </a:rPr>
              <a:t>运算器（算数逻辑单元 </a:t>
            </a:r>
            <a:r>
              <a:rPr lang="en-US" altLang="zh-CN" b="1" dirty="0">
                <a:solidFill>
                  <a:srgbClr val="7030A0"/>
                </a:solidFill>
              </a:rPr>
              <a:t>ALU</a:t>
            </a:r>
            <a:r>
              <a:rPr lang="zh-CN" altLang="en-US" b="1" dirty="0">
                <a:solidFill>
                  <a:srgbClr val="7030A0"/>
                </a:solidFill>
              </a:rPr>
              <a:t>）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395536" y="5661248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7" grpId="0" autoUpdateAnimBg="0"/>
      <p:bldP spid="34406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585788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148D0-4105-4D2F-A0AC-3510C3A14390}" type="slidenum">
              <a:rPr lang="en-US" altLang="zh-CN"/>
            </a:fld>
            <a:endParaRPr lang="en-US" altLang="zh-CN"/>
          </a:p>
        </p:txBody>
      </p:sp>
      <p:sp>
        <p:nvSpPr>
          <p:cNvPr id="3450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zh-CN" altLang="en-US" b="1" dirty="0">
                <a:solidFill>
                  <a:srgbClr val="7030A0"/>
                </a:solidFill>
              </a:rPr>
              <a:t>一位加法器</a:t>
            </a:r>
            <a:endParaRPr lang="zh-CN" altLang="en-US" b="1" dirty="0">
              <a:solidFill>
                <a:srgbClr val="7030A0"/>
              </a:solidFill>
            </a:endParaRPr>
          </a:p>
          <a:p>
            <a:pPr lvl="2"/>
            <a:r>
              <a:rPr lang="zh-CN" altLang="en-US" b="1" dirty="0"/>
              <a:t>四位串行进位加法器</a:t>
            </a:r>
            <a:endParaRPr lang="zh-CN" altLang="en-US" b="1" dirty="0"/>
          </a:p>
          <a:p>
            <a:pPr lvl="2"/>
            <a:r>
              <a:rPr lang="zh-CN" altLang="en-US" b="1" dirty="0"/>
              <a:t>四位并行加法器</a:t>
            </a:r>
            <a:endParaRPr lang="zh-CN" altLang="en-US" b="1" dirty="0"/>
          </a:p>
          <a:p>
            <a:pPr lvl="2"/>
            <a:r>
              <a:rPr lang="en-US" altLang="zh-CN" b="1" dirty="0"/>
              <a:t>16</a:t>
            </a:r>
            <a:r>
              <a:rPr lang="zh-CN" altLang="en-US" b="1" dirty="0"/>
              <a:t>位加法器</a:t>
            </a:r>
            <a:endParaRPr lang="zh-CN" altLang="en-US" b="1" dirty="0"/>
          </a:p>
          <a:p>
            <a:pPr lvl="1"/>
            <a:r>
              <a:rPr lang="zh-CN" altLang="en-US" b="1" dirty="0"/>
              <a:t>算术运算逻辑单元</a:t>
            </a:r>
            <a:endParaRPr lang="zh-CN" altLang="en-US" b="1" dirty="0"/>
          </a:p>
          <a:p>
            <a:pPr lvl="2"/>
            <a:r>
              <a:rPr lang="zh-CN" altLang="en-US" b="1" dirty="0"/>
              <a:t>四位算术逻辑运算单元</a:t>
            </a:r>
            <a:endParaRPr lang="en-US" altLang="zh-CN" b="1" dirty="0"/>
          </a:p>
          <a:p>
            <a:pPr lvl="1"/>
            <a:r>
              <a:rPr lang="zh-CN" altLang="en-US" dirty="0"/>
              <a:t>乘法器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3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ED8-C236-430A-8BB6-71D1D7A9B1F5}" type="slidenum">
              <a:rPr lang="en-US" altLang="zh-CN"/>
            </a:fld>
            <a:endParaRPr lang="en-US" altLang="zh-CN"/>
          </a:p>
        </p:txBody>
      </p:sp>
      <p:graphicFrame>
        <p:nvGraphicFramePr>
          <p:cNvPr id="346116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499992" y="4869160"/>
          <a:ext cx="3890846" cy="1756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36" name="位图图像" r:id="rId1" imgW="1962150" imgH="885825" progId="PBrush">
                  <p:embed/>
                </p:oleObj>
              </mc:Choice>
              <mc:Fallback>
                <p:oleObj name="位图图像" r:id="rId1" imgW="1962150" imgH="885825" progId="PBrush">
                  <p:embed/>
                  <p:pic>
                    <p:nvPicPr>
                      <p:cNvPr id="0" name="图片 8439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869160"/>
                        <a:ext cx="3890846" cy="1756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43" name="Object 3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55976" y="3573016"/>
          <a:ext cx="3861628" cy="1019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37" name="公式" r:id="rId3" imgW="48463200" imgH="12801600" progId="Equation.3">
                  <p:embed/>
                </p:oleObj>
              </mc:Choice>
              <mc:Fallback>
                <p:oleObj name="公式" r:id="rId3" imgW="48463200" imgH="12801600" progId="Equation.3">
                  <p:embed/>
                  <p:pic>
                    <p:nvPicPr>
                      <p:cNvPr id="0" name="图片 8439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3573016"/>
                        <a:ext cx="3861628" cy="10199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4" name="Rectangle 2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3.3.7 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运算器（算数逻辑单元 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ALU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FFFF00"/>
              </a:buClr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加法器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Adder</a:t>
            </a:r>
            <a:endParaRPr lang="en-US" altLang="zh-CN" sz="2400" b="1" dirty="0">
              <a:solidFill>
                <a:srgbClr val="7030A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spcBef>
                <a:spcPct val="20000"/>
              </a:spcBef>
              <a:buClr>
                <a:srgbClr val="FFFF00"/>
              </a:buClr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半加器 （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Half Adder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）：不考虑低位进位输入和向高位的进位输出，两数码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Xn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相加，称半加 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46117" name="Group 5"/>
          <p:cNvGraphicFramePr>
            <a:graphicFrameLocks noGrp="1"/>
          </p:cNvGraphicFramePr>
          <p:nvPr/>
        </p:nvGraphicFramePr>
        <p:xfrm>
          <a:off x="762000" y="3951312"/>
          <a:ext cx="2832100" cy="2286000"/>
        </p:xfrm>
        <a:graphic>
          <a:graphicData uri="http://schemas.openxmlformats.org/drawingml/2006/table">
            <a:tbl>
              <a:tblPr/>
              <a:tblGrid>
                <a:gridCol w="944563"/>
                <a:gridCol w="942975"/>
                <a:gridCol w="944562"/>
              </a:tblGrid>
              <a:tr h="234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6144" name="Rectangle 32"/>
          <p:cNvSpPr>
            <a:spLocks noChangeArrowheads="1"/>
          </p:cNvSpPr>
          <p:nvPr/>
        </p:nvSpPr>
        <p:spPr bwMode="auto">
          <a:xfrm>
            <a:off x="914400" y="3312886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一位半加器功能表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4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7626-1771-48AB-A8A1-510E9C356D5A}" type="slidenum">
              <a:rPr lang="en-US" altLang="zh-CN"/>
            </a:fld>
            <a:endParaRPr lang="en-US" altLang="zh-CN"/>
          </a:p>
        </p:txBody>
      </p:sp>
      <p:graphicFrame>
        <p:nvGraphicFramePr>
          <p:cNvPr id="348163" name="Group 3"/>
          <p:cNvGraphicFramePr>
            <a:graphicFrameLocks noGrp="1"/>
          </p:cNvGraphicFramePr>
          <p:nvPr/>
        </p:nvGraphicFramePr>
        <p:xfrm>
          <a:off x="2438400" y="3733800"/>
          <a:ext cx="3200400" cy="2944816"/>
        </p:xfrm>
        <a:graphic>
          <a:graphicData uri="http://schemas.openxmlformats.org/drawingml/2006/table">
            <a:tbl>
              <a:tblPr/>
              <a:tblGrid>
                <a:gridCol w="635000"/>
                <a:gridCol w="633413"/>
                <a:gridCol w="636587"/>
                <a:gridCol w="631825"/>
                <a:gridCol w="663575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Yn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n-1</a:t>
                      </a:r>
                      <a:endParaRPr kumimoji="0" lang="en-US" altLang="zh-CN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225" name="Rectangle 65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3.3.7 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运算器（算数逻辑单元 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ALU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FFFF00"/>
              </a:buClr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加法器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Adder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spcBef>
                <a:spcPct val="20000"/>
              </a:spcBef>
              <a:buClr>
                <a:srgbClr val="FFFF00"/>
              </a:buClr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全加器 （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Adder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）： 将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Xn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及低位进位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n-1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相加，并将进位输出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，称全加 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226" name="Rectangle 66"/>
          <p:cNvSpPr>
            <a:spLocks noChangeArrowheads="1"/>
          </p:cNvSpPr>
          <p:nvPr/>
        </p:nvSpPr>
        <p:spPr bwMode="auto">
          <a:xfrm>
            <a:off x="2819400" y="3276600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一位全加器功能表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227" name="Line 67"/>
          <p:cNvSpPr>
            <a:spLocks noChangeShapeType="1"/>
          </p:cNvSpPr>
          <p:nvPr/>
        </p:nvSpPr>
        <p:spPr bwMode="auto">
          <a:xfrm>
            <a:off x="4343400" y="3733800"/>
            <a:ext cx="0" cy="2971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6" grpId="0" autoUpdateAnimBg="0"/>
      <p:bldP spid="3482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13" y="363538"/>
            <a:ext cx="8232775" cy="585787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964-591C-4259-B59D-6D54B5EF615F}" type="slidenum">
              <a:rPr lang="en-US" altLang="zh-CN"/>
            </a:fld>
            <a:endParaRPr lang="en-US" altLang="zh-CN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1143000" y="2133600"/>
            <a:ext cx="2971800" cy="4471988"/>
            <a:chOff x="672" y="1248"/>
            <a:chExt cx="1872" cy="2817"/>
          </a:xfrm>
        </p:grpSpPr>
        <p:sp>
          <p:nvSpPr>
            <p:cNvPr id="349188" name="Text Box 4"/>
            <p:cNvSpPr txBox="1">
              <a:spLocks noChangeArrowheads="1"/>
            </p:cNvSpPr>
            <p:nvPr/>
          </p:nvSpPr>
          <p:spPr bwMode="auto">
            <a:xfrm>
              <a:off x="1200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真值表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89" name="Rectangle 5"/>
            <p:cNvSpPr>
              <a:spLocks noChangeArrowheads="1"/>
            </p:cNvSpPr>
            <p:nvPr/>
          </p:nvSpPr>
          <p:spPr bwMode="auto">
            <a:xfrm>
              <a:off x="2170" y="3816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0" name="Rectangle 6"/>
            <p:cNvSpPr>
              <a:spLocks noChangeArrowheads="1"/>
            </p:cNvSpPr>
            <p:nvPr/>
          </p:nvSpPr>
          <p:spPr bwMode="auto">
            <a:xfrm>
              <a:off x="1776" y="3816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1" name="Rectangle 7"/>
            <p:cNvSpPr>
              <a:spLocks noChangeArrowheads="1"/>
            </p:cNvSpPr>
            <p:nvPr/>
          </p:nvSpPr>
          <p:spPr bwMode="auto">
            <a:xfrm>
              <a:off x="1440" y="3816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2" name="Rectangle 8"/>
            <p:cNvSpPr>
              <a:spLocks noChangeArrowheads="1"/>
            </p:cNvSpPr>
            <p:nvPr/>
          </p:nvSpPr>
          <p:spPr bwMode="auto">
            <a:xfrm>
              <a:off x="1046" y="3816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3" name="Rectangle 9"/>
            <p:cNvSpPr>
              <a:spLocks noChangeArrowheads="1"/>
            </p:cNvSpPr>
            <p:nvPr/>
          </p:nvSpPr>
          <p:spPr bwMode="auto">
            <a:xfrm>
              <a:off x="672" y="3816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4" name="Rectangle 10"/>
            <p:cNvSpPr>
              <a:spLocks noChangeArrowheads="1"/>
            </p:cNvSpPr>
            <p:nvPr/>
          </p:nvSpPr>
          <p:spPr bwMode="auto">
            <a:xfrm>
              <a:off x="2170" y="3567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5" name="Rectangle 11"/>
            <p:cNvSpPr>
              <a:spLocks noChangeArrowheads="1"/>
            </p:cNvSpPr>
            <p:nvPr/>
          </p:nvSpPr>
          <p:spPr bwMode="auto">
            <a:xfrm>
              <a:off x="1776" y="3567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6" name="Rectangle 12"/>
            <p:cNvSpPr>
              <a:spLocks noChangeArrowheads="1"/>
            </p:cNvSpPr>
            <p:nvPr/>
          </p:nvSpPr>
          <p:spPr bwMode="auto">
            <a:xfrm>
              <a:off x="1440" y="3567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7" name="Rectangle 13"/>
            <p:cNvSpPr>
              <a:spLocks noChangeArrowheads="1"/>
            </p:cNvSpPr>
            <p:nvPr/>
          </p:nvSpPr>
          <p:spPr bwMode="auto">
            <a:xfrm>
              <a:off x="1046" y="3567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8" name="Rectangle 14"/>
            <p:cNvSpPr>
              <a:spLocks noChangeArrowheads="1"/>
            </p:cNvSpPr>
            <p:nvPr/>
          </p:nvSpPr>
          <p:spPr bwMode="auto">
            <a:xfrm>
              <a:off x="672" y="3567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199" name="Rectangle 15"/>
            <p:cNvSpPr>
              <a:spLocks noChangeArrowheads="1"/>
            </p:cNvSpPr>
            <p:nvPr/>
          </p:nvSpPr>
          <p:spPr bwMode="auto">
            <a:xfrm>
              <a:off x="2170" y="3318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0" name="Rectangle 16"/>
            <p:cNvSpPr>
              <a:spLocks noChangeArrowheads="1"/>
            </p:cNvSpPr>
            <p:nvPr/>
          </p:nvSpPr>
          <p:spPr bwMode="auto">
            <a:xfrm>
              <a:off x="1776" y="3318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1" name="Rectangle 17"/>
            <p:cNvSpPr>
              <a:spLocks noChangeArrowheads="1"/>
            </p:cNvSpPr>
            <p:nvPr/>
          </p:nvSpPr>
          <p:spPr bwMode="auto">
            <a:xfrm>
              <a:off x="1440" y="3318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2" name="Rectangle 18"/>
            <p:cNvSpPr>
              <a:spLocks noChangeArrowheads="1"/>
            </p:cNvSpPr>
            <p:nvPr/>
          </p:nvSpPr>
          <p:spPr bwMode="auto">
            <a:xfrm>
              <a:off x="1046" y="3318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3" name="Rectangle 19"/>
            <p:cNvSpPr>
              <a:spLocks noChangeArrowheads="1"/>
            </p:cNvSpPr>
            <p:nvPr/>
          </p:nvSpPr>
          <p:spPr bwMode="auto">
            <a:xfrm>
              <a:off x="672" y="3318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4" name="Rectangle 20"/>
            <p:cNvSpPr>
              <a:spLocks noChangeArrowheads="1"/>
            </p:cNvSpPr>
            <p:nvPr/>
          </p:nvSpPr>
          <p:spPr bwMode="auto">
            <a:xfrm>
              <a:off x="2170" y="3069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5" name="Rectangle 21"/>
            <p:cNvSpPr>
              <a:spLocks noChangeArrowheads="1"/>
            </p:cNvSpPr>
            <p:nvPr/>
          </p:nvSpPr>
          <p:spPr bwMode="auto">
            <a:xfrm>
              <a:off x="1776" y="3069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6" name="Rectangle 22"/>
            <p:cNvSpPr>
              <a:spLocks noChangeArrowheads="1"/>
            </p:cNvSpPr>
            <p:nvPr/>
          </p:nvSpPr>
          <p:spPr bwMode="auto">
            <a:xfrm>
              <a:off x="1440" y="3069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7" name="Rectangle 23"/>
            <p:cNvSpPr>
              <a:spLocks noChangeArrowheads="1"/>
            </p:cNvSpPr>
            <p:nvPr/>
          </p:nvSpPr>
          <p:spPr bwMode="auto">
            <a:xfrm>
              <a:off x="1046" y="3069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8" name="Rectangle 24"/>
            <p:cNvSpPr>
              <a:spLocks noChangeArrowheads="1"/>
            </p:cNvSpPr>
            <p:nvPr/>
          </p:nvSpPr>
          <p:spPr bwMode="auto">
            <a:xfrm>
              <a:off x="672" y="3069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09" name="Rectangle 25"/>
            <p:cNvSpPr>
              <a:spLocks noChangeArrowheads="1"/>
            </p:cNvSpPr>
            <p:nvPr/>
          </p:nvSpPr>
          <p:spPr bwMode="auto">
            <a:xfrm>
              <a:off x="2170" y="2820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0" name="Rectangle 26"/>
            <p:cNvSpPr>
              <a:spLocks noChangeArrowheads="1"/>
            </p:cNvSpPr>
            <p:nvPr/>
          </p:nvSpPr>
          <p:spPr bwMode="auto">
            <a:xfrm>
              <a:off x="1776" y="2820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1" name="Rectangle 27"/>
            <p:cNvSpPr>
              <a:spLocks noChangeArrowheads="1"/>
            </p:cNvSpPr>
            <p:nvPr/>
          </p:nvSpPr>
          <p:spPr bwMode="auto">
            <a:xfrm>
              <a:off x="1440" y="2820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2" name="Rectangle 28"/>
            <p:cNvSpPr>
              <a:spLocks noChangeArrowheads="1"/>
            </p:cNvSpPr>
            <p:nvPr/>
          </p:nvSpPr>
          <p:spPr bwMode="auto">
            <a:xfrm>
              <a:off x="1046" y="2820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3" name="Rectangle 29"/>
            <p:cNvSpPr>
              <a:spLocks noChangeArrowheads="1"/>
            </p:cNvSpPr>
            <p:nvPr/>
          </p:nvSpPr>
          <p:spPr bwMode="auto">
            <a:xfrm>
              <a:off x="672" y="2820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4" name="Rectangle 30"/>
            <p:cNvSpPr>
              <a:spLocks noChangeArrowheads="1"/>
            </p:cNvSpPr>
            <p:nvPr/>
          </p:nvSpPr>
          <p:spPr bwMode="auto">
            <a:xfrm>
              <a:off x="2170" y="2571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5" name="Rectangle 31"/>
            <p:cNvSpPr>
              <a:spLocks noChangeArrowheads="1"/>
            </p:cNvSpPr>
            <p:nvPr/>
          </p:nvSpPr>
          <p:spPr bwMode="auto">
            <a:xfrm>
              <a:off x="1776" y="2571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6" name="Rectangle 32"/>
            <p:cNvSpPr>
              <a:spLocks noChangeArrowheads="1"/>
            </p:cNvSpPr>
            <p:nvPr/>
          </p:nvSpPr>
          <p:spPr bwMode="auto">
            <a:xfrm>
              <a:off x="1440" y="2571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7" name="Rectangle 33"/>
            <p:cNvSpPr>
              <a:spLocks noChangeArrowheads="1"/>
            </p:cNvSpPr>
            <p:nvPr/>
          </p:nvSpPr>
          <p:spPr bwMode="auto">
            <a:xfrm>
              <a:off x="1046" y="2571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8" name="Rectangle 34"/>
            <p:cNvSpPr>
              <a:spLocks noChangeArrowheads="1"/>
            </p:cNvSpPr>
            <p:nvPr/>
          </p:nvSpPr>
          <p:spPr bwMode="auto">
            <a:xfrm>
              <a:off x="672" y="2571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19" name="Rectangle 35"/>
            <p:cNvSpPr>
              <a:spLocks noChangeArrowheads="1"/>
            </p:cNvSpPr>
            <p:nvPr/>
          </p:nvSpPr>
          <p:spPr bwMode="auto">
            <a:xfrm>
              <a:off x="2170" y="2322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0" name="Rectangle 36"/>
            <p:cNvSpPr>
              <a:spLocks noChangeArrowheads="1"/>
            </p:cNvSpPr>
            <p:nvPr/>
          </p:nvSpPr>
          <p:spPr bwMode="auto">
            <a:xfrm>
              <a:off x="1776" y="2322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1" name="Rectangle 37"/>
            <p:cNvSpPr>
              <a:spLocks noChangeArrowheads="1"/>
            </p:cNvSpPr>
            <p:nvPr/>
          </p:nvSpPr>
          <p:spPr bwMode="auto">
            <a:xfrm>
              <a:off x="1440" y="2322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2" name="Rectangle 38"/>
            <p:cNvSpPr>
              <a:spLocks noChangeArrowheads="1"/>
            </p:cNvSpPr>
            <p:nvPr/>
          </p:nvSpPr>
          <p:spPr bwMode="auto">
            <a:xfrm>
              <a:off x="1046" y="2322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3" name="Rectangle 39"/>
            <p:cNvSpPr>
              <a:spLocks noChangeArrowheads="1"/>
            </p:cNvSpPr>
            <p:nvPr/>
          </p:nvSpPr>
          <p:spPr bwMode="auto">
            <a:xfrm>
              <a:off x="672" y="2322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4" name="Rectangle 40"/>
            <p:cNvSpPr>
              <a:spLocks noChangeArrowheads="1"/>
            </p:cNvSpPr>
            <p:nvPr/>
          </p:nvSpPr>
          <p:spPr bwMode="auto">
            <a:xfrm>
              <a:off x="2170" y="2073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5" name="Rectangle 41"/>
            <p:cNvSpPr>
              <a:spLocks noChangeArrowheads="1"/>
            </p:cNvSpPr>
            <p:nvPr/>
          </p:nvSpPr>
          <p:spPr bwMode="auto">
            <a:xfrm>
              <a:off x="1776" y="2073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6" name="Rectangle 42"/>
            <p:cNvSpPr>
              <a:spLocks noChangeArrowheads="1"/>
            </p:cNvSpPr>
            <p:nvPr/>
          </p:nvSpPr>
          <p:spPr bwMode="auto">
            <a:xfrm>
              <a:off x="1440" y="2073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7" name="Rectangle 43"/>
            <p:cNvSpPr>
              <a:spLocks noChangeArrowheads="1"/>
            </p:cNvSpPr>
            <p:nvPr/>
          </p:nvSpPr>
          <p:spPr bwMode="auto">
            <a:xfrm>
              <a:off x="1046" y="2073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8" name="Rectangle 44"/>
            <p:cNvSpPr>
              <a:spLocks noChangeArrowheads="1"/>
            </p:cNvSpPr>
            <p:nvPr/>
          </p:nvSpPr>
          <p:spPr bwMode="auto">
            <a:xfrm>
              <a:off x="672" y="2073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29" name="Rectangle 45"/>
            <p:cNvSpPr>
              <a:spLocks noChangeArrowheads="1"/>
            </p:cNvSpPr>
            <p:nvPr/>
          </p:nvSpPr>
          <p:spPr bwMode="auto">
            <a:xfrm>
              <a:off x="2170" y="1632"/>
              <a:ext cx="37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30000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9230" name="Rectangle 46"/>
            <p:cNvSpPr>
              <a:spLocks noChangeArrowheads="1"/>
            </p:cNvSpPr>
            <p:nvPr/>
          </p:nvSpPr>
          <p:spPr bwMode="auto">
            <a:xfrm>
              <a:off x="1776" y="1632"/>
              <a:ext cx="39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baseline="-30000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9231" name="Rectangle 47"/>
            <p:cNvSpPr>
              <a:spLocks noChangeArrowheads="1"/>
            </p:cNvSpPr>
            <p:nvPr/>
          </p:nvSpPr>
          <p:spPr bwMode="auto">
            <a:xfrm>
              <a:off x="1440" y="1632"/>
              <a:ext cx="336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16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6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n-1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2" name="Rectangle 48"/>
            <p:cNvSpPr>
              <a:spLocks noChangeArrowheads="1"/>
            </p:cNvSpPr>
            <p:nvPr/>
          </p:nvSpPr>
          <p:spPr bwMode="auto">
            <a:xfrm>
              <a:off x="1046" y="1632"/>
              <a:ext cx="39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3" name="Rectangle 49"/>
            <p:cNvSpPr>
              <a:spLocks noChangeArrowheads="1"/>
            </p:cNvSpPr>
            <p:nvPr/>
          </p:nvSpPr>
          <p:spPr bwMode="auto">
            <a:xfrm>
              <a:off x="672" y="1632"/>
              <a:ext cx="37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30000" dirty="0" err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4" name="Line 50"/>
            <p:cNvSpPr>
              <a:spLocks noChangeShapeType="1"/>
            </p:cNvSpPr>
            <p:nvPr/>
          </p:nvSpPr>
          <p:spPr bwMode="auto">
            <a:xfrm>
              <a:off x="672" y="1632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5" name="Line 51"/>
            <p:cNvSpPr>
              <a:spLocks noChangeShapeType="1"/>
            </p:cNvSpPr>
            <p:nvPr/>
          </p:nvSpPr>
          <p:spPr bwMode="auto">
            <a:xfrm>
              <a:off x="672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6" name="Line 52"/>
            <p:cNvSpPr>
              <a:spLocks noChangeShapeType="1"/>
            </p:cNvSpPr>
            <p:nvPr/>
          </p:nvSpPr>
          <p:spPr bwMode="auto">
            <a:xfrm>
              <a:off x="672" y="232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7" name="Line 53"/>
            <p:cNvSpPr>
              <a:spLocks noChangeShapeType="1"/>
            </p:cNvSpPr>
            <p:nvPr/>
          </p:nvSpPr>
          <p:spPr bwMode="auto">
            <a:xfrm>
              <a:off x="672" y="257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8" name="Line 54"/>
            <p:cNvSpPr>
              <a:spLocks noChangeShapeType="1"/>
            </p:cNvSpPr>
            <p:nvPr/>
          </p:nvSpPr>
          <p:spPr bwMode="auto">
            <a:xfrm>
              <a:off x="672" y="282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39" name="Line 55"/>
            <p:cNvSpPr>
              <a:spLocks noChangeShapeType="1"/>
            </p:cNvSpPr>
            <p:nvPr/>
          </p:nvSpPr>
          <p:spPr bwMode="auto">
            <a:xfrm>
              <a:off x="672" y="306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0" name="Line 56"/>
            <p:cNvSpPr>
              <a:spLocks noChangeShapeType="1"/>
            </p:cNvSpPr>
            <p:nvPr/>
          </p:nvSpPr>
          <p:spPr bwMode="auto">
            <a:xfrm>
              <a:off x="672" y="331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1" name="Line 57"/>
            <p:cNvSpPr>
              <a:spLocks noChangeShapeType="1"/>
            </p:cNvSpPr>
            <p:nvPr/>
          </p:nvSpPr>
          <p:spPr bwMode="auto">
            <a:xfrm>
              <a:off x="672" y="3567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2" name="Line 58"/>
            <p:cNvSpPr>
              <a:spLocks noChangeShapeType="1"/>
            </p:cNvSpPr>
            <p:nvPr/>
          </p:nvSpPr>
          <p:spPr bwMode="auto">
            <a:xfrm>
              <a:off x="672" y="381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3" name="Line 59"/>
            <p:cNvSpPr>
              <a:spLocks noChangeShapeType="1"/>
            </p:cNvSpPr>
            <p:nvPr/>
          </p:nvSpPr>
          <p:spPr bwMode="auto">
            <a:xfrm>
              <a:off x="672" y="4065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4" name="Line 60"/>
            <p:cNvSpPr>
              <a:spLocks noChangeShapeType="1"/>
            </p:cNvSpPr>
            <p:nvPr/>
          </p:nvSpPr>
          <p:spPr bwMode="auto">
            <a:xfrm>
              <a:off x="672" y="1632"/>
              <a:ext cx="0" cy="243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5" name="Line 61"/>
            <p:cNvSpPr>
              <a:spLocks noChangeShapeType="1"/>
            </p:cNvSpPr>
            <p:nvPr/>
          </p:nvSpPr>
          <p:spPr bwMode="auto">
            <a:xfrm>
              <a:off x="1046" y="1632"/>
              <a:ext cx="0" cy="24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6" name="Line 62"/>
            <p:cNvSpPr>
              <a:spLocks noChangeShapeType="1"/>
            </p:cNvSpPr>
            <p:nvPr/>
          </p:nvSpPr>
          <p:spPr bwMode="auto">
            <a:xfrm>
              <a:off x="1440" y="1632"/>
              <a:ext cx="0" cy="24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7" name="Line 63"/>
            <p:cNvSpPr>
              <a:spLocks noChangeShapeType="1"/>
            </p:cNvSpPr>
            <p:nvPr/>
          </p:nvSpPr>
          <p:spPr bwMode="auto">
            <a:xfrm>
              <a:off x="1776" y="1632"/>
              <a:ext cx="0" cy="243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8" name="Line 64"/>
            <p:cNvSpPr>
              <a:spLocks noChangeShapeType="1"/>
            </p:cNvSpPr>
            <p:nvPr/>
          </p:nvSpPr>
          <p:spPr bwMode="auto">
            <a:xfrm>
              <a:off x="2170" y="1632"/>
              <a:ext cx="0" cy="24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49" name="Line 65"/>
            <p:cNvSpPr>
              <a:spLocks noChangeShapeType="1"/>
            </p:cNvSpPr>
            <p:nvPr/>
          </p:nvSpPr>
          <p:spPr bwMode="auto">
            <a:xfrm>
              <a:off x="2544" y="1632"/>
              <a:ext cx="0" cy="243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" name="Group 66"/>
          <p:cNvGrpSpPr/>
          <p:nvPr/>
        </p:nvGrpSpPr>
        <p:grpSpPr bwMode="auto">
          <a:xfrm>
            <a:off x="4800600" y="2438400"/>
            <a:ext cx="3498850" cy="4058629"/>
            <a:chOff x="3163" y="1248"/>
            <a:chExt cx="2398" cy="2931"/>
          </a:xfrm>
        </p:grpSpPr>
        <p:sp>
          <p:nvSpPr>
            <p:cNvPr id="349251" name="Text Box 67"/>
            <p:cNvSpPr txBox="1">
              <a:spLocks noChangeArrowheads="1"/>
            </p:cNvSpPr>
            <p:nvPr/>
          </p:nvSpPr>
          <p:spPr bwMode="auto">
            <a:xfrm>
              <a:off x="3840" y="1248"/>
              <a:ext cx="720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2" name="Rectangle 68"/>
            <p:cNvSpPr>
              <a:spLocks noChangeArrowheads="1"/>
            </p:cNvSpPr>
            <p:nvPr/>
          </p:nvSpPr>
          <p:spPr bwMode="auto">
            <a:xfrm>
              <a:off x="3408" y="2208"/>
              <a:ext cx="1584" cy="10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3" name="Line 69"/>
            <p:cNvSpPr>
              <a:spLocks noChangeShapeType="1"/>
            </p:cNvSpPr>
            <p:nvPr/>
          </p:nvSpPr>
          <p:spPr bwMode="auto">
            <a:xfrm flipV="1">
              <a:off x="3696" y="187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4" name="Line 70"/>
            <p:cNvSpPr>
              <a:spLocks noChangeShapeType="1"/>
            </p:cNvSpPr>
            <p:nvPr/>
          </p:nvSpPr>
          <p:spPr bwMode="auto">
            <a:xfrm flipH="1">
              <a:off x="3408" y="18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5" name="Line 71"/>
            <p:cNvSpPr>
              <a:spLocks noChangeShapeType="1"/>
            </p:cNvSpPr>
            <p:nvPr/>
          </p:nvSpPr>
          <p:spPr bwMode="auto">
            <a:xfrm flipV="1">
              <a:off x="4512" y="182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6" name="Line 72"/>
            <p:cNvSpPr>
              <a:spLocks noChangeShapeType="1"/>
            </p:cNvSpPr>
            <p:nvPr/>
          </p:nvSpPr>
          <p:spPr bwMode="auto">
            <a:xfrm flipV="1">
              <a:off x="3744" y="3216"/>
              <a:ext cx="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7" name="Line 73"/>
            <p:cNvSpPr>
              <a:spLocks noChangeShapeType="1"/>
            </p:cNvSpPr>
            <p:nvPr/>
          </p:nvSpPr>
          <p:spPr bwMode="auto">
            <a:xfrm flipV="1">
              <a:off x="4224" y="3216"/>
              <a:ext cx="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8" name="Line 74"/>
            <p:cNvSpPr>
              <a:spLocks noChangeShapeType="1"/>
            </p:cNvSpPr>
            <p:nvPr/>
          </p:nvSpPr>
          <p:spPr bwMode="auto">
            <a:xfrm>
              <a:off x="4656" y="3648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59" name="Line 75"/>
            <p:cNvSpPr>
              <a:spLocks noChangeShapeType="1"/>
            </p:cNvSpPr>
            <p:nvPr/>
          </p:nvSpPr>
          <p:spPr bwMode="auto">
            <a:xfrm flipV="1">
              <a:off x="4656" y="321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9260" name="Rectangle 76"/>
            <p:cNvSpPr>
              <a:spLocks noChangeArrowheads="1"/>
            </p:cNvSpPr>
            <p:nvPr/>
          </p:nvSpPr>
          <p:spPr bwMode="auto">
            <a:xfrm>
              <a:off x="3163" y="1680"/>
              <a:ext cx="380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 sz="28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300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800" baseline="-300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9261" name="Rectangle 77"/>
            <p:cNvSpPr>
              <a:spLocks noChangeArrowheads="1"/>
            </p:cNvSpPr>
            <p:nvPr/>
          </p:nvSpPr>
          <p:spPr bwMode="auto">
            <a:xfrm>
              <a:off x="4387" y="1439"/>
              <a:ext cx="348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300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800" baseline="-300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9262" name="Rectangle 78"/>
            <p:cNvSpPr>
              <a:spLocks noChangeArrowheads="1"/>
            </p:cNvSpPr>
            <p:nvPr/>
          </p:nvSpPr>
          <p:spPr bwMode="auto">
            <a:xfrm>
              <a:off x="3582" y="3801"/>
              <a:ext cx="385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300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800" baseline="-300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9263" name="Rectangle 79"/>
            <p:cNvSpPr>
              <a:spLocks noChangeArrowheads="1"/>
            </p:cNvSpPr>
            <p:nvPr/>
          </p:nvSpPr>
          <p:spPr bwMode="auto">
            <a:xfrm>
              <a:off x="4080" y="3801"/>
              <a:ext cx="365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3000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800" baseline="-300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9264" name="Rectangle 80"/>
            <p:cNvSpPr>
              <a:spLocks noChangeArrowheads="1"/>
            </p:cNvSpPr>
            <p:nvPr/>
          </p:nvSpPr>
          <p:spPr bwMode="auto">
            <a:xfrm>
              <a:off x="5052" y="3648"/>
              <a:ext cx="509" cy="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30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n-1</a:t>
              </a:r>
              <a:endParaRPr lang="en-US" altLang="zh-CN" sz="2800" baseline="-300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9265" name="Text Box 81"/>
            <p:cNvSpPr txBox="1">
              <a:spLocks noChangeArrowheads="1"/>
            </p:cNvSpPr>
            <p:nvPr/>
          </p:nvSpPr>
          <p:spPr bwMode="auto">
            <a:xfrm>
              <a:off x="3888" y="2400"/>
              <a:ext cx="672" cy="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endParaRPr lang="en-US" altLang="zh-CN" sz="4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49266" name="Text Box 82"/>
          <p:cNvSpPr txBox="1">
            <a:spLocks noChangeArrowheads="1"/>
          </p:cNvSpPr>
          <p:nvPr/>
        </p:nvSpPr>
        <p:spPr bwMode="auto">
          <a:xfrm>
            <a:off x="7524750" y="2060575"/>
            <a:ext cx="122396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9267" name="Rectangle 83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一位全加器 （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Full Adder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9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9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26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96FE6-F916-4CDD-97DA-39D7CDB9B569}" type="slidenum">
              <a:rPr lang="en-US" altLang="zh-CN"/>
            </a:fld>
            <a:endParaRPr lang="en-US" altLang="zh-CN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838200" y="2133600"/>
            <a:ext cx="3527425" cy="2274888"/>
            <a:chOff x="522" y="1389"/>
            <a:chExt cx="2222" cy="143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522" y="1389"/>
              <a:ext cx="2222" cy="1053"/>
              <a:chOff x="522" y="1389"/>
              <a:chExt cx="2222" cy="1053"/>
            </a:xfrm>
          </p:grpSpPr>
          <p:sp>
            <p:nvSpPr>
              <p:cNvPr id="350213" name="Rectangle 5"/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350214" name="Rectangle 6"/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0215" name="Rectangle 7"/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350216" name="Rectangle 8"/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0217" name="Rectangle 9"/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0218" name="Rectangle 10"/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350219" name="Rectangle 11"/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0220" name="Rectangle 12"/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350221" name="Line 13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2" name="Line 14"/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3" name="Line 15"/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4" name="Line 16"/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5" name="Line 17"/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6" name="Line 18"/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7" name="Line 19"/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8" name="Line 20"/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29" name="Line 21"/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230" name="Rectangle 22"/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231" name="Rectangle 23"/>
              <p:cNvSpPr>
                <a:spLocks noChangeArrowheads="1"/>
              </p:cNvSpPr>
              <p:nvPr/>
            </p:nvSpPr>
            <p:spPr bwMode="auto">
              <a:xfrm>
                <a:off x="884" y="1389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232" name="Rectangle 24"/>
              <p:cNvSpPr>
                <a:spLocks noChangeArrowheads="1"/>
              </p:cNvSpPr>
              <p:nvPr/>
            </p:nvSpPr>
            <p:spPr bwMode="auto">
              <a:xfrm>
                <a:off x="522" y="1592"/>
                <a:ext cx="41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233" name="Text Box 25"/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350234" name="Text Box 26"/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graphicFrame>
          <p:nvGraphicFramePr>
            <p:cNvPr id="350235" name="Object 27"/>
            <p:cNvGraphicFramePr>
              <a:graphicFrameLocks noChangeAspect="1"/>
            </p:cNvGraphicFramePr>
            <p:nvPr/>
          </p:nvGraphicFramePr>
          <p:xfrm>
            <a:off x="1560" y="2478"/>
            <a:ext cx="26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035" name="公式" r:id="rId1" imgW="177800" imgH="228600" progId="Equation.3">
                    <p:embed/>
                  </p:oleObj>
                </mc:Choice>
                <mc:Fallback>
                  <p:oleObj name="公式" r:id="rId1" imgW="177800" imgH="228600" progId="Equation.3">
                    <p:embed/>
                    <p:pic>
                      <p:nvPicPr>
                        <p:cNvPr id="0" name="图片 8450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0" y="2478"/>
                          <a:ext cx="267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0236" name="Object 28"/>
          <p:cNvGraphicFramePr>
            <a:graphicFrameLocks noChangeAspect="1"/>
          </p:cNvGraphicFramePr>
          <p:nvPr/>
        </p:nvGraphicFramePr>
        <p:xfrm>
          <a:off x="406400" y="4437112"/>
          <a:ext cx="81676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036" name="公式" r:id="rId3" imgW="3327400" imgH="254000" progId="Equation.3">
                  <p:embed/>
                </p:oleObj>
              </mc:Choice>
              <mc:Fallback>
                <p:oleObj name="公式" r:id="rId3" imgW="3327400" imgH="254000" progId="Equation.3">
                  <p:embed/>
                  <p:pic>
                    <p:nvPicPr>
                      <p:cNvPr id="0" name="图片 8450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4437112"/>
                        <a:ext cx="8167688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37" name="Rectangle 29"/>
          <p:cNvSpPr>
            <a:spLocks noChangeArrowheads="1"/>
          </p:cNvSpPr>
          <p:nvPr/>
        </p:nvSpPr>
        <p:spPr bwMode="auto">
          <a:xfrm>
            <a:off x="685800" y="1066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一位全加器 （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Full Adder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FFFF00"/>
              </a:buClr>
            </a:pP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卡诺图化简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en-US" altLang="zh-CN" sz="32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endParaRPr kumimoji="1" lang="zh-CN" alt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0238" name="Line 30"/>
          <p:cNvSpPr>
            <a:spLocks noChangeShapeType="1"/>
          </p:cNvSpPr>
          <p:nvPr/>
        </p:nvSpPr>
        <p:spPr bwMode="auto">
          <a:xfrm flipH="1" flipV="1">
            <a:off x="1981200" y="3657600"/>
            <a:ext cx="304800" cy="762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0239" name="Line 31"/>
          <p:cNvSpPr>
            <a:spLocks noChangeShapeType="1"/>
          </p:cNvSpPr>
          <p:nvPr/>
        </p:nvSpPr>
        <p:spPr bwMode="auto">
          <a:xfrm flipH="1" flipV="1">
            <a:off x="2590800" y="3200400"/>
            <a:ext cx="1295400" cy="1295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0240" name="Line 32"/>
          <p:cNvSpPr>
            <a:spLocks noChangeShapeType="1"/>
          </p:cNvSpPr>
          <p:nvPr/>
        </p:nvSpPr>
        <p:spPr bwMode="auto">
          <a:xfrm flipH="1" flipV="1">
            <a:off x="3962400" y="3124200"/>
            <a:ext cx="1905000" cy="1371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0241" name="Line 33"/>
          <p:cNvSpPr>
            <a:spLocks noChangeShapeType="1"/>
          </p:cNvSpPr>
          <p:nvPr/>
        </p:nvSpPr>
        <p:spPr bwMode="auto">
          <a:xfrm flipH="1" flipV="1">
            <a:off x="3276600" y="3505200"/>
            <a:ext cx="41910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50242" name="Object 34"/>
          <p:cNvGraphicFramePr>
            <a:graphicFrameLocks noChangeAspect="1"/>
          </p:cNvGraphicFramePr>
          <p:nvPr/>
        </p:nvGraphicFramePr>
        <p:xfrm>
          <a:off x="899592" y="4975226"/>
          <a:ext cx="6470352" cy="1866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037" name="公式" r:id="rId5" imgW="66446400" imgH="19202400" progId="Equation.3">
                  <p:embed/>
                </p:oleObj>
              </mc:Choice>
              <mc:Fallback>
                <p:oleObj name="公式" r:id="rId5" imgW="66446400" imgH="19202400" progId="Equation.3">
                  <p:embed/>
                  <p:pic>
                    <p:nvPicPr>
                      <p:cNvPr id="0" name="图片 8450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975226"/>
                        <a:ext cx="6470352" cy="18665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" dur="500"/>
                                        <p:tgtEl>
                                          <p:spTgt spid="350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350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5" dur="500"/>
                                        <p:tgtEl>
                                          <p:spTgt spid="350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0" dur="500"/>
                                        <p:tgtEl>
                                          <p:spTgt spid="3502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38" grpId="0" animBg="1"/>
      <p:bldP spid="350239" grpId="0" animBg="1"/>
      <p:bldP spid="350240" grpId="0" animBg="1"/>
      <p:bldP spid="3502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A4B88-F866-4A55-BCB1-AE8AD8AA065E}" type="slidenum">
              <a:rPr lang="en-US" altLang="zh-CN"/>
            </a:fld>
            <a:endParaRPr lang="en-US" altLang="zh-CN"/>
          </a:p>
        </p:txBody>
      </p:sp>
      <p:sp>
        <p:nvSpPr>
          <p:cNvPr id="3512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 dirty="0"/>
              <a:t>一位全加器 （</a:t>
            </a:r>
            <a:r>
              <a:rPr lang="en-US" altLang="zh-CN" b="1" dirty="0"/>
              <a:t>Full Adder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卡诺图化简</a:t>
            </a:r>
            <a:r>
              <a:rPr lang="en-US" altLang="zh-CN" dirty="0" err="1">
                <a:latin typeface="Arial" panose="020B0604020202020204" pitchFamily="34" charset="0"/>
              </a:rPr>
              <a:t>Cn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4932040" y="2493044"/>
            <a:ext cx="3455987" cy="2335211"/>
            <a:chOff x="3107" y="1351"/>
            <a:chExt cx="2177" cy="1471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3107" y="1351"/>
              <a:ext cx="2177" cy="1091"/>
              <a:chOff x="3107" y="1351"/>
              <a:chExt cx="2177" cy="1091"/>
            </a:xfrm>
          </p:grpSpPr>
          <p:sp>
            <p:nvSpPr>
              <p:cNvPr id="351238" name="Rectangle 6"/>
              <p:cNvSpPr>
                <a:spLocks noChangeArrowheads="1"/>
              </p:cNvSpPr>
              <p:nvPr/>
            </p:nvSpPr>
            <p:spPr bwMode="auto">
              <a:xfrm>
                <a:off x="4762" y="21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1239" name="Rectangle 7"/>
              <p:cNvSpPr>
                <a:spLocks noChangeArrowheads="1"/>
              </p:cNvSpPr>
              <p:nvPr/>
            </p:nvSpPr>
            <p:spPr bwMode="auto">
              <a:xfrm>
                <a:off x="4361" y="21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1240" name="Rectangle 8"/>
              <p:cNvSpPr>
                <a:spLocks noChangeArrowheads="1"/>
              </p:cNvSpPr>
              <p:nvPr/>
            </p:nvSpPr>
            <p:spPr bwMode="auto">
              <a:xfrm>
                <a:off x="3961" y="21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1241" name="Rectangle 9"/>
              <p:cNvSpPr>
                <a:spLocks noChangeArrowheads="1"/>
              </p:cNvSpPr>
              <p:nvPr/>
            </p:nvSpPr>
            <p:spPr bwMode="auto">
              <a:xfrm>
                <a:off x="3560" y="21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351242" name="Rectangle 10"/>
              <p:cNvSpPr>
                <a:spLocks noChangeArrowheads="1"/>
              </p:cNvSpPr>
              <p:nvPr/>
            </p:nvSpPr>
            <p:spPr bwMode="auto">
              <a:xfrm>
                <a:off x="4762" y="18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dirty="0"/>
                  <a:t>0</a:t>
                </a:r>
                <a:endParaRPr lang="en-US" altLang="zh-CN" dirty="0"/>
              </a:p>
            </p:txBody>
          </p:sp>
          <p:sp>
            <p:nvSpPr>
              <p:cNvPr id="351243" name="Rectangle 11"/>
              <p:cNvSpPr>
                <a:spLocks noChangeArrowheads="1"/>
              </p:cNvSpPr>
              <p:nvPr/>
            </p:nvSpPr>
            <p:spPr bwMode="auto">
              <a:xfrm>
                <a:off x="4361" y="18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51244" name="Rectangle 12"/>
              <p:cNvSpPr>
                <a:spLocks noChangeArrowheads="1"/>
              </p:cNvSpPr>
              <p:nvPr/>
            </p:nvSpPr>
            <p:spPr bwMode="auto">
              <a:xfrm>
                <a:off x="3961" y="1842"/>
                <a:ext cx="400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351245" name="Rectangle 13"/>
              <p:cNvSpPr>
                <a:spLocks noChangeArrowheads="1"/>
              </p:cNvSpPr>
              <p:nvPr/>
            </p:nvSpPr>
            <p:spPr bwMode="auto">
              <a:xfrm>
                <a:off x="3560" y="1842"/>
                <a:ext cx="401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/>
                  <a:t>0</a:t>
                </a:r>
                <a:endParaRPr lang="en-US" altLang="zh-CN"/>
              </a:p>
            </p:txBody>
          </p:sp>
          <p:sp>
            <p:nvSpPr>
              <p:cNvPr id="351246" name="Line 14"/>
              <p:cNvSpPr>
                <a:spLocks noChangeShapeType="1"/>
              </p:cNvSpPr>
              <p:nvPr/>
            </p:nvSpPr>
            <p:spPr bwMode="auto">
              <a:xfrm>
                <a:off x="3560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47" name="Line 15"/>
              <p:cNvSpPr>
                <a:spLocks noChangeShapeType="1"/>
              </p:cNvSpPr>
              <p:nvPr/>
            </p:nvSpPr>
            <p:spPr bwMode="auto">
              <a:xfrm>
                <a:off x="3560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48" name="Line 16"/>
              <p:cNvSpPr>
                <a:spLocks noChangeShapeType="1"/>
              </p:cNvSpPr>
              <p:nvPr/>
            </p:nvSpPr>
            <p:spPr bwMode="auto">
              <a:xfrm>
                <a:off x="3560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49" name="Line 17"/>
              <p:cNvSpPr>
                <a:spLocks noChangeShapeType="1"/>
              </p:cNvSpPr>
              <p:nvPr/>
            </p:nvSpPr>
            <p:spPr bwMode="auto">
              <a:xfrm>
                <a:off x="3560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50" name="Line 18"/>
              <p:cNvSpPr>
                <a:spLocks noChangeShapeType="1"/>
              </p:cNvSpPr>
              <p:nvPr/>
            </p:nvSpPr>
            <p:spPr bwMode="auto">
              <a:xfrm>
                <a:off x="3961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51" name="Line 19"/>
              <p:cNvSpPr>
                <a:spLocks noChangeShapeType="1"/>
              </p:cNvSpPr>
              <p:nvPr/>
            </p:nvSpPr>
            <p:spPr bwMode="auto">
              <a:xfrm>
                <a:off x="4361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52" name="Line 20"/>
              <p:cNvSpPr>
                <a:spLocks noChangeShapeType="1"/>
              </p:cNvSpPr>
              <p:nvPr/>
            </p:nvSpPr>
            <p:spPr bwMode="auto">
              <a:xfrm>
                <a:off x="4762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53" name="Line 21"/>
              <p:cNvSpPr>
                <a:spLocks noChangeShapeType="1"/>
              </p:cNvSpPr>
              <p:nvPr/>
            </p:nvSpPr>
            <p:spPr bwMode="auto">
              <a:xfrm>
                <a:off x="5162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54" name="Line 22"/>
              <p:cNvSpPr>
                <a:spLocks noChangeShapeType="1"/>
              </p:cNvSpPr>
              <p:nvPr/>
            </p:nvSpPr>
            <p:spPr bwMode="auto">
              <a:xfrm flipH="1" flipV="1">
                <a:off x="3288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255" name="Rectangle 23"/>
              <p:cNvSpPr>
                <a:spLocks noChangeArrowheads="1"/>
              </p:cNvSpPr>
              <p:nvPr/>
            </p:nvSpPr>
            <p:spPr bwMode="auto">
              <a:xfrm>
                <a:off x="3288" y="1351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1256" name="Rectangle 24"/>
              <p:cNvSpPr>
                <a:spLocks noChangeArrowheads="1"/>
              </p:cNvSpPr>
              <p:nvPr/>
            </p:nvSpPr>
            <p:spPr bwMode="auto">
              <a:xfrm>
                <a:off x="3424" y="1351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1257" name="Rectangle 25"/>
              <p:cNvSpPr>
                <a:spLocks noChangeArrowheads="1"/>
              </p:cNvSpPr>
              <p:nvPr/>
            </p:nvSpPr>
            <p:spPr bwMode="auto">
              <a:xfrm>
                <a:off x="3107" y="1592"/>
                <a:ext cx="41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1258" name="Text Box 26"/>
              <p:cNvSpPr txBox="1">
                <a:spLocks noChangeArrowheads="1"/>
              </p:cNvSpPr>
              <p:nvPr/>
            </p:nvSpPr>
            <p:spPr bwMode="auto">
              <a:xfrm>
                <a:off x="356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00    01    11     10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351259" name="Text Box 27"/>
              <p:cNvSpPr txBox="1">
                <a:spLocks noChangeArrowheads="1"/>
              </p:cNvSpPr>
              <p:nvPr/>
            </p:nvSpPr>
            <p:spPr bwMode="auto">
              <a:xfrm>
                <a:off x="3334" y="1797"/>
                <a:ext cx="272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graphicFrame>
          <p:nvGraphicFramePr>
            <p:cNvPr id="351260" name="Object 28"/>
            <p:cNvGraphicFramePr>
              <a:graphicFrameLocks noChangeAspect="1"/>
            </p:cNvGraphicFramePr>
            <p:nvPr/>
          </p:nvGraphicFramePr>
          <p:xfrm>
            <a:off x="4227" y="2478"/>
            <a:ext cx="28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199" name="公式" r:id="rId1" imgW="190500" imgH="228600" progId="Equation.3">
                    <p:embed/>
                  </p:oleObj>
                </mc:Choice>
                <mc:Fallback>
                  <p:oleObj name="公式" r:id="rId1" imgW="190500" imgH="228600" progId="Equation.3">
                    <p:embed/>
                    <p:pic>
                      <p:nvPicPr>
                        <p:cNvPr id="0" name="图片 846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7" y="2478"/>
                          <a:ext cx="286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1261" name="Object 29"/>
          <p:cNvGraphicFramePr>
            <a:graphicFrameLocks noChangeAspect="1"/>
          </p:cNvGraphicFramePr>
          <p:nvPr/>
        </p:nvGraphicFramePr>
        <p:xfrm>
          <a:off x="899592" y="5018757"/>
          <a:ext cx="41290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200" name="公式" r:id="rId3" imgW="45415200" imgH="5486400" progId="Equation.3">
                  <p:embed/>
                </p:oleObj>
              </mc:Choice>
              <mc:Fallback>
                <p:oleObj name="公式" r:id="rId3" imgW="45415200" imgH="5486400" progId="Equation.3">
                  <p:embed/>
                  <p:pic>
                    <p:nvPicPr>
                      <p:cNvPr id="0" name="图片 846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018757"/>
                        <a:ext cx="4129087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62" name="Object 30"/>
          <p:cNvGraphicFramePr>
            <a:graphicFrameLocks noChangeAspect="1"/>
          </p:cNvGraphicFramePr>
          <p:nvPr/>
        </p:nvGraphicFramePr>
        <p:xfrm>
          <a:off x="1439218" y="5517232"/>
          <a:ext cx="385286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201" name="公式" r:id="rId5" imgW="42367200" imgH="5486400" progId="Equation.3">
                  <p:embed/>
                </p:oleObj>
              </mc:Choice>
              <mc:Fallback>
                <p:oleObj name="公式" r:id="rId5" imgW="42367200" imgH="5486400" progId="Equation.3">
                  <p:embed/>
                  <p:pic>
                    <p:nvPicPr>
                      <p:cNvPr id="0" name="图片 846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218" y="5517232"/>
                        <a:ext cx="3852862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1"/>
          <p:cNvGrpSpPr/>
          <p:nvPr/>
        </p:nvGrpSpPr>
        <p:grpSpPr bwMode="auto">
          <a:xfrm>
            <a:off x="2362200" y="3272507"/>
            <a:ext cx="5160963" cy="1822450"/>
            <a:chOff x="1488" y="1588"/>
            <a:chExt cx="3251" cy="1148"/>
          </a:xfrm>
        </p:grpSpPr>
        <p:sp>
          <p:nvSpPr>
            <p:cNvPr id="351264" name="Rectangle 32"/>
            <p:cNvSpPr>
              <a:spLocks noChangeArrowheads="1"/>
            </p:cNvSpPr>
            <p:nvPr/>
          </p:nvSpPr>
          <p:spPr bwMode="auto">
            <a:xfrm>
              <a:off x="4422" y="1588"/>
              <a:ext cx="317" cy="544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265" name="Line 33"/>
            <p:cNvSpPr>
              <a:spLocks noChangeShapeType="1"/>
            </p:cNvSpPr>
            <p:nvPr/>
          </p:nvSpPr>
          <p:spPr bwMode="auto">
            <a:xfrm flipV="1">
              <a:off x="1488" y="1824"/>
              <a:ext cx="2976" cy="91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34"/>
          <p:cNvGrpSpPr/>
          <p:nvPr/>
        </p:nvGrpSpPr>
        <p:grpSpPr bwMode="auto">
          <a:xfrm>
            <a:off x="3733800" y="3777332"/>
            <a:ext cx="4294188" cy="1317625"/>
            <a:chOff x="2352" y="1906"/>
            <a:chExt cx="2705" cy="830"/>
          </a:xfrm>
        </p:grpSpPr>
        <p:sp>
          <p:nvSpPr>
            <p:cNvPr id="351267" name="Rectangle 35"/>
            <p:cNvSpPr>
              <a:spLocks noChangeArrowheads="1"/>
            </p:cNvSpPr>
            <p:nvPr/>
          </p:nvSpPr>
          <p:spPr bwMode="auto">
            <a:xfrm>
              <a:off x="4422" y="1906"/>
              <a:ext cx="635" cy="272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268" name="Line 36"/>
            <p:cNvSpPr>
              <a:spLocks noChangeShapeType="1"/>
            </p:cNvSpPr>
            <p:nvPr/>
          </p:nvSpPr>
          <p:spPr bwMode="auto">
            <a:xfrm flipV="1">
              <a:off x="2352" y="2160"/>
              <a:ext cx="2304" cy="57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37"/>
          <p:cNvGrpSpPr/>
          <p:nvPr/>
        </p:nvGrpSpPr>
        <p:grpSpPr bwMode="auto">
          <a:xfrm>
            <a:off x="4724400" y="3777332"/>
            <a:ext cx="2655888" cy="1317625"/>
            <a:chOff x="2976" y="1906"/>
            <a:chExt cx="1673" cy="830"/>
          </a:xfrm>
        </p:grpSpPr>
        <p:sp>
          <p:nvSpPr>
            <p:cNvPr id="351270" name="Rectangle 38"/>
            <p:cNvSpPr>
              <a:spLocks noChangeArrowheads="1"/>
            </p:cNvSpPr>
            <p:nvPr/>
          </p:nvSpPr>
          <p:spPr bwMode="auto">
            <a:xfrm>
              <a:off x="4059" y="1906"/>
              <a:ext cx="590" cy="227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271" name="Line 39"/>
            <p:cNvSpPr>
              <a:spLocks noChangeShapeType="1"/>
            </p:cNvSpPr>
            <p:nvPr/>
          </p:nvSpPr>
          <p:spPr bwMode="auto">
            <a:xfrm flipV="1">
              <a:off x="2976" y="2112"/>
              <a:ext cx="1248" cy="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对象 6"/>
              <p:cNvSpPr txBox="1"/>
              <p:nvPr/>
            </p:nvSpPr>
            <p:spPr bwMode="auto">
              <a:xfrm>
                <a:off x="874961" y="6062662"/>
                <a:ext cx="4417119" cy="6492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ba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ba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ba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ba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ba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961" y="6062662"/>
                <a:ext cx="4417119" cy="649289"/>
              </a:xfrm>
              <a:prstGeom prst="rect">
                <a:avLst/>
              </a:prstGeom>
              <a:blipFill rotWithShape="1">
                <a:blip r:embed="rId7"/>
                <a:stretch>
                  <a:fillRect l="-13" t="-49" r="14" b="-298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99592" y="2955006"/>
          <a:ext cx="3481387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202" name="公式" r:id="rId8" imgW="1803400" imgH="533400" progId="Equation.3">
                  <p:embed/>
                </p:oleObj>
              </mc:Choice>
              <mc:Fallback>
                <p:oleObj name="公式" r:id="rId8" imgW="1803400" imgH="533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955006"/>
                        <a:ext cx="3481387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A03B1-779E-4EC9-951D-1EE1A64C4918}" type="slidenum">
              <a:rPr lang="en-US" altLang="zh-CN"/>
            </a:fld>
            <a:endParaRPr lang="en-US" altLang="zh-CN"/>
          </a:p>
        </p:txBody>
      </p:sp>
      <p:graphicFrame>
        <p:nvGraphicFramePr>
          <p:cNvPr id="354307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729931" y="1737320"/>
          <a:ext cx="3946525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084" name="Image" r:id="rId1" imgW="6882765" imgH="7973695" progId="">
                  <p:embed/>
                </p:oleObj>
              </mc:Choice>
              <mc:Fallback>
                <p:oleObj name="Image" r:id="rId1" imgW="6882765" imgH="7973695" progId="">
                  <p:embed/>
                  <p:pic>
                    <p:nvPicPr>
                      <p:cNvPr id="0" name="图片 84706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931" y="1737320"/>
                        <a:ext cx="3946525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08" name="Text Box 4"/>
          <p:cNvSpPr txBox="1">
            <a:spLocks noChangeArrowheads="1"/>
          </p:cNvSpPr>
          <p:nvPr/>
        </p:nvSpPr>
        <p:spPr bwMode="auto">
          <a:xfrm>
            <a:off x="914400" y="5013920"/>
            <a:ext cx="394563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不化简，用全部最小项实现，需要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级门。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4309" name="Rectangle 5"/>
          <p:cNvSpPr>
            <a:spLocks noChangeArrowheads="1"/>
          </p:cNvSpPr>
          <p:nvPr/>
        </p:nvSpPr>
        <p:spPr bwMode="auto">
          <a:xfrm>
            <a:off x="533400" y="1340768"/>
            <a:ext cx="8153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kumimoji="1" lang="zh-CN" altLang="en-US" sz="3200" b="1">
                <a:latin typeface="华文新魏" panose="02010800040101010101" pitchFamily="2" charset="-122"/>
                <a:ea typeface="华文新魏" panose="02010800040101010101" pitchFamily="2" charset="-122"/>
              </a:rPr>
              <a:t>一位</a:t>
            </a:r>
            <a:r>
              <a:rPr kumimoji="1"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全加器实现方案</a:t>
            </a:r>
            <a:r>
              <a:rPr kumimoji="1" lang="en-US" altLang="zh-CN" sz="32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kumimoji="1" lang="en-US" altLang="zh-CN" sz="32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54310" name="Object 6"/>
          <p:cNvGraphicFramePr>
            <a:graphicFrameLocks noChangeAspect="1"/>
          </p:cNvGraphicFramePr>
          <p:nvPr/>
        </p:nvGraphicFramePr>
        <p:xfrm>
          <a:off x="796925" y="2088158"/>
          <a:ext cx="3767138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085" name="公式" r:id="rId3" imgW="1816100" imgH="533400" progId="Equation.3">
                  <p:embed/>
                </p:oleObj>
              </mc:Choice>
              <mc:Fallback>
                <p:oleObj name="公式" r:id="rId3" imgW="1816100" imgH="533400" progId="Equation.3">
                  <p:embed/>
                  <p:pic>
                    <p:nvPicPr>
                      <p:cNvPr id="0" name="图片 847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2088158"/>
                        <a:ext cx="3767138" cy="1263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11" name="Object 7"/>
          <p:cNvGraphicFramePr>
            <a:graphicFrameLocks noChangeAspect="1"/>
          </p:cNvGraphicFramePr>
          <p:nvPr/>
        </p:nvGraphicFramePr>
        <p:xfrm>
          <a:off x="804863" y="3535958"/>
          <a:ext cx="3481387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086" name="公式" r:id="rId5" imgW="1803400" imgH="533400" progId="Equation.3">
                  <p:embed/>
                </p:oleObj>
              </mc:Choice>
              <mc:Fallback>
                <p:oleObj name="公式" r:id="rId5" imgW="1803400" imgH="533400" progId="Equation.3">
                  <p:embed/>
                  <p:pic>
                    <p:nvPicPr>
                      <p:cNvPr id="0" name="图片 8470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3535958"/>
                        <a:ext cx="3481387" cy="1281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F63CB-4BD1-4DD0-AADD-1D0A3ABACED8}" type="slidenum">
              <a:rPr lang="en-US" altLang="zh-CN"/>
            </a:fld>
            <a:endParaRPr lang="en-US" altLang="zh-CN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900113" y="1833564"/>
            <a:ext cx="5761037" cy="468313"/>
            <a:chOff x="567" y="1155"/>
            <a:chExt cx="3629" cy="295"/>
          </a:xfrm>
        </p:grpSpPr>
        <p:sp>
          <p:nvSpPr>
            <p:cNvPr id="355332" name="Text Box 4"/>
            <p:cNvSpPr txBox="1">
              <a:spLocks noChangeArrowheads="1"/>
            </p:cNvSpPr>
            <p:nvPr/>
          </p:nvSpPr>
          <p:spPr bwMode="auto">
            <a:xfrm>
              <a:off x="567" y="1162"/>
              <a:ext cx="36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写        的表达式</a:t>
              </a:r>
              <a:endPara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" name="Group 5"/>
            <p:cNvGrpSpPr/>
            <p:nvPr/>
          </p:nvGrpSpPr>
          <p:grpSpPr bwMode="auto">
            <a:xfrm>
              <a:off x="800" y="1155"/>
              <a:ext cx="395" cy="267"/>
              <a:chOff x="800" y="1155"/>
              <a:chExt cx="395" cy="267"/>
            </a:xfrm>
          </p:grpSpPr>
          <p:graphicFrame>
            <p:nvGraphicFramePr>
              <p:cNvPr id="355334" name="Object 6"/>
              <p:cNvGraphicFramePr>
                <a:graphicFrameLocks noChangeAspect="1"/>
              </p:cNvGraphicFramePr>
              <p:nvPr/>
            </p:nvGraphicFramePr>
            <p:xfrm>
              <a:off x="800" y="1155"/>
              <a:ext cx="184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8338" name="公式" r:id="rId1" imgW="152400" imgH="215900" progId="Equation.3">
                      <p:embed/>
                    </p:oleObj>
                  </mc:Choice>
                  <mc:Fallback>
                    <p:oleObj name="公式" r:id="rId1" imgW="152400" imgH="215900" progId="Equation.3">
                      <p:embed/>
                      <p:pic>
                        <p:nvPicPr>
                          <p:cNvPr id="0" name="图片 8483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0" y="1155"/>
                            <a:ext cx="184" cy="2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5335" name="Object 7"/>
              <p:cNvGraphicFramePr>
                <a:graphicFrameLocks noChangeAspect="1"/>
              </p:cNvGraphicFramePr>
              <p:nvPr/>
            </p:nvGraphicFramePr>
            <p:xfrm>
              <a:off x="1027" y="1162"/>
              <a:ext cx="168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48339" name="公式" r:id="rId3" imgW="139700" imgH="215900" progId="Equation.3">
                      <p:embed/>
                    </p:oleObj>
                  </mc:Choice>
                  <mc:Fallback>
                    <p:oleObj name="公式" r:id="rId3" imgW="139700" imgH="215900" progId="Equation.3">
                      <p:embed/>
                      <p:pic>
                        <p:nvPicPr>
                          <p:cNvPr id="0" name="图片 8483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7" y="1162"/>
                            <a:ext cx="168" cy="2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55336" name="Object 8"/>
          <p:cNvGraphicFramePr>
            <a:graphicFrameLocks noChangeAspect="1"/>
          </p:cNvGraphicFramePr>
          <p:nvPr/>
        </p:nvGraphicFramePr>
        <p:xfrm>
          <a:off x="693738" y="2576513"/>
          <a:ext cx="73660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340" name="公式" r:id="rId5" imgW="3162300" imgH="266700" progId="Equation.3">
                  <p:embed/>
                </p:oleObj>
              </mc:Choice>
              <mc:Fallback>
                <p:oleObj name="公式" r:id="rId5" imgW="3162300" imgH="266700" progId="Equation.3">
                  <p:embed/>
                  <p:pic>
                    <p:nvPicPr>
                      <p:cNvPr id="0" name="图片 848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2576513"/>
                        <a:ext cx="7366000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7" name="Object 9"/>
          <p:cNvGraphicFramePr>
            <a:graphicFrameLocks noChangeAspect="1"/>
          </p:cNvGraphicFramePr>
          <p:nvPr/>
        </p:nvGraphicFramePr>
        <p:xfrm>
          <a:off x="523875" y="3262313"/>
          <a:ext cx="82597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341" name="公式" r:id="rId7" imgW="3505200" imgH="292100" progId="Equation.3">
                  <p:embed/>
                </p:oleObj>
              </mc:Choice>
              <mc:Fallback>
                <p:oleObj name="公式" r:id="rId7" imgW="3505200" imgH="292100" progId="Equation.3">
                  <p:embed/>
                  <p:pic>
                    <p:nvPicPr>
                      <p:cNvPr id="0" name="图片 848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3262313"/>
                        <a:ext cx="8259763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8" name="Object 10"/>
          <p:cNvGraphicFramePr>
            <a:graphicFrameLocks noChangeAspect="1"/>
          </p:cNvGraphicFramePr>
          <p:nvPr/>
        </p:nvGraphicFramePr>
        <p:xfrm>
          <a:off x="722313" y="4267200"/>
          <a:ext cx="45069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342" name="公式" r:id="rId9" imgW="1943100" imgH="254000" progId="Equation.3">
                  <p:embed/>
                </p:oleObj>
              </mc:Choice>
              <mc:Fallback>
                <p:oleObj name="公式" r:id="rId9" imgW="1943100" imgH="254000" progId="Equation.3">
                  <p:embed/>
                  <p:pic>
                    <p:nvPicPr>
                      <p:cNvPr id="0" name="图片 8483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4267200"/>
                        <a:ext cx="4506912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39" name="Object 11"/>
          <p:cNvGraphicFramePr>
            <a:graphicFrameLocks noChangeAspect="1"/>
          </p:cNvGraphicFramePr>
          <p:nvPr/>
        </p:nvGraphicFramePr>
        <p:xfrm>
          <a:off x="635000" y="4876800"/>
          <a:ext cx="54181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343" name="公式" r:id="rId11" imgW="2336800" imgH="279400" progId="Equation.3">
                  <p:embed/>
                </p:oleObj>
              </mc:Choice>
              <mc:Fallback>
                <p:oleObj name="公式" r:id="rId11" imgW="2336800" imgH="279400" progId="Equation.3">
                  <p:embed/>
                  <p:pic>
                    <p:nvPicPr>
                      <p:cNvPr id="0" name="图片 848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876800"/>
                        <a:ext cx="541813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40" name="Text Box 12"/>
          <p:cNvSpPr txBox="1">
            <a:spLocks noChangeArrowheads="1"/>
          </p:cNvSpPr>
          <p:nvPr/>
        </p:nvSpPr>
        <p:spPr bwMode="auto">
          <a:xfrm>
            <a:off x="914400" y="5805264"/>
            <a:ext cx="612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经变换后只要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级门。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5341" name="Rectangle 13"/>
          <p:cNvSpPr>
            <a:spLocks noChangeArrowheads="1"/>
          </p:cNvSpPr>
          <p:nvPr/>
        </p:nvSpPr>
        <p:spPr bwMode="auto">
          <a:xfrm>
            <a:off x="533400" y="1209823"/>
            <a:ext cx="8153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kumimoji="1" lang="zh-CN" altLang="en-US" sz="3200" b="1">
                <a:latin typeface="华文新魏" panose="02010800040101010101" pitchFamily="2" charset="-122"/>
                <a:ea typeface="华文新魏" panose="02010800040101010101" pitchFamily="2" charset="-122"/>
              </a:rPr>
              <a:t>一位</a:t>
            </a:r>
            <a:r>
              <a:rPr kumimoji="1"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全加器实现方案</a:t>
            </a:r>
            <a:r>
              <a:rPr kumimoji="1" lang="en-US" altLang="zh-CN" sz="32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kumimoji="1" lang="en-US" altLang="zh-CN" sz="32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5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5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5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5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4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2738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4A4C0-29A6-4ADA-B055-164690EF772A}" type="slidenum">
              <a:rPr lang="en-US" altLang="zh-CN"/>
            </a:fld>
            <a:endParaRPr lang="en-US" altLang="zh-CN"/>
          </a:p>
        </p:txBody>
      </p:sp>
      <p:graphicFrame>
        <p:nvGraphicFramePr>
          <p:cNvPr id="356355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148064" y="2242963"/>
          <a:ext cx="36163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136" name="Image" r:id="rId1" imgW="5515610" imgH="6971030" progId="">
                  <p:embed/>
                </p:oleObj>
              </mc:Choice>
              <mc:Fallback>
                <p:oleObj name="Image" r:id="rId1" imgW="5515610" imgH="6971030" progId="">
                  <p:embed/>
                  <p:pic>
                    <p:nvPicPr>
                      <p:cNvPr id="0" name="图片 8491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2242963"/>
                        <a:ext cx="36163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56" name="Object 4"/>
          <p:cNvGraphicFramePr>
            <a:graphicFrameLocks noChangeAspect="1"/>
          </p:cNvGraphicFramePr>
          <p:nvPr/>
        </p:nvGraphicFramePr>
        <p:xfrm>
          <a:off x="251520" y="1700808"/>
          <a:ext cx="7223273" cy="601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137" name="公式" r:id="rId3" imgW="3505200" imgH="292100" progId="Equation.3">
                  <p:embed/>
                </p:oleObj>
              </mc:Choice>
              <mc:Fallback>
                <p:oleObj name="公式" r:id="rId3" imgW="3505200" imgH="292100" progId="Equation.3">
                  <p:embed/>
                  <p:pic>
                    <p:nvPicPr>
                      <p:cNvPr id="0" name="图片 849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700808"/>
                        <a:ext cx="7223273" cy="6012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57" name="Object 5"/>
          <p:cNvGraphicFramePr>
            <a:graphicFrameLocks noChangeAspect="1"/>
          </p:cNvGraphicFramePr>
          <p:nvPr/>
        </p:nvGraphicFramePr>
        <p:xfrm>
          <a:off x="177800" y="2430421"/>
          <a:ext cx="4739145" cy="566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138" name="公式" r:id="rId5" imgW="2336800" imgH="279400" progId="Equation.3">
                  <p:embed/>
                </p:oleObj>
              </mc:Choice>
              <mc:Fallback>
                <p:oleObj name="公式" r:id="rId5" imgW="2336800" imgH="279400" progId="Equation.3">
                  <p:embed/>
                  <p:pic>
                    <p:nvPicPr>
                      <p:cNvPr id="0" name="图片 849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2430421"/>
                        <a:ext cx="4739145" cy="5665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58" name="Rectangle 6"/>
          <p:cNvSpPr>
            <a:spLocks noChangeArrowheads="1"/>
          </p:cNvSpPr>
          <p:nvPr/>
        </p:nvSpPr>
        <p:spPr bwMode="auto">
          <a:xfrm>
            <a:off x="533400" y="1066800"/>
            <a:ext cx="8153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kumimoji="1" lang="zh-CN" altLang="en-US" sz="3200" b="1">
                <a:latin typeface="华文新魏" panose="02010800040101010101" pitchFamily="2" charset="-122"/>
                <a:ea typeface="华文新魏" panose="02010800040101010101" pitchFamily="2" charset="-122"/>
              </a:rPr>
              <a:t>一位</a:t>
            </a:r>
            <a:r>
              <a:rPr kumimoji="1"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全加器实现方案</a:t>
            </a:r>
            <a:r>
              <a:rPr kumimoji="1" lang="en-US" altLang="zh-CN" sz="3200">
                <a:latin typeface="华文新魏" panose="02010800040101010101" pitchFamily="2" charset="-122"/>
                <a:ea typeface="华文新魏" panose="02010800040101010101" pitchFamily="2" charset="-122"/>
              </a:rPr>
              <a:t>2(</a:t>
            </a:r>
            <a:r>
              <a:rPr kumimoji="1"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续）</a:t>
            </a:r>
            <a:endParaRPr kumimoji="1" lang="zh-CN" altLang="en-US" sz="32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2738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EBC4-1B61-43B3-84A5-B08F5638BFC6}" type="slidenum">
              <a:rPr lang="en-US" altLang="zh-CN"/>
            </a:fld>
            <a:endParaRPr lang="en-US" altLang="zh-CN"/>
          </a:p>
        </p:txBody>
      </p:sp>
      <p:graphicFrame>
        <p:nvGraphicFramePr>
          <p:cNvPr id="357379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14400" y="1562100"/>
          <a:ext cx="3749675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82" name="Image" r:id="rId1" imgW="6882765" imgH="7973695" progId="">
                  <p:embed/>
                </p:oleObj>
              </mc:Choice>
              <mc:Fallback>
                <p:oleObj name="Image" r:id="rId1" imgW="6882765" imgH="7973695" progId="">
                  <p:embed/>
                  <p:pic>
                    <p:nvPicPr>
                      <p:cNvPr id="0" name="图片 85007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62100"/>
                        <a:ext cx="3749675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000625" y="1447800"/>
          <a:ext cx="36163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83" name="Image" r:id="rId3" imgW="5515610" imgH="6971030" progId="">
                  <p:embed/>
                </p:oleObj>
              </mc:Choice>
              <mc:Fallback>
                <p:oleObj name="Image" r:id="rId3" imgW="5515610" imgH="6971030" progId="">
                  <p:embed/>
                  <p:pic>
                    <p:nvPicPr>
                      <p:cNvPr id="0" name="图片 85007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1447800"/>
                        <a:ext cx="36163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1" name="Rectangle 5"/>
          <p:cNvSpPr>
            <a:spLocks noChangeArrowheads="1"/>
          </p:cNvSpPr>
          <p:nvPr/>
        </p:nvSpPr>
        <p:spPr bwMode="auto">
          <a:xfrm>
            <a:off x="381000" y="6019800"/>
            <a:ext cx="42803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7382" name="Rectangle 6"/>
          <p:cNvSpPr>
            <a:spLocks noChangeArrowheads="1"/>
          </p:cNvSpPr>
          <p:nvPr/>
        </p:nvSpPr>
        <p:spPr bwMode="auto">
          <a:xfrm>
            <a:off x="4697413" y="6019800"/>
            <a:ext cx="42803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7383" name="Rectangle 7"/>
          <p:cNvSpPr>
            <a:spLocks noChangeArrowheads="1"/>
          </p:cNvSpPr>
          <p:nvPr/>
        </p:nvSpPr>
        <p:spPr bwMode="auto">
          <a:xfrm>
            <a:off x="685800" y="1052736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四种形式的全加器（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4050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(a)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76056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(b)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1" grpId="0" autoUpdateAnimBg="0"/>
      <p:bldP spid="357382" grpId="0" autoUpdateAnimBg="0"/>
      <p:bldP spid="2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3526780" y="5445224"/>
            <a:ext cx="5509716" cy="1084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26780" y="4365104"/>
            <a:ext cx="5509716" cy="100811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7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C788-5E8D-4668-8912-6E937D7EEB79}" type="slidenum">
              <a:rPr lang="en-US" altLang="zh-CN"/>
            </a:fld>
            <a:endParaRPr lang="en-US" altLang="zh-CN"/>
          </a:p>
        </p:txBody>
      </p:sp>
      <p:sp>
        <p:nvSpPr>
          <p:cNvPr id="358404" name="Text Box 4"/>
          <p:cNvSpPr txBox="1">
            <a:spLocks noChangeArrowheads="1"/>
          </p:cNvSpPr>
          <p:nvPr/>
        </p:nvSpPr>
        <p:spPr bwMode="auto">
          <a:xfrm>
            <a:off x="3707904" y="2056780"/>
            <a:ext cx="507605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分析全加器真值表中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的对应关系， 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的条件有两个：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n-1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均为“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n-1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只有一个为“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（有至少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”且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）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先组合出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,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再有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304800" y="2057400"/>
            <a:ext cx="2971800" cy="4471988"/>
            <a:chOff x="672" y="1248"/>
            <a:chExt cx="1872" cy="2817"/>
          </a:xfrm>
        </p:grpSpPr>
        <p:sp>
          <p:nvSpPr>
            <p:cNvPr id="358406" name="Text Box 6"/>
            <p:cNvSpPr txBox="1">
              <a:spLocks noChangeArrowheads="1"/>
            </p:cNvSpPr>
            <p:nvPr/>
          </p:nvSpPr>
          <p:spPr bwMode="auto">
            <a:xfrm>
              <a:off x="1200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真值表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58407" name="Rectangle 7"/>
            <p:cNvSpPr>
              <a:spLocks noChangeArrowheads="1"/>
            </p:cNvSpPr>
            <p:nvPr/>
          </p:nvSpPr>
          <p:spPr bwMode="auto">
            <a:xfrm>
              <a:off x="2170" y="3816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08" name="Rectangle 8"/>
            <p:cNvSpPr>
              <a:spLocks noChangeArrowheads="1"/>
            </p:cNvSpPr>
            <p:nvPr/>
          </p:nvSpPr>
          <p:spPr bwMode="auto">
            <a:xfrm>
              <a:off x="1776" y="3816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09" name="Rectangle 9"/>
            <p:cNvSpPr>
              <a:spLocks noChangeArrowheads="1"/>
            </p:cNvSpPr>
            <p:nvPr/>
          </p:nvSpPr>
          <p:spPr bwMode="auto">
            <a:xfrm>
              <a:off x="1440" y="3816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10" name="Rectangle 10"/>
            <p:cNvSpPr>
              <a:spLocks noChangeArrowheads="1"/>
            </p:cNvSpPr>
            <p:nvPr/>
          </p:nvSpPr>
          <p:spPr bwMode="auto">
            <a:xfrm>
              <a:off x="1046" y="3816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11" name="Rectangle 11"/>
            <p:cNvSpPr>
              <a:spLocks noChangeArrowheads="1"/>
            </p:cNvSpPr>
            <p:nvPr/>
          </p:nvSpPr>
          <p:spPr bwMode="auto">
            <a:xfrm>
              <a:off x="672" y="3816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12" name="Rectangle 12"/>
            <p:cNvSpPr>
              <a:spLocks noChangeArrowheads="1"/>
            </p:cNvSpPr>
            <p:nvPr/>
          </p:nvSpPr>
          <p:spPr bwMode="auto">
            <a:xfrm>
              <a:off x="2170" y="3567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13" name="Rectangle 13"/>
            <p:cNvSpPr>
              <a:spLocks noChangeArrowheads="1"/>
            </p:cNvSpPr>
            <p:nvPr/>
          </p:nvSpPr>
          <p:spPr bwMode="auto">
            <a:xfrm>
              <a:off x="1776" y="3567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14" name="Rectangle 14"/>
            <p:cNvSpPr>
              <a:spLocks noChangeArrowheads="1"/>
            </p:cNvSpPr>
            <p:nvPr/>
          </p:nvSpPr>
          <p:spPr bwMode="auto">
            <a:xfrm>
              <a:off x="1440" y="3567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15" name="Rectangle 15"/>
            <p:cNvSpPr>
              <a:spLocks noChangeArrowheads="1"/>
            </p:cNvSpPr>
            <p:nvPr/>
          </p:nvSpPr>
          <p:spPr bwMode="auto">
            <a:xfrm>
              <a:off x="1046" y="3567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16" name="Rectangle 16"/>
            <p:cNvSpPr>
              <a:spLocks noChangeArrowheads="1"/>
            </p:cNvSpPr>
            <p:nvPr/>
          </p:nvSpPr>
          <p:spPr bwMode="auto">
            <a:xfrm>
              <a:off x="672" y="3567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17" name="Rectangle 17"/>
            <p:cNvSpPr>
              <a:spLocks noChangeArrowheads="1"/>
            </p:cNvSpPr>
            <p:nvPr/>
          </p:nvSpPr>
          <p:spPr bwMode="auto">
            <a:xfrm>
              <a:off x="2170" y="3318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18" name="Rectangle 18"/>
            <p:cNvSpPr>
              <a:spLocks noChangeArrowheads="1"/>
            </p:cNvSpPr>
            <p:nvPr/>
          </p:nvSpPr>
          <p:spPr bwMode="auto">
            <a:xfrm>
              <a:off x="1776" y="3318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19" name="Rectangle 19"/>
            <p:cNvSpPr>
              <a:spLocks noChangeArrowheads="1"/>
            </p:cNvSpPr>
            <p:nvPr/>
          </p:nvSpPr>
          <p:spPr bwMode="auto">
            <a:xfrm>
              <a:off x="1440" y="3318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20" name="Rectangle 20"/>
            <p:cNvSpPr>
              <a:spLocks noChangeArrowheads="1"/>
            </p:cNvSpPr>
            <p:nvPr/>
          </p:nvSpPr>
          <p:spPr bwMode="auto">
            <a:xfrm>
              <a:off x="1046" y="3318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21" name="Rectangle 21"/>
            <p:cNvSpPr>
              <a:spLocks noChangeArrowheads="1"/>
            </p:cNvSpPr>
            <p:nvPr/>
          </p:nvSpPr>
          <p:spPr bwMode="auto">
            <a:xfrm>
              <a:off x="672" y="3318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22" name="Rectangle 22"/>
            <p:cNvSpPr>
              <a:spLocks noChangeArrowheads="1"/>
            </p:cNvSpPr>
            <p:nvPr/>
          </p:nvSpPr>
          <p:spPr bwMode="auto">
            <a:xfrm>
              <a:off x="2170" y="3069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23" name="Rectangle 23"/>
            <p:cNvSpPr>
              <a:spLocks noChangeArrowheads="1"/>
            </p:cNvSpPr>
            <p:nvPr/>
          </p:nvSpPr>
          <p:spPr bwMode="auto">
            <a:xfrm>
              <a:off x="1776" y="3069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24" name="Rectangle 24"/>
            <p:cNvSpPr>
              <a:spLocks noChangeArrowheads="1"/>
            </p:cNvSpPr>
            <p:nvPr/>
          </p:nvSpPr>
          <p:spPr bwMode="auto">
            <a:xfrm>
              <a:off x="1440" y="3069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25" name="Rectangle 25"/>
            <p:cNvSpPr>
              <a:spLocks noChangeArrowheads="1"/>
            </p:cNvSpPr>
            <p:nvPr/>
          </p:nvSpPr>
          <p:spPr bwMode="auto">
            <a:xfrm>
              <a:off x="1046" y="3069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26" name="Rectangle 26"/>
            <p:cNvSpPr>
              <a:spLocks noChangeArrowheads="1"/>
            </p:cNvSpPr>
            <p:nvPr/>
          </p:nvSpPr>
          <p:spPr bwMode="auto">
            <a:xfrm>
              <a:off x="672" y="3069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27" name="Rectangle 27"/>
            <p:cNvSpPr>
              <a:spLocks noChangeArrowheads="1"/>
            </p:cNvSpPr>
            <p:nvPr/>
          </p:nvSpPr>
          <p:spPr bwMode="auto">
            <a:xfrm>
              <a:off x="2170" y="2820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28" name="Rectangle 28"/>
            <p:cNvSpPr>
              <a:spLocks noChangeArrowheads="1"/>
            </p:cNvSpPr>
            <p:nvPr/>
          </p:nvSpPr>
          <p:spPr bwMode="auto">
            <a:xfrm>
              <a:off x="1776" y="2820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29" name="Rectangle 29"/>
            <p:cNvSpPr>
              <a:spLocks noChangeArrowheads="1"/>
            </p:cNvSpPr>
            <p:nvPr/>
          </p:nvSpPr>
          <p:spPr bwMode="auto">
            <a:xfrm>
              <a:off x="1440" y="2820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30" name="Rectangle 30"/>
            <p:cNvSpPr>
              <a:spLocks noChangeArrowheads="1"/>
            </p:cNvSpPr>
            <p:nvPr/>
          </p:nvSpPr>
          <p:spPr bwMode="auto">
            <a:xfrm>
              <a:off x="1046" y="2820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31" name="Rectangle 31"/>
            <p:cNvSpPr>
              <a:spLocks noChangeArrowheads="1"/>
            </p:cNvSpPr>
            <p:nvPr/>
          </p:nvSpPr>
          <p:spPr bwMode="auto">
            <a:xfrm>
              <a:off x="672" y="2820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32" name="Rectangle 32"/>
            <p:cNvSpPr>
              <a:spLocks noChangeArrowheads="1"/>
            </p:cNvSpPr>
            <p:nvPr/>
          </p:nvSpPr>
          <p:spPr bwMode="auto">
            <a:xfrm>
              <a:off x="2170" y="2571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33" name="Rectangle 33"/>
            <p:cNvSpPr>
              <a:spLocks noChangeArrowheads="1"/>
            </p:cNvSpPr>
            <p:nvPr/>
          </p:nvSpPr>
          <p:spPr bwMode="auto">
            <a:xfrm>
              <a:off x="1776" y="2571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34" name="Rectangle 34"/>
            <p:cNvSpPr>
              <a:spLocks noChangeArrowheads="1"/>
            </p:cNvSpPr>
            <p:nvPr/>
          </p:nvSpPr>
          <p:spPr bwMode="auto">
            <a:xfrm>
              <a:off x="1440" y="2571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35" name="Rectangle 35"/>
            <p:cNvSpPr>
              <a:spLocks noChangeArrowheads="1"/>
            </p:cNvSpPr>
            <p:nvPr/>
          </p:nvSpPr>
          <p:spPr bwMode="auto">
            <a:xfrm>
              <a:off x="1046" y="2571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36" name="Rectangle 36"/>
            <p:cNvSpPr>
              <a:spLocks noChangeArrowheads="1"/>
            </p:cNvSpPr>
            <p:nvPr/>
          </p:nvSpPr>
          <p:spPr bwMode="auto">
            <a:xfrm>
              <a:off x="672" y="2571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37" name="Rectangle 37"/>
            <p:cNvSpPr>
              <a:spLocks noChangeArrowheads="1"/>
            </p:cNvSpPr>
            <p:nvPr/>
          </p:nvSpPr>
          <p:spPr bwMode="auto">
            <a:xfrm>
              <a:off x="2170" y="2322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38" name="Rectangle 38"/>
            <p:cNvSpPr>
              <a:spLocks noChangeArrowheads="1"/>
            </p:cNvSpPr>
            <p:nvPr/>
          </p:nvSpPr>
          <p:spPr bwMode="auto">
            <a:xfrm>
              <a:off x="1776" y="2322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39" name="Rectangle 39"/>
            <p:cNvSpPr>
              <a:spLocks noChangeArrowheads="1"/>
            </p:cNvSpPr>
            <p:nvPr/>
          </p:nvSpPr>
          <p:spPr bwMode="auto">
            <a:xfrm>
              <a:off x="1440" y="2322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358440" name="Rectangle 40"/>
            <p:cNvSpPr>
              <a:spLocks noChangeArrowheads="1"/>
            </p:cNvSpPr>
            <p:nvPr/>
          </p:nvSpPr>
          <p:spPr bwMode="auto">
            <a:xfrm>
              <a:off x="1046" y="2322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41" name="Rectangle 41"/>
            <p:cNvSpPr>
              <a:spLocks noChangeArrowheads="1"/>
            </p:cNvSpPr>
            <p:nvPr/>
          </p:nvSpPr>
          <p:spPr bwMode="auto">
            <a:xfrm>
              <a:off x="672" y="2322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42" name="Rectangle 42"/>
            <p:cNvSpPr>
              <a:spLocks noChangeArrowheads="1"/>
            </p:cNvSpPr>
            <p:nvPr/>
          </p:nvSpPr>
          <p:spPr bwMode="auto">
            <a:xfrm>
              <a:off x="2170" y="2073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43" name="Rectangle 43"/>
            <p:cNvSpPr>
              <a:spLocks noChangeArrowheads="1"/>
            </p:cNvSpPr>
            <p:nvPr/>
          </p:nvSpPr>
          <p:spPr bwMode="auto">
            <a:xfrm>
              <a:off x="1776" y="2073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44" name="Rectangle 44"/>
            <p:cNvSpPr>
              <a:spLocks noChangeArrowheads="1"/>
            </p:cNvSpPr>
            <p:nvPr/>
          </p:nvSpPr>
          <p:spPr bwMode="auto">
            <a:xfrm>
              <a:off x="1440" y="2073"/>
              <a:ext cx="33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45" name="Rectangle 45"/>
            <p:cNvSpPr>
              <a:spLocks noChangeArrowheads="1"/>
            </p:cNvSpPr>
            <p:nvPr/>
          </p:nvSpPr>
          <p:spPr bwMode="auto">
            <a:xfrm>
              <a:off x="1046" y="2073"/>
              <a:ext cx="39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46" name="Rectangle 46"/>
            <p:cNvSpPr>
              <a:spLocks noChangeArrowheads="1"/>
            </p:cNvSpPr>
            <p:nvPr/>
          </p:nvSpPr>
          <p:spPr bwMode="auto">
            <a:xfrm>
              <a:off x="672" y="2073"/>
              <a:ext cx="3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358447" name="Rectangle 47"/>
            <p:cNvSpPr>
              <a:spLocks noChangeArrowheads="1"/>
            </p:cNvSpPr>
            <p:nvPr/>
          </p:nvSpPr>
          <p:spPr bwMode="auto">
            <a:xfrm>
              <a:off x="2170" y="1632"/>
              <a:ext cx="37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cs typeface="Times New Roman" panose="02020603050405020304" pitchFamily="18" charset="0"/>
                </a:rPr>
                <a:t>C</a:t>
              </a:r>
              <a:r>
                <a:rPr lang="en-US" altLang="zh-CN" baseline="-30000" dirty="0" err="1">
                  <a:cs typeface="Times New Roman" panose="02020603050405020304" pitchFamily="18" charset="0"/>
                </a:rPr>
                <a:t>n</a:t>
              </a:r>
              <a:endParaRPr lang="en-US" altLang="zh-CN" baseline="-30000" dirty="0">
                <a:cs typeface="Times New Roman" panose="02020603050405020304" pitchFamily="18" charset="0"/>
              </a:endParaRPr>
            </a:p>
          </p:txBody>
        </p:sp>
        <p:sp>
          <p:nvSpPr>
            <p:cNvPr id="358448" name="Rectangle 48"/>
            <p:cNvSpPr>
              <a:spLocks noChangeArrowheads="1"/>
            </p:cNvSpPr>
            <p:nvPr/>
          </p:nvSpPr>
          <p:spPr bwMode="auto">
            <a:xfrm>
              <a:off x="1776" y="1632"/>
              <a:ext cx="39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cs typeface="Times New Roman" panose="02020603050405020304" pitchFamily="18" charset="0"/>
                </a:rPr>
                <a:t>F</a:t>
              </a:r>
              <a:r>
                <a:rPr lang="en-US" altLang="zh-CN" baseline="-30000" dirty="0" err="1">
                  <a:cs typeface="Times New Roman" panose="02020603050405020304" pitchFamily="18" charset="0"/>
                </a:rPr>
                <a:t>n</a:t>
              </a:r>
              <a:endParaRPr lang="en-US" altLang="zh-CN" baseline="-30000" dirty="0">
                <a:cs typeface="Times New Roman" panose="02020603050405020304" pitchFamily="18" charset="0"/>
              </a:endParaRPr>
            </a:p>
          </p:txBody>
        </p:sp>
        <p:sp>
          <p:nvSpPr>
            <p:cNvPr id="358449" name="Rectangle 49"/>
            <p:cNvSpPr>
              <a:spLocks noChangeArrowheads="1"/>
            </p:cNvSpPr>
            <p:nvPr/>
          </p:nvSpPr>
          <p:spPr bwMode="auto">
            <a:xfrm>
              <a:off x="1440" y="1632"/>
              <a:ext cx="336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1600" dirty="0">
                  <a:cs typeface="Times New Roman" panose="02020603050405020304" pitchFamily="18" charset="0"/>
                </a:rPr>
                <a:t>C</a:t>
              </a:r>
              <a:r>
                <a:rPr lang="en-US" altLang="zh-CN" sz="1600" baseline="-30000" dirty="0">
                  <a:cs typeface="Times New Roman" panose="02020603050405020304" pitchFamily="18" charset="0"/>
                </a:rPr>
                <a:t>n-1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58450" name="Rectangle 50"/>
            <p:cNvSpPr>
              <a:spLocks noChangeArrowheads="1"/>
            </p:cNvSpPr>
            <p:nvPr/>
          </p:nvSpPr>
          <p:spPr bwMode="auto">
            <a:xfrm>
              <a:off x="1046" y="1632"/>
              <a:ext cx="39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 err="1"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58451" name="Rectangle 51"/>
            <p:cNvSpPr>
              <a:spLocks noChangeArrowheads="1"/>
            </p:cNvSpPr>
            <p:nvPr/>
          </p:nvSpPr>
          <p:spPr bwMode="auto">
            <a:xfrm>
              <a:off x="672" y="1632"/>
              <a:ext cx="374" cy="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 err="1">
                  <a:cs typeface="Times New Roman" panose="02020603050405020304" pitchFamily="18" charset="0"/>
                </a:rPr>
                <a:t>X</a:t>
              </a:r>
              <a:r>
                <a:rPr lang="en-US" altLang="zh-CN" baseline="-30000" dirty="0" err="1"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58452" name="Line 52"/>
            <p:cNvSpPr>
              <a:spLocks noChangeShapeType="1"/>
            </p:cNvSpPr>
            <p:nvPr/>
          </p:nvSpPr>
          <p:spPr bwMode="auto">
            <a:xfrm>
              <a:off x="672" y="1632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3" name="Line 53"/>
            <p:cNvSpPr>
              <a:spLocks noChangeShapeType="1"/>
            </p:cNvSpPr>
            <p:nvPr/>
          </p:nvSpPr>
          <p:spPr bwMode="auto">
            <a:xfrm>
              <a:off x="672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4" name="Line 54"/>
            <p:cNvSpPr>
              <a:spLocks noChangeShapeType="1"/>
            </p:cNvSpPr>
            <p:nvPr/>
          </p:nvSpPr>
          <p:spPr bwMode="auto">
            <a:xfrm>
              <a:off x="672" y="232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5" name="Line 55"/>
            <p:cNvSpPr>
              <a:spLocks noChangeShapeType="1"/>
            </p:cNvSpPr>
            <p:nvPr/>
          </p:nvSpPr>
          <p:spPr bwMode="auto">
            <a:xfrm>
              <a:off x="672" y="257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6" name="Line 56"/>
            <p:cNvSpPr>
              <a:spLocks noChangeShapeType="1"/>
            </p:cNvSpPr>
            <p:nvPr/>
          </p:nvSpPr>
          <p:spPr bwMode="auto">
            <a:xfrm>
              <a:off x="672" y="282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7" name="Line 57"/>
            <p:cNvSpPr>
              <a:spLocks noChangeShapeType="1"/>
            </p:cNvSpPr>
            <p:nvPr/>
          </p:nvSpPr>
          <p:spPr bwMode="auto">
            <a:xfrm>
              <a:off x="672" y="306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8" name="Line 58"/>
            <p:cNvSpPr>
              <a:spLocks noChangeShapeType="1"/>
            </p:cNvSpPr>
            <p:nvPr/>
          </p:nvSpPr>
          <p:spPr bwMode="auto">
            <a:xfrm>
              <a:off x="672" y="331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59" name="Line 59"/>
            <p:cNvSpPr>
              <a:spLocks noChangeShapeType="1"/>
            </p:cNvSpPr>
            <p:nvPr/>
          </p:nvSpPr>
          <p:spPr bwMode="auto">
            <a:xfrm>
              <a:off x="672" y="3567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0" name="Line 60"/>
            <p:cNvSpPr>
              <a:spLocks noChangeShapeType="1"/>
            </p:cNvSpPr>
            <p:nvPr/>
          </p:nvSpPr>
          <p:spPr bwMode="auto">
            <a:xfrm>
              <a:off x="672" y="381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1" name="Line 61"/>
            <p:cNvSpPr>
              <a:spLocks noChangeShapeType="1"/>
            </p:cNvSpPr>
            <p:nvPr/>
          </p:nvSpPr>
          <p:spPr bwMode="auto">
            <a:xfrm>
              <a:off x="672" y="4065"/>
              <a:ext cx="18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2" name="Line 62"/>
            <p:cNvSpPr>
              <a:spLocks noChangeShapeType="1"/>
            </p:cNvSpPr>
            <p:nvPr/>
          </p:nvSpPr>
          <p:spPr bwMode="auto">
            <a:xfrm>
              <a:off x="672" y="1632"/>
              <a:ext cx="0" cy="243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3" name="Line 63"/>
            <p:cNvSpPr>
              <a:spLocks noChangeShapeType="1"/>
            </p:cNvSpPr>
            <p:nvPr/>
          </p:nvSpPr>
          <p:spPr bwMode="auto">
            <a:xfrm>
              <a:off x="1046" y="1632"/>
              <a:ext cx="0" cy="24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4" name="Line 64"/>
            <p:cNvSpPr>
              <a:spLocks noChangeShapeType="1"/>
            </p:cNvSpPr>
            <p:nvPr/>
          </p:nvSpPr>
          <p:spPr bwMode="auto">
            <a:xfrm>
              <a:off x="1440" y="1632"/>
              <a:ext cx="0" cy="24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5" name="Line 65"/>
            <p:cNvSpPr>
              <a:spLocks noChangeShapeType="1"/>
            </p:cNvSpPr>
            <p:nvPr/>
          </p:nvSpPr>
          <p:spPr bwMode="auto">
            <a:xfrm>
              <a:off x="1776" y="1632"/>
              <a:ext cx="0" cy="2433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6" name="Line 66"/>
            <p:cNvSpPr>
              <a:spLocks noChangeShapeType="1"/>
            </p:cNvSpPr>
            <p:nvPr/>
          </p:nvSpPr>
          <p:spPr bwMode="auto">
            <a:xfrm>
              <a:off x="2170" y="1632"/>
              <a:ext cx="0" cy="24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7" name="Line 67"/>
            <p:cNvSpPr>
              <a:spLocks noChangeShapeType="1"/>
            </p:cNvSpPr>
            <p:nvPr/>
          </p:nvSpPr>
          <p:spPr bwMode="auto">
            <a:xfrm>
              <a:off x="2544" y="1632"/>
              <a:ext cx="0" cy="243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468" name="Rectangle 68"/>
          <p:cNvSpPr>
            <a:spLocks noChangeArrowheads="1"/>
          </p:cNvSpPr>
          <p:nvPr/>
        </p:nvSpPr>
        <p:spPr bwMode="auto">
          <a:xfrm>
            <a:off x="685800" y="1447800"/>
            <a:ext cx="809816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四种形式的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位全加器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(2)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4800" y="3771900"/>
            <a:ext cx="2971800" cy="385763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056" y="4149080"/>
            <a:ext cx="2971800" cy="385763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323528" y="4941168"/>
            <a:ext cx="2971800" cy="385763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323528" y="6139581"/>
            <a:ext cx="2971800" cy="385763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304800" y="3386137"/>
            <a:ext cx="2971800" cy="38576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304056" y="4555405"/>
            <a:ext cx="2971800" cy="38576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323528" y="5373216"/>
            <a:ext cx="2971800" cy="38576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304056" y="5779541"/>
            <a:ext cx="2971800" cy="38576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6444208" y="5548631"/>
            <a:ext cx="387028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7444208" y="5548631"/>
            <a:ext cx="387028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8612583" y="5549943"/>
            <a:ext cx="387028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491865" y="5549900"/>
                <a:ext cx="6096635" cy="389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65" y="5549900"/>
                <a:ext cx="6096635" cy="3892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/>
              <p:cNvSpPr txBox="1"/>
              <p:nvPr/>
            </p:nvSpPr>
            <p:spPr>
              <a:xfrm>
                <a:off x="3601157" y="4377935"/>
                <a:ext cx="5579493" cy="3701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157" y="4377935"/>
                <a:ext cx="5579493" cy="370101"/>
              </a:xfrm>
              <a:prstGeom prst="rect">
                <a:avLst/>
              </a:prstGeom>
              <a:blipFill rotWithShape="1">
                <a:blip r:embed="rId2"/>
                <a:stretch>
                  <a:fillRect l="-1" t="-66" r="8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3597521" y="6034119"/>
                <a:ext cx="5579493" cy="419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</m:acc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521" y="6034119"/>
                <a:ext cx="5579493" cy="419217"/>
              </a:xfrm>
              <a:prstGeom prst="rect">
                <a:avLst/>
              </a:prstGeom>
              <a:blipFill rotWithShape="1">
                <a:blip r:embed="rId3"/>
                <a:stretch>
                  <a:fillRect l="-4" t="-83" r="11" b="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/>
              <p:cNvSpPr txBox="1"/>
              <p:nvPr/>
            </p:nvSpPr>
            <p:spPr>
              <a:xfrm>
                <a:off x="3601157" y="4941168"/>
                <a:ext cx="5579493" cy="3701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157" y="4941168"/>
                <a:ext cx="5579493" cy="370101"/>
              </a:xfrm>
              <a:prstGeom prst="rect">
                <a:avLst/>
              </a:prstGeom>
              <a:blipFill rotWithShape="1">
                <a:blip r:embed="rId4"/>
                <a:stretch>
                  <a:fillRect l="-1" t="-63" r="8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6" grpId="0" animBg="1"/>
      <p:bldP spid="358404" grpId="0" autoUpdateAnimBg="0"/>
      <p:bldP spid="3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5" grpId="0" animBg="1"/>
      <p:bldP spid="86" grpId="0" animBg="1"/>
      <p:bldP spid="87" grpId="0" animBg="1"/>
      <p:bldP spid="7" grpId="0"/>
      <p:bldP spid="90" grpId="0"/>
      <p:bldP spid="91" grpId="0"/>
      <p:bldP spid="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71400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7415-6800-490B-A5D8-C52007053D19}" type="slidenum">
              <a:rPr lang="en-US" altLang="zh-CN"/>
            </a:fld>
            <a:endParaRPr lang="en-US" altLang="zh-CN"/>
          </a:p>
        </p:txBody>
      </p:sp>
      <p:graphicFrame>
        <p:nvGraphicFramePr>
          <p:cNvPr id="359427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12838" y="1447800"/>
          <a:ext cx="3352800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30" name="Image" r:id="rId1" imgW="5142230" imgH="7010400" progId="">
                  <p:embed/>
                </p:oleObj>
              </mc:Choice>
              <mc:Fallback>
                <p:oleObj name="Image" r:id="rId1" imgW="5142230" imgH="7010400" progId="">
                  <p:embed/>
                  <p:pic>
                    <p:nvPicPr>
                      <p:cNvPr id="0" name="图片 8521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1447800"/>
                        <a:ext cx="3352800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2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141913" y="1447800"/>
          <a:ext cx="3333750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31" name="Image" r:id="rId3" imgW="5328920" imgH="7305675" progId="">
                  <p:embed/>
                </p:oleObj>
              </mc:Choice>
              <mc:Fallback>
                <p:oleObj name="Image" r:id="rId3" imgW="5328920" imgH="7305675" progId="">
                  <p:embed/>
                  <p:pic>
                    <p:nvPicPr>
                      <p:cNvPr id="0" name="图片 8521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1447800"/>
                        <a:ext cx="3333750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29" name="Rectangle 5"/>
          <p:cNvSpPr>
            <a:spLocks noChangeArrowheads="1"/>
          </p:cNvSpPr>
          <p:nvPr/>
        </p:nvSpPr>
        <p:spPr bwMode="auto">
          <a:xfrm>
            <a:off x="838200" y="5943600"/>
            <a:ext cx="36215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9430" name="Rectangle 6"/>
          <p:cNvSpPr>
            <a:spLocks noChangeArrowheads="1"/>
          </p:cNvSpPr>
          <p:nvPr/>
        </p:nvSpPr>
        <p:spPr bwMode="auto">
          <a:xfrm>
            <a:off x="5105400" y="5943600"/>
            <a:ext cx="362310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9431" name="Rectangle 7"/>
          <p:cNvSpPr>
            <a:spLocks noChangeArrowheads="1"/>
          </p:cNvSpPr>
          <p:nvPr/>
        </p:nvSpPr>
        <p:spPr bwMode="auto">
          <a:xfrm>
            <a:off x="685800" y="1001762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四种形式的全加器（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4050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(c)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76056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(d)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9" grpId="0" autoUpdateAnimBg="0"/>
      <p:bldP spid="359430" grpId="0" autoUpdateAnimBg="0"/>
      <p:bldP spid="9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9375-5441-4D2B-A7A2-31921CC4A12F}" type="slidenum">
              <a:rPr lang="en-US" altLang="zh-CN"/>
            </a:fld>
            <a:endParaRPr lang="en-US" altLang="zh-CN"/>
          </a:p>
        </p:txBody>
      </p:sp>
      <p:sp>
        <p:nvSpPr>
          <p:cNvPr id="3604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zh-CN" altLang="en-US" b="1" dirty="0"/>
              <a:t>一位加法器</a:t>
            </a:r>
            <a:endParaRPr lang="zh-CN" altLang="en-US" b="1" dirty="0"/>
          </a:p>
          <a:p>
            <a:pPr lvl="2"/>
            <a:r>
              <a:rPr lang="zh-CN" altLang="en-US" b="1" dirty="0">
                <a:solidFill>
                  <a:srgbClr val="7030A0"/>
                </a:solidFill>
              </a:rPr>
              <a:t>四位串行进位加法器</a:t>
            </a:r>
            <a:endParaRPr lang="zh-CN" altLang="en-US" b="1" dirty="0">
              <a:solidFill>
                <a:srgbClr val="7030A0"/>
              </a:solidFill>
            </a:endParaRPr>
          </a:p>
          <a:p>
            <a:pPr lvl="2"/>
            <a:r>
              <a:rPr lang="zh-CN" altLang="en-US" b="1" dirty="0"/>
              <a:t>四位并行加法器</a:t>
            </a:r>
            <a:endParaRPr lang="zh-CN" altLang="en-US" b="1" dirty="0"/>
          </a:p>
          <a:p>
            <a:pPr lvl="2"/>
            <a:r>
              <a:rPr lang="en-US" altLang="zh-CN" b="1" dirty="0"/>
              <a:t>16</a:t>
            </a:r>
            <a:r>
              <a:rPr lang="zh-CN" altLang="en-US" b="1" dirty="0"/>
              <a:t>位加法器</a:t>
            </a:r>
            <a:endParaRPr lang="zh-CN" altLang="en-US" b="1" dirty="0"/>
          </a:p>
          <a:p>
            <a:pPr lvl="1"/>
            <a:r>
              <a:rPr lang="zh-CN" altLang="en-US" b="1" dirty="0"/>
              <a:t>算术运算逻辑单元</a:t>
            </a:r>
            <a:endParaRPr lang="zh-CN" altLang="en-US" b="1" dirty="0"/>
          </a:p>
          <a:p>
            <a:pPr lvl="2"/>
            <a:r>
              <a:rPr lang="zh-CN" altLang="en-US" b="1" dirty="0"/>
              <a:t>四位算术逻辑运算单元</a:t>
            </a:r>
            <a:endParaRPr lang="en-US" altLang="zh-CN" b="1" dirty="0"/>
          </a:p>
          <a:p>
            <a:pPr lvl="1"/>
            <a:r>
              <a:rPr lang="zh-CN" altLang="en-US" dirty="0"/>
              <a:t>乘法器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2738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7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32074-AD1E-43A0-A5D8-409A14E2E7A5}" type="slidenum">
              <a:rPr lang="en-US" altLang="zh-CN"/>
            </a:fld>
            <a:endParaRPr lang="en-US" altLang="zh-CN"/>
          </a:p>
        </p:txBody>
      </p:sp>
      <p:graphicFrame>
        <p:nvGraphicFramePr>
          <p:cNvPr id="361475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571624" y="4297635"/>
          <a:ext cx="7115175" cy="237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74" name="Image" r:id="rId1" imgW="11120120" imgH="3706495" progId="">
                  <p:embed/>
                </p:oleObj>
              </mc:Choice>
              <mc:Fallback>
                <p:oleObj name="Image" r:id="rId1" imgW="11120120" imgH="3706495" progId="">
                  <p:embed/>
                  <p:pic>
                    <p:nvPicPr>
                      <p:cNvPr id="0" name="图片 85306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4" y="4297635"/>
                        <a:ext cx="7115175" cy="237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 bwMode="auto">
          <a:xfrm>
            <a:off x="3352800" y="1684935"/>
            <a:ext cx="968375" cy="461963"/>
            <a:chOff x="2112" y="940"/>
            <a:chExt cx="610" cy="291"/>
          </a:xfrm>
        </p:grpSpPr>
        <p:sp>
          <p:nvSpPr>
            <p:cNvPr id="361477" name="Rectangle 5"/>
            <p:cNvSpPr>
              <a:spLocks noChangeArrowheads="1"/>
            </p:cNvSpPr>
            <p:nvPr/>
          </p:nvSpPr>
          <p:spPr bwMode="auto">
            <a:xfrm>
              <a:off x="2352" y="94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cs typeface="Times New Roman" panose="02020603050405020304" pitchFamily="18" charset="0"/>
                </a:rPr>
                <a:t>2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478" name="Rectangle 6"/>
            <p:cNvSpPr>
              <a:spLocks noChangeArrowheads="1"/>
            </p:cNvSpPr>
            <p:nvPr/>
          </p:nvSpPr>
          <p:spPr bwMode="auto">
            <a:xfrm>
              <a:off x="2112" y="94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baseline="-30000" dirty="0">
                  <a:cs typeface="Times New Roman" panose="02020603050405020304" pitchFamily="18" charset="0"/>
                </a:rPr>
                <a:t>2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971550" y="1669060"/>
            <a:ext cx="1295400" cy="461963"/>
            <a:chOff x="612" y="930"/>
            <a:chExt cx="816" cy="291"/>
          </a:xfrm>
        </p:grpSpPr>
        <p:sp>
          <p:nvSpPr>
            <p:cNvPr id="361480" name="Rectangle 8"/>
            <p:cNvSpPr>
              <a:spLocks noChangeArrowheads="1"/>
            </p:cNvSpPr>
            <p:nvPr/>
          </p:nvSpPr>
          <p:spPr bwMode="auto">
            <a:xfrm>
              <a:off x="1058" y="93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481" name="Rectangle 9"/>
            <p:cNvSpPr>
              <a:spLocks noChangeArrowheads="1"/>
            </p:cNvSpPr>
            <p:nvPr/>
          </p:nvSpPr>
          <p:spPr bwMode="auto">
            <a:xfrm>
              <a:off x="848" y="93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baseline="-30000" dirty="0">
                  <a:cs typeface="Times New Roman" panose="02020603050405020304" pitchFamily="18" charset="0"/>
                </a:rPr>
                <a:t>1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482" name="Rectangle 10"/>
            <p:cNvSpPr>
              <a:spLocks noChangeArrowheads="1"/>
            </p:cNvSpPr>
            <p:nvPr/>
          </p:nvSpPr>
          <p:spPr bwMode="auto">
            <a:xfrm>
              <a:off x="612" y="950"/>
              <a:ext cx="3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lang="en-US" altLang="zh-CN"/>
                <a:t> </a:t>
              </a:r>
              <a:endParaRPr lang="en-US" altLang="zh-CN"/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7399338" y="1684935"/>
            <a:ext cx="1019175" cy="461963"/>
            <a:chOff x="4368" y="940"/>
            <a:chExt cx="642" cy="291"/>
          </a:xfrm>
        </p:grpSpPr>
        <p:sp>
          <p:nvSpPr>
            <p:cNvPr id="361484" name="Rectangle 12"/>
            <p:cNvSpPr>
              <a:spLocks noChangeArrowheads="1"/>
            </p:cNvSpPr>
            <p:nvPr/>
          </p:nvSpPr>
          <p:spPr bwMode="auto">
            <a:xfrm>
              <a:off x="4640" y="94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cs typeface="Times New Roman" panose="02020603050405020304" pitchFamily="18" charset="0"/>
                </a:rPr>
                <a:t>4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485" name="Rectangle 13"/>
            <p:cNvSpPr>
              <a:spLocks noChangeArrowheads="1"/>
            </p:cNvSpPr>
            <p:nvPr/>
          </p:nvSpPr>
          <p:spPr bwMode="auto">
            <a:xfrm>
              <a:off x="4368" y="94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baseline="-30000" dirty="0">
                  <a:cs typeface="Times New Roman" panose="02020603050405020304" pitchFamily="18" charset="0"/>
                </a:rPr>
                <a:t>4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</p:grpSp>
      <p:grpSp>
        <p:nvGrpSpPr>
          <p:cNvPr id="5" name="Group 14"/>
          <p:cNvGrpSpPr/>
          <p:nvPr/>
        </p:nvGrpSpPr>
        <p:grpSpPr bwMode="auto">
          <a:xfrm>
            <a:off x="7162800" y="2113558"/>
            <a:ext cx="1262063" cy="2166938"/>
            <a:chOff x="4219" y="1210"/>
            <a:chExt cx="795" cy="1365"/>
          </a:xfrm>
        </p:grpSpPr>
        <p:sp>
          <p:nvSpPr>
            <p:cNvPr id="361487" name="Rectangle 15"/>
            <p:cNvSpPr>
              <a:spLocks noChangeArrowheads="1"/>
            </p:cNvSpPr>
            <p:nvPr/>
          </p:nvSpPr>
          <p:spPr bwMode="auto">
            <a:xfrm>
              <a:off x="4219" y="1483"/>
              <a:ext cx="681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1488" name="Line 16"/>
            <p:cNvSpPr>
              <a:spLocks noChangeShapeType="1"/>
            </p:cNvSpPr>
            <p:nvPr/>
          </p:nvSpPr>
          <p:spPr bwMode="auto">
            <a:xfrm>
              <a:off x="4310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489" name="Line 17"/>
            <p:cNvSpPr>
              <a:spLocks noChangeShapeType="1"/>
            </p:cNvSpPr>
            <p:nvPr/>
          </p:nvSpPr>
          <p:spPr bwMode="auto">
            <a:xfrm>
              <a:off x="4537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490" name="Line 18"/>
            <p:cNvSpPr>
              <a:spLocks noChangeShapeType="1"/>
            </p:cNvSpPr>
            <p:nvPr/>
          </p:nvSpPr>
          <p:spPr bwMode="auto">
            <a:xfrm>
              <a:off x="4764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491" name="Line 19"/>
            <p:cNvSpPr>
              <a:spLocks noChangeShapeType="1"/>
            </p:cNvSpPr>
            <p:nvPr/>
          </p:nvSpPr>
          <p:spPr bwMode="auto">
            <a:xfrm>
              <a:off x="4401" y="2026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492" name="Line 20"/>
            <p:cNvSpPr>
              <a:spLocks noChangeShapeType="1"/>
            </p:cNvSpPr>
            <p:nvPr/>
          </p:nvSpPr>
          <p:spPr bwMode="auto">
            <a:xfrm>
              <a:off x="4718" y="2027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493" name="Rectangle 21"/>
            <p:cNvSpPr>
              <a:spLocks noChangeArrowheads="1"/>
            </p:cNvSpPr>
            <p:nvPr/>
          </p:nvSpPr>
          <p:spPr bwMode="auto">
            <a:xfrm>
              <a:off x="4320" y="2284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baseline="-30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494" name="Rectangle 22"/>
            <p:cNvSpPr>
              <a:spLocks noChangeArrowheads="1"/>
            </p:cNvSpPr>
            <p:nvPr/>
          </p:nvSpPr>
          <p:spPr bwMode="auto">
            <a:xfrm>
              <a:off x="4608" y="2304"/>
              <a:ext cx="40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361495" name="Text Box 23"/>
            <p:cNvSpPr txBox="1">
              <a:spLocks noChangeArrowheads="1"/>
            </p:cNvSpPr>
            <p:nvPr/>
          </p:nvSpPr>
          <p:spPr bwMode="auto">
            <a:xfrm>
              <a:off x="4264" y="1528"/>
              <a:ext cx="59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/>
                <a:t>FULL Adder</a:t>
              </a:r>
              <a:endParaRPr lang="en-US" altLang="zh-CN" sz="2000"/>
            </a:p>
          </p:txBody>
        </p:sp>
      </p:grpSp>
      <p:grpSp>
        <p:nvGrpSpPr>
          <p:cNvPr id="6" name="Group 24"/>
          <p:cNvGrpSpPr/>
          <p:nvPr/>
        </p:nvGrpSpPr>
        <p:grpSpPr bwMode="auto">
          <a:xfrm>
            <a:off x="5410200" y="1669060"/>
            <a:ext cx="968375" cy="461963"/>
            <a:chOff x="3264" y="930"/>
            <a:chExt cx="610" cy="291"/>
          </a:xfrm>
        </p:grpSpPr>
        <p:sp>
          <p:nvSpPr>
            <p:cNvPr id="361497" name="Rectangle 25"/>
            <p:cNvSpPr>
              <a:spLocks noChangeArrowheads="1"/>
            </p:cNvSpPr>
            <p:nvPr/>
          </p:nvSpPr>
          <p:spPr bwMode="auto">
            <a:xfrm>
              <a:off x="3504" y="93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cs typeface="Times New Roman" panose="02020603050405020304" pitchFamily="18" charset="0"/>
                </a:rPr>
                <a:t>3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498" name="Rectangle 26"/>
            <p:cNvSpPr>
              <a:spLocks noChangeArrowheads="1"/>
            </p:cNvSpPr>
            <p:nvPr/>
          </p:nvSpPr>
          <p:spPr bwMode="auto">
            <a:xfrm>
              <a:off x="3264" y="930"/>
              <a:ext cx="3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baseline="-30000" dirty="0">
                  <a:cs typeface="Times New Roman" panose="02020603050405020304" pitchFamily="18" charset="0"/>
                </a:rPr>
                <a:t>3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</p:grpSp>
      <p:grpSp>
        <p:nvGrpSpPr>
          <p:cNvPr id="7" name="Group 27"/>
          <p:cNvGrpSpPr/>
          <p:nvPr/>
        </p:nvGrpSpPr>
        <p:grpSpPr bwMode="auto">
          <a:xfrm>
            <a:off x="1066800" y="2097683"/>
            <a:ext cx="1254125" cy="2159001"/>
            <a:chOff x="672" y="1200"/>
            <a:chExt cx="790" cy="1360"/>
          </a:xfrm>
        </p:grpSpPr>
        <p:sp>
          <p:nvSpPr>
            <p:cNvPr id="361500" name="Rectangle 28"/>
            <p:cNvSpPr>
              <a:spLocks noChangeArrowheads="1"/>
            </p:cNvSpPr>
            <p:nvPr/>
          </p:nvSpPr>
          <p:spPr bwMode="auto">
            <a:xfrm>
              <a:off x="672" y="1473"/>
              <a:ext cx="681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1501" name="Line 29"/>
            <p:cNvSpPr>
              <a:spLocks noChangeShapeType="1"/>
            </p:cNvSpPr>
            <p:nvPr/>
          </p:nvSpPr>
          <p:spPr bwMode="auto">
            <a:xfrm>
              <a:off x="763" y="120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02" name="Line 30"/>
            <p:cNvSpPr>
              <a:spLocks noChangeShapeType="1"/>
            </p:cNvSpPr>
            <p:nvPr/>
          </p:nvSpPr>
          <p:spPr bwMode="auto">
            <a:xfrm>
              <a:off x="990" y="120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03" name="Line 31"/>
            <p:cNvSpPr>
              <a:spLocks noChangeShapeType="1"/>
            </p:cNvSpPr>
            <p:nvPr/>
          </p:nvSpPr>
          <p:spPr bwMode="auto">
            <a:xfrm>
              <a:off x="1217" y="120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04" name="Line 32"/>
            <p:cNvSpPr>
              <a:spLocks noChangeShapeType="1"/>
            </p:cNvSpPr>
            <p:nvPr/>
          </p:nvSpPr>
          <p:spPr bwMode="auto">
            <a:xfrm>
              <a:off x="856" y="2017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05" name="Rectangle 33"/>
            <p:cNvSpPr>
              <a:spLocks noChangeArrowheads="1"/>
            </p:cNvSpPr>
            <p:nvPr/>
          </p:nvSpPr>
          <p:spPr bwMode="auto">
            <a:xfrm>
              <a:off x="720" y="2269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baseline="-30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506" name="Text Box 34"/>
            <p:cNvSpPr txBox="1">
              <a:spLocks noChangeArrowheads="1"/>
            </p:cNvSpPr>
            <p:nvPr/>
          </p:nvSpPr>
          <p:spPr bwMode="auto">
            <a:xfrm>
              <a:off x="717" y="1519"/>
              <a:ext cx="59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/>
                <a:t>FULL Adder</a:t>
              </a:r>
              <a:endParaRPr lang="en-US" altLang="zh-CN" sz="2000"/>
            </a:p>
          </p:txBody>
        </p:sp>
        <p:sp>
          <p:nvSpPr>
            <p:cNvPr id="361507" name="Line 35"/>
            <p:cNvSpPr>
              <a:spLocks noChangeShapeType="1"/>
            </p:cNvSpPr>
            <p:nvPr/>
          </p:nvSpPr>
          <p:spPr bwMode="auto">
            <a:xfrm>
              <a:off x="1166" y="2016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08" name="Rectangle 36"/>
            <p:cNvSpPr>
              <a:spLocks noChangeArrowheads="1"/>
            </p:cNvSpPr>
            <p:nvPr/>
          </p:nvSpPr>
          <p:spPr bwMode="auto">
            <a:xfrm>
              <a:off x="1056" y="2293"/>
              <a:ext cx="40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  <a:r>
                <a:rPr lang="en-US" altLang="zh-CN"/>
                <a:t> </a:t>
              </a:r>
              <a:endParaRPr lang="en-US" altLang="zh-CN"/>
            </a:p>
          </p:txBody>
        </p:sp>
      </p:grpSp>
      <p:grpSp>
        <p:nvGrpSpPr>
          <p:cNvPr id="8" name="Group 37"/>
          <p:cNvGrpSpPr/>
          <p:nvPr/>
        </p:nvGrpSpPr>
        <p:grpSpPr bwMode="auto">
          <a:xfrm>
            <a:off x="3048000" y="2113558"/>
            <a:ext cx="1282700" cy="2159001"/>
            <a:chOff x="1998" y="1210"/>
            <a:chExt cx="808" cy="1360"/>
          </a:xfrm>
        </p:grpSpPr>
        <p:sp>
          <p:nvSpPr>
            <p:cNvPr id="361510" name="Rectangle 38"/>
            <p:cNvSpPr>
              <a:spLocks noChangeArrowheads="1"/>
            </p:cNvSpPr>
            <p:nvPr/>
          </p:nvSpPr>
          <p:spPr bwMode="auto">
            <a:xfrm>
              <a:off x="1998" y="1483"/>
              <a:ext cx="681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1511" name="Line 39"/>
            <p:cNvSpPr>
              <a:spLocks noChangeShapeType="1"/>
            </p:cNvSpPr>
            <p:nvPr/>
          </p:nvSpPr>
          <p:spPr bwMode="auto">
            <a:xfrm>
              <a:off x="2089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12" name="Line 40"/>
            <p:cNvSpPr>
              <a:spLocks noChangeShapeType="1"/>
            </p:cNvSpPr>
            <p:nvPr/>
          </p:nvSpPr>
          <p:spPr bwMode="auto">
            <a:xfrm>
              <a:off x="2316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13" name="Line 41"/>
            <p:cNvSpPr>
              <a:spLocks noChangeShapeType="1"/>
            </p:cNvSpPr>
            <p:nvPr/>
          </p:nvSpPr>
          <p:spPr bwMode="auto">
            <a:xfrm>
              <a:off x="2543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14" name="Line 42"/>
            <p:cNvSpPr>
              <a:spLocks noChangeShapeType="1"/>
            </p:cNvSpPr>
            <p:nvPr/>
          </p:nvSpPr>
          <p:spPr bwMode="auto">
            <a:xfrm>
              <a:off x="2155" y="2027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15" name="Rectangle 43"/>
            <p:cNvSpPr>
              <a:spLocks noChangeArrowheads="1"/>
            </p:cNvSpPr>
            <p:nvPr/>
          </p:nvSpPr>
          <p:spPr bwMode="auto">
            <a:xfrm>
              <a:off x="2064" y="2279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baseline="-30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dirty="0"/>
                <a:t> </a:t>
              </a:r>
              <a:endParaRPr lang="en-US" altLang="zh-CN" dirty="0"/>
            </a:p>
          </p:txBody>
        </p:sp>
        <p:sp>
          <p:nvSpPr>
            <p:cNvPr id="361516" name="Text Box 44"/>
            <p:cNvSpPr txBox="1">
              <a:spLocks noChangeArrowheads="1"/>
            </p:cNvSpPr>
            <p:nvPr/>
          </p:nvSpPr>
          <p:spPr bwMode="auto">
            <a:xfrm>
              <a:off x="2044" y="1528"/>
              <a:ext cx="59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/>
                <a:t>FULL Adder</a:t>
              </a:r>
              <a:endParaRPr lang="en-US" altLang="zh-CN" sz="2000"/>
            </a:p>
          </p:txBody>
        </p:sp>
        <p:sp>
          <p:nvSpPr>
            <p:cNvPr id="361517" name="Line 45"/>
            <p:cNvSpPr>
              <a:spLocks noChangeShapeType="1"/>
            </p:cNvSpPr>
            <p:nvPr/>
          </p:nvSpPr>
          <p:spPr bwMode="auto">
            <a:xfrm>
              <a:off x="2510" y="2016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18" name="Rectangle 46"/>
            <p:cNvSpPr>
              <a:spLocks noChangeArrowheads="1"/>
            </p:cNvSpPr>
            <p:nvPr/>
          </p:nvSpPr>
          <p:spPr bwMode="auto">
            <a:xfrm>
              <a:off x="2400" y="2293"/>
              <a:ext cx="40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  <a:r>
                <a:rPr lang="en-US" altLang="zh-CN"/>
                <a:t> </a:t>
              </a:r>
              <a:endParaRPr lang="en-US" altLang="zh-CN"/>
            </a:p>
          </p:txBody>
        </p:sp>
      </p:grpSp>
      <p:grpSp>
        <p:nvGrpSpPr>
          <p:cNvPr id="9" name="Group 47"/>
          <p:cNvGrpSpPr/>
          <p:nvPr/>
        </p:nvGrpSpPr>
        <p:grpSpPr bwMode="auto">
          <a:xfrm>
            <a:off x="5129213" y="2113558"/>
            <a:ext cx="1271587" cy="2159001"/>
            <a:chOff x="3087" y="1210"/>
            <a:chExt cx="801" cy="1360"/>
          </a:xfrm>
        </p:grpSpPr>
        <p:sp>
          <p:nvSpPr>
            <p:cNvPr id="361520" name="Rectangle 48"/>
            <p:cNvSpPr>
              <a:spLocks noChangeArrowheads="1"/>
            </p:cNvSpPr>
            <p:nvPr/>
          </p:nvSpPr>
          <p:spPr bwMode="auto">
            <a:xfrm>
              <a:off x="3168" y="2279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baseline="-30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FFFF00"/>
                  </a:solidFill>
                </a:rPr>
                <a:t> </a:t>
              </a:r>
              <a:endParaRPr lang="en-US" altLang="zh-CN" dirty="0">
                <a:solidFill>
                  <a:srgbClr val="FFFF00"/>
                </a:solidFill>
              </a:endParaRPr>
            </a:p>
          </p:txBody>
        </p:sp>
        <p:sp>
          <p:nvSpPr>
            <p:cNvPr id="361521" name="Rectangle 49"/>
            <p:cNvSpPr>
              <a:spLocks noChangeArrowheads="1"/>
            </p:cNvSpPr>
            <p:nvPr/>
          </p:nvSpPr>
          <p:spPr bwMode="auto">
            <a:xfrm>
              <a:off x="3087" y="1483"/>
              <a:ext cx="681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1522" name="Line 50"/>
            <p:cNvSpPr>
              <a:spLocks noChangeShapeType="1"/>
            </p:cNvSpPr>
            <p:nvPr/>
          </p:nvSpPr>
          <p:spPr bwMode="auto">
            <a:xfrm>
              <a:off x="3178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23" name="Line 51"/>
            <p:cNvSpPr>
              <a:spLocks noChangeShapeType="1"/>
            </p:cNvSpPr>
            <p:nvPr/>
          </p:nvSpPr>
          <p:spPr bwMode="auto">
            <a:xfrm>
              <a:off x="3405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24" name="Line 52"/>
            <p:cNvSpPr>
              <a:spLocks noChangeShapeType="1"/>
            </p:cNvSpPr>
            <p:nvPr/>
          </p:nvSpPr>
          <p:spPr bwMode="auto">
            <a:xfrm>
              <a:off x="3632" y="1210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25" name="Line 53"/>
            <p:cNvSpPr>
              <a:spLocks noChangeShapeType="1"/>
            </p:cNvSpPr>
            <p:nvPr/>
          </p:nvSpPr>
          <p:spPr bwMode="auto">
            <a:xfrm>
              <a:off x="3304" y="2027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26" name="Text Box 54"/>
            <p:cNvSpPr txBox="1">
              <a:spLocks noChangeArrowheads="1"/>
            </p:cNvSpPr>
            <p:nvPr/>
          </p:nvSpPr>
          <p:spPr bwMode="auto">
            <a:xfrm>
              <a:off x="3144" y="1528"/>
              <a:ext cx="59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/>
                <a:t>FULL Adder</a:t>
              </a:r>
              <a:endParaRPr lang="en-US" altLang="zh-CN" sz="2000"/>
            </a:p>
          </p:txBody>
        </p:sp>
        <p:sp>
          <p:nvSpPr>
            <p:cNvPr id="361527" name="Line 55"/>
            <p:cNvSpPr>
              <a:spLocks noChangeShapeType="1"/>
            </p:cNvSpPr>
            <p:nvPr/>
          </p:nvSpPr>
          <p:spPr bwMode="auto">
            <a:xfrm>
              <a:off x="3592" y="2016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28" name="Rectangle 56"/>
            <p:cNvSpPr>
              <a:spLocks noChangeArrowheads="1"/>
            </p:cNvSpPr>
            <p:nvPr/>
          </p:nvSpPr>
          <p:spPr bwMode="auto">
            <a:xfrm>
              <a:off x="3482" y="2293"/>
              <a:ext cx="40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  <a:r>
                <a:rPr lang="en-US" altLang="zh-CN"/>
                <a:t> </a:t>
              </a:r>
              <a:endParaRPr lang="en-US" altLang="zh-CN"/>
            </a:p>
          </p:txBody>
        </p:sp>
      </p:grpSp>
      <p:grpSp>
        <p:nvGrpSpPr>
          <p:cNvPr id="10" name="Group 57"/>
          <p:cNvGrpSpPr/>
          <p:nvPr/>
        </p:nvGrpSpPr>
        <p:grpSpPr bwMode="auto">
          <a:xfrm>
            <a:off x="1828800" y="2097683"/>
            <a:ext cx="1371600" cy="1676400"/>
            <a:chOff x="1152" y="1200"/>
            <a:chExt cx="864" cy="1056"/>
          </a:xfrm>
        </p:grpSpPr>
        <p:sp>
          <p:nvSpPr>
            <p:cNvPr id="361530" name="Line 58"/>
            <p:cNvSpPr>
              <a:spLocks noChangeShapeType="1"/>
            </p:cNvSpPr>
            <p:nvPr/>
          </p:nvSpPr>
          <p:spPr bwMode="auto">
            <a:xfrm>
              <a:off x="1152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31" name="Line 59"/>
            <p:cNvSpPr>
              <a:spLocks noChangeShapeType="1"/>
            </p:cNvSpPr>
            <p:nvPr/>
          </p:nvSpPr>
          <p:spPr bwMode="auto">
            <a:xfrm flipV="1">
              <a:off x="1632" y="120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32" name="Line 60"/>
            <p:cNvSpPr>
              <a:spLocks noChangeShapeType="1"/>
            </p:cNvSpPr>
            <p:nvPr/>
          </p:nvSpPr>
          <p:spPr bwMode="auto">
            <a:xfrm>
              <a:off x="1632" y="120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61"/>
          <p:cNvGrpSpPr/>
          <p:nvPr/>
        </p:nvGrpSpPr>
        <p:grpSpPr bwMode="auto">
          <a:xfrm>
            <a:off x="3886200" y="2113558"/>
            <a:ext cx="1371600" cy="1676400"/>
            <a:chOff x="1152" y="1200"/>
            <a:chExt cx="864" cy="1056"/>
          </a:xfrm>
        </p:grpSpPr>
        <p:sp>
          <p:nvSpPr>
            <p:cNvPr id="361534" name="Line 62"/>
            <p:cNvSpPr>
              <a:spLocks noChangeShapeType="1"/>
            </p:cNvSpPr>
            <p:nvPr/>
          </p:nvSpPr>
          <p:spPr bwMode="auto">
            <a:xfrm>
              <a:off x="1152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35" name="Line 63"/>
            <p:cNvSpPr>
              <a:spLocks noChangeShapeType="1"/>
            </p:cNvSpPr>
            <p:nvPr/>
          </p:nvSpPr>
          <p:spPr bwMode="auto">
            <a:xfrm flipV="1">
              <a:off x="1632" y="120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36" name="Line 64"/>
            <p:cNvSpPr>
              <a:spLocks noChangeShapeType="1"/>
            </p:cNvSpPr>
            <p:nvPr/>
          </p:nvSpPr>
          <p:spPr bwMode="auto">
            <a:xfrm>
              <a:off x="1632" y="120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65"/>
          <p:cNvGrpSpPr/>
          <p:nvPr/>
        </p:nvGrpSpPr>
        <p:grpSpPr bwMode="auto">
          <a:xfrm>
            <a:off x="5943600" y="2097683"/>
            <a:ext cx="1371600" cy="1676400"/>
            <a:chOff x="1152" y="1200"/>
            <a:chExt cx="864" cy="1056"/>
          </a:xfrm>
        </p:grpSpPr>
        <p:sp>
          <p:nvSpPr>
            <p:cNvPr id="361538" name="Line 66"/>
            <p:cNvSpPr>
              <a:spLocks noChangeShapeType="1"/>
            </p:cNvSpPr>
            <p:nvPr/>
          </p:nvSpPr>
          <p:spPr bwMode="auto">
            <a:xfrm>
              <a:off x="1152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39" name="Line 67"/>
            <p:cNvSpPr>
              <a:spLocks noChangeShapeType="1"/>
            </p:cNvSpPr>
            <p:nvPr/>
          </p:nvSpPr>
          <p:spPr bwMode="auto">
            <a:xfrm flipV="1">
              <a:off x="1632" y="120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540" name="Line 68"/>
            <p:cNvSpPr>
              <a:spLocks noChangeShapeType="1"/>
            </p:cNvSpPr>
            <p:nvPr/>
          </p:nvSpPr>
          <p:spPr bwMode="auto">
            <a:xfrm>
              <a:off x="1632" y="120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1541" name="Rectangle 69"/>
          <p:cNvSpPr>
            <a:spLocks noChangeArrowheads="1"/>
          </p:cNvSpPr>
          <p:nvPr/>
        </p:nvSpPr>
        <p:spPr bwMode="auto">
          <a:xfrm>
            <a:off x="685800" y="1052736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四位串行进位加法器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2738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EBC4-1B61-43B3-84A5-B08F5638BFC6}" type="slidenum">
              <a:rPr lang="en-US" altLang="zh-CN"/>
            </a:fld>
            <a:endParaRPr lang="en-US" altLang="zh-CN"/>
          </a:p>
        </p:txBody>
      </p:sp>
      <p:graphicFrame>
        <p:nvGraphicFramePr>
          <p:cNvPr id="357379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14400" y="1562100"/>
          <a:ext cx="3749675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898" name="Image" r:id="rId1" imgW="6882765" imgH="7973695" progId="">
                  <p:embed/>
                </p:oleObj>
              </mc:Choice>
              <mc:Fallback>
                <p:oleObj name="Image" r:id="rId1" imgW="6882765" imgH="7973695" progId="">
                  <p:embed/>
                  <p:pic>
                    <p:nvPicPr>
                      <p:cNvPr id="0" name="图片 88588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62100"/>
                        <a:ext cx="3749675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000625" y="1447800"/>
          <a:ext cx="36163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899" name="Image" r:id="rId3" imgW="5515610" imgH="6971030" progId="">
                  <p:embed/>
                </p:oleObj>
              </mc:Choice>
              <mc:Fallback>
                <p:oleObj name="Image" r:id="rId3" imgW="5515610" imgH="6971030" progId="">
                  <p:embed/>
                  <p:pic>
                    <p:nvPicPr>
                      <p:cNvPr id="0" name="图片 88588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1447800"/>
                        <a:ext cx="36163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1" name="Rectangle 5"/>
          <p:cNvSpPr>
            <a:spLocks noChangeArrowheads="1"/>
          </p:cNvSpPr>
          <p:nvPr/>
        </p:nvSpPr>
        <p:spPr bwMode="auto">
          <a:xfrm>
            <a:off x="381000" y="6019800"/>
            <a:ext cx="42803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7382" name="Rectangle 6"/>
          <p:cNvSpPr>
            <a:spLocks noChangeArrowheads="1"/>
          </p:cNvSpPr>
          <p:nvPr/>
        </p:nvSpPr>
        <p:spPr bwMode="auto">
          <a:xfrm>
            <a:off x="4697413" y="6019800"/>
            <a:ext cx="42803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7383" name="Rectangle 7"/>
          <p:cNvSpPr>
            <a:spLocks noChangeArrowheads="1"/>
          </p:cNvSpPr>
          <p:nvPr/>
        </p:nvSpPr>
        <p:spPr bwMode="auto">
          <a:xfrm>
            <a:off x="685800" y="1052736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四种形式的全加器（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4050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(a)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76056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(b)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041397" y="3309432"/>
            <a:ext cx="27363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哪个更快？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4E8F-CA34-4E79-BF3F-5E2B888E1031}" type="slidenum">
              <a:rPr lang="en-US" altLang="zh-CN"/>
            </a:fld>
            <a:endParaRPr lang="en-US" altLang="zh-CN"/>
          </a:p>
        </p:txBody>
      </p:sp>
      <p:sp>
        <p:nvSpPr>
          <p:cNvPr id="362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 dirty="0"/>
              <a:t>四位串行进位加法器</a:t>
            </a:r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  <a:p>
            <a:endParaRPr lang="zh-CN" altLang="en-US" sz="2400" b="1" dirty="0"/>
          </a:p>
          <a:p>
            <a:endParaRPr lang="zh-CN" altLang="en-US" sz="2400" b="1" dirty="0"/>
          </a:p>
          <a:p>
            <a:r>
              <a:rPr lang="zh-CN" altLang="en-US" sz="2400" b="1" dirty="0"/>
              <a:t>假设计算</a:t>
            </a:r>
            <a:r>
              <a:rPr lang="en-US" altLang="zh-CN" sz="2400" b="1" dirty="0" err="1"/>
              <a:t>Fn</a:t>
            </a:r>
            <a:r>
              <a:rPr lang="zh-CN" altLang="en-US" sz="2400" b="1" dirty="0"/>
              <a:t>需要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级，</a:t>
            </a:r>
            <a:r>
              <a:rPr lang="en-US" altLang="zh-CN" sz="2400" b="1" dirty="0" err="1"/>
              <a:t>Cn</a:t>
            </a:r>
            <a:r>
              <a:rPr lang="zh-CN" altLang="en-US" sz="2400" b="1" dirty="0"/>
              <a:t>需要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级，</a:t>
            </a:r>
            <a:r>
              <a:rPr lang="en-US" altLang="zh-CN" sz="2400" b="1" dirty="0" err="1"/>
              <a:t>Cin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Xi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Yi</a:t>
            </a:r>
            <a:r>
              <a:rPr lang="zh-CN" altLang="en-US" sz="2400" b="1" dirty="0"/>
              <a:t>同时到达。最后结果需要多少级延迟？</a:t>
            </a:r>
            <a:endParaRPr lang="zh-CN" altLang="en-US" b="1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990600" y="2146300"/>
            <a:ext cx="7386638" cy="2611438"/>
            <a:chOff x="606" y="1112"/>
            <a:chExt cx="4653" cy="1645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064" y="1122"/>
              <a:ext cx="610" cy="291"/>
              <a:chOff x="2112" y="940"/>
              <a:chExt cx="610" cy="291"/>
            </a:xfrm>
          </p:grpSpPr>
          <p:sp>
            <p:nvSpPr>
              <p:cNvPr id="362502" name="Rectangle 6"/>
              <p:cNvSpPr>
                <a:spLocks noChangeArrowheads="1"/>
              </p:cNvSpPr>
              <p:nvPr/>
            </p:nvSpPr>
            <p:spPr bwMode="auto">
              <a:xfrm>
                <a:off x="2352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03" name="Rectangle 7"/>
              <p:cNvSpPr>
                <a:spLocks noChangeArrowheads="1"/>
              </p:cNvSpPr>
              <p:nvPr/>
            </p:nvSpPr>
            <p:spPr bwMode="auto">
              <a:xfrm>
                <a:off x="2112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4" name="Group 8"/>
            <p:cNvGrpSpPr/>
            <p:nvPr/>
          </p:nvGrpSpPr>
          <p:grpSpPr bwMode="auto">
            <a:xfrm>
              <a:off x="606" y="1112"/>
              <a:ext cx="774" cy="291"/>
              <a:chOff x="654" y="930"/>
              <a:chExt cx="774" cy="291"/>
            </a:xfrm>
          </p:grpSpPr>
          <p:sp>
            <p:nvSpPr>
              <p:cNvPr id="362505" name="Rectangle 9"/>
              <p:cNvSpPr>
                <a:spLocks noChangeArrowheads="1"/>
              </p:cNvSpPr>
              <p:nvPr/>
            </p:nvSpPr>
            <p:spPr bwMode="auto">
              <a:xfrm>
                <a:off x="1058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06" name="Rectangle 10"/>
              <p:cNvSpPr>
                <a:spLocks noChangeArrowheads="1"/>
              </p:cNvSpPr>
              <p:nvPr/>
            </p:nvSpPr>
            <p:spPr bwMode="auto">
              <a:xfrm>
                <a:off x="848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07" name="Rectangle 11"/>
              <p:cNvSpPr>
                <a:spLocks noChangeArrowheads="1"/>
              </p:cNvSpPr>
              <p:nvPr/>
            </p:nvSpPr>
            <p:spPr bwMode="auto">
              <a:xfrm>
                <a:off x="654" y="950"/>
                <a:ext cx="35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5" name="Group 12"/>
            <p:cNvGrpSpPr/>
            <p:nvPr/>
          </p:nvGrpSpPr>
          <p:grpSpPr bwMode="auto">
            <a:xfrm>
              <a:off x="4613" y="1122"/>
              <a:ext cx="642" cy="291"/>
              <a:chOff x="4368" y="940"/>
              <a:chExt cx="642" cy="291"/>
            </a:xfrm>
          </p:grpSpPr>
          <p:sp>
            <p:nvSpPr>
              <p:cNvPr id="362509" name="Rectangle 13"/>
              <p:cNvSpPr>
                <a:spLocks noChangeArrowheads="1"/>
              </p:cNvSpPr>
              <p:nvPr/>
            </p:nvSpPr>
            <p:spPr bwMode="auto">
              <a:xfrm>
                <a:off x="4640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10" name="Rectangle 14"/>
              <p:cNvSpPr>
                <a:spLocks noChangeArrowheads="1"/>
              </p:cNvSpPr>
              <p:nvPr/>
            </p:nvSpPr>
            <p:spPr bwMode="auto">
              <a:xfrm>
                <a:off x="4368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6" name="Group 15"/>
            <p:cNvGrpSpPr/>
            <p:nvPr/>
          </p:nvGrpSpPr>
          <p:grpSpPr bwMode="auto">
            <a:xfrm>
              <a:off x="4464" y="1392"/>
              <a:ext cx="795" cy="1365"/>
              <a:chOff x="4219" y="1210"/>
              <a:chExt cx="795" cy="1365"/>
            </a:xfrm>
          </p:grpSpPr>
          <p:sp>
            <p:nvSpPr>
              <p:cNvPr id="362512" name="Rectangle 16"/>
              <p:cNvSpPr>
                <a:spLocks noChangeArrowheads="1"/>
              </p:cNvSpPr>
              <p:nvPr/>
            </p:nvSpPr>
            <p:spPr bwMode="auto">
              <a:xfrm>
                <a:off x="4219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13" name="Line 17"/>
              <p:cNvSpPr>
                <a:spLocks noChangeShapeType="1"/>
              </p:cNvSpPr>
              <p:nvPr/>
            </p:nvSpPr>
            <p:spPr bwMode="auto">
              <a:xfrm>
                <a:off x="4310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4" name="Line 18"/>
              <p:cNvSpPr>
                <a:spLocks noChangeShapeType="1"/>
              </p:cNvSpPr>
              <p:nvPr/>
            </p:nvSpPr>
            <p:spPr bwMode="auto">
              <a:xfrm>
                <a:off x="4537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5" name="Line 19"/>
              <p:cNvSpPr>
                <a:spLocks noChangeShapeType="1"/>
              </p:cNvSpPr>
              <p:nvPr/>
            </p:nvSpPr>
            <p:spPr bwMode="auto">
              <a:xfrm>
                <a:off x="4764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6" name="Line 20"/>
              <p:cNvSpPr>
                <a:spLocks noChangeShapeType="1"/>
              </p:cNvSpPr>
              <p:nvPr/>
            </p:nvSpPr>
            <p:spPr bwMode="auto">
              <a:xfrm>
                <a:off x="4401" y="202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7" name="Line 21"/>
              <p:cNvSpPr>
                <a:spLocks noChangeShapeType="1"/>
              </p:cNvSpPr>
              <p:nvPr/>
            </p:nvSpPr>
            <p:spPr bwMode="auto">
              <a:xfrm>
                <a:off x="4718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8" name="Rectangle 22"/>
              <p:cNvSpPr>
                <a:spLocks noChangeArrowheads="1"/>
              </p:cNvSpPr>
              <p:nvPr/>
            </p:nvSpPr>
            <p:spPr bwMode="auto">
              <a:xfrm>
                <a:off x="4320" y="2284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19" name="Rectangle 23"/>
              <p:cNvSpPr>
                <a:spLocks noChangeArrowheads="1"/>
              </p:cNvSpPr>
              <p:nvPr/>
            </p:nvSpPr>
            <p:spPr bwMode="auto">
              <a:xfrm>
                <a:off x="4608" y="2304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362520" name="Text Box 24"/>
              <p:cNvSpPr txBox="1">
                <a:spLocks noChangeArrowheads="1"/>
              </p:cNvSpPr>
              <p:nvPr/>
            </p:nvSpPr>
            <p:spPr bwMode="auto">
              <a:xfrm>
                <a:off x="4264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/>
                  <a:t>FULL Adder</a:t>
                </a:r>
                <a:endParaRPr lang="en-US" altLang="zh-CN" sz="2000"/>
              </a:p>
            </p:txBody>
          </p:sp>
        </p:grpSp>
        <p:grpSp>
          <p:nvGrpSpPr>
            <p:cNvPr id="7" name="Group 25"/>
            <p:cNvGrpSpPr/>
            <p:nvPr/>
          </p:nvGrpSpPr>
          <p:grpSpPr bwMode="auto">
            <a:xfrm>
              <a:off x="3360" y="1112"/>
              <a:ext cx="610" cy="291"/>
              <a:chOff x="3264" y="930"/>
              <a:chExt cx="610" cy="291"/>
            </a:xfrm>
          </p:grpSpPr>
          <p:sp>
            <p:nvSpPr>
              <p:cNvPr id="362522" name="Rectangle 26"/>
              <p:cNvSpPr>
                <a:spLocks noChangeArrowheads="1"/>
              </p:cNvSpPr>
              <p:nvPr/>
            </p:nvSpPr>
            <p:spPr bwMode="auto">
              <a:xfrm>
                <a:off x="3504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23" name="Rectangle 27"/>
              <p:cNvSpPr>
                <a:spLocks noChangeArrowheads="1"/>
              </p:cNvSpPr>
              <p:nvPr/>
            </p:nvSpPr>
            <p:spPr bwMode="auto">
              <a:xfrm>
                <a:off x="3264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8" name="Group 28"/>
            <p:cNvGrpSpPr/>
            <p:nvPr/>
          </p:nvGrpSpPr>
          <p:grpSpPr bwMode="auto">
            <a:xfrm>
              <a:off x="624" y="1382"/>
              <a:ext cx="790" cy="1360"/>
              <a:chOff x="672" y="1200"/>
              <a:chExt cx="790" cy="1360"/>
            </a:xfrm>
          </p:grpSpPr>
          <p:sp>
            <p:nvSpPr>
              <p:cNvPr id="362525" name="Rectangle 29"/>
              <p:cNvSpPr>
                <a:spLocks noChangeArrowheads="1"/>
              </p:cNvSpPr>
              <p:nvPr/>
            </p:nvSpPr>
            <p:spPr bwMode="auto">
              <a:xfrm>
                <a:off x="672" y="147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26" name="Line 30"/>
              <p:cNvSpPr>
                <a:spLocks noChangeShapeType="1"/>
              </p:cNvSpPr>
              <p:nvPr/>
            </p:nvSpPr>
            <p:spPr bwMode="auto">
              <a:xfrm>
                <a:off x="763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27" name="Line 31"/>
              <p:cNvSpPr>
                <a:spLocks noChangeShapeType="1"/>
              </p:cNvSpPr>
              <p:nvPr/>
            </p:nvSpPr>
            <p:spPr bwMode="auto">
              <a:xfrm>
                <a:off x="990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28" name="Line 32"/>
              <p:cNvSpPr>
                <a:spLocks noChangeShapeType="1"/>
              </p:cNvSpPr>
              <p:nvPr/>
            </p:nvSpPr>
            <p:spPr bwMode="auto">
              <a:xfrm>
                <a:off x="1217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29" name="Line 33"/>
              <p:cNvSpPr>
                <a:spLocks noChangeShapeType="1"/>
              </p:cNvSpPr>
              <p:nvPr/>
            </p:nvSpPr>
            <p:spPr bwMode="auto">
              <a:xfrm>
                <a:off x="856" y="201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0" name="Rectangle 34"/>
              <p:cNvSpPr>
                <a:spLocks noChangeArrowheads="1"/>
              </p:cNvSpPr>
              <p:nvPr/>
            </p:nvSpPr>
            <p:spPr bwMode="auto">
              <a:xfrm>
                <a:off x="720" y="226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31" name="Text Box 35"/>
              <p:cNvSpPr txBox="1">
                <a:spLocks noChangeArrowheads="1"/>
              </p:cNvSpPr>
              <p:nvPr/>
            </p:nvSpPr>
            <p:spPr bwMode="auto">
              <a:xfrm>
                <a:off x="717" y="151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  <p:sp>
            <p:nvSpPr>
              <p:cNvPr id="362532" name="Line 36"/>
              <p:cNvSpPr>
                <a:spLocks noChangeShapeType="1"/>
              </p:cNvSpPr>
              <p:nvPr/>
            </p:nvSpPr>
            <p:spPr bwMode="auto">
              <a:xfrm>
                <a:off x="1166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3" name="Rectangle 37"/>
              <p:cNvSpPr>
                <a:spLocks noChangeArrowheads="1"/>
              </p:cNvSpPr>
              <p:nvPr/>
            </p:nvSpPr>
            <p:spPr bwMode="auto">
              <a:xfrm>
                <a:off x="1056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9" name="Group 38"/>
            <p:cNvGrpSpPr/>
            <p:nvPr/>
          </p:nvGrpSpPr>
          <p:grpSpPr bwMode="auto">
            <a:xfrm>
              <a:off x="1872" y="1392"/>
              <a:ext cx="808" cy="1360"/>
              <a:chOff x="1998" y="1210"/>
              <a:chExt cx="808" cy="1360"/>
            </a:xfrm>
          </p:grpSpPr>
          <p:sp>
            <p:nvSpPr>
              <p:cNvPr id="362535" name="Rectangle 39"/>
              <p:cNvSpPr>
                <a:spLocks noChangeArrowheads="1"/>
              </p:cNvSpPr>
              <p:nvPr/>
            </p:nvSpPr>
            <p:spPr bwMode="auto">
              <a:xfrm>
                <a:off x="1998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36" name="Line 40"/>
              <p:cNvSpPr>
                <a:spLocks noChangeShapeType="1"/>
              </p:cNvSpPr>
              <p:nvPr/>
            </p:nvSpPr>
            <p:spPr bwMode="auto">
              <a:xfrm>
                <a:off x="2089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7" name="Line 41"/>
              <p:cNvSpPr>
                <a:spLocks noChangeShapeType="1"/>
              </p:cNvSpPr>
              <p:nvPr/>
            </p:nvSpPr>
            <p:spPr bwMode="auto">
              <a:xfrm>
                <a:off x="2316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8" name="Line 42"/>
              <p:cNvSpPr>
                <a:spLocks noChangeShapeType="1"/>
              </p:cNvSpPr>
              <p:nvPr/>
            </p:nvSpPr>
            <p:spPr bwMode="auto">
              <a:xfrm>
                <a:off x="2543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9" name="Line 43"/>
              <p:cNvSpPr>
                <a:spLocks noChangeShapeType="1"/>
              </p:cNvSpPr>
              <p:nvPr/>
            </p:nvSpPr>
            <p:spPr bwMode="auto">
              <a:xfrm>
                <a:off x="2155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0" name="Rectangle 44"/>
              <p:cNvSpPr>
                <a:spLocks noChangeArrowheads="1"/>
              </p:cNvSpPr>
              <p:nvPr/>
            </p:nvSpPr>
            <p:spPr bwMode="auto">
              <a:xfrm>
                <a:off x="2064" y="227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41" name="Text Box 45"/>
              <p:cNvSpPr txBox="1">
                <a:spLocks noChangeArrowheads="1"/>
              </p:cNvSpPr>
              <p:nvPr/>
            </p:nvSpPr>
            <p:spPr bwMode="auto">
              <a:xfrm>
                <a:off x="2044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  <p:sp>
            <p:nvSpPr>
              <p:cNvPr id="362542" name="Line 46"/>
              <p:cNvSpPr>
                <a:spLocks noChangeShapeType="1"/>
              </p:cNvSpPr>
              <p:nvPr/>
            </p:nvSpPr>
            <p:spPr bwMode="auto">
              <a:xfrm>
                <a:off x="2510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3" name="Rectangle 47"/>
              <p:cNvSpPr>
                <a:spLocks noChangeArrowheads="1"/>
              </p:cNvSpPr>
              <p:nvPr/>
            </p:nvSpPr>
            <p:spPr bwMode="auto">
              <a:xfrm>
                <a:off x="2400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10" name="Group 48"/>
            <p:cNvGrpSpPr/>
            <p:nvPr/>
          </p:nvGrpSpPr>
          <p:grpSpPr bwMode="auto">
            <a:xfrm>
              <a:off x="3183" y="1392"/>
              <a:ext cx="801" cy="1360"/>
              <a:chOff x="3087" y="1210"/>
              <a:chExt cx="801" cy="1360"/>
            </a:xfrm>
          </p:grpSpPr>
          <p:sp>
            <p:nvSpPr>
              <p:cNvPr id="362545" name="Rectangle 49"/>
              <p:cNvSpPr>
                <a:spLocks noChangeArrowheads="1"/>
              </p:cNvSpPr>
              <p:nvPr/>
            </p:nvSpPr>
            <p:spPr bwMode="auto">
              <a:xfrm>
                <a:off x="3168" y="227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:endParaRPr lang="en-US" altLang="zh-CN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362546" name="Rectangle 50"/>
              <p:cNvSpPr>
                <a:spLocks noChangeArrowheads="1"/>
              </p:cNvSpPr>
              <p:nvPr/>
            </p:nvSpPr>
            <p:spPr bwMode="auto">
              <a:xfrm>
                <a:off x="3087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47" name="Line 51"/>
              <p:cNvSpPr>
                <a:spLocks noChangeShapeType="1"/>
              </p:cNvSpPr>
              <p:nvPr/>
            </p:nvSpPr>
            <p:spPr bwMode="auto">
              <a:xfrm>
                <a:off x="3178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8" name="Line 52"/>
              <p:cNvSpPr>
                <a:spLocks noChangeShapeType="1"/>
              </p:cNvSpPr>
              <p:nvPr/>
            </p:nvSpPr>
            <p:spPr bwMode="auto">
              <a:xfrm>
                <a:off x="3405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9" name="Line 53"/>
              <p:cNvSpPr>
                <a:spLocks noChangeShapeType="1"/>
              </p:cNvSpPr>
              <p:nvPr/>
            </p:nvSpPr>
            <p:spPr bwMode="auto">
              <a:xfrm>
                <a:off x="3632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0" name="Line 54"/>
              <p:cNvSpPr>
                <a:spLocks noChangeShapeType="1"/>
              </p:cNvSpPr>
              <p:nvPr/>
            </p:nvSpPr>
            <p:spPr bwMode="auto">
              <a:xfrm>
                <a:off x="3304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1" name="Text Box 55"/>
              <p:cNvSpPr txBox="1">
                <a:spLocks noChangeArrowheads="1"/>
              </p:cNvSpPr>
              <p:nvPr/>
            </p:nvSpPr>
            <p:spPr bwMode="auto">
              <a:xfrm>
                <a:off x="3177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  <p:sp>
            <p:nvSpPr>
              <p:cNvPr id="362552" name="Line 56"/>
              <p:cNvSpPr>
                <a:spLocks noChangeShapeType="1"/>
              </p:cNvSpPr>
              <p:nvPr/>
            </p:nvSpPr>
            <p:spPr bwMode="auto">
              <a:xfrm>
                <a:off x="3592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3" name="Rectangle 57"/>
              <p:cNvSpPr>
                <a:spLocks noChangeArrowheads="1"/>
              </p:cNvSpPr>
              <p:nvPr/>
            </p:nvSpPr>
            <p:spPr bwMode="auto">
              <a:xfrm>
                <a:off x="3482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11" name="Group 58"/>
            <p:cNvGrpSpPr/>
            <p:nvPr/>
          </p:nvGrpSpPr>
          <p:grpSpPr bwMode="auto">
            <a:xfrm>
              <a:off x="1104" y="1382"/>
              <a:ext cx="864" cy="1056"/>
              <a:chOff x="1152" y="1200"/>
              <a:chExt cx="864" cy="1056"/>
            </a:xfrm>
          </p:grpSpPr>
          <p:sp>
            <p:nvSpPr>
              <p:cNvPr id="362555" name="Line 59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6" name="Line 60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7" name="Line 61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62"/>
            <p:cNvGrpSpPr/>
            <p:nvPr/>
          </p:nvGrpSpPr>
          <p:grpSpPr bwMode="auto">
            <a:xfrm>
              <a:off x="2400" y="1392"/>
              <a:ext cx="864" cy="1056"/>
              <a:chOff x="1152" y="1200"/>
              <a:chExt cx="864" cy="1056"/>
            </a:xfrm>
          </p:grpSpPr>
          <p:sp>
            <p:nvSpPr>
              <p:cNvPr id="362559" name="Line 63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0" name="Line 64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1" name="Line 65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66"/>
            <p:cNvGrpSpPr/>
            <p:nvPr/>
          </p:nvGrpSpPr>
          <p:grpSpPr bwMode="auto">
            <a:xfrm>
              <a:off x="3696" y="1382"/>
              <a:ext cx="864" cy="1056"/>
              <a:chOff x="1152" y="1200"/>
              <a:chExt cx="864" cy="1056"/>
            </a:xfrm>
          </p:grpSpPr>
          <p:sp>
            <p:nvSpPr>
              <p:cNvPr id="362563" name="Line 67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4" name="Line 68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5" name="Line 69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62566" name="Rectangle 70"/>
          <p:cNvSpPr>
            <a:spLocks noChangeArrowheads="1"/>
          </p:cNvSpPr>
          <p:nvPr/>
        </p:nvSpPr>
        <p:spPr bwMode="auto">
          <a:xfrm>
            <a:off x="762000" y="5734050"/>
            <a:ext cx="746069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级。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6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4E8F-CA34-4E79-BF3F-5E2B888E1031}" type="slidenum">
              <a:rPr lang="en-US" altLang="zh-CN"/>
            </a:fld>
            <a:endParaRPr lang="en-US" altLang="zh-CN"/>
          </a:p>
        </p:txBody>
      </p:sp>
      <p:sp>
        <p:nvSpPr>
          <p:cNvPr id="362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/>
              <a:t>四位串行进位加法器</a:t>
            </a:r>
            <a:endParaRPr lang="zh-CN" altLang="en-US" b="1"/>
          </a:p>
          <a:p>
            <a:endParaRPr lang="zh-CN" altLang="en-US" b="1"/>
          </a:p>
          <a:p>
            <a:endParaRPr lang="zh-CN" altLang="en-US" b="1"/>
          </a:p>
          <a:p>
            <a:endParaRPr lang="zh-CN" altLang="en-US" b="1"/>
          </a:p>
          <a:p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假设计算</a:t>
            </a:r>
            <a:r>
              <a:rPr lang="en-US" altLang="zh-CN" sz="2400" b="1"/>
              <a:t>Fn</a:t>
            </a:r>
            <a:r>
              <a:rPr lang="zh-CN" altLang="en-US" sz="2400" b="1"/>
              <a:t>需要</a:t>
            </a:r>
            <a:r>
              <a:rPr lang="en-US" altLang="zh-CN" sz="2400" b="1"/>
              <a:t>3</a:t>
            </a:r>
            <a:r>
              <a:rPr lang="zh-CN" altLang="en-US" sz="2400" b="1"/>
              <a:t>级，</a:t>
            </a:r>
            <a:r>
              <a:rPr lang="en-US" altLang="zh-CN" sz="2400" b="1"/>
              <a:t>Cn</a:t>
            </a:r>
            <a:r>
              <a:rPr lang="zh-CN" altLang="en-US" sz="2400" b="1"/>
              <a:t>需要</a:t>
            </a:r>
            <a:r>
              <a:rPr lang="en-US" altLang="zh-CN" sz="2400" b="1"/>
              <a:t>2</a:t>
            </a:r>
            <a:r>
              <a:rPr lang="zh-CN" altLang="en-US" sz="2400" b="1"/>
              <a:t>级，</a:t>
            </a:r>
            <a:r>
              <a:rPr lang="en-US" altLang="zh-CN" sz="2400" b="1"/>
              <a:t>Cin</a:t>
            </a:r>
            <a:r>
              <a:rPr lang="zh-CN" altLang="en-US" sz="2400" b="1"/>
              <a:t>、</a:t>
            </a:r>
            <a:r>
              <a:rPr lang="en-US" altLang="zh-CN" sz="2400" b="1"/>
              <a:t>Xi</a:t>
            </a:r>
            <a:r>
              <a:rPr lang="zh-CN" altLang="en-US" sz="2400" b="1"/>
              <a:t>和</a:t>
            </a:r>
            <a:r>
              <a:rPr lang="en-US" altLang="zh-CN" sz="2400" b="1"/>
              <a:t>Yi</a:t>
            </a:r>
            <a:r>
              <a:rPr lang="zh-CN" altLang="en-US" sz="2400" b="1"/>
              <a:t>同时到达。最后结果需要多少级延迟？</a:t>
            </a:r>
            <a:endParaRPr lang="zh-CN" altLang="en-US" b="1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990600" y="2146300"/>
            <a:ext cx="7386638" cy="2611438"/>
            <a:chOff x="606" y="1112"/>
            <a:chExt cx="4653" cy="1645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064" y="1122"/>
              <a:ext cx="610" cy="291"/>
              <a:chOff x="2112" y="940"/>
              <a:chExt cx="610" cy="291"/>
            </a:xfrm>
          </p:grpSpPr>
          <p:sp>
            <p:nvSpPr>
              <p:cNvPr id="362502" name="Rectangle 6"/>
              <p:cNvSpPr>
                <a:spLocks noChangeArrowheads="1"/>
              </p:cNvSpPr>
              <p:nvPr/>
            </p:nvSpPr>
            <p:spPr bwMode="auto">
              <a:xfrm>
                <a:off x="2352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03" name="Rectangle 7"/>
              <p:cNvSpPr>
                <a:spLocks noChangeArrowheads="1"/>
              </p:cNvSpPr>
              <p:nvPr/>
            </p:nvSpPr>
            <p:spPr bwMode="auto">
              <a:xfrm>
                <a:off x="2112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4" name="Group 8"/>
            <p:cNvGrpSpPr/>
            <p:nvPr/>
          </p:nvGrpSpPr>
          <p:grpSpPr bwMode="auto">
            <a:xfrm>
              <a:off x="606" y="1112"/>
              <a:ext cx="774" cy="291"/>
              <a:chOff x="654" y="930"/>
              <a:chExt cx="774" cy="291"/>
            </a:xfrm>
          </p:grpSpPr>
          <p:sp>
            <p:nvSpPr>
              <p:cNvPr id="362505" name="Rectangle 9"/>
              <p:cNvSpPr>
                <a:spLocks noChangeArrowheads="1"/>
              </p:cNvSpPr>
              <p:nvPr/>
            </p:nvSpPr>
            <p:spPr bwMode="auto">
              <a:xfrm>
                <a:off x="1058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06" name="Rectangle 10"/>
              <p:cNvSpPr>
                <a:spLocks noChangeArrowheads="1"/>
              </p:cNvSpPr>
              <p:nvPr/>
            </p:nvSpPr>
            <p:spPr bwMode="auto">
              <a:xfrm>
                <a:off x="848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07" name="Rectangle 11"/>
              <p:cNvSpPr>
                <a:spLocks noChangeArrowheads="1"/>
              </p:cNvSpPr>
              <p:nvPr/>
            </p:nvSpPr>
            <p:spPr bwMode="auto">
              <a:xfrm>
                <a:off x="654" y="950"/>
                <a:ext cx="35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5" name="Group 12"/>
            <p:cNvGrpSpPr/>
            <p:nvPr/>
          </p:nvGrpSpPr>
          <p:grpSpPr bwMode="auto">
            <a:xfrm>
              <a:off x="4613" y="1122"/>
              <a:ext cx="642" cy="291"/>
              <a:chOff x="4368" y="940"/>
              <a:chExt cx="642" cy="291"/>
            </a:xfrm>
          </p:grpSpPr>
          <p:sp>
            <p:nvSpPr>
              <p:cNvPr id="362509" name="Rectangle 13"/>
              <p:cNvSpPr>
                <a:spLocks noChangeArrowheads="1"/>
              </p:cNvSpPr>
              <p:nvPr/>
            </p:nvSpPr>
            <p:spPr bwMode="auto">
              <a:xfrm>
                <a:off x="4640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10" name="Rectangle 14"/>
              <p:cNvSpPr>
                <a:spLocks noChangeArrowheads="1"/>
              </p:cNvSpPr>
              <p:nvPr/>
            </p:nvSpPr>
            <p:spPr bwMode="auto">
              <a:xfrm>
                <a:off x="4368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6" name="Group 15"/>
            <p:cNvGrpSpPr/>
            <p:nvPr/>
          </p:nvGrpSpPr>
          <p:grpSpPr bwMode="auto">
            <a:xfrm>
              <a:off x="4464" y="1392"/>
              <a:ext cx="795" cy="1365"/>
              <a:chOff x="4219" y="1210"/>
              <a:chExt cx="795" cy="1365"/>
            </a:xfrm>
          </p:grpSpPr>
          <p:sp>
            <p:nvSpPr>
              <p:cNvPr id="362512" name="Rectangle 16"/>
              <p:cNvSpPr>
                <a:spLocks noChangeArrowheads="1"/>
              </p:cNvSpPr>
              <p:nvPr/>
            </p:nvSpPr>
            <p:spPr bwMode="auto">
              <a:xfrm>
                <a:off x="4219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13" name="Line 17"/>
              <p:cNvSpPr>
                <a:spLocks noChangeShapeType="1"/>
              </p:cNvSpPr>
              <p:nvPr/>
            </p:nvSpPr>
            <p:spPr bwMode="auto">
              <a:xfrm>
                <a:off x="4310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4" name="Line 18"/>
              <p:cNvSpPr>
                <a:spLocks noChangeShapeType="1"/>
              </p:cNvSpPr>
              <p:nvPr/>
            </p:nvSpPr>
            <p:spPr bwMode="auto">
              <a:xfrm>
                <a:off x="4537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5" name="Line 19"/>
              <p:cNvSpPr>
                <a:spLocks noChangeShapeType="1"/>
              </p:cNvSpPr>
              <p:nvPr/>
            </p:nvSpPr>
            <p:spPr bwMode="auto">
              <a:xfrm>
                <a:off x="4764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6" name="Line 20"/>
              <p:cNvSpPr>
                <a:spLocks noChangeShapeType="1"/>
              </p:cNvSpPr>
              <p:nvPr/>
            </p:nvSpPr>
            <p:spPr bwMode="auto">
              <a:xfrm>
                <a:off x="4401" y="202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7" name="Line 21"/>
              <p:cNvSpPr>
                <a:spLocks noChangeShapeType="1"/>
              </p:cNvSpPr>
              <p:nvPr/>
            </p:nvSpPr>
            <p:spPr bwMode="auto">
              <a:xfrm>
                <a:off x="4718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18" name="Rectangle 22"/>
              <p:cNvSpPr>
                <a:spLocks noChangeArrowheads="1"/>
              </p:cNvSpPr>
              <p:nvPr/>
            </p:nvSpPr>
            <p:spPr bwMode="auto">
              <a:xfrm>
                <a:off x="4320" y="2284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19" name="Rectangle 23"/>
              <p:cNvSpPr>
                <a:spLocks noChangeArrowheads="1"/>
              </p:cNvSpPr>
              <p:nvPr/>
            </p:nvSpPr>
            <p:spPr bwMode="auto">
              <a:xfrm>
                <a:off x="4608" y="2304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362520" name="Text Box 24"/>
              <p:cNvSpPr txBox="1">
                <a:spLocks noChangeArrowheads="1"/>
              </p:cNvSpPr>
              <p:nvPr/>
            </p:nvSpPr>
            <p:spPr bwMode="auto">
              <a:xfrm>
                <a:off x="4264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/>
                  <a:t>FULL Adder</a:t>
                </a:r>
                <a:endParaRPr lang="en-US" altLang="zh-CN" sz="2000"/>
              </a:p>
            </p:txBody>
          </p:sp>
        </p:grpSp>
        <p:grpSp>
          <p:nvGrpSpPr>
            <p:cNvPr id="7" name="Group 25"/>
            <p:cNvGrpSpPr/>
            <p:nvPr/>
          </p:nvGrpSpPr>
          <p:grpSpPr bwMode="auto">
            <a:xfrm>
              <a:off x="3360" y="1112"/>
              <a:ext cx="610" cy="291"/>
              <a:chOff x="3264" y="930"/>
              <a:chExt cx="610" cy="291"/>
            </a:xfrm>
          </p:grpSpPr>
          <p:sp>
            <p:nvSpPr>
              <p:cNvPr id="362522" name="Rectangle 26"/>
              <p:cNvSpPr>
                <a:spLocks noChangeArrowheads="1"/>
              </p:cNvSpPr>
              <p:nvPr/>
            </p:nvSpPr>
            <p:spPr bwMode="auto">
              <a:xfrm>
                <a:off x="3504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23" name="Rectangle 27"/>
              <p:cNvSpPr>
                <a:spLocks noChangeArrowheads="1"/>
              </p:cNvSpPr>
              <p:nvPr/>
            </p:nvSpPr>
            <p:spPr bwMode="auto">
              <a:xfrm>
                <a:off x="3264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8" name="Group 28"/>
            <p:cNvGrpSpPr/>
            <p:nvPr/>
          </p:nvGrpSpPr>
          <p:grpSpPr bwMode="auto">
            <a:xfrm>
              <a:off x="624" y="1382"/>
              <a:ext cx="790" cy="1360"/>
              <a:chOff x="672" y="1200"/>
              <a:chExt cx="790" cy="1360"/>
            </a:xfrm>
          </p:grpSpPr>
          <p:sp>
            <p:nvSpPr>
              <p:cNvPr id="362525" name="Rectangle 29"/>
              <p:cNvSpPr>
                <a:spLocks noChangeArrowheads="1"/>
              </p:cNvSpPr>
              <p:nvPr/>
            </p:nvSpPr>
            <p:spPr bwMode="auto">
              <a:xfrm>
                <a:off x="672" y="147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26" name="Line 30"/>
              <p:cNvSpPr>
                <a:spLocks noChangeShapeType="1"/>
              </p:cNvSpPr>
              <p:nvPr/>
            </p:nvSpPr>
            <p:spPr bwMode="auto">
              <a:xfrm>
                <a:off x="763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27" name="Line 31"/>
              <p:cNvSpPr>
                <a:spLocks noChangeShapeType="1"/>
              </p:cNvSpPr>
              <p:nvPr/>
            </p:nvSpPr>
            <p:spPr bwMode="auto">
              <a:xfrm>
                <a:off x="990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28" name="Line 32"/>
              <p:cNvSpPr>
                <a:spLocks noChangeShapeType="1"/>
              </p:cNvSpPr>
              <p:nvPr/>
            </p:nvSpPr>
            <p:spPr bwMode="auto">
              <a:xfrm>
                <a:off x="1217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29" name="Line 33"/>
              <p:cNvSpPr>
                <a:spLocks noChangeShapeType="1"/>
              </p:cNvSpPr>
              <p:nvPr/>
            </p:nvSpPr>
            <p:spPr bwMode="auto">
              <a:xfrm>
                <a:off x="856" y="201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0" name="Rectangle 34"/>
              <p:cNvSpPr>
                <a:spLocks noChangeArrowheads="1"/>
              </p:cNvSpPr>
              <p:nvPr/>
            </p:nvSpPr>
            <p:spPr bwMode="auto">
              <a:xfrm>
                <a:off x="720" y="226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31" name="Text Box 35"/>
              <p:cNvSpPr txBox="1">
                <a:spLocks noChangeArrowheads="1"/>
              </p:cNvSpPr>
              <p:nvPr/>
            </p:nvSpPr>
            <p:spPr bwMode="auto">
              <a:xfrm>
                <a:off x="717" y="151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  <p:sp>
            <p:nvSpPr>
              <p:cNvPr id="362532" name="Line 36"/>
              <p:cNvSpPr>
                <a:spLocks noChangeShapeType="1"/>
              </p:cNvSpPr>
              <p:nvPr/>
            </p:nvSpPr>
            <p:spPr bwMode="auto">
              <a:xfrm>
                <a:off x="1166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3" name="Rectangle 37"/>
              <p:cNvSpPr>
                <a:spLocks noChangeArrowheads="1"/>
              </p:cNvSpPr>
              <p:nvPr/>
            </p:nvSpPr>
            <p:spPr bwMode="auto">
              <a:xfrm>
                <a:off x="1056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9" name="Group 38"/>
            <p:cNvGrpSpPr/>
            <p:nvPr/>
          </p:nvGrpSpPr>
          <p:grpSpPr bwMode="auto">
            <a:xfrm>
              <a:off x="1872" y="1392"/>
              <a:ext cx="808" cy="1360"/>
              <a:chOff x="1998" y="1210"/>
              <a:chExt cx="808" cy="1360"/>
            </a:xfrm>
          </p:grpSpPr>
          <p:sp>
            <p:nvSpPr>
              <p:cNvPr id="362535" name="Rectangle 39"/>
              <p:cNvSpPr>
                <a:spLocks noChangeArrowheads="1"/>
              </p:cNvSpPr>
              <p:nvPr/>
            </p:nvSpPr>
            <p:spPr bwMode="auto">
              <a:xfrm>
                <a:off x="1998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36" name="Line 40"/>
              <p:cNvSpPr>
                <a:spLocks noChangeShapeType="1"/>
              </p:cNvSpPr>
              <p:nvPr/>
            </p:nvSpPr>
            <p:spPr bwMode="auto">
              <a:xfrm>
                <a:off x="2089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7" name="Line 41"/>
              <p:cNvSpPr>
                <a:spLocks noChangeShapeType="1"/>
              </p:cNvSpPr>
              <p:nvPr/>
            </p:nvSpPr>
            <p:spPr bwMode="auto">
              <a:xfrm>
                <a:off x="2316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8" name="Line 42"/>
              <p:cNvSpPr>
                <a:spLocks noChangeShapeType="1"/>
              </p:cNvSpPr>
              <p:nvPr/>
            </p:nvSpPr>
            <p:spPr bwMode="auto">
              <a:xfrm>
                <a:off x="2543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39" name="Line 43"/>
              <p:cNvSpPr>
                <a:spLocks noChangeShapeType="1"/>
              </p:cNvSpPr>
              <p:nvPr/>
            </p:nvSpPr>
            <p:spPr bwMode="auto">
              <a:xfrm>
                <a:off x="2155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0" name="Rectangle 44"/>
              <p:cNvSpPr>
                <a:spLocks noChangeArrowheads="1"/>
              </p:cNvSpPr>
              <p:nvPr/>
            </p:nvSpPr>
            <p:spPr bwMode="auto">
              <a:xfrm>
                <a:off x="2064" y="227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2541" name="Text Box 45"/>
              <p:cNvSpPr txBox="1">
                <a:spLocks noChangeArrowheads="1"/>
              </p:cNvSpPr>
              <p:nvPr/>
            </p:nvSpPr>
            <p:spPr bwMode="auto">
              <a:xfrm>
                <a:off x="2044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  <p:sp>
            <p:nvSpPr>
              <p:cNvPr id="362542" name="Line 46"/>
              <p:cNvSpPr>
                <a:spLocks noChangeShapeType="1"/>
              </p:cNvSpPr>
              <p:nvPr/>
            </p:nvSpPr>
            <p:spPr bwMode="auto">
              <a:xfrm>
                <a:off x="2510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3" name="Rectangle 47"/>
              <p:cNvSpPr>
                <a:spLocks noChangeArrowheads="1"/>
              </p:cNvSpPr>
              <p:nvPr/>
            </p:nvSpPr>
            <p:spPr bwMode="auto">
              <a:xfrm>
                <a:off x="2400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10" name="Group 48"/>
            <p:cNvGrpSpPr/>
            <p:nvPr/>
          </p:nvGrpSpPr>
          <p:grpSpPr bwMode="auto">
            <a:xfrm>
              <a:off x="3183" y="1392"/>
              <a:ext cx="801" cy="1360"/>
              <a:chOff x="3087" y="1210"/>
              <a:chExt cx="801" cy="1360"/>
            </a:xfrm>
          </p:grpSpPr>
          <p:sp>
            <p:nvSpPr>
              <p:cNvPr id="362545" name="Rectangle 49"/>
              <p:cNvSpPr>
                <a:spLocks noChangeArrowheads="1"/>
              </p:cNvSpPr>
              <p:nvPr/>
            </p:nvSpPr>
            <p:spPr bwMode="auto">
              <a:xfrm>
                <a:off x="3168" y="227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:endParaRPr lang="en-US" altLang="zh-CN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362546" name="Rectangle 50"/>
              <p:cNvSpPr>
                <a:spLocks noChangeArrowheads="1"/>
              </p:cNvSpPr>
              <p:nvPr/>
            </p:nvSpPr>
            <p:spPr bwMode="auto">
              <a:xfrm>
                <a:off x="3087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2547" name="Line 51"/>
              <p:cNvSpPr>
                <a:spLocks noChangeShapeType="1"/>
              </p:cNvSpPr>
              <p:nvPr/>
            </p:nvSpPr>
            <p:spPr bwMode="auto">
              <a:xfrm>
                <a:off x="3178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8" name="Line 52"/>
              <p:cNvSpPr>
                <a:spLocks noChangeShapeType="1"/>
              </p:cNvSpPr>
              <p:nvPr/>
            </p:nvSpPr>
            <p:spPr bwMode="auto">
              <a:xfrm>
                <a:off x="3405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49" name="Line 53"/>
              <p:cNvSpPr>
                <a:spLocks noChangeShapeType="1"/>
              </p:cNvSpPr>
              <p:nvPr/>
            </p:nvSpPr>
            <p:spPr bwMode="auto">
              <a:xfrm>
                <a:off x="3632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0" name="Line 54"/>
              <p:cNvSpPr>
                <a:spLocks noChangeShapeType="1"/>
              </p:cNvSpPr>
              <p:nvPr/>
            </p:nvSpPr>
            <p:spPr bwMode="auto">
              <a:xfrm>
                <a:off x="3304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1" name="Text Box 55"/>
              <p:cNvSpPr txBox="1">
                <a:spLocks noChangeArrowheads="1"/>
              </p:cNvSpPr>
              <p:nvPr/>
            </p:nvSpPr>
            <p:spPr bwMode="auto">
              <a:xfrm>
                <a:off x="3177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  <p:sp>
            <p:nvSpPr>
              <p:cNvPr id="362552" name="Line 56"/>
              <p:cNvSpPr>
                <a:spLocks noChangeShapeType="1"/>
              </p:cNvSpPr>
              <p:nvPr/>
            </p:nvSpPr>
            <p:spPr bwMode="auto">
              <a:xfrm>
                <a:off x="3592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3" name="Rectangle 57"/>
              <p:cNvSpPr>
                <a:spLocks noChangeArrowheads="1"/>
              </p:cNvSpPr>
              <p:nvPr/>
            </p:nvSpPr>
            <p:spPr bwMode="auto">
              <a:xfrm>
                <a:off x="3482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11" name="Group 58"/>
            <p:cNvGrpSpPr/>
            <p:nvPr/>
          </p:nvGrpSpPr>
          <p:grpSpPr bwMode="auto">
            <a:xfrm>
              <a:off x="1104" y="1382"/>
              <a:ext cx="864" cy="1056"/>
              <a:chOff x="1152" y="1200"/>
              <a:chExt cx="864" cy="1056"/>
            </a:xfrm>
          </p:grpSpPr>
          <p:sp>
            <p:nvSpPr>
              <p:cNvPr id="362555" name="Line 59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6" name="Line 60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57" name="Line 61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62"/>
            <p:cNvGrpSpPr/>
            <p:nvPr/>
          </p:nvGrpSpPr>
          <p:grpSpPr bwMode="auto">
            <a:xfrm>
              <a:off x="2400" y="1392"/>
              <a:ext cx="864" cy="1056"/>
              <a:chOff x="1152" y="1200"/>
              <a:chExt cx="864" cy="1056"/>
            </a:xfrm>
          </p:grpSpPr>
          <p:sp>
            <p:nvSpPr>
              <p:cNvPr id="362559" name="Line 63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0" name="Line 64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1" name="Line 65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66"/>
            <p:cNvGrpSpPr/>
            <p:nvPr/>
          </p:nvGrpSpPr>
          <p:grpSpPr bwMode="auto">
            <a:xfrm>
              <a:off x="3696" y="1382"/>
              <a:ext cx="864" cy="1056"/>
              <a:chOff x="1152" y="1200"/>
              <a:chExt cx="864" cy="1056"/>
            </a:xfrm>
          </p:grpSpPr>
          <p:sp>
            <p:nvSpPr>
              <p:cNvPr id="362563" name="Line 67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4" name="Line 68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565" name="Line 69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62566" name="Rectangle 70"/>
          <p:cNvSpPr>
            <a:spLocks noChangeArrowheads="1"/>
          </p:cNvSpPr>
          <p:nvPr/>
        </p:nvSpPr>
        <p:spPr bwMode="auto">
          <a:xfrm>
            <a:off x="762000" y="5734050"/>
            <a:ext cx="746069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级。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6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71400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7415-6800-490B-A5D8-C52007053D19}" type="slidenum">
              <a:rPr lang="en-US" altLang="zh-CN"/>
            </a:fld>
            <a:endParaRPr lang="en-US" altLang="zh-CN"/>
          </a:p>
        </p:txBody>
      </p:sp>
      <p:graphicFrame>
        <p:nvGraphicFramePr>
          <p:cNvPr id="359427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12838" y="1447800"/>
          <a:ext cx="3352800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922" name="Image" r:id="rId1" imgW="5142230" imgH="7010400" progId="">
                  <p:embed/>
                </p:oleObj>
              </mc:Choice>
              <mc:Fallback>
                <p:oleObj name="Image" r:id="rId1" imgW="5142230" imgH="7010400" progId="">
                  <p:embed/>
                  <p:pic>
                    <p:nvPicPr>
                      <p:cNvPr id="0" name="图片 8869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1447800"/>
                        <a:ext cx="3352800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42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141913" y="1447800"/>
          <a:ext cx="3333750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923" name="Image" r:id="rId3" imgW="5328920" imgH="7305675" progId="">
                  <p:embed/>
                </p:oleObj>
              </mc:Choice>
              <mc:Fallback>
                <p:oleObj name="Image" r:id="rId3" imgW="5328920" imgH="7305675" progId="">
                  <p:embed/>
                  <p:pic>
                    <p:nvPicPr>
                      <p:cNvPr id="0" name="图片 8869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1447800"/>
                        <a:ext cx="3333750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29" name="Rectangle 5"/>
          <p:cNvSpPr>
            <a:spLocks noChangeArrowheads="1"/>
          </p:cNvSpPr>
          <p:nvPr/>
        </p:nvSpPr>
        <p:spPr bwMode="auto">
          <a:xfrm>
            <a:off x="838200" y="5943600"/>
            <a:ext cx="36215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9430" name="Rectangle 6"/>
          <p:cNvSpPr>
            <a:spLocks noChangeArrowheads="1"/>
          </p:cNvSpPr>
          <p:nvPr/>
        </p:nvSpPr>
        <p:spPr bwMode="auto">
          <a:xfrm>
            <a:off x="5105400" y="5943600"/>
            <a:ext cx="362310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的形成需要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59431" name="Rectangle 7"/>
          <p:cNvSpPr>
            <a:spLocks noChangeArrowheads="1"/>
          </p:cNvSpPr>
          <p:nvPr/>
        </p:nvSpPr>
        <p:spPr bwMode="auto">
          <a:xfrm>
            <a:off x="685800" y="1001762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四种形式的全加器（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4050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(c)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76056" y="4725144"/>
            <a:ext cx="70164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(d)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483768" y="3309432"/>
            <a:ext cx="388843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(c)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(d)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交叉串联更快！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8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107504" y="2636912"/>
            <a:ext cx="8928992" cy="3157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</a:t>
            </a:r>
            <a:r>
              <a:rPr lang="en-US" altLang="zh-CN" dirty="0"/>
              <a:t>4</a:t>
            </a:r>
            <a:r>
              <a:rPr lang="zh-CN" altLang="en-US" dirty="0"/>
              <a:t>位串行进位加法器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683568" y="1661899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(c)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(d)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两种一位加法器交叉串联，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经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级门延迟生成，不仅提高了速度，还节省了门的数量！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70"/>
          <p:cNvSpPr>
            <a:spLocks noChangeArrowheads="1"/>
          </p:cNvSpPr>
          <p:nvPr/>
        </p:nvSpPr>
        <p:spPr bwMode="auto">
          <a:xfrm>
            <a:off x="762000" y="5734050"/>
            <a:ext cx="746069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级。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>
            <a:off x="762000" y="4725144"/>
            <a:ext cx="530352" cy="694929"/>
          </a:xfrm>
          <a:prstGeom prst="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2" name="等腰三角形 11"/>
          <p:cNvSpPr/>
          <p:nvPr/>
        </p:nvSpPr>
        <p:spPr>
          <a:xfrm>
            <a:off x="2843808" y="4725144"/>
            <a:ext cx="530352" cy="694929"/>
          </a:xfrm>
          <a:prstGeom prst="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3" name="等腰三角形 12"/>
          <p:cNvSpPr/>
          <p:nvPr/>
        </p:nvSpPr>
        <p:spPr>
          <a:xfrm>
            <a:off x="5076056" y="4725144"/>
            <a:ext cx="530352" cy="694929"/>
          </a:xfrm>
          <a:prstGeom prst="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等腰三角形 13"/>
          <p:cNvSpPr/>
          <p:nvPr/>
        </p:nvSpPr>
        <p:spPr>
          <a:xfrm>
            <a:off x="7308304" y="4725144"/>
            <a:ext cx="530352" cy="694929"/>
          </a:xfrm>
          <a:prstGeom prst="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7236296" y="2924944"/>
            <a:ext cx="720080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(c)</a:t>
            </a:r>
            <a:endParaRPr lang="zh-CN" altLang="en-US" dirty="0"/>
          </a:p>
        </p:txBody>
      </p:sp>
      <p:sp>
        <p:nvSpPr>
          <p:cNvPr id="16" name="椭圆 15"/>
          <p:cNvSpPr/>
          <p:nvPr/>
        </p:nvSpPr>
        <p:spPr>
          <a:xfrm>
            <a:off x="5076056" y="2924944"/>
            <a:ext cx="720080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(d)</a:t>
            </a:r>
            <a:endParaRPr lang="zh-CN" altLang="en-US" dirty="0"/>
          </a:p>
        </p:txBody>
      </p:sp>
      <p:sp>
        <p:nvSpPr>
          <p:cNvPr id="17" name="椭圆 16"/>
          <p:cNvSpPr/>
          <p:nvPr/>
        </p:nvSpPr>
        <p:spPr>
          <a:xfrm>
            <a:off x="2883002" y="2924944"/>
            <a:ext cx="720080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(c)</a:t>
            </a:r>
            <a:endParaRPr lang="zh-CN" altLang="en-US" dirty="0"/>
          </a:p>
        </p:txBody>
      </p:sp>
      <p:sp>
        <p:nvSpPr>
          <p:cNvPr id="18" name="椭圆 17"/>
          <p:cNvSpPr/>
          <p:nvPr/>
        </p:nvSpPr>
        <p:spPr>
          <a:xfrm>
            <a:off x="722762" y="2924944"/>
            <a:ext cx="720080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(d)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168041" y="4816900"/>
                <a:ext cx="280526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zh-CN" altLang="en-US" sz="18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041" y="4816900"/>
                <a:ext cx="280526" cy="277576"/>
              </a:xfrm>
              <a:prstGeom prst="rect">
                <a:avLst/>
              </a:prstGeom>
              <a:blipFill rotWithShape="1">
                <a:blip r:embed="rId2"/>
                <a:stretch>
                  <a:fillRect l="-57" t="-153" r="-11538" b="-17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2627784" y="4816900"/>
                <a:ext cx="280525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b="0" i="1" baseline="-2500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zh-CN" altLang="en-US" sz="1800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4816900"/>
                <a:ext cx="280525" cy="277576"/>
              </a:xfrm>
              <a:prstGeom prst="rect">
                <a:avLst/>
              </a:prstGeom>
              <a:blipFill rotWithShape="1">
                <a:blip r:embed="rId3"/>
                <a:stretch>
                  <a:fillRect l="-55" t="-153" r="-11541" b="-17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804574" y="47251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i="1" dirty="0"/>
              <a:t>C</a:t>
            </a:r>
            <a:r>
              <a:rPr lang="en-US" altLang="zh-CN" sz="1800" i="1" baseline="-25000" dirty="0"/>
              <a:t>2</a:t>
            </a:r>
            <a:endParaRPr lang="zh-CN" altLang="en-US" i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nimBg="1"/>
      <p:bldP spid="12" grpId="0" animBg="1"/>
      <p:bldP spid="13" grpId="0" animBg="1"/>
      <p:bldP spid="14" grpId="0" animBg="1"/>
      <p:bldP spid="11" grpId="0" animBg="1"/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2738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(18)</a:t>
            </a:r>
            <a:endParaRPr lang="en-US" altLang="zh-CN" sz="3600" dirty="0"/>
          </a:p>
        </p:txBody>
      </p:sp>
      <p:sp>
        <p:nvSpPr>
          <p:cNvPr id="7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16CC2-E46B-41E5-A5E6-349A184366A5}" type="slidenum">
              <a:rPr lang="en-US" altLang="zh-CN"/>
            </a:fld>
            <a:endParaRPr lang="en-US" altLang="zh-CN"/>
          </a:p>
        </p:txBody>
      </p:sp>
      <p:sp>
        <p:nvSpPr>
          <p:cNvPr id="3635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145778"/>
            <a:ext cx="7772400" cy="457200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四位串行进位加法器</a:t>
            </a:r>
            <a:endParaRPr lang="zh-CN" altLang="en-US" sz="3200" b="1" dirty="0"/>
          </a:p>
          <a:p>
            <a:pPr lvl="1"/>
            <a:r>
              <a:rPr lang="zh-CN" altLang="en-US" sz="2800" b="1" dirty="0"/>
              <a:t>问题：由于前一个加法完成</a:t>
            </a:r>
            <a:r>
              <a:rPr lang="zh-CN" altLang="en-US" sz="2800" b="1" dirty="0">
                <a:solidFill>
                  <a:srgbClr val="FF0000"/>
                </a:solidFill>
              </a:rPr>
              <a:t>并提供进位后</a:t>
            </a:r>
            <a:r>
              <a:rPr lang="zh-CN" altLang="en-US" sz="2800" b="1" dirty="0"/>
              <a:t>，下一个加法器才能开始运算。延迟长，速度慢。</a:t>
            </a:r>
            <a:endParaRPr lang="zh-CN" altLang="en-US" sz="2800" b="1" dirty="0"/>
          </a:p>
          <a:p>
            <a:pPr lvl="1"/>
            <a:r>
              <a:rPr lang="zh-CN" altLang="en-US" sz="2800" b="1" dirty="0"/>
              <a:t>位数越多，加法完成的时间越长。</a:t>
            </a:r>
            <a:endParaRPr lang="zh-CN" altLang="en-US" sz="2800" b="1" dirty="0"/>
          </a:p>
          <a:p>
            <a:pPr lvl="1"/>
            <a:r>
              <a:rPr lang="zh-CN" altLang="en-US" sz="2800" b="1" dirty="0"/>
              <a:t>是否可以用专用的进位电路提高速度？</a:t>
            </a:r>
            <a:endParaRPr lang="zh-CN" altLang="en-US" sz="2800" b="1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971551" y="4103710"/>
            <a:ext cx="7481889" cy="2611438"/>
            <a:chOff x="594" y="2552"/>
            <a:chExt cx="4713" cy="1645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112" y="2562"/>
              <a:ext cx="610" cy="291"/>
              <a:chOff x="2112" y="940"/>
              <a:chExt cx="610" cy="291"/>
            </a:xfrm>
          </p:grpSpPr>
          <p:sp>
            <p:nvSpPr>
              <p:cNvPr id="363526" name="Rectangle 6"/>
              <p:cNvSpPr>
                <a:spLocks noChangeArrowheads="1"/>
              </p:cNvSpPr>
              <p:nvPr/>
            </p:nvSpPr>
            <p:spPr bwMode="auto">
              <a:xfrm>
                <a:off x="2352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27" name="Rectangle 7"/>
              <p:cNvSpPr>
                <a:spLocks noChangeArrowheads="1"/>
              </p:cNvSpPr>
              <p:nvPr/>
            </p:nvSpPr>
            <p:spPr bwMode="auto">
              <a:xfrm>
                <a:off x="2112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4" name="Group 8"/>
            <p:cNvGrpSpPr/>
            <p:nvPr/>
          </p:nvGrpSpPr>
          <p:grpSpPr bwMode="auto">
            <a:xfrm>
              <a:off x="594" y="2552"/>
              <a:ext cx="834" cy="291"/>
              <a:chOff x="594" y="930"/>
              <a:chExt cx="834" cy="291"/>
            </a:xfrm>
          </p:grpSpPr>
          <p:sp>
            <p:nvSpPr>
              <p:cNvPr id="363529" name="Rectangle 9"/>
              <p:cNvSpPr>
                <a:spLocks noChangeArrowheads="1"/>
              </p:cNvSpPr>
              <p:nvPr/>
            </p:nvSpPr>
            <p:spPr bwMode="auto">
              <a:xfrm>
                <a:off x="1058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30" name="Rectangle 10"/>
              <p:cNvSpPr>
                <a:spLocks noChangeArrowheads="1"/>
              </p:cNvSpPr>
              <p:nvPr/>
            </p:nvSpPr>
            <p:spPr bwMode="auto">
              <a:xfrm>
                <a:off x="848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31" name="Rectangle 11"/>
              <p:cNvSpPr>
                <a:spLocks noChangeArrowheads="1"/>
              </p:cNvSpPr>
              <p:nvPr/>
            </p:nvSpPr>
            <p:spPr bwMode="auto">
              <a:xfrm>
                <a:off x="594" y="950"/>
                <a:ext cx="35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5" name="Group 12"/>
            <p:cNvGrpSpPr/>
            <p:nvPr/>
          </p:nvGrpSpPr>
          <p:grpSpPr bwMode="auto">
            <a:xfrm>
              <a:off x="4661" y="2562"/>
              <a:ext cx="642" cy="291"/>
              <a:chOff x="4368" y="940"/>
              <a:chExt cx="642" cy="291"/>
            </a:xfrm>
          </p:grpSpPr>
          <p:sp>
            <p:nvSpPr>
              <p:cNvPr id="363533" name="Rectangle 13"/>
              <p:cNvSpPr>
                <a:spLocks noChangeArrowheads="1"/>
              </p:cNvSpPr>
              <p:nvPr/>
            </p:nvSpPr>
            <p:spPr bwMode="auto">
              <a:xfrm>
                <a:off x="4640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34" name="Rectangle 14"/>
              <p:cNvSpPr>
                <a:spLocks noChangeArrowheads="1"/>
              </p:cNvSpPr>
              <p:nvPr/>
            </p:nvSpPr>
            <p:spPr bwMode="auto">
              <a:xfrm>
                <a:off x="4368" y="94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6" name="Group 15"/>
            <p:cNvGrpSpPr/>
            <p:nvPr/>
          </p:nvGrpSpPr>
          <p:grpSpPr bwMode="auto">
            <a:xfrm>
              <a:off x="4512" y="2832"/>
              <a:ext cx="795" cy="1365"/>
              <a:chOff x="4219" y="1210"/>
              <a:chExt cx="795" cy="1365"/>
            </a:xfrm>
          </p:grpSpPr>
          <p:sp>
            <p:nvSpPr>
              <p:cNvPr id="363536" name="Rectangle 16"/>
              <p:cNvSpPr>
                <a:spLocks noChangeArrowheads="1"/>
              </p:cNvSpPr>
              <p:nvPr/>
            </p:nvSpPr>
            <p:spPr bwMode="auto">
              <a:xfrm>
                <a:off x="4219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37" name="Line 17"/>
              <p:cNvSpPr>
                <a:spLocks noChangeShapeType="1"/>
              </p:cNvSpPr>
              <p:nvPr/>
            </p:nvSpPr>
            <p:spPr bwMode="auto">
              <a:xfrm>
                <a:off x="4310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38" name="Line 18"/>
              <p:cNvSpPr>
                <a:spLocks noChangeShapeType="1"/>
              </p:cNvSpPr>
              <p:nvPr/>
            </p:nvSpPr>
            <p:spPr bwMode="auto">
              <a:xfrm>
                <a:off x="4537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39" name="Line 19"/>
              <p:cNvSpPr>
                <a:spLocks noChangeShapeType="1"/>
              </p:cNvSpPr>
              <p:nvPr/>
            </p:nvSpPr>
            <p:spPr bwMode="auto">
              <a:xfrm>
                <a:off x="4764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40" name="Line 20"/>
              <p:cNvSpPr>
                <a:spLocks noChangeShapeType="1"/>
              </p:cNvSpPr>
              <p:nvPr/>
            </p:nvSpPr>
            <p:spPr bwMode="auto">
              <a:xfrm>
                <a:off x="4401" y="202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41" name="Line 21"/>
              <p:cNvSpPr>
                <a:spLocks noChangeShapeType="1"/>
              </p:cNvSpPr>
              <p:nvPr/>
            </p:nvSpPr>
            <p:spPr bwMode="auto">
              <a:xfrm>
                <a:off x="4718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42" name="Rectangle 22"/>
              <p:cNvSpPr>
                <a:spLocks noChangeArrowheads="1"/>
              </p:cNvSpPr>
              <p:nvPr/>
            </p:nvSpPr>
            <p:spPr bwMode="auto">
              <a:xfrm>
                <a:off x="4320" y="2284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43" name="Rectangle 23"/>
              <p:cNvSpPr>
                <a:spLocks noChangeArrowheads="1"/>
              </p:cNvSpPr>
              <p:nvPr/>
            </p:nvSpPr>
            <p:spPr bwMode="auto">
              <a:xfrm>
                <a:off x="4608" y="2304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  <p:sp>
            <p:nvSpPr>
              <p:cNvPr id="363544" name="Text Box 24"/>
              <p:cNvSpPr txBox="1">
                <a:spLocks noChangeArrowheads="1"/>
              </p:cNvSpPr>
              <p:nvPr/>
            </p:nvSpPr>
            <p:spPr bwMode="auto">
              <a:xfrm>
                <a:off x="4264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</p:grpSp>
        <p:grpSp>
          <p:nvGrpSpPr>
            <p:cNvPr id="7" name="Group 25"/>
            <p:cNvGrpSpPr/>
            <p:nvPr/>
          </p:nvGrpSpPr>
          <p:grpSpPr bwMode="auto">
            <a:xfrm>
              <a:off x="3408" y="2552"/>
              <a:ext cx="610" cy="291"/>
              <a:chOff x="3264" y="930"/>
              <a:chExt cx="610" cy="291"/>
            </a:xfrm>
          </p:grpSpPr>
          <p:sp>
            <p:nvSpPr>
              <p:cNvPr id="363546" name="Rectangle 26"/>
              <p:cNvSpPr>
                <a:spLocks noChangeArrowheads="1"/>
              </p:cNvSpPr>
              <p:nvPr/>
            </p:nvSpPr>
            <p:spPr bwMode="auto">
              <a:xfrm>
                <a:off x="3504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47" name="Rectangle 27"/>
              <p:cNvSpPr>
                <a:spLocks noChangeArrowheads="1"/>
              </p:cNvSpPr>
              <p:nvPr/>
            </p:nvSpPr>
            <p:spPr bwMode="auto">
              <a:xfrm>
                <a:off x="3264" y="930"/>
                <a:ext cx="37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p:grpSp>
        <p:grpSp>
          <p:nvGrpSpPr>
            <p:cNvPr id="8" name="Group 28"/>
            <p:cNvGrpSpPr/>
            <p:nvPr/>
          </p:nvGrpSpPr>
          <p:grpSpPr bwMode="auto">
            <a:xfrm>
              <a:off x="672" y="2822"/>
              <a:ext cx="790" cy="1360"/>
              <a:chOff x="672" y="1200"/>
              <a:chExt cx="790" cy="1360"/>
            </a:xfrm>
          </p:grpSpPr>
          <p:sp>
            <p:nvSpPr>
              <p:cNvPr id="363549" name="Rectangle 29"/>
              <p:cNvSpPr>
                <a:spLocks noChangeArrowheads="1"/>
              </p:cNvSpPr>
              <p:nvPr/>
            </p:nvSpPr>
            <p:spPr bwMode="auto">
              <a:xfrm>
                <a:off x="672" y="147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50" name="Line 30"/>
              <p:cNvSpPr>
                <a:spLocks noChangeShapeType="1"/>
              </p:cNvSpPr>
              <p:nvPr/>
            </p:nvSpPr>
            <p:spPr bwMode="auto">
              <a:xfrm>
                <a:off x="763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51" name="Line 31"/>
              <p:cNvSpPr>
                <a:spLocks noChangeShapeType="1"/>
              </p:cNvSpPr>
              <p:nvPr/>
            </p:nvSpPr>
            <p:spPr bwMode="auto">
              <a:xfrm>
                <a:off x="990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52" name="Line 32"/>
              <p:cNvSpPr>
                <a:spLocks noChangeShapeType="1"/>
              </p:cNvSpPr>
              <p:nvPr/>
            </p:nvSpPr>
            <p:spPr bwMode="auto">
              <a:xfrm>
                <a:off x="1217" y="120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53" name="Line 33"/>
              <p:cNvSpPr>
                <a:spLocks noChangeShapeType="1"/>
              </p:cNvSpPr>
              <p:nvPr/>
            </p:nvSpPr>
            <p:spPr bwMode="auto">
              <a:xfrm>
                <a:off x="856" y="201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54" name="Rectangle 34"/>
              <p:cNvSpPr>
                <a:spLocks noChangeArrowheads="1"/>
              </p:cNvSpPr>
              <p:nvPr/>
            </p:nvSpPr>
            <p:spPr bwMode="auto">
              <a:xfrm>
                <a:off x="720" y="226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55" name="Text Box 35"/>
              <p:cNvSpPr txBox="1">
                <a:spLocks noChangeArrowheads="1"/>
              </p:cNvSpPr>
              <p:nvPr/>
            </p:nvSpPr>
            <p:spPr bwMode="auto">
              <a:xfrm>
                <a:off x="717" y="151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 dirty="0"/>
                  <a:t>FULL Adder</a:t>
                </a:r>
                <a:endParaRPr lang="en-US" altLang="zh-CN" sz="2000" dirty="0"/>
              </a:p>
            </p:txBody>
          </p:sp>
          <p:sp>
            <p:nvSpPr>
              <p:cNvPr id="363556" name="Line 36"/>
              <p:cNvSpPr>
                <a:spLocks noChangeShapeType="1"/>
              </p:cNvSpPr>
              <p:nvPr/>
            </p:nvSpPr>
            <p:spPr bwMode="auto">
              <a:xfrm>
                <a:off x="1166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57" name="Rectangle 37"/>
              <p:cNvSpPr>
                <a:spLocks noChangeArrowheads="1"/>
              </p:cNvSpPr>
              <p:nvPr/>
            </p:nvSpPr>
            <p:spPr bwMode="auto">
              <a:xfrm>
                <a:off x="1056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9" name="Group 38"/>
            <p:cNvGrpSpPr/>
            <p:nvPr/>
          </p:nvGrpSpPr>
          <p:grpSpPr bwMode="auto">
            <a:xfrm>
              <a:off x="1920" y="2832"/>
              <a:ext cx="808" cy="1360"/>
              <a:chOff x="1998" y="1210"/>
              <a:chExt cx="808" cy="1360"/>
            </a:xfrm>
          </p:grpSpPr>
          <p:sp>
            <p:nvSpPr>
              <p:cNvPr id="363559" name="Rectangle 39"/>
              <p:cNvSpPr>
                <a:spLocks noChangeArrowheads="1"/>
              </p:cNvSpPr>
              <p:nvPr/>
            </p:nvSpPr>
            <p:spPr bwMode="auto">
              <a:xfrm>
                <a:off x="1998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60" name="Line 40"/>
              <p:cNvSpPr>
                <a:spLocks noChangeShapeType="1"/>
              </p:cNvSpPr>
              <p:nvPr/>
            </p:nvSpPr>
            <p:spPr bwMode="auto">
              <a:xfrm>
                <a:off x="2089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61" name="Line 41"/>
              <p:cNvSpPr>
                <a:spLocks noChangeShapeType="1"/>
              </p:cNvSpPr>
              <p:nvPr/>
            </p:nvSpPr>
            <p:spPr bwMode="auto">
              <a:xfrm>
                <a:off x="2316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62" name="Line 42"/>
              <p:cNvSpPr>
                <a:spLocks noChangeShapeType="1"/>
              </p:cNvSpPr>
              <p:nvPr/>
            </p:nvSpPr>
            <p:spPr bwMode="auto">
              <a:xfrm>
                <a:off x="2543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63" name="Line 43"/>
              <p:cNvSpPr>
                <a:spLocks noChangeShapeType="1"/>
              </p:cNvSpPr>
              <p:nvPr/>
            </p:nvSpPr>
            <p:spPr bwMode="auto">
              <a:xfrm>
                <a:off x="2155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64" name="Rectangle 44"/>
              <p:cNvSpPr>
                <a:spLocks noChangeArrowheads="1"/>
              </p:cNvSpPr>
              <p:nvPr/>
            </p:nvSpPr>
            <p:spPr bwMode="auto">
              <a:xfrm>
                <a:off x="2064" y="227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  <p:sp>
            <p:nvSpPr>
              <p:cNvPr id="363565" name="Text Box 45"/>
              <p:cNvSpPr txBox="1">
                <a:spLocks noChangeArrowheads="1"/>
              </p:cNvSpPr>
              <p:nvPr/>
            </p:nvSpPr>
            <p:spPr bwMode="auto">
              <a:xfrm>
                <a:off x="2044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/>
                  <a:t>FULL Adder</a:t>
                </a:r>
                <a:endParaRPr lang="en-US" altLang="zh-CN" sz="2000"/>
              </a:p>
            </p:txBody>
          </p:sp>
          <p:sp>
            <p:nvSpPr>
              <p:cNvPr id="363566" name="Line 46"/>
              <p:cNvSpPr>
                <a:spLocks noChangeShapeType="1"/>
              </p:cNvSpPr>
              <p:nvPr/>
            </p:nvSpPr>
            <p:spPr bwMode="auto">
              <a:xfrm>
                <a:off x="2510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67" name="Rectangle 47"/>
              <p:cNvSpPr>
                <a:spLocks noChangeArrowheads="1"/>
              </p:cNvSpPr>
              <p:nvPr/>
            </p:nvSpPr>
            <p:spPr bwMode="auto">
              <a:xfrm>
                <a:off x="2400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10" name="Group 48"/>
            <p:cNvGrpSpPr/>
            <p:nvPr/>
          </p:nvGrpSpPr>
          <p:grpSpPr bwMode="auto">
            <a:xfrm>
              <a:off x="3231" y="2832"/>
              <a:ext cx="801" cy="1360"/>
              <a:chOff x="3087" y="1210"/>
              <a:chExt cx="801" cy="1360"/>
            </a:xfrm>
          </p:grpSpPr>
          <p:sp>
            <p:nvSpPr>
              <p:cNvPr id="363569" name="Rectangle 49"/>
              <p:cNvSpPr>
                <a:spLocks noChangeArrowheads="1"/>
              </p:cNvSpPr>
              <p:nvPr/>
            </p:nvSpPr>
            <p:spPr bwMode="auto">
              <a:xfrm>
                <a:off x="3168" y="227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baseline="-30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>
                    <a:solidFill>
                      <a:srgbClr val="FFFF00"/>
                    </a:solidFill>
                  </a:rPr>
                  <a:t> </a:t>
                </a:r>
                <a:endParaRPr lang="en-US" altLang="zh-CN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363570" name="Rectangle 50"/>
              <p:cNvSpPr>
                <a:spLocks noChangeArrowheads="1"/>
              </p:cNvSpPr>
              <p:nvPr/>
            </p:nvSpPr>
            <p:spPr bwMode="auto">
              <a:xfrm>
                <a:off x="3087" y="1483"/>
                <a:ext cx="681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3571" name="Line 51"/>
              <p:cNvSpPr>
                <a:spLocks noChangeShapeType="1"/>
              </p:cNvSpPr>
              <p:nvPr/>
            </p:nvSpPr>
            <p:spPr bwMode="auto">
              <a:xfrm>
                <a:off x="3178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72" name="Line 52"/>
              <p:cNvSpPr>
                <a:spLocks noChangeShapeType="1"/>
              </p:cNvSpPr>
              <p:nvPr/>
            </p:nvSpPr>
            <p:spPr bwMode="auto">
              <a:xfrm>
                <a:off x="3405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73" name="Line 53"/>
              <p:cNvSpPr>
                <a:spLocks noChangeShapeType="1"/>
              </p:cNvSpPr>
              <p:nvPr/>
            </p:nvSpPr>
            <p:spPr bwMode="auto">
              <a:xfrm>
                <a:off x="3632" y="1210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74" name="Line 54"/>
              <p:cNvSpPr>
                <a:spLocks noChangeShapeType="1"/>
              </p:cNvSpPr>
              <p:nvPr/>
            </p:nvSpPr>
            <p:spPr bwMode="auto">
              <a:xfrm>
                <a:off x="3304" y="2027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75" name="Text Box 55"/>
              <p:cNvSpPr txBox="1">
                <a:spLocks noChangeArrowheads="1"/>
              </p:cNvSpPr>
              <p:nvPr/>
            </p:nvSpPr>
            <p:spPr bwMode="auto">
              <a:xfrm>
                <a:off x="3126" y="1528"/>
                <a:ext cx="590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/>
                  <a:t>FULL Adder</a:t>
                </a:r>
                <a:endParaRPr lang="en-US" altLang="zh-CN" sz="2000"/>
              </a:p>
            </p:txBody>
          </p:sp>
          <p:sp>
            <p:nvSpPr>
              <p:cNvPr id="363576" name="Line 56"/>
              <p:cNvSpPr>
                <a:spLocks noChangeShapeType="1"/>
              </p:cNvSpPr>
              <p:nvPr/>
            </p:nvSpPr>
            <p:spPr bwMode="auto">
              <a:xfrm>
                <a:off x="3592" y="2016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77" name="Rectangle 57"/>
              <p:cNvSpPr>
                <a:spLocks noChangeArrowheads="1"/>
              </p:cNvSpPr>
              <p:nvPr/>
            </p:nvSpPr>
            <p:spPr bwMode="auto">
              <a:xfrm>
                <a:off x="3482" y="2293"/>
                <a:ext cx="40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altLang="zh-CN"/>
                  <a:t> </a:t>
                </a:r>
                <a:endParaRPr lang="en-US" altLang="zh-CN"/>
              </a:p>
            </p:txBody>
          </p:sp>
        </p:grpSp>
        <p:grpSp>
          <p:nvGrpSpPr>
            <p:cNvPr id="11" name="Group 58"/>
            <p:cNvGrpSpPr/>
            <p:nvPr/>
          </p:nvGrpSpPr>
          <p:grpSpPr bwMode="auto">
            <a:xfrm>
              <a:off x="1152" y="2822"/>
              <a:ext cx="864" cy="1056"/>
              <a:chOff x="1152" y="1200"/>
              <a:chExt cx="864" cy="1056"/>
            </a:xfrm>
          </p:grpSpPr>
          <p:sp>
            <p:nvSpPr>
              <p:cNvPr id="363579" name="Line 59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80" name="Line 60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81" name="Line 61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62"/>
            <p:cNvGrpSpPr/>
            <p:nvPr/>
          </p:nvGrpSpPr>
          <p:grpSpPr bwMode="auto">
            <a:xfrm>
              <a:off x="2448" y="2822"/>
              <a:ext cx="864" cy="1056"/>
              <a:chOff x="1152" y="1200"/>
              <a:chExt cx="864" cy="1056"/>
            </a:xfrm>
          </p:grpSpPr>
          <p:sp>
            <p:nvSpPr>
              <p:cNvPr id="363583" name="Line 63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84" name="Line 64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85" name="Line 65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66"/>
            <p:cNvGrpSpPr/>
            <p:nvPr/>
          </p:nvGrpSpPr>
          <p:grpSpPr bwMode="auto">
            <a:xfrm>
              <a:off x="3744" y="2822"/>
              <a:ext cx="864" cy="1056"/>
              <a:chOff x="1152" y="1200"/>
              <a:chExt cx="864" cy="1056"/>
            </a:xfrm>
          </p:grpSpPr>
          <p:sp>
            <p:nvSpPr>
              <p:cNvPr id="363587" name="Line 67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88" name="Line 68"/>
              <p:cNvSpPr>
                <a:spLocks noChangeShapeType="1"/>
              </p:cNvSpPr>
              <p:nvPr/>
            </p:nvSpPr>
            <p:spPr bwMode="auto">
              <a:xfrm flipV="1">
                <a:off x="1632" y="120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589" name="Line 69"/>
              <p:cNvSpPr>
                <a:spLocks noChangeShapeType="1"/>
              </p:cNvSpPr>
              <p:nvPr/>
            </p:nvSpPr>
            <p:spPr bwMode="auto">
              <a:xfrm>
                <a:off x="1632" y="120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(19)</a:t>
            </a:r>
            <a:endParaRPr lang="en-US" altLang="zh-CN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EDFC-77D0-4364-B354-0A2B5D43998E}" type="slidenum">
              <a:rPr lang="en-US" altLang="zh-CN"/>
            </a:fld>
            <a:endParaRPr lang="en-US" altLang="zh-CN"/>
          </a:p>
        </p:txBody>
      </p:sp>
      <p:sp>
        <p:nvSpPr>
          <p:cNvPr id="3645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zh-CN" altLang="en-US" b="1" dirty="0"/>
              <a:t>一位加法器</a:t>
            </a:r>
            <a:endParaRPr lang="zh-CN" altLang="en-US" b="1" dirty="0"/>
          </a:p>
          <a:p>
            <a:pPr lvl="2"/>
            <a:r>
              <a:rPr lang="zh-CN" altLang="en-US" b="1" dirty="0"/>
              <a:t>四位串行进位加法器</a:t>
            </a:r>
            <a:endParaRPr lang="zh-CN" altLang="en-US" b="1" dirty="0"/>
          </a:p>
          <a:p>
            <a:pPr lvl="2"/>
            <a:r>
              <a:rPr lang="zh-CN" altLang="en-US" b="1" dirty="0">
                <a:solidFill>
                  <a:srgbClr val="7030A0"/>
                </a:solidFill>
              </a:rPr>
              <a:t>四位并行加法器</a:t>
            </a:r>
            <a:endParaRPr lang="zh-CN" altLang="en-US" b="1" dirty="0">
              <a:solidFill>
                <a:srgbClr val="7030A0"/>
              </a:solidFill>
            </a:endParaRPr>
          </a:p>
          <a:p>
            <a:pPr lvl="2"/>
            <a:r>
              <a:rPr lang="en-US" altLang="zh-CN" b="1" dirty="0"/>
              <a:t>16</a:t>
            </a:r>
            <a:r>
              <a:rPr lang="zh-CN" altLang="en-US" b="1" dirty="0"/>
              <a:t>位加法器</a:t>
            </a:r>
            <a:endParaRPr lang="zh-CN" altLang="en-US" b="1" dirty="0"/>
          </a:p>
          <a:p>
            <a:pPr lvl="1"/>
            <a:r>
              <a:rPr lang="zh-CN" altLang="en-US" b="1" dirty="0"/>
              <a:t>算术运算逻辑单元</a:t>
            </a:r>
            <a:endParaRPr lang="zh-CN" altLang="en-US" b="1" dirty="0"/>
          </a:p>
          <a:p>
            <a:pPr lvl="2"/>
            <a:r>
              <a:rPr lang="zh-CN" altLang="en-US" b="1" dirty="0"/>
              <a:t>四位算术逻辑运算单元</a:t>
            </a:r>
            <a:endParaRPr lang="en-US" altLang="zh-CN" b="1" dirty="0"/>
          </a:p>
          <a:p>
            <a:pPr lvl="1"/>
            <a:r>
              <a:rPr lang="zh-CN" altLang="en-US" dirty="0"/>
              <a:t>乘法器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(20)</a:t>
            </a:r>
            <a:endParaRPr lang="en-US" altLang="zh-CN" sz="3600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84C22-D756-43BA-8861-F09FC17F6D56}" type="slidenum">
              <a:rPr lang="en-US" altLang="zh-CN"/>
            </a:fld>
            <a:endParaRPr lang="en-US" altLang="zh-CN"/>
          </a:p>
        </p:txBody>
      </p:sp>
      <p:sp>
        <p:nvSpPr>
          <p:cNvPr id="3655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四位并行加法器、超前进位加法器</a:t>
            </a:r>
            <a:endParaRPr lang="zh-CN" altLang="en-US" dirty="0"/>
          </a:p>
          <a:p>
            <a:pPr lvl="1"/>
            <a:r>
              <a:rPr lang="zh-CN" altLang="en-US" dirty="0"/>
              <a:t>进位输入是由</a:t>
            </a:r>
            <a:r>
              <a:rPr lang="zh-CN" altLang="en-US" dirty="0">
                <a:solidFill>
                  <a:srgbClr val="FF0000"/>
                </a:solidFill>
              </a:rPr>
              <a:t>专门的“进位门”</a:t>
            </a:r>
            <a:r>
              <a:rPr lang="zh-CN" altLang="en-US" dirty="0"/>
              <a:t>综合所有低位的加数、被加数及最低位进入输入后提供的。</a:t>
            </a:r>
            <a:endParaRPr lang="zh-CN" altLang="en-US" dirty="0"/>
          </a:p>
          <a:p>
            <a:pPr lvl="1"/>
            <a:r>
              <a:rPr lang="zh-CN" altLang="en-US" dirty="0"/>
              <a:t>由于进位不是由前一级加法器提供的，所以快速加法器又称位超前进位加法器或并行进位加法器。</a:t>
            </a:r>
            <a:endParaRPr lang="zh-CN" altLang="en-US" dirty="0"/>
          </a:p>
        </p:txBody>
      </p:sp>
      <p:graphicFrame>
        <p:nvGraphicFramePr>
          <p:cNvPr id="365572" name="Object 4"/>
          <p:cNvGraphicFramePr>
            <a:graphicFrameLocks noChangeAspect="1"/>
          </p:cNvGraphicFramePr>
          <p:nvPr/>
        </p:nvGraphicFramePr>
        <p:xfrm>
          <a:off x="381000" y="3657600"/>
          <a:ext cx="8458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98" name="Image" r:id="rId1" imgW="15259685" imgH="3146425" progId="">
                  <p:embed/>
                </p:oleObj>
              </mc:Choice>
              <mc:Fallback>
                <p:oleObj name="Image" r:id="rId1" imgW="15259685" imgH="3146425" progId="">
                  <p:embed/>
                  <p:pic>
                    <p:nvPicPr>
                      <p:cNvPr id="0" name="图片 8540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657600"/>
                        <a:ext cx="8458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73" name="Rectangle 5"/>
          <p:cNvSpPr>
            <a:spLocks noChangeArrowheads="1"/>
          </p:cNvSpPr>
          <p:nvPr/>
        </p:nvSpPr>
        <p:spPr bwMode="auto">
          <a:xfrm>
            <a:off x="1753592" y="5924128"/>
            <a:ext cx="454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是怎样形成的？ 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5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(21)</a:t>
            </a:r>
            <a:endParaRPr lang="en-US" altLang="zh-CN" sz="3600" dirty="0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C620B-C227-47D1-9A10-608A695DE94B}" type="slidenum">
              <a:rPr lang="en-US" altLang="zh-CN"/>
            </a:fld>
            <a:endParaRPr lang="en-US" altLang="zh-CN"/>
          </a:p>
        </p:txBody>
      </p:sp>
      <p:graphicFrame>
        <p:nvGraphicFramePr>
          <p:cNvPr id="366596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762695" y="2492375"/>
          <a:ext cx="34496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360" name="公式" r:id="rId1" imgW="1562100" imgH="228600" progId="Equation.3">
                  <p:embed/>
                </p:oleObj>
              </mc:Choice>
              <mc:Fallback>
                <p:oleObj name="公式" r:id="rId1" imgW="1562100" imgH="228600" progId="Equation.3">
                  <p:embed/>
                  <p:pic>
                    <p:nvPicPr>
                      <p:cNvPr id="0" name="图片 85534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95" y="2492375"/>
                        <a:ext cx="3449637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6594" name="Rectangle 2"/>
          <p:cNvSpPr>
            <a:spLocks noChangeArrowheads="1"/>
          </p:cNvSpPr>
          <p:nvPr/>
        </p:nvSpPr>
        <p:spPr bwMode="auto">
          <a:xfrm>
            <a:off x="175592" y="126876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FFFF00"/>
              </a:buClr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四位并行加法器、超前进位加法器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FFFF00"/>
              </a:buClr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形成的条件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66597" name="Object 5"/>
          <p:cNvGraphicFramePr>
            <a:graphicFrameLocks noChangeAspect="1"/>
          </p:cNvGraphicFramePr>
          <p:nvPr/>
        </p:nvGraphicFramePr>
        <p:xfrm>
          <a:off x="769639" y="3140968"/>
          <a:ext cx="69707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361" name="公式" r:id="rId3" imgW="3263900" imgH="228600" progId="Equation.3">
                  <p:embed/>
                </p:oleObj>
              </mc:Choice>
              <mc:Fallback>
                <p:oleObj name="公式" r:id="rId3" imgW="3263900" imgH="228600" progId="Equation.3">
                  <p:embed/>
                  <p:pic>
                    <p:nvPicPr>
                      <p:cNvPr id="0" name="图片 855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39" y="3140968"/>
                        <a:ext cx="697071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598" name="Object 6"/>
          <p:cNvGraphicFramePr>
            <a:graphicFrameLocks noChangeAspect="1"/>
          </p:cNvGraphicFramePr>
          <p:nvPr/>
        </p:nvGraphicFramePr>
        <p:xfrm>
          <a:off x="811484" y="3789040"/>
          <a:ext cx="7000876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362" name="公式" r:id="rId5" imgW="3390900" imgH="482600" progId="Equation.3">
                  <p:embed/>
                </p:oleObj>
              </mc:Choice>
              <mc:Fallback>
                <p:oleObj name="公式" r:id="rId5" imgW="3390900" imgH="482600" progId="Equation.3">
                  <p:embed/>
                  <p:pic>
                    <p:nvPicPr>
                      <p:cNvPr id="0" name="图片 8553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484" y="3789040"/>
                        <a:ext cx="7000876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599" name="Object 7"/>
          <p:cNvGraphicFramePr>
            <a:graphicFrameLocks noChangeAspect="1"/>
          </p:cNvGraphicFramePr>
          <p:nvPr/>
        </p:nvGraphicFramePr>
        <p:xfrm>
          <a:off x="815106" y="4917752"/>
          <a:ext cx="6853238" cy="155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363" name="公式" r:id="rId7" imgW="3454400" imgH="723900" progId="Equation.3">
                  <p:embed/>
                </p:oleObj>
              </mc:Choice>
              <mc:Fallback>
                <p:oleObj name="公式" r:id="rId7" imgW="3454400" imgH="723900" progId="Equation.3">
                  <p:embed/>
                  <p:pic>
                    <p:nvPicPr>
                      <p:cNvPr id="0" name="图片 855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106" y="4917752"/>
                        <a:ext cx="6853238" cy="155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539552" y="2438400"/>
            <a:ext cx="8352928" cy="4038600"/>
            <a:chOff x="336" y="1584"/>
            <a:chExt cx="5088" cy="2640"/>
          </a:xfrm>
        </p:grpSpPr>
        <p:sp>
          <p:nvSpPr>
            <p:cNvPr id="366601" name="Rectangle 9"/>
            <p:cNvSpPr>
              <a:spLocks noChangeArrowheads="1"/>
            </p:cNvSpPr>
            <p:nvPr/>
          </p:nvSpPr>
          <p:spPr bwMode="auto">
            <a:xfrm>
              <a:off x="336" y="1584"/>
              <a:ext cx="5088" cy="26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02" name="Line 10"/>
            <p:cNvSpPr>
              <a:spLocks noChangeShapeType="1"/>
            </p:cNvSpPr>
            <p:nvPr/>
          </p:nvSpPr>
          <p:spPr bwMode="auto">
            <a:xfrm>
              <a:off x="336" y="2016"/>
              <a:ext cx="5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3" name="Line 11"/>
            <p:cNvSpPr>
              <a:spLocks noChangeShapeType="1"/>
            </p:cNvSpPr>
            <p:nvPr/>
          </p:nvSpPr>
          <p:spPr bwMode="auto">
            <a:xfrm>
              <a:off x="336" y="2448"/>
              <a:ext cx="5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604" name="Line 12"/>
            <p:cNvSpPr>
              <a:spLocks noChangeShapeType="1"/>
            </p:cNvSpPr>
            <p:nvPr/>
          </p:nvSpPr>
          <p:spPr bwMode="auto">
            <a:xfrm>
              <a:off x="336" y="3168"/>
              <a:ext cx="5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6605" name="Text Box 13"/>
          <p:cNvSpPr txBox="1">
            <a:spLocks noChangeArrowheads="1"/>
          </p:cNvSpPr>
          <p:nvPr/>
        </p:nvSpPr>
        <p:spPr bwMode="auto">
          <a:xfrm>
            <a:off x="6588224" y="248617"/>
            <a:ext cx="2286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24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=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4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称为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产生进位函数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4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+Y</a:t>
            </a:r>
            <a:r>
              <a:rPr lang="en-US" altLang="zh-CN" sz="24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称为</a:t>
            </a:r>
            <a:endParaRPr lang="zh-CN" altLang="en-US" sz="24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传递进位函数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6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(22)</a:t>
            </a:r>
            <a:endParaRPr lang="en-US" altLang="zh-CN" sz="3600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D9F38-8084-4392-9E4B-A0F2D4012DE4}" type="slidenum">
              <a:rPr lang="en-US" altLang="zh-CN"/>
            </a:fld>
            <a:endParaRPr lang="en-US" altLang="zh-CN"/>
          </a:p>
        </p:txBody>
      </p:sp>
      <p:sp>
        <p:nvSpPr>
          <p:cNvPr id="367619" name="Text Box 3"/>
          <p:cNvSpPr txBox="1">
            <a:spLocks noChangeArrowheads="1"/>
          </p:cNvSpPr>
          <p:nvPr/>
        </p:nvSpPr>
        <p:spPr bwMode="auto">
          <a:xfrm>
            <a:off x="762000" y="2743200"/>
            <a:ext cx="176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化简，得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67620" name="Object 4"/>
          <p:cNvGraphicFramePr>
            <a:graphicFrameLocks noChangeAspect="1"/>
          </p:cNvGraphicFramePr>
          <p:nvPr/>
        </p:nvGraphicFramePr>
        <p:xfrm>
          <a:off x="2589213" y="3505200"/>
          <a:ext cx="384968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299" name="公式" r:id="rId1" imgW="1587500" imgH="279400" progId="Equation.3">
                  <p:embed/>
                </p:oleObj>
              </mc:Choice>
              <mc:Fallback>
                <p:oleObj name="公式" r:id="rId1" imgW="1587500" imgH="279400" progId="Equation.3">
                  <p:embed/>
                  <p:pic>
                    <p:nvPicPr>
                      <p:cNvPr id="0" name="图片 856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3505200"/>
                        <a:ext cx="3849687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1" name="Object 5"/>
          <p:cNvGraphicFramePr>
            <a:graphicFrameLocks noChangeAspect="1"/>
          </p:cNvGraphicFramePr>
          <p:nvPr/>
        </p:nvGraphicFramePr>
        <p:xfrm>
          <a:off x="1739900" y="2057400"/>
          <a:ext cx="57610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300" name="公式" r:id="rId3" imgW="2374900" imgH="228600" progId="Equation.3">
                  <p:embed/>
                </p:oleObj>
              </mc:Choice>
              <mc:Fallback>
                <p:oleObj name="公式" r:id="rId3" imgW="2374900" imgH="228600" progId="Equation.3">
                  <p:embed/>
                  <p:pic>
                    <p:nvPicPr>
                      <p:cNvPr id="0" name="图片 856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2057400"/>
                        <a:ext cx="5761038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2" name="AutoShape 6"/>
          <p:cNvSpPr>
            <a:spLocks noChangeArrowheads="1"/>
          </p:cNvSpPr>
          <p:nvPr/>
        </p:nvSpPr>
        <p:spPr bwMode="auto">
          <a:xfrm>
            <a:off x="4495800" y="2590800"/>
            <a:ext cx="228600" cy="9144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7623" name="AutoShape 7"/>
          <p:cNvSpPr>
            <a:spLocks noChangeArrowheads="1"/>
          </p:cNvSpPr>
          <p:nvPr/>
        </p:nvSpPr>
        <p:spPr bwMode="auto">
          <a:xfrm>
            <a:off x="4495800" y="4343400"/>
            <a:ext cx="228600" cy="9144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7624" name="Text Box 8"/>
          <p:cNvSpPr txBox="1">
            <a:spLocks noChangeArrowheads="1"/>
          </p:cNvSpPr>
          <p:nvPr/>
        </p:nvSpPr>
        <p:spPr bwMode="auto">
          <a:xfrm>
            <a:off x="990600" y="45720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改写为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67625" name="Object 9"/>
          <p:cNvGraphicFramePr>
            <a:graphicFrameLocks noChangeAspect="1"/>
          </p:cNvGraphicFramePr>
          <p:nvPr/>
        </p:nvGraphicFramePr>
        <p:xfrm>
          <a:off x="1803400" y="5334000"/>
          <a:ext cx="5602288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301" name="公式" r:id="rId5" imgW="2311400" imgH="279400" progId="Equation.3">
                  <p:embed/>
                </p:oleObj>
              </mc:Choice>
              <mc:Fallback>
                <p:oleObj name="公式" r:id="rId5" imgW="2311400" imgH="279400" progId="Equation.3">
                  <p:embed/>
                  <p:pic>
                    <p:nvPicPr>
                      <p:cNvPr id="0" name="图片 856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334000"/>
                        <a:ext cx="5602288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36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7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7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9" grpId="0" autoUpdateAnimBg="0"/>
      <p:bldP spid="367622" grpId="0" animBg="1"/>
      <p:bldP spid="367623" grpId="0" animBg="1"/>
      <p:bldP spid="36762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(23)</a:t>
            </a:r>
            <a:endParaRPr lang="en-US" altLang="zh-CN" sz="3600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D80C-0AA8-4C67-A2F3-BE16CFE7BE1F}" type="slidenum">
              <a:rPr lang="en-US" altLang="zh-CN"/>
            </a:fld>
            <a:endParaRPr lang="en-US" altLang="zh-CN"/>
          </a:p>
        </p:txBody>
      </p:sp>
      <p:graphicFrame>
        <p:nvGraphicFramePr>
          <p:cNvPr id="368643" name="Object 3"/>
          <p:cNvGraphicFramePr>
            <a:graphicFrameLocks noChangeAspect="1"/>
          </p:cNvGraphicFramePr>
          <p:nvPr/>
        </p:nvGraphicFramePr>
        <p:xfrm>
          <a:off x="1038225" y="1419225"/>
          <a:ext cx="69532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323" name="公式" r:id="rId1" imgW="3263900" imgH="482600" progId="Equation.3">
                  <p:embed/>
                </p:oleObj>
              </mc:Choice>
              <mc:Fallback>
                <p:oleObj name="公式" r:id="rId1" imgW="3263900" imgH="482600" progId="Equation.3">
                  <p:embed/>
                  <p:pic>
                    <p:nvPicPr>
                      <p:cNvPr id="0" name="图片 857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1419225"/>
                        <a:ext cx="6953250" cy="1089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44" name="Object 4"/>
          <p:cNvGraphicFramePr>
            <a:graphicFrameLocks noChangeAspect="1"/>
          </p:cNvGraphicFramePr>
          <p:nvPr/>
        </p:nvGraphicFramePr>
        <p:xfrm>
          <a:off x="809625" y="3733800"/>
          <a:ext cx="70532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324" name="公式" r:id="rId3" imgW="3302000" imgH="279400" progId="Equation.3">
                  <p:embed/>
                </p:oleObj>
              </mc:Choice>
              <mc:Fallback>
                <p:oleObj name="公式" r:id="rId3" imgW="3302000" imgH="279400" progId="Equation.3">
                  <p:embed/>
                  <p:pic>
                    <p:nvPicPr>
                      <p:cNvPr id="0" name="图片 857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3733800"/>
                        <a:ext cx="7053263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45" name="AutoShape 5"/>
          <p:cNvSpPr>
            <a:spLocks noChangeArrowheads="1"/>
          </p:cNvSpPr>
          <p:nvPr/>
        </p:nvSpPr>
        <p:spPr bwMode="auto">
          <a:xfrm>
            <a:off x="4038600" y="2743200"/>
            <a:ext cx="228600" cy="9144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8646" name="Object 6"/>
          <p:cNvGraphicFramePr>
            <a:graphicFrameLocks noChangeAspect="1"/>
          </p:cNvGraphicFramePr>
          <p:nvPr/>
        </p:nvGraphicFramePr>
        <p:xfrm>
          <a:off x="1436688" y="5343525"/>
          <a:ext cx="60039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325" name="公式" r:id="rId5" imgW="2819400" imgH="584200" progId="Equation.3">
                  <p:embed/>
                </p:oleObj>
              </mc:Choice>
              <mc:Fallback>
                <p:oleObj name="公式" r:id="rId5" imgW="2819400" imgH="584200" progId="Equation.3">
                  <p:embed/>
                  <p:pic>
                    <p:nvPicPr>
                      <p:cNvPr id="0" name="图片 857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5343525"/>
                        <a:ext cx="6003925" cy="1317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47" name="AutoShape 7"/>
          <p:cNvSpPr>
            <a:spLocks noChangeArrowheads="1"/>
          </p:cNvSpPr>
          <p:nvPr/>
        </p:nvSpPr>
        <p:spPr bwMode="auto">
          <a:xfrm>
            <a:off x="3962400" y="4419600"/>
            <a:ext cx="228600" cy="9144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6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5" grpId="0" animBg="1"/>
      <p:bldP spid="36864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E14BF-3779-4D6B-8675-84BCDE5B2C15}" type="slidenum">
              <a:rPr lang="en-US" altLang="zh-CN"/>
            </a:fld>
            <a:endParaRPr lang="en-US" altLang="zh-CN"/>
          </a:p>
        </p:txBody>
      </p:sp>
      <p:graphicFrame>
        <p:nvGraphicFramePr>
          <p:cNvPr id="369667" name="Object 3"/>
          <p:cNvGraphicFramePr>
            <a:graphicFrameLocks noChangeAspect="1"/>
          </p:cNvGraphicFramePr>
          <p:nvPr/>
        </p:nvGraphicFramePr>
        <p:xfrm>
          <a:off x="603250" y="568325"/>
          <a:ext cx="7000875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347" name="公式" r:id="rId1" imgW="3390900" imgH="723900" progId="Equation.3">
                  <p:embed/>
                </p:oleObj>
              </mc:Choice>
              <mc:Fallback>
                <p:oleObj name="公式" r:id="rId1" imgW="3390900" imgH="723900" progId="Equation.3">
                  <p:embed/>
                  <p:pic>
                    <p:nvPicPr>
                      <p:cNvPr id="0" name="图片 8583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568325"/>
                        <a:ext cx="7000875" cy="160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68" name="Object 4"/>
          <p:cNvGraphicFramePr>
            <a:graphicFrameLocks noChangeAspect="1"/>
          </p:cNvGraphicFramePr>
          <p:nvPr/>
        </p:nvGraphicFramePr>
        <p:xfrm>
          <a:off x="527050" y="3019425"/>
          <a:ext cx="710565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348" name="公式" r:id="rId3" imgW="3441700" imgH="584200" progId="Equation.3">
                  <p:embed/>
                </p:oleObj>
              </mc:Choice>
              <mc:Fallback>
                <p:oleObj name="公式" r:id="rId3" imgW="3441700" imgH="584200" progId="Equation.3">
                  <p:embed/>
                  <p:pic>
                    <p:nvPicPr>
                      <p:cNvPr id="0" name="图片 858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3019425"/>
                        <a:ext cx="7105650" cy="1293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69" name="AutoShape 5"/>
          <p:cNvSpPr>
            <a:spLocks noChangeArrowheads="1"/>
          </p:cNvSpPr>
          <p:nvPr/>
        </p:nvSpPr>
        <p:spPr bwMode="auto">
          <a:xfrm>
            <a:off x="3733800" y="2133600"/>
            <a:ext cx="228600" cy="9144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9670" name="Object 6"/>
          <p:cNvGraphicFramePr>
            <a:graphicFrameLocks noChangeAspect="1"/>
          </p:cNvGraphicFramePr>
          <p:nvPr/>
        </p:nvGraphicFramePr>
        <p:xfrm>
          <a:off x="527050" y="5257800"/>
          <a:ext cx="8548791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349" name="公式" r:id="rId5" imgW="4432300" imgH="584200" progId="Equation.3">
                  <p:embed/>
                </p:oleObj>
              </mc:Choice>
              <mc:Fallback>
                <p:oleObj name="公式" r:id="rId5" imgW="4432300" imgH="584200" progId="Equation.3">
                  <p:embed/>
                  <p:pic>
                    <p:nvPicPr>
                      <p:cNvPr id="0" name="图片 858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5257800"/>
                        <a:ext cx="8548791" cy="1292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671" name="AutoShape 7"/>
          <p:cNvSpPr>
            <a:spLocks noChangeArrowheads="1"/>
          </p:cNvSpPr>
          <p:nvPr/>
        </p:nvSpPr>
        <p:spPr bwMode="auto">
          <a:xfrm>
            <a:off x="3733800" y="4343400"/>
            <a:ext cx="228600" cy="9144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6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9" grpId="0" animBg="1"/>
      <p:bldP spid="36967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8106A-F78F-4742-9BC2-BB2FB43E2B88}" type="slidenum">
              <a:rPr lang="en-US" altLang="zh-CN"/>
            </a:fld>
            <a:endParaRPr lang="en-US" altLang="zh-CN"/>
          </a:p>
        </p:txBody>
      </p:sp>
      <p:graphicFrame>
        <p:nvGraphicFramePr>
          <p:cNvPr id="370690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838200" y="627063"/>
          <a:ext cx="7239000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292" name="公式" r:id="rId1" imgW="3454400" imgH="965200" progId="Equation.3">
                  <p:embed/>
                </p:oleObj>
              </mc:Choice>
              <mc:Fallback>
                <p:oleObj name="公式" r:id="rId1" imgW="3454400" imgH="965200" progId="Equation.3">
                  <p:embed/>
                  <p:pic>
                    <p:nvPicPr>
                      <p:cNvPr id="0" name="图片 85928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27063"/>
                        <a:ext cx="7239000" cy="202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691" name="AutoShape 3"/>
          <p:cNvSpPr>
            <a:spLocks noChangeArrowheads="1"/>
          </p:cNvSpPr>
          <p:nvPr/>
        </p:nvSpPr>
        <p:spPr bwMode="auto">
          <a:xfrm>
            <a:off x="4267200" y="2743200"/>
            <a:ext cx="228600" cy="9144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70692" name="Object 4"/>
          <p:cNvGraphicFramePr>
            <a:graphicFrameLocks noChangeAspect="1"/>
          </p:cNvGraphicFramePr>
          <p:nvPr/>
        </p:nvGraphicFramePr>
        <p:xfrm>
          <a:off x="723900" y="3838575"/>
          <a:ext cx="7469188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293" name="公式" r:id="rId3" imgW="3314700" imgH="889000" progId="Equation.3">
                  <p:embed/>
                </p:oleObj>
              </mc:Choice>
              <mc:Fallback>
                <p:oleObj name="公式" r:id="rId3" imgW="3314700" imgH="889000" progId="Equation.3">
                  <p:embed/>
                  <p:pic>
                    <p:nvPicPr>
                      <p:cNvPr id="0" name="图片 8592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3838575"/>
                        <a:ext cx="7469188" cy="200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3392-23F5-49E6-B920-78B18FC09B37}" type="slidenum">
              <a:rPr lang="en-US" altLang="zh-CN"/>
            </a:fld>
            <a:endParaRPr lang="en-US" altLang="zh-CN"/>
          </a:p>
        </p:txBody>
      </p:sp>
      <p:graphicFrame>
        <p:nvGraphicFramePr>
          <p:cNvPr id="371714" name="Object 2"/>
          <p:cNvGraphicFramePr>
            <a:graphicFrameLocks noChangeAspect="1"/>
          </p:cNvGraphicFramePr>
          <p:nvPr/>
        </p:nvGraphicFramePr>
        <p:xfrm>
          <a:off x="288354" y="2266968"/>
          <a:ext cx="882015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74" name="Image" r:id="rId1" imgW="13529310" imgH="6617335" progId="">
                  <p:embed/>
                </p:oleObj>
              </mc:Choice>
              <mc:Fallback>
                <p:oleObj name="Image" r:id="rId1" imgW="13529310" imgH="6617335" progId="">
                  <p:embed/>
                  <p:pic>
                    <p:nvPicPr>
                      <p:cNvPr id="0" name="图片 8605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54" y="2266968"/>
                        <a:ext cx="882015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1715" name="Text Box 3"/>
          <p:cNvSpPr txBox="1">
            <a:spLocks noChangeArrowheads="1"/>
          </p:cNvSpPr>
          <p:nvPr/>
        </p:nvSpPr>
        <p:spPr bwMode="auto">
          <a:xfrm>
            <a:off x="1258888" y="6092825"/>
            <a:ext cx="6842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延迟级数与位数无关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都是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;  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基本都是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71716" name="Object 4"/>
          <p:cNvGraphicFramePr>
            <a:graphicFrameLocks noChangeAspect="1"/>
          </p:cNvGraphicFramePr>
          <p:nvPr/>
        </p:nvGraphicFramePr>
        <p:xfrm>
          <a:off x="82550" y="152400"/>
          <a:ext cx="42545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75" name="公式" r:id="rId3" imgW="2311400" imgH="279400" progId="Equation.3">
                  <p:embed/>
                </p:oleObj>
              </mc:Choice>
              <mc:Fallback>
                <p:oleObj name="公式" r:id="rId3" imgW="2311400" imgH="279400" progId="Equation.3">
                  <p:embed/>
                  <p:pic>
                    <p:nvPicPr>
                      <p:cNvPr id="0" name="图片 8605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152400"/>
                        <a:ext cx="42545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17" name="Object 5"/>
          <p:cNvGraphicFramePr>
            <a:graphicFrameLocks noChangeAspect="1"/>
          </p:cNvGraphicFramePr>
          <p:nvPr/>
        </p:nvGraphicFramePr>
        <p:xfrm>
          <a:off x="82550" y="625475"/>
          <a:ext cx="74549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76" name="公式" r:id="rId5" imgW="4267200" imgH="279400" progId="Equation.3">
                  <p:embed/>
                </p:oleObj>
              </mc:Choice>
              <mc:Fallback>
                <p:oleObj name="公式" r:id="rId5" imgW="4267200" imgH="279400" progId="Equation.3">
                  <p:embed/>
                  <p:pic>
                    <p:nvPicPr>
                      <p:cNvPr id="0" name="图片 8605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625475"/>
                        <a:ext cx="74549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18" name="Object 6"/>
          <p:cNvGraphicFramePr>
            <a:graphicFrameLocks noChangeAspect="1"/>
          </p:cNvGraphicFramePr>
          <p:nvPr/>
        </p:nvGraphicFramePr>
        <p:xfrm>
          <a:off x="107504" y="1066800"/>
          <a:ext cx="744061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77" name="公式" r:id="rId7" imgW="4432300" imgH="279400" progId="Equation.3">
                  <p:embed/>
                </p:oleObj>
              </mc:Choice>
              <mc:Fallback>
                <p:oleObj name="公式" r:id="rId7" imgW="4432300" imgH="279400" progId="Equation.3">
                  <p:embed/>
                  <p:pic>
                    <p:nvPicPr>
                      <p:cNvPr id="0" name="图片 8605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066800"/>
                        <a:ext cx="7440612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19" name="Object 7"/>
          <p:cNvGraphicFramePr>
            <a:graphicFrameLocks noChangeAspect="1"/>
          </p:cNvGraphicFramePr>
          <p:nvPr/>
        </p:nvGraphicFramePr>
        <p:xfrm>
          <a:off x="128141" y="1595438"/>
          <a:ext cx="89217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78" name="公式" r:id="rId9" imgW="6299200" imgH="279400" progId="Equation.3">
                  <p:embed/>
                </p:oleObj>
              </mc:Choice>
              <mc:Fallback>
                <p:oleObj name="公式" r:id="rId9" imgW="6299200" imgH="279400" progId="Equation.3">
                  <p:embed/>
                  <p:pic>
                    <p:nvPicPr>
                      <p:cNvPr id="0" name="图片 8605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41" y="1595438"/>
                        <a:ext cx="8921750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2231454" y="3115816"/>
            <a:ext cx="533400" cy="457200"/>
            <a:chOff x="432" y="3840"/>
            <a:chExt cx="336" cy="288"/>
          </a:xfrm>
        </p:grpSpPr>
        <p:sp>
          <p:nvSpPr>
            <p:cNvPr id="371721" name="Text Box 9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1722" name="Line 10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11"/>
          <p:cNvGrpSpPr/>
          <p:nvPr/>
        </p:nvGrpSpPr>
        <p:grpSpPr bwMode="auto">
          <a:xfrm>
            <a:off x="1317054" y="3115816"/>
            <a:ext cx="533400" cy="457200"/>
            <a:chOff x="432" y="3840"/>
            <a:chExt cx="336" cy="288"/>
          </a:xfrm>
        </p:grpSpPr>
        <p:sp>
          <p:nvSpPr>
            <p:cNvPr id="371724" name="Text Box 12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1725" name="Line 13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14"/>
          <p:cNvGrpSpPr/>
          <p:nvPr/>
        </p:nvGrpSpPr>
        <p:grpSpPr bwMode="auto">
          <a:xfrm>
            <a:off x="4136454" y="3115816"/>
            <a:ext cx="533400" cy="457200"/>
            <a:chOff x="432" y="3840"/>
            <a:chExt cx="336" cy="288"/>
          </a:xfrm>
        </p:grpSpPr>
        <p:sp>
          <p:nvSpPr>
            <p:cNvPr id="371727" name="Text Box 15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1728" name="Line 16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5" name="Group 17"/>
          <p:cNvGrpSpPr/>
          <p:nvPr/>
        </p:nvGrpSpPr>
        <p:grpSpPr bwMode="auto">
          <a:xfrm>
            <a:off x="3222054" y="3115816"/>
            <a:ext cx="533400" cy="457200"/>
            <a:chOff x="432" y="3840"/>
            <a:chExt cx="336" cy="288"/>
          </a:xfrm>
        </p:grpSpPr>
        <p:sp>
          <p:nvSpPr>
            <p:cNvPr id="371730" name="Text Box 18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1731" name="Line 19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20"/>
          <p:cNvGrpSpPr/>
          <p:nvPr/>
        </p:nvGrpSpPr>
        <p:grpSpPr bwMode="auto">
          <a:xfrm>
            <a:off x="5965254" y="3115816"/>
            <a:ext cx="533400" cy="457200"/>
            <a:chOff x="432" y="3840"/>
            <a:chExt cx="336" cy="288"/>
          </a:xfrm>
        </p:grpSpPr>
        <p:sp>
          <p:nvSpPr>
            <p:cNvPr id="371733" name="Text Box 21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1734" name="Line 22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oup 23"/>
          <p:cNvGrpSpPr/>
          <p:nvPr/>
        </p:nvGrpSpPr>
        <p:grpSpPr bwMode="auto">
          <a:xfrm>
            <a:off x="5050854" y="3115816"/>
            <a:ext cx="533400" cy="457200"/>
            <a:chOff x="432" y="3840"/>
            <a:chExt cx="336" cy="288"/>
          </a:xfrm>
        </p:grpSpPr>
        <p:sp>
          <p:nvSpPr>
            <p:cNvPr id="371736" name="Text Box 24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1737" name="Line 25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371738" name="Text Box 26"/>
          <p:cNvSpPr txBox="1">
            <a:spLocks noChangeArrowheads="1"/>
          </p:cNvSpPr>
          <p:nvPr/>
        </p:nvSpPr>
        <p:spPr bwMode="auto">
          <a:xfrm>
            <a:off x="-20960" y="4797152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-25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1739" name="Text Box 27"/>
          <p:cNvSpPr txBox="1">
            <a:spLocks noChangeArrowheads="1"/>
          </p:cNvSpPr>
          <p:nvPr/>
        </p:nvSpPr>
        <p:spPr bwMode="auto">
          <a:xfrm>
            <a:off x="1526232" y="4797152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aseline="-25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1740" name="Text Box 28"/>
          <p:cNvSpPr txBox="1">
            <a:spLocks noChangeArrowheads="1"/>
          </p:cNvSpPr>
          <p:nvPr/>
        </p:nvSpPr>
        <p:spPr bwMode="auto">
          <a:xfrm>
            <a:off x="3507432" y="4797152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400" baseline="-25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1741" name="Text Box 29"/>
          <p:cNvSpPr txBox="1">
            <a:spLocks noChangeArrowheads="1"/>
          </p:cNvSpPr>
          <p:nvPr/>
        </p:nvSpPr>
        <p:spPr bwMode="auto">
          <a:xfrm>
            <a:off x="5451648" y="4797152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400" baseline="-25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1742" name="Rectangle 30"/>
          <p:cNvSpPr>
            <a:spLocks noChangeArrowheads="1"/>
          </p:cNvSpPr>
          <p:nvPr/>
        </p:nvSpPr>
        <p:spPr bwMode="auto">
          <a:xfrm>
            <a:off x="440432" y="2636912"/>
            <a:ext cx="8610600" cy="2088232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43" name="Rectangle 31"/>
          <p:cNvSpPr>
            <a:spLocks noChangeArrowheads="1"/>
          </p:cNvSpPr>
          <p:nvPr/>
        </p:nvSpPr>
        <p:spPr bwMode="auto">
          <a:xfrm>
            <a:off x="326454" y="4653136"/>
            <a:ext cx="7162800" cy="838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" name="Group 20"/>
          <p:cNvGrpSpPr/>
          <p:nvPr/>
        </p:nvGrpSpPr>
        <p:grpSpPr bwMode="auto">
          <a:xfrm>
            <a:off x="7899920" y="3115823"/>
            <a:ext cx="533400" cy="461963"/>
            <a:chOff x="432" y="3840"/>
            <a:chExt cx="336" cy="291"/>
          </a:xfrm>
        </p:grpSpPr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7" name="Group 23"/>
          <p:cNvGrpSpPr/>
          <p:nvPr/>
        </p:nvGrpSpPr>
        <p:grpSpPr bwMode="auto">
          <a:xfrm>
            <a:off x="6985520" y="3115823"/>
            <a:ext cx="533400" cy="461963"/>
            <a:chOff x="432" y="3840"/>
            <a:chExt cx="336" cy="291"/>
          </a:xfrm>
        </p:grpSpPr>
        <p:sp>
          <p:nvSpPr>
            <p:cNvPr id="38" name="Text Box 24"/>
            <p:cNvSpPr txBox="1">
              <a:spLocks noChangeArrowheads="1"/>
            </p:cNvSpPr>
            <p:nvPr/>
          </p:nvSpPr>
          <p:spPr bwMode="auto">
            <a:xfrm>
              <a:off x="432" y="3840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400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>
              <a:off x="432" y="388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7539880" y="4797152"/>
            <a:ext cx="5334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aseline="-250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400" baseline="-25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1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1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1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1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1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1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1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1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1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71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1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1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5" grpId="0" autoUpdateAnimBg="0"/>
      <p:bldP spid="371738" grpId="0" animBg="1" autoUpdateAnimBg="0"/>
      <p:bldP spid="371739" grpId="0" animBg="1" autoUpdateAnimBg="0"/>
      <p:bldP spid="371740" grpId="0" animBg="1" autoUpdateAnimBg="0"/>
      <p:bldP spid="371741" grpId="0" animBg="1" autoUpdateAnimBg="0"/>
      <p:bldP spid="371742" grpId="0" animBg="1"/>
      <p:bldP spid="371743" grpId="0" animBg="1"/>
      <p:bldP spid="40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(24)</a:t>
            </a:r>
            <a:endParaRPr lang="en-US" altLang="zh-CN" sz="3600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5ACC-3EF9-4464-9ACA-D443166258A2}" type="slidenum">
              <a:rPr lang="en-US" altLang="zh-CN"/>
            </a:fld>
            <a:endParaRPr lang="en-US" altLang="zh-CN"/>
          </a:p>
        </p:txBody>
      </p:sp>
      <p:sp>
        <p:nvSpPr>
          <p:cNvPr id="3727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四位并行加法器、超前进位加法器</a:t>
            </a:r>
            <a:endParaRPr lang="zh-CN" altLang="en-US" sz="3200" dirty="0"/>
          </a:p>
          <a:p>
            <a:pPr lvl="1"/>
            <a:r>
              <a:rPr lang="zh-CN" altLang="en-US" sz="2800" dirty="0"/>
              <a:t>进位输入是由</a:t>
            </a:r>
            <a:r>
              <a:rPr lang="zh-CN" altLang="en-US" sz="2800" dirty="0">
                <a:solidFill>
                  <a:srgbClr val="FF0000"/>
                </a:solidFill>
              </a:rPr>
              <a:t>专门的“进位门”</a:t>
            </a:r>
            <a:r>
              <a:rPr lang="zh-CN" altLang="en-US" sz="2800" dirty="0"/>
              <a:t>综合所有低位的加数、被加数及最低位进位输入后提供的。</a:t>
            </a:r>
            <a:endParaRPr lang="zh-CN" altLang="en-US" sz="2800" dirty="0"/>
          </a:p>
          <a:p>
            <a:pPr lvl="1"/>
            <a:r>
              <a:rPr lang="zh-CN" altLang="en-US" sz="2800" dirty="0"/>
              <a:t>由于进位不是由前一级加法器提供的，所以四位并行加法器又称超前进位加法器或快速加法器。</a:t>
            </a:r>
            <a:endParaRPr lang="zh-CN" altLang="en-US" sz="2800" dirty="0"/>
          </a:p>
        </p:txBody>
      </p:sp>
      <p:graphicFrame>
        <p:nvGraphicFramePr>
          <p:cNvPr id="372740" name="Object 4"/>
          <p:cNvGraphicFramePr>
            <a:graphicFrameLocks noChangeAspect="1"/>
          </p:cNvGraphicFramePr>
          <p:nvPr/>
        </p:nvGraphicFramePr>
        <p:xfrm>
          <a:off x="683568" y="4653136"/>
          <a:ext cx="8155632" cy="1983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266" name="Image" r:id="rId1" imgW="15259685" imgH="3146425" progId="">
                  <p:embed/>
                </p:oleObj>
              </mc:Choice>
              <mc:Fallback>
                <p:oleObj name="Image" r:id="rId1" imgW="15259685" imgH="3146425" progId="">
                  <p:embed/>
                  <p:pic>
                    <p:nvPicPr>
                      <p:cNvPr id="0" name="图片 861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653136"/>
                        <a:ext cx="8155632" cy="1983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351E-66D6-4935-97D0-37CE00794035}" type="slidenum">
              <a:rPr lang="en-US" altLang="zh-CN"/>
            </a:fld>
            <a:endParaRPr lang="en-US" altLang="zh-CN"/>
          </a:p>
        </p:txBody>
      </p:sp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(25)</a:t>
            </a:r>
            <a:endParaRPr lang="en-US" altLang="zh-CN" sz="3600" dirty="0"/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zh-CN" altLang="en-US" b="1" dirty="0"/>
              <a:t>一位加法器</a:t>
            </a:r>
            <a:endParaRPr lang="zh-CN" altLang="en-US" b="1" dirty="0"/>
          </a:p>
          <a:p>
            <a:pPr lvl="2"/>
            <a:r>
              <a:rPr lang="zh-CN" altLang="en-US" b="1" dirty="0"/>
              <a:t>四位串行进位加法器</a:t>
            </a:r>
            <a:endParaRPr lang="zh-CN" altLang="en-US" b="1" dirty="0"/>
          </a:p>
          <a:p>
            <a:pPr lvl="2"/>
            <a:r>
              <a:rPr lang="zh-CN" altLang="en-US" b="1" dirty="0"/>
              <a:t>四位并行加法器</a:t>
            </a:r>
            <a:endParaRPr lang="zh-CN" altLang="en-US" b="1" dirty="0"/>
          </a:p>
          <a:p>
            <a:pPr lvl="2"/>
            <a:r>
              <a:rPr lang="en-US" altLang="zh-CN" b="1" dirty="0">
                <a:solidFill>
                  <a:srgbClr val="7030A0"/>
                </a:solidFill>
              </a:rPr>
              <a:t>16</a:t>
            </a:r>
            <a:r>
              <a:rPr lang="zh-CN" altLang="en-US" b="1" dirty="0">
                <a:solidFill>
                  <a:srgbClr val="7030A0"/>
                </a:solidFill>
              </a:rPr>
              <a:t>位加法器</a:t>
            </a:r>
            <a:endParaRPr lang="zh-CN" altLang="en-US" b="1" dirty="0">
              <a:solidFill>
                <a:srgbClr val="7030A0"/>
              </a:solidFill>
            </a:endParaRPr>
          </a:p>
          <a:p>
            <a:pPr lvl="1"/>
            <a:r>
              <a:rPr lang="zh-CN" altLang="en-US" b="1" dirty="0"/>
              <a:t>算术运算逻辑单元</a:t>
            </a:r>
            <a:endParaRPr lang="zh-CN" altLang="en-US" b="1" dirty="0"/>
          </a:p>
          <a:p>
            <a:pPr lvl="2"/>
            <a:r>
              <a:rPr lang="zh-CN" altLang="en-US" b="1" dirty="0"/>
              <a:t>四位算术逻辑运算单元</a:t>
            </a:r>
            <a:endParaRPr lang="en-US" altLang="zh-CN" b="1" dirty="0"/>
          </a:p>
          <a:p>
            <a:pPr lvl="1"/>
            <a:r>
              <a:rPr lang="zh-CN" altLang="en-US" dirty="0"/>
              <a:t>乘法器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BC5E-7BF2-452F-866E-4F3369EF4428}" type="slidenum">
              <a:rPr lang="en-US" altLang="zh-CN"/>
            </a:fld>
            <a:endParaRPr lang="en-US" altLang="zh-CN"/>
          </a:p>
        </p:txBody>
      </p:sp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(26)</a:t>
            </a:r>
            <a:endParaRPr lang="en-US" altLang="zh-CN" sz="3600" dirty="0"/>
          </a:p>
        </p:txBody>
      </p:sp>
      <p:graphicFrame>
        <p:nvGraphicFramePr>
          <p:cNvPr id="375811" name="Object 3"/>
          <p:cNvGraphicFramePr>
            <a:graphicFrameLocks noChangeAspect="1"/>
          </p:cNvGraphicFramePr>
          <p:nvPr/>
        </p:nvGraphicFramePr>
        <p:xfrm>
          <a:off x="990600" y="2786058"/>
          <a:ext cx="7704138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292" name="Image" r:id="rId1" imgW="14413865" imgH="3667125" progId="">
                  <p:embed/>
                </p:oleObj>
              </mc:Choice>
              <mc:Fallback>
                <p:oleObj name="Image" r:id="rId1" imgW="14413865" imgH="3667125" progId="">
                  <p:embed/>
                  <p:pic>
                    <p:nvPicPr>
                      <p:cNvPr id="0" name="图片 862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86058"/>
                        <a:ext cx="7704138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58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153400" cy="4648200"/>
          </a:xfrm>
          <a:noFill/>
        </p:spPr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3200" b="1" dirty="0"/>
              <a:t>16</a:t>
            </a:r>
            <a:r>
              <a:rPr lang="zh-CN" altLang="en-US" sz="3200" b="1" dirty="0"/>
              <a:t>位串行加法器和</a:t>
            </a:r>
            <a:r>
              <a:rPr lang="en-US" altLang="zh-CN" sz="3200" b="1" dirty="0"/>
              <a:t>16</a:t>
            </a:r>
            <a:r>
              <a:rPr lang="zh-CN" altLang="en-US" sz="3200" b="1" dirty="0"/>
              <a:t>位并行加法器</a:t>
            </a:r>
            <a:endParaRPr lang="zh-CN" altLang="en-US" sz="3200" b="1" dirty="0"/>
          </a:p>
          <a:p>
            <a:pPr lvl="1"/>
            <a:r>
              <a:rPr lang="en-US" altLang="zh-CN" b="1" dirty="0"/>
              <a:t>16</a:t>
            </a:r>
            <a:r>
              <a:rPr lang="zh-CN" altLang="en-US" b="1" dirty="0"/>
              <a:t>位串行加法器</a:t>
            </a:r>
            <a:endParaRPr lang="zh-CN" altLang="en-US" b="1" dirty="0"/>
          </a:p>
          <a:p>
            <a:pPr lvl="2"/>
            <a:r>
              <a:rPr lang="zh-CN" altLang="en-US" b="1" dirty="0"/>
              <a:t>用</a:t>
            </a:r>
            <a:r>
              <a:rPr lang="en-US" altLang="zh-CN" b="1" dirty="0"/>
              <a:t>4</a:t>
            </a:r>
            <a:r>
              <a:rPr lang="zh-CN" altLang="en-US" b="1" dirty="0"/>
              <a:t>片四位并行加法器组成</a:t>
            </a:r>
            <a:r>
              <a:rPr lang="en-US" altLang="zh-CN" b="1" dirty="0"/>
              <a:t>16</a:t>
            </a:r>
            <a:r>
              <a:rPr lang="zh-CN" altLang="en-US" b="1" dirty="0"/>
              <a:t>位快速加法器 </a:t>
            </a:r>
            <a:endParaRPr lang="zh-CN" altLang="en-US" b="1" dirty="0"/>
          </a:p>
        </p:txBody>
      </p:sp>
      <p:sp>
        <p:nvSpPr>
          <p:cNvPr id="375813" name="Rectangle 5"/>
          <p:cNvSpPr>
            <a:spLocks noChangeArrowheads="1"/>
          </p:cNvSpPr>
          <p:nvPr/>
        </p:nvSpPr>
        <p:spPr bwMode="auto">
          <a:xfrm>
            <a:off x="428596" y="4786322"/>
            <a:ext cx="82153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此时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片内虽然是并行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但片间进位仍是串行逐片传递，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产生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的延迟各是几级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?  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要几级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?(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P136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5814" name="Rectangle 6"/>
          <p:cNvSpPr>
            <a:spLocks noChangeArrowheads="1"/>
          </p:cNvSpPr>
          <p:nvPr/>
        </p:nvSpPr>
        <p:spPr bwMode="auto">
          <a:xfrm>
            <a:off x="771857" y="5595971"/>
            <a:ext cx="758635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~F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~F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~F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级；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13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~F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r>
              <a:rPr lang="en-US" altLang="zh-CN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  C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=n/2</a:t>
            </a:r>
            <a:r>
              <a:rPr lang="zh-CN" altLang="en-US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级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32366" y="306896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/>
              <a:t>C</a:t>
            </a:r>
            <a:r>
              <a:rPr lang="en-US" altLang="zh-CN" sz="1400" i="1" baseline="-25000" dirty="0"/>
              <a:t>4</a:t>
            </a:r>
            <a:endParaRPr lang="zh-CN" altLang="en-US" sz="1800" i="1" baseline="-25000" dirty="0"/>
          </a:p>
        </p:txBody>
      </p:sp>
      <p:sp>
        <p:nvSpPr>
          <p:cNvPr id="10" name="文本框 9"/>
          <p:cNvSpPr txBox="1"/>
          <p:nvPr/>
        </p:nvSpPr>
        <p:spPr>
          <a:xfrm>
            <a:off x="6388750" y="3068960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/>
              <a:t>C</a:t>
            </a:r>
            <a:r>
              <a:rPr lang="en-US" altLang="zh-CN" sz="1400" i="1" baseline="-25000" dirty="0"/>
              <a:t>12</a:t>
            </a:r>
            <a:endParaRPr lang="zh-CN" altLang="en-US" sz="1800" i="1" baseline="-25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16016" y="306896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i="1" dirty="0"/>
              <a:t>C</a:t>
            </a:r>
            <a:r>
              <a:rPr lang="en-US" altLang="zh-CN" sz="1400" i="1" baseline="-25000" dirty="0"/>
              <a:t>8</a:t>
            </a:r>
            <a:endParaRPr lang="zh-CN" altLang="en-US" sz="1800" i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3" grpId="0" autoUpdateAnimBg="0"/>
      <p:bldP spid="375814" grpId="0" autoUpdateAnimBg="0"/>
      <p:bldP spid="8" grpId="0"/>
      <p:bldP spid="10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(27)</a:t>
            </a:r>
            <a:endParaRPr lang="en-US" altLang="zh-CN" sz="3600" dirty="0"/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72" y="1142984"/>
            <a:ext cx="8153400" cy="1428760"/>
          </a:xfrm>
        </p:spPr>
        <p:txBody>
          <a:bodyPr>
            <a:normAutofit fontScale="92500"/>
          </a:bodyPr>
          <a:lstStyle/>
          <a:p>
            <a:pPr lvl="1"/>
            <a:r>
              <a:rPr lang="en-US" altLang="zh-CN" b="1" dirty="0"/>
              <a:t>16</a:t>
            </a:r>
            <a:r>
              <a:rPr lang="zh-CN" altLang="en-US" b="1" dirty="0"/>
              <a:t>位并行进位加法器</a:t>
            </a:r>
            <a:r>
              <a:rPr lang="zh-CN" altLang="en-US" dirty="0"/>
              <a:t>：</a:t>
            </a:r>
            <a:endParaRPr lang="zh-CN" altLang="en-US" dirty="0"/>
          </a:p>
          <a:p>
            <a:pPr lvl="2">
              <a:buNone/>
            </a:pPr>
            <a:r>
              <a:rPr lang="zh-CN" altLang="en-US" b="1" dirty="0"/>
              <a:t>用类似四位并行加法器中</a:t>
            </a:r>
            <a:r>
              <a:rPr lang="en-US" altLang="zh-CN" b="1" dirty="0"/>
              <a:t>C1</a:t>
            </a:r>
            <a:r>
              <a:rPr lang="zh-CN" altLang="en-US" b="1" dirty="0"/>
              <a:t>、</a:t>
            </a:r>
            <a:r>
              <a:rPr lang="en-US" altLang="zh-CN" b="1" dirty="0"/>
              <a:t>C2</a:t>
            </a:r>
            <a:r>
              <a:rPr lang="zh-CN" altLang="en-US" b="1" dirty="0"/>
              <a:t>、</a:t>
            </a:r>
            <a:r>
              <a:rPr lang="en-US" altLang="zh-CN" b="1" dirty="0"/>
              <a:t>C3</a:t>
            </a:r>
            <a:r>
              <a:rPr lang="zh-CN" altLang="en-US" b="1" dirty="0"/>
              <a:t>、</a:t>
            </a:r>
            <a:r>
              <a:rPr lang="en-US" altLang="zh-CN" b="1" dirty="0"/>
              <a:t>C4</a:t>
            </a:r>
            <a:r>
              <a:rPr lang="zh-CN" altLang="en-US" b="1" dirty="0"/>
              <a:t>形成的原理，去形成片间快速进位</a:t>
            </a:r>
            <a:r>
              <a:rPr lang="en-US" altLang="zh-CN" b="1" dirty="0"/>
              <a:t>C4</a:t>
            </a:r>
            <a:r>
              <a:rPr lang="zh-CN" altLang="en-US" b="1" dirty="0"/>
              <a:t>、</a:t>
            </a:r>
            <a:r>
              <a:rPr lang="en-US" altLang="zh-CN" b="1" dirty="0"/>
              <a:t>C8</a:t>
            </a:r>
            <a:r>
              <a:rPr lang="zh-CN" altLang="en-US" b="1" dirty="0"/>
              <a:t>、</a:t>
            </a:r>
            <a:r>
              <a:rPr lang="en-US" altLang="zh-CN" b="1" dirty="0"/>
              <a:t>C12</a:t>
            </a:r>
            <a:r>
              <a:rPr lang="zh-CN" altLang="en-US" b="1" dirty="0"/>
              <a:t>、</a:t>
            </a:r>
            <a:r>
              <a:rPr lang="en-US" altLang="zh-CN" b="1" dirty="0"/>
              <a:t>C16 </a:t>
            </a:r>
            <a:endParaRPr lang="en-US" altLang="zh-CN" b="1" dirty="0"/>
          </a:p>
          <a:p>
            <a:pPr>
              <a:spcBef>
                <a:spcPct val="30000"/>
              </a:spcBef>
              <a:buClrTx/>
              <a:buFontTx/>
              <a:buNone/>
            </a:pPr>
            <a:endParaRPr lang="en-US" altLang="zh-CN" sz="2400" b="1" dirty="0"/>
          </a:p>
        </p:txBody>
      </p:sp>
      <p:graphicFrame>
        <p:nvGraphicFramePr>
          <p:cNvPr id="376836" name="Object 4"/>
          <p:cNvGraphicFramePr>
            <a:graphicFrameLocks noChangeAspect="1"/>
          </p:cNvGraphicFramePr>
          <p:nvPr/>
        </p:nvGraphicFramePr>
        <p:xfrm>
          <a:off x="785786" y="2643182"/>
          <a:ext cx="7240587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392" name="公式" r:id="rId1" imgW="3213100" imgH="482600" progId="Equation.3">
                  <p:embed/>
                </p:oleObj>
              </mc:Choice>
              <mc:Fallback>
                <p:oleObj name="公式" r:id="rId1" imgW="3213100" imgH="482600" progId="Equation.3">
                  <p:embed/>
                  <p:pic>
                    <p:nvPicPr>
                      <p:cNvPr id="0" name="图片 8633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2643182"/>
                        <a:ext cx="7240587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857224" y="3929066"/>
          <a:ext cx="8012113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393" name="公式" r:id="rId3" imgW="3683000" imgH="965200" progId="Equation.3">
                  <p:embed/>
                </p:oleObj>
              </mc:Choice>
              <mc:Fallback>
                <p:oleObj name="公式" r:id="rId3" imgW="3683000" imgH="965200" progId="Equation.3">
                  <p:embed/>
                  <p:pic>
                    <p:nvPicPr>
                      <p:cNvPr id="0" name="图片 8633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3929066"/>
                        <a:ext cx="8012113" cy="209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33886-24E3-48AD-9E3B-A755D3CB30D7}" type="slidenum">
              <a:rPr lang="en-US" altLang="zh-CN"/>
            </a:fld>
            <a:endParaRPr lang="en-US" altLang="zh-CN"/>
          </a:p>
        </p:txBody>
      </p:sp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(28)</a:t>
            </a:r>
            <a:endParaRPr lang="en-US" altLang="zh-CN" sz="3600" dirty="0"/>
          </a:p>
        </p:txBody>
      </p:sp>
      <p:graphicFrame>
        <p:nvGraphicFramePr>
          <p:cNvPr id="377859" name="Object 3"/>
          <p:cNvGraphicFramePr>
            <a:graphicFrameLocks noChangeAspect="1"/>
          </p:cNvGraphicFramePr>
          <p:nvPr/>
        </p:nvGraphicFramePr>
        <p:xfrm>
          <a:off x="620713" y="1981200"/>
          <a:ext cx="64563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416" name="公式" r:id="rId1" imgW="2882900" imgH="228600" progId="Equation.3">
                  <p:embed/>
                </p:oleObj>
              </mc:Choice>
              <mc:Fallback>
                <p:oleObj name="公式" r:id="rId1" imgW="2882900" imgH="228600" progId="Equation.3">
                  <p:embed/>
                  <p:pic>
                    <p:nvPicPr>
                      <p:cNvPr id="0" name="图片 8644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1981200"/>
                        <a:ext cx="6456362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7860" name="Object 4"/>
          <p:cNvGraphicFramePr>
            <a:graphicFrameLocks noChangeAspect="1"/>
          </p:cNvGraphicFramePr>
          <p:nvPr/>
        </p:nvGraphicFramePr>
        <p:xfrm>
          <a:off x="620713" y="2819400"/>
          <a:ext cx="83756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417" name="公式" r:id="rId3" imgW="4038600" imgH="228600" progId="Equation.3">
                  <p:embed/>
                </p:oleObj>
              </mc:Choice>
              <mc:Fallback>
                <p:oleObj name="公式" r:id="rId3" imgW="4038600" imgH="228600" progId="Equation.3">
                  <p:embed/>
                  <p:pic>
                    <p:nvPicPr>
                      <p:cNvPr id="0" name="图片 8644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2819400"/>
                        <a:ext cx="8375650" cy="476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FACE-81C7-4AC8-8C04-E1E745D359F4}" type="slidenum">
              <a:rPr lang="en-US" altLang="zh-CN"/>
            </a:fld>
            <a:endParaRPr lang="en-US" altLang="zh-CN"/>
          </a:p>
        </p:txBody>
      </p:sp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4838" y="304800"/>
            <a:ext cx="8234362" cy="468313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(29)</a:t>
            </a:r>
            <a:endParaRPr lang="en-US" altLang="zh-CN" sz="3600" dirty="0"/>
          </a:p>
        </p:txBody>
      </p:sp>
      <p:graphicFrame>
        <p:nvGraphicFramePr>
          <p:cNvPr id="379907" name="Object 3"/>
          <p:cNvGraphicFramePr>
            <a:graphicFrameLocks noChangeAspect="1"/>
          </p:cNvGraphicFramePr>
          <p:nvPr/>
        </p:nvGraphicFramePr>
        <p:xfrm>
          <a:off x="357188" y="1219200"/>
          <a:ext cx="25463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0" name="公式" r:id="rId1" imgW="1130300" imgH="228600" progId="Equation.3">
                  <p:embed/>
                </p:oleObj>
              </mc:Choice>
              <mc:Fallback>
                <p:oleObj name="公式" r:id="rId1" imgW="1130300" imgH="228600" progId="Equation.3">
                  <p:embed/>
                  <p:pic>
                    <p:nvPicPr>
                      <p:cNvPr id="0" name="图片 866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219200"/>
                        <a:ext cx="254635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08" name="Object 4"/>
          <p:cNvGraphicFramePr>
            <a:graphicFrameLocks noChangeAspect="1"/>
          </p:cNvGraphicFramePr>
          <p:nvPr/>
        </p:nvGraphicFramePr>
        <p:xfrm>
          <a:off x="374650" y="1752600"/>
          <a:ext cx="41179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1" name="公式" r:id="rId3" imgW="1892300" imgH="228600" progId="Equation.3">
                  <p:embed/>
                </p:oleObj>
              </mc:Choice>
              <mc:Fallback>
                <p:oleObj name="公式" r:id="rId3" imgW="1892300" imgH="228600" progId="Equation.3">
                  <p:embed/>
                  <p:pic>
                    <p:nvPicPr>
                      <p:cNvPr id="0" name="图片 866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" y="1752600"/>
                        <a:ext cx="411797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09" name="Object 5"/>
          <p:cNvGraphicFramePr>
            <a:graphicFrameLocks noChangeAspect="1"/>
          </p:cNvGraphicFramePr>
          <p:nvPr/>
        </p:nvGraphicFramePr>
        <p:xfrm>
          <a:off x="357188" y="2232025"/>
          <a:ext cx="64563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2" name="公式" r:id="rId5" imgW="2882900" imgH="228600" progId="Equation.3">
                  <p:embed/>
                </p:oleObj>
              </mc:Choice>
              <mc:Fallback>
                <p:oleObj name="公式" r:id="rId5" imgW="2882900" imgH="228600" progId="Equation.3">
                  <p:embed/>
                  <p:pic>
                    <p:nvPicPr>
                      <p:cNvPr id="0" name="图片 866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232025"/>
                        <a:ext cx="6456362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0" name="Object 6"/>
          <p:cNvGraphicFramePr>
            <a:graphicFrameLocks noChangeAspect="1"/>
          </p:cNvGraphicFramePr>
          <p:nvPr/>
        </p:nvGraphicFramePr>
        <p:xfrm>
          <a:off x="377825" y="2800350"/>
          <a:ext cx="84645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3" name="公式" r:id="rId7" imgW="4038600" imgH="228600" progId="Equation.3">
                  <p:embed/>
                </p:oleObj>
              </mc:Choice>
              <mc:Fallback>
                <p:oleObj name="公式" r:id="rId7" imgW="4038600" imgH="228600" progId="Equation.3">
                  <p:embed/>
                  <p:pic>
                    <p:nvPicPr>
                      <p:cNvPr id="0" name="图片 866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2800350"/>
                        <a:ext cx="84645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1" name="Object 7"/>
          <p:cNvGraphicFramePr>
            <a:graphicFrameLocks noChangeAspect="1"/>
          </p:cNvGraphicFramePr>
          <p:nvPr/>
        </p:nvGraphicFramePr>
        <p:xfrm>
          <a:off x="440580" y="3501008"/>
          <a:ext cx="467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4" name="公式" r:id="rId9" imgW="2336800" imgH="228600" progId="Equation.3">
                  <p:embed/>
                </p:oleObj>
              </mc:Choice>
              <mc:Fallback>
                <p:oleObj name="公式" r:id="rId9" imgW="2336800" imgH="228600" progId="Equation.3">
                  <p:embed/>
                  <p:pic>
                    <p:nvPicPr>
                      <p:cNvPr id="0" name="图片 866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80" y="3501008"/>
                        <a:ext cx="4673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2" name="Object 8"/>
          <p:cNvGraphicFramePr>
            <a:graphicFrameLocks noChangeAspect="1"/>
          </p:cNvGraphicFramePr>
          <p:nvPr/>
        </p:nvGraphicFramePr>
        <p:xfrm>
          <a:off x="440580" y="3997896"/>
          <a:ext cx="467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5" name="公式" r:id="rId11" imgW="2336800" imgH="228600" progId="Equation.3">
                  <p:embed/>
                </p:oleObj>
              </mc:Choice>
              <mc:Fallback>
                <p:oleObj name="公式" r:id="rId11" imgW="2336800" imgH="228600" progId="Equation.3">
                  <p:embed/>
                  <p:pic>
                    <p:nvPicPr>
                      <p:cNvPr id="0" name="图片 866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80" y="3997896"/>
                        <a:ext cx="4673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3" name="Object 9"/>
          <p:cNvGraphicFramePr>
            <a:graphicFrameLocks noChangeAspect="1"/>
          </p:cNvGraphicFramePr>
          <p:nvPr/>
        </p:nvGraphicFramePr>
        <p:xfrm>
          <a:off x="453280" y="4491608"/>
          <a:ext cx="480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6" name="公式" r:id="rId13" imgW="2679700" imgH="228600" progId="Equation.3">
                  <p:embed/>
                </p:oleObj>
              </mc:Choice>
              <mc:Fallback>
                <p:oleObj name="公式" r:id="rId13" imgW="2679700" imgH="228600" progId="Equation.3">
                  <p:embed/>
                  <p:pic>
                    <p:nvPicPr>
                      <p:cNvPr id="0" name="图片 866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80" y="4491608"/>
                        <a:ext cx="4800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4" name="Object 10"/>
          <p:cNvGraphicFramePr>
            <a:graphicFrameLocks noChangeAspect="1"/>
          </p:cNvGraphicFramePr>
          <p:nvPr/>
        </p:nvGraphicFramePr>
        <p:xfrm>
          <a:off x="431055" y="5025008"/>
          <a:ext cx="4913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7" name="公式" r:id="rId15" imgW="2743200" imgH="228600" progId="Equation.3">
                  <p:embed/>
                </p:oleObj>
              </mc:Choice>
              <mc:Fallback>
                <p:oleObj name="公式" r:id="rId15" imgW="2743200" imgH="228600" progId="Equation.3">
                  <p:embed/>
                  <p:pic>
                    <p:nvPicPr>
                      <p:cNvPr id="0" name="图片 866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55" y="5025008"/>
                        <a:ext cx="49133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5" name="Object 11"/>
          <p:cNvGraphicFramePr>
            <a:graphicFrameLocks noChangeAspect="1"/>
          </p:cNvGraphicFramePr>
          <p:nvPr/>
        </p:nvGraphicFramePr>
        <p:xfrm>
          <a:off x="5682505" y="3501008"/>
          <a:ext cx="19621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8" name="公式" r:id="rId17" imgW="939800" imgH="228600" progId="Equation.3">
                  <p:embed/>
                </p:oleObj>
              </mc:Choice>
              <mc:Fallback>
                <p:oleObj name="公式" r:id="rId17" imgW="939800" imgH="228600" progId="Equation.3">
                  <p:embed/>
                  <p:pic>
                    <p:nvPicPr>
                      <p:cNvPr id="0" name="图片 866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2505" y="3501008"/>
                        <a:ext cx="19621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6" name="Object 12"/>
          <p:cNvGraphicFramePr>
            <a:graphicFrameLocks noChangeAspect="1"/>
          </p:cNvGraphicFramePr>
          <p:nvPr/>
        </p:nvGraphicFramePr>
        <p:xfrm>
          <a:off x="5684093" y="4034408"/>
          <a:ext cx="19875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29" name="公式" r:id="rId19" imgW="951865" imgH="228600" progId="Equation.3">
                  <p:embed/>
                </p:oleObj>
              </mc:Choice>
              <mc:Fallback>
                <p:oleObj name="公式" r:id="rId19" imgW="951865" imgH="228600" progId="Equation.3">
                  <p:embed/>
                  <p:pic>
                    <p:nvPicPr>
                      <p:cNvPr id="0" name="图片 866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093" y="4034408"/>
                        <a:ext cx="19875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7" name="Object 13"/>
          <p:cNvGraphicFramePr>
            <a:graphicFrameLocks noChangeAspect="1"/>
          </p:cNvGraphicFramePr>
          <p:nvPr/>
        </p:nvGraphicFramePr>
        <p:xfrm>
          <a:off x="5649168" y="4509071"/>
          <a:ext cx="21463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30" name="公式" r:id="rId21" imgW="1066800" imgH="228600" progId="Equation.3">
                  <p:embed/>
                </p:oleObj>
              </mc:Choice>
              <mc:Fallback>
                <p:oleObj name="公式" r:id="rId21" imgW="1066800" imgH="228600" progId="Equation.3">
                  <p:embed/>
                  <p:pic>
                    <p:nvPicPr>
                      <p:cNvPr id="0" name="图片 866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168" y="4509071"/>
                        <a:ext cx="2146300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8" name="Object 14"/>
          <p:cNvGraphicFramePr>
            <a:graphicFrameLocks noChangeAspect="1"/>
          </p:cNvGraphicFramePr>
          <p:nvPr/>
        </p:nvGraphicFramePr>
        <p:xfrm>
          <a:off x="5633293" y="5042471"/>
          <a:ext cx="22510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231" name="公式" r:id="rId23" imgW="1117600" imgH="228600" progId="Equation.3">
                  <p:embed/>
                </p:oleObj>
              </mc:Choice>
              <mc:Fallback>
                <p:oleObj name="公式" r:id="rId23" imgW="1117600" imgH="228600" progId="Equation.3">
                  <p:embed/>
                  <p:pic>
                    <p:nvPicPr>
                      <p:cNvPr id="0" name="图片 866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3293" y="5042471"/>
                        <a:ext cx="2251075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19" name="Text Box 15"/>
          <p:cNvSpPr txBox="1">
            <a:spLocks noChangeArrowheads="1"/>
          </p:cNvSpPr>
          <p:nvPr/>
        </p:nvSpPr>
        <p:spPr bwMode="auto">
          <a:xfrm>
            <a:off x="620216" y="5562600"/>
            <a:ext cx="7696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有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规律，可以根据输入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直接计算得出，意味者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位加法器内部可以直接提供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可以设计一个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快速进位扩展器”形成。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Rectangle 31"/>
          <p:cNvSpPr>
            <a:spLocks noChangeArrowheads="1"/>
          </p:cNvSpPr>
          <p:nvPr/>
        </p:nvSpPr>
        <p:spPr bwMode="auto">
          <a:xfrm>
            <a:off x="305406" y="3501008"/>
            <a:ext cx="7650970" cy="2061592"/>
          </a:xfrm>
          <a:prstGeom prst="rect">
            <a:avLst/>
          </a:prstGeom>
          <a:solidFill>
            <a:srgbClr val="0099FF">
              <a:alpha val="30196"/>
            </a:srgbClr>
          </a:solidFill>
          <a:ln w="38100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9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9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19" grpId="0" autoUpdateAnimBg="0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运算器（</a:t>
            </a:r>
            <a:r>
              <a:rPr lang="en-US" altLang="zh-CN" sz="3600" dirty="0"/>
              <a:t>30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graphicFrame>
        <p:nvGraphicFramePr>
          <p:cNvPr id="380931" name="Object 3"/>
          <p:cNvGraphicFramePr>
            <a:graphicFrameLocks noChangeAspect="1"/>
          </p:cNvGraphicFramePr>
          <p:nvPr/>
        </p:nvGraphicFramePr>
        <p:xfrm>
          <a:off x="838200" y="2590800"/>
          <a:ext cx="7705725" cy="347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464" name="Image" r:id="rId1" imgW="12644120" imgH="6577965" progId="">
                  <p:embed/>
                </p:oleObj>
              </mc:Choice>
              <mc:Fallback>
                <p:oleObj name="Image" r:id="rId1" imgW="12644120" imgH="6577965" progId="">
                  <p:embed/>
                  <p:pic>
                    <p:nvPicPr>
                      <p:cNvPr id="0" name="图片 8664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90800"/>
                        <a:ext cx="7705725" cy="347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914400" y="6172200"/>
            <a:ext cx="741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超前进位扩展器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使得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C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同时产生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!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P138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80933" name="Object 5"/>
          <p:cNvGraphicFramePr>
            <a:graphicFrameLocks noChangeAspect="1"/>
          </p:cNvGraphicFramePr>
          <p:nvPr/>
        </p:nvGraphicFramePr>
        <p:xfrm>
          <a:off x="428596" y="1952618"/>
          <a:ext cx="84661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465" name="公式" r:id="rId3" imgW="4038600" imgH="228600" progId="Equation.3">
                  <p:embed/>
                </p:oleObj>
              </mc:Choice>
              <mc:Fallback>
                <p:oleObj name="公式" r:id="rId3" imgW="4038600" imgH="228600" progId="Equation.3">
                  <p:embed/>
                  <p:pic>
                    <p:nvPicPr>
                      <p:cNvPr id="0" name="图片 8664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1952618"/>
                        <a:ext cx="8466138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9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09600" y="928670"/>
            <a:ext cx="8153400" cy="4876800"/>
          </a:xfrm>
          <a:noFill/>
        </p:spPr>
        <p:txBody>
          <a:bodyPr/>
          <a:lstStyle/>
          <a:p>
            <a:r>
              <a:rPr lang="en-US" altLang="zh-CN" b="1" dirty="0"/>
              <a:t>16</a:t>
            </a:r>
            <a:r>
              <a:rPr lang="zh-CN" altLang="en-US" b="1" dirty="0"/>
              <a:t>位并行进位加法器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>
              <a:spcBef>
                <a:spcPct val="0"/>
              </a:spcBef>
            </a:pPr>
            <a:r>
              <a:rPr lang="zh-CN" altLang="en-US" dirty="0"/>
              <a:t>超前进位扩展器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2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D345-2D25-4B94-891D-509EBC95AE90}" type="slidenum">
              <a:rPr lang="en-US" altLang="zh-CN"/>
            </a:fld>
            <a:endParaRPr lang="en-US" altLang="zh-CN"/>
          </a:p>
        </p:txBody>
      </p:sp>
      <p:sp>
        <p:nvSpPr>
          <p:cNvPr id="3819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620688"/>
            <a:ext cx="8153400" cy="4648200"/>
          </a:xfrm>
          <a:noFill/>
        </p:spPr>
        <p:txBody>
          <a:bodyPr>
            <a:normAutofit/>
          </a:bodyPr>
          <a:lstStyle/>
          <a:p>
            <a:r>
              <a:rPr lang="en-US" altLang="zh-CN" sz="3200" b="1" dirty="0"/>
              <a:t>16</a:t>
            </a:r>
            <a:r>
              <a:rPr lang="zh-CN" altLang="en-US" sz="3200" b="1" dirty="0"/>
              <a:t>位并行进位加法器逻辑结构图</a:t>
            </a:r>
            <a:r>
              <a:rPr lang="zh-CN" altLang="en-US" sz="3200" dirty="0"/>
              <a:t>：</a:t>
            </a:r>
            <a:endParaRPr lang="zh-CN" altLang="en-US" sz="3200" dirty="0"/>
          </a:p>
          <a:p>
            <a:pPr lvl="1"/>
            <a:r>
              <a:rPr lang="zh-CN" altLang="en-US" sz="2400" b="1" dirty="0"/>
              <a:t>用类似四位并行加法器中</a:t>
            </a:r>
            <a:r>
              <a:rPr lang="en-US" altLang="zh-CN" sz="2400" b="1" dirty="0"/>
              <a:t>C1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C4</a:t>
            </a:r>
            <a:r>
              <a:rPr lang="zh-CN" altLang="en-US" sz="2400" b="1" dirty="0"/>
              <a:t>形成的原理，去形成片间快速进位</a:t>
            </a:r>
            <a:r>
              <a:rPr lang="en-US" altLang="zh-CN" sz="2400" b="1" dirty="0"/>
              <a:t>C4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C8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C12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C16 </a:t>
            </a:r>
            <a:endParaRPr lang="zh-CN" altLang="en-US" sz="2400" b="1" dirty="0"/>
          </a:p>
          <a:p>
            <a:pPr>
              <a:spcBef>
                <a:spcPct val="30000"/>
              </a:spcBef>
              <a:buClrTx/>
              <a:buFontTx/>
              <a:buNone/>
            </a:pPr>
            <a:endParaRPr lang="en-US" altLang="zh-CN" sz="2000" b="1" dirty="0"/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运算器（</a:t>
            </a:r>
            <a:r>
              <a:rPr lang="en-US" altLang="zh-CN" sz="3600" dirty="0"/>
              <a:t>31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graphicFrame>
        <p:nvGraphicFramePr>
          <p:cNvPr id="381956" name="Object 4"/>
          <p:cNvGraphicFramePr>
            <a:graphicFrameLocks noChangeAspect="1"/>
          </p:cNvGraphicFramePr>
          <p:nvPr/>
        </p:nvGraphicFramePr>
        <p:xfrm>
          <a:off x="990600" y="2266925"/>
          <a:ext cx="7632700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7411" name="Image" r:id="rId1" imgW="12840970" imgH="5368290" progId="">
                  <p:embed/>
                </p:oleObj>
              </mc:Choice>
              <mc:Fallback>
                <p:oleObj name="Image" r:id="rId1" imgW="12840970" imgH="5368290" progId="">
                  <p:embed/>
                  <p:pic>
                    <p:nvPicPr>
                      <p:cNvPr id="0" name="图片 8674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66925"/>
                        <a:ext cx="7632700" cy="296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57" name="Rectangle 5"/>
          <p:cNvSpPr>
            <a:spLocks noChangeArrowheads="1"/>
          </p:cNvSpPr>
          <p:nvPr/>
        </p:nvSpPr>
        <p:spPr bwMode="auto">
          <a:xfrm>
            <a:off x="381000" y="5429264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四位并行加法器的输出提供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级延迟，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级延迟。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则产生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的延迟各是几级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?  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要几级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D17C-16FE-4BDE-BD11-F1BC8A414ACB}" type="slidenum">
              <a:rPr lang="en-US" altLang="zh-CN"/>
            </a:fld>
            <a:endParaRPr lang="en-US" altLang="zh-CN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16632"/>
            <a:ext cx="7772400" cy="1143000"/>
          </a:xfrm>
        </p:spPr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4423"/>
            <a:ext cx="8229600" cy="785818"/>
          </a:xfrm>
        </p:spPr>
        <p:txBody>
          <a:bodyPr/>
          <a:lstStyle/>
          <a:p>
            <a:r>
              <a:rPr lang="en-US" altLang="zh-CN" b="1" dirty="0"/>
              <a:t>16</a:t>
            </a:r>
            <a:r>
              <a:rPr lang="zh-CN" altLang="en-US" b="1" dirty="0"/>
              <a:t>位快速加法器的结构图</a:t>
            </a:r>
            <a:endParaRPr lang="zh-CN" altLang="en-US" b="1" dirty="0"/>
          </a:p>
        </p:txBody>
      </p:sp>
      <p:graphicFrame>
        <p:nvGraphicFramePr>
          <p:cNvPr id="382980" name="Object 4"/>
          <p:cNvGraphicFramePr>
            <a:graphicFrameLocks noChangeAspect="1"/>
          </p:cNvGraphicFramePr>
          <p:nvPr/>
        </p:nvGraphicFramePr>
        <p:xfrm>
          <a:off x="990600" y="1914532"/>
          <a:ext cx="76327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34" name="Image" r:id="rId1" imgW="12840970" imgH="5368290" progId="">
                  <p:embed/>
                </p:oleObj>
              </mc:Choice>
              <mc:Fallback>
                <p:oleObj name="Image" r:id="rId1" imgW="12840970" imgH="5368290" progId="">
                  <p:embed/>
                  <p:pic>
                    <p:nvPicPr>
                      <p:cNvPr id="0" name="图片 8684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14532"/>
                        <a:ext cx="76327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1" name="Rectangle 5"/>
          <p:cNvSpPr>
            <a:spLocks noChangeArrowheads="1"/>
          </p:cNvSpPr>
          <p:nvPr/>
        </p:nvSpPr>
        <p:spPr bwMode="auto">
          <a:xfrm>
            <a:off x="520700" y="4289028"/>
            <a:ext cx="8547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四位并行加法器的输出提供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级延迟。产生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的延迟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 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级，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请大家课后比较：由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位全加器构成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位串行加法器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位并行加法器构成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位串行加法器、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位并行加法器计算结果所需要的级数。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864E7-BD76-4DEA-96E6-0F8735F84EF5}" type="slidenum">
              <a:rPr lang="en-US" altLang="zh-CN"/>
            </a:fld>
            <a:endParaRPr lang="en-US" altLang="zh-CN"/>
          </a:p>
        </p:txBody>
      </p:sp>
      <p:sp>
        <p:nvSpPr>
          <p:cNvPr id="3840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534400" cy="4876800"/>
          </a:xfrm>
          <a:noFill/>
        </p:spPr>
        <p:txBody>
          <a:bodyPr/>
          <a:lstStyle/>
          <a:p>
            <a:r>
              <a:rPr lang="zh-CN" altLang="en-US" b="1" dirty="0"/>
              <a:t>和</a:t>
            </a:r>
            <a:r>
              <a:rPr lang="en-US" altLang="zh-CN" b="1" dirty="0"/>
              <a:t>4</a:t>
            </a:r>
            <a:r>
              <a:rPr lang="zh-CN" altLang="en-US" b="1" dirty="0"/>
              <a:t>位加法器（或</a:t>
            </a:r>
            <a:r>
              <a:rPr lang="en-US" altLang="zh-CN" b="1" dirty="0"/>
              <a:t>4</a:t>
            </a:r>
            <a:r>
              <a:rPr lang="zh-CN" altLang="en-US" b="1" dirty="0"/>
              <a:t>位</a:t>
            </a:r>
            <a:r>
              <a:rPr lang="en-US" altLang="zh-CN" b="1" dirty="0"/>
              <a:t>ALU</a:t>
            </a:r>
            <a:r>
              <a:rPr lang="zh-CN" altLang="en-US" b="1" dirty="0"/>
              <a:t>）连用的超前进位扩展器专用器件</a:t>
            </a:r>
            <a:r>
              <a:rPr lang="en-US" altLang="zh-CN" b="1" dirty="0"/>
              <a:t>(SN74182)</a:t>
            </a:r>
            <a:r>
              <a:rPr lang="zh-CN" altLang="en-US" b="1" dirty="0"/>
              <a:t>（</a:t>
            </a:r>
            <a:r>
              <a:rPr lang="en-US" altLang="zh-CN" b="1" dirty="0"/>
              <a:t>P146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运算器（</a:t>
            </a:r>
            <a:r>
              <a:rPr lang="en-US" altLang="zh-CN" sz="3600" dirty="0"/>
              <a:t>32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graphicFrame>
        <p:nvGraphicFramePr>
          <p:cNvPr id="384004" name="Object 4"/>
          <p:cNvGraphicFramePr>
            <a:graphicFrameLocks noChangeAspect="1"/>
          </p:cNvGraphicFramePr>
          <p:nvPr/>
        </p:nvGraphicFramePr>
        <p:xfrm>
          <a:off x="990600" y="2209800"/>
          <a:ext cx="7777163" cy="362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9458" name="Image" r:id="rId1" imgW="13411200" imgH="6253480" progId="">
                  <p:embed/>
                </p:oleObj>
              </mc:Choice>
              <mc:Fallback>
                <p:oleObj name="Image" r:id="rId1" imgW="13411200" imgH="6253480" progId="">
                  <p:embed/>
                  <p:pic>
                    <p:nvPicPr>
                      <p:cNvPr id="0" name="图片 8694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09800"/>
                        <a:ext cx="7777163" cy="362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5921D-141D-49BC-BCC3-F0CF584D8A72}" type="slidenum">
              <a:rPr lang="en-US" altLang="zh-CN"/>
            </a:fld>
            <a:endParaRPr lang="en-US" altLang="zh-CN"/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运算器（</a:t>
            </a:r>
            <a:r>
              <a:rPr lang="en-US" altLang="zh-CN" sz="3600" dirty="0"/>
              <a:t>33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graphicFrame>
        <p:nvGraphicFramePr>
          <p:cNvPr id="385027" name="Object 3"/>
          <p:cNvGraphicFramePr>
            <a:graphicFrameLocks noChangeAspect="1"/>
          </p:cNvGraphicFramePr>
          <p:nvPr/>
        </p:nvGraphicFramePr>
        <p:xfrm>
          <a:off x="762000" y="2362200"/>
          <a:ext cx="7705725" cy="282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82" name="Image" r:id="rId1" imgW="11228705" imgH="4119880" progId="">
                  <p:embed/>
                </p:oleObj>
              </mc:Choice>
              <mc:Fallback>
                <p:oleObj name="Image" r:id="rId1" imgW="11228705" imgH="4119880" progId="">
                  <p:embed/>
                  <p:pic>
                    <p:nvPicPr>
                      <p:cNvPr id="0" name="图片 8704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62200"/>
                        <a:ext cx="7705725" cy="282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534400" cy="4876800"/>
          </a:xfrm>
          <a:noFill/>
        </p:spPr>
        <p:txBody>
          <a:bodyPr/>
          <a:lstStyle/>
          <a:p>
            <a:r>
              <a:rPr lang="en-US" altLang="zh-CN" b="1" dirty="0"/>
              <a:t>4</a:t>
            </a:r>
            <a:r>
              <a:rPr lang="zh-CN" altLang="en-US" b="1" dirty="0"/>
              <a:t>位</a:t>
            </a:r>
            <a:r>
              <a:rPr lang="en-US" altLang="zh-CN" b="1" dirty="0"/>
              <a:t>ALU</a:t>
            </a:r>
            <a:r>
              <a:rPr lang="zh-CN" altLang="en-US" b="1" dirty="0"/>
              <a:t>和超前进位扩展器组成</a:t>
            </a:r>
            <a:r>
              <a:rPr lang="en-US" altLang="zh-CN" b="1" dirty="0"/>
              <a:t>16</a:t>
            </a:r>
            <a:r>
              <a:rPr lang="zh-CN" altLang="en-US" b="1" dirty="0"/>
              <a:t>位快速运算单元 （</a:t>
            </a:r>
            <a:r>
              <a:rPr lang="en-US" altLang="zh-CN" b="1" dirty="0"/>
              <a:t>P146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387F-02A2-45A9-B41C-FD32DA3B9EED}" type="slidenum">
              <a:rPr lang="en-US" altLang="zh-CN"/>
            </a:fld>
            <a:endParaRPr lang="en-US" altLang="zh-CN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1</a:t>
            </a:r>
            <a:r>
              <a:rPr lang="zh-CN" altLang="en-US" b="1" dirty="0">
                <a:solidFill>
                  <a:srgbClr val="002060"/>
                </a:solidFill>
              </a:rPr>
              <a:t>位加法器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4</a:t>
            </a:r>
            <a:r>
              <a:rPr lang="zh-CN" altLang="en-US" b="1" dirty="0">
                <a:solidFill>
                  <a:srgbClr val="002060"/>
                </a:solidFill>
              </a:rPr>
              <a:t>位串行进位加法器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4</a:t>
            </a:r>
            <a:r>
              <a:rPr lang="zh-CN" altLang="en-US" b="1" dirty="0">
                <a:solidFill>
                  <a:srgbClr val="002060"/>
                </a:solidFill>
              </a:rPr>
              <a:t>位并行进位加法器和快速进位逻辑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/>
              <a:t>16</a:t>
            </a:r>
            <a:r>
              <a:rPr lang="zh-CN" altLang="en-US" b="1" dirty="0"/>
              <a:t>位并行进位加法器</a:t>
            </a:r>
            <a:endParaRPr lang="zh-CN" altLang="en-US" b="1" dirty="0"/>
          </a:p>
          <a:p>
            <a:pPr lvl="1"/>
            <a:r>
              <a:rPr lang="zh-CN" altLang="en-US" b="1" dirty="0">
                <a:solidFill>
                  <a:srgbClr val="7030A0"/>
                </a:solidFill>
              </a:rPr>
              <a:t>算术运算逻辑单元</a:t>
            </a:r>
            <a:endParaRPr lang="zh-CN" altLang="en-US" b="1" dirty="0">
              <a:solidFill>
                <a:srgbClr val="7030A0"/>
              </a:solidFill>
            </a:endParaRPr>
          </a:p>
          <a:p>
            <a:pPr lvl="2"/>
            <a:r>
              <a:rPr lang="en-US" altLang="zh-CN" b="1" dirty="0"/>
              <a:t>4</a:t>
            </a:r>
            <a:r>
              <a:rPr lang="zh-CN" altLang="en-US" b="1" dirty="0"/>
              <a:t>位算术逻辑运算单元</a:t>
            </a:r>
            <a:endParaRPr lang="en-US" altLang="zh-CN" b="1" dirty="0"/>
          </a:p>
          <a:p>
            <a:pPr lvl="1"/>
            <a:r>
              <a:rPr lang="zh-CN" altLang="en-US" dirty="0"/>
              <a:t>乘法器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89E7C-FD54-4F65-BF05-0156F681E031}" type="slidenum">
              <a:rPr lang="en-US" altLang="zh-CN"/>
            </a:fld>
            <a:endParaRPr lang="en-US" altLang="zh-CN"/>
          </a:p>
        </p:txBody>
      </p:sp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(34)</a:t>
            </a:r>
            <a:endParaRPr lang="en-US" altLang="zh-CN" sz="3600" dirty="0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219200"/>
            <a:ext cx="7543800" cy="4876800"/>
          </a:xfrm>
        </p:spPr>
        <p:txBody>
          <a:bodyPr/>
          <a:lstStyle/>
          <a:p>
            <a:r>
              <a:rPr lang="zh-CN" altLang="en-US" dirty="0"/>
              <a:t>算术运算逻辑单元</a:t>
            </a:r>
            <a:r>
              <a:rPr lang="en-US" altLang="zh-CN" dirty="0"/>
              <a:t>(ALU) </a:t>
            </a:r>
            <a:endParaRPr lang="en-US" altLang="zh-CN" dirty="0"/>
          </a:p>
          <a:p>
            <a:pPr lvl="1"/>
            <a:r>
              <a:rPr lang="en-US" altLang="zh-CN" dirty="0"/>
              <a:t>ALU</a:t>
            </a:r>
            <a:r>
              <a:rPr lang="zh-CN" altLang="en-US" dirty="0"/>
              <a:t>是</a:t>
            </a:r>
            <a:r>
              <a:rPr lang="en-US" altLang="zh-CN" dirty="0"/>
              <a:t>CPU</a:t>
            </a:r>
            <a:r>
              <a:rPr lang="zh-CN" altLang="en-US" dirty="0"/>
              <a:t>的核心</a:t>
            </a:r>
            <a:r>
              <a:rPr lang="en-US" altLang="zh-CN" dirty="0"/>
              <a:t>,</a:t>
            </a:r>
            <a:r>
              <a:rPr lang="zh-CN" altLang="en-US" dirty="0"/>
              <a:t>不仅完成算术（加法、减法等）运算</a:t>
            </a:r>
            <a:r>
              <a:rPr lang="en-US" altLang="zh-CN" dirty="0"/>
              <a:t>,</a:t>
            </a:r>
            <a:r>
              <a:rPr lang="zh-CN" altLang="en-US" dirty="0"/>
              <a:t>而且完成逻辑运算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ALU</a:t>
            </a:r>
            <a:r>
              <a:rPr lang="zh-CN" altLang="en-US" dirty="0"/>
              <a:t>是多种功能集成在一起的器件</a:t>
            </a:r>
            <a:r>
              <a:rPr lang="en-US" altLang="zh-CN" dirty="0"/>
              <a:t>,</a:t>
            </a:r>
            <a:r>
              <a:rPr lang="zh-CN" altLang="en-US" dirty="0"/>
              <a:t>因此要有功能控制端</a:t>
            </a:r>
            <a:r>
              <a:rPr lang="en-US" altLang="zh-CN" dirty="0"/>
              <a:t>. </a:t>
            </a:r>
            <a:endParaRPr lang="en-US" altLang="zh-CN" dirty="0"/>
          </a:p>
          <a:p>
            <a:pPr lvl="2"/>
            <a:r>
              <a:rPr lang="zh-CN" altLang="en-US" dirty="0"/>
              <a:t>加</a:t>
            </a:r>
            <a:endParaRPr lang="en-US" altLang="zh-CN" dirty="0"/>
          </a:p>
          <a:p>
            <a:pPr lvl="2"/>
            <a:r>
              <a:rPr lang="zh-CN" altLang="en-US" dirty="0"/>
              <a:t>减</a:t>
            </a:r>
            <a:endParaRPr lang="en-US" altLang="zh-CN" dirty="0"/>
          </a:p>
          <a:p>
            <a:pPr lvl="2"/>
            <a:r>
              <a:rPr lang="zh-CN" altLang="en-US" dirty="0"/>
              <a:t>比较、与、或、非、移位</a:t>
            </a:r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29F8-3DD7-4F2F-BE55-8E7B61B1D547}" type="slidenum">
              <a:rPr lang="en-US" altLang="zh-CN"/>
            </a:fld>
            <a:endParaRPr lang="en-US" altLang="zh-CN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(35)</a:t>
            </a:r>
            <a:endParaRPr lang="en-US" altLang="zh-CN" sz="3600" dirty="0"/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zh-CN" altLang="en-US" b="1" dirty="0"/>
              <a:t>一位加法器</a:t>
            </a:r>
            <a:endParaRPr lang="zh-CN" altLang="en-US" b="1" dirty="0"/>
          </a:p>
          <a:p>
            <a:pPr lvl="2"/>
            <a:r>
              <a:rPr lang="zh-CN" altLang="en-US" b="1" dirty="0"/>
              <a:t>四位串行进位加法器</a:t>
            </a:r>
            <a:endParaRPr lang="zh-CN" altLang="en-US" b="1" dirty="0"/>
          </a:p>
          <a:p>
            <a:pPr lvl="2"/>
            <a:r>
              <a:rPr lang="zh-CN" altLang="en-US" b="1" dirty="0"/>
              <a:t>四位并行加法器</a:t>
            </a:r>
            <a:endParaRPr lang="zh-CN" altLang="en-US" b="1" dirty="0"/>
          </a:p>
          <a:p>
            <a:pPr lvl="2"/>
            <a:r>
              <a:rPr lang="en-US" altLang="zh-CN" b="1" dirty="0"/>
              <a:t>16</a:t>
            </a:r>
            <a:r>
              <a:rPr lang="zh-CN" altLang="en-US" b="1" dirty="0"/>
              <a:t>位加法器</a:t>
            </a:r>
            <a:endParaRPr lang="zh-CN" altLang="en-US" b="1" dirty="0"/>
          </a:p>
          <a:p>
            <a:pPr lvl="1"/>
            <a:r>
              <a:rPr lang="zh-CN" altLang="en-US" b="1" dirty="0"/>
              <a:t>算术运算逻辑单元</a:t>
            </a:r>
            <a:endParaRPr lang="zh-CN" altLang="en-US" b="1" dirty="0"/>
          </a:p>
          <a:p>
            <a:pPr lvl="2"/>
            <a:r>
              <a:rPr lang="en-US" altLang="zh-CN" b="1" dirty="0">
                <a:solidFill>
                  <a:srgbClr val="7030A0"/>
                </a:solidFill>
              </a:rPr>
              <a:t>4</a:t>
            </a:r>
            <a:r>
              <a:rPr lang="zh-CN" altLang="en-US" b="1" dirty="0">
                <a:solidFill>
                  <a:srgbClr val="7030A0"/>
                </a:solidFill>
              </a:rPr>
              <a:t>位算术逻辑运算单元</a:t>
            </a:r>
            <a:endParaRPr lang="en-US" altLang="zh-CN" b="1" dirty="0">
              <a:solidFill>
                <a:srgbClr val="7030A0"/>
              </a:solidFill>
            </a:endParaRPr>
          </a:p>
          <a:p>
            <a:pPr lvl="1"/>
            <a:r>
              <a:rPr lang="zh-CN" altLang="en-US" dirty="0"/>
              <a:t>乘法器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847F2-187E-40EC-8732-005C177DA41A}" type="slidenum">
              <a:rPr lang="en-US" altLang="zh-CN"/>
            </a:fld>
            <a:endParaRPr lang="en-US" altLang="zh-CN"/>
          </a:p>
        </p:txBody>
      </p:sp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(36)</a:t>
            </a:r>
            <a:endParaRPr lang="en-US" altLang="zh-CN" sz="3600" dirty="0"/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00108"/>
            <a:ext cx="8229600" cy="4525963"/>
          </a:xfrm>
        </p:spPr>
        <p:txBody>
          <a:bodyPr/>
          <a:lstStyle/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1800" dirty="0"/>
          </a:p>
          <a:p>
            <a:r>
              <a:rPr lang="zh-CN" altLang="en-US" b="1" dirty="0"/>
              <a:t>四位算术逻辑运算单元</a:t>
            </a:r>
            <a:endParaRPr lang="zh-CN" altLang="en-US" b="1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的核心是</a:t>
            </a:r>
            <a:r>
              <a:rPr lang="en-US" altLang="zh-CN" dirty="0"/>
              <a:t>4</a:t>
            </a:r>
            <a:r>
              <a:rPr lang="zh-CN" altLang="en-US" dirty="0"/>
              <a:t>位并行加法器</a:t>
            </a:r>
            <a:r>
              <a:rPr lang="en-US" altLang="zh-CN" dirty="0"/>
              <a:t>,</a:t>
            </a:r>
            <a:r>
              <a:rPr lang="zh-CN" altLang="en-US" dirty="0"/>
              <a:t>通过控制加法器的一些逻辑门或改变进位逻辑门能够获得多种功能。</a:t>
            </a:r>
            <a:endParaRPr lang="zh-CN" altLang="en-US" dirty="0"/>
          </a:p>
        </p:txBody>
      </p:sp>
      <p:grpSp>
        <p:nvGrpSpPr>
          <p:cNvPr id="389124" name="Group 4"/>
          <p:cNvGrpSpPr/>
          <p:nvPr/>
        </p:nvGrpSpPr>
        <p:grpSpPr bwMode="auto">
          <a:xfrm>
            <a:off x="3124200" y="3788940"/>
            <a:ext cx="3348038" cy="2592388"/>
            <a:chOff x="3651" y="2568"/>
            <a:chExt cx="2109" cy="1633"/>
          </a:xfrm>
        </p:grpSpPr>
        <p:sp>
          <p:nvSpPr>
            <p:cNvPr id="389125" name="Rectangle 5"/>
            <p:cNvSpPr>
              <a:spLocks noChangeArrowheads="1"/>
            </p:cNvSpPr>
            <p:nvPr/>
          </p:nvSpPr>
          <p:spPr bwMode="auto">
            <a:xfrm>
              <a:off x="4332" y="2568"/>
              <a:ext cx="817" cy="140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126" name="Line 6"/>
            <p:cNvSpPr>
              <a:spLocks noChangeShapeType="1"/>
            </p:cNvSpPr>
            <p:nvPr/>
          </p:nvSpPr>
          <p:spPr bwMode="auto">
            <a:xfrm>
              <a:off x="3787" y="2931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27" name="Line 7"/>
            <p:cNvSpPr>
              <a:spLocks noChangeShapeType="1"/>
            </p:cNvSpPr>
            <p:nvPr/>
          </p:nvSpPr>
          <p:spPr bwMode="auto">
            <a:xfrm>
              <a:off x="3787" y="297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28" name="Line 8"/>
            <p:cNvSpPr>
              <a:spLocks noChangeShapeType="1"/>
            </p:cNvSpPr>
            <p:nvPr/>
          </p:nvSpPr>
          <p:spPr bwMode="auto">
            <a:xfrm>
              <a:off x="3787" y="3657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29" name="Line 9"/>
            <p:cNvSpPr>
              <a:spLocks noChangeShapeType="1"/>
            </p:cNvSpPr>
            <p:nvPr/>
          </p:nvSpPr>
          <p:spPr bwMode="auto">
            <a:xfrm>
              <a:off x="3787" y="3612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30" name="Text Box 10"/>
            <p:cNvSpPr txBox="1">
              <a:spLocks noChangeArrowheads="1"/>
            </p:cNvSpPr>
            <p:nvPr/>
          </p:nvSpPr>
          <p:spPr bwMode="auto">
            <a:xfrm>
              <a:off x="3742" y="2614"/>
              <a:ext cx="6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操作数</a:t>
              </a:r>
              <a:endParaRPr lang="zh-CN" altLang="en-US" sz="1800" b="1"/>
            </a:p>
          </p:txBody>
        </p:sp>
        <p:sp>
          <p:nvSpPr>
            <p:cNvPr id="389131" name="Text Box 11"/>
            <p:cNvSpPr txBox="1">
              <a:spLocks noChangeArrowheads="1"/>
            </p:cNvSpPr>
            <p:nvPr/>
          </p:nvSpPr>
          <p:spPr bwMode="auto">
            <a:xfrm>
              <a:off x="3651" y="3339"/>
              <a:ext cx="7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被操作数</a:t>
              </a:r>
              <a:endParaRPr lang="zh-CN" altLang="en-US" sz="1800" b="1"/>
            </a:p>
          </p:txBody>
        </p:sp>
        <p:sp>
          <p:nvSpPr>
            <p:cNvPr id="389132" name="Line 12"/>
            <p:cNvSpPr>
              <a:spLocks noChangeShapeType="1"/>
            </p:cNvSpPr>
            <p:nvPr/>
          </p:nvSpPr>
          <p:spPr bwMode="auto">
            <a:xfrm flipV="1">
              <a:off x="4694" y="397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33" name="Line 13"/>
            <p:cNvSpPr>
              <a:spLocks noChangeShapeType="1"/>
            </p:cNvSpPr>
            <p:nvPr/>
          </p:nvSpPr>
          <p:spPr bwMode="auto">
            <a:xfrm flipV="1">
              <a:off x="4740" y="397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34" name="Line 14"/>
            <p:cNvSpPr>
              <a:spLocks noChangeShapeType="1"/>
            </p:cNvSpPr>
            <p:nvPr/>
          </p:nvSpPr>
          <p:spPr bwMode="auto">
            <a:xfrm>
              <a:off x="5147" y="3702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35" name="Line 15"/>
            <p:cNvSpPr>
              <a:spLocks noChangeShapeType="1"/>
            </p:cNvSpPr>
            <p:nvPr/>
          </p:nvSpPr>
          <p:spPr bwMode="auto">
            <a:xfrm>
              <a:off x="5147" y="3657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36" name="Line 16"/>
            <p:cNvSpPr>
              <a:spLocks noChangeShapeType="1"/>
            </p:cNvSpPr>
            <p:nvPr/>
          </p:nvSpPr>
          <p:spPr bwMode="auto">
            <a:xfrm>
              <a:off x="5147" y="2976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37" name="Line 17"/>
            <p:cNvSpPr>
              <a:spLocks noChangeShapeType="1"/>
            </p:cNvSpPr>
            <p:nvPr/>
          </p:nvSpPr>
          <p:spPr bwMode="auto">
            <a:xfrm>
              <a:off x="5147" y="2931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38" name="Text Box 18"/>
            <p:cNvSpPr txBox="1">
              <a:spLocks noChangeArrowheads="1"/>
            </p:cNvSpPr>
            <p:nvPr/>
          </p:nvSpPr>
          <p:spPr bwMode="auto">
            <a:xfrm>
              <a:off x="5193" y="2614"/>
              <a:ext cx="5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结果</a:t>
              </a:r>
              <a:endParaRPr lang="zh-CN" altLang="en-US" sz="1800" b="1"/>
            </a:p>
          </p:txBody>
        </p:sp>
        <p:sp>
          <p:nvSpPr>
            <p:cNvPr id="389139" name="Text Box 19"/>
            <p:cNvSpPr txBox="1">
              <a:spLocks noChangeArrowheads="1"/>
            </p:cNvSpPr>
            <p:nvPr/>
          </p:nvSpPr>
          <p:spPr bwMode="auto">
            <a:xfrm>
              <a:off x="5193" y="3430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进位</a:t>
              </a:r>
              <a:endParaRPr lang="zh-CN" altLang="en-US" sz="1800" b="1"/>
            </a:p>
          </p:txBody>
        </p:sp>
        <p:sp>
          <p:nvSpPr>
            <p:cNvPr id="389140" name="Text Box 20"/>
            <p:cNvSpPr txBox="1">
              <a:spLocks noChangeArrowheads="1"/>
            </p:cNvSpPr>
            <p:nvPr/>
          </p:nvSpPr>
          <p:spPr bwMode="auto">
            <a:xfrm>
              <a:off x="4740" y="3970"/>
              <a:ext cx="97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/>
                <a:t>功能控制</a:t>
              </a:r>
              <a:endParaRPr lang="zh-CN" altLang="en-US" sz="1800" b="1"/>
            </a:p>
          </p:txBody>
        </p:sp>
        <p:sp>
          <p:nvSpPr>
            <p:cNvPr id="389141" name="Text Box 21"/>
            <p:cNvSpPr txBox="1">
              <a:spLocks noChangeArrowheads="1"/>
            </p:cNvSpPr>
            <p:nvPr/>
          </p:nvSpPr>
          <p:spPr bwMode="auto">
            <a:xfrm>
              <a:off x="4468" y="3022"/>
              <a:ext cx="635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 4</a:t>
              </a:r>
              <a:r>
                <a:rPr lang="zh-CN" altLang="en-US" b="1"/>
                <a:t>位</a:t>
              </a:r>
              <a:endParaRPr lang="zh-CN" altLang="en-US" b="1"/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ALU</a:t>
              </a:r>
              <a:endParaRPr lang="en-US" altLang="zh-CN" b="1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C57A-FD9B-43EB-A8FB-E57D0BDAFA57}" type="slidenum">
              <a:rPr lang="en-US" altLang="zh-CN"/>
            </a:fld>
            <a:endParaRPr lang="en-US" altLang="zh-CN"/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(37)</a:t>
            </a:r>
            <a:endParaRPr lang="en-US" altLang="zh-CN" sz="3600" dirty="0"/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4</a:t>
            </a:r>
            <a:r>
              <a:rPr lang="zh-CN" altLang="en-US" b="1" dirty="0"/>
              <a:t>位算术逻辑运算单元</a:t>
            </a:r>
            <a:endParaRPr lang="zh-CN" altLang="en-US" b="1" dirty="0"/>
          </a:p>
          <a:p>
            <a:pPr lvl="1"/>
            <a:r>
              <a:rPr lang="zh-CN" altLang="en-US" sz="3200" b="1" dirty="0"/>
              <a:t>运算能力的获得方法</a:t>
            </a:r>
            <a:endParaRPr lang="zh-CN" altLang="en-US" sz="3200" b="1" dirty="0"/>
          </a:p>
          <a:p>
            <a:pPr lvl="2"/>
            <a:r>
              <a:rPr lang="zh-CN" altLang="en-US" sz="2800" b="1" dirty="0"/>
              <a:t>方法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：控制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位加法器中的进位逻辑，获得多种运算能力</a:t>
            </a:r>
            <a:endParaRPr lang="en-US" altLang="zh-CN" sz="2800" b="1" dirty="0"/>
          </a:p>
          <a:p>
            <a:pPr lvl="3"/>
            <a:r>
              <a:rPr lang="zh-CN" altLang="en-US" dirty="0"/>
              <a:t>简单、但运算种类少</a:t>
            </a:r>
            <a:endParaRPr lang="zh-CN" altLang="en-US" dirty="0"/>
          </a:p>
          <a:p>
            <a:pPr lvl="2"/>
            <a:r>
              <a:rPr lang="zh-CN" altLang="en-US" sz="2800" b="1" dirty="0"/>
              <a:t>方法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：改变加法器中的</a:t>
            </a:r>
            <a:r>
              <a:rPr lang="en-US" altLang="zh-CN" sz="2800" b="1" dirty="0" err="1"/>
              <a:t>Gi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Pi</a:t>
            </a:r>
            <a:r>
              <a:rPr lang="zh-CN" altLang="en-US" sz="2800" b="1" dirty="0"/>
              <a:t>来获得多种运算能力</a:t>
            </a:r>
            <a:endParaRPr lang="en-US" altLang="zh-CN" sz="2800" b="1" dirty="0"/>
          </a:p>
          <a:p>
            <a:pPr lvl="3"/>
            <a:r>
              <a:rPr lang="zh-CN" altLang="en-US" dirty="0"/>
              <a:t>运算种类多、但运算单元结构较复杂。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1FD72-B895-4B85-965C-5BFBB82A29C8}" type="slidenum">
              <a:rPr lang="en-US" altLang="zh-CN"/>
            </a:fld>
            <a:endParaRPr lang="en-US" altLang="zh-CN"/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6106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(38)</a:t>
            </a:r>
            <a:endParaRPr lang="en-US" altLang="zh-CN" sz="3600" dirty="0"/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：控制</a:t>
            </a:r>
            <a:r>
              <a:rPr lang="en-US" altLang="zh-CN" dirty="0"/>
              <a:t>4</a:t>
            </a:r>
            <a:r>
              <a:rPr lang="zh-CN" altLang="en-US" dirty="0"/>
              <a:t>位加法器中的进位逻辑，获得多种运算能力。</a:t>
            </a:r>
            <a:endParaRPr lang="zh-CN" altLang="en-US" dirty="0"/>
          </a:p>
          <a:p>
            <a:pPr lvl="1"/>
            <a:r>
              <a:rPr lang="zh-CN" altLang="en-US" dirty="0"/>
              <a:t>简单、运算种类较少。</a:t>
            </a:r>
            <a:endParaRPr lang="zh-CN" altLang="en-US" dirty="0"/>
          </a:p>
          <a:p>
            <a:pPr lvl="1"/>
            <a:r>
              <a:rPr lang="zh-CN" altLang="en-US" dirty="0"/>
              <a:t>在控制信号</a:t>
            </a:r>
            <a:r>
              <a:rPr lang="en-US" altLang="zh-CN" dirty="0"/>
              <a:t>C</a:t>
            </a:r>
            <a:r>
              <a:rPr lang="en-US" altLang="zh-CN" baseline="-25000" dirty="0"/>
              <a:t>INH</a:t>
            </a:r>
            <a:r>
              <a:rPr lang="zh-CN" altLang="en-US" dirty="0"/>
              <a:t>、</a:t>
            </a:r>
            <a:r>
              <a:rPr lang="en-US" altLang="zh-CN" dirty="0"/>
              <a:t>E</a:t>
            </a:r>
            <a:r>
              <a:rPr lang="en-US" altLang="zh-CN" baseline="-25000" dirty="0"/>
              <a:t>INH</a:t>
            </a:r>
            <a:r>
              <a:rPr lang="zh-CN" altLang="en-US" dirty="0"/>
              <a:t>的作用下，可以完成</a:t>
            </a:r>
            <a:r>
              <a:rPr lang="en-US" altLang="zh-CN" dirty="0"/>
              <a:t>4</a:t>
            </a:r>
            <a:r>
              <a:rPr lang="zh-CN" altLang="en-US" dirty="0"/>
              <a:t>位数的加、比较和逻辑乘（与）运算。</a:t>
            </a:r>
            <a:endParaRPr lang="zh-CN" altLang="en-US" dirty="0"/>
          </a:p>
          <a:p>
            <a:pPr lvl="1"/>
            <a:r>
              <a:rPr lang="zh-CN" altLang="en-US" dirty="0"/>
              <a:t>如图</a:t>
            </a:r>
            <a:r>
              <a:rPr lang="en-US" altLang="zh-CN" dirty="0"/>
              <a:t>4</a:t>
            </a:r>
            <a:r>
              <a:rPr lang="zh-CN" altLang="en-US" dirty="0"/>
              <a:t>－</a:t>
            </a:r>
            <a:r>
              <a:rPr lang="en-US" altLang="zh-CN" dirty="0"/>
              <a:t>57</a:t>
            </a:r>
            <a:r>
              <a:rPr lang="zh-CN" altLang="en-US" dirty="0"/>
              <a:t>所示（</a:t>
            </a:r>
            <a:r>
              <a:rPr lang="en-US" altLang="zh-CN" dirty="0"/>
              <a:t>P139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1B0B-8DDC-41EB-BF70-71280E5A2F8D}" type="slidenum">
              <a:rPr lang="en-US" altLang="zh-CN"/>
            </a:fld>
            <a:endParaRPr lang="en-US" altLang="zh-CN"/>
          </a:p>
        </p:txBody>
      </p:sp>
      <p:pic>
        <p:nvPicPr>
          <p:cNvPr id="392194" name="Picture 2" descr="4-5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9592" y="143470"/>
            <a:ext cx="7489825" cy="6165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92195" name="Text Box 3"/>
          <p:cNvSpPr txBox="1">
            <a:spLocks noChangeArrowheads="1"/>
          </p:cNvSpPr>
          <p:nvPr/>
        </p:nvSpPr>
        <p:spPr bwMode="auto">
          <a:xfrm>
            <a:off x="1116013" y="6309320"/>
            <a:ext cx="576024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电路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1: 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功能控制加在进位门和半加器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47864" y="5805264"/>
            <a:ext cx="55656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4-57</a:t>
            </a:r>
            <a:endParaRPr lang="zh-CN" alt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0486" y="342900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5736" y="328498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6830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88598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51920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7704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07704" y="378904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6013" y="292494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6013" y="384794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4829261" y="4314582"/>
            <a:ext cx="1069654" cy="9146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6228184" y="4314582"/>
            <a:ext cx="648073" cy="10670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552220" y="5381600"/>
                <a:ext cx="8735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𝑋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∙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20" y="5381600"/>
                <a:ext cx="873509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3" t="-132" r="4" b="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283968" y="5209606"/>
                <a:ext cx="1027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𝑌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5209606"/>
                <a:ext cx="1027397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25" t="-14" r="2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/>
          <p:cNvCxnSpPr/>
          <p:nvPr/>
        </p:nvCxnSpPr>
        <p:spPr>
          <a:xfrm flipH="1" flipV="1">
            <a:off x="5866377" y="4714401"/>
            <a:ext cx="433815" cy="113325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0"/>
              <p:cNvSpPr txBox="1"/>
              <p:nvPr/>
            </p:nvSpPr>
            <p:spPr>
              <a:xfrm>
                <a:off x="5886006" y="5851430"/>
                <a:ext cx="11043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⊕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𝑌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006" y="5851430"/>
                <a:ext cx="1104341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7" t="-117" r="24" b="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21B0B-8DDC-41EB-BF70-71280E5A2F8D}" type="slidenum">
              <a:rPr lang="en-US" altLang="zh-CN"/>
            </a:fld>
            <a:endParaRPr lang="en-US" altLang="zh-CN"/>
          </a:p>
        </p:txBody>
      </p:sp>
      <p:pic>
        <p:nvPicPr>
          <p:cNvPr id="392194" name="Picture 2" descr="4-5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9592" y="143470"/>
            <a:ext cx="7489825" cy="6165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92195" name="Text Box 3"/>
          <p:cNvSpPr txBox="1">
            <a:spLocks noChangeArrowheads="1"/>
          </p:cNvSpPr>
          <p:nvPr/>
        </p:nvSpPr>
        <p:spPr bwMode="auto">
          <a:xfrm>
            <a:off x="1116013" y="6309320"/>
            <a:ext cx="576024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电路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1: 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功能控制加在进位门和半加器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47864" y="5805264"/>
            <a:ext cx="55656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4-57</a:t>
            </a:r>
            <a:endParaRPr lang="zh-CN" alt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7704" y="3378478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23728" y="328498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6830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88598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51920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7704" y="431458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07704" y="378904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5997" y="285293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2061" y="381029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6228184" y="4314582"/>
            <a:ext cx="648073" cy="10670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552220" y="5381600"/>
                <a:ext cx="8735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𝑋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∙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20" y="5381600"/>
                <a:ext cx="873509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3" t="-132" r="4" b="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/>
          <p:cNvCxnSpPr/>
          <p:nvPr/>
        </p:nvCxnSpPr>
        <p:spPr>
          <a:xfrm flipH="1" flipV="1">
            <a:off x="5473082" y="5078923"/>
            <a:ext cx="324035" cy="30267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364088" y="5301208"/>
                <a:ext cx="8735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𝑋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∙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𝑌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5301208"/>
                <a:ext cx="873509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28" t="-49" r="72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/>
          <p:cNvCxnSpPr/>
          <p:nvPr/>
        </p:nvCxnSpPr>
        <p:spPr>
          <a:xfrm flipH="1" flipV="1">
            <a:off x="6084168" y="4653136"/>
            <a:ext cx="792088" cy="7284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3729-5FE7-49D6-A057-A7F1C292065D}" type="slidenum">
              <a:rPr lang="en-US" altLang="zh-CN"/>
            </a:fld>
            <a:endParaRPr lang="en-US" altLang="zh-CN"/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(39)</a:t>
            </a:r>
            <a:endParaRPr lang="en-US" altLang="zh-CN" sz="3600" dirty="0"/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：改变加法器中的</a:t>
            </a:r>
            <a:r>
              <a:rPr lang="en-US" altLang="zh-CN" dirty="0" err="1"/>
              <a:t>Gi</a:t>
            </a:r>
            <a:r>
              <a:rPr lang="zh-CN" altLang="en-US" dirty="0"/>
              <a:t>和</a:t>
            </a:r>
            <a:r>
              <a:rPr lang="en-US" altLang="zh-CN" dirty="0"/>
              <a:t>Pi</a:t>
            </a:r>
            <a:r>
              <a:rPr lang="zh-CN" altLang="en-US" dirty="0"/>
              <a:t>来获得多种运算能力。</a:t>
            </a:r>
            <a:endParaRPr lang="zh-CN" altLang="en-US" dirty="0"/>
          </a:p>
          <a:p>
            <a:pPr lvl="1"/>
            <a:r>
              <a:rPr lang="zh-CN" altLang="en-US" dirty="0"/>
              <a:t>运算种类多、但运算单元结构较复杂。</a:t>
            </a:r>
            <a:endParaRPr lang="zh-CN" altLang="en-US" dirty="0"/>
          </a:p>
          <a:p>
            <a:pPr lvl="1"/>
            <a:r>
              <a:rPr lang="zh-CN" altLang="en-US" dirty="0"/>
              <a:t>图</a:t>
            </a:r>
            <a:r>
              <a:rPr lang="en-US" altLang="zh-CN" dirty="0"/>
              <a:t>4</a:t>
            </a:r>
            <a:r>
              <a:rPr lang="zh-CN" altLang="en-US" dirty="0"/>
              <a:t>－</a:t>
            </a:r>
            <a:r>
              <a:rPr lang="en-US" altLang="zh-CN" dirty="0"/>
              <a:t>59</a:t>
            </a:r>
            <a:r>
              <a:rPr lang="zh-CN" altLang="en-US" dirty="0"/>
              <a:t>给出了这类集成化</a:t>
            </a:r>
            <a:r>
              <a:rPr lang="en-US" altLang="zh-CN" dirty="0"/>
              <a:t>4</a:t>
            </a:r>
            <a:r>
              <a:rPr lang="zh-CN" altLang="en-US" dirty="0"/>
              <a:t>位运算单元（简称功能发生器）的逻辑图。</a:t>
            </a:r>
            <a:endParaRPr lang="zh-CN" altLang="en-US" dirty="0"/>
          </a:p>
          <a:p>
            <a:pPr lvl="1"/>
            <a:r>
              <a:rPr lang="zh-CN" altLang="en-US" dirty="0"/>
              <a:t>它能执行</a:t>
            </a:r>
            <a:r>
              <a:rPr lang="en-US" altLang="zh-CN" dirty="0"/>
              <a:t>16</a:t>
            </a:r>
            <a:r>
              <a:rPr lang="zh-CN" altLang="en-US" dirty="0"/>
              <a:t>种算术运算和</a:t>
            </a:r>
            <a:r>
              <a:rPr lang="en-US" altLang="zh-CN" dirty="0"/>
              <a:t>16</a:t>
            </a:r>
            <a:r>
              <a:rPr lang="zh-CN" altLang="en-US" dirty="0"/>
              <a:t>种逻辑运算。</a:t>
            </a:r>
            <a:endParaRPr lang="zh-CN" altLang="en-US" dirty="0"/>
          </a:p>
          <a:p>
            <a:endParaRPr lang="zh-CN" altLang="en-US" b="1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C963-395B-4D4D-B6BB-D4BA0482DA63}" type="slidenum">
              <a:rPr lang="en-US" altLang="zh-CN"/>
            </a:fld>
            <a:endParaRPr lang="en-US" altLang="zh-CN"/>
          </a:p>
        </p:txBody>
      </p:sp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(40)</a:t>
            </a:r>
            <a:endParaRPr lang="en-US" altLang="zh-CN" sz="3600" dirty="0"/>
          </a:p>
        </p:txBody>
      </p:sp>
      <p:graphicFrame>
        <p:nvGraphicFramePr>
          <p:cNvPr id="394243" name="Object 3"/>
          <p:cNvGraphicFramePr>
            <a:graphicFrameLocks noChangeAspect="1"/>
          </p:cNvGraphicFramePr>
          <p:nvPr/>
        </p:nvGraphicFramePr>
        <p:xfrm>
          <a:off x="914400" y="1981200"/>
          <a:ext cx="7345363" cy="476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506" name="Image" r:id="rId1" imgW="17029430" imgH="11051540" progId="">
                  <p:embed/>
                </p:oleObj>
              </mc:Choice>
              <mc:Fallback>
                <p:oleObj name="Image" r:id="rId1" imgW="17029430" imgH="11051540" progId="">
                  <p:embed/>
                  <p:pic>
                    <p:nvPicPr>
                      <p:cNvPr id="0" name="图片 8714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7345363" cy="476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467756" cy="1085840"/>
          </a:xfrm>
          <a:noFill/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功能表 </a:t>
            </a:r>
            <a:r>
              <a:rPr lang="en-US" altLang="zh-CN" sz="2800" dirty="0"/>
              <a:t>(SN74181)</a:t>
            </a:r>
            <a:endParaRPr lang="en-US" altLang="zh-CN" sz="2000" dirty="0"/>
          </a:p>
          <a:p>
            <a:pPr lvl="1">
              <a:buNone/>
            </a:pPr>
            <a:r>
              <a:rPr lang="en-US" altLang="zh-CN" sz="2000" dirty="0"/>
              <a:t>M</a:t>
            </a:r>
            <a:r>
              <a:rPr lang="zh-CN" altLang="en-US" sz="2000" dirty="0"/>
              <a:t>是状态控制端，</a:t>
            </a:r>
            <a:r>
              <a:rPr lang="en-US" altLang="zh-CN" sz="2000" dirty="0"/>
              <a:t>M</a:t>
            </a:r>
            <a:r>
              <a:rPr lang="zh-CN" altLang="en-US" sz="2000" dirty="0"/>
              <a:t>＝”</a:t>
            </a:r>
            <a:r>
              <a:rPr lang="en-US" altLang="zh-CN" sz="2000" dirty="0"/>
              <a:t>H”</a:t>
            </a:r>
            <a:r>
              <a:rPr lang="zh-CN" altLang="en-US" sz="2000" dirty="0"/>
              <a:t>，执行逻辑运算，反之，执行算术运算。</a:t>
            </a:r>
            <a:endParaRPr lang="zh-CN" altLang="en-US" sz="2000" dirty="0"/>
          </a:p>
          <a:p>
            <a:endParaRPr lang="zh-CN" altLang="en-US" sz="2400" b="1" dirty="0"/>
          </a:p>
          <a:p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899592" y="5013176"/>
            <a:ext cx="3960440" cy="288032"/>
          </a:xfrm>
          <a:prstGeom prst="rect">
            <a:avLst/>
          </a:prstGeom>
          <a:solidFill>
            <a:srgbClr val="D34817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EA6C-1E74-4184-9C4D-CA337E1904A2}" type="slidenum">
              <a:rPr lang="en-US" altLang="zh-CN"/>
            </a:fld>
            <a:endParaRPr lang="en-US" altLang="zh-CN"/>
          </a:p>
        </p:txBody>
      </p:sp>
      <p:graphicFrame>
        <p:nvGraphicFramePr>
          <p:cNvPr id="395266" name="Object 2"/>
          <p:cNvGraphicFramePr>
            <a:graphicFrameLocks noChangeAspect="1"/>
          </p:cNvGraphicFramePr>
          <p:nvPr/>
        </p:nvGraphicFramePr>
        <p:xfrm>
          <a:off x="1219200" y="381000"/>
          <a:ext cx="7367588" cy="554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528" name="Image" r:id="rId1" imgW="15013940" imgH="14679295" progId="">
                  <p:embed/>
                </p:oleObj>
              </mc:Choice>
              <mc:Fallback>
                <p:oleObj name="Image" r:id="rId1" imgW="15013940" imgH="14679295" progId="">
                  <p:embed/>
                  <p:pic>
                    <p:nvPicPr>
                      <p:cNvPr id="0" name="图片 8725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81000"/>
                        <a:ext cx="7367588" cy="554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67" name="Rectangle 3"/>
          <p:cNvSpPr>
            <a:spLocks noChangeArrowheads="1"/>
          </p:cNvSpPr>
          <p:nvPr/>
        </p:nvSpPr>
        <p:spPr bwMode="auto">
          <a:xfrm>
            <a:off x="936227" y="6165850"/>
            <a:ext cx="77402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2: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功能控制加在输入端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改变进位产生函数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2000" b="1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和进位传递函数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20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5268" name="Text Box 4"/>
          <p:cNvSpPr txBox="1">
            <a:spLocks noChangeArrowheads="1"/>
          </p:cNvSpPr>
          <p:nvPr/>
        </p:nvSpPr>
        <p:spPr bwMode="auto">
          <a:xfrm>
            <a:off x="357158" y="4714884"/>
            <a:ext cx="10429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74181</a:t>
            </a:r>
            <a:endParaRPr lang="en-US" altLang="zh-CN" b="1" dirty="0"/>
          </a:p>
          <a:p>
            <a:pPr>
              <a:spcBef>
                <a:spcPct val="50000"/>
              </a:spcBef>
            </a:pPr>
            <a:r>
              <a:rPr lang="en-US" altLang="zh-CN" b="1" dirty="0"/>
              <a:t>P141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61CD4-B6AB-4C1C-A5A4-96D50558A708}" type="slidenum">
              <a:rPr lang="en-US" altLang="zh-CN"/>
            </a:fld>
            <a:endParaRPr lang="en-US" altLang="zh-CN"/>
          </a:p>
        </p:txBody>
      </p:sp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13792"/>
            <a:ext cx="7772400" cy="1143000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   </a:t>
            </a:r>
            <a:r>
              <a:rPr lang="en-US" altLang="zh-CN" sz="2800" dirty="0"/>
              <a:t>(SN74181)</a:t>
            </a:r>
            <a:endParaRPr lang="en-US" altLang="zh-CN" sz="2800" dirty="0"/>
          </a:p>
        </p:txBody>
      </p:sp>
      <p:graphicFrame>
        <p:nvGraphicFramePr>
          <p:cNvPr id="396291" name="Object 3"/>
          <p:cNvGraphicFramePr>
            <a:graphicFrameLocks noChangeAspect="1"/>
          </p:cNvGraphicFramePr>
          <p:nvPr/>
        </p:nvGraphicFramePr>
        <p:xfrm>
          <a:off x="1187450" y="1557338"/>
          <a:ext cx="7200900" cy="511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553" name="Image" r:id="rId1" imgW="15013940" imgH="12359005" progId="">
                  <p:embed/>
                </p:oleObj>
              </mc:Choice>
              <mc:Fallback>
                <p:oleObj name="Image" r:id="rId1" imgW="15013940" imgH="12359005" progId="">
                  <p:embed/>
                  <p:pic>
                    <p:nvPicPr>
                      <p:cNvPr id="0" name="图片 8735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57338"/>
                        <a:ext cx="7200900" cy="511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319485" y="2565400"/>
            <a:ext cx="615553" cy="309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简化逻辑图</a:t>
            </a:r>
            <a:endParaRPr lang="zh-CN" altLang="en-US" sz="2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84168" y="1038162"/>
            <a:ext cx="2961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（控制端＝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HLLH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(41)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2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E0A2-BFB6-4C96-AF1A-16F998187ADD}" type="slidenum">
              <a:rPr lang="en-US" altLang="zh-CN"/>
            </a:fld>
            <a:endParaRPr lang="en-US" altLang="zh-CN"/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85800"/>
            <a:ext cx="7772400" cy="1143000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功能</a:t>
            </a:r>
            <a:endParaRPr lang="zh-CN" altLang="en-US" dirty="0"/>
          </a:p>
        </p:txBody>
      </p:sp>
      <p:sp>
        <p:nvSpPr>
          <p:cNvPr id="397315" name="Rectangle 3"/>
          <p:cNvSpPr>
            <a:spLocks noChangeArrowheads="1"/>
          </p:cNvSpPr>
          <p:nvPr/>
        </p:nvSpPr>
        <p:spPr bwMode="auto">
          <a:xfrm>
            <a:off x="971550" y="1871663"/>
            <a:ext cx="4529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．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M=L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（控制端＝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HLLH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7316" name="Rectangle 4"/>
          <p:cNvSpPr>
            <a:spLocks noChangeArrowheads="1"/>
          </p:cNvSpPr>
          <p:nvPr/>
        </p:nvSpPr>
        <p:spPr bwMode="auto">
          <a:xfrm>
            <a:off x="1403350" y="2414146"/>
            <a:ext cx="1481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13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输出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7317" name="Rectangle 5"/>
          <p:cNvSpPr>
            <a:spLocks noChangeArrowheads="1"/>
          </p:cNvSpPr>
          <p:nvPr/>
        </p:nvSpPr>
        <p:spPr bwMode="auto">
          <a:xfrm>
            <a:off x="1403350" y="2893571"/>
            <a:ext cx="1481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14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输出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7318" name="Rectangle 6"/>
          <p:cNvSpPr>
            <a:spLocks noChangeArrowheads="1"/>
          </p:cNvSpPr>
          <p:nvPr/>
        </p:nvSpPr>
        <p:spPr bwMode="auto">
          <a:xfrm>
            <a:off x="1403350" y="3350771"/>
            <a:ext cx="1481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15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输出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7319" name="Rectangle 7"/>
          <p:cNvSpPr>
            <a:spLocks noChangeArrowheads="1"/>
          </p:cNvSpPr>
          <p:nvPr/>
        </p:nvSpPr>
        <p:spPr bwMode="auto">
          <a:xfrm>
            <a:off x="1403350" y="3854009"/>
            <a:ext cx="1481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输出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7320" name="Rectangle 8"/>
          <p:cNvSpPr>
            <a:spLocks noChangeArrowheads="1"/>
          </p:cNvSpPr>
          <p:nvPr/>
        </p:nvSpPr>
        <p:spPr bwMode="auto">
          <a:xfrm>
            <a:off x="1389063" y="4358834"/>
            <a:ext cx="1481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19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输出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7321" name="Rectangle 9"/>
          <p:cNvSpPr>
            <a:spLocks noChangeArrowheads="1"/>
          </p:cNvSpPr>
          <p:nvPr/>
        </p:nvSpPr>
        <p:spPr bwMode="auto">
          <a:xfrm>
            <a:off x="1390650" y="4974267"/>
            <a:ext cx="717375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13~16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形成以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0~3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0~3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为输入的四位快速加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法器的各进位的反码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97322" name="Object 10"/>
          <p:cNvGraphicFramePr>
            <a:graphicFrameLocks noChangeAspect="1"/>
          </p:cNvGraphicFramePr>
          <p:nvPr/>
        </p:nvGraphicFramePr>
        <p:xfrm>
          <a:off x="2843808" y="2425903"/>
          <a:ext cx="4032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885" name="公式" r:id="rId1" imgW="203200" imgH="254000" progId="Equation.3">
                  <p:embed/>
                </p:oleObj>
              </mc:Choice>
              <mc:Fallback>
                <p:oleObj name="公式" r:id="rId1" imgW="203200" imgH="254000" progId="Equation.3">
                  <p:embed/>
                  <p:pic>
                    <p:nvPicPr>
                      <p:cNvPr id="0" name="图片 8748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425903"/>
                        <a:ext cx="40322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3" name="Object 11"/>
          <p:cNvGraphicFramePr>
            <a:graphicFrameLocks noChangeAspect="1"/>
          </p:cNvGraphicFramePr>
          <p:nvPr/>
        </p:nvGraphicFramePr>
        <p:xfrm>
          <a:off x="2843808" y="2919616"/>
          <a:ext cx="20685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886" name="公式" r:id="rId3" imgW="1040765" imgH="254000" progId="Equation.3">
                  <p:embed/>
                </p:oleObj>
              </mc:Choice>
              <mc:Fallback>
                <p:oleObj name="公式" r:id="rId3" imgW="1040765" imgH="254000" progId="Equation.3">
                  <p:embed/>
                  <p:pic>
                    <p:nvPicPr>
                      <p:cNvPr id="0" name="图片 8748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919616"/>
                        <a:ext cx="206851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4" name="Object 12"/>
          <p:cNvGraphicFramePr>
            <a:graphicFrameLocks noChangeAspect="1"/>
          </p:cNvGraphicFramePr>
          <p:nvPr/>
        </p:nvGraphicFramePr>
        <p:xfrm>
          <a:off x="2843808" y="3353003"/>
          <a:ext cx="3127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887" name="公式" r:id="rId5" imgW="1574800" imgH="254000" progId="Equation.3">
                  <p:embed/>
                </p:oleObj>
              </mc:Choice>
              <mc:Fallback>
                <p:oleObj name="公式" r:id="rId5" imgW="1574800" imgH="254000" progId="Equation.3">
                  <p:embed/>
                  <p:pic>
                    <p:nvPicPr>
                      <p:cNvPr id="0" name="图片 8748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353003"/>
                        <a:ext cx="31273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5" name="Object 13"/>
          <p:cNvGraphicFramePr>
            <a:graphicFrameLocks noChangeAspect="1"/>
          </p:cNvGraphicFramePr>
          <p:nvPr/>
        </p:nvGraphicFramePr>
        <p:xfrm>
          <a:off x="2843808" y="3856241"/>
          <a:ext cx="4537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888" name="公式" r:id="rId7" imgW="2286000" imgH="254000" progId="Equation.3">
                  <p:embed/>
                </p:oleObj>
              </mc:Choice>
              <mc:Fallback>
                <p:oleObj name="公式" r:id="rId7" imgW="2286000" imgH="254000" progId="Equation.3">
                  <p:embed/>
                  <p:pic>
                    <p:nvPicPr>
                      <p:cNvPr id="0" name="图片 8748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856241"/>
                        <a:ext cx="45370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6" name="Object 14"/>
          <p:cNvGraphicFramePr>
            <a:graphicFrameLocks noChangeAspect="1"/>
          </p:cNvGraphicFramePr>
          <p:nvPr/>
        </p:nvGraphicFramePr>
        <p:xfrm>
          <a:off x="2843808" y="4410278"/>
          <a:ext cx="61277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889" name="公式" r:id="rId9" imgW="3086100" imgH="228600" progId="Equation.3">
                  <p:embed/>
                </p:oleObj>
              </mc:Choice>
              <mc:Fallback>
                <p:oleObj name="公式" r:id="rId9" imgW="3086100" imgH="228600" progId="Equation.3">
                  <p:embed/>
                  <p:pic>
                    <p:nvPicPr>
                      <p:cNvPr id="0" name="图片 8748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410278"/>
                        <a:ext cx="612775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(42)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autoUpdateAnimBg="0"/>
      <p:bldP spid="397316" grpId="0" autoUpdateAnimBg="0"/>
      <p:bldP spid="397317" grpId="0" autoUpdateAnimBg="0"/>
      <p:bldP spid="397318" grpId="0" autoUpdateAnimBg="0"/>
      <p:bldP spid="397319" grpId="0" autoUpdateAnimBg="0"/>
      <p:bldP spid="397320" grpId="0" autoUpdateAnimBg="0"/>
      <p:bldP spid="397321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C67A-1EA0-4C78-A98B-52A5E7529A0E}" type="slidenum">
              <a:rPr lang="en-US" altLang="zh-CN"/>
            </a:fld>
            <a:endParaRPr lang="en-US" altLang="zh-CN"/>
          </a:p>
        </p:txBody>
      </p:sp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13792"/>
            <a:ext cx="7772400" cy="1143000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功能</a:t>
            </a:r>
            <a:endParaRPr lang="zh-CN" altLang="en-US" dirty="0"/>
          </a:p>
        </p:txBody>
      </p:sp>
      <p:sp>
        <p:nvSpPr>
          <p:cNvPr id="398339" name="Rectangle 3"/>
          <p:cNvSpPr>
            <a:spLocks noChangeArrowheads="1"/>
          </p:cNvSpPr>
          <p:nvPr/>
        </p:nvSpPr>
        <p:spPr bwMode="auto">
          <a:xfrm>
            <a:off x="1042988" y="1916113"/>
            <a:ext cx="561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19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形成的是第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位向第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位进位的原码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8340" name="Rectangle 4"/>
          <p:cNvSpPr>
            <a:spLocks noChangeArrowheads="1"/>
          </p:cNvSpPr>
          <p:nvPr/>
        </p:nvSpPr>
        <p:spPr bwMode="auto">
          <a:xfrm>
            <a:off x="1042988" y="2420938"/>
            <a:ext cx="7091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21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23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25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27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形成以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为输入的半加和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8341" name="Rectangle 5"/>
          <p:cNvSpPr>
            <a:spLocks noChangeArrowheads="1"/>
          </p:cNvSpPr>
          <p:nvPr/>
        </p:nvSpPr>
        <p:spPr bwMode="auto">
          <a:xfrm>
            <a:off x="1042988" y="2969568"/>
            <a:ext cx="9172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22 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8342" name="Rectangle 6"/>
          <p:cNvSpPr>
            <a:spLocks noChangeArrowheads="1"/>
          </p:cNvSpPr>
          <p:nvPr/>
        </p:nvSpPr>
        <p:spPr bwMode="auto">
          <a:xfrm>
            <a:off x="1042988" y="3498206"/>
            <a:ext cx="9172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24 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8343" name="Rectangle 7"/>
          <p:cNvSpPr>
            <a:spLocks noChangeArrowheads="1"/>
          </p:cNvSpPr>
          <p:nvPr/>
        </p:nvSpPr>
        <p:spPr bwMode="auto">
          <a:xfrm>
            <a:off x="1042988" y="4074468"/>
            <a:ext cx="9172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26 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8344" name="Rectangle 8"/>
          <p:cNvSpPr>
            <a:spLocks noChangeArrowheads="1"/>
          </p:cNvSpPr>
          <p:nvPr/>
        </p:nvSpPr>
        <p:spPr bwMode="auto">
          <a:xfrm>
            <a:off x="1042988" y="4650731"/>
            <a:ext cx="9172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28 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8345" name="Rectangle 9"/>
          <p:cNvSpPr>
            <a:spLocks noChangeArrowheads="1"/>
          </p:cNvSpPr>
          <p:nvPr/>
        </p:nvSpPr>
        <p:spPr bwMode="auto">
          <a:xfrm>
            <a:off x="1062038" y="5042327"/>
            <a:ext cx="30508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--F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是全加和的反码</a:t>
            </a:r>
            <a:endParaRPr lang="zh-CN" altLang="en-US" sz="2400" b="1" baseline="-250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98346" name="Object 10"/>
          <p:cNvGraphicFramePr>
            <a:graphicFrameLocks noChangeAspect="1"/>
          </p:cNvGraphicFramePr>
          <p:nvPr/>
        </p:nvGraphicFramePr>
        <p:xfrm>
          <a:off x="1907704" y="2894012"/>
          <a:ext cx="69977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832" name="公式" r:id="rId1" imgW="3327400" imgH="254000" progId="Equation.3">
                  <p:embed/>
                </p:oleObj>
              </mc:Choice>
              <mc:Fallback>
                <p:oleObj name="公式" r:id="rId1" imgW="3327400" imgH="254000" progId="Equation.3">
                  <p:embed/>
                  <p:pic>
                    <p:nvPicPr>
                      <p:cNvPr id="0" name="图片 8758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894012"/>
                        <a:ext cx="699770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7" name="Object 11"/>
          <p:cNvGraphicFramePr>
            <a:graphicFrameLocks noChangeAspect="1"/>
          </p:cNvGraphicFramePr>
          <p:nvPr/>
        </p:nvGraphicFramePr>
        <p:xfrm>
          <a:off x="1907704" y="3494857"/>
          <a:ext cx="43021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833" name="公式" r:id="rId3" imgW="2044700" imgH="254000" progId="Equation.3">
                  <p:embed/>
                </p:oleObj>
              </mc:Choice>
              <mc:Fallback>
                <p:oleObj name="公式" r:id="rId3" imgW="2044700" imgH="254000" progId="Equation.3">
                  <p:embed/>
                  <p:pic>
                    <p:nvPicPr>
                      <p:cNvPr id="0" name="图片 8758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494857"/>
                        <a:ext cx="430212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8" name="Object 12"/>
          <p:cNvGraphicFramePr>
            <a:graphicFrameLocks noChangeAspect="1"/>
          </p:cNvGraphicFramePr>
          <p:nvPr/>
        </p:nvGraphicFramePr>
        <p:xfrm>
          <a:off x="1907704" y="4029844"/>
          <a:ext cx="4356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834" name="公式" r:id="rId5" imgW="2070100" imgH="254000" progId="Equation.3">
                  <p:embed/>
                </p:oleObj>
              </mc:Choice>
              <mc:Fallback>
                <p:oleObj name="公式" r:id="rId5" imgW="2070100" imgH="254000" progId="Equation.3">
                  <p:embed/>
                  <p:pic>
                    <p:nvPicPr>
                      <p:cNvPr id="0" name="图片 8758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029844"/>
                        <a:ext cx="43561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9" name="Object 13"/>
          <p:cNvGraphicFramePr>
            <a:graphicFrameLocks noChangeAspect="1"/>
          </p:cNvGraphicFramePr>
          <p:nvPr/>
        </p:nvGraphicFramePr>
        <p:xfrm>
          <a:off x="1907704" y="4575944"/>
          <a:ext cx="43545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835" name="公式" r:id="rId7" imgW="2070100" imgH="254000" progId="Equation.3">
                  <p:embed/>
                </p:oleObj>
              </mc:Choice>
              <mc:Fallback>
                <p:oleObj name="公式" r:id="rId7" imgW="2070100" imgH="254000" progId="Equation.3">
                  <p:embed/>
                  <p:pic>
                    <p:nvPicPr>
                      <p:cNvPr id="0" name="图片 8758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575944"/>
                        <a:ext cx="4354513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(43)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9" grpId="0" autoUpdateAnimBg="0"/>
      <p:bldP spid="398340" grpId="0" autoUpdateAnimBg="0"/>
      <p:bldP spid="398341" grpId="0" autoUpdateAnimBg="0"/>
      <p:bldP spid="398342" grpId="0" autoUpdateAnimBg="0"/>
      <p:bldP spid="398343" grpId="0" autoUpdateAnimBg="0"/>
      <p:bldP spid="398344" grpId="0" autoUpdateAnimBg="0"/>
      <p:bldP spid="398345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5B3E-4123-4238-A90B-5E9B645FB11A}" type="slidenum">
              <a:rPr lang="en-US" altLang="zh-CN"/>
            </a:fld>
            <a:endParaRPr lang="en-US" altLang="zh-CN"/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13792"/>
            <a:ext cx="7772400" cy="1143000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功能</a:t>
            </a:r>
            <a:endParaRPr lang="zh-CN" altLang="en-US" dirty="0"/>
          </a:p>
        </p:txBody>
      </p:sp>
      <p:graphicFrame>
        <p:nvGraphicFramePr>
          <p:cNvPr id="399363" name="Object 3"/>
          <p:cNvGraphicFramePr>
            <a:graphicFrameLocks noChangeAspect="1"/>
          </p:cNvGraphicFramePr>
          <p:nvPr/>
        </p:nvGraphicFramePr>
        <p:xfrm>
          <a:off x="1258888" y="2133600"/>
          <a:ext cx="6632575" cy="430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625" name="Image" r:id="rId1" imgW="6656705" imgH="4316095" progId="">
                  <p:embed/>
                </p:oleObj>
              </mc:Choice>
              <mc:Fallback>
                <p:oleObj name="Image" r:id="rId1" imgW="6656705" imgH="4316095" progId="">
                  <p:embed/>
                  <p:pic>
                    <p:nvPicPr>
                      <p:cNvPr id="0" name="图片 8766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33600"/>
                        <a:ext cx="6632575" cy="430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(44)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85E1-C2DF-4EE2-AC64-657B5465F363}" type="slidenum">
              <a:rPr lang="en-US" altLang="zh-CN"/>
            </a:fld>
            <a:endParaRPr lang="en-US" altLang="zh-CN"/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13792"/>
            <a:ext cx="7772400" cy="1143000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ALU</a:t>
            </a:r>
            <a:r>
              <a:rPr lang="zh-CN" altLang="en-US" dirty="0"/>
              <a:t>功能</a:t>
            </a:r>
            <a:endParaRPr lang="zh-CN" altLang="en-US" dirty="0"/>
          </a:p>
        </p:txBody>
      </p:sp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900113" y="1844675"/>
            <a:ext cx="524352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．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M=H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（控制端＝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HLLH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0388" name="Rectangle 4"/>
          <p:cNvSpPr>
            <a:spLocks noChangeArrowheads="1"/>
          </p:cNvSpPr>
          <p:nvPr/>
        </p:nvSpPr>
        <p:spPr bwMode="auto">
          <a:xfrm>
            <a:off x="757238" y="2276475"/>
            <a:ext cx="790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indent="266700" algn="ctr"/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门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13~16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均被封锁，位间没有操作，电路执行逻辑运算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00389" name="Group 5"/>
          <p:cNvGrpSpPr/>
          <p:nvPr/>
        </p:nvGrpSpPr>
        <p:grpSpPr bwMode="auto">
          <a:xfrm>
            <a:off x="827088" y="2781300"/>
            <a:ext cx="3560762" cy="520700"/>
            <a:chOff x="521" y="1752"/>
            <a:chExt cx="2243" cy="328"/>
          </a:xfrm>
        </p:grpSpPr>
        <p:sp>
          <p:nvSpPr>
            <p:cNvPr id="400390" name="Rectangle 6"/>
            <p:cNvSpPr>
              <a:spLocks noChangeArrowheads="1"/>
            </p:cNvSpPr>
            <p:nvPr/>
          </p:nvSpPr>
          <p:spPr bwMode="auto">
            <a:xfrm>
              <a:off x="521" y="1752"/>
              <a:ext cx="11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电路输出为 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400391" name="Object 7"/>
            <p:cNvGraphicFramePr>
              <a:graphicFrameLocks noChangeAspect="1"/>
            </p:cNvGraphicFramePr>
            <p:nvPr/>
          </p:nvGraphicFramePr>
          <p:xfrm>
            <a:off x="1537" y="1752"/>
            <a:ext cx="1227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7726" name="公式" r:id="rId1" imgW="951865" imgH="254000" progId="Equation.3">
                    <p:embed/>
                  </p:oleObj>
                </mc:Choice>
                <mc:Fallback>
                  <p:oleObj name="公式" r:id="rId1" imgW="951865" imgH="254000" progId="Equation.3">
                    <p:embed/>
                    <p:pic>
                      <p:nvPicPr>
                        <p:cNvPr id="0" name="图片 8777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7" y="1752"/>
                          <a:ext cx="1227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0392" name="Rectangle 8"/>
          <p:cNvSpPr>
            <a:spLocks noChangeArrowheads="1"/>
          </p:cNvSpPr>
          <p:nvPr/>
        </p:nvSpPr>
        <p:spPr bwMode="auto">
          <a:xfrm>
            <a:off x="827088" y="3318083"/>
            <a:ext cx="26468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电路是异或非逻辑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（比较器）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. 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400393" name="Object 9"/>
          <p:cNvGraphicFramePr>
            <a:graphicFrameLocks noChangeAspect="1"/>
          </p:cNvGraphicFramePr>
          <p:nvPr/>
        </p:nvGraphicFramePr>
        <p:xfrm>
          <a:off x="4211638" y="3357563"/>
          <a:ext cx="4679950" cy="322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727" name="Image" r:id="rId3" imgW="5161915" imgH="3559175" progId="">
                  <p:embed/>
                </p:oleObj>
              </mc:Choice>
              <mc:Fallback>
                <p:oleObj name="Image" r:id="rId3" imgW="5161915" imgH="3559175" progId="">
                  <p:embed/>
                  <p:pic>
                    <p:nvPicPr>
                      <p:cNvPr id="0" name="图片 8777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357563"/>
                        <a:ext cx="4679950" cy="322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(45)</a:t>
            </a:r>
            <a:endParaRPr lang="en-US" altLang="zh-CN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autoUpdateAnimBg="0"/>
      <p:bldP spid="400388" grpId="0" autoUpdateAnimBg="0"/>
      <p:bldP spid="400392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MIT</a:t>
            </a:r>
            <a:r>
              <a:rPr lang="zh-CN" altLang="en-US" dirty="0"/>
              <a:t>数字逻辑电路课中的</a:t>
            </a:r>
            <a:r>
              <a:rPr lang="en-US" altLang="zh-CN" dirty="0"/>
              <a:t>ALU</a:t>
            </a:r>
            <a:r>
              <a:rPr lang="zh-CN" altLang="en-US" dirty="0"/>
              <a:t>课件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00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-1"/>
            <a:ext cx="8820472" cy="6815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7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7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5" y="-1"/>
            <a:ext cx="8875061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6" y="-1"/>
            <a:ext cx="8875060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54" y="5190"/>
            <a:ext cx="8868342" cy="6852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894"/>
            <a:ext cx="8784976" cy="678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7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4" y="11781"/>
            <a:ext cx="8859812" cy="6846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4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7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pic>
        <p:nvPicPr>
          <p:cNvPr id="65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7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387F-02A2-45A9-B41C-FD32DA3B9EED}" type="slidenum">
              <a:rPr lang="en-US" altLang="zh-CN"/>
            </a:fld>
            <a:endParaRPr lang="en-US" altLang="zh-CN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1</a:t>
            </a:r>
            <a:r>
              <a:rPr lang="zh-CN" altLang="en-US" b="1" dirty="0">
                <a:solidFill>
                  <a:srgbClr val="002060"/>
                </a:solidFill>
              </a:rPr>
              <a:t>位加法器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4</a:t>
            </a:r>
            <a:r>
              <a:rPr lang="zh-CN" altLang="en-US" b="1" dirty="0">
                <a:solidFill>
                  <a:srgbClr val="002060"/>
                </a:solidFill>
              </a:rPr>
              <a:t>位串行进位加法器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4</a:t>
            </a:r>
            <a:r>
              <a:rPr lang="zh-CN" altLang="en-US" b="1" dirty="0">
                <a:solidFill>
                  <a:srgbClr val="002060"/>
                </a:solidFill>
              </a:rPr>
              <a:t>位并行进位加法器和快速进位逻辑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/>
              <a:t>16</a:t>
            </a:r>
            <a:r>
              <a:rPr lang="zh-CN" altLang="en-US" b="1" dirty="0"/>
              <a:t>位并行进位加法器</a:t>
            </a:r>
            <a:endParaRPr lang="zh-CN" altLang="en-US" b="1" dirty="0"/>
          </a:p>
          <a:p>
            <a:pPr lvl="1"/>
            <a:r>
              <a:rPr lang="zh-CN" altLang="en-US" dirty="0"/>
              <a:t>算术运算逻辑单元</a:t>
            </a:r>
            <a:endParaRPr lang="zh-CN" altLang="en-US" dirty="0"/>
          </a:p>
          <a:p>
            <a:pPr lvl="2"/>
            <a:r>
              <a:rPr lang="en-US" altLang="zh-CN" b="1" dirty="0"/>
              <a:t>4</a:t>
            </a:r>
            <a:r>
              <a:rPr lang="zh-CN" altLang="en-US" b="1" dirty="0"/>
              <a:t>位算术逻辑运算单元</a:t>
            </a:r>
            <a:endParaRPr lang="en-US" altLang="zh-CN" b="1" dirty="0"/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乘法器（不要求掌握，不考</a:t>
            </a:r>
            <a:r>
              <a:rPr lang="en-US" altLang="zh-CN" dirty="0">
                <a:solidFill>
                  <a:srgbClr val="7030A0"/>
                </a:solidFill>
              </a:rPr>
              <a:t>!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endParaRPr lang="en-US" altLang="zh-CN" dirty="0">
              <a:solidFill>
                <a:srgbClr val="7030A0"/>
              </a:solidFill>
            </a:endParaRPr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乘加器（不要求掌握，不考</a:t>
            </a:r>
            <a:r>
              <a:rPr lang="en-US" altLang="zh-CN" dirty="0">
                <a:solidFill>
                  <a:srgbClr val="7030A0"/>
                </a:solidFill>
              </a:rPr>
              <a:t>!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乘法器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(46)</a:t>
            </a:r>
            <a:endParaRPr lang="en-US" altLang="zh-CN" sz="3600" dirty="0"/>
          </a:p>
        </p:txBody>
      </p:sp>
      <p:sp>
        <p:nvSpPr>
          <p:cNvPr id="3" name="文本框 2"/>
          <p:cNvSpPr txBox="1"/>
          <p:nvPr/>
        </p:nvSpPr>
        <p:spPr>
          <a:xfrm>
            <a:off x="766792" y="1772816"/>
            <a:ext cx="79816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深度学习和大模型技术的迅速发展，如何实现更加高效的计算？比如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4-bit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量化的大模型的基本计算单元，需要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4-bit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加法、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4-bit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乘法以及其他运算符的组合。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十</a:t>
            </a:r>
            <a:r>
              <a:rPr lang="en-US" altLang="zh-CN" dirty="0"/>
              <a:t>/</a:t>
            </a:r>
            <a:r>
              <a:rPr lang="zh-CN" altLang="en-US" dirty="0"/>
              <a:t>二进制乘法</a:t>
            </a:r>
            <a:endParaRPr lang="en-US" altLang="zh-CN" sz="3200" baseline="-25000" dirty="0"/>
          </a:p>
        </p:txBody>
      </p:sp>
      <p:grpSp>
        <p:nvGrpSpPr>
          <p:cNvPr id="5" name="Group 2"/>
          <p:cNvGrpSpPr/>
          <p:nvPr/>
        </p:nvGrpSpPr>
        <p:grpSpPr bwMode="auto">
          <a:xfrm>
            <a:off x="1586010" y="3179983"/>
            <a:ext cx="2249092" cy="1476374"/>
            <a:chOff x="944" y="1593"/>
            <a:chExt cx="1889" cy="930"/>
          </a:xfrm>
        </p:grpSpPr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944" y="1593"/>
              <a:ext cx="1889" cy="6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      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0  0  1  1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ⅹ)   0  1  0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 flipV="1">
              <a:off x="1197" y="2200"/>
              <a:ext cx="1573" cy="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1559" y="2193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0  0  1  1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grpSp>
        <p:nvGrpSpPr>
          <p:cNvPr id="10" name="Group 6"/>
          <p:cNvGrpSpPr/>
          <p:nvPr/>
        </p:nvGrpSpPr>
        <p:grpSpPr bwMode="auto">
          <a:xfrm>
            <a:off x="865930" y="5029672"/>
            <a:ext cx="2964658" cy="1063624"/>
            <a:chOff x="944" y="2486"/>
            <a:chExt cx="2490" cy="670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944" y="2486"/>
              <a:ext cx="55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＋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)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1571" y="2490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0  0  1  1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1149" y="2826"/>
              <a:ext cx="2226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583" y="2826"/>
              <a:ext cx="185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0  0  1  1  1  1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95536" y="2133851"/>
            <a:ext cx="3959738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例如：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0011ⅹ0101=1111</a:t>
            </a:r>
            <a:endParaRPr lang="en-US" altLang="zh-CN" sz="2800" b="1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pSp>
        <p:nvGrpSpPr>
          <p:cNvPr id="16" name="Group 12"/>
          <p:cNvGrpSpPr/>
          <p:nvPr/>
        </p:nvGrpSpPr>
        <p:grpSpPr bwMode="auto">
          <a:xfrm>
            <a:off x="5707036" y="3179976"/>
            <a:ext cx="2969420" cy="1476375"/>
            <a:chOff x="3003" y="1593"/>
            <a:chExt cx="2494" cy="930"/>
          </a:xfrm>
        </p:grpSpPr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3003" y="2193"/>
              <a:ext cx="2494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1  1  0  0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3115" y="1593"/>
              <a:ext cx="1838" cy="6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      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1  1  0  0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ⅹ)   1  1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3280" y="2211"/>
              <a:ext cx="1673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grpSp>
        <p:nvGrpSpPr>
          <p:cNvPr id="20" name="Group 16"/>
          <p:cNvGrpSpPr/>
          <p:nvPr/>
        </p:nvGrpSpPr>
        <p:grpSpPr bwMode="auto">
          <a:xfrm>
            <a:off x="4787860" y="4597621"/>
            <a:ext cx="3562345" cy="1063627"/>
            <a:chOff x="2231" y="2486"/>
            <a:chExt cx="2992" cy="670"/>
          </a:xfrm>
        </p:grpSpPr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413" y="2826"/>
              <a:ext cx="2810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  1  0  0  1  0  0  0  0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2231" y="2486"/>
              <a:ext cx="607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＋</a:t>
              </a:r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)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2836" y="2490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1  1  0  0</a:t>
              </a:r>
              <a:endPara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V="1">
              <a:off x="2338" y="2842"/>
              <a:ext cx="26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p:sp>
        <p:nvSpPr>
          <p:cNvPr id="26" name="TextBox 6"/>
          <p:cNvSpPr txBox="1"/>
          <p:nvPr/>
        </p:nvSpPr>
        <p:spPr>
          <a:xfrm>
            <a:off x="1437936" y="1628800"/>
            <a:ext cx="6806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    3       5        15            12      12          144</a:t>
            </a:r>
            <a:endParaRPr lang="zh-CN" altLang="en-US" sz="2800" dirty="0">
              <a:solidFill>
                <a:srgbClr val="FF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4663741" y="2106434"/>
            <a:ext cx="368562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1100ⅹ1100= 10010000</a:t>
            </a:r>
            <a:endParaRPr lang="en-US" altLang="zh-CN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(47)</a:t>
            </a:r>
            <a:endParaRPr lang="en-US" altLang="zh-CN" sz="3600" dirty="0"/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1979712" y="4581128"/>
            <a:ext cx="1441848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0  0  0  0</a:t>
            </a:r>
            <a:endParaRPr lang="en-US" altLang="zh-CN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四位乘法器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(48)</a:t>
            </a:r>
            <a:endParaRPr lang="en-US" altLang="zh-CN" sz="3600" dirty="0"/>
          </a:p>
        </p:txBody>
      </p:sp>
      <p:sp>
        <p:nvSpPr>
          <p:cNvPr id="2" name="文本框 1"/>
          <p:cNvSpPr txBox="1"/>
          <p:nvPr/>
        </p:nvSpPr>
        <p:spPr>
          <a:xfrm>
            <a:off x="7878348" y="2564904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29" name="文本框 28"/>
          <p:cNvSpPr txBox="1"/>
          <p:nvPr/>
        </p:nvSpPr>
        <p:spPr>
          <a:xfrm>
            <a:off x="7878348" y="3140968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31" name="文本框 30"/>
          <p:cNvSpPr txBox="1"/>
          <p:nvPr/>
        </p:nvSpPr>
        <p:spPr>
          <a:xfrm>
            <a:off x="7088266" y="2564904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33" name="文本框 32"/>
          <p:cNvSpPr txBox="1"/>
          <p:nvPr/>
        </p:nvSpPr>
        <p:spPr>
          <a:xfrm>
            <a:off x="7088266" y="314096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34" name="文本框 33"/>
          <p:cNvSpPr txBox="1"/>
          <p:nvPr/>
        </p:nvSpPr>
        <p:spPr>
          <a:xfrm>
            <a:off x="6298185" y="2564904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35" name="文本框 34"/>
          <p:cNvSpPr txBox="1"/>
          <p:nvPr/>
        </p:nvSpPr>
        <p:spPr>
          <a:xfrm>
            <a:off x="6298185" y="314096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36" name="文本框 35"/>
          <p:cNvSpPr txBox="1"/>
          <p:nvPr/>
        </p:nvSpPr>
        <p:spPr>
          <a:xfrm>
            <a:off x="5508104" y="2564904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37" name="文本框 36"/>
          <p:cNvSpPr txBox="1"/>
          <p:nvPr/>
        </p:nvSpPr>
        <p:spPr>
          <a:xfrm>
            <a:off x="5508104" y="314096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4355976" y="3068960"/>
            <a:ext cx="752129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ⅹ) </a:t>
            </a:r>
            <a:endParaRPr lang="en-US" altLang="zh-CN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9" name="Line 4"/>
          <p:cNvSpPr>
            <a:spLocks noChangeShapeType="1"/>
          </p:cNvSpPr>
          <p:nvPr/>
        </p:nvSpPr>
        <p:spPr bwMode="auto">
          <a:xfrm>
            <a:off x="4355975" y="3636168"/>
            <a:ext cx="4291869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812360" y="3725684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41" name="文本框 40"/>
          <p:cNvSpPr txBox="1"/>
          <p:nvPr/>
        </p:nvSpPr>
        <p:spPr>
          <a:xfrm>
            <a:off x="7013466" y="3725684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42" name="文本框 41"/>
          <p:cNvSpPr txBox="1"/>
          <p:nvPr/>
        </p:nvSpPr>
        <p:spPr>
          <a:xfrm>
            <a:off x="6214572" y="3725684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43" name="文本框 42"/>
          <p:cNvSpPr txBox="1"/>
          <p:nvPr/>
        </p:nvSpPr>
        <p:spPr>
          <a:xfrm>
            <a:off x="5415678" y="3725684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44" name="文本框 43"/>
          <p:cNvSpPr txBox="1"/>
          <p:nvPr/>
        </p:nvSpPr>
        <p:spPr>
          <a:xfrm>
            <a:off x="7040690" y="4191471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241796" y="4191471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46" name="文本框 45"/>
          <p:cNvSpPr txBox="1"/>
          <p:nvPr/>
        </p:nvSpPr>
        <p:spPr>
          <a:xfrm>
            <a:off x="5442902" y="4191471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47" name="文本框 46"/>
          <p:cNvSpPr txBox="1"/>
          <p:nvPr/>
        </p:nvSpPr>
        <p:spPr>
          <a:xfrm>
            <a:off x="4644008" y="4191471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48" name="文本框 47"/>
          <p:cNvSpPr txBox="1"/>
          <p:nvPr/>
        </p:nvSpPr>
        <p:spPr>
          <a:xfrm>
            <a:off x="6248602" y="4695527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49" name="文本框 48"/>
          <p:cNvSpPr txBox="1"/>
          <p:nvPr/>
        </p:nvSpPr>
        <p:spPr>
          <a:xfrm>
            <a:off x="5449708" y="4695527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50" name="文本框 49"/>
          <p:cNvSpPr txBox="1"/>
          <p:nvPr/>
        </p:nvSpPr>
        <p:spPr>
          <a:xfrm>
            <a:off x="4650814" y="4695527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51" name="文本框 50"/>
          <p:cNvSpPr txBox="1"/>
          <p:nvPr/>
        </p:nvSpPr>
        <p:spPr>
          <a:xfrm>
            <a:off x="3851920" y="4695527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52" name="文本框 51"/>
          <p:cNvSpPr txBox="1"/>
          <p:nvPr/>
        </p:nvSpPr>
        <p:spPr>
          <a:xfrm>
            <a:off x="5456514" y="5199583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53" name="文本框 52"/>
          <p:cNvSpPr txBox="1"/>
          <p:nvPr/>
        </p:nvSpPr>
        <p:spPr>
          <a:xfrm>
            <a:off x="4657620" y="5199583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54" name="文本框 53"/>
          <p:cNvSpPr txBox="1"/>
          <p:nvPr/>
        </p:nvSpPr>
        <p:spPr>
          <a:xfrm>
            <a:off x="3858726" y="5199583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55" name="文本框 54"/>
          <p:cNvSpPr txBox="1"/>
          <p:nvPr/>
        </p:nvSpPr>
        <p:spPr>
          <a:xfrm>
            <a:off x="3059832" y="5199583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56" name="Line 4"/>
          <p:cNvSpPr>
            <a:spLocks noChangeShapeType="1"/>
          </p:cNvSpPr>
          <p:nvPr/>
        </p:nvSpPr>
        <p:spPr bwMode="auto">
          <a:xfrm flipV="1">
            <a:off x="1979712" y="5766792"/>
            <a:ext cx="66681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7" name="Text Box 3"/>
          <p:cNvSpPr txBox="1">
            <a:spLocks noChangeArrowheads="1"/>
          </p:cNvSpPr>
          <p:nvPr/>
        </p:nvSpPr>
        <p:spPr bwMode="auto">
          <a:xfrm>
            <a:off x="2035696" y="5138028"/>
            <a:ext cx="662361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</a:rPr>
              <a:t>+ ) </a:t>
            </a:r>
            <a:endParaRPr lang="en-US" altLang="zh-CN" sz="28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879263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59" name="文本框 58"/>
          <p:cNvSpPr txBox="1"/>
          <p:nvPr/>
        </p:nvSpPr>
        <p:spPr>
          <a:xfrm>
            <a:off x="7089181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60" name="文本框 59"/>
          <p:cNvSpPr txBox="1"/>
          <p:nvPr/>
        </p:nvSpPr>
        <p:spPr>
          <a:xfrm>
            <a:off x="6299100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61" name="文本框 60"/>
          <p:cNvSpPr txBox="1"/>
          <p:nvPr/>
        </p:nvSpPr>
        <p:spPr>
          <a:xfrm>
            <a:off x="5509019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62" name="文本框 61"/>
          <p:cNvSpPr txBox="1"/>
          <p:nvPr/>
        </p:nvSpPr>
        <p:spPr>
          <a:xfrm>
            <a:off x="4782004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4</a:t>
            </a:r>
            <a:endParaRPr lang="zh-CN" altLang="en-US" baseline="-25000" dirty="0"/>
          </a:p>
        </p:txBody>
      </p:sp>
      <p:sp>
        <p:nvSpPr>
          <p:cNvPr id="63" name="文本框 62"/>
          <p:cNvSpPr txBox="1"/>
          <p:nvPr/>
        </p:nvSpPr>
        <p:spPr>
          <a:xfrm>
            <a:off x="3991922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5</a:t>
            </a:r>
            <a:endParaRPr lang="zh-CN" altLang="en-US" baseline="-25000" dirty="0"/>
          </a:p>
        </p:txBody>
      </p:sp>
      <p:sp>
        <p:nvSpPr>
          <p:cNvPr id="64" name="文本框 63"/>
          <p:cNvSpPr txBox="1"/>
          <p:nvPr/>
        </p:nvSpPr>
        <p:spPr>
          <a:xfrm>
            <a:off x="3201841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6</a:t>
            </a:r>
            <a:endParaRPr lang="zh-CN" altLang="en-US" baseline="-25000" dirty="0"/>
          </a:p>
        </p:txBody>
      </p:sp>
      <p:sp>
        <p:nvSpPr>
          <p:cNvPr id="65" name="文本框 64"/>
          <p:cNvSpPr txBox="1"/>
          <p:nvPr/>
        </p:nvSpPr>
        <p:spPr>
          <a:xfrm>
            <a:off x="2411760" y="5847655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7</a:t>
            </a:r>
            <a:endParaRPr lang="zh-CN" altLang="en-US" baseline="-25000" dirty="0"/>
          </a:p>
        </p:txBody>
      </p:sp>
      <p:graphicFrame>
        <p:nvGraphicFramePr>
          <p:cNvPr id="66" name="Group 5"/>
          <p:cNvGraphicFramePr>
            <a:graphicFrameLocks noGrp="1"/>
          </p:cNvGraphicFramePr>
          <p:nvPr/>
        </p:nvGraphicFramePr>
        <p:xfrm>
          <a:off x="543941" y="2148539"/>
          <a:ext cx="2832100" cy="2286000"/>
        </p:xfrm>
        <a:graphic>
          <a:graphicData uri="http://schemas.openxmlformats.org/drawingml/2006/table">
            <a:tbl>
              <a:tblPr/>
              <a:tblGrid>
                <a:gridCol w="944563"/>
                <a:gridCol w="942975"/>
                <a:gridCol w="944562"/>
              </a:tblGrid>
              <a:tr h="234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26229" y="1599183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一位乘法功能表（与运算）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四位乘法器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(49)</a:t>
            </a:r>
            <a:endParaRPr lang="en-US" altLang="zh-CN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152" y="188913"/>
            <a:ext cx="2929880" cy="180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7" name="文本框 66"/>
          <p:cNvSpPr txBox="1"/>
          <p:nvPr/>
        </p:nvSpPr>
        <p:spPr>
          <a:xfrm>
            <a:off x="1619672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68" name="文本框 67"/>
          <p:cNvSpPr txBox="1"/>
          <p:nvPr/>
        </p:nvSpPr>
        <p:spPr>
          <a:xfrm>
            <a:off x="1193858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69" name="文本框 68"/>
          <p:cNvSpPr txBox="1"/>
          <p:nvPr/>
        </p:nvSpPr>
        <p:spPr>
          <a:xfrm>
            <a:off x="768043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70" name="文本框 69"/>
          <p:cNvSpPr txBox="1"/>
          <p:nvPr/>
        </p:nvSpPr>
        <p:spPr>
          <a:xfrm>
            <a:off x="342228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8" name="直接连接符 7"/>
          <p:cNvCxnSpPr>
            <a:stCxn id="70" idx="2"/>
          </p:cNvCxnSpPr>
          <p:nvPr/>
        </p:nvCxnSpPr>
        <p:spPr>
          <a:xfrm>
            <a:off x="597266" y="1874441"/>
            <a:ext cx="10621" cy="41574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1011944" y="1874441"/>
            <a:ext cx="0" cy="40854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418011" y="1874441"/>
            <a:ext cx="10621" cy="40134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840657" y="1874441"/>
            <a:ext cx="0" cy="39414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3053080" y="2351107"/>
            <a:ext cx="52633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8309284" y="213285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76" name="文本框 75"/>
          <p:cNvSpPr txBox="1"/>
          <p:nvPr/>
        </p:nvSpPr>
        <p:spPr>
          <a:xfrm>
            <a:off x="8309284" y="33471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77" name="文本框 76"/>
          <p:cNvSpPr txBox="1"/>
          <p:nvPr/>
        </p:nvSpPr>
        <p:spPr>
          <a:xfrm>
            <a:off x="8309284" y="456138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78" name="文本框 77"/>
          <p:cNvSpPr txBox="1"/>
          <p:nvPr/>
        </p:nvSpPr>
        <p:spPr>
          <a:xfrm>
            <a:off x="8309284" y="579446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79" name="直接连接符 78"/>
          <p:cNvCxnSpPr/>
          <p:nvPr/>
        </p:nvCxnSpPr>
        <p:spPr>
          <a:xfrm>
            <a:off x="3053080" y="3573016"/>
            <a:ext cx="52633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3053080" y="4797152"/>
            <a:ext cx="52633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3045948" y="6040110"/>
            <a:ext cx="52633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840657" y="2132856"/>
            <a:ext cx="5246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1418011" y="2204864"/>
            <a:ext cx="42391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1011944" y="2276872"/>
            <a:ext cx="32150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597266" y="2348880"/>
            <a:ext cx="21995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2640076" y="2348880"/>
            <a:ext cx="869432" cy="667817"/>
            <a:chOff x="2640076" y="2348880"/>
            <a:chExt cx="869432" cy="667817"/>
          </a:xfrm>
        </p:grpSpPr>
        <p:sp>
          <p:nvSpPr>
            <p:cNvPr id="10" name="矩形 9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7" name="直接连接符 86"/>
            <p:cNvCxnSpPr/>
            <p:nvPr/>
          </p:nvCxnSpPr>
          <p:spPr>
            <a:xfrm>
              <a:off x="2796830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本框 92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3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0</a:t>
              </a:r>
              <a:endParaRPr lang="zh-CN" altLang="en-US" sz="1400" baseline="-25000" dirty="0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4070263" y="2276872"/>
            <a:ext cx="869432" cy="739825"/>
            <a:chOff x="2640076" y="2276872"/>
            <a:chExt cx="869432" cy="739825"/>
          </a:xfrm>
        </p:grpSpPr>
        <p:sp>
          <p:nvSpPr>
            <p:cNvPr id="107" name="矩形 106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8" name="直接连接符 107"/>
            <p:cNvCxnSpPr/>
            <p:nvPr/>
          </p:nvCxnSpPr>
          <p:spPr>
            <a:xfrm>
              <a:off x="2796830" y="2276872"/>
              <a:ext cx="0" cy="2165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文本框 110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2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0</a:t>
              </a:r>
              <a:endParaRPr lang="zh-CN" altLang="en-US" sz="1400" baseline="-25000" dirty="0"/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5500450" y="2204864"/>
            <a:ext cx="869432" cy="811833"/>
            <a:chOff x="2640076" y="2204864"/>
            <a:chExt cx="869432" cy="811833"/>
          </a:xfrm>
        </p:grpSpPr>
        <p:sp>
          <p:nvSpPr>
            <p:cNvPr id="113" name="矩形 112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4" name="直接连接符 113"/>
            <p:cNvCxnSpPr/>
            <p:nvPr/>
          </p:nvCxnSpPr>
          <p:spPr>
            <a:xfrm>
              <a:off x="2796830" y="2204864"/>
              <a:ext cx="0" cy="28856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文本框 116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1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0</a:t>
              </a:r>
              <a:endParaRPr lang="zh-CN" altLang="en-US" sz="1400" baseline="-25000" dirty="0"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6930636" y="2132856"/>
            <a:ext cx="869432" cy="883841"/>
            <a:chOff x="2640076" y="2132856"/>
            <a:chExt cx="869432" cy="883841"/>
          </a:xfrm>
        </p:grpSpPr>
        <p:sp>
          <p:nvSpPr>
            <p:cNvPr id="119" name="矩形 118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2796830" y="2132856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0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0</a:t>
              </a:r>
              <a:endParaRPr lang="zh-CN" altLang="en-US" sz="1400" baseline="-25000" dirty="0"/>
            </a:p>
          </p:txBody>
        </p:sp>
      </p:grpSp>
      <p:sp>
        <p:nvSpPr>
          <p:cNvPr id="28" name="椭圆 27"/>
          <p:cNvSpPr/>
          <p:nvPr/>
        </p:nvSpPr>
        <p:spPr>
          <a:xfrm>
            <a:off x="1817796" y="21077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1395150" y="21797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/>
          <p:cNvSpPr/>
          <p:nvPr/>
        </p:nvSpPr>
        <p:spPr>
          <a:xfrm>
            <a:off x="989083" y="22540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577525" y="23260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/>
          <p:cNvSpPr/>
          <p:nvPr/>
        </p:nvSpPr>
        <p:spPr>
          <a:xfrm>
            <a:off x="4455575" y="232824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>
          <a:xfrm>
            <a:off x="5884450" y="23301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椭圆 128"/>
          <p:cNvSpPr/>
          <p:nvPr/>
        </p:nvSpPr>
        <p:spPr>
          <a:xfrm>
            <a:off x="7314635" y="23260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0" name="直接连接符 129"/>
          <p:cNvCxnSpPr/>
          <p:nvPr/>
        </p:nvCxnSpPr>
        <p:spPr>
          <a:xfrm>
            <a:off x="1846175" y="3355478"/>
            <a:ext cx="5246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>
            <a:off x="1423529" y="3427486"/>
            <a:ext cx="42391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1017462" y="3499494"/>
            <a:ext cx="32150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602784" y="3571502"/>
            <a:ext cx="21995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组合 133"/>
          <p:cNvGrpSpPr/>
          <p:nvPr/>
        </p:nvGrpSpPr>
        <p:grpSpPr>
          <a:xfrm>
            <a:off x="2645594" y="3571502"/>
            <a:ext cx="869432" cy="667817"/>
            <a:chOff x="2640076" y="2348880"/>
            <a:chExt cx="869432" cy="667817"/>
          </a:xfrm>
        </p:grpSpPr>
        <p:sp>
          <p:nvSpPr>
            <p:cNvPr id="135" name="矩形 134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6" name="直接连接符 135"/>
            <p:cNvCxnSpPr/>
            <p:nvPr/>
          </p:nvCxnSpPr>
          <p:spPr>
            <a:xfrm>
              <a:off x="2796830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3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1</a:t>
              </a:r>
              <a:endParaRPr lang="zh-CN" altLang="en-US" sz="1400" baseline="-25000" dirty="0"/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4075781" y="3499494"/>
            <a:ext cx="869432" cy="739825"/>
            <a:chOff x="2640076" y="2276872"/>
            <a:chExt cx="869432" cy="739825"/>
          </a:xfrm>
        </p:grpSpPr>
        <p:sp>
          <p:nvSpPr>
            <p:cNvPr id="141" name="矩形 140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2" name="直接连接符 141"/>
            <p:cNvCxnSpPr/>
            <p:nvPr/>
          </p:nvCxnSpPr>
          <p:spPr>
            <a:xfrm>
              <a:off x="2796830" y="2276872"/>
              <a:ext cx="0" cy="2165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文本框 144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2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1</a:t>
              </a:r>
              <a:endParaRPr lang="zh-CN" altLang="en-US" sz="1400" baseline="-25000" dirty="0"/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5505968" y="3427486"/>
            <a:ext cx="869432" cy="811833"/>
            <a:chOff x="2640076" y="2204864"/>
            <a:chExt cx="869432" cy="811833"/>
          </a:xfrm>
        </p:grpSpPr>
        <p:sp>
          <p:nvSpPr>
            <p:cNvPr id="147" name="矩形 146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8" name="直接连接符 147"/>
            <p:cNvCxnSpPr/>
            <p:nvPr/>
          </p:nvCxnSpPr>
          <p:spPr>
            <a:xfrm>
              <a:off x="2796830" y="2204864"/>
              <a:ext cx="0" cy="28856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1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1</a:t>
              </a:r>
              <a:endParaRPr lang="zh-CN" altLang="en-US" sz="1400" baseline="-25000" dirty="0"/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6936154" y="3355478"/>
            <a:ext cx="869432" cy="883841"/>
            <a:chOff x="2640076" y="2132856"/>
            <a:chExt cx="869432" cy="883841"/>
          </a:xfrm>
        </p:grpSpPr>
        <p:sp>
          <p:nvSpPr>
            <p:cNvPr id="153" name="矩形 152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4" name="直接连接符 153"/>
            <p:cNvCxnSpPr/>
            <p:nvPr/>
          </p:nvCxnSpPr>
          <p:spPr>
            <a:xfrm>
              <a:off x="2796830" y="2132856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本框 156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0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1</a:t>
              </a:r>
              <a:endParaRPr lang="zh-CN" altLang="en-US" sz="1400" baseline="-25000" dirty="0"/>
            </a:p>
          </p:txBody>
        </p:sp>
      </p:grpSp>
      <p:sp>
        <p:nvSpPr>
          <p:cNvPr id="158" name="椭圆 157"/>
          <p:cNvSpPr/>
          <p:nvPr/>
        </p:nvSpPr>
        <p:spPr>
          <a:xfrm>
            <a:off x="1823314" y="333039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1400668" y="34024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994601" y="34766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583043" y="35486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4461093" y="355086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/>
          <p:cNvSpPr/>
          <p:nvPr/>
        </p:nvSpPr>
        <p:spPr>
          <a:xfrm>
            <a:off x="5889968" y="35527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/>
          <p:cNvSpPr/>
          <p:nvPr/>
        </p:nvSpPr>
        <p:spPr>
          <a:xfrm>
            <a:off x="7320153" y="35486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5" name="直接连接符 164"/>
          <p:cNvCxnSpPr/>
          <p:nvPr/>
        </p:nvCxnSpPr>
        <p:spPr>
          <a:xfrm>
            <a:off x="1851278" y="4577387"/>
            <a:ext cx="5246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>
            <a:off x="1428632" y="4649395"/>
            <a:ext cx="42391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/>
          <p:cNvCxnSpPr/>
          <p:nvPr/>
        </p:nvCxnSpPr>
        <p:spPr>
          <a:xfrm>
            <a:off x="1022565" y="4721403"/>
            <a:ext cx="32150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>
            <a:off x="607887" y="4793411"/>
            <a:ext cx="21995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组合 168"/>
          <p:cNvGrpSpPr/>
          <p:nvPr/>
        </p:nvGrpSpPr>
        <p:grpSpPr>
          <a:xfrm>
            <a:off x="2650697" y="4793411"/>
            <a:ext cx="869432" cy="667817"/>
            <a:chOff x="2640076" y="2348880"/>
            <a:chExt cx="869432" cy="667817"/>
          </a:xfrm>
        </p:grpSpPr>
        <p:sp>
          <p:nvSpPr>
            <p:cNvPr id="170" name="矩形 169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1" name="直接连接符 170"/>
            <p:cNvCxnSpPr/>
            <p:nvPr/>
          </p:nvCxnSpPr>
          <p:spPr>
            <a:xfrm>
              <a:off x="2796830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文本框 173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3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2</a:t>
              </a:r>
              <a:endParaRPr lang="zh-CN" altLang="en-US" sz="1400" baseline="-25000" dirty="0"/>
            </a:p>
          </p:txBody>
        </p:sp>
      </p:grpSp>
      <p:grpSp>
        <p:nvGrpSpPr>
          <p:cNvPr id="175" name="组合 174"/>
          <p:cNvGrpSpPr/>
          <p:nvPr/>
        </p:nvGrpSpPr>
        <p:grpSpPr>
          <a:xfrm>
            <a:off x="4080884" y="4721403"/>
            <a:ext cx="869432" cy="739825"/>
            <a:chOff x="2640076" y="2276872"/>
            <a:chExt cx="869432" cy="739825"/>
          </a:xfrm>
        </p:grpSpPr>
        <p:sp>
          <p:nvSpPr>
            <p:cNvPr id="176" name="矩形 175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7" name="直接连接符 176"/>
            <p:cNvCxnSpPr/>
            <p:nvPr/>
          </p:nvCxnSpPr>
          <p:spPr>
            <a:xfrm>
              <a:off x="2796830" y="2276872"/>
              <a:ext cx="0" cy="2165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文本框 179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2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2</a:t>
              </a:r>
              <a:endParaRPr lang="zh-CN" altLang="en-US" sz="1400" baseline="-25000" dirty="0"/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5511071" y="4649395"/>
            <a:ext cx="869432" cy="811833"/>
            <a:chOff x="2640076" y="2204864"/>
            <a:chExt cx="869432" cy="811833"/>
          </a:xfrm>
        </p:grpSpPr>
        <p:sp>
          <p:nvSpPr>
            <p:cNvPr id="182" name="矩形 181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3" name="直接连接符 182"/>
            <p:cNvCxnSpPr/>
            <p:nvPr/>
          </p:nvCxnSpPr>
          <p:spPr>
            <a:xfrm>
              <a:off x="2796830" y="2204864"/>
              <a:ext cx="0" cy="28856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文本框 185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1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2</a:t>
              </a:r>
              <a:endParaRPr lang="zh-CN" altLang="en-US" sz="1400" baseline="-25000" dirty="0"/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6941257" y="4577387"/>
            <a:ext cx="869432" cy="883841"/>
            <a:chOff x="2640076" y="2132856"/>
            <a:chExt cx="869432" cy="883841"/>
          </a:xfrm>
        </p:grpSpPr>
        <p:sp>
          <p:nvSpPr>
            <p:cNvPr id="188" name="矩形 187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9" name="直接连接符 188"/>
            <p:cNvCxnSpPr/>
            <p:nvPr/>
          </p:nvCxnSpPr>
          <p:spPr>
            <a:xfrm>
              <a:off x="2796830" y="2132856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文本框 191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0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2</a:t>
              </a:r>
              <a:endParaRPr lang="zh-CN" altLang="en-US" sz="1400" baseline="-25000" dirty="0"/>
            </a:p>
          </p:txBody>
        </p:sp>
      </p:grpSp>
      <p:sp>
        <p:nvSpPr>
          <p:cNvPr id="193" name="椭圆 192"/>
          <p:cNvSpPr/>
          <p:nvPr/>
        </p:nvSpPr>
        <p:spPr>
          <a:xfrm>
            <a:off x="1828417" y="455230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椭圆 193"/>
          <p:cNvSpPr/>
          <p:nvPr/>
        </p:nvSpPr>
        <p:spPr>
          <a:xfrm>
            <a:off x="1405771" y="462430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/>
          <p:cNvSpPr/>
          <p:nvPr/>
        </p:nvSpPr>
        <p:spPr>
          <a:xfrm>
            <a:off x="999704" y="469854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椭圆 195"/>
          <p:cNvSpPr/>
          <p:nvPr/>
        </p:nvSpPr>
        <p:spPr>
          <a:xfrm>
            <a:off x="588146" y="477055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椭圆 196"/>
          <p:cNvSpPr/>
          <p:nvPr/>
        </p:nvSpPr>
        <p:spPr>
          <a:xfrm>
            <a:off x="4466196" y="47727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/>
          <p:cNvSpPr/>
          <p:nvPr/>
        </p:nvSpPr>
        <p:spPr>
          <a:xfrm>
            <a:off x="5895071" y="47746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椭圆 198"/>
          <p:cNvSpPr/>
          <p:nvPr/>
        </p:nvSpPr>
        <p:spPr>
          <a:xfrm>
            <a:off x="7325256" y="477055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5" name="直接连接符 234"/>
          <p:cNvCxnSpPr/>
          <p:nvPr/>
        </p:nvCxnSpPr>
        <p:spPr>
          <a:xfrm>
            <a:off x="1846175" y="5815890"/>
            <a:ext cx="524673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>
            <a:off x="1423529" y="5887898"/>
            <a:ext cx="42391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1017462" y="5959906"/>
            <a:ext cx="32150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602784" y="6031914"/>
            <a:ext cx="21995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组合 238"/>
          <p:cNvGrpSpPr/>
          <p:nvPr/>
        </p:nvGrpSpPr>
        <p:grpSpPr>
          <a:xfrm>
            <a:off x="2645594" y="6031914"/>
            <a:ext cx="869432" cy="667817"/>
            <a:chOff x="2640076" y="2348880"/>
            <a:chExt cx="869432" cy="667817"/>
          </a:xfrm>
        </p:grpSpPr>
        <p:sp>
          <p:nvSpPr>
            <p:cNvPr id="240" name="矩形 239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1" name="直接连接符 240"/>
            <p:cNvCxnSpPr/>
            <p:nvPr/>
          </p:nvCxnSpPr>
          <p:spPr>
            <a:xfrm>
              <a:off x="2796830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文本框 243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3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3</a:t>
              </a:r>
              <a:endParaRPr lang="zh-CN" altLang="en-US" sz="1400" baseline="-25000" dirty="0"/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4075781" y="5959906"/>
            <a:ext cx="869432" cy="739825"/>
            <a:chOff x="2640076" y="2276872"/>
            <a:chExt cx="869432" cy="739825"/>
          </a:xfrm>
        </p:grpSpPr>
        <p:sp>
          <p:nvSpPr>
            <p:cNvPr id="246" name="矩形 245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7" name="直接连接符 246"/>
            <p:cNvCxnSpPr/>
            <p:nvPr/>
          </p:nvCxnSpPr>
          <p:spPr>
            <a:xfrm>
              <a:off x="2796830" y="2276872"/>
              <a:ext cx="0" cy="2165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文本框 249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2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3</a:t>
              </a:r>
              <a:endParaRPr lang="zh-CN" altLang="en-US" sz="1400" baseline="-25000" dirty="0"/>
            </a:p>
          </p:txBody>
        </p:sp>
      </p:grpSp>
      <p:grpSp>
        <p:nvGrpSpPr>
          <p:cNvPr id="251" name="组合 250"/>
          <p:cNvGrpSpPr/>
          <p:nvPr/>
        </p:nvGrpSpPr>
        <p:grpSpPr>
          <a:xfrm>
            <a:off x="5505968" y="5887898"/>
            <a:ext cx="869432" cy="811833"/>
            <a:chOff x="2640076" y="2204864"/>
            <a:chExt cx="869432" cy="811833"/>
          </a:xfrm>
        </p:grpSpPr>
        <p:sp>
          <p:nvSpPr>
            <p:cNvPr id="252" name="矩形 251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3" name="直接连接符 252"/>
            <p:cNvCxnSpPr/>
            <p:nvPr/>
          </p:nvCxnSpPr>
          <p:spPr>
            <a:xfrm>
              <a:off x="2796830" y="2204864"/>
              <a:ext cx="0" cy="28856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文本框 255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1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3</a:t>
              </a:r>
              <a:endParaRPr lang="zh-CN" altLang="en-US" sz="1400" baseline="-25000" dirty="0"/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6936154" y="5815890"/>
            <a:ext cx="869432" cy="883841"/>
            <a:chOff x="2640076" y="2132856"/>
            <a:chExt cx="869432" cy="883841"/>
          </a:xfrm>
        </p:grpSpPr>
        <p:sp>
          <p:nvSpPr>
            <p:cNvPr id="258" name="矩形 257"/>
            <p:cNvSpPr/>
            <p:nvPr/>
          </p:nvSpPr>
          <p:spPr>
            <a:xfrm>
              <a:off x="2640076" y="2493433"/>
              <a:ext cx="563772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9" name="直接连接符 258"/>
            <p:cNvCxnSpPr/>
            <p:nvPr/>
          </p:nvCxnSpPr>
          <p:spPr>
            <a:xfrm>
              <a:off x="2796830" y="2132856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>
              <a:off x="3048249" y="234888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>
              <a:off x="2921962" y="272303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文本框 261"/>
            <p:cNvSpPr txBox="1"/>
            <p:nvPr/>
          </p:nvSpPr>
          <p:spPr>
            <a:xfrm>
              <a:off x="2956151" y="270892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A</a:t>
              </a:r>
              <a:r>
                <a:rPr lang="en-US" altLang="zh-CN" sz="1400" baseline="-25000" dirty="0"/>
                <a:t>0</a:t>
              </a:r>
              <a:r>
                <a:rPr lang="en-US" altLang="zh-CN" sz="1400" dirty="0"/>
                <a:t>B</a:t>
              </a:r>
              <a:r>
                <a:rPr lang="en-US" altLang="zh-CN" sz="1400" baseline="-25000" dirty="0"/>
                <a:t>3</a:t>
              </a:r>
              <a:endParaRPr lang="zh-CN" altLang="en-US" sz="1400" baseline="-25000" dirty="0"/>
            </a:p>
          </p:txBody>
        </p:sp>
      </p:grpSp>
      <p:sp>
        <p:nvSpPr>
          <p:cNvPr id="267" name="椭圆 266"/>
          <p:cNvSpPr/>
          <p:nvPr/>
        </p:nvSpPr>
        <p:spPr>
          <a:xfrm>
            <a:off x="4461093" y="601128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椭圆 267"/>
          <p:cNvSpPr/>
          <p:nvPr/>
        </p:nvSpPr>
        <p:spPr>
          <a:xfrm>
            <a:off x="5889968" y="601316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/>
          <p:cNvSpPr/>
          <p:nvPr/>
        </p:nvSpPr>
        <p:spPr>
          <a:xfrm>
            <a:off x="7320153" y="600905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四位乘法器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(50)</a:t>
            </a:r>
            <a:endParaRPr lang="en-US" altLang="zh-CN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152" y="188913"/>
            <a:ext cx="2929880" cy="180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7" name="文本框 66"/>
          <p:cNvSpPr txBox="1"/>
          <p:nvPr/>
        </p:nvSpPr>
        <p:spPr>
          <a:xfrm>
            <a:off x="1619672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68" name="文本框 67"/>
          <p:cNvSpPr txBox="1"/>
          <p:nvPr/>
        </p:nvSpPr>
        <p:spPr>
          <a:xfrm>
            <a:off x="1193858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69" name="文本框 68"/>
          <p:cNvSpPr txBox="1"/>
          <p:nvPr/>
        </p:nvSpPr>
        <p:spPr>
          <a:xfrm>
            <a:off x="768043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70" name="文本框 69"/>
          <p:cNvSpPr txBox="1"/>
          <p:nvPr/>
        </p:nvSpPr>
        <p:spPr>
          <a:xfrm>
            <a:off x="342228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8" name="直接连接符 7"/>
          <p:cNvCxnSpPr>
            <a:stCxn id="70" idx="2"/>
          </p:cNvCxnSpPr>
          <p:nvPr/>
        </p:nvCxnSpPr>
        <p:spPr>
          <a:xfrm>
            <a:off x="597266" y="1874441"/>
            <a:ext cx="10621" cy="37559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1011944" y="1874441"/>
            <a:ext cx="10619" cy="36866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418011" y="1874441"/>
            <a:ext cx="7970" cy="36119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840657" y="1874441"/>
            <a:ext cx="0" cy="35397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849366" y="2351107"/>
            <a:ext cx="2467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8309284" y="213285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76" name="文本框 75"/>
          <p:cNvSpPr txBox="1"/>
          <p:nvPr/>
        </p:nvSpPr>
        <p:spPr>
          <a:xfrm>
            <a:off x="8309284" y="301368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77" name="文本框 76"/>
          <p:cNvSpPr txBox="1"/>
          <p:nvPr/>
        </p:nvSpPr>
        <p:spPr>
          <a:xfrm>
            <a:off x="8309284" y="417964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78" name="文本框 77"/>
          <p:cNvSpPr txBox="1"/>
          <p:nvPr/>
        </p:nvSpPr>
        <p:spPr>
          <a:xfrm>
            <a:off x="8309284" y="539297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79" name="直接连接符 78"/>
          <p:cNvCxnSpPr/>
          <p:nvPr/>
        </p:nvCxnSpPr>
        <p:spPr>
          <a:xfrm>
            <a:off x="4956212" y="3235106"/>
            <a:ext cx="3360204" cy="44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4203318" y="4415417"/>
            <a:ext cx="41130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3483240" y="5638616"/>
            <a:ext cx="482604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840657" y="2132856"/>
            <a:ext cx="5755679" cy="128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1418011" y="2204864"/>
            <a:ext cx="55399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1011944" y="2276872"/>
            <a:ext cx="53076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597266" y="2348880"/>
            <a:ext cx="50839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1817796" y="21077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1395150" y="21797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/>
          <p:cNvSpPr/>
          <p:nvPr/>
        </p:nvSpPr>
        <p:spPr>
          <a:xfrm>
            <a:off x="989083" y="22540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577525" y="23260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524330" y="2145731"/>
            <a:ext cx="565924" cy="799651"/>
            <a:chOff x="7524330" y="2145731"/>
            <a:chExt cx="565924" cy="799651"/>
          </a:xfrm>
        </p:grpSpPr>
        <p:sp>
          <p:nvSpPr>
            <p:cNvPr id="119" name="矩形 118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7596336" y="2145731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0" name="直接连接符 129"/>
          <p:cNvCxnSpPr/>
          <p:nvPr/>
        </p:nvCxnSpPr>
        <p:spPr>
          <a:xfrm>
            <a:off x="1846175" y="3022039"/>
            <a:ext cx="4857007" cy="47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flipV="1">
            <a:off x="1423529" y="3091733"/>
            <a:ext cx="4641267" cy="23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1017462" y="3166055"/>
            <a:ext cx="4408947" cy="42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flipV="1">
            <a:off x="602784" y="3235106"/>
            <a:ext cx="4185238" cy="29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椭圆 157"/>
          <p:cNvSpPr/>
          <p:nvPr/>
        </p:nvSpPr>
        <p:spPr>
          <a:xfrm>
            <a:off x="1823314" y="299695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1400668" y="306896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994601" y="314319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583043" y="321520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5" name="直接连接符 164"/>
          <p:cNvCxnSpPr/>
          <p:nvPr/>
        </p:nvCxnSpPr>
        <p:spPr>
          <a:xfrm flipV="1">
            <a:off x="1851278" y="4193425"/>
            <a:ext cx="4099012" cy="22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 flipV="1">
            <a:off x="1428632" y="4267660"/>
            <a:ext cx="3881423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/>
          <p:cNvCxnSpPr/>
          <p:nvPr/>
        </p:nvCxnSpPr>
        <p:spPr>
          <a:xfrm flipV="1">
            <a:off x="1022565" y="4339667"/>
            <a:ext cx="3650952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>
            <a:off x="607887" y="4411676"/>
            <a:ext cx="3427242" cy="101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椭圆 192"/>
          <p:cNvSpPr/>
          <p:nvPr/>
        </p:nvSpPr>
        <p:spPr>
          <a:xfrm>
            <a:off x="1828417" y="417056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椭圆 193"/>
          <p:cNvSpPr/>
          <p:nvPr/>
        </p:nvSpPr>
        <p:spPr>
          <a:xfrm>
            <a:off x="1405771" y="42425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/>
          <p:cNvSpPr/>
          <p:nvPr/>
        </p:nvSpPr>
        <p:spPr>
          <a:xfrm>
            <a:off x="999704" y="431680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椭圆 195"/>
          <p:cNvSpPr/>
          <p:nvPr/>
        </p:nvSpPr>
        <p:spPr>
          <a:xfrm>
            <a:off x="588146" y="438881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5" name="直接连接符 234"/>
          <p:cNvCxnSpPr/>
          <p:nvPr/>
        </p:nvCxnSpPr>
        <p:spPr>
          <a:xfrm>
            <a:off x="1840655" y="5414237"/>
            <a:ext cx="3389555" cy="1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>
            <a:off x="1423529" y="5486404"/>
            <a:ext cx="3168295" cy="54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1017462" y="5558412"/>
            <a:ext cx="2935975" cy="54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602784" y="5630420"/>
            <a:ext cx="2711109" cy="63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组合 199"/>
          <p:cNvGrpSpPr/>
          <p:nvPr/>
        </p:nvGrpSpPr>
        <p:grpSpPr>
          <a:xfrm>
            <a:off x="6885944" y="2204864"/>
            <a:ext cx="565924" cy="740518"/>
            <a:chOff x="7524330" y="2204864"/>
            <a:chExt cx="565924" cy="740518"/>
          </a:xfrm>
        </p:grpSpPr>
        <p:sp>
          <p:nvSpPr>
            <p:cNvPr id="201" name="矩形 200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2" name="直接连接符 201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本框 204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  <p:sp>
          <p:nvSpPr>
            <p:cNvPr id="206" name="椭圆 205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6247557" y="2276872"/>
            <a:ext cx="565924" cy="663768"/>
            <a:chOff x="7524330" y="2281614"/>
            <a:chExt cx="565924" cy="663768"/>
          </a:xfrm>
        </p:grpSpPr>
        <p:sp>
          <p:nvSpPr>
            <p:cNvPr id="208" name="矩形 207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9" name="直接连接符 208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文本框 211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  <p:sp>
          <p:nvSpPr>
            <p:cNvPr id="213" name="椭圆 212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5609170" y="2348880"/>
            <a:ext cx="565924" cy="591760"/>
            <a:chOff x="7524330" y="2353622"/>
            <a:chExt cx="565924" cy="591760"/>
          </a:xfrm>
        </p:grpSpPr>
        <p:sp>
          <p:nvSpPr>
            <p:cNvPr id="215" name="矩形 214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文本框 218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3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6631176" y="3032600"/>
            <a:ext cx="565924" cy="799651"/>
            <a:chOff x="7524330" y="2145731"/>
            <a:chExt cx="565924" cy="799651"/>
          </a:xfrm>
        </p:grpSpPr>
        <p:sp>
          <p:nvSpPr>
            <p:cNvPr id="223" name="矩形 222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4" name="直接连接符 223"/>
            <p:cNvCxnSpPr/>
            <p:nvPr/>
          </p:nvCxnSpPr>
          <p:spPr>
            <a:xfrm>
              <a:off x="7596336" y="2145731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文本框 226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  <p:sp>
          <p:nvSpPr>
            <p:cNvPr id="228" name="椭圆 227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5992790" y="3091733"/>
            <a:ext cx="565924" cy="740518"/>
            <a:chOff x="7524330" y="2204864"/>
            <a:chExt cx="565924" cy="740518"/>
          </a:xfrm>
        </p:grpSpPr>
        <p:sp>
          <p:nvSpPr>
            <p:cNvPr id="230" name="矩形 229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1" name="直接连接符 230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文本框 233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  <p:sp>
          <p:nvSpPr>
            <p:cNvPr id="263" name="椭圆 262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5354403" y="3163741"/>
            <a:ext cx="565924" cy="663768"/>
            <a:chOff x="7524330" y="2281614"/>
            <a:chExt cx="565924" cy="663768"/>
          </a:xfrm>
        </p:grpSpPr>
        <p:sp>
          <p:nvSpPr>
            <p:cNvPr id="265" name="矩形 264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6" name="直接连接符 265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文本框 271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  <p:sp>
          <p:nvSpPr>
            <p:cNvPr id="273" name="椭圆 272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4716016" y="3235749"/>
            <a:ext cx="565924" cy="591760"/>
            <a:chOff x="7524330" y="2353622"/>
            <a:chExt cx="565924" cy="591760"/>
          </a:xfrm>
        </p:grpSpPr>
        <p:sp>
          <p:nvSpPr>
            <p:cNvPr id="275" name="矩形 274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6" name="直接连接符 275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文本框 278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3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5878284" y="4195652"/>
            <a:ext cx="565924" cy="814040"/>
            <a:chOff x="7524330" y="2131342"/>
            <a:chExt cx="565924" cy="814040"/>
          </a:xfrm>
        </p:grpSpPr>
        <p:sp>
          <p:nvSpPr>
            <p:cNvPr id="282" name="矩形 281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3" name="直接连接符 282"/>
            <p:cNvCxnSpPr/>
            <p:nvPr/>
          </p:nvCxnSpPr>
          <p:spPr>
            <a:xfrm>
              <a:off x="7596336" y="2131342"/>
              <a:ext cx="0" cy="3749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文本框 285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  <p:sp>
          <p:nvSpPr>
            <p:cNvPr id="287" name="椭圆 286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8" name="组合 287"/>
          <p:cNvGrpSpPr/>
          <p:nvPr/>
        </p:nvGrpSpPr>
        <p:grpSpPr>
          <a:xfrm>
            <a:off x="5239898" y="4269174"/>
            <a:ext cx="565924" cy="740518"/>
            <a:chOff x="7524330" y="2204864"/>
            <a:chExt cx="565924" cy="740518"/>
          </a:xfrm>
        </p:grpSpPr>
        <p:sp>
          <p:nvSpPr>
            <p:cNvPr id="289" name="矩形 288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0" name="直接连接符 289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文本框 292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  <p:sp>
          <p:nvSpPr>
            <p:cNvPr id="294" name="椭圆 293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5" name="组合 294"/>
          <p:cNvGrpSpPr/>
          <p:nvPr/>
        </p:nvGrpSpPr>
        <p:grpSpPr>
          <a:xfrm>
            <a:off x="4601511" y="4341182"/>
            <a:ext cx="565924" cy="663768"/>
            <a:chOff x="7524330" y="2281614"/>
            <a:chExt cx="565924" cy="663768"/>
          </a:xfrm>
        </p:grpSpPr>
        <p:sp>
          <p:nvSpPr>
            <p:cNvPr id="296" name="矩形 295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7" name="直接连接符 296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文本框 299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  <p:sp>
          <p:nvSpPr>
            <p:cNvPr id="301" name="椭圆 300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3963124" y="4413190"/>
            <a:ext cx="565924" cy="591760"/>
            <a:chOff x="7524330" y="2353622"/>
            <a:chExt cx="565924" cy="591760"/>
          </a:xfrm>
        </p:grpSpPr>
        <p:sp>
          <p:nvSpPr>
            <p:cNvPr id="303" name="矩形 302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4" name="直接连接符 303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文本框 306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3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</p:grpSp>
      <p:grpSp>
        <p:nvGrpSpPr>
          <p:cNvPr id="309" name="组合 308"/>
          <p:cNvGrpSpPr/>
          <p:nvPr/>
        </p:nvGrpSpPr>
        <p:grpSpPr>
          <a:xfrm>
            <a:off x="5158204" y="5414396"/>
            <a:ext cx="565924" cy="817979"/>
            <a:chOff x="7524330" y="2127403"/>
            <a:chExt cx="565924" cy="817979"/>
          </a:xfrm>
        </p:grpSpPr>
        <p:sp>
          <p:nvSpPr>
            <p:cNvPr id="310" name="矩形 309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1" name="直接连接符 310"/>
            <p:cNvCxnSpPr/>
            <p:nvPr/>
          </p:nvCxnSpPr>
          <p:spPr>
            <a:xfrm>
              <a:off x="7596336" y="2127403"/>
              <a:ext cx="0" cy="3789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文本框 313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3</a:t>
              </a:r>
              <a:endParaRPr lang="zh-CN" altLang="en-US" sz="900" baseline="-25000" dirty="0"/>
            </a:p>
          </p:txBody>
        </p:sp>
        <p:sp>
          <p:nvSpPr>
            <p:cNvPr id="315" name="椭圆 314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6" name="组合 315"/>
          <p:cNvGrpSpPr/>
          <p:nvPr/>
        </p:nvGrpSpPr>
        <p:grpSpPr>
          <a:xfrm>
            <a:off x="4519818" y="5491857"/>
            <a:ext cx="565924" cy="740518"/>
            <a:chOff x="7524330" y="2204864"/>
            <a:chExt cx="565924" cy="740518"/>
          </a:xfrm>
        </p:grpSpPr>
        <p:sp>
          <p:nvSpPr>
            <p:cNvPr id="317" name="矩形 316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8" name="直接连接符 317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文本框 320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3</a:t>
              </a:r>
              <a:endParaRPr lang="zh-CN" altLang="en-US" sz="900" baseline="-25000" dirty="0"/>
            </a:p>
          </p:txBody>
        </p:sp>
        <p:sp>
          <p:nvSpPr>
            <p:cNvPr id="322" name="椭圆 321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3" name="组合 322"/>
          <p:cNvGrpSpPr/>
          <p:nvPr/>
        </p:nvGrpSpPr>
        <p:grpSpPr>
          <a:xfrm>
            <a:off x="3881431" y="5563865"/>
            <a:ext cx="565924" cy="663768"/>
            <a:chOff x="7524330" y="2281614"/>
            <a:chExt cx="565924" cy="663768"/>
          </a:xfrm>
        </p:grpSpPr>
        <p:sp>
          <p:nvSpPr>
            <p:cNvPr id="324" name="矩形 323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5" name="直接连接符 324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文本框 327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3</a:t>
              </a:r>
              <a:endParaRPr lang="zh-CN" altLang="en-US" sz="900" baseline="-25000" dirty="0"/>
            </a:p>
          </p:txBody>
        </p:sp>
        <p:sp>
          <p:nvSpPr>
            <p:cNvPr id="329" name="椭圆 328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0" name="组合 329"/>
          <p:cNvGrpSpPr/>
          <p:nvPr/>
        </p:nvGrpSpPr>
        <p:grpSpPr>
          <a:xfrm>
            <a:off x="3243044" y="5635873"/>
            <a:ext cx="538674" cy="576372"/>
            <a:chOff x="7524330" y="2353622"/>
            <a:chExt cx="538674" cy="576372"/>
          </a:xfrm>
        </p:grpSpPr>
        <p:sp>
          <p:nvSpPr>
            <p:cNvPr id="331" name="矩形 330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2" name="直接连接符 331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文本框 334"/>
            <p:cNvSpPr txBox="1"/>
            <p:nvPr/>
          </p:nvSpPr>
          <p:spPr>
            <a:xfrm>
              <a:off x="7668344" y="2714550"/>
              <a:ext cx="3946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/>
                <a:t>A</a:t>
              </a:r>
              <a:r>
                <a:rPr lang="en-US" altLang="zh-CN" sz="800" baseline="-25000" dirty="0"/>
                <a:t>3</a:t>
              </a:r>
              <a:r>
                <a:rPr lang="en-US" altLang="zh-CN" sz="800" dirty="0"/>
                <a:t>B</a:t>
              </a:r>
              <a:r>
                <a:rPr lang="en-US" altLang="zh-CN" sz="800" baseline="-25000" dirty="0"/>
                <a:t>3</a:t>
              </a:r>
              <a:endParaRPr lang="zh-CN" altLang="en-US" sz="800" baseline="-25000" dirty="0"/>
            </a:p>
          </p:txBody>
        </p:sp>
      </p:grpSp>
      <p:cxnSp>
        <p:nvCxnSpPr>
          <p:cNvPr id="340" name="直接连接符 339"/>
          <p:cNvCxnSpPr/>
          <p:nvPr/>
        </p:nvCxnSpPr>
        <p:spPr>
          <a:xfrm>
            <a:off x="7047782" y="2868664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>
            <a:off x="6408238" y="2872112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/>
          <p:cNvCxnSpPr/>
          <p:nvPr/>
        </p:nvCxnSpPr>
        <p:spPr>
          <a:xfrm>
            <a:off x="5768695" y="2868664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>
            <a:off x="5132641" y="2864159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4992464" y="257277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cxnSp>
        <p:nvCxnSpPr>
          <p:cNvPr id="350" name="直接连接符 349"/>
          <p:cNvCxnSpPr/>
          <p:nvPr/>
        </p:nvCxnSpPr>
        <p:spPr>
          <a:xfrm>
            <a:off x="7686168" y="2863785"/>
            <a:ext cx="29200" cy="36615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894" name="组合 250893"/>
          <p:cNvGrpSpPr/>
          <p:nvPr/>
        </p:nvGrpSpPr>
        <p:grpSpPr>
          <a:xfrm>
            <a:off x="4355976" y="3683066"/>
            <a:ext cx="2841124" cy="469673"/>
            <a:chOff x="4355976" y="3683066"/>
            <a:chExt cx="2841124" cy="469673"/>
          </a:xfrm>
        </p:grpSpPr>
        <p:grpSp>
          <p:nvGrpSpPr>
            <p:cNvPr id="250892" name="组合 250891"/>
            <p:cNvGrpSpPr/>
            <p:nvPr/>
          </p:nvGrpSpPr>
          <p:grpSpPr>
            <a:xfrm>
              <a:off x="4355976" y="3760041"/>
              <a:ext cx="2744795" cy="392698"/>
              <a:chOff x="4355976" y="3760041"/>
              <a:chExt cx="2744795" cy="392698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6756281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58" name="直接连接符 57"/>
              <p:cNvCxnSpPr>
                <a:stCxn id="48" idx="2"/>
              </p:cNvCxnSpPr>
              <p:nvPr/>
            </p:nvCxnSpPr>
            <p:spPr>
              <a:xfrm>
                <a:off x="6928526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1" name="矩形 340"/>
              <p:cNvSpPr/>
              <p:nvPr/>
            </p:nvSpPr>
            <p:spPr>
              <a:xfrm>
                <a:off x="6116737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343" name="直接连接符 342"/>
              <p:cNvCxnSpPr>
                <a:stCxn id="341" idx="2"/>
              </p:cNvCxnSpPr>
              <p:nvPr/>
            </p:nvCxnSpPr>
            <p:spPr>
              <a:xfrm>
                <a:off x="6288982" y="3979047"/>
                <a:ext cx="0" cy="1736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连接符 345"/>
              <p:cNvCxnSpPr>
                <a:stCxn id="344" idx="2"/>
              </p:cNvCxnSpPr>
              <p:nvPr/>
            </p:nvCxnSpPr>
            <p:spPr>
              <a:xfrm>
                <a:off x="5649439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7" name="矩形 346"/>
              <p:cNvSpPr/>
              <p:nvPr/>
            </p:nvSpPr>
            <p:spPr>
              <a:xfrm>
                <a:off x="4841140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349" name="直接连接符 348"/>
              <p:cNvCxnSpPr>
                <a:stCxn id="347" idx="2"/>
              </p:cNvCxnSpPr>
              <p:nvPr/>
            </p:nvCxnSpPr>
            <p:spPr>
              <a:xfrm>
                <a:off x="5013385" y="3979047"/>
                <a:ext cx="0" cy="1657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350"/>
              <p:cNvCxnSpPr>
                <a:stCxn id="48" idx="1"/>
                <a:endCxn id="341" idx="3"/>
              </p:cNvCxnSpPr>
              <p:nvPr/>
            </p:nvCxnSpPr>
            <p:spPr>
              <a:xfrm flipH="1">
                <a:off x="6461227" y="3869544"/>
                <a:ext cx="29505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/>
              <p:cNvCxnSpPr>
                <a:stCxn id="341" idx="1"/>
                <a:endCxn id="344" idx="3"/>
              </p:cNvCxnSpPr>
              <p:nvPr/>
            </p:nvCxnSpPr>
            <p:spPr>
              <a:xfrm flipH="1">
                <a:off x="5821684" y="3869544"/>
                <a:ext cx="29505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直接连接符 352"/>
              <p:cNvCxnSpPr>
                <a:stCxn id="344" idx="1"/>
                <a:endCxn id="347" idx="3"/>
              </p:cNvCxnSpPr>
              <p:nvPr/>
            </p:nvCxnSpPr>
            <p:spPr>
              <a:xfrm flipH="1">
                <a:off x="5185630" y="3869544"/>
                <a:ext cx="2915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/>
              <p:cNvCxnSpPr>
                <a:stCxn id="347" idx="1"/>
              </p:cNvCxnSpPr>
              <p:nvPr/>
            </p:nvCxnSpPr>
            <p:spPr>
              <a:xfrm flipH="1" flipV="1">
                <a:off x="4355976" y="3867468"/>
                <a:ext cx="485164" cy="207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4" name="矩形 343"/>
            <p:cNvSpPr/>
            <p:nvPr/>
          </p:nvSpPr>
          <p:spPr>
            <a:xfrm>
              <a:off x="5477194" y="3760041"/>
              <a:ext cx="344490" cy="2190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800" dirty="0"/>
                <a:t>ADD</a:t>
              </a:r>
              <a:endParaRPr lang="zh-CN" altLang="en-US" sz="2000" dirty="0"/>
            </a:p>
          </p:txBody>
        </p:sp>
        <p:sp>
          <p:nvSpPr>
            <p:cNvPr id="250891" name="矩形 250890"/>
            <p:cNvSpPr/>
            <p:nvPr/>
          </p:nvSpPr>
          <p:spPr>
            <a:xfrm>
              <a:off x="4684823" y="3683066"/>
              <a:ext cx="2512277" cy="3599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0" name="组合 369"/>
          <p:cNvGrpSpPr/>
          <p:nvPr/>
        </p:nvGrpSpPr>
        <p:grpSpPr>
          <a:xfrm>
            <a:off x="3635896" y="4868255"/>
            <a:ext cx="2804400" cy="469673"/>
            <a:chOff x="4392700" y="3683066"/>
            <a:chExt cx="2804400" cy="469673"/>
          </a:xfrm>
        </p:grpSpPr>
        <p:grpSp>
          <p:nvGrpSpPr>
            <p:cNvPr id="371" name="组合 370"/>
            <p:cNvGrpSpPr/>
            <p:nvPr/>
          </p:nvGrpSpPr>
          <p:grpSpPr>
            <a:xfrm>
              <a:off x="4392700" y="3760041"/>
              <a:ext cx="2708071" cy="392698"/>
              <a:chOff x="4392700" y="3760041"/>
              <a:chExt cx="2708071" cy="392698"/>
            </a:xfrm>
          </p:grpSpPr>
          <p:sp>
            <p:nvSpPr>
              <p:cNvPr id="374" name="矩形 373"/>
              <p:cNvSpPr/>
              <p:nvPr/>
            </p:nvSpPr>
            <p:spPr>
              <a:xfrm>
                <a:off x="6756281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375" name="直接连接符 374"/>
              <p:cNvCxnSpPr>
                <a:stCxn id="374" idx="2"/>
              </p:cNvCxnSpPr>
              <p:nvPr/>
            </p:nvCxnSpPr>
            <p:spPr>
              <a:xfrm>
                <a:off x="6928526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6" name="矩形 375"/>
              <p:cNvSpPr/>
              <p:nvPr/>
            </p:nvSpPr>
            <p:spPr>
              <a:xfrm>
                <a:off x="6116737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377" name="直接连接符 376"/>
              <p:cNvCxnSpPr>
                <a:stCxn id="376" idx="2"/>
              </p:cNvCxnSpPr>
              <p:nvPr/>
            </p:nvCxnSpPr>
            <p:spPr>
              <a:xfrm>
                <a:off x="6288982" y="3979047"/>
                <a:ext cx="0" cy="1736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/>
              <p:cNvCxnSpPr>
                <a:stCxn id="372" idx="2"/>
              </p:cNvCxnSpPr>
              <p:nvPr/>
            </p:nvCxnSpPr>
            <p:spPr>
              <a:xfrm>
                <a:off x="5649439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9" name="矩形 378"/>
              <p:cNvSpPr/>
              <p:nvPr/>
            </p:nvSpPr>
            <p:spPr>
              <a:xfrm>
                <a:off x="4841140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380" name="直接连接符 379"/>
              <p:cNvCxnSpPr>
                <a:stCxn id="379" idx="2"/>
              </p:cNvCxnSpPr>
              <p:nvPr/>
            </p:nvCxnSpPr>
            <p:spPr>
              <a:xfrm>
                <a:off x="5013385" y="3979047"/>
                <a:ext cx="0" cy="1657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/>
              <p:cNvCxnSpPr>
                <a:stCxn id="374" idx="1"/>
                <a:endCxn id="376" idx="3"/>
              </p:cNvCxnSpPr>
              <p:nvPr/>
            </p:nvCxnSpPr>
            <p:spPr>
              <a:xfrm flipH="1">
                <a:off x="6461227" y="3869544"/>
                <a:ext cx="29505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/>
              <p:cNvCxnSpPr>
                <a:stCxn id="376" idx="1"/>
                <a:endCxn id="372" idx="3"/>
              </p:cNvCxnSpPr>
              <p:nvPr/>
            </p:nvCxnSpPr>
            <p:spPr>
              <a:xfrm flipH="1">
                <a:off x="5821684" y="3869544"/>
                <a:ext cx="29505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/>
              <p:cNvCxnSpPr>
                <a:stCxn id="372" idx="1"/>
                <a:endCxn id="379" idx="3"/>
              </p:cNvCxnSpPr>
              <p:nvPr/>
            </p:nvCxnSpPr>
            <p:spPr>
              <a:xfrm flipH="1">
                <a:off x="5185630" y="3869544"/>
                <a:ext cx="2915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/>
              <p:cNvCxnSpPr>
                <a:stCxn id="379" idx="1"/>
              </p:cNvCxnSpPr>
              <p:nvPr/>
            </p:nvCxnSpPr>
            <p:spPr>
              <a:xfrm flipH="1">
                <a:off x="4392700" y="3869544"/>
                <a:ext cx="44844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2" name="矩形 371"/>
            <p:cNvSpPr/>
            <p:nvPr/>
          </p:nvSpPr>
          <p:spPr>
            <a:xfrm>
              <a:off x="5477194" y="3760041"/>
              <a:ext cx="344490" cy="2190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800" dirty="0"/>
                <a:t>ADD</a:t>
              </a:r>
              <a:endParaRPr lang="zh-CN" altLang="en-US" sz="2000" dirty="0"/>
            </a:p>
          </p:txBody>
        </p:sp>
        <p:sp>
          <p:nvSpPr>
            <p:cNvPr id="373" name="矩形 372"/>
            <p:cNvSpPr/>
            <p:nvPr/>
          </p:nvSpPr>
          <p:spPr>
            <a:xfrm>
              <a:off x="4684823" y="3683066"/>
              <a:ext cx="2512277" cy="3599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5" name="直接连接符 384"/>
          <p:cNvCxnSpPr/>
          <p:nvPr/>
        </p:nvCxnSpPr>
        <p:spPr>
          <a:xfrm>
            <a:off x="6288982" y="4152739"/>
            <a:ext cx="0" cy="793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接连接符 385"/>
          <p:cNvCxnSpPr/>
          <p:nvPr/>
        </p:nvCxnSpPr>
        <p:spPr>
          <a:xfrm>
            <a:off x="5648746" y="4149643"/>
            <a:ext cx="0" cy="793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连接符 386"/>
          <p:cNvCxnSpPr/>
          <p:nvPr/>
        </p:nvCxnSpPr>
        <p:spPr>
          <a:xfrm>
            <a:off x="5013385" y="4139676"/>
            <a:ext cx="0" cy="793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4" name="组合 393"/>
          <p:cNvGrpSpPr/>
          <p:nvPr/>
        </p:nvGrpSpPr>
        <p:grpSpPr>
          <a:xfrm>
            <a:off x="2798136" y="6091924"/>
            <a:ext cx="2896467" cy="469673"/>
            <a:chOff x="4300633" y="3683066"/>
            <a:chExt cx="2896467" cy="469673"/>
          </a:xfrm>
        </p:grpSpPr>
        <p:grpSp>
          <p:nvGrpSpPr>
            <p:cNvPr id="395" name="组合 394"/>
            <p:cNvGrpSpPr/>
            <p:nvPr/>
          </p:nvGrpSpPr>
          <p:grpSpPr>
            <a:xfrm>
              <a:off x="4300633" y="3760041"/>
              <a:ext cx="2800138" cy="392698"/>
              <a:chOff x="4300633" y="3760041"/>
              <a:chExt cx="2800138" cy="392698"/>
            </a:xfrm>
          </p:grpSpPr>
          <p:sp>
            <p:nvSpPr>
              <p:cNvPr id="398" name="矩形 397"/>
              <p:cNvSpPr/>
              <p:nvPr/>
            </p:nvSpPr>
            <p:spPr>
              <a:xfrm>
                <a:off x="6756281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399" name="直接连接符 398"/>
              <p:cNvCxnSpPr>
                <a:stCxn id="398" idx="2"/>
              </p:cNvCxnSpPr>
              <p:nvPr/>
            </p:nvCxnSpPr>
            <p:spPr>
              <a:xfrm>
                <a:off x="6928526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0" name="矩形 399"/>
              <p:cNvSpPr/>
              <p:nvPr/>
            </p:nvSpPr>
            <p:spPr>
              <a:xfrm>
                <a:off x="6116737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401" name="直接连接符 400"/>
              <p:cNvCxnSpPr>
                <a:stCxn id="400" idx="2"/>
              </p:cNvCxnSpPr>
              <p:nvPr/>
            </p:nvCxnSpPr>
            <p:spPr>
              <a:xfrm>
                <a:off x="6288982" y="3979047"/>
                <a:ext cx="0" cy="1736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/>
              <p:cNvCxnSpPr>
                <a:stCxn id="396" idx="2"/>
              </p:cNvCxnSpPr>
              <p:nvPr/>
            </p:nvCxnSpPr>
            <p:spPr>
              <a:xfrm>
                <a:off x="5649439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3" name="矩形 402"/>
              <p:cNvSpPr/>
              <p:nvPr/>
            </p:nvSpPr>
            <p:spPr>
              <a:xfrm>
                <a:off x="4841140" y="3760041"/>
                <a:ext cx="344490" cy="21900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/>
                  <a:t>ADD</a:t>
                </a:r>
                <a:endParaRPr lang="zh-CN" altLang="en-US" sz="2000" dirty="0"/>
              </a:p>
            </p:txBody>
          </p:sp>
          <p:cxnSp>
            <p:nvCxnSpPr>
              <p:cNvPr id="404" name="直接连接符 403"/>
              <p:cNvCxnSpPr>
                <a:stCxn id="403" idx="2"/>
              </p:cNvCxnSpPr>
              <p:nvPr/>
            </p:nvCxnSpPr>
            <p:spPr>
              <a:xfrm>
                <a:off x="5013385" y="3979047"/>
                <a:ext cx="0" cy="1657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直接连接符 404"/>
              <p:cNvCxnSpPr>
                <a:stCxn id="398" idx="1"/>
                <a:endCxn id="400" idx="3"/>
              </p:cNvCxnSpPr>
              <p:nvPr/>
            </p:nvCxnSpPr>
            <p:spPr>
              <a:xfrm flipH="1">
                <a:off x="6461227" y="3869544"/>
                <a:ext cx="29505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/>
              <p:cNvCxnSpPr>
                <a:stCxn id="400" idx="1"/>
                <a:endCxn id="396" idx="3"/>
              </p:cNvCxnSpPr>
              <p:nvPr/>
            </p:nvCxnSpPr>
            <p:spPr>
              <a:xfrm flipH="1">
                <a:off x="5821684" y="3869544"/>
                <a:ext cx="29505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直接连接符 406"/>
              <p:cNvCxnSpPr>
                <a:stCxn id="396" idx="1"/>
                <a:endCxn id="403" idx="3"/>
              </p:cNvCxnSpPr>
              <p:nvPr/>
            </p:nvCxnSpPr>
            <p:spPr>
              <a:xfrm flipH="1">
                <a:off x="5185630" y="3869544"/>
                <a:ext cx="29156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直接连接符 407"/>
              <p:cNvCxnSpPr>
                <a:stCxn id="403" idx="1"/>
              </p:cNvCxnSpPr>
              <p:nvPr/>
            </p:nvCxnSpPr>
            <p:spPr>
              <a:xfrm flipH="1">
                <a:off x="4300633" y="3869544"/>
                <a:ext cx="540507" cy="1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6" name="矩形 395"/>
            <p:cNvSpPr/>
            <p:nvPr/>
          </p:nvSpPr>
          <p:spPr>
            <a:xfrm>
              <a:off x="5477194" y="3760041"/>
              <a:ext cx="344490" cy="2190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800" dirty="0"/>
                <a:t>ADD</a:t>
              </a:r>
              <a:endParaRPr lang="zh-CN" altLang="en-US" sz="2000" dirty="0"/>
            </a:p>
          </p:txBody>
        </p:sp>
        <p:sp>
          <p:nvSpPr>
            <p:cNvPr id="397" name="矩形 396"/>
            <p:cNvSpPr/>
            <p:nvPr/>
          </p:nvSpPr>
          <p:spPr>
            <a:xfrm>
              <a:off x="4684823" y="3683066"/>
              <a:ext cx="2512277" cy="3599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9" name="直接连接符 408"/>
          <p:cNvCxnSpPr/>
          <p:nvPr/>
        </p:nvCxnSpPr>
        <p:spPr>
          <a:xfrm>
            <a:off x="6171722" y="5333968"/>
            <a:ext cx="0" cy="11913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连接符 409"/>
          <p:cNvCxnSpPr/>
          <p:nvPr/>
        </p:nvCxnSpPr>
        <p:spPr>
          <a:xfrm flipH="1">
            <a:off x="5531486" y="5337928"/>
            <a:ext cx="692" cy="8273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/>
          <p:cNvCxnSpPr/>
          <p:nvPr/>
        </p:nvCxnSpPr>
        <p:spPr>
          <a:xfrm>
            <a:off x="4892635" y="5329975"/>
            <a:ext cx="0" cy="8353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/>
          <p:cNvCxnSpPr/>
          <p:nvPr/>
        </p:nvCxnSpPr>
        <p:spPr>
          <a:xfrm>
            <a:off x="4256581" y="5329975"/>
            <a:ext cx="0" cy="8353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/>
          <p:cNvCxnSpPr/>
          <p:nvPr/>
        </p:nvCxnSpPr>
        <p:spPr>
          <a:xfrm>
            <a:off x="4355976" y="3869544"/>
            <a:ext cx="0" cy="10686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直接连接符 422"/>
          <p:cNvCxnSpPr/>
          <p:nvPr/>
        </p:nvCxnSpPr>
        <p:spPr>
          <a:xfrm>
            <a:off x="3635896" y="5054733"/>
            <a:ext cx="0" cy="1117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直接连接符 425"/>
          <p:cNvCxnSpPr/>
          <p:nvPr/>
        </p:nvCxnSpPr>
        <p:spPr>
          <a:xfrm>
            <a:off x="2798136" y="6271888"/>
            <a:ext cx="0" cy="253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直接连接符 434"/>
          <p:cNvCxnSpPr/>
          <p:nvPr/>
        </p:nvCxnSpPr>
        <p:spPr>
          <a:xfrm>
            <a:off x="6928526" y="4149291"/>
            <a:ext cx="0" cy="23760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文本框 439"/>
          <p:cNvSpPr txBox="1"/>
          <p:nvPr/>
        </p:nvSpPr>
        <p:spPr>
          <a:xfrm>
            <a:off x="7649909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441" name="文本框 440"/>
          <p:cNvSpPr txBox="1"/>
          <p:nvPr/>
        </p:nvSpPr>
        <p:spPr>
          <a:xfrm>
            <a:off x="6879361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442" name="文本框 441"/>
          <p:cNvSpPr txBox="1"/>
          <p:nvPr/>
        </p:nvSpPr>
        <p:spPr>
          <a:xfrm>
            <a:off x="6125687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443" name="文本框 442"/>
          <p:cNvSpPr txBox="1"/>
          <p:nvPr/>
        </p:nvSpPr>
        <p:spPr>
          <a:xfrm>
            <a:off x="5372013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444" name="文本框 443"/>
          <p:cNvSpPr txBox="1"/>
          <p:nvPr/>
        </p:nvSpPr>
        <p:spPr>
          <a:xfrm>
            <a:off x="4736787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4</a:t>
            </a:r>
            <a:endParaRPr lang="zh-CN" altLang="en-US" baseline="-25000" dirty="0"/>
          </a:p>
        </p:txBody>
      </p:sp>
      <p:sp>
        <p:nvSpPr>
          <p:cNvPr id="445" name="文本框 444"/>
          <p:cNvSpPr txBox="1"/>
          <p:nvPr/>
        </p:nvSpPr>
        <p:spPr>
          <a:xfrm>
            <a:off x="4093930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5</a:t>
            </a:r>
            <a:endParaRPr lang="zh-CN" altLang="en-US" baseline="-25000" dirty="0"/>
          </a:p>
        </p:txBody>
      </p:sp>
      <p:sp>
        <p:nvSpPr>
          <p:cNvPr id="446" name="文本框 445"/>
          <p:cNvSpPr txBox="1"/>
          <p:nvPr/>
        </p:nvSpPr>
        <p:spPr>
          <a:xfrm>
            <a:off x="3467845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6</a:t>
            </a:r>
            <a:endParaRPr lang="zh-CN" altLang="en-US" baseline="-25000" dirty="0"/>
          </a:p>
        </p:txBody>
      </p:sp>
      <p:sp>
        <p:nvSpPr>
          <p:cNvPr id="447" name="文本框 446"/>
          <p:cNvSpPr txBox="1"/>
          <p:nvPr/>
        </p:nvSpPr>
        <p:spPr>
          <a:xfrm>
            <a:off x="2741765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7</a:t>
            </a:r>
            <a:endParaRPr lang="zh-CN" altLang="en-US" baseline="-25000" dirty="0"/>
          </a:p>
        </p:txBody>
      </p:sp>
      <p:sp>
        <p:nvSpPr>
          <p:cNvPr id="250934" name="文本框 250933"/>
          <p:cNvSpPr txBox="1"/>
          <p:nvPr/>
        </p:nvSpPr>
        <p:spPr>
          <a:xfrm>
            <a:off x="3528213" y="3576113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600" b="1" dirty="0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位加法器</a:t>
            </a:r>
            <a:endParaRPr lang="zh-CN" altLang="en-US" sz="1600" b="1" dirty="0">
              <a:solidFill>
                <a:schemeClr val="accent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四位乘法器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(51)</a:t>
            </a:r>
            <a:endParaRPr lang="en-US" altLang="zh-CN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152" y="188913"/>
            <a:ext cx="2929880" cy="180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7" name="文本框 66"/>
          <p:cNvSpPr txBox="1"/>
          <p:nvPr/>
        </p:nvSpPr>
        <p:spPr>
          <a:xfrm>
            <a:off x="1619672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68" name="文本框 67"/>
          <p:cNvSpPr txBox="1"/>
          <p:nvPr/>
        </p:nvSpPr>
        <p:spPr>
          <a:xfrm>
            <a:off x="1193858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69" name="文本框 68"/>
          <p:cNvSpPr txBox="1"/>
          <p:nvPr/>
        </p:nvSpPr>
        <p:spPr>
          <a:xfrm>
            <a:off x="768043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70" name="文本框 69"/>
          <p:cNvSpPr txBox="1"/>
          <p:nvPr/>
        </p:nvSpPr>
        <p:spPr>
          <a:xfrm>
            <a:off x="342228" y="141277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8" name="直接连接符 7"/>
          <p:cNvCxnSpPr>
            <a:stCxn id="70" idx="2"/>
          </p:cNvCxnSpPr>
          <p:nvPr/>
        </p:nvCxnSpPr>
        <p:spPr>
          <a:xfrm>
            <a:off x="597266" y="1874441"/>
            <a:ext cx="10621" cy="37559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1011944" y="1874441"/>
            <a:ext cx="0" cy="36839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418011" y="1874441"/>
            <a:ext cx="10621" cy="36119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840657" y="1874441"/>
            <a:ext cx="0" cy="35397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849366" y="2351107"/>
            <a:ext cx="24670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8309284" y="2132856"/>
            <a:ext cx="51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76" name="文本框 75"/>
          <p:cNvSpPr txBox="1"/>
          <p:nvPr/>
        </p:nvSpPr>
        <p:spPr>
          <a:xfrm>
            <a:off x="8309284" y="301368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77" name="文本框 76"/>
          <p:cNvSpPr txBox="1"/>
          <p:nvPr/>
        </p:nvSpPr>
        <p:spPr>
          <a:xfrm>
            <a:off x="8309284" y="417964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78" name="文本框 77"/>
          <p:cNvSpPr txBox="1"/>
          <p:nvPr/>
        </p:nvSpPr>
        <p:spPr>
          <a:xfrm>
            <a:off x="8309284" y="539297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79" name="直接连接符 78"/>
          <p:cNvCxnSpPr/>
          <p:nvPr/>
        </p:nvCxnSpPr>
        <p:spPr>
          <a:xfrm>
            <a:off x="4956212" y="3235106"/>
            <a:ext cx="3360204" cy="44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4203318" y="4415417"/>
            <a:ext cx="41130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3483240" y="5638616"/>
            <a:ext cx="482604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840657" y="2132856"/>
            <a:ext cx="5755679" cy="128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1418011" y="2204864"/>
            <a:ext cx="55399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1011944" y="2276872"/>
            <a:ext cx="53076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597266" y="2348880"/>
            <a:ext cx="50839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1817796" y="21077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1395150" y="21797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/>
          <p:cNvSpPr/>
          <p:nvPr/>
        </p:nvSpPr>
        <p:spPr>
          <a:xfrm>
            <a:off x="989083" y="22540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/>
          <p:cNvSpPr/>
          <p:nvPr/>
        </p:nvSpPr>
        <p:spPr>
          <a:xfrm>
            <a:off x="577525" y="23260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524330" y="2145731"/>
            <a:ext cx="565924" cy="799651"/>
            <a:chOff x="7524330" y="2145731"/>
            <a:chExt cx="565924" cy="799651"/>
          </a:xfrm>
        </p:grpSpPr>
        <p:sp>
          <p:nvSpPr>
            <p:cNvPr id="119" name="矩形 118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7596336" y="2145731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0" name="直接连接符 129"/>
          <p:cNvCxnSpPr/>
          <p:nvPr/>
        </p:nvCxnSpPr>
        <p:spPr>
          <a:xfrm>
            <a:off x="1846175" y="3022039"/>
            <a:ext cx="4857007" cy="47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flipV="1">
            <a:off x="1423529" y="3091733"/>
            <a:ext cx="4641267" cy="23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1017462" y="3166055"/>
            <a:ext cx="4408947" cy="42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flipV="1">
            <a:off x="602784" y="3235106"/>
            <a:ext cx="4185238" cy="29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椭圆 157"/>
          <p:cNvSpPr/>
          <p:nvPr/>
        </p:nvSpPr>
        <p:spPr>
          <a:xfrm>
            <a:off x="1823314" y="299695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1400668" y="306896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994601" y="314319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583043" y="321520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5" name="直接连接符 164"/>
          <p:cNvCxnSpPr/>
          <p:nvPr/>
        </p:nvCxnSpPr>
        <p:spPr>
          <a:xfrm flipV="1">
            <a:off x="1851278" y="4193425"/>
            <a:ext cx="4099012" cy="22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 flipV="1">
            <a:off x="1428632" y="4267660"/>
            <a:ext cx="3881423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/>
          <p:cNvCxnSpPr/>
          <p:nvPr/>
        </p:nvCxnSpPr>
        <p:spPr>
          <a:xfrm flipV="1">
            <a:off x="1022565" y="4339667"/>
            <a:ext cx="3650952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>
            <a:off x="607887" y="4411676"/>
            <a:ext cx="3427242" cy="101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椭圆 192"/>
          <p:cNvSpPr/>
          <p:nvPr/>
        </p:nvSpPr>
        <p:spPr>
          <a:xfrm>
            <a:off x="1828417" y="417056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椭圆 193"/>
          <p:cNvSpPr/>
          <p:nvPr/>
        </p:nvSpPr>
        <p:spPr>
          <a:xfrm>
            <a:off x="1405771" y="42425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/>
          <p:cNvSpPr/>
          <p:nvPr/>
        </p:nvSpPr>
        <p:spPr>
          <a:xfrm>
            <a:off x="999704" y="431680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椭圆 195"/>
          <p:cNvSpPr/>
          <p:nvPr/>
        </p:nvSpPr>
        <p:spPr>
          <a:xfrm>
            <a:off x="588146" y="438881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5" name="直接连接符 234"/>
          <p:cNvCxnSpPr/>
          <p:nvPr/>
        </p:nvCxnSpPr>
        <p:spPr>
          <a:xfrm>
            <a:off x="1840655" y="5414237"/>
            <a:ext cx="3389555" cy="1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>
            <a:off x="1423529" y="5486404"/>
            <a:ext cx="3168295" cy="54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1017462" y="5558412"/>
            <a:ext cx="2935975" cy="54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602784" y="5630420"/>
            <a:ext cx="2711109" cy="63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组合 199"/>
          <p:cNvGrpSpPr/>
          <p:nvPr/>
        </p:nvGrpSpPr>
        <p:grpSpPr>
          <a:xfrm>
            <a:off x="6885944" y="2204864"/>
            <a:ext cx="565924" cy="740518"/>
            <a:chOff x="7524330" y="2204864"/>
            <a:chExt cx="565924" cy="740518"/>
          </a:xfrm>
        </p:grpSpPr>
        <p:sp>
          <p:nvSpPr>
            <p:cNvPr id="201" name="矩形 200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2" name="直接连接符 201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本框 204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  <p:sp>
          <p:nvSpPr>
            <p:cNvPr id="206" name="椭圆 205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6247557" y="2276872"/>
            <a:ext cx="565924" cy="663768"/>
            <a:chOff x="7524330" y="2281614"/>
            <a:chExt cx="565924" cy="663768"/>
          </a:xfrm>
        </p:grpSpPr>
        <p:sp>
          <p:nvSpPr>
            <p:cNvPr id="208" name="矩形 207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9" name="直接连接符 208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文本框 211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  <p:sp>
          <p:nvSpPr>
            <p:cNvPr id="213" name="椭圆 212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5609170" y="2348880"/>
            <a:ext cx="565924" cy="591760"/>
            <a:chOff x="7524330" y="2353622"/>
            <a:chExt cx="565924" cy="591760"/>
          </a:xfrm>
        </p:grpSpPr>
        <p:sp>
          <p:nvSpPr>
            <p:cNvPr id="215" name="矩形 214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连接符 215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文本框 218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3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0</a:t>
              </a:r>
              <a:endParaRPr lang="zh-CN" altLang="en-US" sz="900" baseline="-25000" dirty="0"/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6631176" y="3032600"/>
            <a:ext cx="565924" cy="799651"/>
            <a:chOff x="7524330" y="2145731"/>
            <a:chExt cx="565924" cy="799651"/>
          </a:xfrm>
        </p:grpSpPr>
        <p:sp>
          <p:nvSpPr>
            <p:cNvPr id="223" name="矩形 222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4" name="直接连接符 223"/>
            <p:cNvCxnSpPr/>
            <p:nvPr/>
          </p:nvCxnSpPr>
          <p:spPr>
            <a:xfrm>
              <a:off x="7596336" y="2145731"/>
              <a:ext cx="0" cy="3605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文本框 226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  <p:sp>
          <p:nvSpPr>
            <p:cNvPr id="228" name="椭圆 227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5992790" y="3091733"/>
            <a:ext cx="565924" cy="740518"/>
            <a:chOff x="7524330" y="2204864"/>
            <a:chExt cx="565924" cy="740518"/>
          </a:xfrm>
        </p:grpSpPr>
        <p:sp>
          <p:nvSpPr>
            <p:cNvPr id="230" name="矩形 229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1" name="直接连接符 230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文本框 233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  <p:sp>
          <p:nvSpPr>
            <p:cNvPr id="263" name="椭圆 262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5354403" y="3163741"/>
            <a:ext cx="565924" cy="663768"/>
            <a:chOff x="7524330" y="2281614"/>
            <a:chExt cx="565924" cy="663768"/>
          </a:xfrm>
        </p:grpSpPr>
        <p:sp>
          <p:nvSpPr>
            <p:cNvPr id="265" name="矩形 264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6" name="直接连接符 265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文本框 271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  <p:sp>
          <p:nvSpPr>
            <p:cNvPr id="273" name="椭圆 272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4716016" y="3235749"/>
            <a:ext cx="565924" cy="591760"/>
            <a:chOff x="7524330" y="2353622"/>
            <a:chExt cx="565924" cy="591760"/>
          </a:xfrm>
        </p:grpSpPr>
        <p:sp>
          <p:nvSpPr>
            <p:cNvPr id="275" name="矩形 274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6" name="直接连接符 275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文本框 278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3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1</a:t>
              </a:r>
              <a:endParaRPr lang="zh-CN" altLang="en-US" sz="900" baseline="-25000" dirty="0"/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5878284" y="4195652"/>
            <a:ext cx="565924" cy="814040"/>
            <a:chOff x="7524330" y="2131342"/>
            <a:chExt cx="565924" cy="814040"/>
          </a:xfrm>
        </p:grpSpPr>
        <p:sp>
          <p:nvSpPr>
            <p:cNvPr id="282" name="矩形 281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3" name="直接连接符 282"/>
            <p:cNvCxnSpPr/>
            <p:nvPr/>
          </p:nvCxnSpPr>
          <p:spPr>
            <a:xfrm>
              <a:off x="7596336" y="2131342"/>
              <a:ext cx="0" cy="3749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文本框 285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  <p:sp>
          <p:nvSpPr>
            <p:cNvPr id="287" name="椭圆 286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8" name="组合 287"/>
          <p:cNvGrpSpPr/>
          <p:nvPr/>
        </p:nvGrpSpPr>
        <p:grpSpPr>
          <a:xfrm>
            <a:off x="5239898" y="4269174"/>
            <a:ext cx="565924" cy="740518"/>
            <a:chOff x="7524330" y="2204864"/>
            <a:chExt cx="565924" cy="740518"/>
          </a:xfrm>
        </p:grpSpPr>
        <p:sp>
          <p:nvSpPr>
            <p:cNvPr id="289" name="矩形 288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0" name="直接连接符 289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文本框 292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  <p:sp>
          <p:nvSpPr>
            <p:cNvPr id="294" name="椭圆 293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5" name="组合 294"/>
          <p:cNvGrpSpPr/>
          <p:nvPr/>
        </p:nvGrpSpPr>
        <p:grpSpPr>
          <a:xfrm>
            <a:off x="4601511" y="4341182"/>
            <a:ext cx="565924" cy="663768"/>
            <a:chOff x="7524330" y="2281614"/>
            <a:chExt cx="565924" cy="663768"/>
          </a:xfrm>
        </p:grpSpPr>
        <p:sp>
          <p:nvSpPr>
            <p:cNvPr id="296" name="矩形 295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7" name="直接连接符 296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文本框 299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  <p:sp>
          <p:nvSpPr>
            <p:cNvPr id="301" name="椭圆 300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3963124" y="4413190"/>
            <a:ext cx="565924" cy="591760"/>
            <a:chOff x="7524330" y="2353622"/>
            <a:chExt cx="565924" cy="591760"/>
          </a:xfrm>
        </p:grpSpPr>
        <p:sp>
          <p:nvSpPr>
            <p:cNvPr id="303" name="矩形 302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4" name="直接连接符 303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文本框 306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3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2</a:t>
              </a:r>
              <a:endParaRPr lang="zh-CN" altLang="en-US" sz="900" baseline="-25000" dirty="0"/>
            </a:p>
          </p:txBody>
        </p:sp>
      </p:grpSp>
      <p:grpSp>
        <p:nvGrpSpPr>
          <p:cNvPr id="309" name="组合 308"/>
          <p:cNvGrpSpPr/>
          <p:nvPr/>
        </p:nvGrpSpPr>
        <p:grpSpPr>
          <a:xfrm>
            <a:off x="5158204" y="5414396"/>
            <a:ext cx="565924" cy="817979"/>
            <a:chOff x="7524330" y="2127403"/>
            <a:chExt cx="565924" cy="817979"/>
          </a:xfrm>
        </p:grpSpPr>
        <p:sp>
          <p:nvSpPr>
            <p:cNvPr id="310" name="矩形 309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1" name="直接连接符 310"/>
            <p:cNvCxnSpPr/>
            <p:nvPr/>
          </p:nvCxnSpPr>
          <p:spPr>
            <a:xfrm>
              <a:off x="7596336" y="2127403"/>
              <a:ext cx="0" cy="3789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文本框 313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0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3</a:t>
              </a:r>
              <a:endParaRPr lang="zh-CN" altLang="en-US" sz="900" baseline="-25000" dirty="0"/>
            </a:p>
          </p:txBody>
        </p:sp>
        <p:sp>
          <p:nvSpPr>
            <p:cNvPr id="315" name="椭圆 314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6" name="组合 315"/>
          <p:cNvGrpSpPr/>
          <p:nvPr/>
        </p:nvGrpSpPr>
        <p:grpSpPr>
          <a:xfrm>
            <a:off x="4519818" y="5491857"/>
            <a:ext cx="565924" cy="740518"/>
            <a:chOff x="7524330" y="2204864"/>
            <a:chExt cx="565924" cy="740518"/>
          </a:xfrm>
        </p:grpSpPr>
        <p:sp>
          <p:nvSpPr>
            <p:cNvPr id="317" name="矩形 316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8" name="直接连接符 317"/>
            <p:cNvCxnSpPr/>
            <p:nvPr/>
          </p:nvCxnSpPr>
          <p:spPr>
            <a:xfrm>
              <a:off x="7596336" y="2204864"/>
              <a:ext cx="0" cy="3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文本框 320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1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3</a:t>
              </a:r>
              <a:endParaRPr lang="zh-CN" altLang="en-US" sz="900" baseline="-25000" dirty="0"/>
            </a:p>
          </p:txBody>
        </p:sp>
        <p:sp>
          <p:nvSpPr>
            <p:cNvPr id="322" name="椭圆 321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3" name="组合 322"/>
          <p:cNvGrpSpPr/>
          <p:nvPr/>
        </p:nvGrpSpPr>
        <p:grpSpPr>
          <a:xfrm>
            <a:off x="3881431" y="5563865"/>
            <a:ext cx="565924" cy="663768"/>
            <a:chOff x="7524330" y="2281614"/>
            <a:chExt cx="565924" cy="663768"/>
          </a:xfrm>
        </p:grpSpPr>
        <p:sp>
          <p:nvSpPr>
            <p:cNvPr id="324" name="矩形 323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5" name="直接连接符 324"/>
            <p:cNvCxnSpPr/>
            <p:nvPr/>
          </p:nvCxnSpPr>
          <p:spPr>
            <a:xfrm>
              <a:off x="7596336" y="2281614"/>
              <a:ext cx="0" cy="2246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文本框 327"/>
            <p:cNvSpPr txBox="1"/>
            <p:nvPr/>
          </p:nvSpPr>
          <p:spPr>
            <a:xfrm>
              <a:off x="7668344" y="2714550"/>
              <a:ext cx="42191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/>
                <a:t>A</a:t>
              </a:r>
              <a:r>
                <a:rPr lang="en-US" altLang="zh-CN" sz="900" baseline="-25000" dirty="0"/>
                <a:t>2</a:t>
              </a:r>
              <a:r>
                <a:rPr lang="en-US" altLang="zh-CN" sz="900" dirty="0"/>
                <a:t>B</a:t>
              </a:r>
              <a:r>
                <a:rPr lang="en-US" altLang="zh-CN" sz="900" baseline="-25000" dirty="0"/>
                <a:t>3</a:t>
              </a:r>
              <a:endParaRPr lang="zh-CN" altLang="en-US" sz="900" baseline="-25000" dirty="0"/>
            </a:p>
          </p:txBody>
        </p:sp>
        <p:sp>
          <p:nvSpPr>
            <p:cNvPr id="329" name="椭圆 328"/>
            <p:cNvSpPr/>
            <p:nvPr/>
          </p:nvSpPr>
          <p:spPr>
            <a:xfrm>
              <a:off x="7740352" y="23316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0" name="组合 329"/>
          <p:cNvGrpSpPr/>
          <p:nvPr/>
        </p:nvGrpSpPr>
        <p:grpSpPr>
          <a:xfrm>
            <a:off x="3243044" y="5635873"/>
            <a:ext cx="538674" cy="576372"/>
            <a:chOff x="7524330" y="2353622"/>
            <a:chExt cx="538674" cy="576372"/>
          </a:xfrm>
        </p:grpSpPr>
        <p:sp>
          <p:nvSpPr>
            <p:cNvPr id="331" name="矩形 330"/>
            <p:cNvSpPr/>
            <p:nvPr/>
          </p:nvSpPr>
          <p:spPr>
            <a:xfrm>
              <a:off x="7524330" y="2499063"/>
              <a:ext cx="323676" cy="23409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2" name="直接连接符 331"/>
            <p:cNvCxnSpPr/>
            <p:nvPr/>
          </p:nvCxnSpPr>
          <p:spPr>
            <a:xfrm>
              <a:off x="7596336" y="2353622"/>
              <a:ext cx="0" cy="1526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/>
            <p:cNvCxnSpPr/>
            <p:nvPr/>
          </p:nvCxnSpPr>
          <p:spPr>
            <a:xfrm>
              <a:off x="7764526" y="2354510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/>
            <p:cNvCxnSpPr/>
            <p:nvPr/>
          </p:nvCxnSpPr>
          <p:spPr>
            <a:xfrm>
              <a:off x="7686168" y="2728663"/>
              <a:ext cx="0" cy="1445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文本框 334"/>
            <p:cNvSpPr txBox="1"/>
            <p:nvPr/>
          </p:nvSpPr>
          <p:spPr>
            <a:xfrm>
              <a:off x="7668344" y="2714550"/>
              <a:ext cx="3946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/>
                <a:t>A</a:t>
              </a:r>
              <a:r>
                <a:rPr lang="en-US" altLang="zh-CN" sz="800" baseline="-25000" dirty="0"/>
                <a:t>3</a:t>
              </a:r>
              <a:r>
                <a:rPr lang="en-US" altLang="zh-CN" sz="800" dirty="0"/>
                <a:t>B</a:t>
              </a:r>
              <a:r>
                <a:rPr lang="en-US" altLang="zh-CN" sz="800" baseline="-25000" dirty="0"/>
                <a:t>3</a:t>
              </a:r>
              <a:endParaRPr lang="zh-CN" altLang="en-US" sz="800" baseline="-25000" dirty="0"/>
            </a:p>
          </p:txBody>
        </p:sp>
      </p:grpSp>
      <p:cxnSp>
        <p:nvCxnSpPr>
          <p:cNvPr id="340" name="直接连接符 339"/>
          <p:cNvCxnSpPr/>
          <p:nvPr/>
        </p:nvCxnSpPr>
        <p:spPr>
          <a:xfrm>
            <a:off x="7047782" y="2868664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>
            <a:off x="6408238" y="2872112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/>
          <p:cNvCxnSpPr/>
          <p:nvPr/>
        </p:nvCxnSpPr>
        <p:spPr>
          <a:xfrm>
            <a:off x="5768695" y="2868664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>
            <a:off x="5132641" y="2864159"/>
            <a:ext cx="0" cy="890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4992464" y="257277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cxnSp>
        <p:nvCxnSpPr>
          <p:cNvPr id="350" name="直接连接符 349"/>
          <p:cNvCxnSpPr/>
          <p:nvPr/>
        </p:nvCxnSpPr>
        <p:spPr>
          <a:xfrm>
            <a:off x="7686168" y="2863785"/>
            <a:ext cx="29200" cy="36615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894" name="组合 250893"/>
          <p:cNvGrpSpPr/>
          <p:nvPr/>
        </p:nvGrpSpPr>
        <p:grpSpPr>
          <a:xfrm>
            <a:off x="4355976" y="3683066"/>
            <a:ext cx="2841124" cy="469673"/>
            <a:chOff x="4355976" y="3683066"/>
            <a:chExt cx="2841124" cy="469673"/>
          </a:xfrm>
        </p:grpSpPr>
        <p:grpSp>
          <p:nvGrpSpPr>
            <p:cNvPr id="250892" name="组合 250891"/>
            <p:cNvGrpSpPr/>
            <p:nvPr/>
          </p:nvGrpSpPr>
          <p:grpSpPr>
            <a:xfrm>
              <a:off x="4355976" y="3760041"/>
              <a:ext cx="2744795" cy="392698"/>
              <a:chOff x="4355976" y="3760041"/>
              <a:chExt cx="2744795" cy="392698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6756281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" name="直接连接符 57"/>
              <p:cNvCxnSpPr>
                <a:stCxn id="48" idx="2"/>
              </p:cNvCxnSpPr>
              <p:nvPr/>
            </p:nvCxnSpPr>
            <p:spPr>
              <a:xfrm>
                <a:off x="6928526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1" name="矩形 340"/>
              <p:cNvSpPr/>
              <p:nvPr/>
            </p:nvSpPr>
            <p:spPr>
              <a:xfrm>
                <a:off x="6116737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3" name="直接连接符 342"/>
              <p:cNvCxnSpPr>
                <a:stCxn id="341" idx="2"/>
              </p:cNvCxnSpPr>
              <p:nvPr/>
            </p:nvCxnSpPr>
            <p:spPr>
              <a:xfrm>
                <a:off x="6288982" y="3979047"/>
                <a:ext cx="0" cy="1736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连接符 345"/>
              <p:cNvCxnSpPr>
                <a:stCxn id="344" idx="2"/>
              </p:cNvCxnSpPr>
              <p:nvPr/>
            </p:nvCxnSpPr>
            <p:spPr>
              <a:xfrm>
                <a:off x="5649439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7" name="矩形 346"/>
              <p:cNvSpPr/>
              <p:nvPr/>
            </p:nvSpPr>
            <p:spPr>
              <a:xfrm>
                <a:off x="4841140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9" name="直接连接符 348"/>
              <p:cNvCxnSpPr>
                <a:stCxn id="347" idx="2"/>
              </p:cNvCxnSpPr>
              <p:nvPr/>
            </p:nvCxnSpPr>
            <p:spPr>
              <a:xfrm>
                <a:off x="5013385" y="3979047"/>
                <a:ext cx="0" cy="1657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/>
              <p:cNvCxnSpPr>
                <a:stCxn id="347" idx="1"/>
              </p:cNvCxnSpPr>
              <p:nvPr/>
            </p:nvCxnSpPr>
            <p:spPr>
              <a:xfrm flipH="1" flipV="1">
                <a:off x="4355976" y="3867468"/>
                <a:ext cx="485164" cy="207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4" name="矩形 343"/>
            <p:cNvSpPr/>
            <p:nvPr/>
          </p:nvSpPr>
          <p:spPr>
            <a:xfrm>
              <a:off x="5477194" y="3760041"/>
              <a:ext cx="344490" cy="2190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ADD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50891" name="矩形 250890"/>
            <p:cNvSpPr/>
            <p:nvPr/>
          </p:nvSpPr>
          <p:spPr>
            <a:xfrm>
              <a:off x="4684823" y="3683066"/>
              <a:ext cx="2512277" cy="3599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0" name="组合 369"/>
          <p:cNvGrpSpPr/>
          <p:nvPr/>
        </p:nvGrpSpPr>
        <p:grpSpPr>
          <a:xfrm>
            <a:off x="3635896" y="4868255"/>
            <a:ext cx="2804400" cy="469673"/>
            <a:chOff x="4392700" y="3683066"/>
            <a:chExt cx="2804400" cy="469673"/>
          </a:xfrm>
        </p:grpSpPr>
        <p:grpSp>
          <p:nvGrpSpPr>
            <p:cNvPr id="371" name="组合 370"/>
            <p:cNvGrpSpPr/>
            <p:nvPr/>
          </p:nvGrpSpPr>
          <p:grpSpPr>
            <a:xfrm>
              <a:off x="4392700" y="3760041"/>
              <a:ext cx="2708071" cy="392698"/>
              <a:chOff x="4392700" y="3760041"/>
              <a:chExt cx="2708071" cy="392698"/>
            </a:xfrm>
          </p:grpSpPr>
          <p:sp>
            <p:nvSpPr>
              <p:cNvPr id="374" name="矩形 373"/>
              <p:cNvSpPr/>
              <p:nvPr/>
            </p:nvSpPr>
            <p:spPr>
              <a:xfrm>
                <a:off x="6756281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75" name="直接连接符 374"/>
              <p:cNvCxnSpPr>
                <a:stCxn id="374" idx="2"/>
              </p:cNvCxnSpPr>
              <p:nvPr/>
            </p:nvCxnSpPr>
            <p:spPr>
              <a:xfrm>
                <a:off x="6928526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6" name="矩形 375"/>
              <p:cNvSpPr/>
              <p:nvPr/>
            </p:nvSpPr>
            <p:spPr>
              <a:xfrm>
                <a:off x="6116737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77" name="直接连接符 376"/>
              <p:cNvCxnSpPr>
                <a:stCxn id="376" idx="2"/>
              </p:cNvCxnSpPr>
              <p:nvPr/>
            </p:nvCxnSpPr>
            <p:spPr>
              <a:xfrm>
                <a:off x="6288982" y="3979047"/>
                <a:ext cx="0" cy="1736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/>
              <p:cNvCxnSpPr>
                <a:stCxn id="372" idx="2"/>
              </p:cNvCxnSpPr>
              <p:nvPr/>
            </p:nvCxnSpPr>
            <p:spPr>
              <a:xfrm>
                <a:off x="5649439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9" name="矩形 378"/>
              <p:cNvSpPr/>
              <p:nvPr/>
            </p:nvSpPr>
            <p:spPr>
              <a:xfrm>
                <a:off x="4841140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80" name="直接连接符 379"/>
              <p:cNvCxnSpPr>
                <a:stCxn id="379" idx="2"/>
              </p:cNvCxnSpPr>
              <p:nvPr/>
            </p:nvCxnSpPr>
            <p:spPr>
              <a:xfrm>
                <a:off x="5013385" y="3979047"/>
                <a:ext cx="0" cy="1657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/>
              <p:cNvCxnSpPr>
                <a:stCxn id="379" idx="1"/>
              </p:cNvCxnSpPr>
              <p:nvPr/>
            </p:nvCxnSpPr>
            <p:spPr>
              <a:xfrm flipH="1">
                <a:off x="4392700" y="3869544"/>
                <a:ext cx="44844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2" name="矩形 371"/>
            <p:cNvSpPr/>
            <p:nvPr/>
          </p:nvSpPr>
          <p:spPr>
            <a:xfrm>
              <a:off x="5477194" y="3760041"/>
              <a:ext cx="344490" cy="2190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ADD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73" name="矩形 372"/>
            <p:cNvSpPr/>
            <p:nvPr/>
          </p:nvSpPr>
          <p:spPr>
            <a:xfrm>
              <a:off x="4684823" y="3683066"/>
              <a:ext cx="2512277" cy="3599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5" name="直接连接符 384"/>
          <p:cNvCxnSpPr/>
          <p:nvPr/>
        </p:nvCxnSpPr>
        <p:spPr>
          <a:xfrm>
            <a:off x="6288982" y="4152739"/>
            <a:ext cx="0" cy="793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接连接符 385"/>
          <p:cNvCxnSpPr/>
          <p:nvPr/>
        </p:nvCxnSpPr>
        <p:spPr>
          <a:xfrm>
            <a:off x="5648746" y="4149643"/>
            <a:ext cx="0" cy="793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连接符 386"/>
          <p:cNvCxnSpPr/>
          <p:nvPr/>
        </p:nvCxnSpPr>
        <p:spPr>
          <a:xfrm>
            <a:off x="5013385" y="4139676"/>
            <a:ext cx="0" cy="7931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4" name="组合 393"/>
          <p:cNvGrpSpPr/>
          <p:nvPr/>
        </p:nvGrpSpPr>
        <p:grpSpPr>
          <a:xfrm>
            <a:off x="2798136" y="6091924"/>
            <a:ext cx="2896467" cy="469673"/>
            <a:chOff x="4300633" y="3683066"/>
            <a:chExt cx="2896467" cy="469673"/>
          </a:xfrm>
        </p:grpSpPr>
        <p:grpSp>
          <p:nvGrpSpPr>
            <p:cNvPr id="395" name="组合 394"/>
            <p:cNvGrpSpPr/>
            <p:nvPr/>
          </p:nvGrpSpPr>
          <p:grpSpPr>
            <a:xfrm>
              <a:off x="4300633" y="3760041"/>
              <a:ext cx="2800138" cy="392698"/>
              <a:chOff x="4300633" y="3760041"/>
              <a:chExt cx="2800138" cy="392698"/>
            </a:xfrm>
          </p:grpSpPr>
          <p:sp>
            <p:nvSpPr>
              <p:cNvPr id="398" name="矩形 397"/>
              <p:cNvSpPr/>
              <p:nvPr/>
            </p:nvSpPr>
            <p:spPr>
              <a:xfrm>
                <a:off x="6756281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9" name="直接连接符 398"/>
              <p:cNvCxnSpPr>
                <a:stCxn id="398" idx="2"/>
              </p:cNvCxnSpPr>
              <p:nvPr/>
            </p:nvCxnSpPr>
            <p:spPr>
              <a:xfrm>
                <a:off x="6928526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0" name="矩形 399"/>
              <p:cNvSpPr/>
              <p:nvPr/>
            </p:nvSpPr>
            <p:spPr>
              <a:xfrm>
                <a:off x="6116737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1" name="直接连接符 400"/>
              <p:cNvCxnSpPr>
                <a:stCxn id="400" idx="2"/>
              </p:cNvCxnSpPr>
              <p:nvPr/>
            </p:nvCxnSpPr>
            <p:spPr>
              <a:xfrm>
                <a:off x="6288982" y="3979047"/>
                <a:ext cx="0" cy="1736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/>
              <p:cNvCxnSpPr>
                <a:stCxn id="396" idx="2"/>
              </p:cNvCxnSpPr>
              <p:nvPr/>
            </p:nvCxnSpPr>
            <p:spPr>
              <a:xfrm>
                <a:off x="5649439" y="3979047"/>
                <a:ext cx="0" cy="17024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3" name="矩形 402"/>
              <p:cNvSpPr/>
              <p:nvPr/>
            </p:nvSpPr>
            <p:spPr>
              <a:xfrm>
                <a:off x="4841140" y="3760041"/>
                <a:ext cx="344490" cy="2190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ADD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4" name="直接连接符 403"/>
              <p:cNvCxnSpPr>
                <a:stCxn id="403" idx="2"/>
              </p:cNvCxnSpPr>
              <p:nvPr/>
            </p:nvCxnSpPr>
            <p:spPr>
              <a:xfrm>
                <a:off x="5013385" y="3979047"/>
                <a:ext cx="0" cy="1657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直接连接符 407"/>
              <p:cNvCxnSpPr>
                <a:stCxn id="403" idx="1"/>
              </p:cNvCxnSpPr>
              <p:nvPr/>
            </p:nvCxnSpPr>
            <p:spPr>
              <a:xfrm flipH="1">
                <a:off x="4300633" y="3869544"/>
                <a:ext cx="540507" cy="1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6" name="矩形 395"/>
            <p:cNvSpPr/>
            <p:nvPr/>
          </p:nvSpPr>
          <p:spPr>
            <a:xfrm>
              <a:off x="5477194" y="3760041"/>
              <a:ext cx="344490" cy="2190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ADD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97" name="矩形 396"/>
            <p:cNvSpPr/>
            <p:nvPr/>
          </p:nvSpPr>
          <p:spPr>
            <a:xfrm>
              <a:off x="4684823" y="3683066"/>
              <a:ext cx="2512277" cy="3599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9" name="直接连接符 408"/>
          <p:cNvCxnSpPr/>
          <p:nvPr/>
        </p:nvCxnSpPr>
        <p:spPr>
          <a:xfrm>
            <a:off x="6171722" y="5333968"/>
            <a:ext cx="0" cy="11913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连接符 409"/>
          <p:cNvCxnSpPr/>
          <p:nvPr/>
        </p:nvCxnSpPr>
        <p:spPr>
          <a:xfrm flipH="1">
            <a:off x="5531486" y="5337928"/>
            <a:ext cx="692" cy="8273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/>
          <p:cNvCxnSpPr/>
          <p:nvPr/>
        </p:nvCxnSpPr>
        <p:spPr>
          <a:xfrm>
            <a:off x="4892635" y="5329975"/>
            <a:ext cx="0" cy="8353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/>
          <p:cNvCxnSpPr/>
          <p:nvPr/>
        </p:nvCxnSpPr>
        <p:spPr>
          <a:xfrm>
            <a:off x="4256581" y="5329975"/>
            <a:ext cx="0" cy="8353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连接符 419"/>
          <p:cNvCxnSpPr/>
          <p:nvPr/>
        </p:nvCxnSpPr>
        <p:spPr>
          <a:xfrm>
            <a:off x="4355976" y="3869544"/>
            <a:ext cx="0" cy="10686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直接连接符 422"/>
          <p:cNvCxnSpPr/>
          <p:nvPr/>
        </p:nvCxnSpPr>
        <p:spPr>
          <a:xfrm>
            <a:off x="3635896" y="5054733"/>
            <a:ext cx="0" cy="1117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直接连接符 425"/>
          <p:cNvCxnSpPr/>
          <p:nvPr/>
        </p:nvCxnSpPr>
        <p:spPr>
          <a:xfrm>
            <a:off x="2798136" y="6271888"/>
            <a:ext cx="0" cy="2534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直接连接符 434"/>
          <p:cNvCxnSpPr/>
          <p:nvPr/>
        </p:nvCxnSpPr>
        <p:spPr>
          <a:xfrm>
            <a:off x="6928526" y="4149291"/>
            <a:ext cx="0" cy="23760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文本框 439"/>
          <p:cNvSpPr txBox="1"/>
          <p:nvPr/>
        </p:nvSpPr>
        <p:spPr>
          <a:xfrm>
            <a:off x="7649909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sp>
        <p:nvSpPr>
          <p:cNvPr id="441" name="文本框 440"/>
          <p:cNvSpPr txBox="1"/>
          <p:nvPr/>
        </p:nvSpPr>
        <p:spPr>
          <a:xfrm>
            <a:off x="6879361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442" name="文本框 441"/>
          <p:cNvSpPr txBox="1"/>
          <p:nvPr/>
        </p:nvSpPr>
        <p:spPr>
          <a:xfrm>
            <a:off x="6125687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443" name="文本框 442"/>
          <p:cNvSpPr txBox="1"/>
          <p:nvPr/>
        </p:nvSpPr>
        <p:spPr>
          <a:xfrm>
            <a:off x="5372013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444" name="文本框 443"/>
          <p:cNvSpPr txBox="1"/>
          <p:nvPr/>
        </p:nvSpPr>
        <p:spPr>
          <a:xfrm>
            <a:off x="4736787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4</a:t>
            </a:r>
            <a:endParaRPr lang="zh-CN" altLang="en-US" baseline="-25000" dirty="0"/>
          </a:p>
        </p:txBody>
      </p:sp>
      <p:sp>
        <p:nvSpPr>
          <p:cNvPr id="445" name="文本框 444"/>
          <p:cNvSpPr txBox="1"/>
          <p:nvPr/>
        </p:nvSpPr>
        <p:spPr>
          <a:xfrm>
            <a:off x="4093930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5</a:t>
            </a:r>
            <a:endParaRPr lang="zh-CN" altLang="en-US" baseline="-25000" dirty="0"/>
          </a:p>
        </p:txBody>
      </p:sp>
      <p:sp>
        <p:nvSpPr>
          <p:cNvPr id="446" name="文本框 445"/>
          <p:cNvSpPr txBox="1"/>
          <p:nvPr/>
        </p:nvSpPr>
        <p:spPr>
          <a:xfrm>
            <a:off x="3467845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6</a:t>
            </a:r>
            <a:endParaRPr lang="zh-CN" altLang="en-US" baseline="-25000" dirty="0"/>
          </a:p>
        </p:txBody>
      </p:sp>
      <p:sp>
        <p:nvSpPr>
          <p:cNvPr id="447" name="文本框 446"/>
          <p:cNvSpPr txBox="1"/>
          <p:nvPr/>
        </p:nvSpPr>
        <p:spPr>
          <a:xfrm>
            <a:off x="2741765" y="6351711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7</a:t>
            </a:r>
            <a:endParaRPr lang="zh-CN" altLang="en-US" baseline="-25000" dirty="0"/>
          </a:p>
        </p:txBody>
      </p:sp>
      <p:sp>
        <p:nvSpPr>
          <p:cNvPr id="2" name="等腰三角形 1"/>
          <p:cNvSpPr/>
          <p:nvPr/>
        </p:nvSpPr>
        <p:spPr>
          <a:xfrm>
            <a:off x="7763211" y="2931152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39" name="等腰三角形 238"/>
          <p:cNvSpPr/>
          <p:nvPr/>
        </p:nvSpPr>
        <p:spPr>
          <a:xfrm>
            <a:off x="7113761" y="3160869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40" name="等腰三角形 239"/>
          <p:cNvSpPr/>
          <p:nvPr/>
        </p:nvSpPr>
        <p:spPr>
          <a:xfrm>
            <a:off x="6912297" y="4076076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1" name="等腰三角形 240"/>
          <p:cNvSpPr/>
          <p:nvPr/>
        </p:nvSpPr>
        <p:spPr>
          <a:xfrm>
            <a:off x="3890157" y="3557421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2" name="等腰三角形 241"/>
          <p:cNvSpPr/>
          <p:nvPr/>
        </p:nvSpPr>
        <p:spPr>
          <a:xfrm>
            <a:off x="6328000" y="5102018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43" name="等腰三角形 242"/>
          <p:cNvSpPr/>
          <p:nvPr/>
        </p:nvSpPr>
        <p:spPr>
          <a:xfrm>
            <a:off x="3168598" y="4711318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45" name="等腰三角形 244"/>
          <p:cNvSpPr/>
          <p:nvPr/>
        </p:nvSpPr>
        <p:spPr>
          <a:xfrm>
            <a:off x="2294080" y="6177033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246" name="等腰三角形 245"/>
          <p:cNvSpPr/>
          <p:nvPr/>
        </p:nvSpPr>
        <p:spPr>
          <a:xfrm>
            <a:off x="5656860" y="6005821"/>
            <a:ext cx="435007" cy="49999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70000" lnSpcReduction="20000"/>
          </a:bodyPr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250" name="文本框 249"/>
          <p:cNvSpPr txBox="1"/>
          <p:nvPr/>
        </p:nvSpPr>
        <p:spPr>
          <a:xfrm>
            <a:off x="3111216" y="3378478"/>
            <a:ext cx="1532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600" b="1" dirty="0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位并行加法器</a:t>
            </a:r>
            <a:endParaRPr lang="zh-CN" altLang="en-US" sz="1600" b="1" dirty="0">
              <a:solidFill>
                <a:schemeClr val="accent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387F-02A2-45A9-B41C-FD32DA3B9EED}" type="slidenum">
              <a:rPr lang="en-US" altLang="zh-CN"/>
            </a:fld>
            <a:endParaRPr lang="en-US" altLang="zh-CN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endParaRPr lang="en-US" altLang="zh-CN" sz="3600" dirty="0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/>
            <a:r>
              <a:rPr lang="zh-CN" altLang="en-US" b="1" dirty="0"/>
              <a:t>加法器</a:t>
            </a:r>
            <a:endParaRPr lang="zh-CN" altLang="en-US" b="1" dirty="0"/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1</a:t>
            </a:r>
            <a:r>
              <a:rPr lang="zh-CN" altLang="en-US" b="1" dirty="0">
                <a:solidFill>
                  <a:srgbClr val="002060"/>
                </a:solidFill>
              </a:rPr>
              <a:t>位加法器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4</a:t>
            </a:r>
            <a:r>
              <a:rPr lang="zh-CN" altLang="en-US" b="1" dirty="0">
                <a:solidFill>
                  <a:srgbClr val="002060"/>
                </a:solidFill>
              </a:rPr>
              <a:t>位串行进位加法器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>
                <a:solidFill>
                  <a:srgbClr val="002060"/>
                </a:solidFill>
              </a:rPr>
              <a:t>4</a:t>
            </a:r>
            <a:r>
              <a:rPr lang="zh-CN" altLang="en-US" b="1" dirty="0">
                <a:solidFill>
                  <a:srgbClr val="002060"/>
                </a:solidFill>
              </a:rPr>
              <a:t>位并行进位加法器和快速进位逻辑</a:t>
            </a:r>
            <a:endParaRPr lang="zh-CN" altLang="en-US" b="1" dirty="0">
              <a:solidFill>
                <a:srgbClr val="002060"/>
              </a:solidFill>
            </a:endParaRPr>
          </a:p>
          <a:p>
            <a:pPr lvl="2"/>
            <a:r>
              <a:rPr lang="en-US" altLang="zh-CN" b="1" dirty="0"/>
              <a:t>16</a:t>
            </a:r>
            <a:r>
              <a:rPr lang="zh-CN" altLang="en-US" b="1" dirty="0"/>
              <a:t>位并行进位加法器</a:t>
            </a:r>
            <a:endParaRPr lang="zh-CN" altLang="en-US" b="1" dirty="0"/>
          </a:p>
          <a:p>
            <a:pPr lvl="1"/>
            <a:r>
              <a:rPr lang="zh-CN" altLang="en-US" dirty="0"/>
              <a:t>算术运算逻辑单元</a:t>
            </a:r>
            <a:endParaRPr lang="zh-CN" altLang="en-US" dirty="0"/>
          </a:p>
          <a:p>
            <a:pPr lvl="2"/>
            <a:r>
              <a:rPr lang="en-US" altLang="zh-CN" b="1" dirty="0"/>
              <a:t>4</a:t>
            </a:r>
            <a:r>
              <a:rPr lang="zh-CN" altLang="en-US" b="1" dirty="0"/>
              <a:t>位算术逻辑运算单元</a:t>
            </a:r>
            <a:endParaRPr lang="en-US" altLang="zh-CN" b="1" dirty="0"/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乘法器（不要求掌握，不考</a:t>
            </a:r>
            <a:r>
              <a:rPr lang="en-US" altLang="zh-CN" dirty="0">
                <a:solidFill>
                  <a:srgbClr val="7030A0"/>
                </a:solidFill>
              </a:rPr>
              <a:t>!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endParaRPr lang="en-US" altLang="zh-CN" dirty="0">
              <a:solidFill>
                <a:srgbClr val="7030A0"/>
              </a:solidFill>
            </a:endParaRPr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乘加器（不要求掌握，不考</a:t>
            </a:r>
            <a:r>
              <a:rPr lang="en-US" altLang="zh-CN" dirty="0">
                <a:solidFill>
                  <a:srgbClr val="7030A0"/>
                </a:solidFill>
              </a:rPr>
              <a:t>!</a:t>
            </a:r>
            <a:r>
              <a:rPr lang="zh-CN" altLang="en-US" dirty="0">
                <a:solidFill>
                  <a:srgbClr val="7030A0"/>
                </a:solidFill>
              </a:rPr>
              <a:t>）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并行四位乘法器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(52)</a:t>
            </a:r>
            <a:endParaRPr lang="en-US" altLang="zh-CN" sz="3600" dirty="0"/>
          </a:p>
        </p:txBody>
      </p:sp>
      <p:sp>
        <p:nvSpPr>
          <p:cNvPr id="3" name="文本框 2"/>
          <p:cNvSpPr txBox="1"/>
          <p:nvPr/>
        </p:nvSpPr>
        <p:spPr>
          <a:xfrm>
            <a:off x="766792" y="1772816"/>
            <a:ext cx="79816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思考题：</a:t>
            </a: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更快的四位乘法器可以多快？</a:t>
            </a: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如何将加法器和乘法器合在一起实现乘加运算？</a:t>
            </a: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如何实现一个神经计算单元？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1</a:t>
            </a:r>
            <a:r>
              <a:rPr lang="zh-CN" altLang="en-US" dirty="0"/>
              <a:t>比特乘加器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(46)</a:t>
            </a:r>
            <a:endParaRPr lang="en-US" altLang="zh-CN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115616" y="1844824"/>
                <a:ext cx="17152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zh-CN" altLang="en-US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b =&gt; f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844824"/>
                <a:ext cx="1715278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2" t="-40" r="-4180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603504" y="2564904"/>
          <a:ext cx="411251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502"/>
                <a:gridCol w="822502"/>
                <a:gridCol w="822502"/>
                <a:gridCol w="822502"/>
                <a:gridCol w="82250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 </a:t>
                      </a:r>
                      <a:r>
                        <a:rPr lang="zh-CN" altLang="en-US" dirty="0"/>
                        <a:t>* </a:t>
                      </a:r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9" name="Group 4"/>
          <p:cNvGrpSpPr/>
          <p:nvPr/>
        </p:nvGrpSpPr>
        <p:grpSpPr bwMode="auto">
          <a:xfrm>
            <a:off x="4788024" y="1844824"/>
            <a:ext cx="3527425" cy="1671638"/>
            <a:chOff x="522" y="1389"/>
            <a:chExt cx="2222" cy="1053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1</a:t>
              </a:r>
              <a:endParaRPr lang="en-US" altLang="zh-CN" dirty="0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1</a:t>
              </a:r>
              <a:endParaRPr lang="en-US" altLang="zh-CN" dirty="0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0</a:t>
              </a:r>
              <a:endParaRPr lang="en-US" altLang="zh-CN" dirty="0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0</a:t>
              </a:r>
              <a:endParaRPr lang="en-US" altLang="zh-CN" dirty="0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1</a:t>
              </a:r>
              <a:endParaRPr lang="en-US" altLang="zh-CN" dirty="0"/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884" y="1389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522" y="1592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127907" y="4233684"/>
                <a:ext cx="12086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b + </a:t>
                </a:r>
                <a:r>
                  <a:rPr lang="en-US" altLang="zh-CN" dirty="0" err="1"/>
                  <a:t>xy</a:t>
                </a:r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907" y="4233684"/>
                <a:ext cx="120866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3" t="-38" r="-6112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874668" y="5013176"/>
            <a:ext cx="2153716" cy="9304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逻辑电路图略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>
            <a:endCxn id="7" idx="1"/>
          </p:cNvCxnSpPr>
          <p:nvPr/>
        </p:nvCxnSpPr>
        <p:spPr>
          <a:xfrm>
            <a:off x="5484937" y="5478388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484937" y="5157192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484937" y="5805264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8028384" y="5478388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8439660" y="5247555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5122828" y="489251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5120443" y="51735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5120490" y="557449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</a:fld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914400"/>
            <a:ext cx="8334926" cy="57546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2</a:t>
            </a:r>
            <a:r>
              <a:rPr lang="zh-CN" altLang="en-US" dirty="0"/>
              <a:t>比特乘加器</a:t>
            </a:r>
            <a:endParaRPr lang="en-US" altLang="zh-CN" sz="3200" baseline="-25000" dirty="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3.3.7   </a:t>
            </a:r>
            <a:r>
              <a:rPr lang="zh-CN" altLang="en-US" sz="3600" dirty="0"/>
              <a:t>运算器</a:t>
            </a:r>
            <a:r>
              <a:rPr lang="en-US" altLang="zh-CN" sz="3600" dirty="0"/>
              <a:t>(46)</a:t>
            </a:r>
            <a:endParaRPr lang="en-US" altLang="zh-CN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11800" y="1660158"/>
                <a:ext cx="38692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dirty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=&gt;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00" y="1660158"/>
                <a:ext cx="3869201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6" t="-73" r="-4560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603504" y="2564904"/>
          <a:ext cx="411251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502"/>
                <a:gridCol w="822502"/>
                <a:gridCol w="822502"/>
                <a:gridCol w="822502"/>
                <a:gridCol w="82250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 </a:t>
                      </a:r>
                      <a:r>
                        <a:rPr lang="zh-CN" altLang="en-US" dirty="0"/>
                        <a:t>* </a:t>
                      </a:r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Xx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y1y0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y1y0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y+b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x1x0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x1x0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x+b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y1y0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2*y1y0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2y+b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x1x0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b1b0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2*x1x0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2x+b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3y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3y+b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3x+b</a:t>
                      </a:r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9" name="Group 4"/>
          <p:cNvGrpSpPr/>
          <p:nvPr/>
        </p:nvGrpSpPr>
        <p:grpSpPr bwMode="auto">
          <a:xfrm>
            <a:off x="5458997" y="699960"/>
            <a:ext cx="3527425" cy="1671638"/>
            <a:chOff x="522" y="1389"/>
            <a:chExt cx="2222" cy="1053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1</a:t>
              </a:r>
              <a:endParaRPr lang="en-US" altLang="zh-CN" dirty="0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1</a:t>
              </a:r>
              <a:endParaRPr lang="en-US" altLang="zh-CN" dirty="0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0</a:t>
              </a:r>
              <a:endParaRPr lang="en-US" altLang="zh-CN" dirty="0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0</a:t>
              </a:r>
              <a:endParaRPr lang="en-US" altLang="zh-CN" dirty="0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1</a:t>
              </a:r>
              <a:endParaRPr lang="en-US" altLang="zh-CN" dirty="0"/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748" y="1389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884" y="1389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522" y="1592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127907" y="4233684"/>
                <a:ext cx="12086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b + </a:t>
                </a:r>
                <a:r>
                  <a:rPr lang="en-US" altLang="zh-CN" dirty="0" err="1"/>
                  <a:t>xy</a:t>
                </a:r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907" y="4233684"/>
                <a:ext cx="120866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3" t="-38" r="-6112" b="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874668" y="5013176"/>
            <a:ext cx="2153716" cy="9304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逻辑电路图略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接连接符 34"/>
          <p:cNvCxnSpPr>
            <a:endCxn id="7" idx="1"/>
          </p:cNvCxnSpPr>
          <p:nvPr/>
        </p:nvCxnSpPr>
        <p:spPr>
          <a:xfrm>
            <a:off x="5484937" y="5478388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484937" y="5157192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484937" y="5805264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8028384" y="5478388"/>
            <a:ext cx="389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8439660" y="5247555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5122828" y="489251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5120443" y="51735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5120490" y="557449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476672"/>
            <a:ext cx="8712968" cy="5543128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zh-CN" altLang="en-US" sz="4000" b="1" dirty="0"/>
              <a:t>作业：</a:t>
            </a:r>
            <a:r>
              <a:rPr lang="en-US" altLang="zh-CN" sz="4000" b="1" dirty="0"/>
              <a:t>4.18, 4.23</a:t>
            </a:r>
            <a:endParaRPr lang="en-US" altLang="zh-CN" sz="4000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r>
              <a:rPr lang="zh-CN" altLang="en-US" sz="2400" b="1" dirty="0"/>
              <a:t>附加题：给出由最快的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位全加器构成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位串行加法器、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位并行全加器构成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位串行加法器、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位并行加法器计算结果（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16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F</a:t>
            </a:r>
            <a:r>
              <a:rPr lang="en-US" altLang="zh-CN" sz="2400" b="1" baseline="-25000" dirty="0"/>
              <a:t>16</a:t>
            </a:r>
            <a:r>
              <a:rPr lang="zh-CN" altLang="en-US" sz="2400" b="1" dirty="0"/>
              <a:t>）所需要的级数，</a:t>
            </a:r>
            <a:r>
              <a:rPr lang="zh-CN" altLang="en-US" sz="2400" b="1" dirty="0">
                <a:solidFill>
                  <a:srgbClr val="FF0000"/>
                </a:solidFill>
              </a:rPr>
              <a:t>要求描述计算过程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840468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2780848"/>
            <a:ext cx="8404685" cy="68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683568" y="3460938"/>
            <a:ext cx="2977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注：可以再使用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个非门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568" y="198884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注：不在使用其它门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数字逻辑课程2014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数字逻辑课程2014</Template>
  <TotalTime>0</TotalTime>
  <Words>7362</Words>
  <Application>WPS 演示</Application>
  <PresentationFormat>全屏显示(4:3)</PresentationFormat>
  <Paragraphs>2005</Paragraphs>
  <Slides>81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65</vt:i4>
      </vt:variant>
      <vt:variant>
        <vt:lpstr>幻灯片标题</vt:lpstr>
      </vt:variant>
      <vt:variant>
        <vt:i4>81</vt:i4>
      </vt:variant>
    </vt:vector>
  </HeadingPairs>
  <TitlesOfParts>
    <vt:vector size="165" baseType="lpstr">
      <vt:lpstr>Arial</vt:lpstr>
      <vt:lpstr>宋体</vt:lpstr>
      <vt:lpstr>Wingdings</vt:lpstr>
      <vt:lpstr>Times New Roman</vt:lpstr>
      <vt:lpstr>华文新魏</vt:lpstr>
      <vt:lpstr>Wingdings 2</vt:lpstr>
      <vt:lpstr>华文楷体</vt:lpstr>
      <vt:lpstr>Wingdings 3</vt:lpstr>
      <vt:lpstr>Tahoma</vt:lpstr>
      <vt:lpstr>Georgia</vt:lpstr>
      <vt:lpstr>Cambria Math</vt:lpstr>
      <vt:lpstr>Perpetua</vt:lpstr>
      <vt:lpstr>微软雅黑</vt:lpstr>
      <vt:lpstr>Arial Unicode MS</vt:lpstr>
      <vt:lpstr>Franklin Gothic Book</vt:lpstr>
      <vt:lpstr>Courier New</vt:lpstr>
      <vt:lpstr>Cambria Math</vt:lpstr>
      <vt:lpstr>方正姚体</vt:lpstr>
      <vt:lpstr>数字逻辑课程2014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数字逻辑电路</vt:lpstr>
      <vt:lpstr>3.3  常用的中规模组合逻辑电路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3.3.7   运算器</vt:lpstr>
      <vt:lpstr>集成4位串行进位加法器</vt:lpstr>
      <vt:lpstr>3.3.7   运算器(18)</vt:lpstr>
      <vt:lpstr>3.3.7   运算器(19)</vt:lpstr>
      <vt:lpstr>3.3.7   运算器(20)</vt:lpstr>
      <vt:lpstr>3.3.7   运算器(21)</vt:lpstr>
      <vt:lpstr>3.3.7   运算器(22)</vt:lpstr>
      <vt:lpstr>3.3.7   运算器(23)</vt:lpstr>
      <vt:lpstr>PowerPoint 演示文稿</vt:lpstr>
      <vt:lpstr>PowerPoint 演示文稿</vt:lpstr>
      <vt:lpstr>PowerPoint 演示文稿</vt:lpstr>
      <vt:lpstr>3.3.7   运算器(24)</vt:lpstr>
      <vt:lpstr>3.3.7   运算器(25)</vt:lpstr>
      <vt:lpstr>3.3.7   运算器(26)</vt:lpstr>
      <vt:lpstr>3.3.7   运算器(27)</vt:lpstr>
      <vt:lpstr>3.3.7   运算器(28)</vt:lpstr>
      <vt:lpstr>3.3.7   运算器(29)</vt:lpstr>
      <vt:lpstr>3.3.7   运算器（30）</vt:lpstr>
      <vt:lpstr>3.3.7   运算器（31）</vt:lpstr>
      <vt:lpstr>3.3.7   运算器</vt:lpstr>
      <vt:lpstr>3.3.7   运算器（32）</vt:lpstr>
      <vt:lpstr>3.3.7   运算器（33）</vt:lpstr>
      <vt:lpstr>3.3.7   运算器</vt:lpstr>
      <vt:lpstr>3.3.7   运算器(34)</vt:lpstr>
      <vt:lpstr>3.3.7   运算器(35)</vt:lpstr>
      <vt:lpstr>3.3.7   运算器(36)</vt:lpstr>
      <vt:lpstr>3.3.7   运算器(37)</vt:lpstr>
      <vt:lpstr>3.3.7   运算器(38)</vt:lpstr>
      <vt:lpstr>PowerPoint 演示文稿</vt:lpstr>
      <vt:lpstr>PowerPoint 演示文稿</vt:lpstr>
      <vt:lpstr>3.3.7   运算器(39)</vt:lpstr>
      <vt:lpstr>3.3.7   运算器(40)</vt:lpstr>
      <vt:lpstr>PowerPoint 演示文稿</vt:lpstr>
      <vt:lpstr>4位ALU   (SN74181)</vt:lpstr>
      <vt:lpstr>4位ALU功能</vt:lpstr>
      <vt:lpstr>4位ALU功能</vt:lpstr>
      <vt:lpstr>4位ALU功能</vt:lpstr>
      <vt:lpstr>4位ALU功能</vt:lpstr>
      <vt:lpstr>MIT数字逻辑电路课中的ALU课件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3.3.7   运算器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3.3.7   运算器</vt:lpstr>
      <vt:lpstr>PowerPoint 演示文稿</vt:lpstr>
      <vt:lpstr>PowerPoint 演示文稿</vt:lpstr>
      <vt:lpstr>PowerPoint 演示文稿</vt:lpstr>
      <vt:lpstr>PowerPoint 演示文稿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张芝源(2024010701)</cp:lastModifiedBy>
  <cp:revision>426</cp:revision>
  <cp:lastPrinted>2017-04-01T01:38:00Z</cp:lastPrinted>
  <dcterms:created xsi:type="dcterms:W3CDTF">2002-01-07T08:53:00Z</dcterms:created>
  <dcterms:modified xsi:type="dcterms:W3CDTF">2026-06-16T05:58:36Z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F1466D2530D746C79197129781633C35_12</vt:lpwstr>
  </property>
  <property fmtid="{D5CDD505-2E9C-101B-9397-08002B2CF9AE}" pid="3" name="KSOProductBuildVer">
    <vt:lpwstr>2052-12.1.0.26375</vt:lpwstr>
  </property>
</Properties>
</file>