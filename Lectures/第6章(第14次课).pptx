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sldIdLst>
    <p:sldId id="463" r:id="rId3"/>
    <p:sldId id="963" r:id="rId4"/>
    <p:sldId id="526" r:id="rId5"/>
    <p:sldId id="347" r:id="rId6"/>
    <p:sldId id="329" r:id="rId7"/>
    <p:sldId id="498" r:id="rId8"/>
    <p:sldId id="464" r:id="rId9"/>
    <p:sldId id="499" r:id="rId10"/>
    <p:sldId id="501" r:id="rId11"/>
    <p:sldId id="465" r:id="rId12"/>
    <p:sldId id="468" r:id="rId13"/>
    <p:sldId id="503" r:id="rId14"/>
    <p:sldId id="466" r:id="rId15"/>
    <p:sldId id="467" r:id="rId16"/>
    <p:sldId id="470" r:id="rId17"/>
    <p:sldId id="474" r:id="rId18"/>
    <p:sldId id="471" r:id="rId19"/>
    <p:sldId id="472" r:id="rId20"/>
    <p:sldId id="529" r:id="rId21"/>
    <p:sldId id="530" r:id="rId22"/>
    <p:sldId id="473" r:id="rId23"/>
    <p:sldId id="475" r:id="rId24"/>
    <p:sldId id="476" r:id="rId25"/>
    <p:sldId id="477" r:id="rId26"/>
    <p:sldId id="478" r:id="rId27"/>
    <p:sldId id="799" r:id="rId28"/>
    <p:sldId id="791" r:id="rId29"/>
    <p:sldId id="792" r:id="rId30"/>
    <p:sldId id="800" r:id="rId31"/>
    <p:sldId id="794" r:id="rId32"/>
    <p:sldId id="801" r:id="rId33"/>
    <p:sldId id="752" r:id="rId34"/>
    <p:sldId id="750" r:id="rId35"/>
    <p:sldId id="777" r:id="rId36"/>
    <p:sldId id="802" r:id="rId37"/>
    <p:sldId id="744" r:id="rId38"/>
    <p:sldId id="479" r:id="rId39"/>
    <p:sldId id="482" r:id="rId40"/>
    <p:sldId id="505" r:id="rId41"/>
    <p:sldId id="483" r:id="rId42"/>
    <p:sldId id="481" r:id="rId43"/>
    <p:sldId id="484" r:id="rId44"/>
    <p:sldId id="485" r:id="rId45"/>
    <p:sldId id="486" r:id="rId46"/>
    <p:sldId id="487" r:id="rId47"/>
    <p:sldId id="488" r:id="rId48"/>
    <p:sldId id="507" r:id="rId49"/>
    <p:sldId id="489" r:id="rId50"/>
    <p:sldId id="490" r:id="rId51"/>
    <p:sldId id="491" r:id="rId52"/>
    <p:sldId id="492" r:id="rId53"/>
    <p:sldId id="508" r:id="rId54"/>
    <p:sldId id="509" r:id="rId55"/>
    <p:sldId id="511" r:id="rId56"/>
    <p:sldId id="513" r:id="rId57"/>
    <p:sldId id="515" r:id="rId58"/>
    <p:sldId id="517" r:id="rId59"/>
    <p:sldId id="519" r:id="rId60"/>
    <p:sldId id="495" r:id="rId61"/>
    <p:sldId id="496" r:id="rId6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CC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/>
    <p:restoredTop sz="92674"/>
  </p:normalViewPr>
  <p:slideViewPr>
    <p:cSldViewPr showGuides="1">
      <p:cViewPr varScale="1">
        <p:scale>
          <a:sx n="91" d="100"/>
          <a:sy n="91" d="100"/>
        </p:scale>
        <p:origin x="537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58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notesMaster" Target="notesMasters/notesMaster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3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SzTx/>
                <a:buFont typeface="Wingdings" panose="05000000000000000000" pitchFamily="2" charset="2"/>
                <a:buChar char="Ø"/>
                <a:defRPr/>
              </a:pP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Arc 4"/>
            <p:cNvSpPr/>
            <p:nvPr/>
          </p:nvSpPr>
          <p:spPr>
            <a:xfrm>
              <a:off x="-652" y="978"/>
              <a:ext cx="4237" cy="33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231" fill="none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95237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95238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4229100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524000"/>
            <a:ext cx="4229100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2750" y="228600"/>
            <a:ext cx="215265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30555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610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447800"/>
            <a:ext cx="8153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94211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SzTx/>
                <a:buFont typeface="Wingdings" panose="05000000000000000000" pitchFamily="2" charset="2"/>
                <a:buChar char="Ø"/>
                <a:defRPr/>
              </a:pP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Arc 4"/>
            <p:cNvSpPr/>
            <p:nvPr/>
          </p:nvSpPr>
          <p:spPr>
            <a:xfrm>
              <a:off x="0" y="1"/>
              <a:ext cx="5298" cy="43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9421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28600"/>
            <a:ext cx="86106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421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kumimoji="0"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1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eaLnBrk="1" hangingPunct="1">
              <a:spcBef>
                <a:spcPct val="0"/>
              </a:spcBef>
              <a:buClrTx/>
              <a:buFontTx/>
              <a:buNone/>
              <a:defRPr kumimoji="0"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1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400" b="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31" name="Rectangle 9"/>
          <p:cNvSpPr>
            <a:spLocks noGrp="1"/>
          </p:cNvSpPr>
          <p:nvPr>
            <p:ph type="body" idx="1"/>
          </p:nvPr>
        </p:nvSpPr>
        <p:spPr>
          <a:xfrm>
            <a:off x="304800" y="1524000"/>
            <a:ext cx="86106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5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Ø"/>
        <a:defRPr kumimoji="1"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ü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v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q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image" Target="../media/image5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6" Type="http://schemas.openxmlformats.org/officeDocument/2006/relationships/slideLayout" Target="../slideLayouts/slideLayout2.xml"/><Relationship Id="rId35" Type="http://schemas.openxmlformats.org/officeDocument/2006/relationships/image" Target="../media/image49.png"/><Relationship Id="rId34" Type="http://schemas.openxmlformats.org/officeDocument/2006/relationships/image" Target="../media/image48.png"/><Relationship Id="rId33" Type="http://schemas.openxmlformats.org/officeDocument/2006/relationships/image" Target="../media/image47.png"/><Relationship Id="rId32" Type="http://schemas.openxmlformats.org/officeDocument/2006/relationships/image" Target="../media/image46.png"/><Relationship Id="rId31" Type="http://schemas.openxmlformats.org/officeDocument/2006/relationships/image" Target="../media/image45.png"/><Relationship Id="rId30" Type="http://schemas.openxmlformats.org/officeDocument/2006/relationships/image" Target="../media/image44.png"/><Relationship Id="rId3" Type="http://schemas.openxmlformats.org/officeDocument/2006/relationships/image" Target="../media/image21.png"/><Relationship Id="rId29" Type="http://schemas.openxmlformats.org/officeDocument/2006/relationships/image" Target="../media/image43.png"/><Relationship Id="rId28" Type="http://schemas.openxmlformats.org/officeDocument/2006/relationships/image" Target="../media/image42.png"/><Relationship Id="rId27" Type="http://schemas.openxmlformats.org/officeDocument/2006/relationships/image" Target="../media/image41.png"/><Relationship Id="rId26" Type="http://schemas.openxmlformats.org/officeDocument/2006/relationships/image" Target="../media/image40.png"/><Relationship Id="rId25" Type="http://schemas.openxmlformats.org/officeDocument/2006/relationships/image" Target="../media/image39.png"/><Relationship Id="rId24" Type="http://schemas.openxmlformats.org/officeDocument/2006/relationships/image" Target="../media/image38.png"/><Relationship Id="rId23" Type="http://schemas.openxmlformats.org/officeDocument/2006/relationships/image" Target="../media/image37.png"/><Relationship Id="rId22" Type="http://schemas.openxmlformats.org/officeDocument/2006/relationships/image" Target="../media/image36.png"/><Relationship Id="rId21" Type="http://schemas.openxmlformats.org/officeDocument/2006/relationships/image" Target="../media/image35.png"/><Relationship Id="rId20" Type="http://schemas.openxmlformats.org/officeDocument/2006/relationships/image" Target="../media/image34.png"/><Relationship Id="rId2" Type="http://schemas.openxmlformats.org/officeDocument/2006/relationships/image" Target="../media/image20.png"/><Relationship Id="rId19" Type="http://schemas.openxmlformats.org/officeDocument/2006/relationships/image" Target="../media/image33.png"/><Relationship Id="rId18" Type="http://schemas.openxmlformats.org/officeDocument/2006/relationships/image" Target="../media/image32.png"/><Relationship Id="rId17" Type="http://schemas.openxmlformats.org/officeDocument/2006/relationships/image" Target="../media/image31.png"/><Relationship Id="rId16" Type="http://schemas.openxmlformats.org/officeDocument/2006/relationships/image" Target="../media/image30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oleObject" Target="../embeddings/oleObject2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oleObject" Target="../embeddings/oleObject3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image" Target="../media/image52.jpe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oleObject" Target="../embeddings/oleObject4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9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1981200"/>
            <a:ext cx="7772400" cy="2455863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数字逻辑电路</a:t>
            </a:r>
            <a:b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课程总复习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sz="quarter"/>
          </p:nvPr>
        </p:nvSpPr>
        <p:spPr>
          <a:xfrm>
            <a:off x="71438" y="620713"/>
            <a:ext cx="9001125" cy="4968875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         本学期最后一次课程</a:t>
            </a:r>
            <a:b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课程答疑时间：</a:t>
            </a:r>
            <a:b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  </a:t>
            </a: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时序逻辑电路：本节课的讲解结束后，</a:t>
            </a:r>
            <a:b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                             </a:t>
            </a: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赵有健，在本教室。</a:t>
            </a:r>
            <a:b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  </a:t>
            </a: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组合逻辑电路：</a:t>
            </a: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6</a:t>
            </a: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月</a:t>
            </a: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8</a:t>
            </a: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日（周一）下午</a:t>
            </a:r>
            <a:b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                           13:00-15:00</a:t>
            </a:r>
            <a:b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              </a:t>
            </a: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地点：百川楼</a:t>
            </a:r>
            <a:r>
              <a:rPr kumimoji="1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902</a:t>
            </a: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办公室，陶品。</a:t>
            </a:r>
            <a:endParaRPr kumimoji="1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总成绩评定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课程的考核和评分方式</a:t>
            </a:r>
            <a:endParaRPr lang="zh-CN" altLang="en-US" dirty="0"/>
          </a:p>
          <a:p>
            <a:pPr lvl="1"/>
            <a:r>
              <a:rPr lang="zh-CN" altLang="en-US" dirty="0"/>
              <a:t>理论考试（期末考试）占</a:t>
            </a:r>
            <a:r>
              <a:rPr lang="en-US" altLang="zh-CN" dirty="0"/>
              <a:t>80</a:t>
            </a:r>
            <a:r>
              <a:rPr lang="zh-CN" altLang="en-US" dirty="0"/>
              <a:t>％；</a:t>
            </a:r>
            <a:endParaRPr lang="zh-CN" altLang="en-US" dirty="0"/>
          </a:p>
          <a:p>
            <a:pPr lvl="1"/>
            <a:r>
              <a:rPr lang="zh-CN" altLang="en-US" dirty="0"/>
              <a:t>平时作业占</a:t>
            </a:r>
            <a:r>
              <a:rPr lang="en-US" altLang="zh-CN" dirty="0"/>
              <a:t>20</a:t>
            </a:r>
            <a:r>
              <a:rPr lang="zh-CN" altLang="en-US" dirty="0"/>
              <a:t>％；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前言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304800" y="1524000"/>
            <a:ext cx="88392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通过学习在计算机系统中用到的典型逻辑电路的设计分析，达到：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1</a:t>
            </a:r>
            <a:r>
              <a:rPr lang="zh-CN" altLang="en-US" dirty="0"/>
              <a:t>、掌握在逻辑设计中设计和分析的基本方法。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2</a:t>
            </a:r>
            <a:r>
              <a:rPr lang="zh-CN" altLang="en-US" dirty="0"/>
              <a:t>、掌握在逻辑设计中应当注意的问题。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3</a:t>
            </a:r>
            <a:r>
              <a:rPr lang="zh-CN" altLang="en-US" dirty="0"/>
              <a:t>、掌握在计算机系统中常用</a:t>
            </a:r>
            <a:r>
              <a:rPr lang="en-US" altLang="zh-CN" dirty="0"/>
              <a:t>IC</a:t>
            </a:r>
            <a:r>
              <a:rPr lang="zh-CN" altLang="en-US" dirty="0"/>
              <a:t>器件的性能及设计方法。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4</a:t>
            </a:r>
            <a:r>
              <a:rPr lang="zh-CN" altLang="en-US" dirty="0"/>
              <a:t>、掌握基本硬件系统的调试和测试方法。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5</a:t>
            </a:r>
            <a:r>
              <a:rPr lang="zh-CN" altLang="en-US" dirty="0"/>
              <a:t>、熟练掌握基本工具（万用表、示波器、逻辑分析仪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课程基本情况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>
          <a:xfrm>
            <a:off x="152400" y="1524000"/>
            <a:ext cx="8763000" cy="51054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教学的具体内容</a:t>
            </a:r>
            <a:endParaRPr lang="zh-CN" altLang="en-US" dirty="0"/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前言和逻辑代数：基本概念，卡诺图，表格化简法等 ；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83972" name="Rectangle 4"/>
          <p:cNvSpPr/>
          <p:nvPr/>
        </p:nvSpPr>
        <p:spPr>
          <a:xfrm>
            <a:off x="152400" y="2743200"/>
            <a:ext cx="8305800" cy="885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62000" lvl="1" indent="-304800" eaLnBrk="1" hangingPunct="1"/>
            <a:r>
              <a:rPr lang="zh-CN" altLang="en-US" dirty="0">
                <a:latin typeface="宋体" panose="02010600030101010101" pitchFamily="2" charset="-122"/>
              </a:rPr>
              <a:t>门电路：三种基本逻辑运算（与或非），</a:t>
            </a:r>
            <a:r>
              <a:rPr lang="en-US" altLang="zh-CN" dirty="0">
                <a:latin typeface="宋体" panose="02010600030101010101" pitchFamily="2" charset="-122"/>
              </a:rPr>
              <a:t>TTL</a:t>
            </a:r>
            <a:r>
              <a:rPr lang="zh-CN" altLang="en-US" dirty="0">
                <a:latin typeface="宋体" panose="02010600030101010101" pitchFamily="2" charset="-122"/>
              </a:rPr>
              <a:t>、门电路静态特性和动态特性；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83973" name="Rectangle 5"/>
          <p:cNvSpPr/>
          <p:nvPr/>
        </p:nvSpPr>
        <p:spPr>
          <a:xfrm>
            <a:off x="152400" y="5683250"/>
            <a:ext cx="8305800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/>
            <a:r>
              <a:rPr lang="zh-CN" altLang="en-US" dirty="0">
                <a:latin typeface="宋体" panose="02010600030101010101" pitchFamily="2" charset="-122"/>
              </a:rPr>
              <a:t>可编程逻辑器件：可编程逻辑的工作原理及应用。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83976" name="Rectangle 8"/>
          <p:cNvSpPr/>
          <p:nvPr/>
        </p:nvSpPr>
        <p:spPr>
          <a:xfrm>
            <a:off x="133350" y="3733800"/>
            <a:ext cx="8172450" cy="885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62000" lvl="1" indent="-304800" eaLnBrk="1" hangingPunct="1"/>
            <a:r>
              <a:rPr lang="zh-CN" altLang="en-US" dirty="0">
                <a:latin typeface="宋体" panose="02010600030101010101" pitchFamily="2" charset="-122"/>
              </a:rPr>
              <a:t>组合逻辑电路：定义、分析方法、设计方法，组合电路中的竞争</a:t>
            </a:r>
            <a:r>
              <a:rPr lang="en-US" altLang="zh-CN" dirty="0"/>
              <a:t>—</a:t>
            </a:r>
            <a:r>
              <a:rPr lang="zh-CN" altLang="en-US" dirty="0">
                <a:latin typeface="宋体" panose="02010600030101010101" pitchFamily="2" charset="-122"/>
              </a:rPr>
              <a:t>冒险，常用的逻辑功能的实现； 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83977" name="Rectangle 9"/>
          <p:cNvSpPr/>
          <p:nvPr/>
        </p:nvSpPr>
        <p:spPr>
          <a:xfrm>
            <a:off x="152400" y="4676775"/>
            <a:ext cx="8686800" cy="885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62000" lvl="1" indent="-304800" eaLnBrk="1" hangingPunct="1"/>
            <a:r>
              <a:rPr lang="zh-CN" altLang="en-US" dirty="0">
                <a:latin typeface="宋体" panose="02010600030101010101" pitchFamily="2" charset="-122"/>
              </a:rPr>
              <a:t>时序电路：触发器的原理、功能、特性，时序电路的特点、分析方法和设计方法，典型的时序逻辑电路；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/>
      <p:bldP spid="83973" grpId="0"/>
      <p:bldP spid="83976" grpId="0"/>
      <p:bldP spid="8397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8466" name="Rectangle 1026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数字逻辑电路总复习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20" name="Rectangle 1027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四句话加一个忠告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本课程总体情况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数字：编码，真值表，状态表</a:t>
            </a:r>
            <a:r>
              <a:rPr lang="en-US" altLang="zh-CN" dirty="0"/>
              <a:t>……</a:t>
            </a:r>
            <a:endParaRPr lang="en-US" altLang="zh-CN" dirty="0"/>
          </a:p>
          <a:p>
            <a:pPr eaLnBrk="1" hangingPunct="1"/>
            <a:r>
              <a:rPr lang="zh-CN" altLang="en-US" dirty="0"/>
              <a:t>逻辑：表达式，状态方程</a:t>
            </a:r>
            <a:r>
              <a:rPr lang="en-US" altLang="zh-CN" dirty="0"/>
              <a:t>……</a:t>
            </a:r>
            <a:endParaRPr lang="en-US" altLang="zh-CN" dirty="0"/>
          </a:p>
          <a:p>
            <a:pPr eaLnBrk="1" hangingPunct="1"/>
            <a:r>
              <a:rPr lang="zh-CN" altLang="en-US" dirty="0"/>
              <a:t>电路：符号图，逻辑图</a:t>
            </a:r>
            <a:r>
              <a:rPr lang="en-US" altLang="zh-CN" dirty="0"/>
              <a:t>……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9490" name="Rectangle 1026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数字逻辑电路总复习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8" name="Rectangle 1027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四句话</a:t>
            </a:r>
            <a:endParaRPr lang="zh-CN" altLang="en-US" dirty="0"/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全书一句话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组合逻辑一句话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时序逻辑一句话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可编程逻辑一句话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/>
              <a:t>一个忠告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数字逻辑电路总复习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四句话</a:t>
            </a:r>
            <a:endParaRPr lang="zh-CN" altLang="en-US" dirty="0"/>
          </a:p>
          <a:p>
            <a:pPr lvl="1" eaLnBrk="1" hangingPunct="1"/>
            <a:r>
              <a:rPr lang="zh-CN" altLang="en-US" dirty="0">
                <a:solidFill>
                  <a:schemeClr val="folHlink"/>
                </a:solidFill>
                <a:latin typeface="宋体" panose="02010600030101010101" pitchFamily="2" charset="-122"/>
              </a:rPr>
              <a:t>全书一句话</a:t>
            </a:r>
            <a:endParaRPr lang="zh-CN" altLang="en-US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组合逻辑一句话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时序逻辑一句话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可编程逻辑一句话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/>
              <a:t>一个忠告</a:t>
            </a:r>
            <a:endParaRPr lang="zh-CN" altLang="en-US" dirty="0"/>
          </a:p>
        </p:txBody>
      </p:sp>
      <p:sp>
        <p:nvSpPr>
          <p:cNvPr id="321540" name="Rectangle 4"/>
          <p:cNvSpPr/>
          <p:nvPr/>
        </p:nvSpPr>
        <p:spPr>
          <a:xfrm>
            <a:off x="152400" y="213360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一句话包含全书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表达式＋触发器是全书的核心原理</a:t>
            </a:r>
            <a:endParaRPr lang="zh-CN" altLang="en-US" dirty="0"/>
          </a:p>
        </p:txBody>
      </p:sp>
      <p:sp>
        <p:nvSpPr>
          <p:cNvPr id="283652" name="Rectangle 4"/>
          <p:cNvSpPr/>
          <p:nvPr/>
        </p:nvSpPr>
        <p:spPr>
          <a:xfrm>
            <a:off x="304800" y="4267200"/>
            <a:ext cx="85344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zh-CN" altLang="en-US" dirty="0"/>
              <a:t>需要注意的是：表达式可以包含所有分析和设计的原理，但具体实现技术却各有特点</a:t>
            </a:r>
            <a:endParaRPr lang="zh-CN" altLang="en-US" dirty="0"/>
          </a:p>
        </p:txBody>
      </p:sp>
      <p:sp>
        <p:nvSpPr>
          <p:cNvPr id="283653" name="Rectangle 5"/>
          <p:cNvSpPr/>
          <p:nvPr/>
        </p:nvSpPr>
        <p:spPr>
          <a:xfrm>
            <a:off x="457200" y="2133600"/>
            <a:ext cx="6248400" cy="1084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/>
            <a:r>
              <a:rPr lang="zh-CN" altLang="en-US" dirty="0"/>
              <a:t>组合逻辑：表达式</a:t>
            </a:r>
            <a:endParaRPr lang="zh-CN" altLang="en-US" dirty="0"/>
          </a:p>
          <a:p>
            <a:pPr marL="457200" lvl="1" indent="0" eaLnBrk="1" hangingPunct="1"/>
            <a:r>
              <a:rPr lang="zh-CN" altLang="en-US" dirty="0"/>
              <a:t>时序逻辑：表达式＋触发器</a:t>
            </a:r>
            <a:endParaRPr lang="zh-CN" altLang="en-US" dirty="0"/>
          </a:p>
        </p:txBody>
      </p:sp>
      <p:sp>
        <p:nvSpPr>
          <p:cNvPr id="283654" name="Rectangle 6"/>
          <p:cNvSpPr/>
          <p:nvPr/>
        </p:nvSpPr>
        <p:spPr>
          <a:xfrm>
            <a:off x="304800" y="3429000"/>
            <a:ext cx="73961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zh-CN" altLang="en-US" dirty="0"/>
              <a:t>集成电路：表达式＋触发器的具体应用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2" grpId="0"/>
      <p:bldP spid="283653" grpId="0"/>
      <p:bldP spid="2836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表达式的化简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化简方法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手工化简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公式法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卡诺图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计算机化简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表格法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实际设计中并不是越简越好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数字逻辑电路总复习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36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四句话</a:t>
            </a:r>
            <a:endParaRPr lang="zh-CN" altLang="en-US" dirty="0"/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全书一句话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solidFill>
                  <a:schemeClr val="folHlink"/>
                </a:solidFill>
                <a:latin typeface="宋体" panose="02010600030101010101" pitchFamily="2" charset="-122"/>
              </a:rPr>
              <a:t>组合逻辑一句话</a:t>
            </a:r>
            <a:endParaRPr lang="zh-CN" altLang="en-US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时序逻辑一句话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可编程逻辑一句话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/>
              <a:t>一个忠告</a:t>
            </a:r>
            <a:endParaRPr lang="zh-CN" altLang="en-US" dirty="0"/>
          </a:p>
        </p:txBody>
      </p:sp>
      <p:sp>
        <p:nvSpPr>
          <p:cNvPr id="323588" name="Rectangle 4"/>
          <p:cNvSpPr/>
          <p:nvPr/>
        </p:nvSpPr>
        <p:spPr>
          <a:xfrm>
            <a:off x="152400" y="274320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组合逻辑一句话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638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表达式可以表示全部组合逻辑</a:t>
            </a:r>
            <a:endParaRPr lang="zh-CN" altLang="en-US" dirty="0"/>
          </a:p>
        </p:txBody>
      </p:sp>
      <p:sp>
        <p:nvSpPr>
          <p:cNvPr id="284676" name="Rectangle 4"/>
          <p:cNvSpPr/>
          <p:nvPr/>
        </p:nvSpPr>
        <p:spPr>
          <a:xfrm>
            <a:off x="762000" y="2133600"/>
            <a:ext cx="4572000" cy="3227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>
              <a:lnSpc>
                <a:spcPct val="90000"/>
              </a:lnSpc>
            </a:pPr>
            <a:r>
              <a:rPr lang="zh-CN" altLang="en-US" dirty="0"/>
              <a:t>译码器</a:t>
            </a:r>
            <a:endParaRPr lang="zh-CN" altLang="en-US" dirty="0"/>
          </a:p>
          <a:p>
            <a:pPr marL="457200" lvl="1" indent="0" eaLnBrk="1" hangingPunct="1">
              <a:lnSpc>
                <a:spcPct val="90000"/>
              </a:lnSpc>
            </a:pPr>
            <a:r>
              <a:rPr lang="zh-CN" altLang="en-US" dirty="0"/>
              <a:t>编码器</a:t>
            </a:r>
            <a:endParaRPr lang="zh-CN" altLang="en-US" dirty="0"/>
          </a:p>
          <a:p>
            <a:pPr marL="457200" lvl="1" indent="0" eaLnBrk="1" hangingPunct="1">
              <a:lnSpc>
                <a:spcPct val="90000"/>
              </a:lnSpc>
            </a:pPr>
            <a:r>
              <a:rPr lang="zh-CN" altLang="en-US" dirty="0"/>
              <a:t>数据选择器</a:t>
            </a:r>
            <a:endParaRPr lang="zh-CN" altLang="en-US" dirty="0"/>
          </a:p>
          <a:p>
            <a:pPr marL="457200" lvl="1" indent="0" eaLnBrk="1" hangingPunct="1">
              <a:lnSpc>
                <a:spcPct val="90000"/>
              </a:lnSpc>
            </a:pPr>
            <a:r>
              <a:rPr lang="zh-CN" altLang="en-US" dirty="0"/>
              <a:t>数据比较器</a:t>
            </a:r>
            <a:endParaRPr lang="zh-CN" altLang="en-US" dirty="0"/>
          </a:p>
          <a:p>
            <a:pPr marL="457200" lvl="1" indent="0" eaLnBrk="1" hangingPunct="1">
              <a:lnSpc>
                <a:spcPct val="90000"/>
              </a:lnSpc>
            </a:pPr>
            <a:r>
              <a:rPr lang="zh-CN" altLang="en-US" dirty="0"/>
              <a:t>奇偶校验器</a:t>
            </a:r>
            <a:endParaRPr lang="zh-CN" altLang="en-US" dirty="0"/>
          </a:p>
          <a:p>
            <a:pPr marL="457200" lvl="1" indent="0" eaLnBrk="1" hangingPunct="1">
              <a:lnSpc>
                <a:spcPct val="90000"/>
              </a:lnSpc>
            </a:pPr>
            <a:r>
              <a:rPr lang="zh-CN" altLang="en-US" dirty="0"/>
              <a:t>加法器</a:t>
            </a:r>
            <a:endParaRPr lang="zh-CN" altLang="en-US" dirty="0"/>
          </a:p>
        </p:txBody>
      </p:sp>
      <p:sp>
        <p:nvSpPr>
          <p:cNvPr id="284677" name="Rectangle 5"/>
          <p:cNvSpPr/>
          <p:nvPr/>
        </p:nvSpPr>
        <p:spPr>
          <a:xfrm>
            <a:off x="381000" y="5562600"/>
            <a:ext cx="82089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zh-CN" altLang="en-US" dirty="0"/>
              <a:t>可以用其他方式表示：真值表，逻辑图</a:t>
            </a:r>
            <a:r>
              <a:rPr lang="en-US" altLang="zh-CN" dirty="0"/>
              <a:t>……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6" grpId="0"/>
      <p:bldP spid="28467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组合逻辑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其他表示方式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真值表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逻辑图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285700" name="Rectangle 4"/>
          <p:cNvSpPr/>
          <p:nvPr/>
        </p:nvSpPr>
        <p:spPr>
          <a:xfrm>
            <a:off x="304800" y="3733800"/>
            <a:ext cx="457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zh-CN" altLang="en-US" dirty="0"/>
              <a:t>简单的设计形象直观</a:t>
            </a:r>
            <a:endParaRPr lang="zh-CN" altLang="en-US" dirty="0"/>
          </a:p>
        </p:txBody>
      </p:sp>
      <p:sp>
        <p:nvSpPr>
          <p:cNvPr id="285701" name="Rectangle 5"/>
          <p:cNvSpPr/>
          <p:nvPr/>
        </p:nvSpPr>
        <p:spPr>
          <a:xfrm>
            <a:off x="304800" y="4602163"/>
            <a:ext cx="69897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zh-CN" altLang="en-US" dirty="0"/>
              <a:t>复杂的设计需要仔细分析和仔细设计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0" grpId="0"/>
      <p:bldP spid="28570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译码器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>
          <a:xfrm>
            <a:off x="304800" y="1524000"/>
            <a:ext cx="8370888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－</a:t>
            </a:r>
            <a:r>
              <a:rPr lang="en-US" altLang="zh-CN" dirty="0"/>
              <a:t>4</a:t>
            </a:r>
            <a:r>
              <a:rPr lang="zh-CN" altLang="en-US" dirty="0"/>
              <a:t>译码器表达式：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18437" name="Text Box 6"/>
          <p:cNvSpPr txBox="1"/>
          <p:nvPr/>
        </p:nvSpPr>
        <p:spPr>
          <a:xfrm>
            <a:off x="2819400" y="20574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Tahoma" panose="020B0604030504040204" pitchFamily="34" charset="0"/>
              </a:rPr>
              <a:t>输出表达式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288775" name="Rectangle 7"/>
          <p:cNvSpPr/>
          <p:nvPr/>
        </p:nvSpPr>
        <p:spPr>
          <a:xfrm>
            <a:off x="381000" y="5334000"/>
            <a:ext cx="59642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80000"/>
              <a:buFont typeface="Wingdings 2" panose="05020102010507070707" pitchFamily="18" charset="2"/>
              <a:buChar char=""/>
            </a:pPr>
            <a:r>
              <a:rPr lang="en-US" altLang="zh-CN" dirty="0"/>
              <a:t>3</a:t>
            </a:r>
            <a:r>
              <a:rPr lang="zh-CN" altLang="en-US" dirty="0"/>
              <a:t>－</a:t>
            </a:r>
            <a:r>
              <a:rPr lang="en-US" altLang="zh-CN" dirty="0"/>
              <a:t>8</a:t>
            </a:r>
            <a:r>
              <a:rPr lang="zh-CN" altLang="en-US" dirty="0"/>
              <a:t>译码器，</a:t>
            </a:r>
            <a:r>
              <a:rPr lang="en-US" altLang="zh-CN" dirty="0"/>
              <a:t>4</a:t>
            </a:r>
            <a:r>
              <a:rPr lang="zh-CN" altLang="en-US" dirty="0"/>
              <a:t>－</a:t>
            </a:r>
            <a:r>
              <a:rPr lang="en-US" altLang="zh-CN" dirty="0"/>
              <a:t>16</a:t>
            </a:r>
            <a:r>
              <a:rPr lang="zh-CN" altLang="en-US" dirty="0"/>
              <a:t>译码器类似</a:t>
            </a:r>
            <a:endParaRPr lang="zh-CN" altLang="en-US" dirty="0"/>
          </a:p>
        </p:txBody>
      </p:sp>
      <p:grpSp>
        <p:nvGrpSpPr>
          <p:cNvPr id="18439" name="组合 3"/>
          <p:cNvGrpSpPr/>
          <p:nvPr/>
        </p:nvGrpSpPr>
        <p:grpSpPr>
          <a:xfrm>
            <a:off x="2987675" y="2854325"/>
            <a:ext cx="1460500" cy="2155825"/>
            <a:chOff x="2987824" y="2854468"/>
            <a:chExt cx="1459726" cy="2155553"/>
          </a:xfrm>
        </p:grpSpPr>
        <p:sp>
          <p:nvSpPr>
            <p:cNvPr id="18440" name="文本框 2"/>
            <p:cNvSpPr txBox="1"/>
            <p:nvPr/>
          </p:nvSpPr>
          <p:spPr>
            <a:xfrm>
              <a:off x="2987824" y="2854468"/>
              <a:ext cx="1437928" cy="4273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     —— </a:t>
              </a:r>
              <a:endParaRPr lang="en-US" altLang="zh-CN" sz="2600" b="1" dirty="0"/>
            </a:p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     </a:t>
              </a:r>
              <a:r>
                <a:rPr lang="en-US" altLang="zh-CN" sz="2400" b="1" dirty="0"/>
                <a:t>— —</a:t>
              </a:r>
              <a:endParaRPr lang="en-US" altLang="zh-CN" sz="2400" b="1" dirty="0"/>
            </a:p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/>
                <a:t>Y</a:t>
              </a:r>
              <a:r>
                <a:rPr lang="en-US" altLang="zh-CN" sz="2400" b="1" baseline="-25000" dirty="0"/>
                <a:t>0</a:t>
              </a:r>
              <a:r>
                <a:rPr lang="en-US" altLang="zh-CN" sz="2400" b="1" dirty="0"/>
                <a:t>=A  B</a:t>
              </a:r>
              <a:endParaRPr lang="zh-CN" altLang="en-US" sz="2400" b="1" dirty="0"/>
            </a:p>
          </p:txBody>
        </p:sp>
        <p:sp>
          <p:nvSpPr>
            <p:cNvPr id="18441" name="文本框 9"/>
            <p:cNvSpPr txBox="1"/>
            <p:nvPr/>
          </p:nvSpPr>
          <p:spPr>
            <a:xfrm>
              <a:off x="3009622" y="3430532"/>
              <a:ext cx="1437928" cy="4273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     —— </a:t>
              </a:r>
              <a:endParaRPr lang="en-US" altLang="zh-CN" sz="2600" b="1" dirty="0"/>
            </a:p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     </a:t>
              </a:r>
              <a:r>
                <a:rPr lang="en-US" altLang="zh-CN" sz="2400" b="1" dirty="0"/>
                <a:t>     —</a:t>
              </a:r>
              <a:endParaRPr lang="en-US" altLang="zh-CN" sz="2400" b="1" dirty="0"/>
            </a:p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/>
                <a:t>Y</a:t>
              </a:r>
              <a:r>
                <a:rPr lang="en-US" altLang="zh-CN" sz="2400" b="1" baseline="-25000" dirty="0"/>
                <a:t>1</a:t>
              </a:r>
              <a:r>
                <a:rPr lang="en-US" altLang="zh-CN" sz="2400" b="1" dirty="0"/>
                <a:t>=A  B</a:t>
              </a:r>
              <a:endParaRPr lang="zh-CN" altLang="en-US" sz="2400" b="1" dirty="0"/>
            </a:p>
          </p:txBody>
        </p:sp>
        <p:sp>
          <p:nvSpPr>
            <p:cNvPr id="18442" name="文本框 10"/>
            <p:cNvSpPr txBox="1"/>
            <p:nvPr/>
          </p:nvSpPr>
          <p:spPr>
            <a:xfrm>
              <a:off x="3009622" y="4006596"/>
              <a:ext cx="1437928" cy="4273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     —— </a:t>
              </a:r>
              <a:endParaRPr lang="en-US" altLang="zh-CN" sz="2600" b="1" dirty="0"/>
            </a:p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     </a:t>
              </a:r>
              <a:r>
                <a:rPr lang="en-US" altLang="zh-CN" sz="2400" b="1" dirty="0"/>
                <a:t>—</a:t>
              </a:r>
              <a:endParaRPr lang="en-US" altLang="zh-CN" sz="2400" b="1" dirty="0"/>
            </a:p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/>
                <a:t>Y</a:t>
              </a:r>
              <a:r>
                <a:rPr lang="en-US" altLang="zh-CN" sz="2400" b="1" baseline="-25000" dirty="0"/>
                <a:t>2</a:t>
              </a:r>
              <a:r>
                <a:rPr lang="en-US" altLang="zh-CN" sz="2400" b="1" dirty="0"/>
                <a:t>=A  B</a:t>
              </a:r>
              <a:endParaRPr lang="zh-CN" altLang="en-US" sz="2400" b="1" dirty="0"/>
            </a:p>
          </p:txBody>
        </p:sp>
        <p:sp>
          <p:nvSpPr>
            <p:cNvPr id="18443" name="文本框 11"/>
            <p:cNvSpPr txBox="1"/>
            <p:nvPr/>
          </p:nvSpPr>
          <p:spPr>
            <a:xfrm>
              <a:off x="3000138" y="4582660"/>
              <a:ext cx="1437928" cy="4273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     —— </a:t>
              </a:r>
              <a:endParaRPr lang="en-US" altLang="zh-CN" sz="2600" b="1" dirty="0"/>
            </a:p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     </a:t>
              </a:r>
              <a:r>
                <a:rPr lang="en-US" altLang="zh-CN" sz="2400" b="1" dirty="0"/>
                <a:t>     </a:t>
              </a:r>
              <a:endParaRPr lang="en-US" altLang="zh-CN" sz="2400" b="1" dirty="0"/>
            </a:p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/>
                <a:t>Y</a:t>
              </a:r>
              <a:r>
                <a:rPr lang="en-US" altLang="zh-CN" sz="2400" b="1" baseline="-25000" dirty="0"/>
                <a:t>3</a:t>
              </a:r>
              <a:r>
                <a:rPr lang="en-US" altLang="zh-CN" sz="2400" b="1" dirty="0"/>
                <a:t>=A  B</a:t>
              </a:r>
              <a:endParaRPr lang="zh-CN" altLang="en-US" sz="2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译码器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266700" y="1557338"/>
            <a:ext cx="86106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显示译码器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12" name="文本框 11"/>
          <p:cNvSpPr txBox="1"/>
          <p:nvPr/>
        </p:nvSpPr>
        <p:spPr>
          <a:xfrm>
            <a:off x="755650" y="2160588"/>
            <a:ext cx="3287713" cy="477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           —       — — —</a:t>
            </a:r>
            <a:r>
              <a:rPr lang="en-US" altLang="zh-CN" sz="2400" b="1" dirty="0"/>
              <a:t> 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a=B D+A C+A B  C  D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758825" y="2790825"/>
            <a:ext cx="3287713" cy="479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               —    — </a:t>
            </a:r>
            <a:r>
              <a:rPr lang="en-US" altLang="zh-CN" sz="2400" b="1" dirty="0"/>
              <a:t> 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b=B D+A B C+A B  C </a:t>
            </a:r>
            <a:endParaRPr lang="zh-CN" altLang="en-US" sz="2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787400" y="3359150"/>
            <a:ext cx="3287713" cy="477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   —   —</a:t>
            </a:r>
            <a:r>
              <a:rPr lang="en-US" altLang="zh-CN" sz="2400" b="1" dirty="0"/>
              <a:t> 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c=A B C+CD </a:t>
            </a:r>
            <a:endParaRPr lang="zh-CN" altLang="en-US" sz="24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787400" y="3987800"/>
            <a:ext cx="3548063" cy="477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      — —  — — </a:t>
            </a:r>
            <a:r>
              <a:rPr lang="en-US" altLang="zh-CN" sz="2400" b="1" dirty="0"/>
              <a:t> 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d=A B C+   A  B C+A B C </a:t>
            </a:r>
            <a:endParaRPr lang="zh-CN" altLang="en-US" sz="24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827088" y="4494213"/>
            <a:ext cx="2189162" cy="479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         — </a:t>
            </a:r>
            <a:r>
              <a:rPr lang="en-US" altLang="zh-CN" sz="2400" b="1" dirty="0"/>
              <a:t> 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e=A + B  C </a:t>
            </a:r>
            <a:endParaRPr lang="zh-CN" altLang="en-US" sz="2400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766763" y="5046663"/>
            <a:ext cx="3548062" cy="477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      — —               — </a:t>
            </a:r>
            <a:r>
              <a:rPr lang="en-US" altLang="zh-CN" sz="2400" b="1" dirty="0"/>
              <a:t> 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f=A C  D+ A  B + B C </a:t>
            </a:r>
            <a:endParaRPr lang="zh-CN" altLang="en-US" sz="24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766763" y="5632450"/>
            <a:ext cx="3548062" cy="477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   — —  — </a:t>
            </a:r>
            <a:r>
              <a:rPr lang="en-US" altLang="zh-CN" sz="2400" b="1" dirty="0"/>
              <a:t> 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g=B   C   D +  A B C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编码器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－</a:t>
            </a:r>
            <a:r>
              <a:rPr lang="en-US" altLang="zh-CN" dirty="0"/>
              <a:t>2</a:t>
            </a:r>
            <a:r>
              <a:rPr lang="zh-CN" altLang="en-US" dirty="0"/>
              <a:t>编码器</a:t>
            </a:r>
            <a:r>
              <a:rPr lang="en-US" altLang="zh-CN" dirty="0"/>
              <a:t>: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289798" name="Rectangle 6"/>
          <p:cNvSpPr/>
          <p:nvPr/>
        </p:nvSpPr>
        <p:spPr>
          <a:xfrm>
            <a:off x="304800" y="3352800"/>
            <a:ext cx="25193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zh-CN" dirty="0"/>
              <a:t>8421</a:t>
            </a:r>
            <a:r>
              <a:rPr lang="zh-CN" altLang="en-US" dirty="0"/>
              <a:t>编码器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042988" y="2073275"/>
            <a:ext cx="6192837" cy="1111250"/>
            <a:chOff x="1043608" y="2073370"/>
            <a:chExt cx="6192688" cy="1110640"/>
          </a:xfrm>
        </p:grpSpPr>
        <p:sp>
          <p:nvSpPr>
            <p:cNvPr id="20491" name="文本框 1"/>
            <p:cNvSpPr txBox="1"/>
            <p:nvPr/>
          </p:nvSpPr>
          <p:spPr>
            <a:xfrm>
              <a:off x="1043608" y="2073370"/>
              <a:ext cx="5760640" cy="4910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                                     ———————</a:t>
              </a:r>
              <a:endParaRPr lang="en-US" altLang="zh-CN" sz="2600" b="1" dirty="0"/>
            </a:p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         —                 —   —                 —</a:t>
              </a:r>
              <a:endParaRPr lang="en-US" altLang="zh-CN" sz="2600" b="1" dirty="0"/>
            </a:p>
            <a:p>
              <a:pPr marL="0" lvl="0" indent="0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A</a:t>
              </a:r>
              <a:r>
                <a:rPr lang="en-US" altLang="zh-CN" sz="2600" b="1" baseline="-25000" dirty="0"/>
                <a:t>0</a:t>
              </a:r>
              <a:r>
                <a:rPr lang="en-US" altLang="zh-CN" sz="2600" b="1" dirty="0"/>
                <a:t>=I</a:t>
              </a:r>
              <a:r>
                <a:rPr lang="en-US" altLang="zh-CN" sz="2600" b="1" baseline="-25000" dirty="0"/>
                <a:t>0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1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2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3</a:t>
              </a:r>
              <a:r>
                <a:rPr lang="en-US" altLang="zh-CN" sz="2600" b="1" dirty="0"/>
                <a:t>+I</a:t>
              </a:r>
              <a:r>
                <a:rPr lang="en-US" altLang="zh-CN" sz="2600" b="1" baseline="-25000" dirty="0"/>
                <a:t>0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1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2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3  </a:t>
              </a:r>
              <a:r>
                <a:rPr lang="en-US" altLang="zh-CN" sz="2600" b="1" dirty="0"/>
                <a:t>= I</a:t>
              </a:r>
              <a:r>
                <a:rPr lang="en-US" altLang="zh-CN" sz="2600" b="1" baseline="-25000" dirty="0"/>
                <a:t>0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1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2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3</a:t>
              </a:r>
              <a:r>
                <a:rPr lang="en-US" altLang="zh-CN" sz="2600" b="1" dirty="0"/>
                <a:t>+I</a:t>
              </a:r>
              <a:r>
                <a:rPr lang="en-US" altLang="zh-CN" sz="2600" b="1" baseline="-25000" dirty="0"/>
                <a:t>0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1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2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3 </a:t>
              </a:r>
              <a:endParaRPr lang="zh-CN" altLang="en-US" sz="2600" b="1" dirty="0"/>
            </a:p>
          </p:txBody>
        </p:sp>
        <p:sp>
          <p:nvSpPr>
            <p:cNvPr id="20492" name="文本框 8"/>
            <p:cNvSpPr txBox="1"/>
            <p:nvPr/>
          </p:nvSpPr>
          <p:spPr>
            <a:xfrm>
              <a:off x="1043608" y="2692914"/>
              <a:ext cx="6192688" cy="4910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                                      ———————</a:t>
              </a:r>
              <a:endParaRPr lang="en-US" altLang="zh-CN" sz="2600" b="1" dirty="0"/>
            </a:p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             —              —   —               —</a:t>
              </a:r>
              <a:endParaRPr lang="en-US" altLang="zh-CN" sz="2600" b="1" dirty="0"/>
            </a:p>
            <a:p>
              <a:pPr marL="0" lvl="0" indent="0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600" b="1" dirty="0"/>
                <a:t>A</a:t>
              </a:r>
              <a:r>
                <a:rPr lang="en-US" altLang="zh-CN" sz="2600" b="1" baseline="-25000" dirty="0"/>
                <a:t>1</a:t>
              </a:r>
              <a:r>
                <a:rPr lang="en-US" altLang="zh-CN" sz="2600" b="1" dirty="0"/>
                <a:t>=I</a:t>
              </a:r>
              <a:r>
                <a:rPr lang="en-US" altLang="zh-CN" sz="2600" b="1" baseline="-25000" dirty="0"/>
                <a:t>0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1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2 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3</a:t>
              </a:r>
              <a:r>
                <a:rPr lang="en-US" altLang="zh-CN" sz="2600" b="1" dirty="0"/>
                <a:t>+I</a:t>
              </a:r>
              <a:r>
                <a:rPr lang="en-US" altLang="zh-CN" sz="2600" b="1" baseline="-25000" dirty="0"/>
                <a:t>0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1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2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3  </a:t>
              </a:r>
              <a:r>
                <a:rPr lang="en-US" altLang="zh-CN" sz="2600" b="1" dirty="0"/>
                <a:t>= I</a:t>
              </a:r>
              <a:r>
                <a:rPr lang="en-US" altLang="zh-CN" sz="2600" b="1" baseline="-25000" dirty="0"/>
                <a:t>0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1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2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3</a:t>
              </a:r>
              <a:r>
                <a:rPr lang="en-US" altLang="zh-CN" sz="2600" b="1" dirty="0"/>
                <a:t>+I</a:t>
              </a:r>
              <a:r>
                <a:rPr lang="en-US" altLang="zh-CN" sz="2600" b="1" baseline="-25000" dirty="0"/>
                <a:t>0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1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2 </a:t>
              </a:r>
              <a:r>
                <a:rPr lang="en-US" altLang="zh-CN" sz="2600" b="1" dirty="0"/>
                <a:t>I</a:t>
              </a:r>
              <a:r>
                <a:rPr lang="en-US" altLang="zh-CN" sz="2600" b="1" baseline="-25000" dirty="0"/>
                <a:t>3 </a:t>
              </a:r>
              <a:endParaRPr lang="zh-CN" altLang="en-US" sz="2600" b="1" dirty="0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971550" y="3967163"/>
            <a:ext cx="32877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Y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=X</a:t>
            </a:r>
            <a:r>
              <a:rPr lang="en-US" altLang="zh-CN" sz="2400" b="1" baseline="-25000" dirty="0"/>
              <a:t>8</a:t>
            </a:r>
            <a:r>
              <a:rPr lang="en-US" altLang="zh-CN" sz="2400" b="1" dirty="0"/>
              <a:t>+X</a:t>
            </a:r>
            <a:r>
              <a:rPr lang="en-US" altLang="zh-CN" sz="2400" b="1" baseline="-25000" dirty="0"/>
              <a:t>9</a:t>
            </a:r>
            <a:endParaRPr lang="zh-CN" altLang="en-US" sz="2400" b="1" baseline="-25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992188" y="4548188"/>
            <a:ext cx="32877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Y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=X</a:t>
            </a:r>
            <a:r>
              <a:rPr lang="en-US" altLang="zh-CN" sz="2400" b="1" baseline="-25000" dirty="0"/>
              <a:t>4</a:t>
            </a:r>
            <a:r>
              <a:rPr lang="en-US" altLang="zh-CN" sz="2400" b="1" dirty="0"/>
              <a:t>+X</a:t>
            </a:r>
            <a:r>
              <a:rPr lang="en-US" altLang="zh-CN" sz="2400" b="1" baseline="-25000" dirty="0"/>
              <a:t>5</a:t>
            </a:r>
            <a:r>
              <a:rPr lang="en-US" altLang="zh-CN" sz="2400" b="1" dirty="0"/>
              <a:t> +X</a:t>
            </a:r>
            <a:r>
              <a:rPr lang="en-US" altLang="zh-CN" sz="2400" b="1" baseline="-25000" dirty="0"/>
              <a:t>6</a:t>
            </a:r>
            <a:r>
              <a:rPr lang="en-US" altLang="zh-CN" sz="2400" b="1" dirty="0"/>
              <a:t>+X</a:t>
            </a:r>
            <a:r>
              <a:rPr lang="en-US" altLang="zh-CN" sz="2400" b="1" baseline="-25000" dirty="0"/>
              <a:t>7</a:t>
            </a:r>
            <a:endParaRPr lang="zh-CN" altLang="en-US" sz="2400" b="1" baseline="-25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992188" y="5126038"/>
            <a:ext cx="32877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Y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=X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+X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 +X</a:t>
            </a:r>
            <a:r>
              <a:rPr lang="en-US" altLang="zh-CN" sz="2400" b="1" baseline="-25000" dirty="0"/>
              <a:t>6</a:t>
            </a:r>
            <a:r>
              <a:rPr lang="en-US" altLang="zh-CN" sz="2400" b="1" dirty="0"/>
              <a:t>+X</a:t>
            </a:r>
            <a:r>
              <a:rPr lang="en-US" altLang="zh-CN" sz="2400" b="1" baseline="-25000" dirty="0"/>
              <a:t>7</a:t>
            </a:r>
            <a:endParaRPr lang="zh-CN" altLang="en-US" sz="2400" b="1" baseline="-25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971550" y="5670550"/>
            <a:ext cx="32877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Y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=X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+X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 +X</a:t>
            </a:r>
            <a:r>
              <a:rPr lang="en-US" altLang="zh-CN" sz="2400" b="1" baseline="-25000" dirty="0"/>
              <a:t>5</a:t>
            </a:r>
            <a:r>
              <a:rPr lang="en-US" altLang="zh-CN" sz="2400" b="1" dirty="0"/>
              <a:t>+X</a:t>
            </a:r>
            <a:r>
              <a:rPr lang="en-US" altLang="zh-CN" sz="2400" b="1" baseline="-25000" dirty="0"/>
              <a:t>7</a:t>
            </a:r>
            <a:r>
              <a:rPr lang="en-US" altLang="zh-CN" sz="2400" b="1" dirty="0"/>
              <a:t> +X</a:t>
            </a:r>
            <a:r>
              <a:rPr lang="en-US" altLang="zh-CN" sz="2400" b="1" baseline="-25000" dirty="0"/>
              <a:t>9</a:t>
            </a:r>
            <a:endParaRPr lang="zh-CN" altLang="en-US" sz="2400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8" grpId="0"/>
      <p:bldP spid="11" grpId="0"/>
      <p:bldP spid="13" grpId="0"/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编码器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8</a:t>
            </a:r>
            <a:r>
              <a:rPr lang="zh-CN" altLang="en-US" dirty="0"/>
              <a:t>－</a:t>
            </a:r>
            <a:r>
              <a:rPr lang="en-US" altLang="zh-CN" dirty="0"/>
              <a:t>3</a:t>
            </a:r>
            <a:r>
              <a:rPr lang="zh-CN" altLang="en-US" dirty="0"/>
              <a:t>优先编码器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684213" y="2339975"/>
            <a:ext cx="4175125" cy="479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—   —      —        —         —</a:t>
            </a:r>
            <a:r>
              <a:rPr lang="en-US" altLang="zh-CN" sz="2400" b="1" dirty="0"/>
              <a:t> 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A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= 7   +6  5 + 6 4 3 +6 4 2  1 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98500" y="2973388"/>
            <a:ext cx="4176713" cy="479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—   —   —        —       —</a:t>
            </a:r>
            <a:r>
              <a:rPr lang="en-US" altLang="zh-CN" sz="2400" b="1" dirty="0"/>
              <a:t> 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A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= 7   + 6 + 5 4 3 +5 4  2  </a:t>
            </a:r>
            <a:endParaRPr lang="zh-CN" altLang="en-US" sz="24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98500" y="3570288"/>
            <a:ext cx="4176713" cy="479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—   —  —   —  —</a:t>
            </a:r>
            <a:r>
              <a:rPr lang="en-US" altLang="zh-CN" sz="2400" b="1" dirty="0"/>
              <a:t> 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A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= 7  + 6  + 5 + 4  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665163" y="4127500"/>
            <a:ext cx="4176712" cy="479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        ——————</a:t>
            </a:r>
            <a:endParaRPr lang="en-US" altLang="zh-CN" sz="26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A</a:t>
            </a:r>
            <a:r>
              <a:rPr lang="en-US" altLang="zh-CN" sz="2400" b="1" baseline="-25000" dirty="0"/>
              <a:t>0 </a:t>
            </a:r>
            <a:r>
              <a:rPr lang="en-US" altLang="zh-CN" sz="2400" b="1" dirty="0"/>
              <a:t>=  7 6 5 4 3 2 1 0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755650" y="4784725"/>
            <a:ext cx="2192338" cy="4905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       ———</a:t>
            </a:r>
            <a:endParaRPr lang="en-US" altLang="zh-CN" sz="2600" b="1" dirty="0"/>
          </a:p>
          <a:p>
            <a:pPr marL="0" lvl="0" indent="0">
              <a:lnSpc>
                <a:spcPts val="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              —</a:t>
            </a:r>
            <a:endParaRPr lang="en-US" altLang="zh-CN" sz="2600" b="1" dirty="0"/>
          </a:p>
          <a:p>
            <a:pPr marL="0" lvl="0" indent="0">
              <a:lnSpc>
                <a:spcPts val="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              —</a:t>
            </a:r>
            <a:endParaRPr lang="en-US" altLang="zh-CN" sz="26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G</a:t>
            </a:r>
            <a:r>
              <a:rPr lang="en-US" altLang="zh-CN" sz="2400" b="1" baseline="-25000" dirty="0"/>
              <a:t>S </a:t>
            </a:r>
            <a:r>
              <a:rPr lang="en-US" altLang="zh-CN" sz="2400" b="1" dirty="0"/>
              <a:t>=  E</a:t>
            </a:r>
            <a:r>
              <a:rPr lang="en-US" altLang="zh-CN" sz="2400" b="1" baseline="-25000" dirty="0"/>
              <a:t>O</a:t>
            </a:r>
            <a:r>
              <a:rPr lang="en-US" altLang="zh-CN" sz="2400" b="1" dirty="0"/>
              <a:t>  E</a:t>
            </a:r>
            <a:r>
              <a:rPr lang="en-US" altLang="zh-CN" sz="2400" b="1" baseline="-25000" dirty="0"/>
              <a:t>i</a:t>
            </a:r>
            <a:endParaRPr lang="zh-CN" altLang="en-US" sz="2400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4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0"/>
            <a:ext cx="7543800" cy="8286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优先编码功能表</a:t>
            </a: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2" name="Text Box 3"/>
          <p:cNvSpPr txBox="1"/>
          <p:nvPr/>
        </p:nvSpPr>
        <p:spPr>
          <a:xfrm>
            <a:off x="611188" y="6237288"/>
            <a:ext cx="23050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endParaRPr lang="zh-CN" altLang="zh-CN" sz="2000" b="1" dirty="0">
              <a:latin typeface="Tahoma" panose="020B0604030504040204" pitchFamily="34" charset="0"/>
            </a:endParaRPr>
          </a:p>
        </p:txBody>
      </p:sp>
      <p:grpSp>
        <p:nvGrpSpPr>
          <p:cNvPr id="22533" name="Group 203"/>
          <p:cNvGrpSpPr/>
          <p:nvPr/>
        </p:nvGrpSpPr>
        <p:grpSpPr>
          <a:xfrm>
            <a:off x="1066800" y="838200"/>
            <a:ext cx="7416800" cy="3716338"/>
            <a:chOff x="672" y="528"/>
            <a:chExt cx="4672" cy="2341"/>
          </a:xfrm>
        </p:grpSpPr>
        <p:sp>
          <p:nvSpPr>
            <p:cNvPr id="644106" name="Rectangle 10"/>
            <p:cNvSpPr>
              <a:spLocks noChangeArrowheads="1"/>
            </p:cNvSpPr>
            <p:nvPr/>
          </p:nvSpPr>
          <p:spPr bwMode="auto">
            <a:xfrm>
              <a:off x="4982" y="2658"/>
              <a:ext cx="36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07" name="Rectangle 11"/>
            <p:cNvSpPr>
              <a:spLocks noChangeArrowheads="1"/>
            </p:cNvSpPr>
            <p:nvPr/>
          </p:nvSpPr>
          <p:spPr bwMode="auto">
            <a:xfrm>
              <a:off x="4982" y="2448"/>
              <a:ext cx="362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08" name="Rectangle 12"/>
            <p:cNvSpPr>
              <a:spLocks noChangeArrowheads="1"/>
            </p:cNvSpPr>
            <p:nvPr/>
          </p:nvSpPr>
          <p:spPr bwMode="auto">
            <a:xfrm>
              <a:off x="4982" y="2237"/>
              <a:ext cx="36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09" name="Rectangle 13"/>
            <p:cNvSpPr>
              <a:spLocks noChangeArrowheads="1"/>
            </p:cNvSpPr>
            <p:nvPr/>
          </p:nvSpPr>
          <p:spPr bwMode="auto">
            <a:xfrm>
              <a:off x="4982" y="2026"/>
              <a:ext cx="36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10" name="Rectangle 14"/>
            <p:cNvSpPr>
              <a:spLocks noChangeArrowheads="1"/>
            </p:cNvSpPr>
            <p:nvPr/>
          </p:nvSpPr>
          <p:spPr bwMode="auto">
            <a:xfrm>
              <a:off x="4982" y="1815"/>
              <a:ext cx="36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11" name="Rectangle 15"/>
            <p:cNvSpPr>
              <a:spLocks noChangeArrowheads="1"/>
            </p:cNvSpPr>
            <p:nvPr/>
          </p:nvSpPr>
          <p:spPr bwMode="auto">
            <a:xfrm>
              <a:off x="4982" y="1605"/>
              <a:ext cx="362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12" name="Rectangle 16"/>
            <p:cNvSpPr>
              <a:spLocks noChangeArrowheads="1"/>
            </p:cNvSpPr>
            <p:nvPr/>
          </p:nvSpPr>
          <p:spPr bwMode="auto">
            <a:xfrm>
              <a:off x="4982" y="1394"/>
              <a:ext cx="36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13" name="Rectangle 17"/>
            <p:cNvSpPr>
              <a:spLocks noChangeArrowheads="1"/>
            </p:cNvSpPr>
            <p:nvPr/>
          </p:nvSpPr>
          <p:spPr bwMode="auto">
            <a:xfrm>
              <a:off x="4982" y="1183"/>
              <a:ext cx="36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14" name="Rectangle 18"/>
            <p:cNvSpPr>
              <a:spLocks noChangeArrowheads="1"/>
            </p:cNvSpPr>
            <p:nvPr/>
          </p:nvSpPr>
          <p:spPr bwMode="auto">
            <a:xfrm>
              <a:off x="4982" y="972"/>
              <a:ext cx="36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15" name="Rectangle 19"/>
            <p:cNvSpPr>
              <a:spLocks noChangeArrowheads="1"/>
            </p:cNvSpPr>
            <p:nvPr/>
          </p:nvSpPr>
          <p:spPr bwMode="auto">
            <a:xfrm>
              <a:off x="4982" y="762"/>
              <a:ext cx="362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16" name="Rectangle 20"/>
            <p:cNvSpPr>
              <a:spLocks noChangeArrowheads="1"/>
            </p:cNvSpPr>
            <p:nvPr/>
          </p:nvSpPr>
          <p:spPr bwMode="auto">
            <a:xfrm>
              <a:off x="1035" y="2658"/>
              <a:ext cx="35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17" name="Rectangle 21"/>
            <p:cNvSpPr>
              <a:spLocks noChangeArrowheads="1"/>
            </p:cNvSpPr>
            <p:nvPr/>
          </p:nvSpPr>
          <p:spPr bwMode="auto">
            <a:xfrm>
              <a:off x="1035" y="2448"/>
              <a:ext cx="353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18" name="Rectangle 22"/>
            <p:cNvSpPr>
              <a:spLocks noChangeArrowheads="1"/>
            </p:cNvSpPr>
            <p:nvPr/>
          </p:nvSpPr>
          <p:spPr bwMode="auto">
            <a:xfrm>
              <a:off x="1035" y="2237"/>
              <a:ext cx="35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19" name="Rectangle 23"/>
            <p:cNvSpPr>
              <a:spLocks noChangeArrowheads="1"/>
            </p:cNvSpPr>
            <p:nvPr/>
          </p:nvSpPr>
          <p:spPr bwMode="auto">
            <a:xfrm>
              <a:off x="1035" y="2026"/>
              <a:ext cx="35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20" name="Rectangle 24"/>
            <p:cNvSpPr>
              <a:spLocks noChangeArrowheads="1"/>
            </p:cNvSpPr>
            <p:nvPr/>
          </p:nvSpPr>
          <p:spPr bwMode="auto">
            <a:xfrm>
              <a:off x="1035" y="1815"/>
              <a:ext cx="35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21" name="Rectangle 25"/>
            <p:cNvSpPr>
              <a:spLocks noChangeArrowheads="1"/>
            </p:cNvSpPr>
            <p:nvPr/>
          </p:nvSpPr>
          <p:spPr bwMode="auto">
            <a:xfrm>
              <a:off x="1035" y="1605"/>
              <a:ext cx="353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22" name="Rectangle 26"/>
            <p:cNvSpPr>
              <a:spLocks noChangeArrowheads="1"/>
            </p:cNvSpPr>
            <p:nvPr/>
          </p:nvSpPr>
          <p:spPr bwMode="auto">
            <a:xfrm>
              <a:off x="1035" y="1394"/>
              <a:ext cx="35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23" name="Rectangle 27"/>
            <p:cNvSpPr>
              <a:spLocks noChangeArrowheads="1"/>
            </p:cNvSpPr>
            <p:nvPr/>
          </p:nvSpPr>
          <p:spPr bwMode="auto">
            <a:xfrm>
              <a:off x="1035" y="1183"/>
              <a:ext cx="35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24" name="Rectangle 28"/>
            <p:cNvSpPr>
              <a:spLocks noChangeArrowheads="1"/>
            </p:cNvSpPr>
            <p:nvPr/>
          </p:nvSpPr>
          <p:spPr bwMode="auto">
            <a:xfrm>
              <a:off x="1035" y="972"/>
              <a:ext cx="35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25" name="Rectangle 29"/>
            <p:cNvSpPr>
              <a:spLocks noChangeArrowheads="1"/>
            </p:cNvSpPr>
            <p:nvPr/>
          </p:nvSpPr>
          <p:spPr bwMode="auto">
            <a:xfrm>
              <a:off x="1035" y="762"/>
              <a:ext cx="353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26" name="Rectangle 30"/>
            <p:cNvSpPr>
              <a:spLocks noChangeArrowheads="1"/>
            </p:cNvSpPr>
            <p:nvPr/>
          </p:nvSpPr>
          <p:spPr bwMode="auto">
            <a:xfrm>
              <a:off x="1035" y="528"/>
              <a:ext cx="353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27" name="Rectangle 31"/>
            <p:cNvSpPr>
              <a:spLocks noChangeArrowheads="1"/>
            </p:cNvSpPr>
            <p:nvPr/>
          </p:nvSpPr>
          <p:spPr bwMode="auto">
            <a:xfrm>
              <a:off x="4570" y="2658"/>
              <a:ext cx="41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28" name="Rectangle 32"/>
            <p:cNvSpPr>
              <a:spLocks noChangeArrowheads="1"/>
            </p:cNvSpPr>
            <p:nvPr/>
          </p:nvSpPr>
          <p:spPr bwMode="auto">
            <a:xfrm>
              <a:off x="4200" y="2658"/>
              <a:ext cx="37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29" name="Rectangle 33"/>
            <p:cNvSpPr>
              <a:spLocks noChangeArrowheads="1"/>
            </p:cNvSpPr>
            <p:nvPr/>
          </p:nvSpPr>
          <p:spPr bwMode="auto">
            <a:xfrm>
              <a:off x="3874" y="2658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30" name="Rectangle 34"/>
            <p:cNvSpPr>
              <a:spLocks noChangeArrowheads="1"/>
            </p:cNvSpPr>
            <p:nvPr/>
          </p:nvSpPr>
          <p:spPr bwMode="auto">
            <a:xfrm>
              <a:off x="3547" y="2658"/>
              <a:ext cx="32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31" name="Rectangle 35"/>
            <p:cNvSpPr>
              <a:spLocks noChangeArrowheads="1"/>
            </p:cNvSpPr>
            <p:nvPr/>
          </p:nvSpPr>
          <p:spPr bwMode="auto">
            <a:xfrm>
              <a:off x="3221" y="2658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32" name="Rectangle 36"/>
            <p:cNvSpPr>
              <a:spLocks noChangeArrowheads="1"/>
            </p:cNvSpPr>
            <p:nvPr/>
          </p:nvSpPr>
          <p:spPr bwMode="auto">
            <a:xfrm>
              <a:off x="2923" y="2658"/>
              <a:ext cx="29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33" name="Rectangle 37"/>
            <p:cNvSpPr>
              <a:spLocks noChangeArrowheads="1"/>
            </p:cNvSpPr>
            <p:nvPr/>
          </p:nvSpPr>
          <p:spPr bwMode="auto">
            <a:xfrm>
              <a:off x="2623" y="2658"/>
              <a:ext cx="30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34" name="Rectangle 38"/>
            <p:cNvSpPr>
              <a:spLocks noChangeArrowheads="1"/>
            </p:cNvSpPr>
            <p:nvPr/>
          </p:nvSpPr>
          <p:spPr bwMode="auto">
            <a:xfrm>
              <a:off x="2314" y="2658"/>
              <a:ext cx="309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35" name="Rectangle 39"/>
            <p:cNvSpPr>
              <a:spLocks noChangeArrowheads="1"/>
            </p:cNvSpPr>
            <p:nvPr/>
          </p:nvSpPr>
          <p:spPr bwMode="auto">
            <a:xfrm>
              <a:off x="2033" y="2658"/>
              <a:ext cx="281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36" name="Rectangle 40"/>
            <p:cNvSpPr>
              <a:spLocks noChangeArrowheads="1"/>
            </p:cNvSpPr>
            <p:nvPr/>
          </p:nvSpPr>
          <p:spPr bwMode="auto">
            <a:xfrm>
              <a:off x="1695" y="2658"/>
              <a:ext cx="33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37" name="Rectangle 41"/>
            <p:cNvSpPr>
              <a:spLocks noChangeArrowheads="1"/>
            </p:cNvSpPr>
            <p:nvPr/>
          </p:nvSpPr>
          <p:spPr bwMode="auto">
            <a:xfrm>
              <a:off x="1388" y="2658"/>
              <a:ext cx="30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38" name="Rectangle 42"/>
            <p:cNvSpPr>
              <a:spLocks noChangeArrowheads="1"/>
            </p:cNvSpPr>
            <p:nvPr/>
          </p:nvSpPr>
          <p:spPr bwMode="auto">
            <a:xfrm>
              <a:off x="672" y="2658"/>
              <a:ext cx="36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39" name="Rectangle 43"/>
            <p:cNvSpPr>
              <a:spLocks noChangeArrowheads="1"/>
            </p:cNvSpPr>
            <p:nvPr/>
          </p:nvSpPr>
          <p:spPr bwMode="auto">
            <a:xfrm>
              <a:off x="4570" y="2448"/>
              <a:ext cx="412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40" name="Rectangle 44"/>
            <p:cNvSpPr>
              <a:spLocks noChangeArrowheads="1"/>
            </p:cNvSpPr>
            <p:nvPr/>
          </p:nvSpPr>
          <p:spPr bwMode="auto">
            <a:xfrm>
              <a:off x="4570" y="2237"/>
              <a:ext cx="41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41" name="Rectangle 45"/>
            <p:cNvSpPr>
              <a:spLocks noChangeArrowheads="1"/>
            </p:cNvSpPr>
            <p:nvPr/>
          </p:nvSpPr>
          <p:spPr bwMode="auto">
            <a:xfrm>
              <a:off x="4570" y="2026"/>
              <a:ext cx="41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42" name="Rectangle 46"/>
            <p:cNvSpPr>
              <a:spLocks noChangeArrowheads="1"/>
            </p:cNvSpPr>
            <p:nvPr/>
          </p:nvSpPr>
          <p:spPr bwMode="auto">
            <a:xfrm>
              <a:off x="4570" y="1815"/>
              <a:ext cx="41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43" name="Rectangle 47"/>
            <p:cNvSpPr>
              <a:spLocks noChangeArrowheads="1"/>
            </p:cNvSpPr>
            <p:nvPr/>
          </p:nvSpPr>
          <p:spPr bwMode="auto">
            <a:xfrm>
              <a:off x="4570" y="1605"/>
              <a:ext cx="412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44" name="Rectangle 48"/>
            <p:cNvSpPr>
              <a:spLocks noChangeArrowheads="1"/>
            </p:cNvSpPr>
            <p:nvPr/>
          </p:nvSpPr>
          <p:spPr bwMode="auto">
            <a:xfrm>
              <a:off x="4570" y="1394"/>
              <a:ext cx="41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45" name="Rectangle 49"/>
            <p:cNvSpPr>
              <a:spLocks noChangeArrowheads="1"/>
            </p:cNvSpPr>
            <p:nvPr/>
          </p:nvSpPr>
          <p:spPr bwMode="auto">
            <a:xfrm>
              <a:off x="4570" y="1183"/>
              <a:ext cx="41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46" name="Rectangle 50"/>
            <p:cNvSpPr>
              <a:spLocks noChangeArrowheads="1"/>
            </p:cNvSpPr>
            <p:nvPr/>
          </p:nvSpPr>
          <p:spPr bwMode="auto">
            <a:xfrm>
              <a:off x="4570" y="972"/>
              <a:ext cx="412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47" name="Rectangle 51"/>
            <p:cNvSpPr>
              <a:spLocks noChangeArrowheads="1"/>
            </p:cNvSpPr>
            <p:nvPr/>
          </p:nvSpPr>
          <p:spPr bwMode="auto">
            <a:xfrm>
              <a:off x="4570" y="762"/>
              <a:ext cx="412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48" name="Rectangle 52"/>
            <p:cNvSpPr>
              <a:spLocks noChangeArrowheads="1"/>
            </p:cNvSpPr>
            <p:nvPr/>
          </p:nvSpPr>
          <p:spPr bwMode="auto">
            <a:xfrm>
              <a:off x="4570" y="528"/>
              <a:ext cx="412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000" b="1" i="0" u="none" strike="noStrike" kern="1200" cap="none" spc="0" normalizeH="0" baseline="-30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0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44149" name="Rectangle 53"/>
            <p:cNvSpPr>
              <a:spLocks noChangeArrowheads="1"/>
            </p:cNvSpPr>
            <p:nvPr/>
          </p:nvSpPr>
          <p:spPr bwMode="auto">
            <a:xfrm>
              <a:off x="3221" y="2448"/>
              <a:ext cx="326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50" name="Rectangle 54"/>
            <p:cNvSpPr>
              <a:spLocks noChangeArrowheads="1"/>
            </p:cNvSpPr>
            <p:nvPr/>
          </p:nvSpPr>
          <p:spPr bwMode="auto">
            <a:xfrm>
              <a:off x="3221" y="2237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51" name="Rectangle 55"/>
            <p:cNvSpPr>
              <a:spLocks noChangeArrowheads="1"/>
            </p:cNvSpPr>
            <p:nvPr/>
          </p:nvSpPr>
          <p:spPr bwMode="auto">
            <a:xfrm>
              <a:off x="3221" y="2026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52" name="Rectangle 56"/>
            <p:cNvSpPr>
              <a:spLocks noChangeArrowheads="1"/>
            </p:cNvSpPr>
            <p:nvPr/>
          </p:nvSpPr>
          <p:spPr bwMode="auto">
            <a:xfrm>
              <a:off x="3221" y="1815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53" name="Rectangle 57"/>
            <p:cNvSpPr>
              <a:spLocks noChangeArrowheads="1"/>
            </p:cNvSpPr>
            <p:nvPr/>
          </p:nvSpPr>
          <p:spPr bwMode="auto">
            <a:xfrm>
              <a:off x="3221" y="1605"/>
              <a:ext cx="326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54" name="Rectangle 58"/>
            <p:cNvSpPr>
              <a:spLocks noChangeArrowheads="1"/>
            </p:cNvSpPr>
            <p:nvPr/>
          </p:nvSpPr>
          <p:spPr bwMode="auto">
            <a:xfrm>
              <a:off x="3221" y="1394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55" name="Rectangle 59"/>
            <p:cNvSpPr>
              <a:spLocks noChangeArrowheads="1"/>
            </p:cNvSpPr>
            <p:nvPr/>
          </p:nvSpPr>
          <p:spPr bwMode="auto">
            <a:xfrm>
              <a:off x="3221" y="1183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56" name="Rectangle 60"/>
            <p:cNvSpPr>
              <a:spLocks noChangeArrowheads="1"/>
            </p:cNvSpPr>
            <p:nvPr/>
          </p:nvSpPr>
          <p:spPr bwMode="auto">
            <a:xfrm>
              <a:off x="3221" y="972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57" name="Rectangle 61"/>
            <p:cNvSpPr>
              <a:spLocks noChangeArrowheads="1"/>
            </p:cNvSpPr>
            <p:nvPr/>
          </p:nvSpPr>
          <p:spPr bwMode="auto">
            <a:xfrm>
              <a:off x="3221" y="762"/>
              <a:ext cx="326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58" name="Rectangle 62"/>
            <p:cNvSpPr>
              <a:spLocks noChangeArrowheads="1"/>
            </p:cNvSpPr>
            <p:nvPr/>
          </p:nvSpPr>
          <p:spPr bwMode="auto">
            <a:xfrm>
              <a:off x="3221" y="528"/>
              <a:ext cx="326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59" name="Rectangle 63"/>
            <p:cNvSpPr>
              <a:spLocks noChangeArrowheads="1"/>
            </p:cNvSpPr>
            <p:nvPr/>
          </p:nvSpPr>
          <p:spPr bwMode="auto">
            <a:xfrm>
              <a:off x="4200" y="2448"/>
              <a:ext cx="370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60" name="Rectangle 64"/>
            <p:cNvSpPr>
              <a:spLocks noChangeArrowheads="1"/>
            </p:cNvSpPr>
            <p:nvPr/>
          </p:nvSpPr>
          <p:spPr bwMode="auto">
            <a:xfrm>
              <a:off x="3874" y="2448"/>
              <a:ext cx="326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61" name="Rectangle 65"/>
            <p:cNvSpPr>
              <a:spLocks noChangeArrowheads="1"/>
            </p:cNvSpPr>
            <p:nvPr/>
          </p:nvSpPr>
          <p:spPr bwMode="auto">
            <a:xfrm>
              <a:off x="3547" y="2448"/>
              <a:ext cx="327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62" name="Rectangle 66"/>
            <p:cNvSpPr>
              <a:spLocks noChangeArrowheads="1"/>
            </p:cNvSpPr>
            <p:nvPr/>
          </p:nvSpPr>
          <p:spPr bwMode="auto">
            <a:xfrm>
              <a:off x="2923" y="2448"/>
              <a:ext cx="298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63" name="Rectangle 67"/>
            <p:cNvSpPr>
              <a:spLocks noChangeArrowheads="1"/>
            </p:cNvSpPr>
            <p:nvPr/>
          </p:nvSpPr>
          <p:spPr bwMode="auto">
            <a:xfrm>
              <a:off x="2623" y="2448"/>
              <a:ext cx="300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64" name="Rectangle 68"/>
            <p:cNvSpPr>
              <a:spLocks noChangeArrowheads="1"/>
            </p:cNvSpPr>
            <p:nvPr/>
          </p:nvSpPr>
          <p:spPr bwMode="auto">
            <a:xfrm>
              <a:off x="2314" y="2448"/>
              <a:ext cx="309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65" name="Rectangle 69"/>
            <p:cNvSpPr>
              <a:spLocks noChangeArrowheads="1"/>
            </p:cNvSpPr>
            <p:nvPr/>
          </p:nvSpPr>
          <p:spPr bwMode="auto">
            <a:xfrm>
              <a:off x="2033" y="2448"/>
              <a:ext cx="281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66" name="Rectangle 70"/>
            <p:cNvSpPr>
              <a:spLocks noChangeArrowheads="1"/>
            </p:cNvSpPr>
            <p:nvPr/>
          </p:nvSpPr>
          <p:spPr bwMode="auto">
            <a:xfrm>
              <a:off x="1695" y="2448"/>
              <a:ext cx="338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67" name="Rectangle 71"/>
            <p:cNvSpPr>
              <a:spLocks noChangeArrowheads="1"/>
            </p:cNvSpPr>
            <p:nvPr/>
          </p:nvSpPr>
          <p:spPr bwMode="auto">
            <a:xfrm>
              <a:off x="1388" y="2448"/>
              <a:ext cx="307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68" name="Rectangle 72"/>
            <p:cNvSpPr>
              <a:spLocks noChangeArrowheads="1"/>
            </p:cNvSpPr>
            <p:nvPr/>
          </p:nvSpPr>
          <p:spPr bwMode="auto">
            <a:xfrm>
              <a:off x="672" y="2448"/>
              <a:ext cx="363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69" name="Rectangle 73"/>
            <p:cNvSpPr>
              <a:spLocks noChangeArrowheads="1"/>
            </p:cNvSpPr>
            <p:nvPr/>
          </p:nvSpPr>
          <p:spPr bwMode="auto">
            <a:xfrm>
              <a:off x="4200" y="2237"/>
              <a:ext cx="37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70" name="Rectangle 74"/>
            <p:cNvSpPr>
              <a:spLocks noChangeArrowheads="1"/>
            </p:cNvSpPr>
            <p:nvPr/>
          </p:nvSpPr>
          <p:spPr bwMode="auto">
            <a:xfrm>
              <a:off x="3874" y="2237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71" name="Rectangle 75"/>
            <p:cNvSpPr>
              <a:spLocks noChangeArrowheads="1"/>
            </p:cNvSpPr>
            <p:nvPr/>
          </p:nvSpPr>
          <p:spPr bwMode="auto">
            <a:xfrm>
              <a:off x="3547" y="2237"/>
              <a:ext cx="32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72" name="Rectangle 76"/>
            <p:cNvSpPr>
              <a:spLocks noChangeArrowheads="1"/>
            </p:cNvSpPr>
            <p:nvPr/>
          </p:nvSpPr>
          <p:spPr bwMode="auto">
            <a:xfrm>
              <a:off x="2923" y="2237"/>
              <a:ext cx="29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73" name="Rectangle 77"/>
            <p:cNvSpPr>
              <a:spLocks noChangeArrowheads="1"/>
            </p:cNvSpPr>
            <p:nvPr/>
          </p:nvSpPr>
          <p:spPr bwMode="auto">
            <a:xfrm>
              <a:off x="2623" y="2237"/>
              <a:ext cx="30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74" name="Rectangle 78"/>
            <p:cNvSpPr>
              <a:spLocks noChangeArrowheads="1"/>
            </p:cNvSpPr>
            <p:nvPr/>
          </p:nvSpPr>
          <p:spPr bwMode="auto">
            <a:xfrm>
              <a:off x="2314" y="2237"/>
              <a:ext cx="309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75" name="Rectangle 79"/>
            <p:cNvSpPr>
              <a:spLocks noChangeArrowheads="1"/>
            </p:cNvSpPr>
            <p:nvPr/>
          </p:nvSpPr>
          <p:spPr bwMode="auto">
            <a:xfrm>
              <a:off x="2033" y="2237"/>
              <a:ext cx="281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76" name="Rectangle 80"/>
            <p:cNvSpPr>
              <a:spLocks noChangeArrowheads="1"/>
            </p:cNvSpPr>
            <p:nvPr/>
          </p:nvSpPr>
          <p:spPr bwMode="auto">
            <a:xfrm>
              <a:off x="1695" y="2237"/>
              <a:ext cx="33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77" name="Rectangle 81"/>
            <p:cNvSpPr>
              <a:spLocks noChangeArrowheads="1"/>
            </p:cNvSpPr>
            <p:nvPr/>
          </p:nvSpPr>
          <p:spPr bwMode="auto">
            <a:xfrm>
              <a:off x="1388" y="2237"/>
              <a:ext cx="30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78" name="Rectangle 82"/>
            <p:cNvSpPr>
              <a:spLocks noChangeArrowheads="1"/>
            </p:cNvSpPr>
            <p:nvPr/>
          </p:nvSpPr>
          <p:spPr bwMode="auto">
            <a:xfrm>
              <a:off x="672" y="2237"/>
              <a:ext cx="36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79" name="Rectangle 83"/>
            <p:cNvSpPr>
              <a:spLocks noChangeArrowheads="1"/>
            </p:cNvSpPr>
            <p:nvPr/>
          </p:nvSpPr>
          <p:spPr bwMode="auto">
            <a:xfrm>
              <a:off x="4200" y="2026"/>
              <a:ext cx="37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80" name="Rectangle 84"/>
            <p:cNvSpPr>
              <a:spLocks noChangeArrowheads="1"/>
            </p:cNvSpPr>
            <p:nvPr/>
          </p:nvSpPr>
          <p:spPr bwMode="auto">
            <a:xfrm>
              <a:off x="3874" y="2026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81" name="Rectangle 85"/>
            <p:cNvSpPr>
              <a:spLocks noChangeArrowheads="1"/>
            </p:cNvSpPr>
            <p:nvPr/>
          </p:nvSpPr>
          <p:spPr bwMode="auto">
            <a:xfrm>
              <a:off x="3547" y="2026"/>
              <a:ext cx="32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82" name="Rectangle 86"/>
            <p:cNvSpPr>
              <a:spLocks noChangeArrowheads="1"/>
            </p:cNvSpPr>
            <p:nvPr/>
          </p:nvSpPr>
          <p:spPr bwMode="auto">
            <a:xfrm>
              <a:off x="2923" y="2026"/>
              <a:ext cx="29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83" name="Rectangle 87"/>
            <p:cNvSpPr>
              <a:spLocks noChangeArrowheads="1"/>
            </p:cNvSpPr>
            <p:nvPr/>
          </p:nvSpPr>
          <p:spPr bwMode="auto">
            <a:xfrm>
              <a:off x="2623" y="2026"/>
              <a:ext cx="30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84" name="Rectangle 88"/>
            <p:cNvSpPr>
              <a:spLocks noChangeArrowheads="1"/>
            </p:cNvSpPr>
            <p:nvPr/>
          </p:nvSpPr>
          <p:spPr bwMode="auto">
            <a:xfrm>
              <a:off x="2314" y="2026"/>
              <a:ext cx="309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85" name="Rectangle 89"/>
            <p:cNvSpPr>
              <a:spLocks noChangeArrowheads="1"/>
            </p:cNvSpPr>
            <p:nvPr/>
          </p:nvSpPr>
          <p:spPr bwMode="auto">
            <a:xfrm>
              <a:off x="2033" y="2026"/>
              <a:ext cx="281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86" name="Rectangle 90"/>
            <p:cNvSpPr>
              <a:spLocks noChangeArrowheads="1"/>
            </p:cNvSpPr>
            <p:nvPr/>
          </p:nvSpPr>
          <p:spPr bwMode="auto">
            <a:xfrm>
              <a:off x="1695" y="2026"/>
              <a:ext cx="33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87" name="Rectangle 91"/>
            <p:cNvSpPr>
              <a:spLocks noChangeArrowheads="1"/>
            </p:cNvSpPr>
            <p:nvPr/>
          </p:nvSpPr>
          <p:spPr bwMode="auto">
            <a:xfrm>
              <a:off x="1388" y="2026"/>
              <a:ext cx="30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88" name="Rectangle 92"/>
            <p:cNvSpPr>
              <a:spLocks noChangeArrowheads="1"/>
            </p:cNvSpPr>
            <p:nvPr/>
          </p:nvSpPr>
          <p:spPr bwMode="auto">
            <a:xfrm>
              <a:off x="672" y="2026"/>
              <a:ext cx="36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89" name="Rectangle 93"/>
            <p:cNvSpPr>
              <a:spLocks noChangeArrowheads="1"/>
            </p:cNvSpPr>
            <p:nvPr/>
          </p:nvSpPr>
          <p:spPr bwMode="auto">
            <a:xfrm>
              <a:off x="4200" y="1815"/>
              <a:ext cx="37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90" name="Rectangle 94"/>
            <p:cNvSpPr>
              <a:spLocks noChangeArrowheads="1"/>
            </p:cNvSpPr>
            <p:nvPr/>
          </p:nvSpPr>
          <p:spPr bwMode="auto">
            <a:xfrm>
              <a:off x="3874" y="1815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91" name="Rectangle 95"/>
            <p:cNvSpPr>
              <a:spLocks noChangeArrowheads="1"/>
            </p:cNvSpPr>
            <p:nvPr/>
          </p:nvSpPr>
          <p:spPr bwMode="auto">
            <a:xfrm>
              <a:off x="3547" y="1815"/>
              <a:ext cx="32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92" name="Rectangle 96"/>
            <p:cNvSpPr>
              <a:spLocks noChangeArrowheads="1"/>
            </p:cNvSpPr>
            <p:nvPr/>
          </p:nvSpPr>
          <p:spPr bwMode="auto">
            <a:xfrm>
              <a:off x="2923" y="1815"/>
              <a:ext cx="29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93" name="Rectangle 97"/>
            <p:cNvSpPr>
              <a:spLocks noChangeArrowheads="1"/>
            </p:cNvSpPr>
            <p:nvPr/>
          </p:nvSpPr>
          <p:spPr bwMode="auto">
            <a:xfrm>
              <a:off x="2623" y="1815"/>
              <a:ext cx="30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94" name="Rectangle 98"/>
            <p:cNvSpPr>
              <a:spLocks noChangeArrowheads="1"/>
            </p:cNvSpPr>
            <p:nvPr/>
          </p:nvSpPr>
          <p:spPr bwMode="auto">
            <a:xfrm>
              <a:off x="2314" y="1815"/>
              <a:ext cx="309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95" name="Rectangle 99"/>
            <p:cNvSpPr>
              <a:spLocks noChangeArrowheads="1"/>
            </p:cNvSpPr>
            <p:nvPr/>
          </p:nvSpPr>
          <p:spPr bwMode="auto">
            <a:xfrm>
              <a:off x="2033" y="1815"/>
              <a:ext cx="281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96" name="Rectangle 100"/>
            <p:cNvSpPr>
              <a:spLocks noChangeArrowheads="1"/>
            </p:cNvSpPr>
            <p:nvPr/>
          </p:nvSpPr>
          <p:spPr bwMode="auto">
            <a:xfrm>
              <a:off x="1695" y="1815"/>
              <a:ext cx="33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97" name="Rectangle 101"/>
            <p:cNvSpPr>
              <a:spLocks noChangeArrowheads="1"/>
            </p:cNvSpPr>
            <p:nvPr/>
          </p:nvSpPr>
          <p:spPr bwMode="auto">
            <a:xfrm>
              <a:off x="1388" y="1815"/>
              <a:ext cx="30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98" name="Rectangle 102"/>
            <p:cNvSpPr>
              <a:spLocks noChangeArrowheads="1"/>
            </p:cNvSpPr>
            <p:nvPr/>
          </p:nvSpPr>
          <p:spPr bwMode="auto">
            <a:xfrm>
              <a:off x="672" y="1815"/>
              <a:ext cx="36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199" name="Rectangle 103"/>
            <p:cNvSpPr>
              <a:spLocks noChangeArrowheads="1"/>
            </p:cNvSpPr>
            <p:nvPr/>
          </p:nvSpPr>
          <p:spPr bwMode="auto">
            <a:xfrm>
              <a:off x="4200" y="1605"/>
              <a:ext cx="370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00" name="Rectangle 104"/>
            <p:cNvSpPr>
              <a:spLocks noChangeArrowheads="1"/>
            </p:cNvSpPr>
            <p:nvPr/>
          </p:nvSpPr>
          <p:spPr bwMode="auto">
            <a:xfrm>
              <a:off x="3874" y="1605"/>
              <a:ext cx="326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01" name="Rectangle 105"/>
            <p:cNvSpPr>
              <a:spLocks noChangeArrowheads="1"/>
            </p:cNvSpPr>
            <p:nvPr/>
          </p:nvSpPr>
          <p:spPr bwMode="auto">
            <a:xfrm>
              <a:off x="3547" y="1605"/>
              <a:ext cx="327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02" name="Rectangle 106"/>
            <p:cNvSpPr>
              <a:spLocks noChangeArrowheads="1"/>
            </p:cNvSpPr>
            <p:nvPr/>
          </p:nvSpPr>
          <p:spPr bwMode="auto">
            <a:xfrm>
              <a:off x="2923" y="1605"/>
              <a:ext cx="298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03" name="Rectangle 107"/>
            <p:cNvSpPr>
              <a:spLocks noChangeArrowheads="1"/>
            </p:cNvSpPr>
            <p:nvPr/>
          </p:nvSpPr>
          <p:spPr bwMode="auto">
            <a:xfrm>
              <a:off x="2623" y="1605"/>
              <a:ext cx="300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04" name="Rectangle 108"/>
            <p:cNvSpPr>
              <a:spLocks noChangeArrowheads="1"/>
            </p:cNvSpPr>
            <p:nvPr/>
          </p:nvSpPr>
          <p:spPr bwMode="auto">
            <a:xfrm>
              <a:off x="2314" y="1605"/>
              <a:ext cx="309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05" name="Rectangle 109"/>
            <p:cNvSpPr>
              <a:spLocks noChangeArrowheads="1"/>
            </p:cNvSpPr>
            <p:nvPr/>
          </p:nvSpPr>
          <p:spPr bwMode="auto">
            <a:xfrm>
              <a:off x="2033" y="1605"/>
              <a:ext cx="281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06" name="Rectangle 110"/>
            <p:cNvSpPr>
              <a:spLocks noChangeArrowheads="1"/>
            </p:cNvSpPr>
            <p:nvPr/>
          </p:nvSpPr>
          <p:spPr bwMode="auto">
            <a:xfrm>
              <a:off x="1695" y="1605"/>
              <a:ext cx="338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07" name="Rectangle 111"/>
            <p:cNvSpPr>
              <a:spLocks noChangeArrowheads="1"/>
            </p:cNvSpPr>
            <p:nvPr/>
          </p:nvSpPr>
          <p:spPr bwMode="auto">
            <a:xfrm>
              <a:off x="1388" y="1605"/>
              <a:ext cx="307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08" name="Rectangle 112"/>
            <p:cNvSpPr>
              <a:spLocks noChangeArrowheads="1"/>
            </p:cNvSpPr>
            <p:nvPr/>
          </p:nvSpPr>
          <p:spPr bwMode="auto">
            <a:xfrm>
              <a:off x="672" y="1605"/>
              <a:ext cx="363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09" name="Rectangle 113"/>
            <p:cNvSpPr>
              <a:spLocks noChangeArrowheads="1"/>
            </p:cNvSpPr>
            <p:nvPr/>
          </p:nvSpPr>
          <p:spPr bwMode="auto">
            <a:xfrm>
              <a:off x="4200" y="1394"/>
              <a:ext cx="37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10" name="Rectangle 114"/>
            <p:cNvSpPr>
              <a:spLocks noChangeArrowheads="1"/>
            </p:cNvSpPr>
            <p:nvPr/>
          </p:nvSpPr>
          <p:spPr bwMode="auto">
            <a:xfrm>
              <a:off x="3874" y="1394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11" name="Rectangle 115"/>
            <p:cNvSpPr>
              <a:spLocks noChangeArrowheads="1"/>
            </p:cNvSpPr>
            <p:nvPr/>
          </p:nvSpPr>
          <p:spPr bwMode="auto">
            <a:xfrm>
              <a:off x="3547" y="1394"/>
              <a:ext cx="32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12" name="Rectangle 116"/>
            <p:cNvSpPr>
              <a:spLocks noChangeArrowheads="1"/>
            </p:cNvSpPr>
            <p:nvPr/>
          </p:nvSpPr>
          <p:spPr bwMode="auto">
            <a:xfrm>
              <a:off x="2923" y="1394"/>
              <a:ext cx="29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13" name="Rectangle 117"/>
            <p:cNvSpPr>
              <a:spLocks noChangeArrowheads="1"/>
            </p:cNvSpPr>
            <p:nvPr/>
          </p:nvSpPr>
          <p:spPr bwMode="auto">
            <a:xfrm>
              <a:off x="2623" y="1394"/>
              <a:ext cx="30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14" name="Rectangle 118"/>
            <p:cNvSpPr>
              <a:spLocks noChangeArrowheads="1"/>
            </p:cNvSpPr>
            <p:nvPr/>
          </p:nvSpPr>
          <p:spPr bwMode="auto">
            <a:xfrm>
              <a:off x="2314" y="1394"/>
              <a:ext cx="309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15" name="Rectangle 119"/>
            <p:cNvSpPr>
              <a:spLocks noChangeArrowheads="1"/>
            </p:cNvSpPr>
            <p:nvPr/>
          </p:nvSpPr>
          <p:spPr bwMode="auto">
            <a:xfrm>
              <a:off x="2033" y="1394"/>
              <a:ext cx="281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16" name="Rectangle 120"/>
            <p:cNvSpPr>
              <a:spLocks noChangeArrowheads="1"/>
            </p:cNvSpPr>
            <p:nvPr/>
          </p:nvSpPr>
          <p:spPr bwMode="auto">
            <a:xfrm>
              <a:off x="1695" y="1394"/>
              <a:ext cx="33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17" name="Rectangle 121"/>
            <p:cNvSpPr>
              <a:spLocks noChangeArrowheads="1"/>
            </p:cNvSpPr>
            <p:nvPr/>
          </p:nvSpPr>
          <p:spPr bwMode="auto">
            <a:xfrm>
              <a:off x="1388" y="1394"/>
              <a:ext cx="30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18" name="Rectangle 122"/>
            <p:cNvSpPr>
              <a:spLocks noChangeArrowheads="1"/>
            </p:cNvSpPr>
            <p:nvPr/>
          </p:nvSpPr>
          <p:spPr bwMode="auto">
            <a:xfrm>
              <a:off x="672" y="1394"/>
              <a:ext cx="36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19" name="Rectangle 123"/>
            <p:cNvSpPr>
              <a:spLocks noChangeArrowheads="1"/>
            </p:cNvSpPr>
            <p:nvPr/>
          </p:nvSpPr>
          <p:spPr bwMode="auto">
            <a:xfrm>
              <a:off x="4200" y="1183"/>
              <a:ext cx="37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20" name="Rectangle 124"/>
            <p:cNvSpPr>
              <a:spLocks noChangeArrowheads="1"/>
            </p:cNvSpPr>
            <p:nvPr/>
          </p:nvSpPr>
          <p:spPr bwMode="auto">
            <a:xfrm>
              <a:off x="3874" y="1183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21" name="Rectangle 125"/>
            <p:cNvSpPr>
              <a:spLocks noChangeArrowheads="1"/>
            </p:cNvSpPr>
            <p:nvPr/>
          </p:nvSpPr>
          <p:spPr bwMode="auto">
            <a:xfrm>
              <a:off x="3547" y="1183"/>
              <a:ext cx="32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22" name="Rectangle 126"/>
            <p:cNvSpPr>
              <a:spLocks noChangeArrowheads="1"/>
            </p:cNvSpPr>
            <p:nvPr/>
          </p:nvSpPr>
          <p:spPr bwMode="auto">
            <a:xfrm>
              <a:off x="2923" y="1183"/>
              <a:ext cx="29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23" name="Rectangle 127"/>
            <p:cNvSpPr>
              <a:spLocks noChangeArrowheads="1"/>
            </p:cNvSpPr>
            <p:nvPr/>
          </p:nvSpPr>
          <p:spPr bwMode="auto">
            <a:xfrm>
              <a:off x="2623" y="1183"/>
              <a:ext cx="30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24" name="Rectangle 128"/>
            <p:cNvSpPr>
              <a:spLocks noChangeArrowheads="1"/>
            </p:cNvSpPr>
            <p:nvPr/>
          </p:nvSpPr>
          <p:spPr bwMode="auto">
            <a:xfrm>
              <a:off x="2314" y="1183"/>
              <a:ext cx="309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25" name="Rectangle 129"/>
            <p:cNvSpPr>
              <a:spLocks noChangeArrowheads="1"/>
            </p:cNvSpPr>
            <p:nvPr/>
          </p:nvSpPr>
          <p:spPr bwMode="auto">
            <a:xfrm>
              <a:off x="2033" y="1183"/>
              <a:ext cx="281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26" name="Rectangle 130"/>
            <p:cNvSpPr>
              <a:spLocks noChangeArrowheads="1"/>
            </p:cNvSpPr>
            <p:nvPr/>
          </p:nvSpPr>
          <p:spPr bwMode="auto">
            <a:xfrm>
              <a:off x="1695" y="1183"/>
              <a:ext cx="33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27" name="Rectangle 131"/>
            <p:cNvSpPr>
              <a:spLocks noChangeArrowheads="1"/>
            </p:cNvSpPr>
            <p:nvPr/>
          </p:nvSpPr>
          <p:spPr bwMode="auto">
            <a:xfrm>
              <a:off x="1388" y="1183"/>
              <a:ext cx="30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28" name="Rectangle 132"/>
            <p:cNvSpPr>
              <a:spLocks noChangeArrowheads="1"/>
            </p:cNvSpPr>
            <p:nvPr/>
          </p:nvSpPr>
          <p:spPr bwMode="auto">
            <a:xfrm>
              <a:off x="672" y="1183"/>
              <a:ext cx="36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29" name="Rectangle 133"/>
            <p:cNvSpPr>
              <a:spLocks noChangeArrowheads="1"/>
            </p:cNvSpPr>
            <p:nvPr/>
          </p:nvSpPr>
          <p:spPr bwMode="auto">
            <a:xfrm>
              <a:off x="4200" y="972"/>
              <a:ext cx="37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30" name="Rectangle 134"/>
            <p:cNvSpPr>
              <a:spLocks noChangeArrowheads="1"/>
            </p:cNvSpPr>
            <p:nvPr/>
          </p:nvSpPr>
          <p:spPr bwMode="auto">
            <a:xfrm>
              <a:off x="3874" y="972"/>
              <a:ext cx="326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31" name="Rectangle 135"/>
            <p:cNvSpPr>
              <a:spLocks noChangeArrowheads="1"/>
            </p:cNvSpPr>
            <p:nvPr/>
          </p:nvSpPr>
          <p:spPr bwMode="auto">
            <a:xfrm>
              <a:off x="3547" y="972"/>
              <a:ext cx="32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32" name="Rectangle 136"/>
            <p:cNvSpPr>
              <a:spLocks noChangeArrowheads="1"/>
            </p:cNvSpPr>
            <p:nvPr/>
          </p:nvSpPr>
          <p:spPr bwMode="auto">
            <a:xfrm>
              <a:off x="2923" y="972"/>
              <a:ext cx="29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33" name="Rectangle 137"/>
            <p:cNvSpPr>
              <a:spLocks noChangeArrowheads="1"/>
            </p:cNvSpPr>
            <p:nvPr/>
          </p:nvSpPr>
          <p:spPr bwMode="auto">
            <a:xfrm>
              <a:off x="2623" y="972"/>
              <a:ext cx="300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34" name="Rectangle 138"/>
            <p:cNvSpPr>
              <a:spLocks noChangeArrowheads="1"/>
            </p:cNvSpPr>
            <p:nvPr/>
          </p:nvSpPr>
          <p:spPr bwMode="auto">
            <a:xfrm>
              <a:off x="2314" y="972"/>
              <a:ext cx="309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35" name="Rectangle 139"/>
            <p:cNvSpPr>
              <a:spLocks noChangeArrowheads="1"/>
            </p:cNvSpPr>
            <p:nvPr/>
          </p:nvSpPr>
          <p:spPr bwMode="auto">
            <a:xfrm>
              <a:off x="2033" y="972"/>
              <a:ext cx="281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36" name="Rectangle 140"/>
            <p:cNvSpPr>
              <a:spLocks noChangeArrowheads="1"/>
            </p:cNvSpPr>
            <p:nvPr/>
          </p:nvSpPr>
          <p:spPr bwMode="auto">
            <a:xfrm>
              <a:off x="1695" y="972"/>
              <a:ext cx="338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37" name="Rectangle 141"/>
            <p:cNvSpPr>
              <a:spLocks noChangeArrowheads="1"/>
            </p:cNvSpPr>
            <p:nvPr/>
          </p:nvSpPr>
          <p:spPr bwMode="auto">
            <a:xfrm>
              <a:off x="1388" y="972"/>
              <a:ext cx="307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38" name="Rectangle 142"/>
            <p:cNvSpPr>
              <a:spLocks noChangeArrowheads="1"/>
            </p:cNvSpPr>
            <p:nvPr/>
          </p:nvSpPr>
          <p:spPr bwMode="auto">
            <a:xfrm>
              <a:off x="672" y="972"/>
              <a:ext cx="363" cy="2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39" name="Rectangle 143"/>
            <p:cNvSpPr>
              <a:spLocks noChangeArrowheads="1"/>
            </p:cNvSpPr>
            <p:nvPr/>
          </p:nvSpPr>
          <p:spPr bwMode="auto">
            <a:xfrm>
              <a:off x="4200" y="762"/>
              <a:ext cx="370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40" name="Rectangle 144"/>
            <p:cNvSpPr>
              <a:spLocks noChangeArrowheads="1"/>
            </p:cNvSpPr>
            <p:nvPr/>
          </p:nvSpPr>
          <p:spPr bwMode="auto">
            <a:xfrm>
              <a:off x="3874" y="762"/>
              <a:ext cx="326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41" name="Rectangle 145"/>
            <p:cNvSpPr>
              <a:spLocks noChangeArrowheads="1"/>
            </p:cNvSpPr>
            <p:nvPr/>
          </p:nvSpPr>
          <p:spPr bwMode="auto">
            <a:xfrm>
              <a:off x="3547" y="762"/>
              <a:ext cx="327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42" name="Rectangle 146"/>
            <p:cNvSpPr>
              <a:spLocks noChangeArrowheads="1"/>
            </p:cNvSpPr>
            <p:nvPr/>
          </p:nvSpPr>
          <p:spPr bwMode="auto">
            <a:xfrm>
              <a:off x="2923" y="762"/>
              <a:ext cx="298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43" name="Rectangle 147"/>
            <p:cNvSpPr>
              <a:spLocks noChangeArrowheads="1"/>
            </p:cNvSpPr>
            <p:nvPr/>
          </p:nvSpPr>
          <p:spPr bwMode="auto">
            <a:xfrm>
              <a:off x="2623" y="762"/>
              <a:ext cx="300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44" name="Rectangle 148"/>
            <p:cNvSpPr>
              <a:spLocks noChangeArrowheads="1"/>
            </p:cNvSpPr>
            <p:nvPr/>
          </p:nvSpPr>
          <p:spPr bwMode="auto">
            <a:xfrm>
              <a:off x="2314" y="762"/>
              <a:ext cx="309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45" name="Rectangle 149"/>
            <p:cNvSpPr>
              <a:spLocks noChangeArrowheads="1"/>
            </p:cNvSpPr>
            <p:nvPr/>
          </p:nvSpPr>
          <p:spPr bwMode="auto">
            <a:xfrm>
              <a:off x="2033" y="762"/>
              <a:ext cx="281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46" name="Rectangle 150"/>
            <p:cNvSpPr>
              <a:spLocks noChangeArrowheads="1"/>
            </p:cNvSpPr>
            <p:nvPr/>
          </p:nvSpPr>
          <p:spPr bwMode="auto">
            <a:xfrm>
              <a:off x="1695" y="762"/>
              <a:ext cx="338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47" name="Rectangle 151"/>
            <p:cNvSpPr>
              <a:spLocks noChangeArrowheads="1"/>
            </p:cNvSpPr>
            <p:nvPr/>
          </p:nvSpPr>
          <p:spPr bwMode="auto">
            <a:xfrm>
              <a:off x="1388" y="762"/>
              <a:ext cx="307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48" name="Rectangle 152"/>
            <p:cNvSpPr>
              <a:spLocks noChangeArrowheads="1"/>
            </p:cNvSpPr>
            <p:nvPr/>
          </p:nvSpPr>
          <p:spPr bwMode="auto">
            <a:xfrm>
              <a:off x="672" y="762"/>
              <a:ext cx="363" cy="2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49" name="Rectangle 153"/>
            <p:cNvSpPr>
              <a:spLocks noChangeArrowheads="1"/>
            </p:cNvSpPr>
            <p:nvPr/>
          </p:nvSpPr>
          <p:spPr bwMode="auto">
            <a:xfrm>
              <a:off x="4200" y="528"/>
              <a:ext cx="370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1200" cap="none" spc="0" normalizeH="0" baseline="-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000" b="1" i="0" u="none" strike="noStrike" kern="1200" cap="none" spc="0" normalizeH="0" baseline="-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44250" name="Rectangle 154"/>
            <p:cNvSpPr>
              <a:spLocks noChangeArrowheads="1"/>
            </p:cNvSpPr>
            <p:nvPr/>
          </p:nvSpPr>
          <p:spPr bwMode="auto">
            <a:xfrm>
              <a:off x="3874" y="528"/>
              <a:ext cx="326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1200" cap="none" spc="0" normalizeH="0" baseline="-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000" b="1" i="0" u="none" strike="noStrike" kern="1200" cap="none" spc="0" normalizeH="0" baseline="-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44251" name="Rectangle 155"/>
            <p:cNvSpPr>
              <a:spLocks noChangeArrowheads="1"/>
            </p:cNvSpPr>
            <p:nvPr/>
          </p:nvSpPr>
          <p:spPr bwMode="auto">
            <a:xfrm>
              <a:off x="3547" y="528"/>
              <a:ext cx="327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1200" cap="none" spc="0" normalizeH="0" baseline="-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44252" name="Rectangle 156"/>
            <p:cNvSpPr>
              <a:spLocks noChangeArrowheads="1"/>
            </p:cNvSpPr>
            <p:nvPr/>
          </p:nvSpPr>
          <p:spPr bwMode="auto">
            <a:xfrm>
              <a:off x="2923" y="528"/>
              <a:ext cx="298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53" name="Rectangle 157"/>
            <p:cNvSpPr>
              <a:spLocks noChangeArrowheads="1"/>
            </p:cNvSpPr>
            <p:nvPr/>
          </p:nvSpPr>
          <p:spPr bwMode="auto">
            <a:xfrm>
              <a:off x="2623" y="528"/>
              <a:ext cx="300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54" name="Rectangle 158"/>
            <p:cNvSpPr>
              <a:spLocks noChangeArrowheads="1"/>
            </p:cNvSpPr>
            <p:nvPr/>
          </p:nvSpPr>
          <p:spPr bwMode="auto">
            <a:xfrm>
              <a:off x="2314" y="528"/>
              <a:ext cx="309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55" name="Rectangle 159"/>
            <p:cNvSpPr>
              <a:spLocks noChangeArrowheads="1"/>
            </p:cNvSpPr>
            <p:nvPr/>
          </p:nvSpPr>
          <p:spPr bwMode="auto">
            <a:xfrm>
              <a:off x="2033" y="528"/>
              <a:ext cx="281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56" name="Rectangle 160"/>
            <p:cNvSpPr>
              <a:spLocks noChangeArrowheads="1"/>
            </p:cNvSpPr>
            <p:nvPr/>
          </p:nvSpPr>
          <p:spPr bwMode="auto">
            <a:xfrm>
              <a:off x="1695" y="528"/>
              <a:ext cx="338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57" name="Rectangle 161"/>
            <p:cNvSpPr>
              <a:spLocks noChangeArrowheads="1"/>
            </p:cNvSpPr>
            <p:nvPr/>
          </p:nvSpPr>
          <p:spPr bwMode="auto">
            <a:xfrm>
              <a:off x="1388" y="528"/>
              <a:ext cx="307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4258" name="Rectangle 162"/>
            <p:cNvSpPr>
              <a:spLocks noChangeArrowheads="1"/>
            </p:cNvSpPr>
            <p:nvPr/>
          </p:nvSpPr>
          <p:spPr bwMode="auto">
            <a:xfrm>
              <a:off x="672" y="528"/>
              <a:ext cx="363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693" name="Line 163"/>
            <p:cNvSpPr/>
            <p:nvPr/>
          </p:nvSpPr>
          <p:spPr>
            <a:xfrm>
              <a:off x="672" y="528"/>
              <a:ext cx="4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94" name="Line 164"/>
            <p:cNvSpPr/>
            <p:nvPr/>
          </p:nvSpPr>
          <p:spPr>
            <a:xfrm>
              <a:off x="672" y="762"/>
              <a:ext cx="4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95" name="Line 165"/>
            <p:cNvSpPr/>
            <p:nvPr/>
          </p:nvSpPr>
          <p:spPr>
            <a:xfrm>
              <a:off x="672" y="972"/>
              <a:ext cx="4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96" name="Line 166"/>
            <p:cNvSpPr/>
            <p:nvPr/>
          </p:nvSpPr>
          <p:spPr>
            <a:xfrm>
              <a:off x="672" y="1183"/>
              <a:ext cx="4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97" name="Line 167"/>
            <p:cNvSpPr/>
            <p:nvPr/>
          </p:nvSpPr>
          <p:spPr>
            <a:xfrm>
              <a:off x="672" y="1394"/>
              <a:ext cx="4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98" name="Line 168"/>
            <p:cNvSpPr/>
            <p:nvPr/>
          </p:nvSpPr>
          <p:spPr>
            <a:xfrm>
              <a:off x="672" y="1605"/>
              <a:ext cx="4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699" name="Line 169"/>
            <p:cNvSpPr/>
            <p:nvPr/>
          </p:nvSpPr>
          <p:spPr>
            <a:xfrm>
              <a:off x="672" y="1815"/>
              <a:ext cx="4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00" name="Line 170"/>
            <p:cNvSpPr/>
            <p:nvPr/>
          </p:nvSpPr>
          <p:spPr>
            <a:xfrm>
              <a:off x="672" y="2026"/>
              <a:ext cx="4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01" name="Line 171"/>
            <p:cNvSpPr/>
            <p:nvPr/>
          </p:nvSpPr>
          <p:spPr>
            <a:xfrm>
              <a:off x="672" y="2237"/>
              <a:ext cx="4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02" name="Line 172"/>
            <p:cNvSpPr/>
            <p:nvPr/>
          </p:nvSpPr>
          <p:spPr>
            <a:xfrm>
              <a:off x="672" y="2448"/>
              <a:ext cx="4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03" name="Line 173"/>
            <p:cNvSpPr/>
            <p:nvPr/>
          </p:nvSpPr>
          <p:spPr>
            <a:xfrm>
              <a:off x="672" y="2869"/>
              <a:ext cx="4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04" name="Line 174"/>
            <p:cNvSpPr/>
            <p:nvPr/>
          </p:nvSpPr>
          <p:spPr>
            <a:xfrm>
              <a:off x="672" y="528"/>
              <a:ext cx="0" cy="234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05" name="Line 175"/>
            <p:cNvSpPr/>
            <p:nvPr/>
          </p:nvSpPr>
          <p:spPr>
            <a:xfrm>
              <a:off x="1388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06" name="Line 176"/>
            <p:cNvSpPr/>
            <p:nvPr/>
          </p:nvSpPr>
          <p:spPr>
            <a:xfrm>
              <a:off x="1695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07" name="Line 177"/>
            <p:cNvSpPr/>
            <p:nvPr/>
          </p:nvSpPr>
          <p:spPr>
            <a:xfrm>
              <a:off x="2033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08" name="Line 178"/>
            <p:cNvSpPr/>
            <p:nvPr/>
          </p:nvSpPr>
          <p:spPr>
            <a:xfrm>
              <a:off x="2314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09" name="Line 179"/>
            <p:cNvSpPr/>
            <p:nvPr/>
          </p:nvSpPr>
          <p:spPr>
            <a:xfrm>
              <a:off x="2623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10" name="Line 180"/>
            <p:cNvSpPr/>
            <p:nvPr/>
          </p:nvSpPr>
          <p:spPr>
            <a:xfrm>
              <a:off x="2923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11" name="Line 181"/>
            <p:cNvSpPr/>
            <p:nvPr/>
          </p:nvSpPr>
          <p:spPr>
            <a:xfrm>
              <a:off x="3547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12" name="Line 182"/>
            <p:cNvSpPr/>
            <p:nvPr/>
          </p:nvSpPr>
          <p:spPr>
            <a:xfrm>
              <a:off x="3874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13" name="Line 183"/>
            <p:cNvSpPr/>
            <p:nvPr/>
          </p:nvSpPr>
          <p:spPr>
            <a:xfrm>
              <a:off x="4200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14" name="Line 184"/>
            <p:cNvSpPr/>
            <p:nvPr/>
          </p:nvSpPr>
          <p:spPr>
            <a:xfrm>
              <a:off x="5344" y="528"/>
              <a:ext cx="0" cy="234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15" name="Line 185"/>
            <p:cNvSpPr/>
            <p:nvPr/>
          </p:nvSpPr>
          <p:spPr>
            <a:xfrm>
              <a:off x="3221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16" name="Line 186"/>
            <p:cNvSpPr/>
            <p:nvPr/>
          </p:nvSpPr>
          <p:spPr>
            <a:xfrm>
              <a:off x="4570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17" name="Line 187"/>
            <p:cNvSpPr/>
            <p:nvPr/>
          </p:nvSpPr>
          <p:spPr>
            <a:xfrm>
              <a:off x="672" y="2658"/>
              <a:ext cx="4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18" name="Line 188"/>
            <p:cNvSpPr/>
            <p:nvPr/>
          </p:nvSpPr>
          <p:spPr>
            <a:xfrm>
              <a:off x="1035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719" name="Line 189"/>
            <p:cNvSpPr/>
            <p:nvPr/>
          </p:nvSpPr>
          <p:spPr>
            <a:xfrm>
              <a:off x="4982" y="528"/>
              <a:ext cx="0" cy="23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2720" name="Group 196"/>
            <p:cNvGrpSpPr/>
            <p:nvPr/>
          </p:nvGrpSpPr>
          <p:grpSpPr>
            <a:xfrm>
              <a:off x="1056" y="528"/>
              <a:ext cx="3504" cy="1909"/>
              <a:chOff x="912" y="240"/>
              <a:chExt cx="3504" cy="2112"/>
            </a:xfrm>
          </p:grpSpPr>
          <p:grpSp>
            <p:nvGrpSpPr>
              <p:cNvPr id="22721" name="Group 197"/>
              <p:cNvGrpSpPr/>
              <p:nvPr/>
            </p:nvGrpSpPr>
            <p:grpSpPr>
              <a:xfrm>
                <a:off x="912" y="240"/>
                <a:ext cx="3504" cy="2112"/>
                <a:chOff x="864" y="240"/>
                <a:chExt cx="3552" cy="2112"/>
              </a:xfrm>
            </p:grpSpPr>
            <p:sp>
              <p:nvSpPr>
                <p:cNvPr id="22723" name="Line 198"/>
                <p:cNvSpPr/>
                <p:nvPr/>
              </p:nvSpPr>
              <p:spPr>
                <a:xfrm>
                  <a:off x="864" y="240"/>
                  <a:ext cx="0" cy="2112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724" name="Line 199"/>
                <p:cNvSpPr/>
                <p:nvPr/>
              </p:nvSpPr>
              <p:spPr>
                <a:xfrm>
                  <a:off x="864" y="2352"/>
                  <a:ext cx="3552" cy="0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725" name="Line 200"/>
                <p:cNvSpPr/>
                <p:nvPr/>
              </p:nvSpPr>
              <p:spPr>
                <a:xfrm flipV="1">
                  <a:off x="4416" y="240"/>
                  <a:ext cx="0" cy="2112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726" name="Line 201"/>
                <p:cNvSpPr/>
                <p:nvPr/>
              </p:nvSpPr>
              <p:spPr>
                <a:xfrm>
                  <a:off x="864" y="240"/>
                  <a:ext cx="3552" cy="0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2722" name="Line 202"/>
              <p:cNvSpPr/>
              <p:nvPr/>
            </p:nvSpPr>
            <p:spPr>
              <a:xfrm flipH="1">
                <a:off x="3408" y="240"/>
                <a:ext cx="0" cy="2112"/>
              </a:xfrm>
              <a:prstGeom prst="line">
                <a:avLst/>
              </a:prstGeom>
              <a:ln w="38100" cap="flat" cmpd="sng">
                <a:solidFill>
                  <a:srgbClr val="FF66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2534" name="组合 1"/>
          <p:cNvGrpSpPr/>
          <p:nvPr/>
        </p:nvGrpSpPr>
        <p:grpSpPr>
          <a:xfrm>
            <a:off x="827088" y="4951413"/>
            <a:ext cx="8096250" cy="492125"/>
            <a:chOff x="829022" y="5257947"/>
            <a:chExt cx="8095555" cy="492007"/>
          </a:xfrm>
        </p:grpSpPr>
        <p:sp>
          <p:nvSpPr>
            <p:cNvPr id="80073" name="Rectangle 193"/>
            <p:cNvSpPr>
              <a:spLocks noChangeArrowheads="1"/>
            </p:cNvSpPr>
            <p:nvPr/>
          </p:nvSpPr>
          <p:spPr bwMode="auto">
            <a:xfrm>
              <a:off x="829022" y="5350000"/>
              <a:ext cx="8095555" cy="39995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A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,A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1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,A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用反码编码，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Gs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为编码输出，  为使能输入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,  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Eo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为输出指示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)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39" name="文本框 203"/>
            <p:cNvSpPr txBox="1"/>
            <p:nvPr/>
          </p:nvSpPr>
          <p:spPr>
            <a:xfrm>
              <a:off x="5072837" y="5257947"/>
              <a:ext cx="558025" cy="4920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dirty="0"/>
                <a:t>—E</a:t>
              </a:r>
              <a:r>
                <a:rPr lang="en-US" altLang="zh-CN" sz="2000" b="1" baseline="-25000" dirty="0"/>
                <a:t>i</a:t>
              </a:r>
              <a:endParaRPr lang="en-US" altLang="zh-CN" sz="2000" b="1" baseline="-25000" dirty="0"/>
            </a:p>
          </p:txBody>
        </p:sp>
      </p:grpSp>
      <p:sp>
        <p:nvSpPr>
          <p:cNvPr id="198" name="矩形 197"/>
          <p:cNvSpPr/>
          <p:nvPr/>
        </p:nvSpPr>
        <p:spPr>
          <a:xfrm>
            <a:off x="766763" y="5543550"/>
            <a:ext cx="7691438" cy="4302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输出编码为反码，即用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000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”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表示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7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，用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111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”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表示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6" name="文本框 198"/>
          <p:cNvSpPr txBox="1"/>
          <p:nvPr/>
        </p:nvSpPr>
        <p:spPr>
          <a:xfrm>
            <a:off x="1141413" y="758825"/>
            <a:ext cx="557212" cy="477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—  </a:t>
            </a:r>
            <a:endParaRPr lang="en-US" altLang="zh-CN" sz="20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 E</a:t>
            </a:r>
            <a:r>
              <a:rPr lang="en-US" altLang="zh-CN" sz="2000" b="1" baseline="-25000" dirty="0"/>
              <a:t>i</a:t>
            </a:r>
            <a:endParaRPr lang="zh-CN" altLang="en-US" sz="2000" b="1" dirty="0"/>
          </a:p>
        </p:txBody>
      </p:sp>
      <p:sp>
        <p:nvSpPr>
          <p:cNvPr id="22537" name="文本框 199"/>
          <p:cNvSpPr txBox="1"/>
          <p:nvPr/>
        </p:nvSpPr>
        <p:spPr>
          <a:xfrm>
            <a:off x="7920038" y="769938"/>
            <a:ext cx="558800" cy="477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—  </a:t>
            </a:r>
            <a:endParaRPr lang="en-US" altLang="zh-CN" sz="20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 E</a:t>
            </a:r>
            <a:r>
              <a:rPr lang="en-US" altLang="zh-CN" sz="2000" b="1" baseline="-25000" dirty="0"/>
              <a:t>O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60834" name="Rectangle 1026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3.3.2  </a:t>
            </a: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编码器（</a:t>
            </a: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15</a:t>
            </a: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556" name="Rectangle 1030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algn="ctr" eaLnBrk="1" hangingPunct="1">
              <a:spcBef>
                <a:spcPct val="0"/>
              </a:spcBef>
              <a:buFont typeface="Wingdings 2" panose="05020102010507070707" pitchFamily="18" charset="2"/>
              <a:buChar char="Ä"/>
            </a:pPr>
            <a:r>
              <a:rPr lang="zh-CN" altLang="en-US" dirty="0"/>
              <a:t>将</a:t>
            </a:r>
            <a:r>
              <a:rPr lang="en-US" altLang="zh-CN" dirty="0"/>
              <a:t>8-3</a:t>
            </a:r>
            <a:r>
              <a:rPr lang="zh-CN" altLang="en-US" dirty="0"/>
              <a:t>优先编码器扩展为</a:t>
            </a:r>
            <a:r>
              <a:rPr lang="en-US" altLang="zh-CN" dirty="0"/>
              <a:t>16-4</a:t>
            </a:r>
            <a:r>
              <a:rPr lang="zh-CN" altLang="en-US" dirty="0"/>
              <a:t>优先编码器</a:t>
            </a:r>
            <a:endParaRPr lang="zh-CN" altLang="en-US" dirty="0"/>
          </a:p>
        </p:txBody>
      </p:sp>
      <p:grpSp>
        <p:nvGrpSpPr>
          <p:cNvPr id="2" name="Group 1123"/>
          <p:cNvGrpSpPr/>
          <p:nvPr/>
        </p:nvGrpSpPr>
        <p:grpSpPr>
          <a:xfrm>
            <a:off x="1371600" y="3200400"/>
            <a:ext cx="3660775" cy="3581400"/>
            <a:chOff x="384" y="1632"/>
            <a:chExt cx="2306" cy="2256"/>
          </a:xfrm>
        </p:grpSpPr>
        <p:grpSp>
          <p:nvGrpSpPr>
            <p:cNvPr id="23623" name="Group 1031"/>
            <p:cNvGrpSpPr/>
            <p:nvPr/>
          </p:nvGrpSpPr>
          <p:grpSpPr>
            <a:xfrm>
              <a:off x="1056" y="2256"/>
              <a:ext cx="1056" cy="1632"/>
              <a:chOff x="960" y="2448"/>
              <a:chExt cx="1056" cy="1632"/>
            </a:xfrm>
          </p:grpSpPr>
          <p:sp>
            <p:nvSpPr>
              <p:cNvPr id="23642" name="Rectangle 1032"/>
              <p:cNvSpPr/>
              <p:nvPr/>
            </p:nvSpPr>
            <p:spPr>
              <a:xfrm>
                <a:off x="960" y="2448"/>
                <a:ext cx="1056" cy="1632"/>
              </a:xfrm>
              <a:prstGeom prst="rect">
                <a:avLst/>
              </a:prstGeom>
              <a:solidFill>
                <a:srgbClr val="333333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 b="1" dirty="0"/>
              </a:p>
            </p:txBody>
          </p:sp>
          <p:sp>
            <p:nvSpPr>
              <p:cNvPr id="23643" name="Rectangle 1033"/>
              <p:cNvSpPr/>
              <p:nvPr/>
            </p:nvSpPr>
            <p:spPr>
              <a:xfrm>
                <a:off x="1104" y="2544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2600" b="1" dirty="0"/>
              </a:p>
            </p:txBody>
          </p:sp>
          <p:sp>
            <p:nvSpPr>
              <p:cNvPr id="23644" name="Rectangle 1040"/>
              <p:cNvSpPr/>
              <p:nvPr/>
            </p:nvSpPr>
            <p:spPr>
              <a:xfrm>
                <a:off x="1632" y="3696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26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45" name="Text Box 1041"/>
              <p:cNvSpPr txBox="1"/>
              <p:nvPr/>
            </p:nvSpPr>
            <p:spPr>
              <a:xfrm>
                <a:off x="1143" y="2537"/>
                <a:ext cx="192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</a:rPr>
                  <a:t>8</a:t>
                </a:r>
                <a:endParaRPr lang="en-US" altLang="zh-CN" sz="24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46" name="Text Box 1042"/>
              <p:cNvSpPr txBox="1"/>
              <p:nvPr/>
            </p:nvSpPr>
            <p:spPr>
              <a:xfrm>
                <a:off x="1680" y="2544"/>
                <a:ext cx="192" cy="231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</a:rPr>
                  <a:t>9</a:t>
                </a:r>
                <a:endParaRPr lang="en-US" altLang="zh-CN" sz="24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47" name="Text Box 1043"/>
              <p:cNvSpPr txBox="1"/>
              <p:nvPr/>
            </p:nvSpPr>
            <p:spPr>
              <a:xfrm>
                <a:off x="1152" y="2937"/>
                <a:ext cx="192" cy="231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</a:rPr>
                  <a:t>A</a:t>
                </a:r>
                <a:endParaRPr lang="en-US" altLang="zh-CN" sz="24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48" name="Text Box 1044"/>
              <p:cNvSpPr txBox="1"/>
              <p:nvPr/>
            </p:nvSpPr>
            <p:spPr>
              <a:xfrm>
                <a:off x="1680" y="2937"/>
                <a:ext cx="192" cy="231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</a:rPr>
                  <a:t>B</a:t>
                </a:r>
                <a:endParaRPr lang="en-US" altLang="zh-CN" sz="24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49" name="Text Box 1045"/>
              <p:cNvSpPr txBox="1"/>
              <p:nvPr/>
            </p:nvSpPr>
            <p:spPr>
              <a:xfrm>
                <a:off x="1152" y="3312"/>
                <a:ext cx="192" cy="231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</a:rPr>
                  <a:t>C</a:t>
                </a:r>
                <a:endParaRPr lang="en-US" altLang="zh-CN" sz="24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50" name="Text Box 1046"/>
              <p:cNvSpPr txBox="1"/>
              <p:nvPr/>
            </p:nvSpPr>
            <p:spPr>
              <a:xfrm>
                <a:off x="1666" y="3295"/>
                <a:ext cx="192" cy="248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</a:rPr>
                  <a:t>D</a:t>
                </a:r>
                <a:endParaRPr lang="en-US" altLang="zh-CN" sz="24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51" name="Text Box 1047"/>
              <p:cNvSpPr txBox="1"/>
              <p:nvPr/>
            </p:nvSpPr>
            <p:spPr>
              <a:xfrm>
                <a:off x="1152" y="3705"/>
                <a:ext cx="192" cy="231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</a:rPr>
                  <a:t>E</a:t>
                </a:r>
                <a:endParaRPr lang="en-US" altLang="zh-CN" sz="24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52" name="Text Box 1048"/>
              <p:cNvSpPr txBox="1"/>
              <p:nvPr/>
            </p:nvSpPr>
            <p:spPr>
              <a:xfrm>
                <a:off x="1632" y="3675"/>
                <a:ext cx="192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</a:rPr>
                  <a:t>F</a:t>
                </a:r>
                <a:endParaRPr lang="en-US" altLang="zh-CN" sz="2400" b="1" dirty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23624" name="Group 1049"/>
            <p:cNvGrpSpPr/>
            <p:nvPr/>
          </p:nvGrpSpPr>
          <p:grpSpPr>
            <a:xfrm>
              <a:off x="1248" y="1632"/>
              <a:ext cx="720" cy="624"/>
              <a:chOff x="1152" y="1824"/>
              <a:chExt cx="720" cy="624"/>
            </a:xfrm>
          </p:grpSpPr>
          <p:sp>
            <p:nvSpPr>
              <p:cNvPr id="23636" name="Line 1050"/>
              <p:cNvSpPr/>
              <p:nvPr/>
            </p:nvSpPr>
            <p:spPr>
              <a:xfrm flipV="1">
                <a:off x="1344" y="21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37" name="Line 1051"/>
              <p:cNvSpPr/>
              <p:nvPr/>
            </p:nvSpPr>
            <p:spPr>
              <a:xfrm flipV="1">
                <a:off x="1488" y="21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38" name="Line 1052"/>
              <p:cNvSpPr/>
              <p:nvPr/>
            </p:nvSpPr>
            <p:spPr>
              <a:xfrm flipV="1">
                <a:off x="1632" y="21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39" name="Text Box 1053"/>
              <p:cNvSpPr txBox="1"/>
              <p:nvPr/>
            </p:nvSpPr>
            <p:spPr>
              <a:xfrm>
                <a:off x="1152" y="1824"/>
                <a:ext cx="33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 sz="2400" b="1" baseline="-25000" dirty="0"/>
              </a:p>
            </p:txBody>
          </p:sp>
          <p:sp>
            <p:nvSpPr>
              <p:cNvPr id="23640" name="Text Box 1054"/>
              <p:cNvSpPr txBox="1"/>
              <p:nvPr/>
            </p:nvSpPr>
            <p:spPr>
              <a:xfrm>
                <a:off x="1344" y="1824"/>
                <a:ext cx="33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 sz="2400" b="1" baseline="-25000" dirty="0"/>
              </a:p>
            </p:txBody>
          </p:sp>
          <p:sp>
            <p:nvSpPr>
              <p:cNvPr id="23641" name="Text Box 1055"/>
              <p:cNvSpPr txBox="1"/>
              <p:nvPr/>
            </p:nvSpPr>
            <p:spPr>
              <a:xfrm>
                <a:off x="1536" y="1824"/>
                <a:ext cx="33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 sz="2400" b="1" baseline="-25000" dirty="0"/>
              </a:p>
            </p:txBody>
          </p:sp>
        </p:grpSp>
        <p:grpSp>
          <p:nvGrpSpPr>
            <p:cNvPr id="23625" name="Group 1056"/>
            <p:cNvGrpSpPr/>
            <p:nvPr/>
          </p:nvGrpSpPr>
          <p:grpSpPr>
            <a:xfrm>
              <a:off x="384" y="2649"/>
              <a:ext cx="672" cy="231"/>
              <a:chOff x="288" y="2841"/>
              <a:chExt cx="672" cy="231"/>
            </a:xfrm>
          </p:grpSpPr>
          <p:sp>
            <p:nvSpPr>
              <p:cNvPr id="23632" name="Line 1057"/>
              <p:cNvSpPr/>
              <p:nvPr/>
            </p:nvSpPr>
            <p:spPr>
              <a:xfrm>
                <a:off x="720" y="2976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3633" name="Group 1058"/>
              <p:cNvGrpSpPr/>
              <p:nvPr/>
            </p:nvGrpSpPr>
            <p:grpSpPr>
              <a:xfrm>
                <a:off x="288" y="2841"/>
                <a:ext cx="576" cy="231"/>
                <a:chOff x="2832" y="2064"/>
                <a:chExt cx="576" cy="231"/>
              </a:xfrm>
            </p:grpSpPr>
            <p:sp>
              <p:nvSpPr>
                <p:cNvPr id="23634" name="Text Box 1059"/>
                <p:cNvSpPr txBox="1"/>
                <p:nvPr/>
              </p:nvSpPr>
              <p:spPr>
                <a:xfrm>
                  <a:off x="2832" y="2064"/>
                  <a:ext cx="576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b="1" dirty="0"/>
                    <a:t>Ei</a:t>
                  </a:r>
                  <a:endParaRPr lang="en-US" altLang="zh-CN" sz="1800" b="1" dirty="0"/>
                </a:p>
              </p:txBody>
            </p:sp>
            <p:sp>
              <p:nvSpPr>
                <p:cNvPr id="23635" name="Line 1060"/>
                <p:cNvSpPr/>
                <p:nvPr/>
              </p:nvSpPr>
              <p:spPr>
                <a:xfrm>
                  <a:off x="2976" y="2064"/>
                  <a:ext cx="24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3626" name="Group 1061"/>
            <p:cNvGrpSpPr/>
            <p:nvPr/>
          </p:nvGrpSpPr>
          <p:grpSpPr>
            <a:xfrm>
              <a:off x="2112" y="2544"/>
              <a:ext cx="578" cy="250"/>
              <a:chOff x="2016" y="2736"/>
              <a:chExt cx="578" cy="250"/>
            </a:xfrm>
          </p:grpSpPr>
          <p:sp>
            <p:nvSpPr>
              <p:cNvPr id="23630" name="Line 1062"/>
              <p:cNvSpPr/>
              <p:nvPr/>
            </p:nvSpPr>
            <p:spPr>
              <a:xfrm>
                <a:off x="2016" y="2832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60871" name="Rectangle 1063"/>
              <p:cNvSpPr>
                <a:spLocks noChangeArrowheads="1"/>
              </p:cNvSpPr>
              <p:nvPr/>
            </p:nvSpPr>
            <p:spPr bwMode="auto">
              <a:xfrm>
                <a:off x="2304" y="2736"/>
                <a:ext cx="290" cy="2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G</a:t>
                </a:r>
                <a:r>
                  <a:rPr kumimoji="1" lang="en-US" altLang="zh-CN" sz="2000" b="1" i="0" u="none" strike="noStrike" kern="1200" cap="none" spc="0" normalizeH="0" baseline="-30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S</a:t>
                </a:r>
                <a:endParaRPr kumimoji="1" lang="en-US" altLang="zh-CN" sz="2000" b="1" i="0" u="none" strike="noStrike" kern="1200" cap="none" spc="0" normalizeH="0" baseline="-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</p:grpSp>
        <p:grpSp>
          <p:nvGrpSpPr>
            <p:cNvPr id="23627" name="Group 1064"/>
            <p:cNvGrpSpPr/>
            <p:nvPr/>
          </p:nvGrpSpPr>
          <p:grpSpPr>
            <a:xfrm>
              <a:off x="2112" y="3120"/>
              <a:ext cx="548" cy="231"/>
              <a:chOff x="2016" y="3312"/>
              <a:chExt cx="548" cy="231"/>
            </a:xfrm>
          </p:grpSpPr>
          <p:sp>
            <p:nvSpPr>
              <p:cNvPr id="23628" name="Line 1065"/>
              <p:cNvSpPr/>
              <p:nvPr/>
            </p:nvSpPr>
            <p:spPr>
              <a:xfrm>
                <a:off x="2016" y="340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29" name="Rectangle 1066"/>
              <p:cNvSpPr/>
              <p:nvPr/>
            </p:nvSpPr>
            <p:spPr>
              <a:xfrm>
                <a:off x="2288" y="3312"/>
                <a:ext cx="27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 dirty="0"/>
                  <a:t>Eo</a:t>
                </a:r>
                <a:endParaRPr lang="en-US" altLang="zh-CN" sz="1800" b="1" dirty="0"/>
              </a:p>
            </p:txBody>
          </p:sp>
        </p:grpSp>
      </p:grpSp>
      <p:grpSp>
        <p:nvGrpSpPr>
          <p:cNvPr id="9" name="Group 1124"/>
          <p:cNvGrpSpPr/>
          <p:nvPr/>
        </p:nvGrpSpPr>
        <p:grpSpPr>
          <a:xfrm>
            <a:off x="5483225" y="3200400"/>
            <a:ext cx="3660775" cy="3581400"/>
            <a:chOff x="2830" y="1632"/>
            <a:chExt cx="2306" cy="2256"/>
          </a:xfrm>
        </p:grpSpPr>
        <p:grpSp>
          <p:nvGrpSpPr>
            <p:cNvPr id="23595" name="Group 1085"/>
            <p:cNvGrpSpPr/>
            <p:nvPr/>
          </p:nvGrpSpPr>
          <p:grpSpPr>
            <a:xfrm>
              <a:off x="3502" y="2256"/>
              <a:ext cx="1056" cy="1632"/>
              <a:chOff x="960" y="2448"/>
              <a:chExt cx="1056" cy="1632"/>
            </a:xfrm>
          </p:grpSpPr>
          <p:sp>
            <p:nvSpPr>
              <p:cNvPr id="23614" name="Rectangle 1086"/>
              <p:cNvSpPr/>
              <p:nvPr/>
            </p:nvSpPr>
            <p:spPr>
              <a:xfrm>
                <a:off x="960" y="2448"/>
                <a:ext cx="1056" cy="1632"/>
              </a:xfrm>
              <a:prstGeom prst="rect">
                <a:avLst/>
              </a:prstGeom>
              <a:solidFill>
                <a:srgbClr val="333333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 b="1" dirty="0"/>
              </a:p>
            </p:txBody>
          </p:sp>
          <p:sp>
            <p:nvSpPr>
              <p:cNvPr id="23615" name="Text Box 1095"/>
              <p:cNvSpPr txBox="1"/>
              <p:nvPr/>
            </p:nvSpPr>
            <p:spPr>
              <a:xfrm>
                <a:off x="1152" y="2544"/>
                <a:ext cx="192" cy="31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600" b="1" dirty="0">
                    <a:solidFill>
                      <a:srgbClr val="FFFF00"/>
                    </a:solidFill>
                  </a:rPr>
                  <a:t>0</a:t>
                </a:r>
                <a:endParaRPr lang="en-US" altLang="zh-CN" sz="26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16" name="Text Box 1096"/>
              <p:cNvSpPr txBox="1"/>
              <p:nvPr/>
            </p:nvSpPr>
            <p:spPr>
              <a:xfrm>
                <a:off x="1680" y="2544"/>
                <a:ext cx="192" cy="231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600" b="1" dirty="0">
                    <a:solidFill>
                      <a:srgbClr val="FFFF00"/>
                    </a:solidFill>
                  </a:rPr>
                  <a:t>1</a:t>
                </a:r>
                <a:endParaRPr lang="en-US" altLang="zh-CN" sz="26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17" name="Text Box 1097"/>
              <p:cNvSpPr txBox="1"/>
              <p:nvPr/>
            </p:nvSpPr>
            <p:spPr>
              <a:xfrm>
                <a:off x="1152" y="2937"/>
                <a:ext cx="192" cy="231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600" b="1" dirty="0">
                    <a:solidFill>
                      <a:srgbClr val="FFFF00"/>
                    </a:solidFill>
                  </a:rPr>
                  <a:t>2</a:t>
                </a:r>
                <a:endParaRPr lang="en-US" altLang="zh-CN" sz="26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18" name="Text Box 1098"/>
              <p:cNvSpPr txBox="1"/>
              <p:nvPr/>
            </p:nvSpPr>
            <p:spPr>
              <a:xfrm>
                <a:off x="1680" y="2937"/>
                <a:ext cx="192" cy="231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600" b="1" dirty="0">
                    <a:solidFill>
                      <a:srgbClr val="FFFF00"/>
                    </a:solidFill>
                  </a:rPr>
                  <a:t>3</a:t>
                </a:r>
                <a:endParaRPr lang="en-US" altLang="zh-CN" sz="26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19" name="Text Box 1099"/>
              <p:cNvSpPr txBox="1"/>
              <p:nvPr/>
            </p:nvSpPr>
            <p:spPr>
              <a:xfrm>
                <a:off x="1152" y="3312"/>
                <a:ext cx="192" cy="231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600" b="1" dirty="0">
                    <a:solidFill>
                      <a:srgbClr val="FFFF00"/>
                    </a:solidFill>
                  </a:rPr>
                  <a:t>4</a:t>
                </a:r>
                <a:endParaRPr lang="en-US" altLang="zh-CN" sz="26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20" name="Text Box 1100"/>
              <p:cNvSpPr txBox="1"/>
              <p:nvPr/>
            </p:nvSpPr>
            <p:spPr>
              <a:xfrm>
                <a:off x="1680" y="3321"/>
                <a:ext cx="192" cy="259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600" b="1" dirty="0">
                    <a:solidFill>
                      <a:srgbClr val="FFFF00"/>
                    </a:solidFill>
                  </a:rPr>
                  <a:t>5</a:t>
                </a:r>
                <a:endParaRPr lang="en-US" altLang="zh-CN" sz="26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21" name="Text Box 1101"/>
              <p:cNvSpPr txBox="1"/>
              <p:nvPr/>
            </p:nvSpPr>
            <p:spPr>
              <a:xfrm>
                <a:off x="1152" y="3705"/>
                <a:ext cx="192" cy="25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600" b="1" dirty="0">
                    <a:solidFill>
                      <a:srgbClr val="FFFF00"/>
                    </a:solidFill>
                  </a:rPr>
                  <a:t>6</a:t>
                </a:r>
                <a:endParaRPr lang="en-US" altLang="zh-CN" sz="26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3622" name="Text Box 1102"/>
              <p:cNvSpPr txBox="1"/>
              <p:nvPr/>
            </p:nvSpPr>
            <p:spPr>
              <a:xfrm>
                <a:off x="1680" y="3696"/>
                <a:ext cx="192" cy="271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B0F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600" b="1" dirty="0">
                    <a:solidFill>
                      <a:srgbClr val="FFFF00"/>
                    </a:solidFill>
                  </a:rPr>
                  <a:t>7</a:t>
                </a:r>
                <a:endParaRPr lang="en-US" altLang="zh-CN" sz="2600" b="1" dirty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23596" name="Group 1103"/>
            <p:cNvGrpSpPr/>
            <p:nvPr/>
          </p:nvGrpSpPr>
          <p:grpSpPr>
            <a:xfrm>
              <a:off x="3694" y="1632"/>
              <a:ext cx="720" cy="624"/>
              <a:chOff x="1152" y="1824"/>
              <a:chExt cx="720" cy="624"/>
            </a:xfrm>
          </p:grpSpPr>
          <p:sp>
            <p:nvSpPr>
              <p:cNvPr id="23608" name="Line 1104"/>
              <p:cNvSpPr/>
              <p:nvPr/>
            </p:nvSpPr>
            <p:spPr>
              <a:xfrm flipV="1">
                <a:off x="1344" y="21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09" name="Line 1105"/>
              <p:cNvSpPr/>
              <p:nvPr/>
            </p:nvSpPr>
            <p:spPr>
              <a:xfrm flipV="1">
                <a:off x="1488" y="21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10" name="Line 1106"/>
              <p:cNvSpPr/>
              <p:nvPr/>
            </p:nvSpPr>
            <p:spPr>
              <a:xfrm flipV="1">
                <a:off x="1632" y="21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11" name="Text Box 1107"/>
              <p:cNvSpPr txBox="1"/>
              <p:nvPr/>
            </p:nvSpPr>
            <p:spPr>
              <a:xfrm>
                <a:off x="1152" y="1824"/>
                <a:ext cx="33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 sz="2400" b="1" baseline="-25000" dirty="0"/>
              </a:p>
            </p:txBody>
          </p:sp>
          <p:sp>
            <p:nvSpPr>
              <p:cNvPr id="23612" name="Text Box 1108"/>
              <p:cNvSpPr txBox="1"/>
              <p:nvPr/>
            </p:nvSpPr>
            <p:spPr>
              <a:xfrm>
                <a:off x="1344" y="1824"/>
                <a:ext cx="33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 sz="2400" b="1" baseline="-25000" dirty="0"/>
              </a:p>
            </p:txBody>
          </p:sp>
          <p:sp>
            <p:nvSpPr>
              <p:cNvPr id="23613" name="Text Box 1109"/>
              <p:cNvSpPr txBox="1"/>
              <p:nvPr/>
            </p:nvSpPr>
            <p:spPr>
              <a:xfrm>
                <a:off x="1536" y="1824"/>
                <a:ext cx="33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 sz="2400" b="1" baseline="-25000" dirty="0"/>
              </a:p>
            </p:txBody>
          </p:sp>
        </p:grpSp>
        <p:grpSp>
          <p:nvGrpSpPr>
            <p:cNvPr id="23597" name="Group 1110"/>
            <p:cNvGrpSpPr/>
            <p:nvPr/>
          </p:nvGrpSpPr>
          <p:grpSpPr>
            <a:xfrm>
              <a:off x="2830" y="2649"/>
              <a:ext cx="672" cy="231"/>
              <a:chOff x="288" y="2841"/>
              <a:chExt cx="672" cy="231"/>
            </a:xfrm>
          </p:grpSpPr>
          <p:sp>
            <p:nvSpPr>
              <p:cNvPr id="23604" name="Line 1111"/>
              <p:cNvSpPr/>
              <p:nvPr/>
            </p:nvSpPr>
            <p:spPr>
              <a:xfrm>
                <a:off x="720" y="2976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3605" name="Group 1112"/>
              <p:cNvGrpSpPr/>
              <p:nvPr/>
            </p:nvGrpSpPr>
            <p:grpSpPr>
              <a:xfrm>
                <a:off x="288" y="2841"/>
                <a:ext cx="576" cy="231"/>
                <a:chOff x="2832" y="2064"/>
                <a:chExt cx="576" cy="231"/>
              </a:xfrm>
            </p:grpSpPr>
            <p:sp>
              <p:nvSpPr>
                <p:cNvPr id="23606" name="Text Box 1113"/>
                <p:cNvSpPr txBox="1"/>
                <p:nvPr/>
              </p:nvSpPr>
              <p:spPr>
                <a:xfrm>
                  <a:off x="2832" y="2064"/>
                  <a:ext cx="576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b="1" dirty="0"/>
                    <a:t>Ei</a:t>
                  </a:r>
                  <a:endParaRPr lang="en-US" altLang="zh-CN" sz="1800" b="1" dirty="0"/>
                </a:p>
              </p:txBody>
            </p:sp>
            <p:sp>
              <p:nvSpPr>
                <p:cNvPr id="23607" name="Line 1114"/>
                <p:cNvSpPr/>
                <p:nvPr/>
              </p:nvSpPr>
              <p:spPr>
                <a:xfrm>
                  <a:off x="2976" y="2064"/>
                  <a:ext cx="24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3598" name="Group 1115"/>
            <p:cNvGrpSpPr/>
            <p:nvPr/>
          </p:nvGrpSpPr>
          <p:grpSpPr>
            <a:xfrm>
              <a:off x="4558" y="2544"/>
              <a:ext cx="578" cy="250"/>
              <a:chOff x="2016" y="2736"/>
              <a:chExt cx="578" cy="250"/>
            </a:xfrm>
          </p:grpSpPr>
          <p:sp>
            <p:nvSpPr>
              <p:cNvPr id="23602" name="Line 1116"/>
              <p:cNvSpPr/>
              <p:nvPr/>
            </p:nvSpPr>
            <p:spPr>
              <a:xfrm>
                <a:off x="2016" y="2832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60925" name="Rectangle 1117"/>
              <p:cNvSpPr>
                <a:spLocks noChangeArrowheads="1"/>
              </p:cNvSpPr>
              <p:nvPr/>
            </p:nvSpPr>
            <p:spPr bwMode="auto">
              <a:xfrm>
                <a:off x="2304" y="2736"/>
                <a:ext cx="290" cy="2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G</a:t>
                </a:r>
                <a:r>
                  <a:rPr kumimoji="1" lang="en-US" altLang="zh-CN" sz="2000" b="1" i="0" u="none" strike="noStrike" kern="1200" cap="none" spc="0" normalizeH="0" baseline="-3000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S</a:t>
                </a:r>
                <a:endParaRPr kumimoji="1" lang="en-US" altLang="zh-CN" sz="2000" b="1" i="0" u="none" strike="noStrike" kern="1200" cap="none" spc="0" normalizeH="0" baseline="-30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</p:grpSp>
        <p:grpSp>
          <p:nvGrpSpPr>
            <p:cNvPr id="23599" name="Group 1118"/>
            <p:cNvGrpSpPr/>
            <p:nvPr/>
          </p:nvGrpSpPr>
          <p:grpSpPr>
            <a:xfrm>
              <a:off x="4558" y="3120"/>
              <a:ext cx="548" cy="231"/>
              <a:chOff x="2016" y="3312"/>
              <a:chExt cx="548" cy="231"/>
            </a:xfrm>
          </p:grpSpPr>
          <p:sp>
            <p:nvSpPr>
              <p:cNvPr id="23600" name="Line 1119"/>
              <p:cNvSpPr/>
              <p:nvPr/>
            </p:nvSpPr>
            <p:spPr>
              <a:xfrm>
                <a:off x="2016" y="340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01" name="Rectangle 1120"/>
              <p:cNvSpPr/>
              <p:nvPr/>
            </p:nvSpPr>
            <p:spPr>
              <a:xfrm>
                <a:off x="2288" y="3312"/>
                <a:ext cx="27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 dirty="0"/>
                  <a:t>Eo</a:t>
                </a:r>
                <a:endParaRPr lang="en-US" altLang="zh-CN" sz="1800" b="1" dirty="0"/>
              </a:p>
            </p:txBody>
          </p:sp>
        </p:grpSp>
      </p:grpSp>
      <p:grpSp>
        <p:nvGrpSpPr>
          <p:cNvPr id="16" name="Group 1164"/>
          <p:cNvGrpSpPr/>
          <p:nvPr/>
        </p:nvGrpSpPr>
        <p:grpSpPr>
          <a:xfrm>
            <a:off x="4572000" y="5029200"/>
            <a:ext cx="1600200" cy="685800"/>
            <a:chOff x="2496" y="3168"/>
            <a:chExt cx="1008" cy="432"/>
          </a:xfrm>
        </p:grpSpPr>
        <p:sp>
          <p:nvSpPr>
            <p:cNvPr id="23592" name="Line 1125"/>
            <p:cNvSpPr/>
            <p:nvPr/>
          </p:nvSpPr>
          <p:spPr>
            <a:xfrm flipV="1">
              <a:off x="2496" y="340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3" name="Line 1126"/>
            <p:cNvSpPr/>
            <p:nvPr/>
          </p:nvSpPr>
          <p:spPr>
            <a:xfrm>
              <a:off x="2496" y="3408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4" name="Line 1127"/>
            <p:cNvSpPr/>
            <p:nvPr/>
          </p:nvSpPr>
          <p:spPr>
            <a:xfrm flipV="1">
              <a:off x="3504" y="316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" name="Group 1160"/>
          <p:cNvGrpSpPr/>
          <p:nvPr/>
        </p:nvGrpSpPr>
        <p:grpSpPr>
          <a:xfrm>
            <a:off x="2846388" y="2057400"/>
            <a:ext cx="4316412" cy="1600200"/>
            <a:chOff x="1409" y="1296"/>
            <a:chExt cx="2719" cy="1008"/>
          </a:xfrm>
        </p:grpSpPr>
        <p:sp>
          <p:nvSpPr>
            <p:cNvPr id="23585" name="Line 1132"/>
            <p:cNvSpPr/>
            <p:nvPr/>
          </p:nvSpPr>
          <p:spPr>
            <a:xfrm flipV="1">
              <a:off x="1536" y="1968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6" name="Line 1133"/>
            <p:cNvSpPr/>
            <p:nvPr/>
          </p:nvSpPr>
          <p:spPr>
            <a:xfrm flipV="1">
              <a:off x="4128" y="206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7" name="Line 1134"/>
            <p:cNvSpPr/>
            <p:nvPr/>
          </p:nvSpPr>
          <p:spPr>
            <a:xfrm flipH="1">
              <a:off x="1632" y="2064"/>
              <a:ext cx="24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8" name="Rectangle 1135"/>
            <p:cNvSpPr/>
            <p:nvPr/>
          </p:nvSpPr>
          <p:spPr>
            <a:xfrm>
              <a:off x="1440" y="1776"/>
              <a:ext cx="288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23589" name="Line 1136"/>
            <p:cNvSpPr/>
            <p:nvPr/>
          </p:nvSpPr>
          <p:spPr>
            <a:xfrm flipV="1">
              <a:off x="1632" y="196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0" name="Rectangle 1138"/>
            <p:cNvSpPr/>
            <p:nvPr/>
          </p:nvSpPr>
          <p:spPr>
            <a:xfrm>
              <a:off x="1409" y="129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/>
                <a:t>A</a:t>
              </a:r>
              <a:r>
                <a:rPr lang="en-US" altLang="zh-CN" sz="2400" b="1" baseline="-25000" dirty="0"/>
                <a:t>0</a:t>
              </a:r>
              <a:endParaRPr lang="en-US" altLang="zh-CN" sz="2400" b="1" baseline="-25000" dirty="0"/>
            </a:p>
          </p:txBody>
        </p:sp>
        <p:sp>
          <p:nvSpPr>
            <p:cNvPr id="23591" name="Line 1139"/>
            <p:cNvSpPr/>
            <p:nvPr/>
          </p:nvSpPr>
          <p:spPr>
            <a:xfrm flipV="1">
              <a:off x="1584" y="153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8" name="Group 1163"/>
          <p:cNvGrpSpPr/>
          <p:nvPr/>
        </p:nvGrpSpPr>
        <p:grpSpPr>
          <a:xfrm>
            <a:off x="4572000" y="1981200"/>
            <a:ext cx="1192213" cy="2819400"/>
            <a:chOff x="2496" y="1248"/>
            <a:chExt cx="751" cy="1776"/>
          </a:xfrm>
        </p:grpSpPr>
        <p:sp>
          <p:nvSpPr>
            <p:cNvPr id="23582" name="Line 1128"/>
            <p:cNvSpPr/>
            <p:nvPr/>
          </p:nvSpPr>
          <p:spPr>
            <a:xfrm flipV="1">
              <a:off x="3072" y="1536"/>
              <a:ext cx="0" cy="14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3" name="Rectangle 1129"/>
            <p:cNvSpPr/>
            <p:nvPr/>
          </p:nvSpPr>
          <p:spPr>
            <a:xfrm>
              <a:off x="2928" y="1248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/>
                <a:t>A</a:t>
              </a:r>
              <a:r>
                <a:rPr lang="en-US" altLang="zh-CN" sz="2400" b="1" baseline="-25000" dirty="0"/>
                <a:t>3</a:t>
              </a:r>
              <a:endParaRPr lang="en-US" altLang="zh-CN" sz="2400" b="1" baseline="-25000" dirty="0"/>
            </a:p>
          </p:txBody>
        </p:sp>
        <p:sp>
          <p:nvSpPr>
            <p:cNvPr id="23584" name="Line 1142"/>
            <p:cNvSpPr/>
            <p:nvPr/>
          </p:nvSpPr>
          <p:spPr>
            <a:xfrm flipH="1" flipV="1">
              <a:off x="2496" y="3024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" name="Group 1161"/>
          <p:cNvGrpSpPr/>
          <p:nvPr/>
        </p:nvGrpSpPr>
        <p:grpSpPr>
          <a:xfrm>
            <a:off x="3276600" y="2057400"/>
            <a:ext cx="4114800" cy="1600200"/>
            <a:chOff x="1680" y="1296"/>
            <a:chExt cx="2592" cy="1008"/>
          </a:xfrm>
        </p:grpSpPr>
        <p:sp>
          <p:nvSpPr>
            <p:cNvPr id="23573" name="Rectangle 1140"/>
            <p:cNvSpPr/>
            <p:nvPr/>
          </p:nvSpPr>
          <p:spPr>
            <a:xfrm>
              <a:off x="1920" y="1776"/>
              <a:ext cx="288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23574" name="Line 1141"/>
            <p:cNvSpPr/>
            <p:nvPr/>
          </p:nvSpPr>
          <p:spPr>
            <a:xfrm flipV="1">
              <a:off x="2064" y="153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5" name="Rectangle 1143"/>
            <p:cNvSpPr/>
            <p:nvPr/>
          </p:nvSpPr>
          <p:spPr>
            <a:xfrm>
              <a:off x="1937" y="129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/>
                <a:t>A</a:t>
              </a:r>
              <a:r>
                <a:rPr lang="en-US" altLang="zh-CN" sz="2400" b="1" baseline="-25000" dirty="0"/>
                <a:t>1</a:t>
              </a:r>
              <a:endParaRPr lang="en-US" altLang="zh-CN" sz="2400" b="1" baseline="-25000" dirty="0"/>
            </a:p>
          </p:txBody>
        </p:sp>
        <p:sp>
          <p:nvSpPr>
            <p:cNvPr id="23576" name="Line 1145"/>
            <p:cNvSpPr/>
            <p:nvPr/>
          </p:nvSpPr>
          <p:spPr>
            <a:xfrm flipV="1">
              <a:off x="1680" y="216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7" name="Line 1146"/>
            <p:cNvSpPr/>
            <p:nvPr/>
          </p:nvSpPr>
          <p:spPr>
            <a:xfrm>
              <a:off x="1680" y="216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8" name="Line 1147"/>
            <p:cNvSpPr/>
            <p:nvPr/>
          </p:nvSpPr>
          <p:spPr>
            <a:xfrm flipV="1">
              <a:off x="2016" y="196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9" name="Line 1148"/>
            <p:cNvSpPr/>
            <p:nvPr/>
          </p:nvSpPr>
          <p:spPr>
            <a:xfrm flipH="1">
              <a:off x="2112" y="2160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0" name="Line 1149"/>
            <p:cNvSpPr/>
            <p:nvPr/>
          </p:nvSpPr>
          <p:spPr>
            <a:xfrm flipV="1">
              <a:off x="2112" y="196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1" name="Line 1151"/>
            <p:cNvSpPr/>
            <p:nvPr/>
          </p:nvSpPr>
          <p:spPr>
            <a:xfrm>
              <a:off x="4272" y="216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0" name="Group 1162"/>
          <p:cNvGrpSpPr/>
          <p:nvPr/>
        </p:nvGrpSpPr>
        <p:grpSpPr>
          <a:xfrm>
            <a:off x="3505200" y="2057400"/>
            <a:ext cx="4114800" cy="1600200"/>
            <a:chOff x="1824" y="1296"/>
            <a:chExt cx="2592" cy="1008"/>
          </a:xfrm>
        </p:grpSpPr>
        <p:sp>
          <p:nvSpPr>
            <p:cNvPr id="23566" name="Rectangle 1153"/>
            <p:cNvSpPr/>
            <p:nvPr/>
          </p:nvSpPr>
          <p:spPr>
            <a:xfrm>
              <a:off x="2400" y="1776"/>
              <a:ext cx="288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23567" name="Line 1154"/>
            <p:cNvSpPr/>
            <p:nvPr/>
          </p:nvSpPr>
          <p:spPr>
            <a:xfrm flipV="1">
              <a:off x="2544" y="153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8" name="Rectangle 1155"/>
            <p:cNvSpPr/>
            <p:nvPr/>
          </p:nvSpPr>
          <p:spPr>
            <a:xfrm>
              <a:off x="2417" y="1296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/>
                <a:t>A</a:t>
              </a:r>
              <a:r>
                <a:rPr lang="en-US" altLang="zh-CN" sz="2400" b="1" baseline="-25000" dirty="0"/>
                <a:t>2</a:t>
              </a:r>
              <a:endParaRPr lang="en-US" altLang="zh-CN" sz="2400" b="1" baseline="-25000" dirty="0"/>
            </a:p>
          </p:txBody>
        </p:sp>
        <p:sp>
          <p:nvSpPr>
            <p:cNvPr id="23569" name="Line 1156"/>
            <p:cNvSpPr/>
            <p:nvPr/>
          </p:nvSpPr>
          <p:spPr>
            <a:xfrm>
              <a:off x="1824" y="2304"/>
              <a:ext cx="6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0" name="Line 1157"/>
            <p:cNvSpPr/>
            <p:nvPr/>
          </p:nvSpPr>
          <p:spPr>
            <a:xfrm flipV="1">
              <a:off x="2496" y="1968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1" name="Line 1158"/>
            <p:cNvSpPr/>
            <p:nvPr/>
          </p:nvSpPr>
          <p:spPr>
            <a:xfrm flipH="1">
              <a:off x="2592" y="2304"/>
              <a:ext cx="18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2" name="Line 1159"/>
            <p:cNvSpPr/>
            <p:nvPr/>
          </p:nvSpPr>
          <p:spPr>
            <a:xfrm flipV="1">
              <a:off x="2592" y="1968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60973" name="Text Box 1165"/>
          <p:cNvSpPr txBox="1"/>
          <p:nvPr/>
        </p:nvSpPr>
        <p:spPr>
          <a:xfrm>
            <a:off x="304800" y="2209800"/>
            <a:ext cx="2438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/>
              <a:t>高位有效，强制低位无效</a:t>
            </a:r>
            <a:endParaRPr lang="zh-CN" altLang="en-US" sz="2400" b="1" dirty="0"/>
          </a:p>
        </p:txBody>
      </p:sp>
      <p:sp>
        <p:nvSpPr>
          <p:cNvPr id="760974" name="Text Box 1166"/>
          <p:cNvSpPr txBox="1"/>
          <p:nvPr/>
        </p:nvSpPr>
        <p:spPr>
          <a:xfrm>
            <a:off x="304800" y="3200400"/>
            <a:ext cx="2438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/>
              <a:t>生成相应的编码输出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6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6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0973" grpId="0"/>
      <p:bldP spid="76097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数据选择器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数据选择器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291845" name="Rectangle 5"/>
          <p:cNvSpPr/>
          <p:nvPr/>
        </p:nvSpPr>
        <p:spPr>
          <a:xfrm>
            <a:off x="381000" y="3048000"/>
            <a:ext cx="35353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zh-CN" dirty="0"/>
              <a:t>8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选</a:t>
            </a:r>
            <a:r>
              <a:rPr lang="en-US" altLang="zh-CN" dirty="0"/>
              <a:t>1……</a:t>
            </a: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755650" y="2332038"/>
            <a:ext cx="6192838" cy="427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    — —             —        —</a:t>
            </a:r>
            <a:endParaRPr lang="en-US" altLang="zh-CN" sz="2600" b="1" dirty="0"/>
          </a:p>
          <a:p>
            <a:pPr marL="0" lvl="0" indent="0">
              <a:lnSpc>
                <a:spcPts val="2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Y=S</a:t>
            </a:r>
            <a:r>
              <a:rPr lang="en-US" altLang="zh-CN" sz="2600" b="1" baseline="-25000" dirty="0"/>
              <a:t>0 </a:t>
            </a:r>
            <a:r>
              <a:rPr lang="en-US" altLang="zh-CN" sz="2600" b="1" dirty="0"/>
              <a:t>S</a:t>
            </a:r>
            <a:r>
              <a:rPr lang="en-US" altLang="zh-CN" sz="2600" b="1" baseline="-25000" dirty="0"/>
              <a:t>1 </a:t>
            </a:r>
            <a:r>
              <a:rPr lang="en-US" altLang="zh-CN" sz="2600" b="1" dirty="0"/>
              <a:t>D</a:t>
            </a:r>
            <a:r>
              <a:rPr lang="en-US" altLang="zh-CN" sz="2600" b="1" baseline="-25000" dirty="0"/>
              <a:t>0  </a:t>
            </a:r>
            <a:r>
              <a:rPr lang="en-US" altLang="zh-CN" sz="2600" b="1" dirty="0"/>
              <a:t>+ S</a:t>
            </a:r>
            <a:r>
              <a:rPr lang="en-US" altLang="zh-CN" sz="2600" b="1" baseline="-25000" dirty="0"/>
              <a:t>0 </a:t>
            </a:r>
            <a:r>
              <a:rPr lang="en-US" altLang="zh-CN" sz="2600" b="1" dirty="0"/>
              <a:t>S</a:t>
            </a:r>
            <a:r>
              <a:rPr lang="en-US" altLang="zh-CN" sz="2600" b="1" baseline="-25000" dirty="0"/>
              <a:t>1 </a:t>
            </a:r>
            <a:r>
              <a:rPr lang="en-US" altLang="zh-CN" sz="2600" b="1" dirty="0"/>
              <a:t>D</a:t>
            </a:r>
            <a:r>
              <a:rPr lang="en-US" altLang="zh-CN" sz="2600" b="1" baseline="-25000" dirty="0"/>
              <a:t>1 </a:t>
            </a:r>
            <a:r>
              <a:rPr lang="en-US" altLang="zh-CN" sz="2600" b="1" dirty="0"/>
              <a:t>+ S</a:t>
            </a:r>
            <a:r>
              <a:rPr lang="en-US" altLang="zh-CN" sz="2600" b="1" baseline="-25000" dirty="0"/>
              <a:t>0 </a:t>
            </a:r>
            <a:r>
              <a:rPr lang="en-US" altLang="zh-CN" sz="2600" b="1" dirty="0"/>
              <a:t>S</a:t>
            </a:r>
            <a:r>
              <a:rPr lang="en-US" altLang="zh-CN" sz="2600" b="1" baseline="-25000" dirty="0"/>
              <a:t>1 </a:t>
            </a:r>
            <a:r>
              <a:rPr lang="en-US" altLang="zh-CN" sz="2600" b="1" dirty="0"/>
              <a:t>D</a:t>
            </a:r>
            <a:r>
              <a:rPr lang="en-US" altLang="zh-CN" sz="2600" b="1" baseline="-25000" dirty="0"/>
              <a:t>2 </a:t>
            </a:r>
            <a:r>
              <a:rPr lang="en-US" altLang="zh-CN" sz="2600" b="1" dirty="0"/>
              <a:t>+ S</a:t>
            </a:r>
            <a:r>
              <a:rPr lang="en-US" altLang="zh-CN" sz="2600" b="1" baseline="-25000" dirty="0"/>
              <a:t>0 </a:t>
            </a:r>
            <a:r>
              <a:rPr lang="en-US" altLang="zh-CN" sz="2600" b="1" dirty="0"/>
              <a:t>S</a:t>
            </a:r>
            <a:r>
              <a:rPr lang="en-US" altLang="zh-CN" sz="2600" b="1" baseline="-25000" dirty="0"/>
              <a:t>1 </a:t>
            </a:r>
            <a:r>
              <a:rPr lang="en-US" altLang="zh-CN" sz="2600" b="1" dirty="0"/>
              <a:t>D</a:t>
            </a:r>
            <a:r>
              <a:rPr lang="en-US" altLang="zh-CN" sz="2600" b="1" baseline="-25000" dirty="0"/>
              <a:t>3 </a:t>
            </a:r>
            <a:endParaRPr lang="zh-CN" altLang="en-US" sz="2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5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运算器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539750" y="1557338"/>
            <a:ext cx="8034338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latin typeface="Tahoma" panose="020B0604030504040204" pitchFamily="34" charset="0"/>
              </a:rPr>
              <a:t>一位全加器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50938" y="2346325"/>
            <a:ext cx="324167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F</a:t>
            </a:r>
            <a:r>
              <a:rPr lang="en-US" altLang="zh-CN" sz="2600" b="1" baseline="-25000" dirty="0"/>
              <a:t>n</a:t>
            </a:r>
            <a:r>
              <a:rPr lang="en-US" altLang="zh-CN" sz="2600" b="1" dirty="0"/>
              <a:t>=C</a:t>
            </a:r>
            <a:r>
              <a:rPr lang="en-US" altLang="zh-CN" sz="2600" b="1" baseline="-25000" dirty="0"/>
              <a:t>n-1</a:t>
            </a:r>
            <a:r>
              <a:rPr lang="en-US" altLang="zh-CN" sz="2600" b="1" dirty="0">
                <a:sym typeface="Symbol" panose="05050102010706020507" pitchFamily="18" charset="2"/>
              </a:rPr>
              <a:t></a:t>
            </a:r>
            <a:r>
              <a:rPr lang="zh-CN" altLang="en-US" sz="2600" b="1" dirty="0">
                <a:sym typeface="Symbol" panose="05050102010706020507" pitchFamily="18" charset="2"/>
              </a:rPr>
              <a:t>（</a:t>
            </a:r>
            <a:r>
              <a:rPr lang="en-US" altLang="zh-CN" sz="2600" b="1" dirty="0">
                <a:sym typeface="Symbol" panose="05050102010706020507" pitchFamily="18" charset="2"/>
              </a:rPr>
              <a:t>X</a:t>
            </a:r>
            <a:r>
              <a:rPr lang="en-US" altLang="zh-CN" sz="2600" b="1" baseline="-25000" dirty="0">
                <a:sym typeface="Symbol" panose="05050102010706020507" pitchFamily="18" charset="2"/>
              </a:rPr>
              <a:t>n</a:t>
            </a:r>
            <a:r>
              <a:rPr lang="en-US" altLang="zh-CN" sz="2600" b="1" dirty="0">
                <a:sym typeface="Symbol" panose="05050102010706020507" pitchFamily="18" charset="2"/>
              </a:rPr>
              <a:t>Y</a:t>
            </a:r>
            <a:r>
              <a:rPr lang="en-US" altLang="zh-CN" sz="2600" b="1" baseline="-25000" dirty="0">
                <a:sym typeface="Symbol" panose="05050102010706020507" pitchFamily="18" charset="2"/>
              </a:rPr>
              <a:t>n</a:t>
            </a:r>
            <a:r>
              <a:rPr lang="zh-CN" altLang="en-US" sz="2600" b="1" dirty="0">
                <a:sym typeface="Symbol" panose="05050102010706020507" pitchFamily="18" charset="2"/>
              </a:rPr>
              <a:t>）</a:t>
            </a:r>
            <a:endParaRPr lang="zh-CN" altLang="en-US" sz="26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1116013" y="3182938"/>
            <a:ext cx="42862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/>
              <a:t>C</a:t>
            </a:r>
            <a:r>
              <a:rPr lang="en-US" altLang="zh-CN" sz="2600" b="1" baseline="-25000" dirty="0"/>
              <a:t>n</a:t>
            </a:r>
            <a:r>
              <a:rPr lang="en-US" altLang="zh-CN" sz="2600" b="1" dirty="0"/>
              <a:t>=X</a:t>
            </a:r>
            <a:r>
              <a:rPr lang="en-US" altLang="zh-CN" sz="2600" b="1" baseline="-25000" dirty="0"/>
              <a:t>n</a:t>
            </a:r>
            <a:r>
              <a:rPr lang="en-US" altLang="zh-CN" sz="2600" b="1" dirty="0">
                <a:sym typeface="Symbol" panose="05050102010706020507" pitchFamily="18" charset="2"/>
              </a:rPr>
              <a:t> Y</a:t>
            </a:r>
            <a:r>
              <a:rPr lang="en-US" altLang="zh-CN" sz="2600" b="1" baseline="-25000" dirty="0">
                <a:sym typeface="Symbol" panose="05050102010706020507" pitchFamily="18" charset="2"/>
              </a:rPr>
              <a:t>n </a:t>
            </a:r>
            <a:r>
              <a:rPr lang="en-US" altLang="zh-CN" sz="2600" b="1" dirty="0">
                <a:sym typeface="Symbol" panose="05050102010706020507" pitchFamily="18" charset="2"/>
              </a:rPr>
              <a:t>+</a:t>
            </a:r>
            <a:r>
              <a:rPr lang="zh-CN" altLang="en-US" sz="2600" b="1" dirty="0">
                <a:sym typeface="Symbol" panose="05050102010706020507" pitchFamily="18" charset="2"/>
              </a:rPr>
              <a:t>（</a:t>
            </a:r>
            <a:r>
              <a:rPr lang="en-US" altLang="zh-CN" sz="2600" b="1" dirty="0">
                <a:sym typeface="Symbol" panose="05050102010706020507" pitchFamily="18" charset="2"/>
              </a:rPr>
              <a:t>X</a:t>
            </a:r>
            <a:r>
              <a:rPr lang="en-US" altLang="zh-CN" sz="2600" b="1" baseline="-25000" dirty="0">
                <a:sym typeface="Symbol" panose="05050102010706020507" pitchFamily="18" charset="2"/>
              </a:rPr>
              <a:t>n</a:t>
            </a:r>
            <a:r>
              <a:rPr lang="en-US" altLang="zh-CN" sz="2600" b="1" dirty="0">
                <a:sym typeface="Symbol" panose="05050102010706020507" pitchFamily="18" charset="2"/>
              </a:rPr>
              <a:t>+Y</a:t>
            </a:r>
            <a:r>
              <a:rPr lang="en-US" altLang="zh-CN" sz="2600" b="1" baseline="-25000" dirty="0">
                <a:sym typeface="Symbol" panose="05050102010706020507" pitchFamily="18" charset="2"/>
              </a:rPr>
              <a:t>n</a:t>
            </a:r>
            <a:r>
              <a:rPr lang="zh-CN" altLang="en-US" sz="2600" b="1" dirty="0">
                <a:sym typeface="Symbol" panose="05050102010706020507" pitchFamily="18" charset="2"/>
              </a:rPr>
              <a:t>）</a:t>
            </a:r>
            <a:r>
              <a:rPr lang="en-US" altLang="zh-CN" sz="2600" b="1" dirty="0"/>
              <a:t> C</a:t>
            </a:r>
            <a:r>
              <a:rPr lang="en-US" altLang="zh-CN" sz="2600" b="1" baseline="-25000" dirty="0"/>
              <a:t>n-1</a:t>
            </a:r>
            <a:endParaRPr lang="zh-CN" altLang="en-US" sz="2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运算器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位串行、并行加法器</a:t>
            </a:r>
            <a:endParaRPr lang="zh-CN" altLang="en-US" dirty="0"/>
          </a:p>
          <a:p>
            <a:pPr eaLnBrk="1" hangingPunct="1"/>
            <a:r>
              <a:rPr lang="en-US" altLang="zh-CN" dirty="0"/>
              <a:t>16</a:t>
            </a:r>
            <a:r>
              <a:rPr lang="zh-CN" altLang="en-US" dirty="0"/>
              <a:t>位串行、并行加法器</a:t>
            </a:r>
            <a:endParaRPr lang="zh-CN" altLang="en-US" dirty="0"/>
          </a:p>
          <a:p>
            <a:pPr eaLnBrk="1" hangingPunct="1"/>
            <a:r>
              <a:rPr lang="zh-CN" altLang="en-US" dirty="0"/>
              <a:t>关键点</a:t>
            </a:r>
            <a:endParaRPr lang="zh-CN" altLang="en-US" dirty="0"/>
          </a:p>
          <a:p>
            <a:pPr lvl="1" eaLnBrk="1" hangingPunct="1"/>
            <a:endParaRPr lang="en-US" altLang="zh-CN" dirty="0"/>
          </a:p>
        </p:txBody>
      </p:sp>
      <p:sp>
        <p:nvSpPr>
          <p:cNvPr id="294916" name="Rectangle 4"/>
          <p:cNvSpPr/>
          <p:nvPr/>
        </p:nvSpPr>
        <p:spPr>
          <a:xfrm>
            <a:off x="304800" y="3505200"/>
            <a:ext cx="8534400" cy="4889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/>
            <a:r>
              <a:rPr lang="zh-CN" altLang="en-US" dirty="0"/>
              <a:t>减少</a:t>
            </a:r>
            <a:r>
              <a:rPr lang="zh-CN" altLang="en-US" dirty="0">
                <a:solidFill>
                  <a:schemeClr val="folHlink"/>
                </a:solidFill>
              </a:rPr>
              <a:t>进位</a:t>
            </a:r>
            <a:r>
              <a:rPr lang="zh-CN" altLang="en-US" dirty="0"/>
              <a:t>传输延迟的级数，是加法器设计的主要矛盾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运算器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277813" y="1495425"/>
            <a:ext cx="86106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位并行加法器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求和：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进位产生函数</a:t>
            </a:r>
            <a:r>
              <a:rPr lang="en-US" altLang="zh-CN" dirty="0"/>
              <a:t>Pi</a:t>
            </a:r>
            <a:r>
              <a:rPr lang="zh-CN" altLang="en-US" dirty="0"/>
              <a:t>和进位传递函数</a:t>
            </a:r>
            <a:r>
              <a:rPr lang="en-US" altLang="zh-CN" dirty="0"/>
              <a:t>Gi</a:t>
            </a:r>
            <a:endParaRPr lang="en-US" altLang="zh-CN" dirty="0"/>
          </a:p>
        </p:txBody>
      </p:sp>
      <p:sp>
        <p:nvSpPr>
          <p:cNvPr id="295945" name="Rectangle 9"/>
          <p:cNvSpPr/>
          <p:nvPr/>
        </p:nvSpPr>
        <p:spPr>
          <a:xfrm>
            <a:off x="381000" y="3262313"/>
            <a:ext cx="4572000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914400" lvl="2" indent="0" eaLnBrk="1" hangingPunct="1"/>
            <a:r>
              <a:rPr lang="zh-CN" altLang="en-US" dirty="0"/>
              <a:t>形成条件</a:t>
            </a:r>
            <a:r>
              <a:rPr lang="en-US" altLang="zh-CN" dirty="0"/>
              <a:t>C1~C4</a:t>
            </a:r>
            <a:endParaRPr lang="en-US" altLang="zh-CN" dirty="0"/>
          </a:p>
          <a:p>
            <a:pPr marL="914400" lvl="2" indent="0" eaLnBrk="1" hangingPunct="1"/>
            <a:r>
              <a:rPr lang="zh-CN" altLang="en-US" dirty="0"/>
              <a:t>得到原理表达式</a:t>
            </a:r>
            <a:endParaRPr lang="zh-CN" altLang="en-US" dirty="0"/>
          </a:p>
        </p:txBody>
      </p:sp>
      <p:sp>
        <p:nvSpPr>
          <p:cNvPr id="27654" name="文本框 10"/>
          <p:cNvSpPr txBox="1"/>
          <p:nvPr/>
        </p:nvSpPr>
        <p:spPr>
          <a:xfrm>
            <a:off x="1979613" y="2136775"/>
            <a:ext cx="32400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F</a:t>
            </a:r>
            <a:r>
              <a:rPr lang="en-US" altLang="zh-CN" sz="2400" b="1" baseline="-25000" dirty="0"/>
              <a:t>n</a:t>
            </a:r>
            <a:r>
              <a:rPr lang="en-US" altLang="zh-CN" sz="2400" b="1" dirty="0"/>
              <a:t>=C</a:t>
            </a:r>
            <a:r>
              <a:rPr lang="en-US" altLang="zh-CN" sz="2400" b="1" baseline="-25000" dirty="0"/>
              <a:t>n-1</a:t>
            </a:r>
            <a:r>
              <a:rPr lang="en-US" altLang="zh-CN" sz="2400" b="1" dirty="0">
                <a:sym typeface="Symbol" panose="05050102010706020507" pitchFamily="18" charset="2"/>
              </a:rPr>
              <a:t></a:t>
            </a:r>
            <a:r>
              <a:rPr lang="zh-CN" altLang="en-US" sz="2400" b="1" dirty="0">
                <a:sym typeface="Symbol" panose="05050102010706020507" pitchFamily="18" charset="2"/>
              </a:rPr>
              <a:t>（</a:t>
            </a:r>
            <a:r>
              <a:rPr lang="en-US" altLang="zh-CN" sz="2400" b="1" dirty="0">
                <a:sym typeface="Symbol" panose="05050102010706020507" pitchFamily="18" charset="2"/>
              </a:rPr>
              <a:t>X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sym typeface="Symbol" panose="05050102010706020507" pitchFamily="18" charset="2"/>
              </a:rPr>
              <a:t>Y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sym typeface="Symbol" panose="05050102010706020507" pitchFamily="18" charset="2"/>
              </a:rPr>
              <a:t>）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1370013" y="4135438"/>
            <a:ext cx="32400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C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=G</a:t>
            </a:r>
            <a:r>
              <a:rPr lang="en-US" altLang="zh-CN" sz="2400" b="1" baseline="-25000" dirty="0"/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+</a:t>
            </a:r>
            <a:r>
              <a:rPr lang="en-US" altLang="zh-CN" sz="2400" b="1" dirty="0"/>
              <a:t> P</a:t>
            </a:r>
            <a:r>
              <a:rPr lang="en-US" altLang="zh-CN" sz="2400" b="1" baseline="-25000" dirty="0"/>
              <a:t>1 </a:t>
            </a:r>
            <a:r>
              <a:rPr lang="en-US" altLang="zh-CN" sz="2400" b="1" dirty="0">
                <a:sym typeface="Symbol" panose="05050102010706020507" pitchFamily="18" charset="2"/>
              </a:rPr>
              <a:t>C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0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347788" y="4551363"/>
            <a:ext cx="34512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C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=G</a:t>
            </a:r>
            <a:r>
              <a:rPr lang="en-US" altLang="zh-CN" sz="2400" b="1" baseline="-25000" dirty="0"/>
              <a:t>2</a:t>
            </a:r>
            <a:r>
              <a:rPr lang="en-US" altLang="zh-CN" sz="2400" b="1" dirty="0">
                <a:sym typeface="Symbol" panose="05050102010706020507" pitchFamily="18" charset="2"/>
              </a:rPr>
              <a:t>+</a:t>
            </a:r>
            <a:r>
              <a:rPr lang="en-US" altLang="zh-CN" sz="2400" b="1" dirty="0"/>
              <a:t> P</a:t>
            </a:r>
            <a:r>
              <a:rPr lang="en-US" altLang="zh-CN" sz="2400" b="1" baseline="-25000" dirty="0"/>
              <a:t>2 </a:t>
            </a:r>
            <a:r>
              <a:rPr lang="en-US" altLang="zh-CN" sz="2400" b="1" dirty="0">
                <a:sym typeface="Symbol" panose="05050102010706020507" pitchFamily="18" charset="2"/>
              </a:rPr>
              <a:t>G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+ 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2 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 C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0</a:t>
            </a:r>
            <a:endParaRPr lang="zh-CN" altLang="en-US" sz="2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1314450" y="5008563"/>
            <a:ext cx="45720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C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=G</a:t>
            </a:r>
            <a:r>
              <a:rPr lang="en-US" altLang="zh-CN" sz="2400" b="1" baseline="-25000" dirty="0"/>
              <a:t>3</a:t>
            </a:r>
            <a:r>
              <a:rPr lang="en-US" altLang="zh-CN" sz="2400" b="1" dirty="0">
                <a:sym typeface="Symbol" panose="05050102010706020507" pitchFamily="18" charset="2"/>
              </a:rPr>
              <a:t>+</a:t>
            </a:r>
            <a:r>
              <a:rPr lang="en-US" altLang="zh-CN" sz="2400" b="1" dirty="0"/>
              <a:t> P</a:t>
            </a:r>
            <a:r>
              <a:rPr lang="en-US" altLang="zh-CN" sz="2400" b="1" baseline="-25000" dirty="0"/>
              <a:t>3</a:t>
            </a:r>
            <a:r>
              <a:rPr lang="en-US" altLang="zh-CN" sz="2400" b="1" dirty="0">
                <a:sym typeface="Symbol" panose="05050102010706020507" pitchFamily="18" charset="2"/>
              </a:rPr>
              <a:t>G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+ 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2</a:t>
            </a:r>
            <a:r>
              <a:rPr lang="en-US" altLang="zh-CN" sz="2400" b="1" dirty="0">
                <a:sym typeface="Symbol" panose="05050102010706020507" pitchFamily="18" charset="2"/>
              </a:rPr>
              <a:t>G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+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2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C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0</a:t>
            </a:r>
            <a:endParaRPr lang="zh-CN" altLang="en-US" sz="24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1314450" y="5519738"/>
            <a:ext cx="71469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C</a:t>
            </a:r>
            <a:r>
              <a:rPr lang="en-US" altLang="zh-CN" sz="2400" b="1" baseline="-25000" dirty="0"/>
              <a:t>4</a:t>
            </a:r>
            <a:r>
              <a:rPr lang="en-US" altLang="zh-CN" sz="2400" b="1" dirty="0"/>
              <a:t>=G</a:t>
            </a:r>
            <a:r>
              <a:rPr lang="en-US" altLang="zh-CN" sz="2400" b="1" baseline="-25000" dirty="0"/>
              <a:t>4</a:t>
            </a:r>
            <a:r>
              <a:rPr lang="en-US" altLang="zh-CN" sz="2400" b="1" dirty="0">
                <a:sym typeface="Symbol" panose="05050102010706020507" pitchFamily="18" charset="2"/>
              </a:rPr>
              <a:t>+</a:t>
            </a:r>
            <a:r>
              <a:rPr lang="en-US" altLang="zh-CN" sz="2400" b="1" dirty="0"/>
              <a:t> P</a:t>
            </a:r>
            <a:r>
              <a:rPr lang="en-US" altLang="zh-CN" sz="2400" b="1" baseline="-25000" dirty="0"/>
              <a:t>4</a:t>
            </a:r>
            <a:r>
              <a:rPr lang="en-US" altLang="zh-CN" sz="2400" b="1" dirty="0">
                <a:sym typeface="Symbol" panose="05050102010706020507" pitchFamily="18" charset="2"/>
              </a:rPr>
              <a:t>G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3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+ 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4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3</a:t>
            </a:r>
            <a:r>
              <a:rPr lang="en-US" altLang="zh-CN" sz="2400" b="1" dirty="0">
                <a:sym typeface="Symbol" panose="05050102010706020507" pitchFamily="18" charset="2"/>
              </a:rPr>
              <a:t>G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ym typeface="Symbol" panose="05050102010706020507" pitchFamily="18" charset="2"/>
              </a:rPr>
              <a:t>+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4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2</a:t>
            </a:r>
            <a:r>
              <a:rPr lang="en-US" altLang="zh-CN" sz="2400" b="1" dirty="0">
                <a:sym typeface="Symbol" panose="05050102010706020507" pitchFamily="18" charset="2"/>
              </a:rPr>
              <a:t>G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+ 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4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2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C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0</a:t>
            </a:r>
            <a:endParaRPr lang="zh-CN" altLang="en-US" sz="24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5819775" y="4005263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G</a:t>
            </a:r>
            <a:r>
              <a:rPr lang="en-US" altLang="zh-CN" sz="2400" b="1" baseline="-25000" dirty="0"/>
              <a:t>i</a:t>
            </a:r>
            <a:r>
              <a:rPr lang="en-US" altLang="zh-CN" sz="2400" b="1" dirty="0"/>
              <a:t>=X</a:t>
            </a:r>
            <a:r>
              <a:rPr lang="en-US" altLang="zh-CN" sz="2400" b="1" baseline="-25000" dirty="0"/>
              <a:t>i</a:t>
            </a:r>
            <a:r>
              <a:rPr lang="en-US" altLang="zh-CN" sz="2400" b="1" dirty="0"/>
              <a:t>Y</a:t>
            </a:r>
            <a:r>
              <a:rPr lang="en-US" altLang="zh-CN" sz="2400" b="1" baseline="-25000" dirty="0"/>
              <a:t>i</a:t>
            </a:r>
            <a:endParaRPr lang="zh-CN" altLang="en-US" sz="2400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5822950" y="4491038"/>
            <a:ext cx="17732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P</a:t>
            </a:r>
            <a:r>
              <a:rPr lang="en-US" altLang="zh-CN" sz="2400" b="1" baseline="-25000" dirty="0"/>
              <a:t>i</a:t>
            </a:r>
            <a:r>
              <a:rPr lang="en-US" altLang="zh-CN" sz="2400" b="1" dirty="0"/>
              <a:t>=X</a:t>
            </a:r>
            <a:r>
              <a:rPr lang="en-US" altLang="zh-CN" sz="2400" b="1" baseline="-25000" dirty="0"/>
              <a:t>i</a:t>
            </a:r>
            <a:r>
              <a:rPr lang="en-US" altLang="zh-CN" sz="2400" b="1" dirty="0">
                <a:sym typeface="Symbol" panose="05050102010706020507" pitchFamily="18" charset="2"/>
              </a:rPr>
              <a:t> + </a:t>
            </a:r>
            <a:r>
              <a:rPr lang="en-US" altLang="zh-CN" sz="2400" b="1" dirty="0"/>
              <a:t>Y</a:t>
            </a:r>
            <a:r>
              <a:rPr lang="en-US" altLang="zh-CN" sz="2400" b="1" baseline="-25000" dirty="0"/>
              <a:t>i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5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运算器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idx="1"/>
          </p:nvPr>
        </p:nvSpPr>
        <p:spPr>
          <a:xfrm>
            <a:off x="284163" y="1531938"/>
            <a:ext cx="86106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位并行加法器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进位产生函数</a:t>
            </a:r>
            <a:r>
              <a:rPr lang="en-US" altLang="zh-CN" dirty="0"/>
              <a:t>Pi</a:t>
            </a:r>
            <a:r>
              <a:rPr lang="zh-CN" altLang="en-US" dirty="0"/>
              <a:t>和进位传递函数</a:t>
            </a:r>
            <a:r>
              <a:rPr lang="en-US" altLang="zh-CN" dirty="0"/>
              <a:t>Gi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实用化表达式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300163" y="3294063"/>
            <a:ext cx="3240087" cy="427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  ————</a:t>
            </a:r>
            <a:endParaRPr lang="en-US" altLang="zh-CN" sz="2400" b="1" dirty="0"/>
          </a:p>
          <a:p>
            <a:pPr marL="0" lvl="0" indent="0">
              <a:lnSpc>
                <a:spcPts val="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  —   — —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C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=P</a:t>
            </a:r>
            <a:r>
              <a:rPr lang="en-US" altLang="zh-CN" sz="2400" b="1" baseline="-25000" dirty="0"/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+</a:t>
            </a:r>
            <a:r>
              <a:rPr lang="en-US" altLang="zh-CN" sz="2400" b="1" dirty="0"/>
              <a:t> G</a:t>
            </a:r>
            <a:r>
              <a:rPr lang="en-US" altLang="zh-CN" sz="2400" b="1" baseline="-25000" dirty="0"/>
              <a:t>1 </a:t>
            </a:r>
            <a:r>
              <a:rPr lang="en-US" altLang="zh-CN" sz="2400" b="1" dirty="0">
                <a:sym typeface="Symbol" panose="05050102010706020507" pitchFamily="18" charset="2"/>
              </a:rPr>
              <a:t>C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0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1300163" y="3860800"/>
            <a:ext cx="3451225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  —————————</a:t>
            </a:r>
            <a:endParaRPr lang="en-US" altLang="zh-CN" sz="2400" b="1" dirty="0"/>
          </a:p>
          <a:p>
            <a:pPr marL="0" lvl="0" indent="0">
              <a:lnSpc>
                <a:spcPts val="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  —   — —    —  — —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C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=P</a:t>
            </a:r>
            <a:r>
              <a:rPr lang="en-US" altLang="zh-CN" sz="2400" b="1" baseline="-25000" dirty="0"/>
              <a:t>2</a:t>
            </a:r>
            <a:r>
              <a:rPr lang="en-US" altLang="zh-CN" sz="2400" b="1" dirty="0">
                <a:sym typeface="Symbol" panose="05050102010706020507" pitchFamily="18" charset="2"/>
              </a:rPr>
              <a:t>+</a:t>
            </a:r>
            <a:r>
              <a:rPr lang="en-US" altLang="zh-CN" sz="2400" b="1" dirty="0"/>
              <a:t> G</a:t>
            </a:r>
            <a:r>
              <a:rPr lang="en-US" altLang="zh-CN" sz="2400" b="1" baseline="-25000" dirty="0"/>
              <a:t>2 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+ 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2 </a:t>
            </a:r>
            <a:r>
              <a:rPr lang="en-US" altLang="zh-CN" sz="2400" b="1" dirty="0">
                <a:sym typeface="Symbol" panose="05050102010706020507" pitchFamily="18" charset="2"/>
              </a:rPr>
              <a:t>G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 C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0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258888" y="4397375"/>
            <a:ext cx="5203825" cy="438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  ——————————————</a:t>
            </a:r>
            <a:endParaRPr lang="en-US" altLang="zh-CN" sz="2400" b="1" dirty="0"/>
          </a:p>
          <a:p>
            <a:pPr marL="0" lvl="0" indent="0">
              <a:lnSpc>
                <a:spcPts val="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  —   — —    — — —   — — — —</a:t>
            </a:r>
            <a:endParaRPr lang="en-US" altLang="zh-CN" sz="2400" b="1" dirty="0"/>
          </a:p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C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=P</a:t>
            </a:r>
            <a:r>
              <a:rPr lang="en-US" altLang="zh-CN" sz="2400" b="1" baseline="-25000" dirty="0"/>
              <a:t>3</a:t>
            </a:r>
            <a:r>
              <a:rPr lang="en-US" altLang="zh-CN" sz="2400" b="1" dirty="0">
                <a:sym typeface="Symbol" panose="05050102010706020507" pitchFamily="18" charset="2"/>
              </a:rPr>
              <a:t>+</a:t>
            </a:r>
            <a:r>
              <a:rPr lang="en-US" altLang="zh-CN" sz="2400" b="1" dirty="0"/>
              <a:t> G</a:t>
            </a:r>
            <a:r>
              <a:rPr lang="en-US" altLang="zh-CN" sz="2400" b="1" baseline="-25000" dirty="0"/>
              <a:t>3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+  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2 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+ 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3 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2 </a:t>
            </a:r>
            <a:r>
              <a:rPr lang="en-US" altLang="zh-CN" sz="2400" b="1" dirty="0">
                <a:sym typeface="Symbol" panose="05050102010706020507" pitchFamily="18" charset="2"/>
              </a:rPr>
              <a:t>G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 </a:t>
            </a:r>
            <a:r>
              <a:rPr lang="en-US" altLang="zh-CN" sz="2400" b="1" dirty="0">
                <a:sym typeface="Symbol" panose="05050102010706020507" pitchFamily="18" charset="2"/>
              </a:rPr>
              <a:t>C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0</a:t>
            </a:r>
            <a:endParaRPr lang="zh-CN" altLang="en-US" sz="2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1258888" y="5008563"/>
            <a:ext cx="7888287" cy="503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  ——————————————————————</a:t>
            </a:r>
            <a:endParaRPr lang="en-US" altLang="zh-CN" sz="2400" b="1" dirty="0"/>
          </a:p>
          <a:p>
            <a:pPr marL="0" lvl="0" indent="0">
              <a:lnSpc>
                <a:spcPts val="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      —   — —    — — —     —  — — —   — — — — —</a:t>
            </a:r>
            <a:endParaRPr lang="en-US" altLang="zh-CN" sz="2400" b="1" dirty="0"/>
          </a:p>
          <a:p>
            <a:pPr marL="0" lvl="0" indent="0"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C</a:t>
            </a:r>
            <a:r>
              <a:rPr lang="en-US" altLang="zh-CN" sz="2400" b="1" baseline="-25000" dirty="0"/>
              <a:t>4</a:t>
            </a:r>
            <a:r>
              <a:rPr lang="en-US" altLang="zh-CN" sz="2400" b="1" dirty="0"/>
              <a:t>=P</a:t>
            </a:r>
            <a:r>
              <a:rPr lang="en-US" altLang="zh-CN" sz="2400" b="1" baseline="-25000" dirty="0"/>
              <a:t>4</a:t>
            </a:r>
            <a:r>
              <a:rPr lang="en-US" altLang="zh-CN" sz="2400" b="1" dirty="0">
                <a:sym typeface="Symbol" panose="05050102010706020507" pitchFamily="18" charset="2"/>
              </a:rPr>
              <a:t>+</a:t>
            </a:r>
            <a:r>
              <a:rPr lang="en-US" altLang="zh-CN" sz="2400" b="1" dirty="0"/>
              <a:t> G</a:t>
            </a:r>
            <a:r>
              <a:rPr lang="en-US" altLang="zh-CN" sz="2400" b="1" baseline="-25000" dirty="0"/>
              <a:t>4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3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+ 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4  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3 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ym typeface="Symbol" panose="05050102010706020507" pitchFamily="18" charset="2"/>
              </a:rPr>
              <a:t>+  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4  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3  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2 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+ 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4 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2 </a:t>
            </a:r>
            <a:r>
              <a:rPr lang="en-US" altLang="zh-CN" sz="2400" b="1" dirty="0">
                <a:sym typeface="Symbol" panose="05050102010706020507" pitchFamily="18" charset="2"/>
              </a:rPr>
              <a:t>G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 </a:t>
            </a:r>
            <a:r>
              <a:rPr lang="en-US" altLang="zh-CN" sz="2400" b="1" dirty="0">
                <a:sym typeface="Symbol" panose="05050102010706020507" pitchFamily="18" charset="2"/>
              </a:rPr>
              <a:t>C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0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52400" y="250825"/>
            <a:ext cx="88392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</a:t>
            </a: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位并行加法器集成电路设计方案</a:t>
            </a: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9700" name="组合 37"/>
          <p:cNvGrpSpPr/>
          <p:nvPr/>
        </p:nvGrpSpPr>
        <p:grpSpPr>
          <a:xfrm>
            <a:off x="2447925" y="2276475"/>
            <a:ext cx="3998913" cy="2016125"/>
            <a:chOff x="2448601" y="2276872"/>
            <a:chExt cx="3997836" cy="2016224"/>
          </a:xfrm>
        </p:grpSpPr>
        <p:sp>
          <p:nvSpPr>
            <p:cNvPr id="29703" name="Rectangle 1054"/>
            <p:cNvSpPr/>
            <p:nvPr/>
          </p:nvSpPr>
          <p:spPr>
            <a:xfrm>
              <a:off x="2915816" y="2636912"/>
              <a:ext cx="3493225" cy="12961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8" name="矩形 7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837947" y="2636912"/>
              <a:ext cx="3608490" cy="369332"/>
            </a:xfrm>
            <a:prstGeom prst="rect">
              <a:avLst/>
            </a:prstGeom>
            <a:blipFill>
              <a:blip r:embed="rId1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矩形 8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837947" y="3159006"/>
              <a:ext cx="545085" cy="36933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9706" name="直接连接符 10"/>
            <p:cNvCxnSpPr/>
            <p:nvPr/>
          </p:nvCxnSpPr>
          <p:spPr>
            <a:xfrm>
              <a:off x="3227292" y="2276872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07" name="直接连接符 11"/>
            <p:cNvCxnSpPr/>
            <p:nvPr/>
          </p:nvCxnSpPr>
          <p:spPr>
            <a:xfrm>
              <a:off x="3531437" y="2276872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08" name="直接连接符 12"/>
            <p:cNvCxnSpPr/>
            <p:nvPr/>
          </p:nvCxnSpPr>
          <p:spPr>
            <a:xfrm>
              <a:off x="4005983" y="2276872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09" name="直接连接符 13"/>
            <p:cNvCxnSpPr/>
            <p:nvPr/>
          </p:nvCxnSpPr>
          <p:spPr>
            <a:xfrm>
              <a:off x="4317460" y="2276872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10" name="直接连接符 14"/>
            <p:cNvCxnSpPr/>
            <p:nvPr/>
          </p:nvCxnSpPr>
          <p:spPr>
            <a:xfrm>
              <a:off x="4862544" y="2276872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11" name="直接连接符 15"/>
            <p:cNvCxnSpPr/>
            <p:nvPr/>
          </p:nvCxnSpPr>
          <p:spPr>
            <a:xfrm>
              <a:off x="5174020" y="2292490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12" name="直接连接符 16"/>
            <p:cNvCxnSpPr/>
            <p:nvPr/>
          </p:nvCxnSpPr>
          <p:spPr>
            <a:xfrm>
              <a:off x="5719104" y="2276872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13" name="直接连接符 17"/>
            <p:cNvCxnSpPr/>
            <p:nvPr/>
          </p:nvCxnSpPr>
          <p:spPr>
            <a:xfrm>
              <a:off x="6030580" y="2292490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14" name="直接连接符 18"/>
            <p:cNvCxnSpPr/>
            <p:nvPr/>
          </p:nvCxnSpPr>
          <p:spPr>
            <a:xfrm>
              <a:off x="3383030" y="3933056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15" name="直接连接符 19"/>
            <p:cNvCxnSpPr/>
            <p:nvPr/>
          </p:nvCxnSpPr>
          <p:spPr>
            <a:xfrm>
              <a:off x="3687175" y="3933056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16" name="直接连接符 20"/>
            <p:cNvCxnSpPr/>
            <p:nvPr/>
          </p:nvCxnSpPr>
          <p:spPr>
            <a:xfrm>
              <a:off x="4161722" y="3933056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17" name="直接连接符 21"/>
            <p:cNvCxnSpPr/>
            <p:nvPr/>
          </p:nvCxnSpPr>
          <p:spPr>
            <a:xfrm>
              <a:off x="4473198" y="3933056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9718" name="直接连接符 27"/>
            <p:cNvCxnSpPr/>
            <p:nvPr/>
          </p:nvCxnSpPr>
          <p:spPr>
            <a:xfrm>
              <a:off x="2448601" y="3343672"/>
              <a:ext cx="46721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3" name="矩形 22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686459" y="3636630"/>
              <a:ext cx="596664" cy="36933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9720" name="直接连接符 29"/>
            <p:cNvCxnSpPr/>
            <p:nvPr/>
          </p:nvCxnSpPr>
          <p:spPr>
            <a:xfrm>
              <a:off x="5952711" y="3933056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5" name="矩形 24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153699" y="3615318"/>
              <a:ext cx="1713122" cy="369332"/>
            </a:xfrm>
            <a:prstGeom prst="rect">
              <a:avLst/>
            </a:prstGeom>
            <a:blipFill>
              <a:blip r:embed="rId4"/>
              <a:stretch>
                <a:fillRect l="-2847" t="-9836" b="-24590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22" name="文本框 6"/>
            <p:cNvSpPr txBox="1"/>
            <p:nvPr/>
          </p:nvSpPr>
          <p:spPr>
            <a:xfrm>
              <a:off x="3454942" y="2993886"/>
              <a:ext cx="2342031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/>
                <a:t>4</a:t>
              </a:r>
              <a:r>
                <a:rPr lang="zh-CN" altLang="en-US" sz="2400" b="1" dirty="0"/>
                <a:t>位快速加法器</a:t>
              </a:r>
              <a:endParaRPr lang="zh-CN" altLang="en-US" sz="2400" b="1" dirty="0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3530600" y="1614488"/>
            <a:ext cx="24145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FFC000"/>
                </a:solidFill>
              </a:rPr>
              <a:t>输入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546475" y="4724400"/>
            <a:ext cx="24145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FFC000"/>
                </a:solidFill>
              </a:rPr>
              <a:t>输出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集成电路功能划分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23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grpSp>
        <p:nvGrpSpPr>
          <p:cNvPr id="110" name="组合 109"/>
          <p:cNvGrpSpPr/>
          <p:nvPr/>
        </p:nvGrpSpPr>
        <p:grpSpPr>
          <a:xfrm>
            <a:off x="836613" y="4627563"/>
            <a:ext cx="7683500" cy="1622425"/>
            <a:chOff x="823912" y="4981331"/>
            <a:chExt cx="7682749" cy="1622520"/>
          </a:xfrm>
        </p:grpSpPr>
        <p:pic>
          <p:nvPicPr>
            <p:cNvPr id="30758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3912" y="5013176"/>
              <a:ext cx="7572375" cy="159067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" name="灯片编号占位符 5"/>
            <p:cNvSpPr txBox="1"/>
            <p:nvPr/>
          </p:nvSpPr>
          <p:spPr bwMode="auto">
            <a:xfrm>
              <a:off x="6601847" y="5063886"/>
              <a:ext cx="1904814" cy="457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FontTx/>
                <a:buNone/>
              </a:pPr>
              <a:fld id="{9A0DB2DC-4C9A-4742-B13C-FB6460FD3503}" type="slidenum">
                <a:rPr lang="en-US" altLang="zh-CN" sz="1000" b="1" dirty="0">
                  <a:effectLst>
                    <a:outerShdw blurRad="38100" dist="38100" dir="2700000">
                      <a:srgbClr val="C0C0C0"/>
                    </a:outerShdw>
                  </a:effectLst>
                </a:rPr>
              </a:fld>
              <a:endParaRPr lang="en-US" altLang="zh-CN" sz="1000" b="1" dirty="0">
                <a:effectLst>
                  <a:outerShdw blurRad="38100" dist="38100" dir="2700000">
                    <a:srgbClr val="C0C0C0"/>
                  </a:outerShdw>
                </a:effectLst>
              </a:endParaRPr>
            </a:p>
          </p:txBody>
        </p:sp>
        <p:sp>
          <p:nvSpPr>
            <p:cNvPr id="30760" name="Text Box 1051"/>
            <p:cNvSpPr txBox="1"/>
            <p:nvPr/>
          </p:nvSpPr>
          <p:spPr>
            <a:xfrm>
              <a:off x="1182053" y="6032376"/>
              <a:ext cx="5334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C</a:t>
              </a:r>
              <a:r>
                <a:rPr lang="en-US" altLang="zh-CN" sz="2400" b="1" baseline="-25000" dirty="0">
                  <a:solidFill>
                    <a:schemeClr val="bg2"/>
                  </a:solidFill>
                </a:rPr>
                <a:t>1</a:t>
              </a:r>
              <a:endParaRPr lang="en-US" altLang="zh-CN" sz="2400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0761" name="Text Box 1052"/>
            <p:cNvSpPr txBox="1"/>
            <p:nvPr/>
          </p:nvSpPr>
          <p:spPr>
            <a:xfrm>
              <a:off x="3140394" y="6068144"/>
              <a:ext cx="5334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C</a:t>
              </a:r>
              <a:r>
                <a:rPr lang="en-US" altLang="zh-CN" sz="2400" b="1" baseline="-25000" dirty="0">
                  <a:solidFill>
                    <a:schemeClr val="bg2"/>
                  </a:solidFill>
                </a:rPr>
                <a:t>2</a:t>
              </a:r>
              <a:endParaRPr lang="en-US" altLang="zh-CN" sz="2400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0762" name="Text Box 1053"/>
            <p:cNvSpPr txBox="1"/>
            <p:nvPr/>
          </p:nvSpPr>
          <p:spPr>
            <a:xfrm>
              <a:off x="5088682" y="6032376"/>
              <a:ext cx="5334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C</a:t>
              </a:r>
              <a:r>
                <a:rPr lang="en-US" altLang="zh-CN" sz="2400" b="1" baseline="-25000" dirty="0">
                  <a:solidFill>
                    <a:schemeClr val="bg2"/>
                  </a:solidFill>
                </a:rPr>
                <a:t>3</a:t>
              </a:r>
              <a:endParaRPr lang="en-US" altLang="zh-CN" sz="2400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0763" name="Text Box 1053"/>
            <p:cNvSpPr txBox="1"/>
            <p:nvPr/>
          </p:nvSpPr>
          <p:spPr>
            <a:xfrm>
              <a:off x="7230311" y="6076255"/>
              <a:ext cx="533400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C</a:t>
              </a:r>
              <a:r>
                <a:rPr lang="en-US" altLang="zh-CN" sz="2400" b="1" baseline="-25000" dirty="0">
                  <a:solidFill>
                    <a:schemeClr val="bg2"/>
                  </a:solidFill>
                </a:rPr>
                <a:t>4</a:t>
              </a:r>
              <a:endParaRPr lang="en-US" altLang="zh-CN" sz="2400" b="1" baseline="-25000" dirty="0">
                <a:solidFill>
                  <a:schemeClr val="bg2"/>
                </a:solidFill>
              </a:endParaRPr>
            </a:p>
          </p:txBody>
        </p:sp>
        <p:grpSp>
          <p:nvGrpSpPr>
            <p:cNvPr id="30764" name="组合 102"/>
            <p:cNvGrpSpPr/>
            <p:nvPr/>
          </p:nvGrpSpPr>
          <p:grpSpPr>
            <a:xfrm>
              <a:off x="909602" y="5013176"/>
              <a:ext cx="4799916" cy="550071"/>
              <a:chOff x="909602" y="5013176"/>
              <a:chExt cx="4799916" cy="550071"/>
            </a:xfrm>
          </p:grpSpPr>
          <p:grpSp>
            <p:nvGrpSpPr>
              <p:cNvPr id="30771" name="组合 101"/>
              <p:cNvGrpSpPr/>
              <p:nvPr/>
            </p:nvGrpSpPr>
            <p:grpSpPr>
              <a:xfrm>
                <a:off x="909602" y="5081736"/>
                <a:ext cx="533400" cy="457200"/>
                <a:chOff x="909602" y="5081736"/>
                <a:chExt cx="533400" cy="457200"/>
              </a:xfrm>
            </p:grpSpPr>
            <p:sp>
              <p:nvSpPr>
                <p:cNvPr id="30787" name="Text Box 1036"/>
                <p:cNvSpPr txBox="1"/>
                <p:nvPr/>
              </p:nvSpPr>
              <p:spPr>
                <a:xfrm>
                  <a:off x="909602" y="5081736"/>
                  <a:ext cx="533400" cy="4572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chemeClr val="bg2"/>
                      </a:solidFill>
                    </a:rPr>
                    <a:t>G</a:t>
                  </a:r>
                  <a:r>
                    <a:rPr lang="en-US" altLang="zh-CN" sz="2400" b="1" baseline="-25000" dirty="0">
                      <a:solidFill>
                        <a:schemeClr val="bg2"/>
                      </a:solidFill>
                    </a:rPr>
                    <a:t>1</a:t>
                  </a:r>
                  <a:endParaRPr lang="en-US" altLang="zh-CN" sz="2400" b="1" baseline="-25000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30788" name="Line 1037"/>
                <p:cNvSpPr/>
                <p:nvPr/>
              </p:nvSpPr>
              <p:spPr>
                <a:xfrm>
                  <a:off x="909602" y="5157936"/>
                  <a:ext cx="381000" cy="0"/>
                </a:xfrm>
                <a:prstGeom prst="line">
                  <a:avLst/>
                </a:prstGeom>
                <a:ln w="2540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0772" name="组合 97"/>
              <p:cNvGrpSpPr/>
              <p:nvPr/>
            </p:nvGrpSpPr>
            <p:grpSpPr>
              <a:xfrm>
                <a:off x="1501769" y="5106047"/>
                <a:ext cx="543304" cy="457200"/>
                <a:chOff x="1501769" y="5106047"/>
                <a:chExt cx="543304" cy="457200"/>
              </a:xfrm>
            </p:grpSpPr>
            <p:sp>
              <p:nvSpPr>
                <p:cNvPr id="30785" name="Text Box 1033"/>
                <p:cNvSpPr txBox="1"/>
                <p:nvPr/>
              </p:nvSpPr>
              <p:spPr>
                <a:xfrm>
                  <a:off x="1511673" y="5106047"/>
                  <a:ext cx="533400" cy="4572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chemeClr val="bg2"/>
                      </a:solidFill>
                    </a:rPr>
                    <a:t>P</a:t>
                  </a:r>
                  <a:r>
                    <a:rPr lang="en-US" altLang="zh-CN" sz="2400" b="1" baseline="-25000" dirty="0">
                      <a:solidFill>
                        <a:schemeClr val="bg2"/>
                      </a:solidFill>
                    </a:rPr>
                    <a:t>1</a:t>
                  </a:r>
                  <a:endParaRPr lang="en-US" altLang="zh-CN" sz="2400" b="1" baseline="-25000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30786" name="Line 1034"/>
                <p:cNvSpPr/>
                <p:nvPr/>
              </p:nvSpPr>
              <p:spPr>
                <a:xfrm>
                  <a:off x="1501769" y="5167711"/>
                  <a:ext cx="381000" cy="0"/>
                </a:xfrm>
                <a:prstGeom prst="line">
                  <a:avLst/>
                </a:prstGeom>
                <a:ln w="2540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0773" name="组合 100"/>
              <p:cNvGrpSpPr/>
              <p:nvPr/>
            </p:nvGrpSpPr>
            <p:grpSpPr>
              <a:xfrm>
                <a:off x="2793318" y="5031608"/>
                <a:ext cx="629283" cy="461665"/>
                <a:chOff x="2793318" y="5031608"/>
                <a:chExt cx="629283" cy="461665"/>
              </a:xfrm>
            </p:grpSpPr>
            <p:sp>
              <p:nvSpPr>
                <p:cNvPr id="30783" name="Text Box 1036"/>
                <p:cNvSpPr txBox="1"/>
                <p:nvPr/>
              </p:nvSpPr>
              <p:spPr>
                <a:xfrm>
                  <a:off x="2793318" y="5031608"/>
                  <a:ext cx="629283" cy="4616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chemeClr val="bg2"/>
                      </a:solidFill>
                    </a:rPr>
                    <a:t>G</a:t>
                  </a:r>
                  <a:r>
                    <a:rPr lang="en-US" altLang="zh-CN" sz="2400" b="1" baseline="-25000" dirty="0">
                      <a:solidFill>
                        <a:schemeClr val="bg2"/>
                      </a:solidFill>
                    </a:rPr>
                    <a:t>2</a:t>
                  </a:r>
                  <a:endParaRPr lang="en-US" altLang="zh-CN" sz="2400" b="1" baseline="-25000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30784" name="Line 1037"/>
                <p:cNvSpPr/>
                <p:nvPr/>
              </p:nvSpPr>
              <p:spPr>
                <a:xfrm>
                  <a:off x="2793318" y="5114952"/>
                  <a:ext cx="449488" cy="0"/>
                </a:xfrm>
                <a:prstGeom prst="line">
                  <a:avLst/>
                </a:prstGeom>
                <a:ln w="2540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0774" name="组合 99"/>
              <p:cNvGrpSpPr/>
              <p:nvPr/>
            </p:nvGrpSpPr>
            <p:grpSpPr>
              <a:xfrm>
                <a:off x="3341421" y="5046144"/>
                <a:ext cx="657640" cy="461665"/>
                <a:chOff x="3341421" y="5046144"/>
                <a:chExt cx="657640" cy="461665"/>
              </a:xfrm>
            </p:grpSpPr>
            <p:sp>
              <p:nvSpPr>
                <p:cNvPr id="30781" name="Text Box 1033"/>
                <p:cNvSpPr txBox="1"/>
                <p:nvPr/>
              </p:nvSpPr>
              <p:spPr>
                <a:xfrm>
                  <a:off x="3369778" y="5046144"/>
                  <a:ext cx="629283" cy="4616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chemeClr val="bg2"/>
                      </a:solidFill>
                    </a:rPr>
                    <a:t>P</a:t>
                  </a:r>
                  <a:r>
                    <a:rPr lang="en-US" altLang="zh-CN" sz="2400" b="1" baseline="-25000" dirty="0">
                      <a:solidFill>
                        <a:schemeClr val="bg2"/>
                      </a:solidFill>
                    </a:rPr>
                    <a:t>2</a:t>
                  </a:r>
                  <a:endParaRPr lang="en-US" altLang="zh-CN" sz="2400" b="1" baseline="-25000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30782" name="Line 1034"/>
                <p:cNvSpPr/>
                <p:nvPr/>
              </p:nvSpPr>
              <p:spPr>
                <a:xfrm>
                  <a:off x="3341421" y="5106047"/>
                  <a:ext cx="449488" cy="0"/>
                </a:xfrm>
                <a:prstGeom prst="line">
                  <a:avLst/>
                </a:prstGeom>
                <a:ln w="2540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0775" name="组合 98"/>
              <p:cNvGrpSpPr/>
              <p:nvPr/>
            </p:nvGrpSpPr>
            <p:grpSpPr>
              <a:xfrm>
                <a:off x="4662832" y="5033840"/>
                <a:ext cx="533400" cy="457200"/>
                <a:chOff x="4662832" y="5033840"/>
                <a:chExt cx="533400" cy="457200"/>
              </a:xfrm>
            </p:grpSpPr>
            <p:sp>
              <p:nvSpPr>
                <p:cNvPr id="30779" name="Text Box 1036"/>
                <p:cNvSpPr txBox="1"/>
                <p:nvPr/>
              </p:nvSpPr>
              <p:spPr>
                <a:xfrm>
                  <a:off x="4662832" y="5033840"/>
                  <a:ext cx="533400" cy="4572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chemeClr val="bg2"/>
                      </a:solidFill>
                    </a:rPr>
                    <a:t>G</a:t>
                  </a:r>
                  <a:r>
                    <a:rPr lang="en-US" altLang="zh-CN" sz="2400" b="1" baseline="-25000" dirty="0">
                      <a:solidFill>
                        <a:schemeClr val="bg2"/>
                      </a:solidFill>
                    </a:rPr>
                    <a:t>3</a:t>
                  </a:r>
                  <a:endParaRPr lang="en-US" altLang="zh-CN" sz="2400" b="1" baseline="-25000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30780" name="Line 1037"/>
                <p:cNvSpPr/>
                <p:nvPr/>
              </p:nvSpPr>
              <p:spPr>
                <a:xfrm>
                  <a:off x="4662832" y="5110040"/>
                  <a:ext cx="381000" cy="0"/>
                </a:xfrm>
                <a:prstGeom prst="line">
                  <a:avLst/>
                </a:prstGeom>
                <a:ln w="2540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0776" name="组合 96"/>
              <p:cNvGrpSpPr/>
              <p:nvPr/>
            </p:nvGrpSpPr>
            <p:grpSpPr>
              <a:xfrm>
                <a:off x="5166214" y="5013176"/>
                <a:ext cx="543304" cy="457200"/>
                <a:chOff x="5166214" y="5013176"/>
                <a:chExt cx="543304" cy="457200"/>
              </a:xfrm>
            </p:grpSpPr>
            <p:sp>
              <p:nvSpPr>
                <p:cNvPr id="30777" name="Text Box 1033"/>
                <p:cNvSpPr txBox="1"/>
                <p:nvPr/>
              </p:nvSpPr>
              <p:spPr>
                <a:xfrm>
                  <a:off x="5176118" y="5013176"/>
                  <a:ext cx="533400" cy="4572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chemeClr val="bg2"/>
                      </a:solidFill>
                    </a:rPr>
                    <a:t>P</a:t>
                  </a:r>
                  <a:r>
                    <a:rPr lang="en-US" altLang="zh-CN" sz="2400" b="1" baseline="-25000" dirty="0">
                      <a:solidFill>
                        <a:schemeClr val="bg2"/>
                      </a:solidFill>
                    </a:rPr>
                    <a:t>3</a:t>
                  </a:r>
                  <a:endParaRPr lang="en-US" altLang="zh-CN" sz="2400" b="1" baseline="-25000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30778" name="Line 1034"/>
                <p:cNvSpPr/>
                <p:nvPr/>
              </p:nvSpPr>
              <p:spPr>
                <a:xfrm>
                  <a:off x="5166214" y="5074840"/>
                  <a:ext cx="381000" cy="0"/>
                </a:xfrm>
                <a:prstGeom prst="line">
                  <a:avLst/>
                </a:prstGeom>
                <a:ln w="2540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30765" name="Group 1044"/>
            <p:cNvGrpSpPr/>
            <p:nvPr/>
          </p:nvGrpSpPr>
          <p:grpSpPr>
            <a:xfrm>
              <a:off x="7328312" y="4981331"/>
              <a:ext cx="533400" cy="457200"/>
              <a:chOff x="432" y="3840"/>
              <a:chExt cx="336" cy="288"/>
            </a:xfrm>
          </p:grpSpPr>
          <p:sp>
            <p:nvSpPr>
              <p:cNvPr id="30769" name="Text Box 1045"/>
              <p:cNvSpPr txBox="1"/>
              <p:nvPr/>
            </p:nvSpPr>
            <p:spPr>
              <a:xfrm>
                <a:off x="432" y="3840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chemeClr val="bg2"/>
                    </a:solidFill>
                  </a:rPr>
                  <a:t>P</a:t>
                </a:r>
                <a:r>
                  <a:rPr lang="en-US" altLang="zh-CN" sz="2400" b="1" baseline="-25000" dirty="0">
                    <a:solidFill>
                      <a:schemeClr val="bg2"/>
                    </a:solidFill>
                  </a:rPr>
                  <a:t>4</a:t>
                </a:r>
                <a:endParaRPr lang="en-US" altLang="zh-CN" sz="2400" b="1" baseline="-250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0770" name="Line 1046"/>
              <p:cNvSpPr/>
              <p:nvPr/>
            </p:nvSpPr>
            <p:spPr>
              <a:xfrm>
                <a:off x="432" y="3888"/>
                <a:ext cx="240" cy="0"/>
              </a:xfrm>
              <a:prstGeom prst="line">
                <a:avLst/>
              </a:prstGeom>
              <a:ln w="254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66" name="组合 106"/>
            <p:cNvGrpSpPr/>
            <p:nvPr/>
          </p:nvGrpSpPr>
          <p:grpSpPr>
            <a:xfrm>
              <a:off x="6288500" y="5001812"/>
              <a:ext cx="697210" cy="461665"/>
              <a:chOff x="8195270" y="5179332"/>
              <a:chExt cx="697210" cy="461665"/>
            </a:xfrm>
          </p:grpSpPr>
          <p:sp>
            <p:nvSpPr>
              <p:cNvPr id="30767" name="Line 1049"/>
              <p:cNvSpPr/>
              <p:nvPr/>
            </p:nvSpPr>
            <p:spPr>
              <a:xfrm>
                <a:off x="8244029" y="5229200"/>
                <a:ext cx="318345" cy="0"/>
              </a:xfrm>
              <a:prstGeom prst="line">
                <a:avLst/>
              </a:prstGeom>
              <a:ln w="254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8" name="Text Box 1048"/>
              <p:cNvSpPr txBox="1"/>
              <p:nvPr/>
            </p:nvSpPr>
            <p:spPr>
              <a:xfrm flipH="1">
                <a:off x="8195270" y="5179332"/>
                <a:ext cx="697210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chemeClr val="bg2"/>
                    </a:solidFill>
                  </a:rPr>
                  <a:t>G</a:t>
                </a:r>
                <a:r>
                  <a:rPr lang="en-US" altLang="zh-CN" sz="2400" b="1" baseline="-25000" dirty="0">
                    <a:solidFill>
                      <a:schemeClr val="bg2"/>
                    </a:solidFill>
                  </a:rPr>
                  <a:t>4</a:t>
                </a:r>
                <a:endParaRPr lang="en-US" altLang="zh-CN" sz="2400" b="1" baseline="-25000" dirty="0">
                  <a:solidFill>
                    <a:schemeClr val="bg2"/>
                  </a:solidFill>
                </a:endParaRPr>
              </a:p>
            </p:txBody>
          </p:sp>
        </p:grpSp>
      </p:grpSp>
      <p:grpSp>
        <p:nvGrpSpPr>
          <p:cNvPr id="30725" name="组合 7"/>
          <p:cNvGrpSpPr/>
          <p:nvPr/>
        </p:nvGrpSpPr>
        <p:grpSpPr>
          <a:xfrm>
            <a:off x="161925" y="1108075"/>
            <a:ext cx="8820150" cy="3505200"/>
            <a:chOff x="161925" y="1108565"/>
            <a:chExt cx="8820150" cy="3505200"/>
          </a:xfrm>
        </p:grpSpPr>
        <p:graphicFrame>
          <p:nvGraphicFramePr>
            <p:cNvPr id="30755" name="Object 1026"/>
            <p:cNvGraphicFramePr>
              <a:graphicFrameLocks noChangeAspect="1"/>
            </p:cNvGraphicFramePr>
            <p:nvPr/>
          </p:nvGraphicFramePr>
          <p:xfrm>
            <a:off x="161925" y="1108565"/>
            <a:ext cx="8820150" cy="3505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2" imgW="13529310" imgH="6617335" progId="Photoshop.Image.6">
                    <p:embed/>
                  </p:oleObj>
                </mc:Choice>
                <mc:Fallback>
                  <p:oleObj name="" r:id="rId2" imgW="13529310" imgH="6617335" progId="Photoshop.Image.6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61925" y="1108565"/>
                          <a:ext cx="8820150" cy="3505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/>
            <p:nvPr/>
          </p:nvSpPr>
          <p:spPr bwMode="auto">
            <a:xfrm>
              <a:off x="468313" y="2061065"/>
              <a:ext cx="8424862" cy="1327150"/>
            </a:xfrm>
            <a:prstGeom prst="rect">
              <a:avLst/>
            </a:prstGeom>
            <a:noFill/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468313" y="1622915"/>
              <a:ext cx="538162" cy="438150"/>
            </a:xfrm>
            <a:prstGeom prst="rect">
              <a:avLst/>
            </a:prstGeom>
            <a:noFill/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" name="Group 1032"/>
          <p:cNvGrpSpPr/>
          <p:nvPr/>
        </p:nvGrpSpPr>
        <p:grpSpPr>
          <a:xfrm>
            <a:off x="2239963" y="2052638"/>
            <a:ext cx="533400" cy="457200"/>
            <a:chOff x="432" y="3840"/>
            <a:chExt cx="336" cy="288"/>
          </a:xfrm>
        </p:grpSpPr>
        <p:sp>
          <p:nvSpPr>
            <p:cNvPr id="30753" name="Text Box 1033"/>
            <p:cNvSpPr txBox="1"/>
            <p:nvPr/>
          </p:nvSpPr>
          <p:spPr>
            <a:xfrm>
              <a:off x="432" y="3840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P</a:t>
              </a:r>
              <a:r>
                <a:rPr lang="en-US" altLang="zh-CN" sz="2400" b="1" baseline="-25000" dirty="0">
                  <a:solidFill>
                    <a:schemeClr val="bg2"/>
                  </a:solidFill>
                </a:rPr>
                <a:t>1</a:t>
              </a:r>
              <a:endParaRPr lang="en-US" altLang="zh-CN" sz="2400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0754" name="Line 1034"/>
            <p:cNvSpPr/>
            <p:nvPr/>
          </p:nvSpPr>
          <p:spPr>
            <a:xfrm>
              <a:off x="432" y="3888"/>
              <a:ext cx="240" cy="0"/>
            </a:xfrm>
            <a:prstGeom prst="line">
              <a:avLst/>
            </a:prstGeom>
            <a:ln w="254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" name="Group 1035"/>
          <p:cNvGrpSpPr/>
          <p:nvPr/>
        </p:nvGrpSpPr>
        <p:grpSpPr>
          <a:xfrm>
            <a:off x="1325563" y="2052638"/>
            <a:ext cx="533400" cy="457200"/>
            <a:chOff x="432" y="3840"/>
            <a:chExt cx="336" cy="288"/>
          </a:xfrm>
        </p:grpSpPr>
        <p:sp>
          <p:nvSpPr>
            <p:cNvPr id="30751" name="Text Box 1036"/>
            <p:cNvSpPr txBox="1"/>
            <p:nvPr/>
          </p:nvSpPr>
          <p:spPr>
            <a:xfrm>
              <a:off x="432" y="3840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G</a:t>
              </a:r>
              <a:r>
                <a:rPr lang="en-US" altLang="zh-CN" sz="2400" b="1" baseline="-25000" dirty="0">
                  <a:solidFill>
                    <a:schemeClr val="bg2"/>
                  </a:solidFill>
                </a:rPr>
                <a:t>1</a:t>
              </a:r>
              <a:endParaRPr lang="en-US" altLang="zh-CN" sz="2400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0752" name="Line 1037"/>
            <p:cNvSpPr/>
            <p:nvPr/>
          </p:nvSpPr>
          <p:spPr>
            <a:xfrm>
              <a:off x="432" y="3888"/>
              <a:ext cx="240" cy="0"/>
            </a:xfrm>
            <a:prstGeom prst="line">
              <a:avLst/>
            </a:prstGeom>
            <a:ln w="254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" name="Group 1038"/>
          <p:cNvGrpSpPr/>
          <p:nvPr/>
        </p:nvGrpSpPr>
        <p:grpSpPr>
          <a:xfrm>
            <a:off x="4144963" y="1900238"/>
            <a:ext cx="533400" cy="457200"/>
            <a:chOff x="432" y="3840"/>
            <a:chExt cx="336" cy="288"/>
          </a:xfrm>
        </p:grpSpPr>
        <p:sp>
          <p:nvSpPr>
            <p:cNvPr id="30749" name="Text Box 1039"/>
            <p:cNvSpPr txBox="1"/>
            <p:nvPr/>
          </p:nvSpPr>
          <p:spPr>
            <a:xfrm>
              <a:off x="432" y="3840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P</a:t>
              </a:r>
              <a:r>
                <a:rPr lang="en-US" altLang="zh-CN" sz="2400" b="1" baseline="-25000" dirty="0">
                  <a:solidFill>
                    <a:schemeClr val="bg2"/>
                  </a:solidFill>
                </a:rPr>
                <a:t>2</a:t>
              </a:r>
              <a:endParaRPr lang="en-US" altLang="zh-CN" sz="2400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0750" name="Line 1040"/>
            <p:cNvSpPr/>
            <p:nvPr/>
          </p:nvSpPr>
          <p:spPr>
            <a:xfrm>
              <a:off x="432" y="3888"/>
              <a:ext cx="240" cy="0"/>
            </a:xfrm>
            <a:prstGeom prst="line">
              <a:avLst/>
            </a:prstGeom>
            <a:ln w="254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0" name="Group 1041"/>
          <p:cNvGrpSpPr/>
          <p:nvPr/>
        </p:nvGrpSpPr>
        <p:grpSpPr>
          <a:xfrm>
            <a:off x="3230563" y="1900238"/>
            <a:ext cx="533400" cy="457200"/>
            <a:chOff x="432" y="3840"/>
            <a:chExt cx="336" cy="288"/>
          </a:xfrm>
        </p:grpSpPr>
        <p:sp>
          <p:nvSpPr>
            <p:cNvPr id="30747" name="Text Box 1042"/>
            <p:cNvSpPr txBox="1"/>
            <p:nvPr/>
          </p:nvSpPr>
          <p:spPr>
            <a:xfrm>
              <a:off x="432" y="3840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G</a:t>
              </a:r>
              <a:r>
                <a:rPr lang="en-US" altLang="zh-CN" sz="2400" b="1" baseline="-25000" dirty="0">
                  <a:solidFill>
                    <a:schemeClr val="bg2"/>
                  </a:solidFill>
                </a:rPr>
                <a:t>2</a:t>
              </a:r>
              <a:endParaRPr lang="en-US" altLang="zh-CN" sz="2400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0748" name="Line 1043"/>
            <p:cNvSpPr/>
            <p:nvPr/>
          </p:nvSpPr>
          <p:spPr>
            <a:xfrm>
              <a:off x="432" y="3888"/>
              <a:ext cx="240" cy="0"/>
            </a:xfrm>
            <a:prstGeom prst="line">
              <a:avLst/>
            </a:prstGeom>
            <a:ln w="254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3" name="Group 1044"/>
          <p:cNvGrpSpPr/>
          <p:nvPr/>
        </p:nvGrpSpPr>
        <p:grpSpPr>
          <a:xfrm>
            <a:off x="5911850" y="1824038"/>
            <a:ext cx="533400" cy="457200"/>
            <a:chOff x="432" y="3840"/>
            <a:chExt cx="336" cy="288"/>
          </a:xfrm>
        </p:grpSpPr>
        <p:sp>
          <p:nvSpPr>
            <p:cNvPr id="30745" name="Text Box 1045"/>
            <p:cNvSpPr txBox="1"/>
            <p:nvPr/>
          </p:nvSpPr>
          <p:spPr>
            <a:xfrm>
              <a:off x="432" y="3840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P</a:t>
              </a:r>
              <a:r>
                <a:rPr lang="en-US" altLang="zh-CN" sz="2400" b="1" baseline="-25000" dirty="0">
                  <a:solidFill>
                    <a:schemeClr val="bg2"/>
                  </a:solidFill>
                </a:rPr>
                <a:t>3</a:t>
              </a:r>
              <a:endParaRPr lang="en-US" altLang="zh-CN" sz="2400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0746" name="Line 1046"/>
            <p:cNvSpPr/>
            <p:nvPr/>
          </p:nvSpPr>
          <p:spPr>
            <a:xfrm>
              <a:off x="432" y="3888"/>
              <a:ext cx="240" cy="0"/>
            </a:xfrm>
            <a:prstGeom prst="line">
              <a:avLst/>
            </a:prstGeom>
            <a:ln w="254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6" name="Group 1047"/>
          <p:cNvGrpSpPr/>
          <p:nvPr/>
        </p:nvGrpSpPr>
        <p:grpSpPr>
          <a:xfrm>
            <a:off x="4997450" y="1824038"/>
            <a:ext cx="533400" cy="457200"/>
            <a:chOff x="432" y="3840"/>
            <a:chExt cx="336" cy="288"/>
          </a:xfrm>
        </p:grpSpPr>
        <p:sp>
          <p:nvSpPr>
            <p:cNvPr id="30743" name="Text Box 1048"/>
            <p:cNvSpPr txBox="1"/>
            <p:nvPr/>
          </p:nvSpPr>
          <p:spPr>
            <a:xfrm>
              <a:off x="432" y="3840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G</a:t>
              </a:r>
              <a:r>
                <a:rPr lang="en-US" altLang="zh-CN" sz="2400" b="1" baseline="-25000" dirty="0">
                  <a:solidFill>
                    <a:schemeClr val="bg2"/>
                  </a:solidFill>
                </a:rPr>
                <a:t>3</a:t>
              </a:r>
              <a:endParaRPr lang="en-US" altLang="zh-CN" sz="2400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0744" name="Line 1049"/>
            <p:cNvSpPr/>
            <p:nvPr/>
          </p:nvSpPr>
          <p:spPr>
            <a:xfrm>
              <a:off x="432" y="3888"/>
              <a:ext cx="240" cy="0"/>
            </a:xfrm>
            <a:prstGeom prst="line">
              <a:avLst/>
            </a:prstGeom>
            <a:ln w="254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9" name="Group 1044"/>
          <p:cNvGrpSpPr/>
          <p:nvPr/>
        </p:nvGrpSpPr>
        <p:grpSpPr>
          <a:xfrm>
            <a:off x="7948613" y="1862138"/>
            <a:ext cx="533400" cy="457200"/>
            <a:chOff x="432" y="3840"/>
            <a:chExt cx="336" cy="288"/>
          </a:xfrm>
        </p:grpSpPr>
        <p:sp>
          <p:nvSpPr>
            <p:cNvPr id="30741" name="Text Box 1045"/>
            <p:cNvSpPr txBox="1"/>
            <p:nvPr/>
          </p:nvSpPr>
          <p:spPr>
            <a:xfrm>
              <a:off x="432" y="3840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P</a:t>
              </a:r>
              <a:r>
                <a:rPr lang="en-US" altLang="zh-CN" sz="2400" b="1" baseline="-25000" dirty="0">
                  <a:solidFill>
                    <a:schemeClr val="bg2"/>
                  </a:solidFill>
                </a:rPr>
                <a:t>4</a:t>
              </a:r>
              <a:endParaRPr lang="en-US" altLang="zh-CN" sz="2400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0742" name="Line 1046"/>
            <p:cNvSpPr/>
            <p:nvPr/>
          </p:nvSpPr>
          <p:spPr>
            <a:xfrm>
              <a:off x="432" y="3888"/>
              <a:ext cx="240" cy="0"/>
            </a:xfrm>
            <a:prstGeom prst="line">
              <a:avLst/>
            </a:prstGeom>
            <a:ln w="254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2" name="组合 31"/>
          <p:cNvGrpSpPr/>
          <p:nvPr/>
        </p:nvGrpSpPr>
        <p:grpSpPr>
          <a:xfrm>
            <a:off x="6908800" y="1882775"/>
            <a:ext cx="696913" cy="461963"/>
            <a:chOff x="8195270" y="5179332"/>
            <a:chExt cx="697210" cy="461665"/>
          </a:xfrm>
        </p:grpSpPr>
        <p:sp>
          <p:nvSpPr>
            <p:cNvPr id="30739" name="Line 1049"/>
            <p:cNvSpPr/>
            <p:nvPr/>
          </p:nvSpPr>
          <p:spPr>
            <a:xfrm>
              <a:off x="8244029" y="5229200"/>
              <a:ext cx="318345" cy="0"/>
            </a:xfrm>
            <a:prstGeom prst="line">
              <a:avLst/>
            </a:prstGeom>
            <a:ln w="254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0" name="Text Box 1048"/>
            <p:cNvSpPr txBox="1"/>
            <p:nvPr/>
          </p:nvSpPr>
          <p:spPr>
            <a:xfrm flipH="1">
              <a:off x="8195270" y="5179332"/>
              <a:ext cx="697210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G</a:t>
              </a:r>
              <a:r>
                <a:rPr lang="en-US" altLang="zh-CN" sz="2400" b="1" baseline="-25000" dirty="0">
                  <a:solidFill>
                    <a:schemeClr val="bg2"/>
                  </a:solidFill>
                </a:rPr>
                <a:t>4</a:t>
              </a:r>
              <a:endParaRPr lang="en-US" altLang="zh-CN" sz="2400" b="1" baseline="-25000" dirty="0">
                <a:solidFill>
                  <a:schemeClr val="bg2"/>
                </a:solidFill>
              </a:endParaRPr>
            </a:p>
          </p:txBody>
        </p:sp>
      </p:grpSp>
      <p:sp>
        <p:nvSpPr>
          <p:cNvPr id="36" name="Text Box 1050"/>
          <p:cNvSpPr txBox="1"/>
          <p:nvPr/>
        </p:nvSpPr>
        <p:spPr>
          <a:xfrm>
            <a:off x="258763" y="3311525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C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0</a:t>
            </a:r>
            <a:endParaRPr lang="en-US" altLang="zh-CN" sz="2400" b="1" baseline="-25000" dirty="0">
              <a:solidFill>
                <a:schemeClr val="bg2"/>
              </a:solidFill>
            </a:endParaRPr>
          </a:p>
        </p:txBody>
      </p:sp>
      <p:sp>
        <p:nvSpPr>
          <p:cNvPr id="37" name="Text Box 1051"/>
          <p:cNvSpPr txBox="1"/>
          <p:nvPr/>
        </p:nvSpPr>
        <p:spPr>
          <a:xfrm>
            <a:off x="1858963" y="3311525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C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1</a:t>
            </a:r>
            <a:endParaRPr lang="en-US" altLang="zh-CN" sz="2400" b="1" baseline="-25000" dirty="0">
              <a:solidFill>
                <a:schemeClr val="bg2"/>
              </a:solidFill>
            </a:endParaRPr>
          </a:p>
        </p:txBody>
      </p:sp>
      <p:sp>
        <p:nvSpPr>
          <p:cNvPr id="38" name="Text Box 1052"/>
          <p:cNvSpPr txBox="1"/>
          <p:nvPr/>
        </p:nvSpPr>
        <p:spPr>
          <a:xfrm>
            <a:off x="3840163" y="3311525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C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2</a:t>
            </a:r>
            <a:endParaRPr lang="en-US" altLang="zh-CN" sz="2400" b="1" baseline="-25000" dirty="0">
              <a:solidFill>
                <a:schemeClr val="bg2"/>
              </a:solidFill>
            </a:endParaRPr>
          </a:p>
        </p:txBody>
      </p:sp>
      <p:sp>
        <p:nvSpPr>
          <p:cNvPr id="39" name="Text Box 1053"/>
          <p:cNvSpPr txBox="1"/>
          <p:nvPr/>
        </p:nvSpPr>
        <p:spPr>
          <a:xfrm>
            <a:off x="5745163" y="3311525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C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3</a:t>
            </a:r>
            <a:endParaRPr lang="en-US" altLang="zh-CN" sz="2400" b="1" baseline="-25000" dirty="0">
              <a:solidFill>
                <a:schemeClr val="bg2"/>
              </a:solidFill>
            </a:endParaRPr>
          </a:p>
        </p:txBody>
      </p:sp>
      <p:sp>
        <p:nvSpPr>
          <p:cNvPr id="40" name="Text Box 1053"/>
          <p:cNvSpPr txBox="1"/>
          <p:nvPr/>
        </p:nvSpPr>
        <p:spPr>
          <a:xfrm>
            <a:off x="7497763" y="3349625"/>
            <a:ext cx="533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C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4</a:t>
            </a:r>
            <a:endParaRPr lang="en-US" altLang="zh-CN" sz="2400" b="1" baseline="-25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50" y="228600"/>
            <a:ext cx="88074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</a:t>
            </a: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位并行加法器集成电路设计方案</a:t>
            </a: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grpSp>
        <p:nvGrpSpPr>
          <p:cNvPr id="67" name="组合 66"/>
          <p:cNvGrpSpPr/>
          <p:nvPr/>
        </p:nvGrpSpPr>
        <p:grpSpPr>
          <a:xfrm>
            <a:off x="1042988" y="1484313"/>
            <a:ext cx="6192837" cy="2016125"/>
            <a:chOff x="1043608" y="1484784"/>
            <a:chExt cx="6192688" cy="2016224"/>
          </a:xfrm>
        </p:grpSpPr>
        <p:grpSp>
          <p:nvGrpSpPr>
            <p:cNvPr id="31769" name="组合 62"/>
            <p:cNvGrpSpPr/>
            <p:nvPr/>
          </p:nvGrpSpPr>
          <p:grpSpPr>
            <a:xfrm>
              <a:off x="1043608" y="1484784"/>
              <a:ext cx="6192688" cy="2016224"/>
              <a:chOff x="1043608" y="1484784"/>
              <a:chExt cx="6192688" cy="2016224"/>
            </a:xfrm>
          </p:grpSpPr>
          <p:sp>
            <p:nvSpPr>
              <p:cNvPr id="31771" name="Rectangle 1054"/>
              <p:cNvSpPr/>
              <p:nvPr/>
            </p:nvSpPr>
            <p:spPr>
              <a:xfrm>
                <a:off x="1475656" y="1844824"/>
                <a:ext cx="5760640" cy="129614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1" dirty="0"/>
              </a:p>
            </p:txBody>
          </p:sp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1844824"/>
                <a:ext cx="3336883" cy="369332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noFill/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 </a:t>
                </a:r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2366918"/>
                <a:ext cx="50405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noFill/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 </a:t>
                </a:r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1774" name="直接连接符 13"/>
              <p:cNvCxnSpPr/>
              <p:nvPr/>
            </p:nvCxnSpPr>
            <p:spPr>
              <a:xfrm>
                <a:off x="1763688" y="148478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75" name="直接连接符 14"/>
              <p:cNvCxnSpPr/>
              <p:nvPr/>
            </p:nvCxnSpPr>
            <p:spPr>
              <a:xfrm>
                <a:off x="2044940" y="148478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76" name="直接连接符 15"/>
              <p:cNvCxnSpPr/>
              <p:nvPr/>
            </p:nvCxnSpPr>
            <p:spPr>
              <a:xfrm>
                <a:off x="2483768" y="148478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77" name="直接连接符 16"/>
              <p:cNvCxnSpPr/>
              <p:nvPr/>
            </p:nvCxnSpPr>
            <p:spPr>
              <a:xfrm>
                <a:off x="2771800" y="148478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78" name="直接连接符 17"/>
              <p:cNvCxnSpPr/>
              <p:nvPr/>
            </p:nvCxnSpPr>
            <p:spPr>
              <a:xfrm>
                <a:off x="3275856" y="148478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79" name="直接连接符 18"/>
              <p:cNvCxnSpPr/>
              <p:nvPr/>
            </p:nvCxnSpPr>
            <p:spPr>
              <a:xfrm>
                <a:off x="3563888" y="1500402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80" name="直接连接符 19"/>
              <p:cNvCxnSpPr/>
              <p:nvPr/>
            </p:nvCxnSpPr>
            <p:spPr>
              <a:xfrm>
                <a:off x="4067944" y="148478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81" name="直接连接符 20"/>
              <p:cNvCxnSpPr/>
              <p:nvPr/>
            </p:nvCxnSpPr>
            <p:spPr>
              <a:xfrm>
                <a:off x="4355976" y="1500402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82" name="直接连接符 21"/>
              <p:cNvCxnSpPr/>
              <p:nvPr/>
            </p:nvCxnSpPr>
            <p:spPr>
              <a:xfrm>
                <a:off x="1907704" y="3140968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83" name="直接连接符 22"/>
              <p:cNvCxnSpPr/>
              <p:nvPr/>
            </p:nvCxnSpPr>
            <p:spPr>
              <a:xfrm>
                <a:off x="2188956" y="3140968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84" name="直接连接符 23"/>
              <p:cNvCxnSpPr/>
              <p:nvPr/>
            </p:nvCxnSpPr>
            <p:spPr>
              <a:xfrm>
                <a:off x="2627784" y="3140968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85" name="直接连接符 24"/>
              <p:cNvCxnSpPr/>
              <p:nvPr/>
            </p:nvCxnSpPr>
            <p:spPr>
              <a:xfrm>
                <a:off x="2915816" y="3140968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86" name="直接连接符 25"/>
              <p:cNvCxnSpPr/>
              <p:nvPr/>
            </p:nvCxnSpPr>
            <p:spPr>
              <a:xfrm>
                <a:off x="3376464" y="3140968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87" name="直接连接符 26"/>
              <p:cNvCxnSpPr/>
              <p:nvPr/>
            </p:nvCxnSpPr>
            <p:spPr>
              <a:xfrm>
                <a:off x="3657716" y="3140968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88" name="直接连接符 27"/>
              <p:cNvCxnSpPr/>
              <p:nvPr/>
            </p:nvCxnSpPr>
            <p:spPr>
              <a:xfrm>
                <a:off x="4096544" y="3140968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89" name="直接连接符 28"/>
              <p:cNvCxnSpPr/>
              <p:nvPr/>
            </p:nvCxnSpPr>
            <p:spPr>
              <a:xfrm>
                <a:off x="4384576" y="3140968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218" y="2828937"/>
                <a:ext cx="3025187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noFill/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 </a:t>
                </a:r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1791" name="直接连接符 40"/>
              <p:cNvCxnSpPr/>
              <p:nvPr/>
            </p:nvCxnSpPr>
            <p:spPr>
              <a:xfrm>
                <a:off x="1043608" y="2551584"/>
                <a:ext cx="4320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826915"/>
                <a:ext cx="12731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noFill/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 </a:t>
                </a:r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1793" name="直接连接符 46"/>
              <p:cNvCxnSpPr/>
              <p:nvPr/>
            </p:nvCxnSpPr>
            <p:spPr>
              <a:xfrm>
                <a:off x="5711450" y="3140968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94" name="直接连接符 47"/>
              <p:cNvCxnSpPr/>
              <p:nvPr/>
            </p:nvCxnSpPr>
            <p:spPr>
              <a:xfrm>
                <a:off x="5992702" y="3140968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95" name="直接连接符 48"/>
              <p:cNvCxnSpPr/>
              <p:nvPr/>
            </p:nvCxnSpPr>
            <p:spPr>
              <a:xfrm>
                <a:off x="6431530" y="3140968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57" name="矩形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1887352"/>
                <a:ext cx="1584177" cy="369332"/>
              </a:xfrm>
              <a:prstGeom prst="rect">
                <a:avLst/>
              </a:prstGeom>
              <a:blipFill>
                <a:blip r:embed="rId5"/>
                <a:stretch>
                  <a:fillRect l="-3077" t="-11667" b="-26667"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noFill/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 </a:t>
                </a:r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1797" name="直接连接符 57"/>
              <p:cNvCxnSpPr/>
              <p:nvPr/>
            </p:nvCxnSpPr>
            <p:spPr>
              <a:xfrm>
                <a:off x="5796136" y="1500402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98" name="直接连接符 58"/>
              <p:cNvCxnSpPr/>
              <p:nvPr/>
            </p:nvCxnSpPr>
            <p:spPr>
              <a:xfrm>
                <a:off x="6077388" y="1500402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99" name="直接连接符 59"/>
              <p:cNvCxnSpPr/>
              <p:nvPr/>
            </p:nvCxnSpPr>
            <p:spPr>
              <a:xfrm>
                <a:off x="6516216" y="1500402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800" name="直接连接符 60"/>
              <p:cNvCxnSpPr/>
              <p:nvPr/>
            </p:nvCxnSpPr>
            <p:spPr>
              <a:xfrm>
                <a:off x="6804248" y="1500402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31770" name="文本框 63"/>
            <p:cNvSpPr txBox="1"/>
            <p:nvPr/>
          </p:nvSpPr>
          <p:spPr>
            <a:xfrm>
              <a:off x="3059832" y="2262063"/>
              <a:ext cx="291632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/>
                <a:t>4</a:t>
              </a:r>
              <a:r>
                <a:rPr lang="zh-CN" altLang="en-US" sz="2400" b="1" dirty="0"/>
                <a:t>位快速加法发生器</a:t>
              </a:r>
              <a:endParaRPr lang="zh-CN" altLang="en-US" sz="2400" b="1" dirty="0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054100" y="4344988"/>
            <a:ext cx="6256338" cy="1298575"/>
            <a:chOff x="1054731" y="4344954"/>
            <a:chExt cx="6255940" cy="1298743"/>
          </a:xfrm>
        </p:grpSpPr>
        <p:grpSp>
          <p:nvGrpSpPr>
            <p:cNvPr id="31750" name="组合 61"/>
            <p:cNvGrpSpPr/>
            <p:nvPr/>
          </p:nvGrpSpPr>
          <p:grpSpPr>
            <a:xfrm>
              <a:off x="1054731" y="4344954"/>
              <a:ext cx="6255940" cy="1298743"/>
              <a:chOff x="1054731" y="4344954"/>
              <a:chExt cx="6255940" cy="1298743"/>
            </a:xfrm>
          </p:grpSpPr>
          <p:sp>
            <p:nvSpPr>
              <p:cNvPr id="31752" name="Rectangle 1054"/>
              <p:cNvSpPr/>
              <p:nvPr/>
            </p:nvSpPr>
            <p:spPr>
              <a:xfrm>
                <a:off x="1486779" y="4707593"/>
                <a:ext cx="5823892" cy="93610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1" dirty="0"/>
              </a:p>
            </p:txBody>
          </p:sp>
          <p:cxnSp>
            <p:nvCxnSpPr>
              <p:cNvPr id="31753" name="直接连接符 30"/>
              <p:cNvCxnSpPr/>
              <p:nvPr/>
            </p:nvCxnSpPr>
            <p:spPr>
              <a:xfrm>
                <a:off x="1907704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54" name="直接连接符 31"/>
              <p:cNvCxnSpPr/>
              <p:nvPr/>
            </p:nvCxnSpPr>
            <p:spPr>
              <a:xfrm>
                <a:off x="2188956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55" name="直接连接符 32"/>
              <p:cNvCxnSpPr/>
              <p:nvPr/>
            </p:nvCxnSpPr>
            <p:spPr>
              <a:xfrm>
                <a:off x="2627784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56" name="直接连接符 33"/>
              <p:cNvCxnSpPr/>
              <p:nvPr/>
            </p:nvCxnSpPr>
            <p:spPr>
              <a:xfrm>
                <a:off x="2915816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57" name="直接连接符 34"/>
              <p:cNvCxnSpPr/>
              <p:nvPr/>
            </p:nvCxnSpPr>
            <p:spPr>
              <a:xfrm>
                <a:off x="3376464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58" name="直接连接符 35"/>
              <p:cNvCxnSpPr/>
              <p:nvPr/>
            </p:nvCxnSpPr>
            <p:spPr>
              <a:xfrm>
                <a:off x="3657716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59" name="直接连接符 36"/>
              <p:cNvCxnSpPr/>
              <p:nvPr/>
            </p:nvCxnSpPr>
            <p:spPr>
              <a:xfrm>
                <a:off x="4096544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60" name="直接连接符 37"/>
              <p:cNvCxnSpPr/>
              <p:nvPr/>
            </p:nvCxnSpPr>
            <p:spPr>
              <a:xfrm>
                <a:off x="4384576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043" y="4752523"/>
                <a:ext cx="3025187" cy="3699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noFill/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 </a:t>
                </a:r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314" y="4704994"/>
                <a:ext cx="147989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noFill/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 </a:t>
                </a:r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1763" name="直接连接符 50"/>
              <p:cNvCxnSpPr/>
              <p:nvPr/>
            </p:nvCxnSpPr>
            <p:spPr>
              <a:xfrm>
                <a:off x="5713817" y="434495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64" name="直接连接符 51"/>
              <p:cNvCxnSpPr/>
              <p:nvPr/>
            </p:nvCxnSpPr>
            <p:spPr>
              <a:xfrm>
                <a:off x="5995069" y="434495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65" name="直接连接符 52"/>
              <p:cNvCxnSpPr/>
              <p:nvPr/>
            </p:nvCxnSpPr>
            <p:spPr>
              <a:xfrm>
                <a:off x="6433897" y="434495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766" name="直接连接符 53"/>
              <p:cNvCxnSpPr/>
              <p:nvPr/>
            </p:nvCxnSpPr>
            <p:spPr>
              <a:xfrm>
                <a:off x="6721929" y="434495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55" name="矩形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7" y="5099174"/>
                <a:ext cx="50405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noFill/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 </a:t>
                </a:r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1768" name="直接连接符 55"/>
              <p:cNvCxnSpPr/>
              <p:nvPr/>
            </p:nvCxnSpPr>
            <p:spPr>
              <a:xfrm>
                <a:off x="1054731" y="5283840"/>
                <a:ext cx="4320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31751" name="文本框 64"/>
            <p:cNvSpPr txBox="1"/>
            <p:nvPr/>
          </p:nvSpPr>
          <p:spPr>
            <a:xfrm>
              <a:off x="3558350" y="5128179"/>
              <a:ext cx="259228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dirty="0"/>
                <a:t>快速进位扩展器</a:t>
              </a:r>
              <a:endParaRPr lang="zh-CN" altLang="en-US" sz="2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228600"/>
            <a:ext cx="873601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</a:t>
            </a: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位并行加法器集成电路设计方案</a:t>
            </a: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2771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85" name="组合 84"/>
          <p:cNvGrpSpPr/>
          <p:nvPr/>
        </p:nvGrpSpPr>
        <p:grpSpPr>
          <a:xfrm>
            <a:off x="1287463" y="2608263"/>
            <a:ext cx="3708400" cy="2922587"/>
            <a:chOff x="1788990" y="1383350"/>
            <a:chExt cx="3708411" cy="2923520"/>
          </a:xfrm>
        </p:grpSpPr>
        <p:sp>
          <p:nvSpPr>
            <p:cNvPr id="32788" name="矩形 8"/>
            <p:cNvSpPr/>
            <p:nvPr/>
          </p:nvSpPr>
          <p:spPr>
            <a:xfrm>
              <a:off x="3563888" y="2488436"/>
              <a:ext cx="864096" cy="40335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32789" name="椭圆 9"/>
            <p:cNvSpPr/>
            <p:nvPr/>
          </p:nvSpPr>
          <p:spPr>
            <a:xfrm>
              <a:off x="3943132" y="2889040"/>
              <a:ext cx="144016" cy="14410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cxnSp>
          <p:nvCxnSpPr>
            <p:cNvPr id="32790" name="直接连接符 10"/>
            <p:cNvCxnSpPr/>
            <p:nvPr/>
          </p:nvCxnSpPr>
          <p:spPr>
            <a:xfrm flipH="1">
              <a:off x="3827613" y="1752912"/>
              <a:ext cx="5598" cy="7355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91" name="直接连接符 16"/>
            <p:cNvCxnSpPr/>
            <p:nvPr/>
          </p:nvCxnSpPr>
          <p:spPr>
            <a:xfrm flipH="1">
              <a:off x="3995937" y="3033146"/>
              <a:ext cx="19203" cy="10145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92" name="直接连接符 20"/>
            <p:cNvCxnSpPr/>
            <p:nvPr/>
          </p:nvCxnSpPr>
          <p:spPr>
            <a:xfrm>
              <a:off x="2971609" y="2060848"/>
              <a:ext cx="219325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93" name="直接连接符 21"/>
            <p:cNvCxnSpPr/>
            <p:nvPr/>
          </p:nvCxnSpPr>
          <p:spPr>
            <a:xfrm flipV="1">
              <a:off x="4796884" y="2187560"/>
              <a:ext cx="0" cy="3103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94" name="直接连接符 23"/>
            <p:cNvCxnSpPr/>
            <p:nvPr/>
          </p:nvCxnSpPr>
          <p:spPr>
            <a:xfrm>
              <a:off x="2750190" y="2195412"/>
              <a:ext cx="204669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2795" name="椭圆 24"/>
            <p:cNvSpPr/>
            <p:nvPr/>
          </p:nvSpPr>
          <p:spPr>
            <a:xfrm>
              <a:off x="3753307" y="2123305"/>
              <a:ext cx="144016" cy="14410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32796" name="椭圆 25"/>
            <p:cNvSpPr/>
            <p:nvPr/>
          </p:nvSpPr>
          <p:spPr>
            <a:xfrm>
              <a:off x="4098845" y="1997715"/>
              <a:ext cx="144016" cy="14410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32797" name="文本框 5"/>
            <p:cNvSpPr txBox="1"/>
            <p:nvPr/>
          </p:nvSpPr>
          <p:spPr>
            <a:xfrm>
              <a:off x="3637899" y="1387840"/>
              <a:ext cx="504057" cy="36956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X</a:t>
              </a:r>
              <a:r>
                <a:rPr lang="en-US" altLang="zh-CN" sz="1800" b="1" baseline="-25000" dirty="0"/>
                <a:t>1</a:t>
              </a:r>
              <a:endParaRPr lang="zh-CN" altLang="en-US" sz="1800" b="1" baseline="-25000" dirty="0"/>
            </a:p>
          </p:txBody>
        </p:sp>
        <p:sp>
          <p:nvSpPr>
            <p:cNvPr id="32798" name="文本框 6"/>
            <p:cNvSpPr txBox="1"/>
            <p:nvPr/>
          </p:nvSpPr>
          <p:spPr>
            <a:xfrm>
              <a:off x="4044300" y="1383350"/>
              <a:ext cx="504057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Y</a:t>
              </a:r>
              <a:r>
                <a:rPr lang="en-US" altLang="zh-CN" sz="1800" b="1" baseline="-25000" dirty="0"/>
                <a:t>1</a:t>
              </a:r>
              <a:endParaRPr lang="zh-CN" altLang="en-US" sz="1800" b="1" baseline="-25000" dirty="0"/>
            </a:p>
          </p:txBody>
        </p:sp>
        <p:sp>
          <p:nvSpPr>
            <p:cNvPr id="32799" name="矩形 8"/>
            <p:cNvSpPr/>
            <p:nvPr/>
          </p:nvSpPr>
          <p:spPr>
            <a:xfrm>
              <a:off x="4555200" y="2492896"/>
              <a:ext cx="864096" cy="396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32800" name="椭圆 9"/>
            <p:cNvSpPr/>
            <p:nvPr/>
          </p:nvSpPr>
          <p:spPr>
            <a:xfrm>
              <a:off x="4915240" y="2887891"/>
              <a:ext cx="144016" cy="14410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32801" name="文本框 29"/>
            <p:cNvSpPr txBox="1"/>
            <p:nvPr/>
          </p:nvSpPr>
          <p:spPr>
            <a:xfrm>
              <a:off x="4788024" y="2462992"/>
              <a:ext cx="376840" cy="4619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/>
                <a:t>+</a:t>
              </a:r>
              <a:endParaRPr lang="zh-CN" altLang="en-US" sz="2400" b="1" dirty="0"/>
            </a:p>
          </p:txBody>
        </p:sp>
        <p:cxnSp>
          <p:nvCxnSpPr>
            <p:cNvPr id="32802" name="直接连接符 10"/>
            <p:cNvCxnSpPr/>
            <p:nvPr/>
          </p:nvCxnSpPr>
          <p:spPr>
            <a:xfrm flipH="1">
              <a:off x="4160650" y="1752912"/>
              <a:ext cx="7507" cy="74497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803" name="直接连接符 21"/>
            <p:cNvCxnSpPr/>
            <p:nvPr/>
          </p:nvCxnSpPr>
          <p:spPr>
            <a:xfrm flipV="1">
              <a:off x="5166773" y="2060848"/>
              <a:ext cx="0" cy="4298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804" name="直接连接符 16"/>
            <p:cNvCxnSpPr/>
            <p:nvPr/>
          </p:nvCxnSpPr>
          <p:spPr>
            <a:xfrm>
              <a:off x="4987248" y="3031997"/>
              <a:ext cx="0" cy="10156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2805" name="矩形 8"/>
            <p:cNvSpPr/>
            <p:nvPr/>
          </p:nvSpPr>
          <p:spPr>
            <a:xfrm>
              <a:off x="2445360" y="2497889"/>
              <a:ext cx="864096" cy="396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32806" name="文本框 29"/>
            <p:cNvSpPr txBox="1"/>
            <p:nvPr/>
          </p:nvSpPr>
          <p:spPr>
            <a:xfrm>
              <a:off x="2702202" y="2458050"/>
              <a:ext cx="376840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sym typeface="Symbol" panose="05050102010706020507" pitchFamily="18" charset="2"/>
                </a:rPr>
                <a:t></a:t>
              </a:r>
              <a:endParaRPr lang="zh-CN" altLang="en-US" sz="2400" b="1" dirty="0"/>
            </a:p>
          </p:txBody>
        </p:sp>
        <p:sp>
          <p:nvSpPr>
            <p:cNvPr id="32807" name="矩形 8"/>
            <p:cNvSpPr/>
            <p:nvPr/>
          </p:nvSpPr>
          <p:spPr>
            <a:xfrm>
              <a:off x="1860999" y="3339388"/>
              <a:ext cx="864096" cy="40335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32808" name="文本框 29"/>
            <p:cNvSpPr txBox="1"/>
            <p:nvPr/>
          </p:nvSpPr>
          <p:spPr>
            <a:xfrm>
              <a:off x="2085549" y="3294054"/>
              <a:ext cx="376840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sym typeface="Symbol" panose="05050102010706020507" pitchFamily="18" charset="2"/>
                </a:rPr>
                <a:t></a:t>
              </a:r>
              <a:endParaRPr lang="zh-CN" altLang="en-US" sz="2400" b="1" dirty="0"/>
            </a:p>
          </p:txBody>
        </p:sp>
        <p:cxnSp>
          <p:nvCxnSpPr>
            <p:cNvPr id="32809" name="直接连接符 21"/>
            <p:cNvCxnSpPr/>
            <p:nvPr/>
          </p:nvCxnSpPr>
          <p:spPr>
            <a:xfrm flipV="1">
              <a:off x="2750190" y="2195412"/>
              <a:ext cx="0" cy="3103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810" name="直接连接符 21"/>
            <p:cNvCxnSpPr/>
            <p:nvPr/>
          </p:nvCxnSpPr>
          <p:spPr>
            <a:xfrm flipV="1">
              <a:off x="2971609" y="2060848"/>
              <a:ext cx="0" cy="4298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811" name="直接连接符 21"/>
            <p:cNvCxnSpPr/>
            <p:nvPr/>
          </p:nvCxnSpPr>
          <p:spPr>
            <a:xfrm flipV="1">
              <a:off x="2912204" y="2887891"/>
              <a:ext cx="0" cy="3103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812" name="直接连接符 20"/>
            <p:cNvCxnSpPr/>
            <p:nvPr/>
          </p:nvCxnSpPr>
          <p:spPr>
            <a:xfrm>
              <a:off x="2462389" y="3198220"/>
              <a:ext cx="4498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813" name="直接连接符 21"/>
            <p:cNvCxnSpPr/>
            <p:nvPr/>
          </p:nvCxnSpPr>
          <p:spPr>
            <a:xfrm flipV="1">
              <a:off x="2462389" y="3196509"/>
              <a:ext cx="0" cy="1568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814" name="直接连接符 10"/>
            <p:cNvCxnSpPr/>
            <p:nvPr/>
          </p:nvCxnSpPr>
          <p:spPr>
            <a:xfrm flipH="1">
              <a:off x="2203132" y="1752912"/>
              <a:ext cx="11814" cy="15747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2815" name="文本框 6"/>
            <p:cNvSpPr txBox="1"/>
            <p:nvPr/>
          </p:nvSpPr>
          <p:spPr>
            <a:xfrm>
              <a:off x="1788990" y="1397477"/>
              <a:ext cx="504057" cy="36956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C</a:t>
              </a:r>
              <a:r>
                <a:rPr lang="en-US" altLang="zh-CN" sz="1800" b="1" baseline="-25000" dirty="0"/>
                <a:t>0</a:t>
              </a:r>
              <a:endParaRPr lang="zh-CN" altLang="en-US" sz="1800" b="1" baseline="-25000" dirty="0"/>
            </a:p>
          </p:txBody>
        </p:sp>
        <p:sp>
          <p:nvSpPr>
            <p:cNvPr id="32816" name="文本框 5"/>
            <p:cNvSpPr txBox="1"/>
            <p:nvPr/>
          </p:nvSpPr>
          <p:spPr>
            <a:xfrm>
              <a:off x="4023040" y="3635264"/>
              <a:ext cx="504057" cy="6463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_</a:t>
              </a:r>
              <a:endParaRPr lang="en-US" altLang="zh-CN" sz="1800" b="1" dirty="0"/>
            </a:p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G</a:t>
              </a:r>
              <a:r>
                <a:rPr lang="en-US" altLang="zh-CN" sz="1800" b="1" baseline="-25000" dirty="0"/>
                <a:t>1</a:t>
              </a:r>
              <a:endParaRPr lang="zh-CN" altLang="en-US" sz="1800" b="1" baseline="-25000" dirty="0"/>
            </a:p>
          </p:txBody>
        </p:sp>
        <p:sp>
          <p:nvSpPr>
            <p:cNvPr id="32817" name="文本框 5"/>
            <p:cNvSpPr txBox="1"/>
            <p:nvPr/>
          </p:nvSpPr>
          <p:spPr>
            <a:xfrm>
              <a:off x="4993344" y="3635188"/>
              <a:ext cx="504057" cy="6463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_</a:t>
              </a:r>
              <a:endParaRPr lang="en-US" altLang="zh-CN" sz="1800" b="1" dirty="0"/>
            </a:p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P</a:t>
              </a:r>
              <a:r>
                <a:rPr lang="en-US" altLang="zh-CN" sz="1800" b="1" baseline="-25000" dirty="0"/>
                <a:t>1</a:t>
              </a:r>
              <a:endParaRPr lang="zh-CN" altLang="en-US" sz="1800" b="1" baseline="-25000" dirty="0"/>
            </a:p>
          </p:txBody>
        </p:sp>
        <p:cxnSp>
          <p:nvCxnSpPr>
            <p:cNvPr id="32818" name="直接连接符 10"/>
            <p:cNvCxnSpPr/>
            <p:nvPr/>
          </p:nvCxnSpPr>
          <p:spPr>
            <a:xfrm>
              <a:off x="2287164" y="3742746"/>
              <a:ext cx="0" cy="4783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2819" name="文本框 5"/>
            <p:cNvSpPr txBox="1"/>
            <p:nvPr/>
          </p:nvSpPr>
          <p:spPr>
            <a:xfrm>
              <a:off x="2328060" y="3937538"/>
              <a:ext cx="504057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F</a:t>
              </a:r>
              <a:r>
                <a:rPr lang="en-US" altLang="zh-CN" sz="1800" b="1" baseline="-25000" dirty="0"/>
                <a:t>1</a:t>
              </a:r>
              <a:endParaRPr lang="zh-CN" altLang="en-US" sz="1800" b="1" baseline="-25000" dirty="0"/>
            </a:p>
          </p:txBody>
        </p:sp>
      </p:grpSp>
      <p:sp>
        <p:nvSpPr>
          <p:cNvPr id="118" name="Rectangle 1055"/>
          <p:cNvSpPr/>
          <p:nvPr/>
        </p:nvSpPr>
        <p:spPr>
          <a:xfrm>
            <a:off x="1069975" y="3117850"/>
            <a:ext cx="4176713" cy="1938338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1" dirty="0"/>
          </a:p>
        </p:txBody>
      </p:sp>
      <p:grpSp>
        <p:nvGrpSpPr>
          <p:cNvPr id="121" name="组合 120"/>
          <p:cNvGrpSpPr/>
          <p:nvPr/>
        </p:nvGrpSpPr>
        <p:grpSpPr>
          <a:xfrm>
            <a:off x="5867400" y="3284538"/>
            <a:ext cx="1903413" cy="1876425"/>
            <a:chOff x="1043608" y="1484784"/>
            <a:chExt cx="2376264" cy="2016224"/>
          </a:xfrm>
        </p:grpSpPr>
        <p:sp>
          <p:nvSpPr>
            <p:cNvPr id="32776" name="Rectangle 1054"/>
            <p:cNvSpPr/>
            <p:nvPr/>
          </p:nvSpPr>
          <p:spPr>
            <a:xfrm>
              <a:off x="1475656" y="1827684"/>
              <a:ext cx="1944216" cy="12961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123" name="矩形 122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583669" y="1844824"/>
              <a:ext cx="1080120" cy="369332"/>
            </a:xfrm>
            <a:prstGeom prst="rect">
              <a:avLst/>
            </a:prstGeom>
            <a:blipFill>
              <a:blip r:embed="rId1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矩形 123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403648" y="2366918"/>
              <a:ext cx="504057" cy="369332"/>
            </a:xfrm>
            <a:prstGeom prst="rect">
              <a:avLst/>
            </a:prstGeom>
            <a:blipFill>
              <a:blip r:embed="rId2"/>
              <a:stretch>
                <a:fillRect r="-5970" b="-1786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2779" name="直接连接符 93"/>
            <p:cNvCxnSpPr/>
            <p:nvPr/>
          </p:nvCxnSpPr>
          <p:spPr>
            <a:xfrm>
              <a:off x="1763688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80" name="直接连接符 94"/>
            <p:cNvCxnSpPr/>
            <p:nvPr/>
          </p:nvCxnSpPr>
          <p:spPr>
            <a:xfrm>
              <a:off x="2044940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81" name="直接连接符 95"/>
            <p:cNvCxnSpPr/>
            <p:nvPr/>
          </p:nvCxnSpPr>
          <p:spPr>
            <a:xfrm>
              <a:off x="1907704" y="3140968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82" name="直接连接符 96"/>
            <p:cNvCxnSpPr/>
            <p:nvPr/>
          </p:nvCxnSpPr>
          <p:spPr>
            <a:xfrm>
              <a:off x="2188956" y="3140968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29" name="矩形 128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737218" y="2828937"/>
              <a:ext cx="822661" cy="369909"/>
            </a:xfrm>
            <a:prstGeom prst="rect">
              <a:avLst/>
            </a:prstGeom>
            <a:blipFill>
              <a:blip r:embed="rId3"/>
              <a:stretch>
                <a:fillRect r="-14815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2784" name="直接连接符 98"/>
            <p:cNvCxnSpPr/>
            <p:nvPr/>
          </p:nvCxnSpPr>
          <p:spPr>
            <a:xfrm>
              <a:off x="1043608" y="2551584"/>
              <a:ext cx="43204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31" name="矩形 130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559878" y="1849542"/>
              <a:ext cx="714398" cy="397091"/>
            </a:xfrm>
            <a:prstGeom prst="rect">
              <a:avLst/>
            </a:prstGeom>
            <a:blipFill>
              <a:blip r:embed="rId4"/>
              <a:stretch>
                <a:fillRect l="-8511" t="-9836" b="-22951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2786" name="直接连接符 102"/>
            <p:cNvCxnSpPr/>
            <p:nvPr/>
          </p:nvCxnSpPr>
          <p:spPr>
            <a:xfrm>
              <a:off x="2936843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2787" name="文本框 103"/>
            <p:cNvSpPr txBox="1"/>
            <p:nvPr/>
          </p:nvSpPr>
          <p:spPr>
            <a:xfrm>
              <a:off x="1655676" y="2102287"/>
              <a:ext cx="1721059" cy="6949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1</a:t>
              </a:r>
              <a:r>
                <a:rPr lang="zh-CN" altLang="en-US" sz="1800" b="1" dirty="0"/>
                <a:t>位加</a:t>
              </a:r>
              <a:endParaRPr lang="en-US" altLang="zh-CN" sz="18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/>
                <a:t>法发生器</a:t>
              </a:r>
              <a:endParaRPr lang="zh-CN" altLang="en-US" sz="1800" b="1" dirty="0"/>
            </a:p>
          </p:txBody>
        </p:sp>
      </p:grpSp>
      <p:sp>
        <p:nvSpPr>
          <p:cNvPr id="134" name="文本框 63"/>
          <p:cNvSpPr txBox="1"/>
          <p:nvPr/>
        </p:nvSpPr>
        <p:spPr>
          <a:xfrm>
            <a:off x="984250" y="2066925"/>
            <a:ext cx="45735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/>
              <a:t>设计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位快速加法发生器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3" name="组合 162"/>
          <p:cNvGrpSpPr/>
          <p:nvPr/>
        </p:nvGrpSpPr>
        <p:grpSpPr>
          <a:xfrm>
            <a:off x="512763" y="3724275"/>
            <a:ext cx="7629525" cy="395288"/>
            <a:chOff x="590113" y="3721783"/>
            <a:chExt cx="7630047" cy="393885"/>
          </a:xfrm>
        </p:grpSpPr>
        <p:sp>
          <p:nvSpPr>
            <p:cNvPr id="145" name="矩形 144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90113" y="3721783"/>
              <a:ext cx="865942" cy="369909"/>
            </a:xfrm>
            <a:prstGeom prst="rect">
              <a:avLst/>
            </a:prstGeom>
            <a:blipFill>
              <a:blip r:embed="rId1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6" name="矩形 145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751031" y="3745759"/>
              <a:ext cx="865942" cy="369909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" name="矩形 146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081185" y="3731884"/>
              <a:ext cx="865943" cy="369909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8" name="矩形 147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7354218" y="3731714"/>
              <a:ext cx="865942" cy="369909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50" y="228600"/>
            <a:ext cx="88074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</a:t>
            </a: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位并行加法器集成电路设计方案</a:t>
            </a: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grpSp>
        <p:nvGrpSpPr>
          <p:cNvPr id="5" name="组合 4"/>
          <p:cNvGrpSpPr/>
          <p:nvPr/>
        </p:nvGrpSpPr>
        <p:grpSpPr>
          <a:xfrm>
            <a:off x="1455738" y="4778375"/>
            <a:ext cx="6254750" cy="1298575"/>
            <a:chOff x="1054731" y="4344954"/>
            <a:chExt cx="6255940" cy="1298743"/>
          </a:xfrm>
        </p:grpSpPr>
        <p:grpSp>
          <p:nvGrpSpPr>
            <p:cNvPr id="33878" name="组合 5"/>
            <p:cNvGrpSpPr/>
            <p:nvPr/>
          </p:nvGrpSpPr>
          <p:grpSpPr>
            <a:xfrm>
              <a:off x="1054731" y="4344954"/>
              <a:ext cx="6255940" cy="1298743"/>
              <a:chOff x="1054731" y="4344954"/>
              <a:chExt cx="6255940" cy="1298743"/>
            </a:xfrm>
          </p:grpSpPr>
          <p:sp>
            <p:nvSpPr>
              <p:cNvPr id="33880" name="Rectangle 1054"/>
              <p:cNvSpPr/>
              <p:nvPr/>
            </p:nvSpPr>
            <p:spPr>
              <a:xfrm>
                <a:off x="1486779" y="4707593"/>
                <a:ext cx="5823892" cy="93610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1" dirty="0"/>
              </a:p>
            </p:txBody>
          </p:sp>
          <p:cxnSp>
            <p:nvCxnSpPr>
              <p:cNvPr id="33881" name="直接连接符 8"/>
              <p:cNvCxnSpPr/>
              <p:nvPr/>
            </p:nvCxnSpPr>
            <p:spPr>
              <a:xfrm>
                <a:off x="1907704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3882" name="直接连接符 9"/>
              <p:cNvCxnSpPr/>
              <p:nvPr/>
            </p:nvCxnSpPr>
            <p:spPr>
              <a:xfrm>
                <a:off x="2188956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3883" name="直接连接符 10"/>
              <p:cNvCxnSpPr/>
              <p:nvPr/>
            </p:nvCxnSpPr>
            <p:spPr>
              <a:xfrm>
                <a:off x="2627784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3884" name="直接连接符 11"/>
              <p:cNvCxnSpPr/>
              <p:nvPr/>
            </p:nvCxnSpPr>
            <p:spPr>
              <a:xfrm>
                <a:off x="2915816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3885" name="直接连接符 12"/>
              <p:cNvCxnSpPr/>
              <p:nvPr/>
            </p:nvCxnSpPr>
            <p:spPr>
              <a:xfrm>
                <a:off x="3376464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3886" name="直接连接符 13"/>
              <p:cNvCxnSpPr/>
              <p:nvPr/>
            </p:nvCxnSpPr>
            <p:spPr>
              <a:xfrm>
                <a:off x="3657716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3887" name="直接连接符 14"/>
              <p:cNvCxnSpPr/>
              <p:nvPr/>
            </p:nvCxnSpPr>
            <p:spPr>
              <a:xfrm>
                <a:off x="4096544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3888" name="直接连接符 15"/>
              <p:cNvCxnSpPr/>
              <p:nvPr/>
            </p:nvCxnSpPr>
            <p:spPr>
              <a:xfrm>
                <a:off x="4384576" y="4347553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043" y="4752523"/>
                <a:ext cx="3025187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noFill/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 </a:t>
                </a:r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314" y="4704994"/>
                <a:ext cx="147989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noFill/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 </a:t>
                </a:r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3891" name="直接连接符 18"/>
              <p:cNvCxnSpPr/>
              <p:nvPr/>
            </p:nvCxnSpPr>
            <p:spPr>
              <a:xfrm>
                <a:off x="5713817" y="434495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3892" name="直接连接符 19"/>
              <p:cNvCxnSpPr/>
              <p:nvPr/>
            </p:nvCxnSpPr>
            <p:spPr>
              <a:xfrm>
                <a:off x="5995069" y="434495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3893" name="直接连接符 20"/>
              <p:cNvCxnSpPr/>
              <p:nvPr/>
            </p:nvCxnSpPr>
            <p:spPr>
              <a:xfrm>
                <a:off x="6433897" y="434495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3894" name="直接连接符 21"/>
              <p:cNvCxnSpPr/>
              <p:nvPr/>
            </p:nvCxnSpPr>
            <p:spPr>
              <a:xfrm>
                <a:off x="6721929" y="4344954"/>
                <a:ext cx="0" cy="3600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7" y="5099174"/>
                <a:ext cx="50405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600" b="1" i="0" u="none" strike="noStrike" kern="1200" cap="none" spc="0" normalizeH="0" baseline="0" noProof="0">
                    <a:ln>
                      <a:noFill/>
                    </a:ln>
                    <a:noFill/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 </a:t>
                </a:r>
                <a:endPara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3896" name="直接连接符 23"/>
              <p:cNvCxnSpPr/>
              <p:nvPr/>
            </p:nvCxnSpPr>
            <p:spPr>
              <a:xfrm>
                <a:off x="1054731" y="5283840"/>
                <a:ext cx="4320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33879" name="文本框 6"/>
            <p:cNvSpPr txBox="1"/>
            <p:nvPr/>
          </p:nvSpPr>
          <p:spPr>
            <a:xfrm>
              <a:off x="3558350" y="5128179"/>
              <a:ext cx="259228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dirty="0"/>
                <a:t>快速进位扩展器</a:t>
              </a:r>
              <a:endParaRPr lang="zh-CN" altLang="en-US" sz="2400" b="1" dirty="0"/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179388" y="1884363"/>
            <a:ext cx="1901825" cy="1874837"/>
            <a:chOff x="1043608" y="1484784"/>
            <a:chExt cx="2376264" cy="2016224"/>
          </a:xfrm>
        </p:grpSpPr>
        <p:sp>
          <p:nvSpPr>
            <p:cNvPr id="33866" name="Rectangle 1054"/>
            <p:cNvSpPr/>
            <p:nvPr/>
          </p:nvSpPr>
          <p:spPr>
            <a:xfrm>
              <a:off x="1475656" y="1827684"/>
              <a:ext cx="1944216" cy="12961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30" name="矩形 29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583669" y="1844824"/>
              <a:ext cx="1080120" cy="369332"/>
            </a:xfrm>
            <a:prstGeom prst="rect">
              <a:avLst/>
            </a:prstGeom>
            <a:blipFill>
              <a:blip r:embed="rId8"/>
              <a:stretch>
                <a:fillRect b="-1786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矩形 30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403648" y="2366918"/>
              <a:ext cx="504057" cy="369332"/>
            </a:xfrm>
            <a:prstGeom prst="rect">
              <a:avLst/>
            </a:prstGeom>
            <a:blipFill>
              <a:blip r:embed="rId9"/>
              <a:stretch>
                <a:fillRect r="-6061" b="-1786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3869" name="直接连接符 31"/>
            <p:cNvCxnSpPr/>
            <p:nvPr/>
          </p:nvCxnSpPr>
          <p:spPr>
            <a:xfrm>
              <a:off x="1763688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70" name="直接连接符 32"/>
            <p:cNvCxnSpPr/>
            <p:nvPr/>
          </p:nvCxnSpPr>
          <p:spPr>
            <a:xfrm>
              <a:off x="2044940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71" name="直接连接符 39"/>
            <p:cNvCxnSpPr/>
            <p:nvPr/>
          </p:nvCxnSpPr>
          <p:spPr>
            <a:xfrm>
              <a:off x="1907704" y="3140968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72" name="直接连接符 40"/>
            <p:cNvCxnSpPr/>
            <p:nvPr/>
          </p:nvCxnSpPr>
          <p:spPr>
            <a:xfrm>
              <a:off x="2188956" y="3140968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48" name="矩形 47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737218" y="2828937"/>
              <a:ext cx="822661" cy="369909"/>
            </a:xfrm>
            <a:prstGeom prst="rect">
              <a:avLst/>
            </a:prstGeom>
            <a:blipFill>
              <a:blip r:embed="rId10"/>
              <a:stretch>
                <a:fillRect r="-13889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3874" name="直接连接符 48"/>
            <p:cNvCxnSpPr/>
            <p:nvPr/>
          </p:nvCxnSpPr>
          <p:spPr>
            <a:xfrm>
              <a:off x="1043608" y="2551584"/>
              <a:ext cx="43204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54" name="矩形 53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559878" y="1849542"/>
              <a:ext cx="714398" cy="397091"/>
            </a:xfrm>
            <a:prstGeom prst="rect">
              <a:avLst/>
            </a:prstGeom>
            <a:blipFill>
              <a:blip r:embed="rId11"/>
              <a:stretch>
                <a:fillRect l="-9677" t="-11667" b="-25000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3876" name="直接连接符 54"/>
            <p:cNvCxnSpPr/>
            <p:nvPr/>
          </p:nvCxnSpPr>
          <p:spPr>
            <a:xfrm>
              <a:off x="2936843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3877" name="文本框 27"/>
            <p:cNvSpPr txBox="1"/>
            <p:nvPr/>
          </p:nvSpPr>
          <p:spPr>
            <a:xfrm>
              <a:off x="1655676" y="2102287"/>
              <a:ext cx="1721059" cy="6949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1</a:t>
              </a:r>
              <a:r>
                <a:rPr lang="zh-CN" altLang="en-US" sz="1800" b="1" dirty="0"/>
                <a:t>位加</a:t>
              </a:r>
              <a:endParaRPr lang="en-US" altLang="zh-CN" sz="18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/>
                <a:t>法发生器</a:t>
              </a:r>
              <a:endParaRPr lang="zh-CN" altLang="en-US" sz="1800" b="1" dirty="0"/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2352675" y="1843088"/>
            <a:ext cx="1903413" cy="1876425"/>
            <a:chOff x="1043608" y="1484784"/>
            <a:chExt cx="2376264" cy="2016224"/>
          </a:xfrm>
        </p:grpSpPr>
        <p:sp>
          <p:nvSpPr>
            <p:cNvPr id="33854" name="Rectangle 1054"/>
            <p:cNvSpPr/>
            <p:nvPr/>
          </p:nvSpPr>
          <p:spPr>
            <a:xfrm>
              <a:off x="1475656" y="1827684"/>
              <a:ext cx="1944216" cy="12961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92" name="矩形 91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583669" y="1844824"/>
              <a:ext cx="1080120" cy="369332"/>
            </a:xfrm>
            <a:prstGeom prst="rect">
              <a:avLst/>
            </a:pr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" name="矩形 92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403648" y="2366918"/>
              <a:ext cx="504057" cy="369332"/>
            </a:xfrm>
            <a:prstGeom prst="rect">
              <a:avLst/>
            </a:prstGeom>
            <a:blipFill>
              <a:blip r:embed="rId13"/>
              <a:stretch>
                <a:fillRect r="-5970" b="-1786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3857" name="直接连接符 93"/>
            <p:cNvCxnSpPr/>
            <p:nvPr/>
          </p:nvCxnSpPr>
          <p:spPr>
            <a:xfrm>
              <a:off x="1763688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58" name="直接连接符 94"/>
            <p:cNvCxnSpPr/>
            <p:nvPr/>
          </p:nvCxnSpPr>
          <p:spPr>
            <a:xfrm>
              <a:off x="2044940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59" name="直接连接符 95"/>
            <p:cNvCxnSpPr/>
            <p:nvPr/>
          </p:nvCxnSpPr>
          <p:spPr>
            <a:xfrm>
              <a:off x="1907704" y="3140968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60" name="直接连接符 96"/>
            <p:cNvCxnSpPr/>
            <p:nvPr/>
          </p:nvCxnSpPr>
          <p:spPr>
            <a:xfrm>
              <a:off x="2188956" y="3140968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98" name="矩形 97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737218" y="2828937"/>
              <a:ext cx="822661" cy="369909"/>
            </a:xfrm>
            <a:prstGeom prst="rect">
              <a:avLst/>
            </a:prstGeom>
            <a:blipFill>
              <a:blip r:embed="rId14"/>
              <a:stretch>
                <a:fillRect r="-14815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3862" name="直接连接符 98"/>
            <p:cNvCxnSpPr/>
            <p:nvPr/>
          </p:nvCxnSpPr>
          <p:spPr>
            <a:xfrm>
              <a:off x="1043608" y="2551584"/>
              <a:ext cx="43204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2" name="矩形 101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559878" y="1849542"/>
              <a:ext cx="714398" cy="397091"/>
            </a:xfrm>
            <a:prstGeom prst="rect">
              <a:avLst/>
            </a:prstGeom>
            <a:blipFill>
              <a:blip r:embed="rId15"/>
              <a:stretch>
                <a:fillRect l="-8511" t="-9836" b="-22951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3864" name="直接连接符 102"/>
            <p:cNvCxnSpPr/>
            <p:nvPr/>
          </p:nvCxnSpPr>
          <p:spPr>
            <a:xfrm>
              <a:off x="2936843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3865" name="文本框 103"/>
            <p:cNvSpPr txBox="1"/>
            <p:nvPr/>
          </p:nvSpPr>
          <p:spPr>
            <a:xfrm>
              <a:off x="1655676" y="2102287"/>
              <a:ext cx="1721059" cy="6949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1</a:t>
              </a:r>
              <a:r>
                <a:rPr lang="zh-CN" altLang="en-US" sz="1800" b="1" dirty="0"/>
                <a:t>位加</a:t>
              </a:r>
              <a:endParaRPr lang="en-US" altLang="zh-CN" sz="18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/>
                <a:t>法发生器</a:t>
              </a:r>
              <a:endParaRPr lang="zh-CN" altLang="en-US" sz="1800" b="1" dirty="0"/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4633913" y="1812925"/>
            <a:ext cx="1901825" cy="1876425"/>
            <a:chOff x="1043608" y="1484784"/>
            <a:chExt cx="2376264" cy="2016224"/>
          </a:xfrm>
        </p:grpSpPr>
        <p:sp>
          <p:nvSpPr>
            <p:cNvPr id="33842" name="Rectangle 1054"/>
            <p:cNvSpPr/>
            <p:nvPr/>
          </p:nvSpPr>
          <p:spPr>
            <a:xfrm>
              <a:off x="1475656" y="1827684"/>
              <a:ext cx="1944216" cy="12961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107" name="矩形 106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583669" y="1844824"/>
              <a:ext cx="1080120" cy="369332"/>
            </a:xfrm>
            <a:prstGeom prst="rect">
              <a:avLst/>
            </a:pr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矩形 107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403648" y="2366918"/>
              <a:ext cx="504057" cy="369332"/>
            </a:xfrm>
            <a:prstGeom prst="rect">
              <a:avLst/>
            </a:prstGeom>
            <a:blipFill>
              <a:blip r:embed="rId17"/>
              <a:stretch>
                <a:fillRect r="-5970" b="-1786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3845" name="直接连接符 108"/>
            <p:cNvCxnSpPr/>
            <p:nvPr/>
          </p:nvCxnSpPr>
          <p:spPr>
            <a:xfrm>
              <a:off x="1763688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46" name="直接连接符 109"/>
            <p:cNvCxnSpPr/>
            <p:nvPr/>
          </p:nvCxnSpPr>
          <p:spPr>
            <a:xfrm>
              <a:off x="2044940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47" name="直接连接符 110"/>
            <p:cNvCxnSpPr/>
            <p:nvPr/>
          </p:nvCxnSpPr>
          <p:spPr>
            <a:xfrm>
              <a:off x="1907704" y="3140968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48" name="直接连接符 111"/>
            <p:cNvCxnSpPr/>
            <p:nvPr/>
          </p:nvCxnSpPr>
          <p:spPr>
            <a:xfrm>
              <a:off x="2188956" y="3140968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13" name="矩形 112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737218" y="2828937"/>
              <a:ext cx="822661" cy="369909"/>
            </a:xfrm>
            <a:prstGeom prst="rect">
              <a:avLst/>
            </a:prstGeom>
            <a:blipFill>
              <a:blip r:embed="rId18"/>
              <a:stretch>
                <a:fillRect r="-14815" b="-1786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3850" name="直接连接符 113"/>
            <p:cNvCxnSpPr/>
            <p:nvPr/>
          </p:nvCxnSpPr>
          <p:spPr>
            <a:xfrm>
              <a:off x="1043608" y="2551584"/>
              <a:ext cx="43204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17" name="矩形 116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559878" y="1849542"/>
              <a:ext cx="714398" cy="397091"/>
            </a:xfrm>
            <a:prstGeom prst="rect">
              <a:avLst/>
            </a:prstGeom>
            <a:blipFill>
              <a:blip r:embed="rId19"/>
              <a:stretch>
                <a:fillRect l="-8511" t="-9836" b="-22951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3852" name="直接连接符 117"/>
            <p:cNvCxnSpPr/>
            <p:nvPr/>
          </p:nvCxnSpPr>
          <p:spPr>
            <a:xfrm>
              <a:off x="2936843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3853" name="文本框 118"/>
            <p:cNvSpPr txBox="1"/>
            <p:nvPr/>
          </p:nvSpPr>
          <p:spPr>
            <a:xfrm>
              <a:off x="1655676" y="2102287"/>
              <a:ext cx="1721059" cy="6949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1</a:t>
              </a:r>
              <a:r>
                <a:rPr lang="zh-CN" altLang="en-US" sz="1800" b="1" dirty="0"/>
                <a:t>位加</a:t>
              </a:r>
              <a:endParaRPr lang="en-US" altLang="zh-CN" sz="18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/>
                <a:t>法发生器</a:t>
              </a:r>
              <a:endParaRPr lang="zh-CN" altLang="en-US" sz="1800" b="1" dirty="0"/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6834188" y="1857375"/>
            <a:ext cx="2011362" cy="1874838"/>
            <a:chOff x="906362" y="1484784"/>
            <a:chExt cx="2513510" cy="2016224"/>
          </a:xfrm>
        </p:grpSpPr>
        <p:sp>
          <p:nvSpPr>
            <p:cNvPr id="33830" name="Rectangle 1054"/>
            <p:cNvSpPr/>
            <p:nvPr/>
          </p:nvSpPr>
          <p:spPr>
            <a:xfrm>
              <a:off x="1475656" y="1827684"/>
              <a:ext cx="1944216" cy="12961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122" name="矩形 121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583669" y="1844824"/>
              <a:ext cx="1080120" cy="369332"/>
            </a:xfrm>
            <a:prstGeom prst="rect">
              <a:avLst/>
            </a:pr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矩形 122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403648" y="2366918"/>
              <a:ext cx="504057" cy="369332"/>
            </a:xfrm>
            <a:prstGeom prst="rect">
              <a:avLst/>
            </a:prstGeom>
            <a:blipFill>
              <a:blip r:embed="rId21"/>
              <a:stretch>
                <a:fillRect r="-5970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3833" name="直接连接符 123"/>
            <p:cNvCxnSpPr/>
            <p:nvPr/>
          </p:nvCxnSpPr>
          <p:spPr>
            <a:xfrm>
              <a:off x="1763688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34" name="直接连接符 124"/>
            <p:cNvCxnSpPr/>
            <p:nvPr/>
          </p:nvCxnSpPr>
          <p:spPr>
            <a:xfrm>
              <a:off x="2044940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35" name="直接连接符 125"/>
            <p:cNvCxnSpPr/>
            <p:nvPr/>
          </p:nvCxnSpPr>
          <p:spPr>
            <a:xfrm>
              <a:off x="1907704" y="3140968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36" name="直接连接符 126"/>
            <p:cNvCxnSpPr/>
            <p:nvPr/>
          </p:nvCxnSpPr>
          <p:spPr>
            <a:xfrm>
              <a:off x="2188956" y="3140968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28" name="矩形 127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737218" y="2828937"/>
              <a:ext cx="822661" cy="369909"/>
            </a:xfrm>
            <a:prstGeom prst="rect">
              <a:avLst/>
            </a:prstGeom>
            <a:blipFill>
              <a:blip r:embed="rId22"/>
              <a:stretch>
                <a:fillRect r="-14815" b="-1786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3838" name="直接连接符 128"/>
            <p:cNvCxnSpPr/>
            <p:nvPr/>
          </p:nvCxnSpPr>
          <p:spPr>
            <a:xfrm>
              <a:off x="906362" y="2551583"/>
              <a:ext cx="569294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32" name="矩形 131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559878" y="1849542"/>
              <a:ext cx="714398" cy="397091"/>
            </a:xfrm>
            <a:prstGeom prst="rect">
              <a:avLst/>
            </a:prstGeom>
            <a:blipFill>
              <a:blip r:embed="rId23"/>
              <a:stretch>
                <a:fillRect l="-8511" t="-9836" b="-22951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3840" name="直接连接符 132"/>
            <p:cNvCxnSpPr/>
            <p:nvPr/>
          </p:nvCxnSpPr>
          <p:spPr>
            <a:xfrm>
              <a:off x="2936843" y="1484784"/>
              <a:ext cx="0" cy="3600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3841" name="文本框 133"/>
            <p:cNvSpPr txBox="1"/>
            <p:nvPr/>
          </p:nvSpPr>
          <p:spPr>
            <a:xfrm>
              <a:off x="1655676" y="2102287"/>
              <a:ext cx="1721059" cy="6949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1</a:t>
              </a:r>
              <a:r>
                <a:rPr lang="zh-CN" altLang="en-US" sz="1800" b="1" dirty="0"/>
                <a:t>位加</a:t>
              </a:r>
              <a:endParaRPr lang="en-US" altLang="zh-CN" sz="18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/>
                <a:t>法发生器</a:t>
              </a:r>
              <a:endParaRPr lang="zh-CN" altLang="en-US" sz="1800" b="1" dirty="0"/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525463" y="1476375"/>
            <a:ext cx="7542212" cy="417513"/>
            <a:chOff x="525402" y="1475586"/>
            <a:chExt cx="7542358" cy="418911"/>
          </a:xfrm>
        </p:grpSpPr>
        <p:sp>
          <p:nvSpPr>
            <p:cNvPr id="135" name="矩形 134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25402" y="1475586"/>
              <a:ext cx="831700" cy="369332"/>
            </a:xfrm>
            <a:prstGeom prst="rect">
              <a:avLst/>
            </a:prstGeom>
            <a:blipFill>
              <a:blip r:embed="rId24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矩形 135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654542" y="1482994"/>
              <a:ext cx="831700" cy="369332"/>
            </a:xfrm>
            <a:prstGeom prst="rect">
              <a:avLst/>
            </a:prstGeom>
            <a:blipFill>
              <a:blip r:embed="rId25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矩形 136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972139" y="1508893"/>
              <a:ext cx="831700" cy="369332"/>
            </a:xfrm>
            <a:prstGeom prst="rect">
              <a:avLst/>
            </a:prstGeom>
            <a:blipFill>
              <a:blip r:embed="rId26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矩形 137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7236060" y="1525165"/>
              <a:ext cx="831700" cy="369332"/>
            </a:xfrm>
            <a:prstGeom prst="rect">
              <a:avLst/>
            </a:prstGeom>
            <a:blipFill>
              <a:blip r:embed="rId27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7" name="组合 166"/>
          <p:cNvGrpSpPr/>
          <p:nvPr/>
        </p:nvGrpSpPr>
        <p:grpSpPr>
          <a:xfrm>
            <a:off x="1509713" y="1503363"/>
            <a:ext cx="7310437" cy="417512"/>
            <a:chOff x="1509973" y="1504108"/>
            <a:chExt cx="7310595" cy="416026"/>
          </a:xfrm>
        </p:grpSpPr>
        <p:sp>
          <p:nvSpPr>
            <p:cNvPr id="139" name="矩形 138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509973" y="1504108"/>
              <a:ext cx="571935" cy="369332"/>
            </a:xfrm>
            <a:prstGeom prst="rect">
              <a:avLst/>
            </a:prstGeom>
            <a:blipFill>
              <a:blip r:embed="rId28"/>
              <a:stretch>
                <a:fillRect l="-9574" t="-11667" b="-25000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矩形 139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658055" y="1521727"/>
              <a:ext cx="571935" cy="369332"/>
            </a:xfrm>
            <a:prstGeom prst="rect">
              <a:avLst/>
            </a:prstGeom>
            <a:blipFill>
              <a:blip r:embed="rId29"/>
              <a:stretch>
                <a:fillRect l="-8511" t="-11667" b="-25000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矩形 140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933667" y="1525931"/>
              <a:ext cx="571935" cy="369332"/>
            </a:xfrm>
            <a:prstGeom prst="rect">
              <a:avLst/>
            </a:prstGeom>
            <a:blipFill>
              <a:blip r:embed="rId30"/>
              <a:stretch>
                <a:fillRect l="-8511" t="-9836" b="-22951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" name="矩形 141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8248633" y="1550802"/>
              <a:ext cx="571935" cy="369332"/>
            </a:xfrm>
            <a:prstGeom prst="rect">
              <a:avLst/>
            </a:prstGeom>
            <a:blipFill>
              <a:blip r:embed="rId31"/>
              <a:stretch>
                <a:fillRect l="-8511" t="-9836" b="-22951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2014538" y="4456113"/>
            <a:ext cx="3114675" cy="382587"/>
            <a:chOff x="2014703" y="4456803"/>
            <a:chExt cx="3113839" cy="381826"/>
          </a:xfrm>
        </p:grpSpPr>
        <p:sp>
          <p:nvSpPr>
            <p:cNvPr id="149" name="矩形 148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014703" y="4460455"/>
              <a:ext cx="869148" cy="369909"/>
            </a:xfrm>
            <a:prstGeom prst="rect">
              <a:avLst/>
            </a:prstGeom>
            <a:blipFill>
              <a:blip r:embed="rId32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0" name="矩形 149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766957" y="4468720"/>
              <a:ext cx="865942" cy="369909"/>
            </a:xfrm>
            <a:prstGeom prst="rect">
              <a:avLst/>
            </a:prstGeom>
            <a:blipFill>
              <a:blip r:embed="rId33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矩形 150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497827" y="4456803"/>
              <a:ext cx="865943" cy="369909"/>
            </a:xfrm>
            <a:prstGeom prst="rect">
              <a:avLst/>
            </a:prstGeom>
            <a:blipFill>
              <a:blip r:embed="rId34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矩形 151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262600" y="4466832"/>
              <a:ext cx="865942" cy="369909"/>
            </a:xfrm>
            <a:prstGeom prst="rect">
              <a:avLst/>
            </a:prstGeom>
            <a:blipFill>
              <a:blip r:embed="rId35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 </a:t>
              </a:r>
              <a:endParaRPr kumimoji="1" lang="zh-CN" altLang="en-US" sz="26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52675" y="2824163"/>
            <a:ext cx="3760788" cy="2001837"/>
            <a:chOff x="2352675" y="2823651"/>
            <a:chExt cx="3761263" cy="2003108"/>
          </a:xfrm>
        </p:grpSpPr>
        <p:cxnSp>
          <p:nvCxnSpPr>
            <p:cNvPr id="33815" name="直接连接符 18"/>
            <p:cNvCxnSpPr/>
            <p:nvPr/>
          </p:nvCxnSpPr>
          <p:spPr>
            <a:xfrm>
              <a:off x="2352675" y="2823651"/>
              <a:ext cx="0" cy="15240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16" name="直接连接符 98"/>
            <p:cNvCxnSpPr/>
            <p:nvPr/>
          </p:nvCxnSpPr>
          <p:spPr>
            <a:xfrm>
              <a:off x="2352675" y="4365945"/>
              <a:ext cx="3761263" cy="436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17" name="直接连接符 18"/>
            <p:cNvCxnSpPr/>
            <p:nvPr/>
          </p:nvCxnSpPr>
          <p:spPr>
            <a:xfrm>
              <a:off x="6113938" y="4387986"/>
              <a:ext cx="0" cy="43877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22" name="组合 21"/>
          <p:cNvGrpSpPr/>
          <p:nvPr/>
        </p:nvGrpSpPr>
        <p:grpSpPr>
          <a:xfrm>
            <a:off x="4610100" y="2789238"/>
            <a:ext cx="1809750" cy="1987550"/>
            <a:chOff x="4610100" y="2789966"/>
            <a:chExt cx="1809111" cy="1987609"/>
          </a:xfrm>
        </p:grpSpPr>
        <p:cxnSp>
          <p:nvCxnSpPr>
            <p:cNvPr id="33812" name="直接连接符 18"/>
            <p:cNvCxnSpPr/>
            <p:nvPr/>
          </p:nvCxnSpPr>
          <p:spPr>
            <a:xfrm>
              <a:off x="4633913" y="2789966"/>
              <a:ext cx="0" cy="133803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13" name="直接连接符 98"/>
            <p:cNvCxnSpPr/>
            <p:nvPr/>
          </p:nvCxnSpPr>
          <p:spPr>
            <a:xfrm>
              <a:off x="4610100" y="4128003"/>
              <a:ext cx="1809111" cy="417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14" name="直接连接符 18"/>
            <p:cNvCxnSpPr/>
            <p:nvPr/>
          </p:nvCxnSpPr>
          <p:spPr>
            <a:xfrm>
              <a:off x="6395136" y="4166211"/>
              <a:ext cx="0" cy="6113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cxnSp>
        <p:nvCxnSpPr>
          <p:cNvPr id="131" name="直接连接符 18"/>
          <p:cNvCxnSpPr/>
          <p:nvPr/>
        </p:nvCxnSpPr>
        <p:spPr>
          <a:xfrm>
            <a:off x="6834188" y="2849563"/>
            <a:ext cx="0" cy="19319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24" name="组合 23"/>
          <p:cNvGrpSpPr/>
          <p:nvPr/>
        </p:nvGrpSpPr>
        <p:grpSpPr>
          <a:xfrm>
            <a:off x="7105650" y="3840163"/>
            <a:ext cx="1779588" cy="941387"/>
            <a:chOff x="7106138" y="3839745"/>
            <a:chExt cx="1778721" cy="941334"/>
          </a:xfrm>
        </p:grpSpPr>
        <p:cxnSp>
          <p:nvCxnSpPr>
            <p:cNvPr id="33809" name="直接连接符 18"/>
            <p:cNvCxnSpPr/>
            <p:nvPr/>
          </p:nvCxnSpPr>
          <p:spPr>
            <a:xfrm>
              <a:off x="7121858" y="4169715"/>
              <a:ext cx="0" cy="6113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3810" name="直接连接符 98"/>
            <p:cNvCxnSpPr/>
            <p:nvPr/>
          </p:nvCxnSpPr>
          <p:spPr>
            <a:xfrm>
              <a:off x="7106138" y="4168337"/>
              <a:ext cx="1570497" cy="407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3811" name="文本框 19"/>
            <p:cNvSpPr txBox="1"/>
            <p:nvPr/>
          </p:nvSpPr>
          <p:spPr>
            <a:xfrm>
              <a:off x="8353497" y="3839745"/>
              <a:ext cx="53136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C4</a:t>
              </a:r>
              <a:endParaRPr lang="zh-CN" altLang="en-US" sz="1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" name="灯片编号占位符 5"/>
          <p:cNvSpPr txBox="1"/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b="1" dirty="0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</a:rPr>
            </a:fld>
            <a:endParaRPr lang="en-US" altLang="zh-CN" sz="1000" b="1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grpSp>
        <p:nvGrpSpPr>
          <p:cNvPr id="6" name="Group 572"/>
          <p:cNvGrpSpPr/>
          <p:nvPr/>
        </p:nvGrpSpPr>
        <p:grpSpPr>
          <a:xfrm>
            <a:off x="1066800" y="4038600"/>
            <a:ext cx="3200400" cy="2743200"/>
            <a:chOff x="672" y="2544"/>
            <a:chExt cx="2016" cy="1728"/>
          </a:xfrm>
        </p:grpSpPr>
        <p:sp>
          <p:nvSpPr>
            <p:cNvPr id="35086" name="Rectangle 515"/>
            <p:cNvSpPr/>
            <p:nvPr/>
          </p:nvSpPr>
          <p:spPr>
            <a:xfrm>
              <a:off x="1536" y="3600"/>
              <a:ext cx="912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5087" name="Line 516"/>
            <p:cNvSpPr/>
            <p:nvPr/>
          </p:nvSpPr>
          <p:spPr>
            <a:xfrm>
              <a:off x="1536" y="3744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088" name="Line 517"/>
            <p:cNvSpPr/>
            <p:nvPr/>
          </p:nvSpPr>
          <p:spPr>
            <a:xfrm>
              <a:off x="1824" y="360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089" name="Text Box 518"/>
            <p:cNvSpPr txBox="1"/>
            <p:nvPr/>
          </p:nvSpPr>
          <p:spPr>
            <a:xfrm>
              <a:off x="1872" y="3686"/>
              <a:ext cx="19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1" dirty="0">
                  <a:latin typeface="Tahoma" panose="020B0604030504040204" pitchFamily="34" charset="0"/>
                </a:rPr>
                <a:t>+</a:t>
              </a:r>
              <a:endParaRPr lang="en-US" altLang="zh-CN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5090" name="Line 519"/>
            <p:cNvSpPr/>
            <p:nvPr/>
          </p:nvSpPr>
          <p:spPr>
            <a:xfrm>
              <a:off x="2160" y="360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091" name="Line 521"/>
            <p:cNvSpPr/>
            <p:nvPr/>
          </p:nvSpPr>
          <p:spPr>
            <a:xfrm>
              <a:off x="2208" y="2544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092" name="Line 522"/>
            <p:cNvSpPr/>
            <p:nvPr/>
          </p:nvSpPr>
          <p:spPr>
            <a:xfrm flipH="1">
              <a:off x="1680" y="3120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093" name="Line 523"/>
            <p:cNvSpPr/>
            <p:nvPr/>
          </p:nvSpPr>
          <p:spPr>
            <a:xfrm>
              <a:off x="1680" y="3120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094" name="Line 524"/>
            <p:cNvSpPr/>
            <p:nvPr/>
          </p:nvSpPr>
          <p:spPr>
            <a:xfrm>
              <a:off x="2688" y="2544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095" name="Line 525"/>
            <p:cNvSpPr/>
            <p:nvPr/>
          </p:nvSpPr>
          <p:spPr>
            <a:xfrm flipH="1">
              <a:off x="2112" y="3216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096" name="Line 526"/>
            <p:cNvSpPr/>
            <p:nvPr/>
          </p:nvSpPr>
          <p:spPr>
            <a:xfrm>
              <a:off x="2112" y="3216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097" name="Line 528"/>
            <p:cNvSpPr/>
            <p:nvPr/>
          </p:nvSpPr>
          <p:spPr>
            <a:xfrm>
              <a:off x="720" y="3408"/>
              <a:ext cx="12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098" name="Oval 529"/>
            <p:cNvSpPr/>
            <p:nvPr/>
          </p:nvSpPr>
          <p:spPr>
            <a:xfrm>
              <a:off x="672" y="336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5099" name="Line 530"/>
            <p:cNvSpPr/>
            <p:nvPr/>
          </p:nvSpPr>
          <p:spPr>
            <a:xfrm>
              <a:off x="1968" y="340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100" name="Line 531"/>
            <p:cNvSpPr/>
            <p:nvPr/>
          </p:nvSpPr>
          <p:spPr>
            <a:xfrm>
              <a:off x="1968" y="388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101" name="Rectangle 532"/>
            <p:cNvSpPr/>
            <p:nvPr/>
          </p:nvSpPr>
          <p:spPr>
            <a:xfrm>
              <a:off x="1843" y="4022"/>
              <a:ext cx="2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dirty="0">
                  <a:latin typeface="Tahoma" panose="020B0604030504040204" pitchFamily="34" charset="0"/>
                </a:rPr>
                <a:t>C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2</a:t>
              </a:r>
              <a:endParaRPr lang="en-US" altLang="zh-CN" sz="2000" b="1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35102" name="Line 533"/>
            <p:cNvSpPr/>
            <p:nvPr/>
          </p:nvSpPr>
          <p:spPr>
            <a:xfrm>
              <a:off x="1200" y="3312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103" name="Oval 535"/>
            <p:cNvSpPr/>
            <p:nvPr/>
          </p:nvSpPr>
          <p:spPr>
            <a:xfrm>
              <a:off x="1152" y="3264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5104" name="Line 536"/>
            <p:cNvSpPr/>
            <p:nvPr/>
          </p:nvSpPr>
          <p:spPr>
            <a:xfrm>
              <a:off x="2304" y="331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105" name="Line 537"/>
            <p:cNvSpPr/>
            <p:nvPr/>
          </p:nvSpPr>
          <p:spPr>
            <a:xfrm>
              <a:off x="2400" y="3216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106" name="Oval 538"/>
            <p:cNvSpPr/>
            <p:nvPr/>
          </p:nvSpPr>
          <p:spPr>
            <a:xfrm>
              <a:off x="2352" y="3168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5107" name="Oval 539"/>
            <p:cNvSpPr/>
            <p:nvPr/>
          </p:nvSpPr>
          <p:spPr>
            <a:xfrm>
              <a:off x="864" y="345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5108" name="Line 541"/>
            <p:cNvSpPr/>
            <p:nvPr/>
          </p:nvSpPr>
          <p:spPr>
            <a:xfrm>
              <a:off x="912" y="3504"/>
              <a:ext cx="12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109" name="Line 542"/>
            <p:cNvSpPr/>
            <p:nvPr/>
          </p:nvSpPr>
          <p:spPr>
            <a:xfrm>
              <a:off x="2208" y="35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" name="Group 383"/>
          <p:cNvGrpSpPr/>
          <p:nvPr/>
        </p:nvGrpSpPr>
        <p:grpSpPr>
          <a:xfrm>
            <a:off x="50800" y="990600"/>
            <a:ext cx="2159000" cy="3521075"/>
            <a:chOff x="32" y="288"/>
            <a:chExt cx="1360" cy="2218"/>
          </a:xfrm>
        </p:grpSpPr>
        <p:sp>
          <p:nvSpPr>
            <p:cNvPr id="35049" name="Text Box 126"/>
            <p:cNvSpPr txBox="1"/>
            <p:nvPr/>
          </p:nvSpPr>
          <p:spPr>
            <a:xfrm>
              <a:off x="32" y="288"/>
              <a:ext cx="3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1" dirty="0">
                  <a:latin typeface="Tahoma" panose="020B0604030504040204" pitchFamily="34" charset="0"/>
                </a:rPr>
                <a:t>C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0</a:t>
              </a:r>
              <a:endParaRPr lang="en-US" altLang="zh-CN" sz="2000" b="1" baseline="-25000" dirty="0">
                <a:latin typeface="Tahoma" panose="020B0604030504040204" pitchFamily="34" charset="0"/>
              </a:endParaRPr>
            </a:p>
          </p:txBody>
        </p:sp>
        <p:grpSp>
          <p:nvGrpSpPr>
            <p:cNvPr id="35050" name="Group 382"/>
            <p:cNvGrpSpPr/>
            <p:nvPr/>
          </p:nvGrpSpPr>
          <p:grpSpPr>
            <a:xfrm>
              <a:off x="80" y="326"/>
              <a:ext cx="1312" cy="2180"/>
              <a:chOff x="80" y="326"/>
              <a:chExt cx="1312" cy="2180"/>
            </a:xfrm>
          </p:grpSpPr>
          <p:grpSp>
            <p:nvGrpSpPr>
              <p:cNvPr id="35051" name="Group 68"/>
              <p:cNvGrpSpPr/>
              <p:nvPr/>
            </p:nvGrpSpPr>
            <p:grpSpPr>
              <a:xfrm>
                <a:off x="272" y="1392"/>
                <a:ext cx="384" cy="295"/>
                <a:chOff x="2496" y="1913"/>
                <a:chExt cx="384" cy="295"/>
              </a:xfrm>
            </p:grpSpPr>
            <p:sp>
              <p:nvSpPr>
                <p:cNvPr id="35083" name="Rectangle 30"/>
                <p:cNvSpPr/>
                <p:nvPr/>
              </p:nvSpPr>
              <p:spPr>
                <a:xfrm>
                  <a:off x="2496" y="1913"/>
                  <a:ext cx="384" cy="24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084" name="Oval 31"/>
                <p:cNvSpPr/>
                <p:nvPr/>
              </p:nvSpPr>
              <p:spPr>
                <a:xfrm>
                  <a:off x="2592" y="1968"/>
                  <a:ext cx="182" cy="181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085" name="Text Box 32"/>
                <p:cNvSpPr txBox="1"/>
                <p:nvPr/>
              </p:nvSpPr>
              <p:spPr>
                <a:xfrm>
                  <a:off x="2560" y="1920"/>
                  <a:ext cx="2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latin typeface="Tahoma" panose="020B0604030504040204" pitchFamily="34" charset="0"/>
                    </a:rPr>
                    <a:t>+</a:t>
                  </a:r>
                  <a:endParaRPr lang="en-US" altLang="zh-CN" sz="2400" b="1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5052" name="Rectangle 34"/>
              <p:cNvSpPr/>
              <p:nvPr/>
            </p:nvSpPr>
            <p:spPr>
              <a:xfrm>
                <a:off x="544" y="1056"/>
                <a:ext cx="368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53" name="Rectangle 69"/>
              <p:cNvSpPr/>
              <p:nvPr/>
            </p:nvSpPr>
            <p:spPr>
              <a:xfrm>
                <a:off x="1024" y="1056"/>
                <a:ext cx="368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54" name="Rectangle 71"/>
              <p:cNvSpPr/>
              <p:nvPr/>
            </p:nvSpPr>
            <p:spPr>
              <a:xfrm>
                <a:off x="1072" y="1056"/>
                <a:ext cx="2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ahoma" panose="020B0604030504040204" pitchFamily="34" charset="0"/>
                  </a:rPr>
                  <a:t>+</a:t>
                </a:r>
                <a:endParaRPr lang="en-US" altLang="zh-CN" sz="24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55" name="Line 94"/>
              <p:cNvSpPr/>
              <p:nvPr/>
            </p:nvSpPr>
            <p:spPr>
              <a:xfrm>
                <a:off x="640" y="576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56" name="Line 95"/>
              <p:cNvSpPr/>
              <p:nvPr/>
            </p:nvSpPr>
            <p:spPr>
              <a:xfrm>
                <a:off x="832" y="576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57" name="Line 103"/>
              <p:cNvSpPr/>
              <p:nvPr/>
            </p:nvSpPr>
            <p:spPr>
              <a:xfrm>
                <a:off x="640" y="912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58" name="Line 104"/>
              <p:cNvSpPr/>
              <p:nvPr/>
            </p:nvSpPr>
            <p:spPr>
              <a:xfrm>
                <a:off x="832" y="816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59" name="Line 105"/>
              <p:cNvSpPr/>
              <p:nvPr/>
            </p:nvSpPr>
            <p:spPr>
              <a:xfrm>
                <a:off x="1312" y="816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60" name="Line 106"/>
              <p:cNvSpPr/>
              <p:nvPr/>
            </p:nvSpPr>
            <p:spPr>
              <a:xfrm>
                <a:off x="1120" y="91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61" name="Oval 107"/>
              <p:cNvSpPr/>
              <p:nvPr/>
            </p:nvSpPr>
            <p:spPr>
              <a:xfrm>
                <a:off x="592" y="86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62" name="Oval 108"/>
              <p:cNvSpPr/>
              <p:nvPr/>
            </p:nvSpPr>
            <p:spPr>
              <a:xfrm>
                <a:off x="784" y="7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35063" name="Group 109"/>
              <p:cNvGrpSpPr/>
              <p:nvPr/>
            </p:nvGrpSpPr>
            <p:grpSpPr>
              <a:xfrm>
                <a:off x="80" y="1817"/>
                <a:ext cx="384" cy="295"/>
                <a:chOff x="2496" y="1913"/>
                <a:chExt cx="384" cy="295"/>
              </a:xfrm>
            </p:grpSpPr>
            <p:sp>
              <p:nvSpPr>
                <p:cNvPr id="35080" name="Rectangle 110"/>
                <p:cNvSpPr/>
                <p:nvPr/>
              </p:nvSpPr>
              <p:spPr>
                <a:xfrm>
                  <a:off x="2496" y="1913"/>
                  <a:ext cx="384" cy="24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081" name="Oval 111"/>
                <p:cNvSpPr/>
                <p:nvPr/>
              </p:nvSpPr>
              <p:spPr>
                <a:xfrm>
                  <a:off x="2592" y="1968"/>
                  <a:ext cx="182" cy="181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082" name="Text Box 112"/>
                <p:cNvSpPr txBox="1"/>
                <p:nvPr/>
              </p:nvSpPr>
              <p:spPr>
                <a:xfrm>
                  <a:off x="2560" y="1920"/>
                  <a:ext cx="2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latin typeface="Tahoma" panose="020B0604030504040204" pitchFamily="34" charset="0"/>
                    </a:rPr>
                    <a:t>+</a:t>
                  </a:r>
                  <a:endParaRPr lang="en-US" altLang="zh-CN" sz="2400" b="1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5064" name="Line 113"/>
              <p:cNvSpPr/>
              <p:nvPr/>
            </p:nvSpPr>
            <p:spPr>
              <a:xfrm flipH="1">
                <a:off x="192" y="576"/>
                <a:ext cx="0" cy="12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65" name="Line 114"/>
              <p:cNvSpPr/>
              <p:nvPr/>
            </p:nvSpPr>
            <p:spPr>
              <a:xfrm>
                <a:off x="480" y="1632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66" name="Line 115"/>
              <p:cNvSpPr/>
              <p:nvPr/>
            </p:nvSpPr>
            <p:spPr>
              <a:xfrm flipH="1">
                <a:off x="320" y="1728"/>
                <a:ext cx="1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67" name="Line 116"/>
              <p:cNvSpPr/>
              <p:nvPr/>
            </p:nvSpPr>
            <p:spPr>
              <a:xfrm>
                <a:off x="320" y="172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68" name="Line 117"/>
              <p:cNvSpPr/>
              <p:nvPr/>
            </p:nvSpPr>
            <p:spPr>
              <a:xfrm flipH="1">
                <a:off x="480" y="912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69" name="Line 118"/>
              <p:cNvSpPr/>
              <p:nvPr/>
            </p:nvSpPr>
            <p:spPr>
              <a:xfrm>
                <a:off x="480" y="912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70" name="Line 119"/>
              <p:cNvSpPr/>
              <p:nvPr/>
            </p:nvSpPr>
            <p:spPr>
              <a:xfrm flipH="1">
                <a:off x="384" y="816"/>
                <a:ext cx="51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71" name="Line 121"/>
              <p:cNvSpPr/>
              <p:nvPr/>
            </p:nvSpPr>
            <p:spPr>
              <a:xfrm>
                <a:off x="384" y="816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72" name="Line 122"/>
              <p:cNvSpPr/>
              <p:nvPr/>
            </p:nvSpPr>
            <p:spPr>
              <a:xfrm flipH="1">
                <a:off x="288" y="2064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73" name="Line 123"/>
              <p:cNvSpPr/>
              <p:nvPr/>
            </p:nvSpPr>
            <p:spPr>
              <a:xfrm>
                <a:off x="720" y="1296"/>
                <a:ext cx="0" cy="96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74" name="Line 124"/>
              <p:cNvSpPr/>
              <p:nvPr/>
            </p:nvSpPr>
            <p:spPr>
              <a:xfrm>
                <a:off x="1200" y="1296"/>
                <a:ext cx="0" cy="96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75" name="Text Box 127"/>
              <p:cNvSpPr txBox="1"/>
              <p:nvPr/>
            </p:nvSpPr>
            <p:spPr>
              <a:xfrm>
                <a:off x="528" y="326"/>
                <a:ext cx="31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X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1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76" name="Text Box 128"/>
              <p:cNvSpPr txBox="1"/>
              <p:nvPr/>
            </p:nvSpPr>
            <p:spPr>
              <a:xfrm>
                <a:off x="720" y="326"/>
                <a:ext cx="34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Y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1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77" name="Text Box 129"/>
              <p:cNvSpPr txBox="1"/>
              <p:nvPr/>
            </p:nvSpPr>
            <p:spPr>
              <a:xfrm>
                <a:off x="96" y="2256"/>
                <a:ext cx="28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F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1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78" name="Text Box 130"/>
              <p:cNvSpPr txBox="1"/>
              <p:nvPr/>
            </p:nvSpPr>
            <p:spPr>
              <a:xfrm>
                <a:off x="437" y="2246"/>
                <a:ext cx="3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G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1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79" name="Text Box 134"/>
              <p:cNvSpPr txBox="1"/>
              <p:nvPr/>
            </p:nvSpPr>
            <p:spPr>
              <a:xfrm>
                <a:off x="930" y="2235"/>
                <a:ext cx="37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P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1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69" name="Rectangle 370"/>
          <p:cNvSpPr/>
          <p:nvPr/>
        </p:nvSpPr>
        <p:spPr>
          <a:xfrm>
            <a:off x="76200" y="1676400"/>
            <a:ext cx="2133600" cy="228600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b="1" dirty="0">
              <a:latin typeface="Tahoma" panose="020B0604030504040204" pitchFamily="34" charset="0"/>
            </a:endParaRPr>
          </a:p>
        </p:txBody>
      </p:sp>
      <p:grpSp>
        <p:nvGrpSpPr>
          <p:cNvPr id="70" name="Group 384"/>
          <p:cNvGrpSpPr/>
          <p:nvPr/>
        </p:nvGrpSpPr>
        <p:grpSpPr>
          <a:xfrm>
            <a:off x="2413000" y="990600"/>
            <a:ext cx="2249488" cy="3521075"/>
            <a:chOff x="32" y="288"/>
            <a:chExt cx="1417" cy="2218"/>
          </a:xfrm>
        </p:grpSpPr>
        <p:sp>
          <p:nvSpPr>
            <p:cNvPr id="35012" name="Text Box 385"/>
            <p:cNvSpPr txBox="1"/>
            <p:nvPr/>
          </p:nvSpPr>
          <p:spPr>
            <a:xfrm>
              <a:off x="32" y="288"/>
              <a:ext cx="3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1" dirty="0">
                  <a:latin typeface="Tahoma" panose="020B0604030504040204" pitchFamily="34" charset="0"/>
                </a:rPr>
                <a:t>C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1</a:t>
              </a:r>
              <a:endParaRPr lang="en-US" altLang="zh-CN" sz="2000" b="1" baseline="-25000" dirty="0">
                <a:latin typeface="Tahoma" panose="020B0604030504040204" pitchFamily="34" charset="0"/>
              </a:endParaRPr>
            </a:p>
          </p:txBody>
        </p:sp>
        <p:grpSp>
          <p:nvGrpSpPr>
            <p:cNvPr id="35013" name="Group 386"/>
            <p:cNvGrpSpPr/>
            <p:nvPr/>
          </p:nvGrpSpPr>
          <p:grpSpPr>
            <a:xfrm>
              <a:off x="80" y="326"/>
              <a:ext cx="1369" cy="2180"/>
              <a:chOff x="80" y="326"/>
              <a:chExt cx="1369" cy="2180"/>
            </a:xfrm>
          </p:grpSpPr>
          <p:grpSp>
            <p:nvGrpSpPr>
              <p:cNvPr id="35014" name="Group 387"/>
              <p:cNvGrpSpPr/>
              <p:nvPr/>
            </p:nvGrpSpPr>
            <p:grpSpPr>
              <a:xfrm>
                <a:off x="272" y="1392"/>
                <a:ext cx="384" cy="295"/>
                <a:chOff x="2496" y="1913"/>
                <a:chExt cx="384" cy="295"/>
              </a:xfrm>
            </p:grpSpPr>
            <p:sp>
              <p:nvSpPr>
                <p:cNvPr id="35046" name="Rectangle 388"/>
                <p:cNvSpPr/>
                <p:nvPr/>
              </p:nvSpPr>
              <p:spPr>
                <a:xfrm>
                  <a:off x="2496" y="1913"/>
                  <a:ext cx="384" cy="24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047" name="Oval 389"/>
                <p:cNvSpPr/>
                <p:nvPr/>
              </p:nvSpPr>
              <p:spPr>
                <a:xfrm>
                  <a:off x="2592" y="1968"/>
                  <a:ext cx="182" cy="181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048" name="Text Box 390"/>
                <p:cNvSpPr txBox="1"/>
                <p:nvPr/>
              </p:nvSpPr>
              <p:spPr>
                <a:xfrm>
                  <a:off x="2560" y="1920"/>
                  <a:ext cx="2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latin typeface="Tahoma" panose="020B0604030504040204" pitchFamily="34" charset="0"/>
                    </a:rPr>
                    <a:t>+</a:t>
                  </a:r>
                  <a:endParaRPr lang="en-US" altLang="zh-CN" sz="2400" b="1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5015" name="Rectangle 391"/>
              <p:cNvSpPr/>
              <p:nvPr/>
            </p:nvSpPr>
            <p:spPr>
              <a:xfrm>
                <a:off x="544" y="1056"/>
                <a:ext cx="368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16" name="Rectangle 392"/>
              <p:cNvSpPr/>
              <p:nvPr/>
            </p:nvSpPr>
            <p:spPr>
              <a:xfrm>
                <a:off x="1024" y="1056"/>
                <a:ext cx="368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17" name="Rectangle 393"/>
              <p:cNvSpPr/>
              <p:nvPr/>
            </p:nvSpPr>
            <p:spPr>
              <a:xfrm>
                <a:off x="1072" y="1056"/>
                <a:ext cx="2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ahoma" panose="020B0604030504040204" pitchFamily="34" charset="0"/>
                  </a:rPr>
                  <a:t>+</a:t>
                </a:r>
                <a:endParaRPr lang="en-US" altLang="zh-CN" sz="24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18" name="Line 394"/>
              <p:cNvSpPr/>
              <p:nvPr/>
            </p:nvSpPr>
            <p:spPr>
              <a:xfrm>
                <a:off x="640" y="576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19" name="Line 395"/>
              <p:cNvSpPr/>
              <p:nvPr/>
            </p:nvSpPr>
            <p:spPr>
              <a:xfrm>
                <a:off x="832" y="576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20" name="Line 396"/>
              <p:cNvSpPr/>
              <p:nvPr/>
            </p:nvSpPr>
            <p:spPr>
              <a:xfrm>
                <a:off x="640" y="912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21" name="Line 397"/>
              <p:cNvSpPr/>
              <p:nvPr/>
            </p:nvSpPr>
            <p:spPr>
              <a:xfrm>
                <a:off x="832" y="816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22" name="Line 398"/>
              <p:cNvSpPr/>
              <p:nvPr/>
            </p:nvSpPr>
            <p:spPr>
              <a:xfrm>
                <a:off x="1312" y="816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23" name="Line 399"/>
              <p:cNvSpPr/>
              <p:nvPr/>
            </p:nvSpPr>
            <p:spPr>
              <a:xfrm>
                <a:off x="1120" y="91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24" name="Oval 400"/>
              <p:cNvSpPr/>
              <p:nvPr/>
            </p:nvSpPr>
            <p:spPr>
              <a:xfrm>
                <a:off x="592" y="86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25" name="Oval 401"/>
              <p:cNvSpPr/>
              <p:nvPr/>
            </p:nvSpPr>
            <p:spPr>
              <a:xfrm>
                <a:off x="784" y="7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35026" name="Group 402"/>
              <p:cNvGrpSpPr/>
              <p:nvPr/>
            </p:nvGrpSpPr>
            <p:grpSpPr>
              <a:xfrm>
                <a:off x="80" y="1817"/>
                <a:ext cx="384" cy="295"/>
                <a:chOff x="2496" y="1913"/>
                <a:chExt cx="384" cy="295"/>
              </a:xfrm>
            </p:grpSpPr>
            <p:sp>
              <p:nvSpPr>
                <p:cNvPr id="35043" name="Rectangle 403"/>
                <p:cNvSpPr/>
                <p:nvPr/>
              </p:nvSpPr>
              <p:spPr>
                <a:xfrm>
                  <a:off x="2496" y="1913"/>
                  <a:ext cx="384" cy="24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044" name="Oval 404"/>
                <p:cNvSpPr/>
                <p:nvPr/>
              </p:nvSpPr>
              <p:spPr>
                <a:xfrm>
                  <a:off x="2592" y="1968"/>
                  <a:ext cx="182" cy="181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045" name="Text Box 405"/>
                <p:cNvSpPr txBox="1"/>
                <p:nvPr/>
              </p:nvSpPr>
              <p:spPr>
                <a:xfrm>
                  <a:off x="2560" y="1920"/>
                  <a:ext cx="2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latin typeface="Tahoma" panose="020B0604030504040204" pitchFamily="34" charset="0"/>
                    </a:rPr>
                    <a:t>+</a:t>
                  </a:r>
                  <a:endParaRPr lang="en-US" altLang="zh-CN" sz="2400" b="1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5027" name="Line 406"/>
              <p:cNvSpPr/>
              <p:nvPr/>
            </p:nvSpPr>
            <p:spPr>
              <a:xfrm flipH="1">
                <a:off x="192" y="576"/>
                <a:ext cx="0" cy="12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28" name="Line 407"/>
              <p:cNvSpPr/>
              <p:nvPr/>
            </p:nvSpPr>
            <p:spPr>
              <a:xfrm>
                <a:off x="480" y="1632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29" name="Line 408"/>
              <p:cNvSpPr/>
              <p:nvPr/>
            </p:nvSpPr>
            <p:spPr>
              <a:xfrm flipH="1">
                <a:off x="320" y="1728"/>
                <a:ext cx="1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30" name="Line 409"/>
              <p:cNvSpPr/>
              <p:nvPr/>
            </p:nvSpPr>
            <p:spPr>
              <a:xfrm>
                <a:off x="320" y="172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31" name="Line 410"/>
              <p:cNvSpPr/>
              <p:nvPr/>
            </p:nvSpPr>
            <p:spPr>
              <a:xfrm flipH="1">
                <a:off x="480" y="912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32" name="Line 411"/>
              <p:cNvSpPr/>
              <p:nvPr/>
            </p:nvSpPr>
            <p:spPr>
              <a:xfrm>
                <a:off x="480" y="912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33" name="Line 412"/>
              <p:cNvSpPr/>
              <p:nvPr/>
            </p:nvSpPr>
            <p:spPr>
              <a:xfrm flipH="1">
                <a:off x="384" y="816"/>
                <a:ext cx="51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34" name="Line 413"/>
              <p:cNvSpPr/>
              <p:nvPr/>
            </p:nvSpPr>
            <p:spPr>
              <a:xfrm>
                <a:off x="384" y="816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35" name="Line 414"/>
              <p:cNvSpPr/>
              <p:nvPr/>
            </p:nvSpPr>
            <p:spPr>
              <a:xfrm flipH="1">
                <a:off x="288" y="2064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36" name="Line 415"/>
              <p:cNvSpPr/>
              <p:nvPr/>
            </p:nvSpPr>
            <p:spPr>
              <a:xfrm>
                <a:off x="720" y="1296"/>
                <a:ext cx="0" cy="96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37" name="Line 416"/>
              <p:cNvSpPr/>
              <p:nvPr/>
            </p:nvSpPr>
            <p:spPr>
              <a:xfrm>
                <a:off x="1200" y="1296"/>
                <a:ext cx="0" cy="96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38" name="Text Box 417"/>
              <p:cNvSpPr txBox="1"/>
              <p:nvPr/>
            </p:nvSpPr>
            <p:spPr>
              <a:xfrm>
                <a:off x="528" y="326"/>
                <a:ext cx="36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X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2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39" name="Text Box 418"/>
              <p:cNvSpPr txBox="1"/>
              <p:nvPr/>
            </p:nvSpPr>
            <p:spPr>
              <a:xfrm>
                <a:off x="720" y="326"/>
                <a:ext cx="40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Y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2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40" name="Text Box 419"/>
              <p:cNvSpPr txBox="1"/>
              <p:nvPr/>
            </p:nvSpPr>
            <p:spPr>
              <a:xfrm>
                <a:off x="96" y="2256"/>
                <a:ext cx="28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F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2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41" name="Text Box 420"/>
              <p:cNvSpPr txBox="1"/>
              <p:nvPr/>
            </p:nvSpPr>
            <p:spPr>
              <a:xfrm>
                <a:off x="416" y="2208"/>
                <a:ext cx="41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G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2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42" name="Text Box 421"/>
              <p:cNvSpPr txBox="1"/>
              <p:nvPr/>
            </p:nvSpPr>
            <p:spPr>
              <a:xfrm>
                <a:off x="953" y="2246"/>
                <a:ext cx="4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P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2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08" name="Rectangle 422"/>
          <p:cNvSpPr/>
          <p:nvPr/>
        </p:nvSpPr>
        <p:spPr>
          <a:xfrm>
            <a:off x="2438400" y="1676400"/>
            <a:ext cx="2133600" cy="228600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b="1" dirty="0">
              <a:latin typeface="Tahoma" panose="020B0604030504040204" pitchFamily="34" charset="0"/>
            </a:endParaRPr>
          </a:p>
        </p:txBody>
      </p:sp>
      <p:grpSp>
        <p:nvGrpSpPr>
          <p:cNvPr id="109" name="Group 423"/>
          <p:cNvGrpSpPr/>
          <p:nvPr/>
        </p:nvGrpSpPr>
        <p:grpSpPr>
          <a:xfrm>
            <a:off x="4622800" y="990600"/>
            <a:ext cx="2159000" cy="3521075"/>
            <a:chOff x="32" y="288"/>
            <a:chExt cx="1360" cy="2218"/>
          </a:xfrm>
        </p:grpSpPr>
        <p:sp>
          <p:nvSpPr>
            <p:cNvPr id="34975" name="Text Box 424"/>
            <p:cNvSpPr txBox="1"/>
            <p:nvPr/>
          </p:nvSpPr>
          <p:spPr>
            <a:xfrm>
              <a:off x="32" y="288"/>
              <a:ext cx="3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1" dirty="0">
                  <a:latin typeface="Tahoma" panose="020B0604030504040204" pitchFamily="34" charset="0"/>
                </a:rPr>
                <a:t>C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2</a:t>
              </a:r>
              <a:endParaRPr lang="en-US" altLang="zh-CN" sz="2000" b="1" baseline="-25000" dirty="0">
                <a:latin typeface="Tahoma" panose="020B0604030504040204" pitchFamily="34" charset="0"/>
              </a:endParaRPr>
            </a:p>
          </p:txBody>
        </p:sp>
        <p:grpSp>
          <p:nvGrpSpPr>
            <p:cNvPr id="34976" name="Group 425"/>
            <p:cNvGrpSpPr/>
            <p:nvPr/>
          </p:nvGrpSpPr>
          <p:grpSpPr>
            <a:xfrm>
              <a:off x="80" y="326"/>
              <a:ext cx="1312" cy="2180"/>
              <a:chOff x="80" y="326"/>
              <a:chExt cx="1312" cy="2180"/>
            </a:xfrm>
          </p:grpSpPr>
          <p:grpSp>
            <p:nvGrpSpPr>
              <p:cNvPr id="34977" name="Group 426"/>
              <p:cNvGrpSpPr/>
              <p:nvPr/>
            </p:nvGrpSpPr>
            <p:grpSpPr>
              <a:xfrm>
                <a:off x="272" y="1392"/>
                <a:ext cx="384" cy="295"/>
                <a:chOff x="2496" y="1913"/>
                <a:chExt cx="384" cy="295"/>
              </a:xfrm>
            </p:grpSpPr>
            <p:sp>
              <p:nvSpPr>
                <p:cNvPr id="35009" name="Rectangle 427"/>
                <p:cNvSpPr/>
                <p:nvPr/>
              </p:nvSpPr>
              <p:spPr>
                <a:xfrm>
                  <a:off x="2496" y="1913"/>
                  <a:ext cx="384" cy="24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010" name="Oval 428"/>
                <p:cNvSpPr/>
                <p:nvPr/>
              </p:nvSpPr>
              <p:spPr>
                <a:xfrm>
                  <a:off x="2592" y="1968"/>
                  <a:ext cx="182" cy="181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011" name="Text Box 429"/>
                <p:cNvSpPr txBox="1"/>
                <p:nvPr/>
              </p:nvSpPr>
              <p:spPr>
                <a:xfrm>
                  <a:off x="2560" y="1920"/>
                  <a:ext cx="2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latin typeface="Tahoma" panose="020B0604030504040204" pitchFamily="34" charset="0"/>
                    </a:rPr>
                    <a:t>+</a:t>
                  </a:r>
                  <a:endParaRPr lang="en-US" altLang="zh-CN" sz="2400" b="1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4978" name="Rectangle 430"/>
              <p:cNvSpPr/>
              <p:nvPr/>
            </p:nvSpPr>
            <p:spPr>
              <a:xfrm>
                <a:off x="544" y="1056"/>
                <a:ext cx="368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79" name="Rectangle 431"/>
              <p:cNvSpPr/>
              <p:nvPr/>
            </p:nvSpPr>
            <p:spPr>
              <a:xfrm>
                <a:off x="1024" y="1056"/>
                <a:ext cx="368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80" name="Rectangle 432"/>
              <p:cNvSpPr/>
              <p:nvPr/>
            </p:nvSpPr>
            <p:spPr>
              <a:xfrm>
                <a:off x="1072" y="1056"/>
                <a:ext cx="2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ahoma" panose="020B0604030504040204" pitchFamily="34" charset="0"/>
                  </a:rPr>
                  <a:t>+</a:t>
                </a:r>
                <a:endParaRPr lang="en-US" altLang="zh-CN" sz="24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81" name="Line 433"/>
              <p:cNvSpPr/>
              <p:nvPr/>
            </p:nvSpPr>
            <p:spPr>
              <a:xfrm>
                <a:off x="640" y="576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82" name="Line 434"/>
              <p:cNvSpPr/>
              <p:nvPr/>
            </p:nvSpPr>
            <p:spPr>
              <a:xfrm>
                <a:off x="832" y="576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83" name="Line 435"/>
              <p:cNvSpPr/>
              <p:nvPr/>
            </p:nvSpPr>
            <p:spPr>
              <a:xfrm>
                <a:off x="640" y="912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84" name="Line 436"/>
              <p:cNvSpPr/>
              <p:nvPr/>
            </p:nvSpPr>
            <p:spPr>
              <a:xfrm>
                <a:off x="832" y="816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85" name="Line 437"/>
              <p:cNvSpPr/>
              <p:nvPr/>
            </p:nvSpPr>
            <p:spPr>
              <a:xfrm>
                <a:off x="1312" y="816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86" name="Line 438"/>
              <p:cNvSpPr/>
              <p:nvPr/>
            </p:nvSpPr>
            <p:spPr>
              <a:xfrm>
                <a:off x="1120" y="91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87" name="Oval 439"/>
              <p:cNvSpPr/>
              <p:nvPr/>
            </p:nvSpPr>
            <p:spPr>
              <a:xfrm>
                <a:off x="592" y="86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88" name="Oval 440"/>
              <p:cNvSpPr/>
              <p:nvPr/>
            </p:nvSpPr>
            <p:spPr>
              <a:xfrm>
                <a:off x="784" y="7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34989" name="Group 441"/>
              <p:cNvGrpSpPr/>
              <p:nvPr/>
            </p:nvGrpSpPr>
            <p:grpSpPr>
              <a:xfrm>
                <a:off x="80" y="1817"/>
                <a:ext cx="384" cy="295"/>
                <a:chOff x="2496" y="1913"/>
                <a:chExt cx="384" cy="295"/>
              </a:xfrm>
            </p:grpSpPr>
            <p:sp>
              <p:nvSpPr>
                <p:cNvPr id="35006" name="Rectangle 442"/>
                <p:cNvSpPr/>
                <p:nvPr/>
              </p:nvSpPr>
              <p:spPr>
                <a:xfrm>
                  <a:off x="2496" y="1913"/>
                  <a:ext cx="384" cy="24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007" name="Oval 443"/>
                <p:cNvSpPr/>
                <p:nvPr/>
              </p:nvSpPr>
              <p:spPr>
                <a:xfrm>
                  <a:off x="2592" y="1968"/>
                  <a:ext cx="182" cy="181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008" name="Text Box 444"/>
                <p:cNvSpPr txBox="1"/>
                <p:nvPr/>
              </p:nvSpPr>
              <p:spPr>
                <a:xfrm>
                  <a:off x="2560" y="1920"/>
                  <a:ext cx="2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latin typeface="Tahoma" panose="020B0604030504040204" pitchFamily="34" charset="0"/>
                    </a:rPr>
                    <a:t>+</a:t>
                  </a:r>
                  <a:endParaRPr lang="en-US" altLang="zh-CN" sz="2400" b="1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4990" name="Line 445"/>
              <p:cNvSpPr/>
              <p:nvPr/>
            </p:nvSpPr>
            <p:spPr>
              <a:xfrm flipH="1">
                <a:off x="192" y="576"/>
                <a:ext cx="0" cy="12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91" name="Line 446"/>
              <p:cNvSpPr/>
              <p:nvPr/>
            </p:nvSpPr>
            <p:spPr>
              <a:xfrm>
                <a:off x="480" y="1632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92" name="Line 447"/>
              <p:cNvSpPr/>
              <p:nvPr/>
            </p:nvSpPr>
            <p:spPr>
              <a:xfrm flipH="1">
                <a:off x="320" y="1728"/>
                <a:ext cx="1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93" name="Line 448"/>
              <p:cNvSpPr/>
              <p:nvPr/>
            </p:nvSpPr>
            <p:spPr>
              <a:xfrm>
                <a:off x="320" y="172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94" name="Line 449"/>
              <p:cNvSpPr/>
              <p:nvPr/>
            </p:nvSpPr>
            <p:spPr>
              <a:xfrm flipH="1">
                <a:off x="480" y="912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95" name="Line 450"/>
              <p:cNvSpPr/>
              <p:nvPr/>
            </p:nvSpPr>
            <p:spPr>
              <a:xfrm>
                <a:off x="480" y="912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96" name="Line 451"/>
              <p:cNvSpPr/>
              <p:nvPr/>
            </p:nvSpPr>
            <p:spPr>
              <a:xfrm flipH="1">
                <a:off x="384" y="816"/>
                <a:ext cx="51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97" name="Line 452"/>
              <p:cNvSpPr/>
              <p:nvPr/>
            </p:nvSpPr>
            <p:spPr>
              <a:xfrm>
                <a:off x="384" y="816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98" name="Line 453"/>
              <p:cNvSpPr/>
              <p:nvPr/>
            </p:nvSpPr>
            <p:spPr>
              <a:xfrm flipH="1">
                <a:off x="288" y="2064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99" name="Line 454"/>
              <p:cNvSpPr/>
              <p:nvPr/>
            </p:nvSpPr>
            <p:spPr>
              <a:xfrm>
                <a:off x="720" y="1296"/>
                <a:ext cx="0" cy="96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00" name="Line 455"/>
              <p:cNvSpPr/>
              <p:nvPr/>
            </p:nvSpPr>
            <p:spPr>
              <a:xfrm>
                <a:off x="1200" y="1296"/>
                <a:ext cx="0" cy="96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001" name="Text Box 456"/>
              <p:cNvSpPr txBox="1"/>
              <p:nvPr/>
            </p:nvSpPr>
            <p:spPr>
              <a:xfrm>
                <a:off x="528" y="326"/>
                <a:ext cx="33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X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3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02" name="Text Box 457"/>
              <p:cNvSpPr txBox="1"/>
              <p:nvPr/>
            </p:nvSpPr>
            <p:spPr>
              <a:xfrm>
                <a:off x="720" y="326"/>
                <a:ext cx="4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Y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3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03" name="Text Box 458"/>
              <p:cNvSpPr txBox="1"/>
              <p:nvPr/>
            </p:nvSpPr>
            <p:spPr>
              <a:xfrm>
                <a:off x="96" y="2256"/>
                <a:ext cx="28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F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3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04" name="Text Box 459"/>
              <p:cNvSpPr txBox="1"/>
              <p:nvPr/>
            </p:nvSpPr>
            <p:spPr>
              <a:xfrm>
                <a:off x="454" y="2225"/>
                <a:ext cx="38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G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3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005" name="Text Box 460"/>
              <p:cNvSpPr txBox="1"/>
              <p:nvPr/>
            </p:nvSpPr>
            <p:spPr>
              <a:xfrm>
                <a:off x="960" y="2246"/>
                <a:ext cx="3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P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3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47" name="Rectangle 461"/>
          <p:cNvSpPr/>
          <p:nvPr/>
        </p:nvSpPr>
        <p:spPr>
          <a:xfrm>
            <a:off x="4673600" y="1676400"/>
            <a:ext cx="2133600" cy="228600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b="1" dirty="0">
              <a:latin typeface="Tahoma" panose="020B0604030504040204" pitchFamily="34" charset="0"/>
            </a:endParaRPr>
          </a:p>
        </p:txBody>
      </p:sp>
      <p:grpSp>
        <p:nvGrpSpPr>
          <p:cNvPr id="148" name="Group 462"/>
          <p:cNvGrpSpPr/>
          <p:nvPr/>
        </p:nvGrpSpPr>
        <p:grpSpPr>
          <a:xfrm>
            <a:off x="6985000" y="990600"/>
            <a:ext cx="2159000" cy="3521075"/>
            <a:chOff x="32" y="288"/>
            <a:chExt cx="1360" cy="2218"/>
          </a:xfrm>
        </p:grpSpPr>
        <p:sp>
          <p:nvSpPr>
            <p:cNvPr id="34938" name="Text Box 463"/>
            <p:cNvSpPr txBox="1"/>
            <p:nvPr/>
          </p:nvSpPr>
          <p:spPr>
            <a:xfrm>
              <a:off x="32" y="288"/>
              <a:ext cx="3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1" dirty="0">
                  <a:latin typeface="Tahoma" panose="020B0604030504040204" pitchFamily="34" charset="0"/>
                </a:rPr>
                <a:t>C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3</a:t>
              </a:r>
              <a:endParaRPr lang="en-US" altLang="zh-CN" sz="2000" b="1" baseline="-25000" dirty="0">
                <a:latin typeface="Tahoma" panose="020B0604030504040204" pitchFamily="34" charset="0"/>
              </a:endParaRPr>
            </a:p>
          </p:txBody>
        </p:sp>
        <p:grpSp>
          <p:nvGrpSpPr>
            <p:cNvPr id="34939" name="Group 464"/>
            <p:cNvGrpSpPr/>
            <p:nvPr/>
          </p:nvGrpSpPr>
          <p:grpSpPr>
            <a:xfrm>
              <a:off x="80" y="326"/>
              <a:ext cx="1312" cy="2180"/>
              <a:chOff x="80" y="326"/>
              <a:chExt cx="1312" cy="2180"/>
            </a:xfrm>
          </p:grpSpPr>
          <p:grpSp>
            <p:nvGrpSpPr>
              <p:cNvPr id="34940" name="Group 465"/>
              <p:cNvGrpSpPr/>
              <p:nvPr/>
            </p:nvGrpSpPr>
            <p:grpSpPr>
              <a:xfrm>
                <a:off x="272" y="1392"/>
                <a:ext cx="384" cy="295"/>
                <a:chOff x="2496" y="1913"/>
                <a:chExt cx="384" cy="295"/>
              </a:xfrm>
            </p:grpSpPr>
            <p:sp>
              <p:nvSpPr>
                <p:cNvPr id="34972" name="Rectangle 466"/>
                <p:cNvSpPr/>
                <p:nvPr/>
              </p:nvSpPr>
              <p:spPr>
                <a:xfrm>
                  <a:off x="2496" y="1913"/>
                  <a:ext cx="384" cy="24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973" name="Oval 467"/>
                <p:cNvSpPr/>
                <p:nvPr/>
              </p:nvSpPr>
              <p:spPr>
                <a:xfrm>
                  <a:off x="2592" y="1968"/>
                  <a:ext cx="182" cy="181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974" name="Text Box 468"/>
                <p:cNvSpPr txBox="1"/>
                <p:nvPr/>
              </p:nvSpPr>
              <p:spPr>
                <a:xfrm>
                  <a:off x="2560" y="1920"/>
                  <a:ext cx="2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latin typeface="Tahoma" panose="020B0604030504040204" pitchFamily="34" charset="0"/>
                    </a:rPr>
                    <a:t>+</a:t>
                  </a:r>
                  <a:endParaRPr lang="en-US" altLang="zh-CN" sz="2400" b="1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4941" name="Rectangle 469"/>
              <p:cNvSpPr/>
              <p:nvPr/>
            </p:nvSpPr>
            <p:spPr>
              <a:xfrm>
                <a:off x="544" y="1056"/>
                <a:ext cx="368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42" name="Rectangle 470"/>
              <p:cNvSpPr/>
              <p:nvPr/>
            </p:nvSpPr>
            <p:spPr>
              <a:xfrm>
                <a:off x="1024" y="1056"/>
                <a:ext cx="368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43" name="Rectangle 471"/>
              <p:cNvSpPr/>
              <p:nvPr/>
            </p:nvSpPr>
            <p:spPr>
              <a:xfrm>
                <a:off x="1072" y="1056"/>
                <a:ext cx="2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ahoma" panose="020B0604030504040204" pitchFamily="34" charset="0"/>
                  </a:rPr>
                  <a:t>+</a:t>
                </a:r>
                <a:endParaRPr lang="en-US" altLang="zh-CN" sz="24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44" name="Line 472"/>
              <p:cNvSpPr/>
              <p:nvPr/>
            </p:nvSpPr>
            <p:spPr>
              <a:xfrm>
                <a:off x="640" y="576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45" name="Line 473"/>
              <p:cNvSpPr/>
              <p:nvPr/>
            </p:nvSpPr>
            <p:spPr>
              <a:xfrm>
                <a:off x="832" y="576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46" name="Line 474"/>
              <p:cNvSpPr/>
              <p:nvPr/>
            </p:nvSpPr>
            <p:spPr>
              <a:xfrm>
                <a:off x="640" y="912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47" name="Line 475"/>
              <p:cNvSpPr/>
              <p:nvPr/>
            </p:nvSpPr>
            <p:spPr>
              <a:xfrm>
                <a:off x="832" y="816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48" name="Line 476"/>
              <p:cNvSpPr/>
              <p:nvPr/>
            </p:nvSpPr>
            <p:spPr>
              <a:xfrm>
                <a:off x="1312" y="816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49" name="Line 477"/>
              <p:cNvSpPr/>
              <p:nvPr/>
            </p:nvSpPr>
            <p:spPr>
              <a:xfrm>
                <a:off x="1120" y="91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50" name="Oval 478"/>
              <p:cNvSpPr/>
              <p:nvPr/>
            </p:nvSpPr>
            <p:spPr>
              <a:xfrm>
                <a:off x="592" y="86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51" name="Oval 479"/>
              <p:cNvSpPr/>
              <p:nvPr/>
            </p:nvSpPr>
            <p:spPr>
              <a:xfrm>
                <a:off x="784" y="7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34952" name="Group 480"/>
              <p:cNvGrpSpPr/>
              <p:nvPr/>
            </p:nvGrpSpPr>
            <p:grpSpPr>
              <a:xfrm>
                <a:off x="80" y="1817"/>
                <a:ext cx="384" cy="295"/>
                <a:chOff x="2496" y="1913"/>
                <a:chExt cx="384" cy="295"/>
              </a:xfrm>
            </p:grpSpPr>
            <p:sp>
              <p:nvSpPr>
                <p:cNvPr id="34969" name="Rectangle 481"/>
                <p:cNvSpPr/>
                <p:nvPr/>
              </p:nvSpPr>
              <p:spPr>
                <a:xfrm>
                  <a:off x="2496" y="1913"/>
                  <a:ext cx="384" cy="24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970" name="Oval 482"/>
                <p:cNvSpPr/>
                <p:nvPr/>
              </p:nvSpPr>
              <p:spPr>
                <a:xfrm>
                  <a:off x="2592" y="1968"/>
                  <a:ext cx="182" cy="181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971" name="Text Box 483"/>
                <p:cNvSpPr txBox="1"/>
                <p:nvPr/>
              </p:nvSpPr>
              <p:spPr>
                <a:xfrm>
                  <a:off x="2560" y="1920"/>
                  <a:ext cx="2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l"/>
                    <a:defRPr kumimoji="1" sz="3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Ø"/>
                    <a:defRPr kumimoji="1" sz="2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ü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v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Font typeface="Wingdings" panose="05000000000000000000" pitchFamily="2" charset="2"/>
                    <a:buChar char="q"/>
                    <a:defRPr kumimoji="1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latin typeface="Tahoma" panose="020B0604030504040204" pitchFamily="34" charset="0"/>
                    </a:rPr>
                    <a:t>+</a:t>
                  </a:r>
                  <a:endParaRPr lang="en-US" altLang="zh-CN" sz="2400" b="1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4953" name="Line 484"/>
              <p:cNvSpPr/>
              <p:nvPr/>
            </p:nvSpPr>
            <p:spPr>
              <a:xfrm flipH="1">
                <a:off x="192" y="576"/>
                <a:ext cx="0" cy="12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54" name="Line 485"/>
              <p:cNvSpPr/>
              <p:nvPr/>
            </p:nvSpPr>
            <p:spPr>
              <a:xfrm>
                <a:off x="480" y="1632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55" name="Line 486"/>
              <p:cNvSpPr/>
              <p:nvPr/>
            </p:nvSpPr>
            <p:spPr>
              <a:xfrm flipH="1">
                <a:off x="320" y="1728"/>
                <a:ext cx="1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56" name="Line 487"/>
              <p:cNvSpPr/>
              <p:nvPr/>
            </p:nvSpPr>
            <p:spPr>
              <a:xfrm>
                <a:off x="320" y="172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57" name="Line 488"/>
              <p:cNvSpPr/>
              <p:nvPr/>
            </p:nvSpPr>
            <p:spPr>
              <a:xfrm flipH="1">
                <a:off x="480" y="912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58" name="Line 489"/>
              <p:cNvSpPr/>
              <p:nvPr/>
            </p:nvSpPr>
            <p:spPr>
              <a:xfrm>
                <a:off x="480" y="912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59" name="Line 490"/>
              <p:cNvSpPr/>
              <p:nvPr/>
            </p:nvSpPr>
            <p:spPr>
              <a:xfrm flipH="1">
                <a:off x="384" y="816"/>
                <a:ext cx="51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60" name="Line 491"/>
              <p:cNvSpPr/>
              <p:nvPr/>
            </p:nvSpPr>
            <p:spPr>
              <a:xfrm>
                <a:off x="384" y="816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61" name="Line 492"/>
              <p:cNvSpPr/>
              <p:nvPr/>
            </p:nvSpPr>
            <p:spPr>
              <a:xfrm flipH="1">
                <a:off x="288" y="2064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62" name="Line 493"/>
              <p:cNvSpPr/>
              <p:nvPr/>
            </p:nvSpPr>
            <p:spPr>
              <a:xfrm>
                <a:off x="720" y="1296"/>
                <a:ext cx="0" cy="96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63" name="Line 494"/>
              <p:cNvSpPr/>
              <p:nvPr/>
            </p:nvSpPr>
            <p:spPr>
              <a:xfrm>
                <a:off x="1200" y="1296"/>
                <a:ext cx="0" cy="96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64" name="Text Box 495"/>
              <p:cNvSpPr txBox="1"/>
              <p:nvPr/>
            </p:nvSpPr>
            <p:spPr>
              <a:xfrm>
                <a:off x="528" y="326"/>
                <a:ext cx="34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X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4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65" name="Text Box 496"/>
              <p:cNvSpPr txBox="1"/>
              <p:nvPr/>
            </p:nvSpPr>
            <p:spPr>
              <a:xfrm>
                <a:off x="720" y="326"/>
                <a:ext cx="37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Y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4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66" name="Text Box 497"/>
              <p:cNvSpPr txBox="1"/>
              <p:nvPr/>
            </p:nvSpPr>
            <p:spPr>
              <a:xfrm>
                <a:off x="96" y="2256"/>
                <a:ext cx="28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F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4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67" name="Text Box 498"/>
              <p:cNvSpPr txBox="1"/>
              <p:nvPr/>
            </p:nvSpPr>
            <p:spPr>
              <a:xfrm>
                <a:off x="456" y="2238"/>
                <a:ext cx="4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G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4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68" name="Text Box 499"/>
              <p:cNvSpPr txBox="1"/>
              <p:nvPr/>
            </p:nvSpPr>
            <p:spPr>
              <a:xfrm>
                <a:off x="954" y="2246"/>
                <a:ext cx="43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P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4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86" name="Rectangle 500"/>
          <p:cNvSpPr/>
          <p:nvPr/>
        </p:nvSpPr>
        <p:spPr>
          <a:xfrm>
            <a:off x="7010400" y="1676400"/>
            <a:ext cx="2133600" cy="228600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b="1" dirty="0">
              <a:latin typeface="Tahoma" panose="020B0604030504040204" pitchFamily="34" charset="0"/>
            </a:endParaRPr>
          </a:p>
        </p:txBody>
      </p:sp>
      <p:grpSp>
        <p:nvGrpSpPr>
          <p:cNvPr id="189" name="Group 571"/>
          <p:cNvGrpSpPr/>
          <p:nvPr/>
        </p:nvGrpSpPr>
        <p:grpSpPr>
          <a:xfrm>
            <a:off x="106363" y="4038600"/>
            <a:ext cx="1798637" cy="2743200"/>
            <a:chOff x="67" y="2544"/>
            <a:chExt cx="1133" cy="1728"/>
          </a:xfrm>
        </p:grpSpPr>
        <p:sp>
          <p:nvSpPr>
            <p:cNvPr id="34925" name="Rectangle 374"/>
            <p:cNvSpPr/>
            <p:nvPr/>
          </p:nvSpPr>
          <p:spPr>
            <a:xfrm>
              <a:off x="528" y="3600"/>
              <a:ext cx="624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926" name="Line 376"/>
            <p:cNvSpPr/>
            <p:nvPr/>
          </p:nvSpPr>
          <p:spPr>
            <a:xfrm>
              <a:off x="528" y="3744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27" name="Line 377"/>
            <p:cNvSpPr/>
            <p:nvPr/>
          </p:nvSpPr>
          <p:spPr>
            <a:xfrm>
              <a:off x="816" y="360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28" name="Line 505"/>
            <p:cNvSpPr/>
            <p:nvPr/>
          </p:nvSpPr>
          <p:spPr>
            <a:xfrm>
              <a:off x="720" y="2592"/>
              <a:ext cx="0" cy="10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29" name="Line 506"/>
            <p:cNvSpPr/>
            <p:nvPr/>
          </p:nvSpPr>
          <p:spPr>
            <a:xfrm>
              <a:off x="1200" y="2544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0" name="Line 507"/>
            <p:cNvSpPr/>
            <p:nvPr/>
          </p:nvSpPr>
          <p:spPr>
            <a:xfrm flipH="1">
              <a:off x="1056" y="331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1" name="Line 508"/>
            <p:cNvSpPr/>
            <p:nvPr/>
          </p:nvSpPr>
          <p:spPr>
            <a:xfrm>
              <a:off x="1056" y="331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2" name="Line 509"/>
            <p:cNvSpPr/>
            <p:nvPr/>
          </p:nvSpPr>
          <p:spPr>
            <a:xfrm>
              <a:off x="192" y="3504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3" name="Line 510"/>
            <p:cNvSpPr/>
            <p:nvPr/>
          </p:nvSpPr>
          <p:spPr>
            <a:xfrm>
              <a:off x="912" y="35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4" name="Line 511"/>
            <p:cNvSpPr/>
            <p:nvPr/>
          </p:nvSpPr>
          <p:spPr>
            <a:xfrm>
              <a:off x="816" y="388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5" name="Text Box 512"/>
            <p:cNvSpPr txBox="1"/>
            <p:nvPr/>
          </p:nvSpPr>
          <p:spPr>
            <a:xfrm>
              <a:off x="720" y="3686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1" dirty="0">
                  <a:latin typeface="Tahoma" panose="020B0604030504040204" pitchFamily="34" charset="0"/>
                </a:rPr>
                <a:t>+</a:t>
              </a:r>
              <a:endParaRPr lang="en-US" altLang="zh-CN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936" name="Rectangle 513"/>
            <p:cNvSpPr/>
            <p:nvPr/>
          </p:nvSpPr>
          <p:spPr>
            <a:xfrm>
              <a:off x="67" y="3259"/>
              <a:ext cx="2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dirty="0">
                  <a:latin typeface="Tahoma" panose="020B0604030504040204" pitchFamily="34" charset="0"/>
                </a:rPr>
                <a:t>C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0</a:t>
              </a:r>
              <a:endParaRPr lang="en-US" altLang="zh-CN" sz="2000" b="1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34937" name="Rectangle 514"/>
            <p:cNvSpPr/>
            <p:nvPr/>
          </p:nvSpPr>
          <p:spPr>
            <a:xfrm>
              <a:off x="691" y="4022"/>
              <a:ext cx="2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dirty="0">
                  <a:latin typeface="Tahoma" panose="020B0604030504040204" pitchFamily="34" charset="0"/>
                </a:rPr>
                <a:t>C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1</a:t>
              </a:r>
              <a:endParaRPr lang="en-US" altLang="zh-CN" sz="2000" b="1" baseline="-250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203" name="Group 595"/>
          <p:cNvGrpSpPr/>
          <p:nvPr/>
        </p:nvGrpSpPr>
        <p:grpSpPr>
          <a:xfrm>
            <a:off x="3048000" y="4114800"/>
            <a:ext cx="3429000" cy="2667000"/>
            <a:chOff x="1920" y="2592"/>
            <a:chExt cx="2160" cy="1680"/>
          </a:xfrm>
        </p:grpSpPr>
        <p:sp>
          <p:nvSpPr>
            <p:cNvPr id="34886" name="Line 553"/>
            <p:cNvSpPr/>
            <p:nvPr/>
          </p:nvSpPr>
          <p:spPr>
            <a:xfrm>
              <a:off x="4080" y="2592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7" name="Line 570"/>
            <p:cNvSpPr/>
            <p:nvPr/>
          </p:nvSpPr>
          <p:spPr>
            <a:xfrm>
              <a:off x="3600" y="2592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4888" name="Group 594"/>
            <p:cNvGrpSpPr/>
            <p:nvPr/>
          </p:nvGrpSpPr>
          <p:grpSpPr>
            <a:xfrm>
              <a:off x="1920" y="2928"/>
              <a:ext cx="2160" cy="1344"/>
              <a:chOff x="1920" y="2928"/>
              <a:chExt cx="2160" cy="1344"/>
            </a:xfrm>
          </p:grpSpPr>
          <p:sp>
            <p:nvSpPr>
              <p:cNvPr id="34889" name="Rectangle 545"/>
              <p:cNvSpPr/>
              <p:nvPr/>
            </p:nvSpPr>
            <p:spPr>
              <a:xfrm>
                <a:off x="2784" y="3600"/>
                <a:ext cx="1248" cy="28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890" name="Line 546"/>
              <p:cNvSpPr/>
              <p:nvPr/>
            </p:nvSpPr>
            <p:spPr>
              <a:xfrm>
                <a:off x="2784" y="3744"/>
                <a:ext cx="124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91" name="Line 547"/>
              <p:cNvSpPr/>
              <p:nvPr/>
            </p:nvSpPr>
            <p:spPr>
              <a:xfrm>
                <a:off x="3024" y="360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92" name="Text Box 548"/>
              <p:cNvSpPr txBox="1"/>
              <p:nvPr/>
            </p:nvSpPr>
            <p:spPr>
              <a:xfrm>
                <a:off x="3120" y="3686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+</a:t>
                </a:r>
                <a:endParaRPr lang="en-US" altLang="zh-CN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893" name="Line 549"/>
              <p:cNvSpPr/>
              <p:nvPr/>
            </p:nvSpPr>
            <p:spPr>
              <a:xfrm>
                <a:off x="3264" y="360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94" name="Line 551"/>
              <p:cNvSpPr/>
              <p:nvPr/>
            </p:nvSpPr>
            <p:spPr>
              <a:xfrm flipH="1">
                <a:off x="2928" y="2928"/>
                <a:ext cx="67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95" name="Line 552"/>
              <p:cNvSpPr/>
              <p:nvPr/>
            </p:nvSpPr>
            <p:spPr>
              <a:xfrm>
                <a:off x="2928" y="2928"/>
                <a:ext cx="0" cy="6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96" name="Line 555"/>
              <p:cNvSpPr/>
              <p:nvPr/>
            </p:nvSpPr>
            <p:spPr>
              <a:xfrm>
                <a:off x="3360" y="3024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97" name="Line 558"/>
              <p:cNvSpPr/>
              <p:nvPr/>
            </p:nvSpPr>
            <p:spPr>
              <a:xfrm>
                <a:off x="3216" y="3408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98" name="Line 559"/>
              <p:cNvSpPr/>
              <p:nvPr/>
            </p:nvSpPr>
            <p:spPr>
              <a:xfrm>
                <a:off x="3216" y="3888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99" name="Rectangle 560"/>
              <p:cNvSpPr/>
              <p:nvPr/>
            </p:nvSpPr>
            <p:spPr>
              <a:xfrm>
                <a:off x="3091" y="4022"/>
                <a:ext cx="26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C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3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00" name="Line 563"/>
              <p:cNvSpPr/>
              <p:nvPr/>
            </p:nvSpPr>
            <p:spPr>
              <a:xfrm>
                <a:off x="3552" y="3408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1" name="Line 564"/>
              <p:cNvSpPr/>
              <p:nvPr/>
            </p:nvSpPr>
            <p:spPr>
              <a:xfrm>
                <a:off x="3648" y="3024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2" name="Line 568"/>
              <p:cNvSpPr/>
              <p:nvPr/>
            </p:nvSpPr>
            <p:spPr>
              <a:xfrm>
                <a:off x="3456" y="350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3" name="Line 569"/>
              <p:cNvSpPr/>
              <p:nvPr/>
            </p:nvSpPr>
            <p:spPr>
              <a:xfrm>
                <a:off x="3600" y="360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4" name="Line 573"/>
              <p:cNvSpPr/>
              <p:nvPr/>
            </p:nvSpPr>
            <p:spPr>
              <a:xfrm flipH="1">
                <a:off x="3216" y="3024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5" name="Line 574"/>
              <p:cNvSpPr/>
              <p:nvPr/>
            </p:nvSpPr>
            <p:spPr>
              <a:xfrm>
                <a:off x="3216" y="3024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6" name="Line 575"/>
              <p:cNvSpPr/>
              <p:nvPr/>
            </p:nvSpPr>
            <p:spPr>
              <a:xfrm>
                <a:off x="2208" y="3120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7" name="Oval 576"/>
              <p:cNvSpPr/>
              <p:nvPr/>
            </p:nvSpPr>
            <p:spPr>
              <a:xfrm>
                <a:off x="2160" y="30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08" name="Line 577"/>
              <p:cNvSpPr/>
              <p:nvPr/>
            </p:nvSpPr>
            <p:spPr>
              <a:xfrm>
                <a:off x="3072" y="312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09" name="Line 578"/>
              <p:cNvSpPr/>
              <p:nvPr/>
            </p:nvSpPr>
            <p:spPr>
              <a:xfrm>
                <a:off x="2688" y="3216"/>
                <a:ext cx="7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10" name="Oval 579"/>
              <p:cNvSpPr/>
              <p:nvPr/>
            </p:nvSpPr>
            <p:spPr>
              <a:xfrm>
                <a:off x="2640" y="31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11" name="Line 580"/>
              <p:cNvSpPr/>
              <p:nvPr/>
            </p:nvSpPr>
            <p:spPr>
              <a:xfrm>
                <a:off x="3456" y="3216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12" name="Oval 581"/>
              <p:cNvSpPr/>
              <p:nvPr/>
            </p:nvSpPr>
            <p:spPr>
              <a:xfrm>
                <a:off x="3312" y="297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13" name="Line 582"/>
              <p:cNvSpPr/>
              <p:nvPr/>
            </p:nvSpPr>
            <p:spPr>
              <a:xfrm>
                <a:off x="1920" y="3408"/>
                <a:ext cx="163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14" name="Oval 583"/>
              <p:cNvSpPr/>
              <p:nvPr/>
            </p:nvSpPr>
            <p:spPr>
              <a:xfrm>
                <a:off x="1920" y="33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15" name="Oval 584"/>
              <p:cNvSpPr/>
              <p:nvPr/>
            </p:nvSpPr>
            <p:spPr>
              <a:xfrm>
                <a:off x="3600" y="297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16" name="Line 585"/>
              <p:cNvSpPr/>
              <p:nvPr/>
            </p:nvSpPr>
            <p:spPr>
              <a:xfrm>
                <a:off x="3456" y="3216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17" name="Line 586"/>
              <p:cNvSpPr/>
              <p:nvPr/>
            </p:nvSpPr>
            <p:spPr>
              <a:xfrm>
                <a:off x="3744" y="3216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18" name="Oval 587"/>
              <p:cNvSpPr/>
              <p:nvPr/>
            </p:nvSpPr>
            <p:spPr>
              <a:xfrm>
                <a:off x="3408" y="31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19" name="Line 588"/>
              <p:cNvSpPr/>
              <p:nvPr/>
            </p:nvSpPr>
            <p:spPr>
              <a:xfrm>
                <a:off x="2304" y="3312"/>
                <a:ext cx="15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20" name="Line 589"/>
              <p:cNvSpPr/>
              <p:nvPr/>
            </p:nvSpPr>
            <p:spPr>
              <a:xfrm>
                <a:off x="3840" y="3312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21" name="Oval 590"/>
              <p:cNvSpPr/>
              <p:nvPr/>
            </p:nvSpPr>
            <p:spPr>
              <a:xfrm>
                <a:off x="2256" y="326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922" name="Line 591"/>
              <p:cNvSpPr/>
              <p:nvPr/>
            </p:nvSpPr>
            <p:spPr>
              <a:xfrm>
                <a:off x="2208" y="3504"/>
                <a:ext cx="17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23" name="Line 592"/>
              <p:cNvSpPr/>
              <p:nvPr/>
            </p:nvSpPr>
            <p:spPr>
              <a:xfrm>
                <a:off x="3936" y="350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924" name="Oval 593"/>
              <p:cNvSpPr/>
              <p:nvPr/>
            </p:nvSpPr>
            <p:spPr>
              <a:xfrm>
                <a:off x="2160" y="345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243" name="Group 679"/>
          <p:cNvGrpSpPr/>
          <p:nvPr/>
        </p:nvGrpSpPr>
        <p:grpSpPr>
          <a:xfrm>
            <a:off x="4800600" y="4114800"/>
            <a:ext cx="4191000" cy="2743200"/>
            <a:chOff x="3024" y="2592"/>
            <a:chExt cx="2640" cy="1728"/>
          </a:xfrm>
        </p:grpSpPr>
        <p:sp>
          <p:nvSpPr>
            <p:cNvPr id="34837" name="Rectangle 600"/>
            <p:cNvSpPr/>
            <p:nvPr/>
          </p:nvSpPr>
          <p:spPr>
            <a:xfrm>
              <a:off x="4080" y="3600"/>
              <a:ext cx="1584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38" name="Line 601"/>
            <p:cNvSpPr/>
            <p:nvPr/>
          </p:nvSpPr>
          <p:spPr>
            <a:xfrm>
              <a:off x="4080" y="374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39" name="Line 602"/>
            <p:cNvSpPr/>
            <p:nvPr/>
          </p:nvSpPr>
          <p:spPr>
            <a:xfrm>
              <a:off x="4224" y="360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0" name="Text Box 603"/>
            <p:cNvSpPr txBox="1"/>
            <p:nvPr/>
          </p:nvSpPr>
          <p:spPr>
            <a:xfrm>
              <a:off x="4800" y="3686"/>
              <a:ext cx="19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1" dirty="0">
                  <a:latin typeface="Tahoma" panose="020B0604030504040204" pitchFamily="34" charset="0"/>
                </a:rPr>
                <a:t>+</a:t>
              </a:r>
              <a:endParaRPr lang="en-US" altLang="zh-CN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41" name="Line 604"/>
            <p:cNvSpPr/>
            <p:nvPr/>
          </p:nvSpPr>
          <p:spPr>
            <a:xfrm>
              <a:off x="4416" y="360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2" name="Line 609"/>
            <p:cNvSpPr/>
            <p:nvPr/>
          </p:nvSpPr>
          <p:spPr>
            <a:xfrm>
              <a:off x="4896" y="388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3" name="Rectangle 610"/>
            <p:cNvSpPr/>
            <p:nvPr/>
          </p:nvSpPr>
          <p:spPr>
            <a:xfrm>
              <a:off x="4752" y="4070"/>
              <a:ext cx="2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dirty="0">
                  <a:latin typeface="Tahoma" panose="020B0604030504040204" pitchFamily="34" charset="0"/>
                </a:rPr>
                <a:t>C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4</a:t>
              </a:r>
              <a:endParaRPr lang="en-US" altLang="zh-CN" sz="2000" b="1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34844" name="Line 614"/>
            <p:cNvSpPr/>
            <p:nvPr/>
          </p:nvSpPr>
          <p:spPr>
            <a:xfrm>
              <a:off x="4704" y="360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5" name="Line 636"/>
            <p:cNvSpPr/>
            <p:nvPr/>
          </p:nvSpPr>
          <p:spPr>
            <a:xfrm>
              <a:off x="5088" y="360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6" name="Line 637"/>
            <p:cNvSpPr/>
            <p:nvPr/>
          </p:nvSpPr>
          <p:spPr>
            <a:xfrm>
              <a:off x="5088" y="259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7" name="Line 638"/>
            <p:cNvSpPr/>
            <p:nvPr/>
          </p:nvSpPr>
          <p:spPr>
            <a:xfrm flipH="1">
              <a:off x="4176" y="2832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8" name="Line 639"/>
            <p:cNvSpPr/>
            <p:nvPr/>
          </p:nvSpPr>
          <p:spPr>
            <a:xfrm>
              <a:off x="4176" y="283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9" name="Line 640"/>
            <p:cNvSpPr/>
            <p:nvPr/>
          </p:nvSpPr>
          <p:spPr>
            <a:xfrm>
              <a:off x="5568" y="2592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0" name="Line 641"/>
            <p:cNvSpPr/>
            <p:nvPr/>
          </p:nvSpPr>
          <p:spPr>
            <a:xfrm flipH="1">
              <a:off x="4368" y="2928"/>
              <a:ext cx="12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1" name="Line 642"/>
            <p:cNvSpPr/>
            <p:nvPr/>
          </p:nvSpPr>
          <p:spPr>
            <a:xfrm>
              <a:off x="4368" y="2928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2" name="Line 643"/>
            <p:cNvSpPr/>
            <p:nvPr/>
          </p:nvSpPr>
          <p:spPr>
            <a:xfrm>
              <a:off x="3600" y="2928"/>
              <a:ext cx="6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3" name="Line 644"/>
            <p:cNvSpPr/>
            <p:nvPr/>
          </p:nvSpPr>
          <p:spPr>
            <a:xfrm>
              <a:off x="4272" y="2928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4" name="Oval 645"/>
            <p:cNvSpPr/>
            <p:nvPr/>
          </p:nvSpPr>
          <p:spPr>
            <a:xfrm>
              <a:off x="3552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55" name="Oval 647"/>
            <p:cNvSpPr/>
            <p:nvPr/>
          </p:nvSpPr>
          <p:spPr>
            <a:xfrm>
              <a:off x="4416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56" name="Line 648"/>
            <p:cNvSpPr/>
            <p:nvPr/>
          </p:nvSpPr>
          <p:spPr>
            <a:xfrm>
              <a:off x="4464" y="2880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7" name="Line 649"/>
            <p:cNvSpPr/>
            <p:nvPr/>
          </p:nvSpPr>
          <p:spPr>
            <a:xfrm>
              <a:off x="4080" y="3024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8" name="Oval 650"/>
            <p:cNvSpPr/>
            <p:nvPr/>
          </p:nvSpPr>
          <p:spPr>
            <a:xfrm>
              <a:off x="4032" y="297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59" name="Line 651"/>
            <p:cNvSpPr/>
            <p:nvPr/>
          </p:nvSpPr>
          <p:spPr>
            <a:xfrm>
              <a:off x="4560" y="3024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0" name="Line 652"/>
            <p:cNvSpPr/>
            <p:nvPr/>
          </p:nvSpPr>
          <p:spPr>
            <a:xfrm>
              <a:off x="3072" y="3120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1" name="Line 653"/>
            <p:cNvSpPr/>
            <p:nvPr/>
          </p:nvSpPr>
          <p:spPr>
            <a:xfrm>
              <a:off x="4656" y="3120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2" name="Line 654"/>
            <p:cNvSpPr/>
            <p:nvPr/>
          </p:nvSpPr>
          <p:spPr>
            <a:xfrm>
              <a:off x="3840" y="3312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3" name="Oval 656"/>
            <p:cNvSpPr/>
            <p:nvPr/>
          </p:nvSpPr>
          <p:spPr>
            <a:xfrm>
              <a:off x="3792" y="3264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64" name="Oval 657"/>
            <p:cNvSpPr/>
            <p:nvPr/>
          </p:nvSpPr>
          <p:spPr>
            <a:xfrm>
              <a:off x="3024" y="3072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65" name="Line 658"/>
            <p:cNvSpPr/>
            <p:nvPr/>
          </p:nvSpPr>
          <p:spPr>
            <a:xfrm>
              <a:off x="4752" y="2928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6" name="Oval 659"/>
            <p:cNvSpPr/>
            <p:nvPr/>
          </p:nvSpPr>
          <p:spPr>
            <a:xfrm>
              <a:off x="4704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67" name="Oval 660"/>
            <p:cNvSpPr/>
            <p:nvPr/>
          </p:nvSpPr>
          <p:spPr>
            <a:xfrm>
              <a:off x="4512" y="297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68" name="Line 661"/>
            <p:cNvSpPr/>
            <p:nvPr/>
          </p:nvSpPr>
          <p:spPr>
            <a:xfrm>
              <a:off x="4560" y="3024"/>
              <a:ext cx="6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9" name="Line 662"/>
            <p:cNvSpPr/>
            <p:nvPr/>
          </p:nvSpPr>
          <p:spPr>
            <a:xfrm>
              <a:off x="4848" y="3024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0" name="Oval 663"/>
            <p:cNvSpPr/>
            <p:nvPr/>
          </p:nvSpPr>
          <p:spPr>
            <a:xfrm>
              <a:off x="3696" y="3168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71" name="Line 664"/>
            <p:cNvSpPr/>
            <p:nvPr/>
          </p:nvSpPr>
          <p:spPr>
            <a:xfrm>
              <a:off x="3744" y="3216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2" name="Line 665"/>
            <p:cNvSpPr/>
            <p:nvPr/>
          </p:nvSpPr>
          <p:spPr>
            <a:xfrm>
              <a:off x="4944" y="3216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3" name="Oval 666"/>
            <p:cNvSpPr/>
            <p:nvPr/>
          </p:nvSpPr>
          <p:spPr>
            <a:xfrm>
              <a:off x="3504" y="336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74" name="Line 667"/>
            <p:cNvSpPr/>
            <p:nvPr/>
          </p:nvSpPr>
          <p:spPr>
            <a:xfrm>
              <a:off x="3552" y="3408"/>
              <a:ext cx="14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5" name="Line 668"/>
            <p:cNvSpPr/>
            <p:nvPr/>
          </p:nvSpPr>
          <p:spPr>
            <a:xfrm>
              <a:off x="5040" y="340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6" name="Line 669"/>
            <p:cNvSpPr/>
            <p:nvPr/>
          </p:nvSpPr>
          <p:spPr>
            <a:xfrm>
              <a:off x="5136" y="2928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7" name="Oval 670"/>
            <p:cNvSpPr/>
            <p:nvPr/>
          </p:nvSpPr>
          <p:spPr>
            <a:xfrm>
              <a:off x="5088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78" name="Oval 671"/>
            <p:cNvSpPr/>
            <p:nvPr/>
          </p:nvSpPr>
          <p:spPr>
            <a:xfrm>
              <a:off x="4800" y="297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79" name="Line 672"/>
            <p:cNvSpPr/>
            <p:nvPr/>
          </p:nvSpPr>
          <p:spPr>
            <a:xfrm>
              <a:off x="5232" y="3024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0" name="Oval 673"/>
            <p:cNvSpPr/>
            <p:nvPr/>
          </p:nvSpPr>
          <p:spPr>
            <a:xfrm>
              <a:off x="4896" y="3168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81" name="Line 674"/>
            <p:cNvSpPr/>
            <p:nvPr/>
          </p:nvSpPr>
          <p:spPr>
            <a:xfrm>
              <a:off x="5328" y="3216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2" name="Line 675"/>
            <p:cNvSpPr/>
            <p:nvPr/>
          </p:nvSpPr>
          <p:spPr>
            <a:xfrm>
              <a:off x="5424" y="331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3" name="Oval 676"/>
            <p:cNvSpPr/>
            <p:nvPr/>
          </p:nvSpPr>
          <p:spPr>
            <a:xfrm>
              <a:off x="3888" y="345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34884" name="Line 677"/>
            <p:cNvSpPr/>
            <p:nvPr/>
          </p:nvSpPr>
          <p:spPr>
            <a:xfrm>
              <a:off x="3936" y="350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5" name="Line 678"/>
            <p:cNvSpPr/>
            <p:nvPr/>
          </p:nvSpPr>
          <p:spPr>
            <a:xfrm>
              <a:off x="5520" y="35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3" name="Rectangle 680"/>
          <p:cNvSpPr/>
          <p:nvPr/>
        </p:nvSpPr>
        <p:spPr>
          <a:xfrm>
            <a:off x="533400" y="4495800"/>
            <a:ext cx="8534400" cy="175260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b="1" dirty="0">
              <a:latin typeface="Tahoma" panose="020B0604030504040204" pitchFamily="34" charset="0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693738" y="95250"/>
            <a:ext cx="1655762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=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1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1</a:t>
            </a:r>
            <a:r>
              <a:rPr lang="en-US" altLang="zh-CN" sz="2000" b="1" dirty="0">
                <a:solidFill>
                  <a:srgbClr val="FFFF00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0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2349500" y="92075"/>
            <a:ext cx="26416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C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= 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1 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1</a:t>
            </a:r>
            <a:r>
              <a:rPr lang="en-US" altLang="zh-CN" sz="2000" b="1" dirty="0">
                <a:solidFill>
                  <a:srgbClr val="FFFF00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0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4876800" y="109538"/>
            <a:ext cx="4052888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C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= 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3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3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2 </a:t>
            </a:r>
            <a:r>
              <a:rPr lang="en-US" altLang="zh-CN" sz="2000" b="1" dirty="0">
                <a:solidFill>
                  <a:srgbClr val="FFFF00"/>
                </a:solidFill>
              </a:rPr>
              <a:t>+ 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3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1 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3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1</a:t>
            </a:r>
            <a:r>
              <a:rPr lang="en-US" altLang="zh-CN" sz="2000" b="1" dirty="0">
                <a:solidFill>
                  <a:srgbClr val="FFFF00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0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668338" y="561975"/>
            <a:ext cx="764857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C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=</a:t>
            </a:r>
            <a:r>
              <a:rPr lang="en-US" altLang="zh-CN" sz="2000" b="1" dirty="0">
                <a:solidFill>
                  <a:srgbClr val="FFFF00"/>
                </a:solidFill>
              </a:rPr>
              <a:t> 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4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4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3</a:t>
            </a:r>
            <a:r>
              <a:rPr lang="en-US" altLang="zh-CN" sz="2000" b="1" dirty="0">
                <a:solidFill>
                  <a:srgbClr val="FFFF00"/>
                </a:solidFill>
              </a:rPr>
              <a:t>+ 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4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3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2 </a:t>
            </a:r>
            <a:r>
              <a:rPr lang="en-US" altLang="zh-CN" sz="2000" b="1" dirty="0">
                <a:solidFill>
                  <a:srgbClr val="FFFF00"/>
                </a:solidFill>
              </a:rPr>
              <a:t>+ 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4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3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1 </a:t>
            </a:r>
            <a:r>
              <a:rPr lang="en-US" altLang="zh-CN" sz="2000" b="1" dirty="0">
                <a:solidFill>
                  <a:srgbClr val="FFFF00"/>
                </a:solidFill>
              </a:rPr>
              <a:t>+ 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4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3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1</a:t>
            </a:r>
            <a:r>
              <a:rPr lang="en-US" altLang="zh-CN" sz="2000" b="1" dirty="0">
                <a:solidFill>
                  <a:srgbClr val="FFFF00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0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108" grpId="0" animBg="1"/>
      <p:bldP spid="147" grpId="0" animBg="1"/>
      <p:bldP spid="186" grpId="0" animBg="1"/>
      <p:bldP spid="293" grpId="0" animBg="1"/>
      <p:bldP spid="297" grpId="0"/>
      <p:bldP spid="298" grpId="0"/>
      <p:bldP spid="299" grpId="0"/>
      <p:bldP spid="30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73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534400" cy="6096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3.3.5   </a:t>
            </a: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运算器</a:t>
            </a: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(28)</a:t>
            </a:r>
            <a:endParaRPr kumimoji="1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30115" name="Object 3"/>
          <p:cNvGraphicFramePr>
            <a:graphicFrameLocks noChangeAspect="1"/>
          </p:cNvGraphicFramePr>
          <p:nvPr/>
        </p:nvGraphicFramePr>
        <p:xfrm>
          <a:off x="769938" y="2527300"/>
          <a:ext cx="7705725" cy="321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2644120" imgH="6577965" progId="Photoshop.Image.6">
                  <p:embed/>
                </p:oleObj>
              </mc:Choice>
              <mc:Fallback>
                <p:oleObj name="" r:id="rId1" imgW="12644120" imgH="6577965" progId="Photoshop.Image.6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9938" y="2527300"/>
                        <a:ext cx="7705725" cy="3214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1" name="Text Box 4"/>
          <p:cNvSpPr txBox="1"/>
          <p:nvPr/>
        </p:nvSpPr>
        <p:spPr>
          <a:xfrm>
            <a:off x="850900" y="5754688"/>
            <a:ext cx="741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超前进位扩展器</a:t>
            </a:r>
            <a:r>
              <a:rPr lang="en-US" altLang="zh-CN" sz="2800" b="1" dirty="0">
                <a:latin typeface="Tahoma" panose="020B0604030504040204" pitchFamily="34" charset="0"/>
              </a:rPr>
              <a:t>, </a:t>
            </a:r>
            <a:r>
              <a:rPr lang="zh-CN" altLang="en-US" sz="2800" b="1" dirty="0">
                <a:latin typeface="Tahoma" panose="020B0604030504040204" pitchFamily="34" charset="0"/>
              </a:rPr>
              <a:t>使得</a:t>
            </a:r>
            <a:r>
              <a:rPr lang="en-US" altLang="zh-CN" sz="2400" b="1" dirty="0">
                <a:latin typeface="Tahoma" panose="020B0604030504040204" pitchFamily="34" charset="0"/>
              </a:rPr>
              <a:t>C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4</a:t>
            </a:r>
            <a:r>
              <a:rPr lang="en-US" altLang="zh-CN" sz="2400" b="1" dirty="0">
                <a:latin typeface="Tahoma" panose="020B0604030504040204" pitchFamily="34" charset="0"/>
              </a:rPr>
              <a:t>, C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8 </a:t>
            </a:r>
            <a:r>
              <a:rPr lang="en-US" altLang="zh-CN" sz="1800" b="1" dirty="0">
                <a:latin typeface="Tahoma" panose="020B0604030504040204" pitchFamily="34" charset="0"/>
              </a:rPr>
              <a:t>, </a:t>
            </a:r>
            <a:r>
              <a:rPr lang="en-US" altLang="zh-CN" sz="2400" b="1" dirty="0">
                <a:latin typeface="Tahoma" panose="020B0604030504040204" pitchFamily="34" charset="0"/>
              </a:rPr>
              <a:t>C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12 </a:t>
            </a:r>
            <a:r>
              <a:rPr lang="en-US" altLang="zh-CN" sz="1800" b="1" dirty="0">
                <a:latin typeface="Tahoma" panose="020B0604030504040204" pitchFamily="34" charset="0"/>
              </a:rPr>
              <a:t>, </a:t>
            </a:r>
            <a:r>
              <a:rPr lang="en-US" altLang="zh-CN" sz="2400" b="1" dirty="0">
                <a:latin typeface="Tahoma" panose="020B0604030504040204" pitchFamily="34" charset="0"/>
              </a:rPr>
              <a:t>C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16</a:t>
            </a:r>
            <a:r>
              <a:rPr lang="zh-CN" altLang="en-US" sz="2800" b="1" dirty="0">
                <a:latin typeface="Tahoma" panose="020B0604030504040204" pitchFamily="34" charset="0"/>
              </a:rPr>
              <a:t>同时产生</a:t>
            </a:r>
            <a:r>
              <a:rPr lang="en-US" altLang="zh-CN" sz="2800" b="1" dirty="0">
                <a:latin typeface="Tahoma" panose="020B0604030504040204" pitchFamily="34" charset="0"/>
              </a:rPr>
              <a:t>!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35846" name="Rectangle 6"/>
          <p:cNvSpPr>
            <a:spLocks noGrp="1"/>
          </p:cNvSpPr>
          <p:nvPr>
            <p:ph idx="1"/>
          </p:nvPr>
        </p:nvSpPr>
        <p:spPr>
          <a:xfrm>
            <a:off x="609600" y="1219200"/>
            <a:ext cx="8153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/>
              <a:t>16</a:t>
            </a:r>
            <a:r>
              <a:rPr lang="zh-CN" altLang="en-US" b="1" dirty="0"/>
              <a:t>位快速加法器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 eaLnBrk="1" hangingPunct="1">
              <a:spcBef>
                <a:spcPct val="0"/>
              </a:spcBef>
            </a:pPr>
            <a:r>
              <a:rPr lang="zh-CN" altLang="en-US" dirty="0"/>
              <a:t>超前进位扩展器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069975" y="2085975"/>
            <a:ext cx="792162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C</a:t>
            </a:r>
            <a:r>
              <a:rPr lang="en-US" altLang="zh-CN" sz="2000" b="1" baseline="-25000" dirty="0"/>
              <a:t>16</a:t>
            </a:r>
            <a:r>
              <a:rPr lang="en-US" altLang="zh-CN" sz="2000" b="1" dirty="0"/>
              <a:t>=  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m4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m4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m3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m4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m3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m2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m4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m3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m2 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m1</a:t>
            </a:r>
            <a:r>
              <a:rPr lang="en-US" altLang="zh-CN" sz="2000" b="1" dirty="0">
                <a:solidFill>
                  <a:srgbClr val="FFFF00"/>
                </a:solidFill>
              </a:rPr>
              <a:t> 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m4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m3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m2 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m1 </a:t>
            </a:r>
            <a:r>
              <a:rPr lang="en-US" altLang="zh-CN" sz="2000" b="1" dirty="0">
                <a:solidFill>
                  <a:srgbClr val="FFFF00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0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3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458200" cy="6096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3.3.5   </a:t>
            </a:r>
            <a:r>
              <a:rPr kumimoji="1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运算器</a:t>
            </a: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(27)</a:t>
            </a:r>
            <a:endParaRPr kumimoji="1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28079" name="Text Box 15"/>
          <p:cNvSpPr txBox="1"/>
          <p:nvPr/>
        </p:nvSpPr>
        <p:spPr>
          <a:xfrm>
            <a:off x="520700" y="5124450"/>
            <a:ext cx="76962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/>
              <a:t>Gm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Pm</a:t>
            </a:r>
            <a:r>
              <a:rPr lang="zh-CN" altLang="en-US" sz="2400" b="1" dirty="0"/>
              <a:t>的规律性强，可以根据输入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Y</a:t>
            </a:r>
            <a:r>
              <a:rPr lang="zh-CN" altLang="en-US" sz="2400" b="1" dirty="0"/>
              <a:t>直接计算得出，意味者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位加法器内部可以直接提供</a:t>
            </a:r>
            <a:r>
              <a:rPr lang="en-US" altLang="zh-CN" sz="2400" b="1" dirty="0"/>
              <a:t>Gm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Pm</a:t>
            </a:r>
            <a:r>
              <a:rPr lang="zh-CN" altLang="en-US" sz="2400" b="1" dirty="0"/>
              <a:t>。</a:t>
            </a:r>
            <a:r>
              <a:rPr lang="en-US" altLang="zh-CN" sz="2400" b="1" dirty="0"/>
              <a:t>C4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C8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C12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C16</a:t>
            </a:r>
            <a:r>
              <a:rPr lang="zh-CN" altLang="en-US" sz="2400" b="1" dirty="0"/>
              <a:t>可以设计一个部件快速计算。</a:t>
            </a:r>
            <a:endParaRPr lang="zh-CN" altLang="en-US" sz="2400" b="1" dirty="0"/>
          </a:p>
        </p:txBody>
      </p:sp>
      <p:sp>
        <p:nvSpPr>
          <p:cNvPr id="19" name="矩形 18"/>
          <p:cNvSpPr/>
          <p:nvPr/>
        </p:nvSpPr>
        <p:spPr>
          <a:xfrm>
            <a:off x="341313" y="1000125"/>
            <a:ext cx="8204200" cy="2128838"/>
          </a:xfrm>
          <a:prstGeom prst="rect">
            <a:avLst/>
          </a:prstGeom>
          <a:noFill/>
          <a:ln w="25400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468313" y="1031875"/>
            <a:ext cx="5478462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G</a:t>
            </a:r>
            <a:r>
              <a:rPr lang="en-US" altLang="zh-CN" sz="2000" b="1" baseline="-25000" dirty="0"/>
              <a:t>m1</a:t>
            </a:r>
            <a:r>
              <a:rPr lang="en-US" altLang="zh-CN" sz="2000" b="1" dirty="0"/>
              <a:t>=  G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+P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+P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 +P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1</a:t>
            </a:r>
            <a:endParaRPr lang="zh-CN" altLang="en-US" sz="20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481013" y="1536700"/>
            <a:ext cx="5538787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G</a:t>
            </a:r>
            <a:r>
              <a:rPr lang="en-US" altLang="zh-CN" sz="2000" b="1" baseline="-25000" dirty="0"/>
              <a:t>m2</a:t>
            </a:r>
            <a:r>
              <a:rPr lang="en-US" altLang="zh-CN" sz="2000" b="1" dirty="0"/>
              <a:t>=  G</a:t>
            </a:r>
            <a:r>
              <a:rPr lang="en-US" altLang="zh-CN" sz="2000" b="1" baseline="-25000" dirty="0"/>
              <a:t>8</a:t>
            </a:r>
            <a:r>
              <a:rPr lang="en-US" altLang="zh-CN" sz="2000" b="1" dirty="0"/>
              <a:t>+P</a:t>
            </a:r>
            <a:r>
              <a:rPr lang="en-US" altLang="zh-CN" sz="2000" b="1" baseline="-25000" dirty="0"/>
              <a:t>8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7</a:t>
            </a:r>
            <a:r>
              <a:rPr lang="en-US" altLang="zh-CN" sz="2000" b="1" dirty="0"/>
              <a:t>+P</a:t>
            </a:r>
            <a:r>
              <a:rPr lang="en-US" altLang="zh-CN" sz="2000" b="1" baseline="-25000" dirty="0"/>
              <a:t>8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7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6</a:t>
            </a:r>
            <a:r>
              <a:rPr lang="en-US" altLang="zh-CN" sz="2000" b="1" dirty="0"/>
              <a:t> +P</a:t>
            </a:r>
            <a:r>
              <a:rPr lang="en-US" altLang="zh-CN" sz="2000" b="1" baseline="-25000" dirty="0"/>
              <a:t>8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7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6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6</a:t>
            </a:r>
            <a:endParaRPr lang="zh-CN" altLang="en-US" sz="20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455613" y="2628900"/>
            <a:ext cx="561975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G</a:t>
            </a:r>
            <a:r>
              <a:rPr lang="en-US" altLang="zh-CN" sz="2000" b="1" baseline="-25000" dirty="0"/>
              <a:t>m4</a:t>
            </a:r>
            <a:r>
              <a:rPr lang="en-US" altLang="zh-CN" sz="2000" b="1" dirty="0"/>
              <a:t>=  G</a:t>
            </a:r>
            <a:r>
              <a:rPr lang="en-US" altLang="zh-CN" sz="2000" b="1" baseline="-25000" dirty="0"/>
              <a:t>16</a:t>
            </a:r>
            <a:r>
              <a:rPr lang="en-US" altLang="zh-CN" sz="2000" b="1" dirty="0"/>
              <a:t>+P</a:t>
            </a:r>
            <a:r>
              <a:rPr lang="en-US" altLang="zh-CN" sz="2000" b="1" baseline="-25000" dirty="0"/>
              <a:t>16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15</a:t>
            </a:r>
            <a:r>
              <a:rPr lang="en-US" altLang="zh-CN" sz="2000" b="1" dirty="0"/>
              <a:t>+P</a:t>
            </a:r>
            <a:r>
              <a:rPr lang="en-US" altLang="zh-CN" sz="2000" b="1" baseline="-25000" dirty="0"/>
              <a:t>16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15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14</a:t>
            </a:r>
            <a:r>
              <a:rPr lang="en-US" altLang="zh-CN" sz="2000" b="1" dirty="0"/>
              <a:t>+P</a:t>
            </a:r>
            <a:r>
              <a:rPr lang="en-US" altLang="zh-CN" sz="2000" b="1" baseline="-25000" dirty="0"/>
              <a:t>16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15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14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13</a:t>
            </a:r>
            <a:endParaRPr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455613" y="2057400"/>
            <a:ext cx="5538787" cy="401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G</a:t>
            </a:r>
            <a:r>
              <a:rPr lang="en-US" altLang="zh-CN" sz="2000" b="1" baseline="-25000" dirty="0"/>
              <a:t>m3</a:t>
            </a:r>
            <a:r>
              <a:rPr lang="en-US" altLang="zh-CN" sz="2000" b="1" dirty="0"/>
              <a:t>=  G</a:t>
            </a:r>
            <a:r>
              <a:rPr lang="en-US" altLang="zh-CN" sz="2000" b="1" baseline="-25000" dirty="0"/>
              <a:t>12</a:t>
            </a:r>
            <a:r>
              <a:rPr lang="en-US" altLang="zh-CN" sz="2000" b="1" dirty="0"/>
              <a:t>+P</a:t>
            </a:r>
            <a:r>
              <a:rPr lang="en-US" altLang="zh-CN" sz="2000" b="1" baseline="-25000" dirty="0"/>
              <a:t>12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11</a:t>
            </a:r>
            <a:r>
              <a:rPr lang="en-US" altLang="zh-CN" sz="2000" b="1" dirty="0"/>
              <a:t>+P</a:t>
            </a:r>
            <a:r>
              <a:rPr lang="en-US" altLang="zh-CN" sz="2000" b="1" baseline="-25000" dirty="0"/>
              <a:t>12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11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10</a:t>
            </a:r>
            <a:r>
              <a:rPr lang="en-US" altLang="zh-CN" sz="2000" b="1" dirty="0"/>
              <a:t>+P</a:t>
            </a:r>
            <a:r>
              <a:rPr lang="en-US" altLang="zh-CN" sz="2000" b="1" baseline="-25000" dirty="0"/>
              <a:t>12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11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10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9</a:t>
            </a:r>
            <a:endParaRPr lang="zh-CN" altLang="en-US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308725" y="2565400"/>
            <a:ext cx="223361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P</a:t>
            </a:r>
            <a:r>
              <a:rPr lang="en-US" altLang="zh-CN" sz="2000" b="1" baseline="-25000" dirty="0"/>
              <a:t>m4</a:t>
            </a:r>
            <a:r>
              <a:rPr lang="en-US" altLang="zh-CN" sz="2000" b="1" dirty="0"/>
              <a:t>=  P</a:t>
            </a:r>
            <a:r>
              <a:rPr lang="en-US" altLang="zh-CN" sz="2000" b="1" baseline="-25000" dirty="0"/>
              <a:t>16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15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14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13</a:t>
            </a:r>
            <a:endParaRPr lang="zh-CN" altLang="en-US" sz="20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6300788" y="2041525"/>
            <a:ext cx="223202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P</a:t>
            </a:r>
            <a:r>
              <a:rPr lang="en-US" altLang="zh-CN" sz="2000" b="1" baseline="-25000" dirty="0"/>
              <a:t>m3</a:t>
            </a:r>
            <a:r>
              <a:rPr lang="en-US" altLang="zh-CN" sz="2000" b="1" dirty="0"/>
              <a:t>=  P</a:t>
            </a:r>
            <a:r>
              <a:rPr lang="en-US" altLang="zh-CN" sz="2000" b="1" baseline="-25000" dirty="0"/>
              <a:t>12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11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10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9</a:t>
            </a:r>
            <a:endParaRPr lang="zh-CN" altLang="en-US" sz="20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300788" y="1536700"/>
            <a:ext cx="223202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P</a:t>
            </a:r>
            <a:r>
              <a:rPr lang="en-US" altLang="zh-CN" sz="2000" b="1" baseline="-25000" dirty="0"/>
              <a:t>m2</a:t>
            </a:r>
            <a:r>
              <a:rPr lang="en-US" altLang="zh-CN" sz="2000" b="1" dirty="0"/>
              <a:t>=  P</a:t>
            </a:r>
            <a:r>
              <a:rPr lang="en-US" altLang="zh-CN" sz="2000" b="1" baseline="-25000" dirty="0"/>
              <a:t>8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7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6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5</a:t>
            </a:r>
            <a:endParaRPr lang="zh-CN" altLang="en-US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6300788" y="1052513"/>
            <a:ext cx="223202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P</a:t>
            </a:r>
            <a:r>
              <a:rPr lang="en-US" altLang="zh-CN" sz="2000" b="1" baseline="-25000" dirty="0"/>
              <a:t>m1</a:t>
            </a:r>
            <a:r>
              <a:rPr lang="en-US" altLang="zh-CN" sz="2000" b="1" dirty="0"/>
              <a:t>=  P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P</a:t>
            </a:r>
            <a:r>
              <a:rPr lang="en-US" altLang="zh-CN" sz="2000" b="1" baseline="-25000" dirty="0"/>
              <a:t>1</a:t>
            </a:r>
            <a:endParaRPr lang="zh-CN" altLang="en-US" sz="2000" b="1" dirty="0"/>
          </a:p>
        </p:txBody>
      </p:sp>
      <p:sp>
        <p:nvSpPr>
          <p:cNvPr id="15" name="矩形 14"/>
          <p:cNvSpPr/>
          <p:nvPr/>
        </p:nvSpPr>
        <p:spPr>
          <a:xfrm>
            <a:off x="338138" y="3208338"/>
            <a:ext cx="8204200" cy="1908175"/>
          </a:xfrm>
          <a:prstGeom prst="rect">
            <a:avLst/>
          </a:prstGeom>
          <a:noFill/>
          <a:ln w="2540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687388" y="3190875"/>
            <a:ext cx="2087562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C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=  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m1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m1</a:t>
            </a:r>
            <a:r>
              <a:rPr lang="en-US" altLang="zh-CN" sz="2000" b="1" dirty="0">
                <a:solidFill>
                  <a:srgbClr val="FFFF00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0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12788" y="3635375"/>
            <a:ext cx="35179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C</a:t>
            </a:r>
            <a:r>
              <a:rPr lang="en-US" altLang="zh-CN" sz="2000" b="1" baseline="-25000" dirty="0"/>
              <a:t>8</a:t>
            </a:r>
            <a:r>
              <a:rPr lang="en-US" altLang="zh-CN" sz="2000" b="1" dirty="0"/>
              <a:t>=  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m2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m2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m1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m2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m1</a:t>
            </a:r>
            <a:r>
              <a:rPr lang="en-US" altLang="zh-CN" sz="2000" b="1" dirty="0">
                <a:solidFill>
                  <a:srgbClr val="FFFF00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0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1513" y="4103688"/>
            <a:ext cx="540067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C</a:t>
            </a:r>
            <a:r>
              <a:rPr lang="en-US" altLang="zh-CN" sz="2000" b="1" baseline="-25000" dirty="0"/>
              <a:t>12</a:t>
            </a:r>
            <a:r>
              <a:rPr lang="en-US" altLang="zh-CN" sz="2000" b="1" dirty="0"/>
              <a:t>=  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m3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m3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m2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m3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m2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m1</a:t>
            </a:r>
            <a:r>
              <a:rPr lang="en-US" altLang="zh-CN" sz="2000" b="1" dirty="0">
                <a:solidFill>
                  <a:srgbClr val="FFFF00"/>
                </a:solidFill>
              </a:rPr>
              <a:t> 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m3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m2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m1 </a:t>
            </a:r>
            <a:r>
              <a:rPr lang="en-US" altLang="zh-CN" sz="2000" b="1" dirty="0">
                <a:solidFill>
                  <a:srgbClr val="FFFF00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0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9925" y="4525963"/>
            <a:ext cx="757872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/>
              <a:t>C</a:t>
            </a:r>
            <a:r>
              <a:rPr lang="en-US" altLang="zh-CN" sz="2000" b="1" baseline="-25000" dirty="0"/>
              <a:t>16</a:t>
            </a:r>
            <a:r>
              <a:rPr lang="en-US" altLang="zh-CN" sz="2000" b="1" dirty="0"/>
              <a:t>=  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m4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m4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m3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m4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m3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m2</a:t>
            </a:r>
            <a:r>
              <a:rPr lang="en-US" altLang="zh-CN" sz="2000" b="1" dirty="0">
                <a:solidFill>
                  <a:srgbClr val="FFFF00"/>
                </a:solidFill>
              </a:rPr>
              <a:t>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m4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m3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m2 </a:t>
            </a:r>
            <a:r>
              <a:rPr lang="en-US" altLang="zh-CN" sz="2000" b="1" dirty="0">
                <a:solidFill>
                  <a:srgbClr val="FFFF00"/>
                </a:solidFill>
              </a:rPr>
              <a:t>G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m1</a:t>
            </a:r>
            <a:r>
              <a:rPr lang="en-US" altLang="zh-CN" sz="2000" b="1" dirty="0">
                <a:solidFill>
                  <a:srgbClr val="FFFF00"/>
                </a:solidFill>
              </a:rPr>
              <a:t> +P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m4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m3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m2 </a:t>
            </a:r>
            <a:r>
              <a:rPr lang="en-US" altLang="zh-CN" sz="2000" b="1" dirty="0">
                <a:solidFill>
                  <a:srgbClr val="FFFF00"/>
                </a:solidFill>
              </a:rPr>
              <a:t>P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m1 </a:t>
            </a:r>
            <a:r>
              <a:rPr lang="en-US" altLang="zh-CN" sz="2000" b="1" dirty="0">
                <a:solidFill>
                  <a:srgbClr val="FFFF00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FFFF00"/>
                </a:solidFill>
              </a:rPr>
              <a:t>0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079" grpId="0"/>
      <p:bldP spid="19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7577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3.3.5   </a:t>
            </a:r>
            <a:r>
              <a:rPr kumimoji="1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运算器</a:t>
            </a: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(29)</a:t>
            </a:r>
            <a:endParaRPr kumimoji="1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>
                <a:latin typeface="Tahoma" panose="020B0604030504040204" pitchFamily="34" charset="0"/>
              </a:rPr>
              <a:t>16</a:t>
            </a:r>
            <a:r>
              <a:rPr lang="zh-CN" altLang="en-US" b="1" dirty="0">
                <a:latin typeface="Tahoma" panose="020B0604030504040204" pitchFamily="34" charset="0"/>
              </a:rPr>
              <a:t>位快速加法器的结构图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757765" name="Rectangle 5"/>
          <p:cNvSpPr/>
          <p:nvPr/>
        </p:nvSpPr>
        <p:spPr>
          <a:xfrm>
            <a:off x="266700" y="4498975"/>
            <a:ext cx="8686800" cy="8302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ahoma" panose="020B0604030504040204" pitchFamily="34" charset="0"/>
              </a:rPr>
              <a:t>4</a:t>
            </a:r>
            <a:r>
              <a:rPr lang="zh-CN" altLang="en-US" sz="2400" b="1" dirty="0">
                <a:latin typeface="Tahoma" panose="020B0604030504040204" pitchFamily="34" charset="0"/>
              </a:rPr>
              <a:t>位快速加法器的输出提供</a:t>
            </a:r>
            <a:r>
              <a:rPr lang="en-US" altLang="zh-CN" sz="2400" b="1" dirty="0">
                <a:latin typeface="Tahoma" panose="020B0604030504040204" pitchFamily="34" charset="0"/>
              </a:rPr>
              <a:t>P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m</a:t>
            </a:r>
            <a:r>
              <a:rPr lang="zh-CN" altLang="en-US" sz="2400" b="1" dirty="0">
                <a:latin typeface="Tahoma" panose="020B0604030504040204" pitchFamily="34" charset="0"/>
              </a:rPr>
              <a:t>、</a:t>
            </a:r>
            <a:r>
              <a:rPr lang="en-US" altLang="zh-CN" sz="2400" b="1" dirty="0">
                <a:latin typeface="Tahoma" panose="020B0604030504040204" pitchFamily="34" charset="0"/>
              </a:rPr>
              <a:t>G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m</a:t>
            </a:r>
            <a:r>
              <a:rPr lang="en-US" altLang="zh-CN" sz="2400" b="1" dirty="0">
                <a:latin typeface="Tahoma" panose="020B0604030504040204" pitchFamily="34" charset="0"/>
              </a:rPr>
              <a:t> </a:t>
            </a:r>
            <a:r>
              <a:rPr lang="zh-CN" altLang="en-US" sz="2400" b="1" dirty="0">
                <a:latin typeface="Tahoma" panose="020B0604030504040204" pitchFamily="34" charset="0"/>
              </a:rPr>
              <a:t>需</a:t>
            </a:r>
            <a:r>
              <a:rPr lang="en-US" altLang="zh-CN" sz="2400" b="1" dirty="0">
                <a:latin typeface="Tahoma" panose="020B0604030504040204" pitchFamily="34" charset="0"/>
              </a:rPr>
              <a:t>2</a:t>
            </a:r>
            <a:r>
              <a:rPr lang="zh-CN" altLang="en-US" sz="2400" b="1" dirty="0">
                <a:latin typeface="Tahoma" panose="020B0604030504040204" pitchFamily="34" charset="0"/>
              </a:rPr>
              <a:t>级延迟。产生</a:t>
            </a:r>
            <a:r>
              <a:rPr lang="en-US" altLang="zh-CN" sz="2400" b="1" dirty="0">
                <a:latin typeface="Tahoma" panose="020B0604030504040204" pitchFamily="34" charset="0"/>
              </a:rPr>
              <a:t>C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4</a:t>
            </a:r>
            <a:r>
              <a:rPr lang="en-US" altLang="zh-CN" sz="2400" b="1" dirty="0">
                <a:latin typeface="Tahoma" panose="020B0604030504040204" pitchFamily="34" charset="0"/>
              </a:rPr>
              <a:t>, C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8 </a:t>
            </a:r>
            <a:r>
              <a:rPr lang="en-US" altLang="zh-CN" sz="1800" b="1" dirty="0">
                <a:latin typeface="Tahoma" panose="020B0604030504040204" pitchFamily="34" charset="0"/>
              </a:rPr>
              <a:t>, </a:t>
            </a:r>
            <a:r>
              <a:rPr lang="en-US" altLang="zh-CN" sz="2400" b="1" dirty="0">
                <a:latin typeface="Tahoma" panose="020B0604030504040204" pitchFamily="34" charset="0"/>
              </a:rPr>
              <a:t>C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12 </a:t>
            </a:r>
            <a:r>
              <a:rPr lang="en-US" altLang="zh-CN" sz="1800" b="1" dirty="0">
                <a:latin typeface="Tahoma" panose="020B0604030504040204" pitchFamily="34" charset="0"/>
              </a:rPr>
              <a:t>, </a:t>
            </a:r>
            <a:r>
              <a:rPr lang="en-US" altLang="zh-CN" sz="2400" b="1" dirty="0">
                <a:latin typeface="Tahoma" panose="020B0604030504040204" pitchFamily="34" charset="0"/>
              </a:rPr>
              <a:t>C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16</a:t>
            </a:r>
            <a:r>
              <a:rPr lang="zh-CN" altLang="en-US" sz="2400" b="1" dirty="0">
                <a:latin typeface="Tahoma" panose="020B0604030504040204" pitchFamily="34" charset="0"/>
              </a:rPr>
              <a:t>的延迟</a:t>
            </a:r>
            <a:r>
              <a:rPr lang="en-US" altLang="zh-CN" sz="2400" b="1" dirty="0">
                <a:latin typeface="Tahoma" panose="020B0604030504040204" pitchFamily="34" charset="0"/>
              </a:rPr>
              <a:t>3</a:t>
            </a:r>
            <a:r>
              <a:rPr lang="zh-CN" altLang="en-US" sz="2400" b="1" dirty="0">
                <a:latin typeface="Tahoma" panose="020B0604030504040204" pitchFamily="34" charset="0"/>
              </a:rPr>
              <a:t>级，  </a:t>
            </a:r>
            <a:r>
              <a:rPr lang="en-US" altLang="zh-CN" sz="2400" b="1" dirty="0">
                <a:latin typeface="Tahoma" panose="020B0604030504040204" pitchFamily="34" charset="0"/>
              </a:rPr>
              <a:t>F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1 </a:t>
            </a:r>
            <a:r>
              <a:rPr lang="zh-CN" altLang="en-US" sz="2400" b="1" dirty="0">
                <a:latin typeface="Tahoma" panose="020B0604030504040204" pitchFamily="34" charset="0"/>
              </a:rPr>
              <a:t>～</a:t>
            </a:r>
            <a:r>
              <a:rPr lang="en-US" altLang="zh-CN" sz="2400" b="1" dirty="0">
                <a:latin typeface="Tahoma" panose="020B0604030504040204" pitchFamily="34" charset="0"/>
              </a:rPr>
              <a:t>F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4</a:t>
            </a:r>
            <a:r>
              <a:rPr lang="zh-CN" altLang="en-US" sz="2400" b="1" dirty="0">
                <a:latin typeface="Tahoma" panose="020B0604030504040204" pitchFamily="34" charset="0"/>
              </a:rPr>
              <a:t>要</a:t>
            </a:r>
            <a:r>
              <a:rPr lang="en-US" altLang="zh-CN" sz="2400" b="1" dirty="0">
                <a:latin typeface="Tahoma" panose="020B0604030504040204" pitchFamily="34" charset="0"/>
              </a:rPr>
              <a:t>3</a:t>
            </a:r>
            <a:r>
              <a:rPr lang="zh-CN" altLang="en-US" sz="2400" b="1" dirty="0">
                <a:latin typeface="Tahoma" panose="020B0604030504040204" pitchFamily="34" charset="0"/>
              </a:rPr>
              <a:t>级， </a:t>
            </a:r>
            <a:r>
              <a:rPr lang="en-US" altLang="zh-CN" sz="2400" b="1" dirty="0">
                <a:latin typeface="Tahoma" panose="020B0604030504040204" pitchFamily="34" charset="0"/>
              </a:rPr>
              <a:t>F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5 </a:t>
            </a:r>
            <a:r>
              <a:rPr lang="zh-CN" altLang="en-US" sz="2400" b="1" dirty="0">
                <a:latin typeface="Tahoma" panose="020B0604030504040204" pitchFamily="34" charset="0"/>
              </a:rPr>
              <a:t>～</a:t>
            </a:r>
            <a:r>
              <a:rPr lang="en-US" altLang="zh-CN" sz="2400" b="1" dirty="0">
                <a:latin typeface="Tahoma" panose="020B0604030504040204" pitchFamily="34" charset="0"/>
              </a:rPr>
              <a:t>F</a:t>
            </a:r>
            <a:r>
              <a:rPr lang="en-US" altLang="zh-CN" sz="2400" b="1" baseline="-25000" dirty="0">
                <a:latin typeface="Tahoma" panose="020B0604030504040204" pitchFamily="34" charset="0"/>
              </a:rPr>
              <a:t>16</a:t>
            </a:r>
            <a:r>
              <a:rPr lang="zh-CN" altLang="en-US" sz="2400" b="1" dirty="0">
                <a:latin typeface="Tahoma" panose="020B0604030504040204" pitchFamily="34" charset="0"/>
              </a:rPr>
              <a:t>要</a:t>
            </a:r>
            <a:r>
              <a:rPr lang="en-US" altLang="zh-CN" sz="2400" b="1" dirty="0">
                <a:latin typeface="Tahoma" panose="020B0604030504040204" pitchFamily="34" charset="0"/>
              </a:rPr>
              <a:t>6</a:t>
            </a:r>
            <a:r>
              <a:rPr lang="zh-CN" altLang="en-US" sz="2400" b="1" dirty="0">
                <a:latin typeface="Tahoma" panose="020B0604030504040204" pitchFamily="34" charset="0"/>
              </a:rPr>
              <a:t>级。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grpSp>
        <p:nvGrpSpPr>
          <p:cNvPr id="37894" name="组合 1"/>
          <p:cNvGrpSpPr/>
          <p:nvPr/>
        </p:nvGrpSpPr>
        <p:grpSpPr>
          <a:xfrm>
            <a:off x="990600" y="2057400"/>
            <a:ext cx="7632700" cy="2514600"/>
            <a:chOff x="990600" y="2057400"/>
            <a:chExt cx="7632700" cy="2514600"/>
          </a:xfrm>
        </p:grpSpPr>
        <p:graphicFrame>
          <p:nvGraphicFramePr>
            <p:cNvPr id="37902" name="Object 4"/>
            <p:cNvGraphicFramePr>
              <a:graphicFrameLocks noChangeAspect="1"/>
            </p:cNvGraphicFramePr>
            <p:nvPr/>
          </p:nvGraphicFramePr>
          <p:xfrm>
            <a:off x="990600" y="2057400"/>
            <a:ext cx="7632700" cy="2514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" imgW="12840970" imgH="5368290" progId="Photoshop.Image.6">
                    <p:embed/>
                  </p:oleObj>
                </mc:Choice>
                <mc:Fallback>
                  <p:oleObj name="" r:id="rId1" imgW="12840970" imgH="5368290" progId="Photoshop.Image.6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90600" y="2057400"/>
                          <a:ext cx="7632700" cy="2514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6"/>
            <p:cNvSpPr txBox="1"/>
            <p:nvPr/>
          </p:nvSpPr>
          <p:spPr>
            <a:xfrm>
              <a:off x="6875463" y="2636838"/>
              <a:ext cx="1009650" cy="430212"/>
            </a:xfrm>
            <a:prstGeom prst="rect">
              <a:avLst/>
            </a:prstGeom>
            <a:solidFill>
              <a:schemeClr val="tx1"/>
            </a:solidFill>
          </p:spPr>
          <p:txBody>
            <a:bodyPr tIns="0" bIns="0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1" lang="zh-CN" altLang="en-US" sz="1400" kern="1200" cap="none" spc="0" normalizeH="0" baseline="0" noProof="0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快速加法发生器</a:t>
              </a:r>
              <a:endParaRPr kumimoji="1" lang="zh-CN" altLang="en-US" sz="1400" kern="1200" cap="none" spc="0" normalizeH="0" baseline="0" noProof="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3255" name="矩形 1"/>
          <p:cNvSpPr/>
          <p:nvPr/>
        </p:nvSpPr>
        <p:spPr>
          <a:xfrm>
            <a:off x="285750" y="5276850"/>
            <a:ext cx="8421688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Tahoma" panose="020B0604030504040204" pitchFamily="34" charset="0"/>
              </a:rPr>
              <a:t>请大家课后比较一下：由</a:t>
            </a:r>
            <a:r>
              <a:rPr lang="en-US" altLang="zh-CN" sz="2400" b="1" dirty="0">
                <a:latin typeface="Tahoma" panose="020B0604030504040204" pitchFamily="34" charset="0"/>
              </a:rPr>
              <a:t>1</a:t>
            </a:r>
            <a:r>
              <a:rPr lang="zh-CN" altLang="en-US" sz="2400" b="1" dirty="0">
                <a:latin typeface="Tahoma" panose="020B0604030504040204" pitchFamily="34" charset="0"/>
              </a:rPr>
              <a:t>位全加器构成的</a:t>
            </a:r>
            <a:r>
              <a:rPr lang="en-US" altLang="zh-CN" sz="2400" b="1" dirty="0">
                <a:latin typeface="Tahoma" panose="020B0604030504040204" pitchFamily="34" charset="0"/>
              </a:rPr>
              <a:t>16</a:t>
            </a:r>
            <a:r>
              <a:rPr lang="zh-CN" altLang="en-US" sz="2400" b="1" dirty="0">
                <a:latin typeface="Tahoma" panose="020B0604030504040204" pitchFamily="34" charset="0"/>
              </a:rPr>
              <a:t>位串行加法器、</a:t>
            </a:r>
            <a:r>
              <a:rPr lang="en-US" altLang="zh-CN" sz="2400" b="1" dirty="0">
                <a:latin typeface="Tahoma" panose="020B0604030504040204" pitchFamily="34" charset="0"/>
              </a:rPr>
              <a:t>16</a:t>
            </a:r>
            <a:r>
              <a:rPr lang="zh-CN" altLang="en-US" sz="2400" b="1" dirty="0">
                <a:latin typeface="Tahoma" panose="020B0604030504040204" pitchFamily="34" charset="0"/>
              </a:rPr>
              <a:t>位串行加法器、</a:t>
            </a:r>
            <a:r>
              <a:rPr lang="en-US" altLang="zh-CN" sz="2400" b="1" dirty="0">
                <a:latin typeface="Tahoma" panose="020B0604030504040204" pitchFamily="34" charset="0"/>
              </a:rPr>
              <a:t>16</a:t>
            </a:r>
            <a:r>
              <a:rPr lang="zh-CN" altLang="en-US" sz="2400" b="1" dirty="0">
                <a:latin typeface="Tahoma" panose="020B0604030504040204" pitchFamily="34" charset="0"/>
              </a:rPr>
              <a:t>位并行加法器计算结果所需要的级数。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724525" y="1308100"/>
            <a:ext cx="1439863" cy="1328738"/>
            <a:chOff x="5724128" y="1308028"/>
            <a:chExt cx="1440160" cy="1328810"/>
          </a:xfrm>
        </p:grpSpPr>
        <p:sp>
          <p:nvSpPr>
            <p:cNvPr id="37900" name="文本框 2"/>
            <p:cNvSpPr txBox="1"/>
            <p:nvPr/>
          </p:nvSpPr>
          <p:spPr>
            <a:xfrm>
              <a:off x="6011229" y="1308028"/>
              <a:ext cx="1153059" cy="369332"/>
            </a:xfrm>
            <a:prstGeom prst="rect">
              <a:avLst/>
            </a:prstGeom>
            <a:noFill/>
            <a:ln w="9525" cap="flat" cmpd="sng">
              <a:solidFill>
                <a:srgbClr val="FFC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FFC000"/>
                  </a:solidFill>
                  <a:latin typeface="Tahoma" panose="020B0604030504040204" pitchFamily="34" charset="0"/>
                </a:rPr>
                <a:t>74ls181</a:t>
              </a:r>
              <a:endParaRPr lang="zh-CN" altLang="en-US" sz="2600" b="1" dirty="0">
                <a:solidFill>
                  <a:srgbClr val="FFC000"/>
                </a:solidFill>
              </a:endParaRPr>
            </a:p>
          </p:txBody>
        </p:sp>
        <p:cxnSp>
          <p:nvCxnSpPr>
            <p:cNvPr id="37901" name="直接箭头连接符 4"/>
            <p:cNvCxnSpPr>
              <a:stCxn id="37900" idx="2"/>
            </p:cNvCxnSpPr>
            <p:nvPr/>
          </p:nvCxnSpPr>
          <p:spPr>
            <a:xfrm flipH="1">
              <a:off x="5724128" y="1677360"/>
              <a:ext cx="863631" cy="959478"/>
            </a:xfrm>
            <a:prstGeom prst="straightConnector1">
              <a:avLst/>
            </a:prstGeom>
            <a:ln w="38100" cap="flat" cmpd="sng">
              <a:solidFill>
                <a:srgbClr val="FFC000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13" name="组合 12"/>
          <p:cNvGrpSpPr/>
          <p:nvPr/>
        </p:nvGrpSpPr>
        <p:grpSpPr>
          <a:xfrm>
            <a:off x="6084888" y="1306513"/>
            <a:ext cx="2347912" cy="2914650"/>
            <a:chOff x="6084168" y="1306286"/>
            <a:chExt cx="2349261" cy="2914802"/>
          </a:xfrm>
        </p:grpSpPr>
        <p:sp>
          <p:nvSpPr>
            <p:cNvPr id="37898" name="文本框 9"/>
            <p:cNvSpPr txBox="1"/>
            <p:nvPr/>
          </p:nvSpPr>
          <p:spPr>
            <a:xfrm>
              <a:off x="7280370" y="1306286"/>
              <a:ext cx="1153059" cy="369332"/>
            </a:xfrm>
            <a:prstGeom prst="rect">
              <a:avLst/>
            </a:prstGeom>
            <a:noFill/>
            <a:ln w="9525" cap="flat" cmpd="sng">
              <a:solidFill>
                <a:srgbClr val="FFC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>
                  <a:solidFill>
                    <a:srgbClr val="FFC000"/>
                  </a:solidFill>
                  <a:latin typeface="Tahoma" panose="020B0604030504040204" pitchFamily="34" charset="0"/>
                </a:rPr>
                <a:t>74ls182</a:t>
              </a:r>
              <a:endParaRPr lang="zh-CN" altLang="en-US" sz="2600" b="1" dirty="0">
                <a:solidFill>
                  <a:srgbClr val="FFC000"/>
                </a:solidFill>
              </a:endParaRPr>
            </a:p>
          </p:txBody>
        </p:sp>
        <p:cxnSp>
          <p:nvCxnSpPr>
            <p:cNvPr id="37899" name="直接箭头连接符 10"/>
            <p:cNvCxnSpPr>
              <a:stCxn id="37898" idx="2"/>
            </p:cNvCxnSpPr>
            <p:nvPr/>
          </p:nvCxnSpPr>
          <p:spPr>
            <a:xfrm flipH="1">
              <a:off x="6084168" y="1675618"/>
              <a:ext cx="1772732" cy="2545470"/>
            </a:xfrm>
            <a:prstGeom prst="straightConnector1">
              <a:avLst/>
            </a:prstGeom>
            <a:ln w="38100" cap="flat" cmpd="sng">
              <a:solidFill>
                <a:srgbClr val="FFC000"/>
              </a:solidFill>
              <a:prstDash val="solid"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65" grpId="0"/>
      <p:bldP spid="5325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3.3.5   </a:t>
            </a: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运算器</a:t>
            </a: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(29)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8915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389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113" y="4149725"/>
            <a:ext cx="2233612" cy="2657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7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196975"/>
            <a:ext cx="2343150" cy="5124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8" name="文本框 19"/>
          <p:cNvSpPr txBox="1"/>
          <p:nvPr/>
        </p:nvSpPr>
        <p:spPr>
          <a:xfrm>
            <a:off x="6769100" y="1773238"/>
            <a:ext cx="2119313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>
                <a:latin typeface="Tahoma" panose="020B0604030504040204" pitchFamily="34" charset="0"/>
              </a:rPr>
              <a:t>4</a:t>
            </a:r>
            <a:r>
              <a:rPr lang="zh-CN" altLang="en-US" sz="2600" b="1" dirty="0">
                <a:latin typeface="Tahoma" panose="020B0604030504040204" pitchFamily="34" charset="0"/>
              </a:rPr>
              <a:t>位</a:t>
            </a:r>
            <a:r>
              <a:rPr lang="en-US" altLang="zh-CN" sz="2600" b="1" dirty="0">
                <a:latin typeface="Tahoma" panose="020B0604030504040204" pitchFamily="34" charset="0"/>
              </a:rPr>
              <a:t>ALU</a:t>
            </a:r>
            <a:endParaRPr lang="en-US" altLang="zh-CN" sz="2600" b="1" dirty="0">
              <a:latin typeface="Tahom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600" b="1" dirty="0">
                <a:latin typeface="Tahoma" panose="020B0604030504040204" pitchFamily="34" charset="0"/>
              </a:rPr>
              <a:t>74181</a:t>
            </a:r>
            <a:endParaRPr lang="zh-CN" altLang="en-US" sz="2600" b="1" dirty="0"/>
          </a:p>
        </p:txBody>
      </p:sp>
      <p:sp>
        <p:nvSpPr>
          <p:cNvPr id="38919" name="文本框 20"/>
          <p:cNvSpPr txBox="1"/>
          <p:nvPr/>
        </p:nvSpPr>
        <p:spPr>
          <a:xfrm>
            <a:off x="6443663" y="4706938"/>
            <a:ext cx="212090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600" b="1" dirty="0">
                <a:latin typeface="Tahoma" panose="020B0604030504040204" pitchFamily="34" charset="0"/>
              </a:rPr>
              <a:t>快速进位扩展器</a:t>
            </a:r>
            <a:r>
              <a:rPr lang="en-US" altLang="zh-CN" sz="2600" b="1" dirty="0">
                <a:latin typeface="Tahoma" panose="020B0604030504040204" pitchFamily="34" charset="0"/>
              </a:rPr>
              <a:t>74182</a:t>
            </a:r>
            <a:endParaRPr lang="en-US" altLang="zh-CN" sz="2600" b="1" dirty="0">
              <a:latin typeface="Tahoma" panose="020B0604030504040204" pitchFamily="34" charset="0"/>
            </a:endParaRPr>
          </a:p>
        </p:txBody>
      </p:sp>
      <p:pic>
        <p:nvPicPr>
          <p:cNvPr id="38920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113" y="1136650"/>
            <a:ext cx="3227387" cy="2940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3.3.5   </a:t>
            </a: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运算器</a:t>
            </a: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(21)</a:t>
            </a:r>
            <a:endParaRPr kumimoji="1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4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快速加法器、超前进位加法器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进位输入是由</a:t>
            </a:r>
            <a:r>
              <a:rPr lang="zh-CN" altLang="en-US" dirty="0">
                <a:solidFill>
                  <a:schemeClr val="folHlink"/>
                </a:solidFill>
              </a:rPr>
              <a:t>专门的</a:t>
            </a:r>
            <a:r>
              <a:rPr lang="zh-CN" altLang="en-US" dirty="0">
                <a:solidFill>
                  <a:schemeClr val="folHlink"/>
                </a:solidFill>
                <a:latin typeface="Arial" panose="020B0604020202020204" pitchFamily="34" charset="0"/>
              </a:rPr>
              <a:t>“</a:t>
            </a:r>
            <a:r>
              <a:rPr lang="zh-CN" altLang="en-US" dirty="0">
                <a:solidFill>
                  <a:schemeClr val="folHlink"/>
                </a:solidFill>
              </a:rPr>
              <a:t>进位门</a:t>
            </a:r>
            <a:r>
              <a:rPr lang="zh-CN" altLang="en-US" dirty="0">
                <a:solidFill>
                  <a:schemeClr val="folHlink"/>
                </a:solidFill>
                <a:latin typeface="Arial" panose="020B0604020202020204" pitchFamily="34" charset="0"/>
              </a:rPr>
              <a:t>”</a:t>
            </a:r>
            <a:r>
              <a:rPr lang="zh-CN" altLang="en-US" dirty="0"/>
              <a:t>综合所有低位的加数、被加数及最低位进入输入后提供的。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由于进位不是由前一级加法器提供的，又称为快速加法器或并行加法器。</a:t>
            </a:r>
            <a:endParaRPr lang="zh-CN" altLang="en-US" dirty="0"/>
          </a:p>
        </p:txBody>
      </p:sp>
      <p:graphicFrame>
        <p:nvGraphicFramePr>
          <p:cNvPr id="720900" name="Object 4"/>
          <p:cNvGraphicFramePr>
            <a:graphicFrameLocks noChangeAspect="1"/>
          </p:cNvGraphicFramePr>
          <p:nvPr/>
        </p:nvGraphicFramePr>
        <p:xfrm>
          <a:off x="381000" y="4191000"/>
          <a:ext cx="84582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5259685" imgH="3146425" progId="Photoshop.Image.6">
                  <p:embed/>
                </p:oleObj>
              </mc:Choice>
              <mc:Fallback>
                <p:oleObj name="" r:id="rId1" imgW="15259685" imgH="3146425" progId="Photoshop.Image.6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" y="4191000"/>
                        <a:ext cx="8458200" cy="205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运算器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7988" name="Rectangle 4"/>
          <p:cNvSpPr/>
          <p:nvPr/>
        </p:nvSpPr>
        <p:spPr>
          <a:xfrm>
            <a:off x="381000" y="1844675"/>
            <a:ext cx="85344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>
              <a:spcBef>
                <a:spcPct val="50000"/>
              </a:spcBef>
            </a:pPr>
            <a:r>
              <a:rPr lang="zh-CN" altLang="en-US" dirty="0"/>
              <a:t>能否参照</a:t>
            </a:r>
            <a:r>
              <a:rPr lang="en-US" altLang="zh-CN" dirty="0"/>
              <a:t>4</a:t>
            </a:r>
            <a:r>
              <a:rPr lang="zh-CN" altLang="en-US" dirty="0"/>
              <a:t>位并行加法器的设计方法设计一个</a:t>
            </a:r>
            <a:r>
              <a:rPr lang="en-US" altLang="zh-CN" dirty="0"/>
              <a:t>4</a:t>
            </a:r>
            <a:r>
              <a:rPr lang="zh-CN" altLang="en-US" dirty="0"/>
              <a:t>位并行减法器？</a:t>
            </a:r>
            <a:endParaRPr lang="zh-CN" altLang="en-US" dirty="0"/>
          </a:p>
        </p:txBody>
      </p:sp>
      <p:sp>
        <p:nvSpPr>
          <p:cNvPr id="297989" name="Rectangle 5"/>
          <p:cNvSpPr/>
          <p:nvPr/>
        </p:nvSpPr>
        <p:spPr>
          <a:xfrm>
            <a:off x="338138" y="3573463"/>
            <a:ext cx="8294687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>
              <a:spcBef>
                <a:spcPct val="50000"/>
              </a:spcBef>
            </a:pPr>
            <a:r>
              <a:rPr lang="zh-CN" altLang="en-US" dirty="0"/>
              <a:t>能否用</a:t>
            </a:r>
            <a:r>
              <a:rPr lang="en-US" altLang="zh-CN" dirty="0"/>
              <a:t>PLA</a:t>
            </a:r>
            <a:r>
              <a:rPr lang="zh-CN" altLang="en-US" dirty="0"/>
              <a:t>、</a:t>
            </a:r>
            <a:r>
              <a:rPr lang="en-US" altLang="zh-CN" dirty="0"/>
              <a:t>PAL</a:t>
            </a:r>
            <a:r>
              <a:rPr lang="zh-CN" altLang="en-US" dirty="0"/>
              <a:t>设计一个</a:t>
            </a:r>
            <a:r>
              <a:rPr lang="en-US" altLang="zh-CN" dirty="0"/>
              <a:t>4</a:t>
            </a:r>
            <a:r>
              <a:rPr lang="zh-CN" altLang="en-US" dirty="0"/>
              <a:t>位并行加法器，快速进位电路，快速借位电路？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8" grpId="0"/>
      <p:bldP spid="29798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组合逻辑小结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表达式可以包含全部分析和设计原理</a:t>
            </a:r>
            <a:endParaRPr lang="zh-CN" altLang="en-US" dirty="0"/>
          </a:p>
        </p:txBody>
      </p:sp>
      <p:sp>
        <p:nvSpPr>
          <p:cNvPr id="301060" name="Rectangle 4"/>
          <p:cNvSpPr/>
          <p:nvPr/>
        </p:nvSpPr>
        <p:spPr>
          <a:xfrm>
            <a:off x="304800" y="2209800"/>
            <a:ext cx="8686800" cy="155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>
              <a:spcBef>
                <a:spcPct val="50000"/>
              </a:spcBef>
            </a:pPr>
            <a:r>
              <a:rPr lang="zh-CN" altLang="en-US" dirty="0"/>
              <a:t>组合逻辑用简单的门电路可以实现，也可以用集成电路实现，原理上是相通的，只是应用不同。</a:t>
            </a:r>
            <a:endParaRPr lang="zh-CN" altLang="en-US" dirty="0"/>
          </a:p>
        </p:txBody>
      </p:sp>
      <p:sp>
        <p:nvSpPr>
          <p:cNvPr id="301061" name="Rectangle 5"/>
          <p:cNvSpPr/>
          <p:nvPr/>
        </p:nvSpPr>
        <p:spPr>
          <a:xfrm>
            <a:off x="228600" y="3810000"/>
            <a:ext cx="84582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>
              <a:spcBef>
                <a:spcPct val="50000"/>
              </a:spcBef>
            </a:pPr>
            <a:r>
              <a:rPr lang="zh-CN" altLang="en-US" dirty="0"/>
              <a:t>不同的组合逻辑，在功能和要求各有不同，设计细节也各不相同</a:t>
            </a:r>
            <a:endParaRPr lang="zh-CN" altLang="en-US" dirty="0"/>
          </a:p>
        </p:txBody>
      </p:sp>
      <p:sp>
        <p:nvSpPr>
          <p:cNvPr id="301062" name="Rectangle 6"/>
          <p:cNvSpPr/>
          <p:nvPr/>
        </p:nvSpPr>
        <p:spPr>
          <a:xfrm>
            <a:off x="228600" y="5029200"/>
            <a:ext cx="83058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>
              <a:spcBef>
                <a:spcPct val="50000"/>
              </a:spcBef>
            </a:pPr>
            <a:r>
              <a:rPr lang="zh-CN" altLang="en-US" dirty="0"/>
              <a:t>现实生活中是集成电路芯片已经存在，需要用现有的集成电路设计一些要求的电路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0" grpId="0"/>
      <p:bldP spid="301061" grpId="0"/>
      <p:bldP spid="30106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数字逻辑电路总复习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四句话</a:t>
            </a:r>
            <a:endParaRPr lang="zh-CN" altLang="en-US" dirty="0"/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全书一句话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组合逻辑一句话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solidFill>
                  <a:schemeClr val="folHlink"/>
                </a:solidFill>
                <a:latin typeface="宋体" panose="02010600030101010101" pitchFamily="2" charset="-122"/>
              </a:rPr>
              <a:t>时序逻辑一句话</a:t>
            </a:r>
            <a:endParaRPr lang="zh-CN" altLang="en-US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可编程逻辑一句话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/>
              <a:t>一个忠告</a:t>
            </a:r>
            <a:endParaRPr lang="zh-CN" altLang="en-US" dirty="0"/>
          </a:p>
        </p:txBody>
      </p:sp>
      <p:sp>
        <p:nvSpPr>
          <p:cNvPr id="325636" name="Rectangle 4"/>
          <p:cNvSpPr/>
          <p:nvPr/>
        </p:nvSpPr>
        <p:spPr>
          <a:xfrm>
            <a:off x="152400" y="335280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时序逻辑一句话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时序逻辑：表达式＋触发器</a:t>
            </a:r>
            <a:endParaRPr lang="zh-CN" altLang="en-US" dirty="0"/>
          </a:p>
        </p:txBody>
      </p:sp>
      <p:sp>
        <p:nvSpPr>
          <p:cNvPr id="302084" name="Rectangle 4"/>
          <p:cNvSpPr/>
          <p:nvPr/>
        </p:nvSpPr>
        <p:spPr>
          <a:xfrm>
            <a:off x="304800" y="2362200"/>
            <a:ext cx="8305800" cy="1679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/>
            <a:r>
              <a:rPr lang="zh-CN" altLang="en-US" dirty="0"/>
              <a:t>表达式是激励，触发器用于状态转换</a:t>
            </a:r>
            <a:endParaRPr lang="zh-CN" altLang="en-US" dirty="0"/>
          </a:p>
          <a:p>
            <a:pPr marL="457200" lvl="1" indent="0" eaLnBrk="1" hangingPunct="1"/>
            <a:r>
              <a:rPr lang="zh-CN" altLang="en-US" dirty="0"/>
              <a:t>分析和设计方法有固定的流程</a:t>
            </a:r>
            <a:endParaRPr lang="zh-CN" altLang="en-US" dirty="0"/>
          </a:p>
          <a:p>
            <a:pPr marL="457200" lvl="1" indent="0" eaLnBrk="1" hangingPunct="1"/>
            <a:r>
              <a:rPr lang="zh-CN" altLang="en-US" dirty="0"/>
              <a:t>现实生活中的设计却是灵活多样，要考虑很多因素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触发器的选用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不同的应用需求选择不同种类的触发器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300036" name="Rectangle 4"/>
          <p:cNvSpPr/>
          <p:nvPr/>
        </p:nvSpPr>
        <p:spPr>
          <a:xfrm>
            <a:off x="533400" y="2133600"/>
            <a:ext cx="7391400" cy="1084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/>
            <a:r>
              <a:rPr lang="zh-CN" altLang="en-US" dirty="0"/>
              <a:t>电位触发器：接口双方指示是电位时</a:t>
            </a:r>
            <a:endParaRPr lang="zh-CN" altLang="en-US" dirty="0"/>
          </a:p>
          <a:p>
            <a:pPr marL="457200" lvl="1" indent="0" eaLnBrk="1" hangingPunct="1"/>
            <a:r>
              <a:rPr lang="zh-CN" altLang="en-US" dirty="0"/>
              <a:t>边沿触发器：统一时钟指挥</a:t>
            </a:r>
            <a:endParaRPr lang="zh-CN" altLang="en-US" dirty="0"/>
          </a:p>
        </p:txBody>
      </p:sp>
      <p:sp>
        <p:nvSpPr>
          <p:cNvPr id="300037" name="Rectangle 5"/>
          <p:cNvSpPr/>
          <p:nvPr/>
        </p:nvSpPr>
        <p:spPr>
          <a:xfrm>
            <a:off x="304800" y="3429000"/>
            <a:ext cx="83058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SzPct val="80000"/>
              <a:buFont typeface="Wingdings 2" panose="05020102010507070707" pitchFamily="18" charset="2"/>
              <a:buChar char=""/>
            </a:pPr>
            <a:r>
              <a:rPr lang="zh-CN" altLang="en-US" dirty="0"/>
              <a:t>虽然边沿触发器应用广泛，但边沿触发器不是触发器的最高级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6" grpId="0"/>
      <p:bldP spid="30003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触发器中需要掌握的知识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触发器结构和原理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基本</a:t>
            </a:r>
            <a:r>
              <a:rPr lang="en-US" altLang="zh-CN" dirty="0"/>
              <a:t>RS</a:t>
            </a:r>
            <a:r>
              <a:rPr lang="zh-CN" altLang="en-US" dirty="0"/>
              <a:t>触发器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电位型触发器</a:t>
            </a:r>
            <a:endParaRPr lang="zh-CN" altLang="en-US" dirty="0"/>
          </a:p>
          <a:p>
            <a:pPr lvl="2" eaLnBrk="1" hangingPunct="1"/>
            <a:r>
              <a:rPr lang="en-US" altLang="zh-CN" dirty="0"/>
              <a:t>D</a:t>
            </a:r>
            <a:r>
              <a:rPr lang="zh-CN" altLang="en-US" dirty="0"/>
              <a:t>触发器</a:t>
            </a:r>
            <a:endParaRPr lang="zh-CN" altLang="en-US" dirty="0"/>
          </a:p>
          <a:p>
            <a:pPr lvl="2" eaLnBrk="1" hangingPunct="1"/>
            <a:r>
              <a:rPr lang="en-US" altLang="zh-CN" dirty="0"/>
              <a:t>RS</a:t>
            </a:r>
            <a:r>
              <a:rPr lang="zh-CN" altLang="en-US" dirty="0"/>
              <a:t>触发器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边沿触发器</a:t>
            </a:r>
            <a:endParaRPr lang="zh-CN" altLang="en-US" dirty="0"/>
          </a:p>
          <a:p>
            <a:pPr lvl="2" eaLnBrk="1" hangingPunct="1"/>
            <a:r>
              <a:rPr lang="en-US" altLang="zh-CN" dirty="0"/>
              <a:t>D</a:t>
            </a:r>
            <a:r>
              <a:rPr lang="zh-CN" altLang="en-US" dirty="0"/>
              <a:t>触发器</a:t>
            </a:r>
            <a:endParaRPr lang="zh-CN" altLang="en-US" dirty="0"/>
          </a:p>
          <a:p>
            <a:pPr lvl="2" eaLnBrk="1" hangingPunct="1"/>
            <a:r>
              <a:rPr lang="en-US" altLang="zh-CN" dirty="0"/>
              <a:t>JK</a:t>
            </a: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303108" name="Rectangle 4"/>
          <p:cNvSpPr/>
          <p:nvPr/>
        </p:nvSpPr>
        <p:spPr>
          <a:xfrm>
            <a:off x="304800" y="5867400"/>
            <a:ext cx="4551363" cy="530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zh-CN" altLang="en-US" dirty="0"/>
              <a:t>会灵活运用以上触发器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同步时序电路的分析和设计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掌握基本概念，基本方法</a:t>
            </a:r>
            <a:endParaRPr lang="zh-CN" altLang="en-US" dirty="0"/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endParaRPr lang="en-US" altLang="zh-CN" sz="2600" dirty="0">
              <a:latin typeface="Georgia" panose="02040502050405020303" pitchFamily="18" charset="0"/>
            </a:endParaRPr>
          </a:p>
        </p:txBody>
      </p:sp>
      <p:sp>
        <p:nvSpPr>
          <p:cNvPr id="47109" name="Rectangle 4"/>
          <p:cNvSpPr/>
          <p:nvPr/>
        </p:nvSpPr>
        <p:spPr>
          <a:xfrm>
            <a:off x="457200" y="2362200"/>
            <a:ext cx="7848600" cy="2076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673100" lvl="1" indent="-215900" eaLnBrk="1" hangingPunct="1"/>
            <a:r>
              <a:rPr lang="zh-CN" altLang="en-US" b="0" dirty="0">
                <a:latin typeface="Georgia" panose="02040502050405020303" pitchFamily="18" charset="0"/>
              </a:rPr>
              <a:t>时序电路的结构</a:t>
            </a:r>
            <a:endParaRPr lang="zh-CN" altLang="en-US" b="0" dirty="0">
              <a:latin typeface="Georgia" panose="02040502050405020303" pitchFamily="18" charset="0"/>
            </a:endParaRPr>
          </a:p>
          <a:p>
            <a:pPr marL="673100" lvl="1" indent="-215900" eaLnBrk="1" hangingPunct="1"/>
            <a:r>
              <a:rPr lang="zh-CN" altLang="en-US" b="0" dirty="0">
                <a:latin typeface="Georgia" panose="02040502050405020303" pitchFamily="18" charset="0"/>
              </a:rPr>
              <a:t>基本概念：功能表，现态</a:t>
            </a:r>
            <a:r>
              <a:rPr lang="en-US" altLang="zh-CN" b="0" dirty="0">
                <a:latin typeface="Georgia" panose="02040502050405020303" pitchFamily="18" charset="0"/>
              </a:rPr>
              <a:t>Q</a:t>
            </a:r>
            <a:r>
              <a:rPr lang="en-US" altLang="zh-CN" b="0" baseline="-25000" dirty="0">
                <a:latin typeface="Georgia" panose="02040502050405020303" pitchFamily="18" charset="0"/>
              </a:rPr>
              <a:t>n</a:t>
            </a:r>
            <a:r>
              <a:rPr lang="zh-CN" altLang="en-US" b="0" dirty="0">
                <a:latin typeface="Georgia" panose="02040502050405020303" pitchFamily="18" charset="0"/>
              </a:rPr>
              <a:t>，次态</a:t>
            </a:r>
            <a:r>
              <a:rPr lang="en-US" altLang="zh-CN" b="0" dirty="0">
                <a:latin typeface="Georgia" panose="02040502050405020303" pitchFamily="18" charset="0"/>
              </a:rPr>
              <a:t>Q</a:t>
            </a:r>
            <a:r>
              <a:rPr lang="en-US" altLang="zh-CN" b="0" baseline="-25000" dirty="0">
                <a:latin typeface="Georgia" panose="02040502050405020303" pitchFamily="18" charset="0"/>
              </a:rPr>
              <a:t>n+1</a:t>
            </a:r>
            <a:r>
              <a:rPr lang="en-US" altLang="zh-CN" b="0" dirty="0">
                <a:latin typeface="Georgia" panose="02040502050405020303" pitchFamily="18" charset="0"/>
              </a:rPr>
              <a:t> </a:t>
            </a:r>
            <a:r>
              <a:rPr lang="zh-CN" altLang="en-US" b="0" dirty="0">
                <a:latin typeface="Georgia" panose="02040502050405020303" pitchFamily="18" charset="0"/>
              </a:rPr>
              <a:t>，状态表与状态图，状态方程，激励表</a:t>
            </a:r>
            <a:endParaRPr lang="zh-CN" altLang="en-US" b="0" dirty="0">
              <a:latin typeface="Georgia" panose="02040502050405020303" pitchFamily="18" charset="0"/>
            </a:endParaRPr>
          </a:p>
          <a:p>
            <a:pPr marL="673100" lvl="1" indent="-215900" eaLnBrk="1" hangingPunct="1"/>
            <a:r>
              <a:rPr lang="zh-CN" altLang="en-US" b="0" dirty="0">
                <a:latin typeface="Georgia" panose="02040502050405020303" pitchFamily="18" charset="0"/>
              </a:rPr>
              <a:t>同步时序电路的分析方法和设计方法</a:t>
            </a:r>
            <a:endParaRPr lang="zh-CN" altLang="en-US" b="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同步时序电路的分析方法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基本的分析方法在课件上都有，不再罗嗦</a:t>
            </a:r>
            <a:endParaRPr lang="zh-CN" altLang="en-US" dirty="0"/>
          </a:p>
        </p:txBody>
      </p:sp>
      <p:sp>
        <p:nvSpPr>
          <p:cNvPr id="305156" name="Rectangle 4"/>
          <p:cNvSpPr/>
          <p:nvPr/>
        </p:nvSpPr>
        <p:spPr>
          <a:xfrm>
            <a:off x="304800" y="2209800"/>
            <a:ext cx="8839200" cy="1085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/>
              <a:t>分析方法</a:t>
            </a:r>
            <a:endParaRPr lang="zh-CN" altLang="en-US" dirty="0"/>
          </a:p>
          <a:p>
            <a:pPr marL="457200" lvl="1" indent="0" eaLnBrk="1" hangingPunct="1">
              <a:lnSpc>
                <a:spcPct val="90000"/>
              </a:lnSpc>
            </a:pPr>
            <a:r>
              <a:rPr lang="zh-CN" altLang="en-US" dirty="0"/>
              <a:t>可以采用固定的方法：缺点是比较死板，不灵活</a:t>
            </a:r>
            <a:endParaRPr lang="zh-CN" altLang="en-US" dirty="0"/>
          </a:p>
        </p:txBody>
      </p:sp>
      <p:sp>
        <p:nvSpPr>
          <p:cNvPr id="305157" name="Rectangle 5"/>
          <p:cNvSpPr/>
          <p:nvPr/>
        </p:nvSpPr>
        <p:spPr>
          <a:xfrm>
            <a:off x="304800" y="3371850"/>
            <a:ext cx="8610600" cy="302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>
              <a:lnSpc>
                <a:spcPct val="90000"/>
              </a:lnSpc>
            </a:pPr>
            <a:r>
              <a:rPr lang="zh-CN" altLang="en-US" dirty="0"/>
              <a:t>较好的方法是：</a:t>
            </a:r>
            <a:endParaRPr lang="zh-CN" altLang="en-US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zh-CN" altLang="en-US" b="0" dirty="0"/>
              <a:t>（</a:t>
            </a:r>
            <a:r>
              <a:rPr lang="en-US" altLang="zh-CN" b="0" dirty="0"/>
              <a:t>1</a:t>
            </a:r>
            <a:r>
              <a:rPr lang="zh-CN" altLang="en-US" b="0" dirty="0"/>
              <a:t>）总体浏览</a:t>
            </a:r>
            <a:endParaRPr lang="zh-CN" altLang="en-US" b="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zh-CN" altLang="en-US" b="0" dirty="0"/>
              <a:t>（</a:t>
            </a:r>
            <a:r>
              <a:rPr lang="en-US" altLang="zh-CN" b="0" dirty="0"/>
              <a:t>2</a:t>
            </a:r>
            <a:r>
              <a:rPr lang="zh-CN" altLang="en-US" b="0" dirty="0"/>
              <a:t>）抓住特征</a:t>
            </a:r>
            <a:endParaRPr lang="zh-CN" altLang="en-US" b="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zh-CN" altLang="en-US" b="0" dirty="0"/>
              <a:t>（</a:t>
            </a:r>
            <a:r>
              <a:rPr lang="en-US" altLang="zh-CN" b="0" dirty="0"/>
              <a:t>3</a:t>
            </a:r>
            <a:r>
              <a:rPr lang="zh-CN" altLang="en-US" b="0" dirty="0"/>
              <a:t>）大胆假设，小心求证：不放过一个连接点和连线</a:t>
            </a:r>
            <a:endParaRPr lang="zh-CN" altLang="en-US" b="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zh-CN" altLang="en-US" b="0" dirty="0"/>
              <a:t>（如有</a:t>
            </a:r>
            <a:r>
              <a:rPr lang="en-US" altLang="zh-CN" b="0" dirty="0"/>
              <a:t>4</a:t>
            </a:r>
            <a:r>
              <a:rPr lang="zh-CN" altLang="en-US" b="0" dirty="0"/>
              <a:t>个异或就有可能是全加或全减计数器，触发器器左右都连线有可能是移位寄存器等等</a:t>
            </a:r>
            <a:r>
              <a:rPr lang="en-US" altLang="zh-CN" b="0" dirty="0"/>
              <a:t>……)</a:t>
            </a:r>
            <a:endParaRPr lang="en-US" altLang="zh-CN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6" grpId="0"/>
      <p:bldP spid="30515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同步时序电路的分析和设计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设计方法</a:t>
            </a:r>
            <a:endParaRPr lang="zh-CN" altLang="en-US" dirty="0"/>
          </a:p>
        </p:txBody>
      </p:sp>
      <p:sp>
        <p:nvSpPr>
          <p:cNvPr id="306180" name="Rectangle 4"/>
          <p:cNvSpPr/>
          <p:nvPr/>
        </p:nvSpPr>
        <p:spPr>
          <a:xfrm>
            <a:off x="304800" y="2133600"/>
            <a:ext cx="8458200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/>
            <a:r>
              <a:rPr lang="zh-CN" altLang="en-US" dirty="0"/>
              <a:t>可以采用固定的方法：缺点是比较死板，不灵活</a:t>
            </a:r>
            <a:endParaRPr lang="zh-CN" altLang="en-US" dirty="0"/>
          </a:p>
        </p:txBody>
      </p:sp>
      <p:sp>
        <p:nvSpPr>
          <p:cNvPr id="306181" name="Rectangle 5"/>
          <p:cNvSpPr/>
          <p:nvPr/>
        </p:nvSpPr>
        <p:spPr>
          <a:xfrm>
            <a:off x="304800" y="2819400"/>
            <a:ext cx="8305800" cy="227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/>
            <a:r>
              <a:rPr lang="zh-CN" altLang="en-US" dirty="0"/>
              <a:t>较好的方法是</a:t>
            </a:r>
            <a:endParaRPr lang="zh-CN" altLang="en-US" dirty="0"/>
          </a:p>
          <a:p>
            <a:pPr marL="457200" lvl="1" indent="0" eaLnBrk="1" hangingPunct="1">
              <a:buNone/>
            </a:pPr>
            <a:r>
              <a:rPr lang="zh-CN" altLang="en-US" b="0" dirty="0"/>
              <a:t>（</a:t>
            </a:r>
            <a:r>
              <a:rPr lang="en-US" altLang="zh-CN" b="0" dirty="0"/>
              <a:t>1</a:t>
            </a:r>
            <a:r>
              <a:rPr lang="zh-CN" altLang="en-US" b="0" dirty="0"/>
              <a:t>）从概念和要求出发，经过推理来完成初步设计</a:t>
            </a:r>
            <a:endParaRPr lang="zh-CN" altLang="en-US" b="0" dirty="0"/>
          </a:p>
          <a:p>
            <a:pPr marL="457200" lvl="1" indent="0" eaLnBrk="1" hangingPunct="1">
              <a:buNone/>
            </a:pPr>
            <a:r>
              <a:rPr lang="zh-CN" altLang="en-US" b="0" dirty="0"/>
              <a:t>（</a:t>
            </a:r>
            <a:r>
              <a:rPr lang="en-US" altLang="zh-CN" b="0" dirty="0"/>
              <a:t>2</a:t>
            </a:r>
            <a:r>
              <a:rPr lang="zh-CN" altLang="en-US" b="0" dirty="0"/>
              <a:t>）加上实用化的知识，完成一个实用化的设计</a:t>
            </a:r>
            <a:endParaRPr lang="zh-CN" altLang="en-US" b="0" dirty="0"/>
          </a:p>
          <a:p>
            <a:pPr marL="457200" lvl="1" indent="0" eaLnBrk="1" hangingPunct="1"/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0" grpId="0"/>
      <p:bldP spid="30618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同步时序电路的应用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018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计数器和寄存器</a:t>
            </a:r>
            <a:endParaRPr lang="zh-CN" altLang="en-US" dirty="0"/>
          </a:p>
        </p:txBody>
      </p:sp>
      <p:sp>
        <p:nvSpPr>
          <p:cNvPr id="307204" name="Rectangle 4"/>
          <p:cNvSpPr/>
          <p:nvPr/>
        </p:nvSpPr>
        <p:spPr>
          <a:xfrm>
            <a:off x="304800" y="2133600"/>
            <a:ext cx="5715000" cy="164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/>
              <a:t>计数器</a:t>
            </a:r>
            <a:endParaRPr lang="zh-CN" altLang="en-US" dirty="0"/>
          </a:p>
          <a:p>
            <a:pPr marL="457200" lvl="1" indent="0" eaLnBrk="1" hangingPunct="1">
              <a:lnSpc>
                <a:spcPct val="90000"/>
              </a:lnSpc>
            </a:pPr>
            <a:r>
              <a:rPr lang="zh-CN" altLang="en-US" b="0" dirty="0"/>
              <a:t>各种进制计数器，可逆计数器等</a:t>
            </a:r>
            <a:endParaRPr lang="zh-CN" altLang="en-US" b="0" dirty="0"/>
          </a:p>
          <a:p>
            <a:pPr marL="457200" lvl="1" indent="0" eaLnBrk="1" hangingPunct="1">
              <a:lnSpc>
                <a:spcPct val="90000"/>
              </a:lnSpc>
            </a:pPr>
            <a:r>
              <a:rPr lang="zh-CN" altLang="en-US" b="0" dirty="0"/>
              <a:t>计数器的扩展和应用</a:t>
            </a:r>
            <a:endParaRPr lang="zh-CN" altLang="en-US" b="0" dirty="0"/>
          </a:p>
        </p:txBody>
      </p:sp>
      <p:sp>
        <p:nvSpPr>
          <p:cNvPr id="307205" name="Rectangle 5"/>
          <p:cNvSpPr/>
          <p:nvPr/>
        </p:nvSpPr>
        <p:spPr>
          <a:xfrm>
            <a:off x="304800" y="3810000"/>
            <a:ext cx="4572000" cy="2365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zh-CN" altLang="en-US" dirty="0"/>
              <a:t>寄存器</a:t>
            </a:r>
            <a:endParaRPr lang="zh-CN" altLang="en-US" dirty="0"/>
          </a:p>
          <a:p>
            <a:pPr marL="457200" lvl="1" indent="0" eaLnBrk="1" hangingPunct="1"/>
            <a:r>
              <a:rPr lang="zh-CN" altLang="en-US" b="0" dirty="0"/>
              <a:t>基本寄存器</a:t>
            </a:r>
            <a:endParaRPr lang="zh-CN" altLang="en-US" b="0" dirty="0"/>
          </a:p>
          <a:p>
            <a:pPr marL="457200" lvl="1" indent="0" eaLnBrk="1" hangingPunct="1"/>
            <a:r>
              <a:rPr lang="zh-CN" altLang="en-US" b="0" dirty="0"/>
              <a:t>移位寄存器</a:t>
            </a:r>
            <a:endParaRPr lang="zh-CN" altLang="en-US" b="0" dirty="0"/>
          </a:p>
          <a:p>
            <a:pPr marL="457200" lvl="1" indent="0" eaLnBrk="1" hangingPunct="1"/>
            <a:r>
              <a:rPr lang="zh-CN" altLang="en-US" b="0" dirty="0"/>
              <a:t>移位寄存器应用</a:t>
            </a:r>
            <a:endParaRPr lang="zh-CN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4" grpId="0"/>
      <p:bldP spid="30720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数字逻辑电路总复习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四句话</a:t>
            </a:r>
            <a:endParaRPr lang="zh-CN" altLang="en-US" dirty="0"/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全书一句话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组合逻辑一句话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时序逻辑一句话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solidFill>
                  <a:schemeClr val="folHlink"/>
                </a:solidFill>
                <a:latin typeface="宋体" panose="02010600030101010101" pitchFamily="2" charset="-122"/>
              </a:rPr>
              <a:t>可编程逻辑一句话</a:t>
            </a:r>
            <a:endParaRPr lang="zh-CN" altLang="en-US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/>
              <a:t>一个忠告</a:t>
            </a:r>
            <a:endParaRPr lang="zh-CN" altLang="en-US" dirty="0"/>
          </a:p>
        </p:txBody>
      </p:sp>
      <p:sp>
        <p:nvSpPr>
          <p:cNvPr id="327684" name="Rectangle 4"/>
          <p:cNvSpPr/>
          <p:nvPr/>
        </p:nvSpPr>
        <p:spPr>
          <a:xfrm>
            <a:off x="228600" y="388620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可编程逻辑一句话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实现表达式＋触发器的另一种方法</a:t>
            </a:r>
            <a:endParaRPr lang="zh-CN" altLang="en-US" dirty="0"/>
          </a:p>
        </p:txBody>
      </p:sp>
      <p:sp>
        <p:nvSpPr>
          <p:cNvPr id="308228" name="Rectangle 4"/>
          <p:cNvSpPr/>
          <p:nvPr/>
        </p:nvSpPr>
        <p:spPr>
          <a:xfrm>
            <a:off x="609600" y="2286000"/>
            <a:ext cx="4572000" cy="1084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/>
            <a:r>
              <a:rPr lang="zh-CN" altLang="en-US" dirty="0"/>
              <a:t>可编程逻辑没有新知识</a:t>
            </a:r>
            <a:endParaRPr lang="zh-CN" altLang="en-US" dirty="0"/>
          </a:p>
          <a:p>
            <a:pPr marL="457200" lvl="1" indent="0" eaLnBrk="1" hangingPunct="1"/>
            <a:r>
              <a:rPr lang="zh-CN" altLang="en-US" dirty="0"/>
              <a:t>有的是新方法</a:t>
            </a:r>
            <a:endParaRPr lang="zh-CN" altLang="en-US" dirty="0"/>
          </a:p>
        </p:txBody>
      </p:sp>
      <p:sp>
        <p:nvSpPr>
          <p:cNvPr id="308229" name="Rectangle 5"/>
          <p:cNvSpPr/>
          <p:nvPr/>
        </p:nvSpPr>
        <p:spPr>
          <a:xfrm>
            <a:off x="381000" y="3505200"/>
            <a:ext cx="86153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zh-CN" altLang="en-US" dirty="0"/>
              <a:t>可编程逻辑电路的原理，具体集成电路的特点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28" grpId="0"/>
      <p:bldP spid="3082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可编程逻辑电路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ROM</a:t>
            </a:r>
            <a:r>
              <a:rPr lang="zh-CN" altLang="en-US" dirty="0"/>
              <a:t>，</a:t>
            </a:r>
            <a:r>
              <a:rPr lang="en-US" altLang="zh-CN" dirty="0"/>
              <a:t>PLA</a:t>
            </a:r>
            <a:r>
              <a:rPr lang="zh-CN" altLang="en-US" dirty="0"/>
              <a:t>，</a:t>
            </a:r>
            <a:r>
              <a:rPr lang="en-US" altLang="zh-CN" dirty="0"/>
              <a:t>PAL</a:t>
            </a:r>
            <a:r>
              <a:rPr lang="zh-CN" altLang="en-US" dirty="0"/>
              <a:t>，</a:t>
            </a:r>
            <a:r>
              <a:rPr lang="en-US" altLang="zh-CN" dirty="0"/>
              <a:t>GAL</a:t>
            </a:r>
            <a:r>
              <a:rPr lang="zh-CN" altLang="en-US" dirty="0"/>
              <a:t>的要求</a:t>
            </a:r>
            <a:endParaRPr lang="zh-CN" altLang="en-US" dirty="0"/>
          </a:p>
        </p:txBody>
      </p:sp>
      <p:sp>
        <p:nvSpPr>
          <p:cNvPr id="309252" name="Rectangle 4"/>
          <p:cNvSpPr/>
          <p:nvPr/>
        </p:nvSpPr>
        <p:spPr>
          <a:xfrm>
            <a:off x="152400" y="2362200"/>
            <a:ext cx="7391400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/>
            <a:r>
              <a:rPr lang="zh-CN" altLang="en-US" dirty="0"/>
              <a:t>掌握基本原理、特点和基本用法</a:t>
            </a:r>
            <a:endParaRPr lang="zh-CN" altLang="en-US" dirty="0"/>
          </a:p>
        </p:txBody>
      </p:sp>
      <p:sp>
        <p:nvSpPr>
          <p:cNvPr id="309253" name="Rectangle 5"/>
          <p:cNvSpPr/>
          <p:nvPr/>
        </p:nvSpPr>
        <p:spPr>
          <a:xfrm>
            <a:off x="139700" y="3184525"/>
            <a:ext cx="8866188" cy="4889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/>
            <a:r>
              <a:rPr lang="zh-CN" altLang="en-US" dirty="0"/>
              <a:t>会用可编程逻辑实现组合逻辑电路和同步时序逻辑电路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2" grpId="0"/>
      <p:bldP spid="30925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数字逻辑电路课程一句话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表达式＋触发器包含全部原理。</a:t>
            </a:r>
            <a:endParaRPr lang="zh-CN" altLang="en-US" dirty="0"/>
          </a:p>
        </p:txBody>
      </p:sp>
      <p:sp>
        <p:nvSpPr>
          <p:cNvPr id="310276" name="Rectangle 4"/>
          <p:cNvSpPr/>
          <p:nvPr/>
        </p:nvSpPr>
        <p:spPr>
          <a:xfrm>
            <a:off x="304800" y="2286000"/>
            <a:ext cx="83058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>
              <a:spcBef>
                <a:spcPct val="50000"/>
              </a:spcBef>
            </a:pPr>
            <a:r>
              <a:rPr lang="zh-CN" altLang="en-US" dirty="0"/>
              <a:t>但我们这们课程是实用化技术，只掌握基本原理和方法是不够的</a:t>
            </a:r>
            <a:endParaRPr lang="zh-CN" altLang="en-US" dirty="0"/>
          </a:p>
        </p:txBody>
      </p:sp>
      <p:sp>
        <p:nvSpPr>
          <p:cNvPr id="310277" name="Rectangle 5"/>
          <p:cNvSpPr/>
          <p:nvPr/>
        </p:nvSpPr>
        <p:spPr>
          <a:xfrm>
            <a:off x="304800" y="3535363"/>
            <a:ext cx="65944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zh-CN" altLang="en-US" dirty="0"/>
              <a:t>需要掌握很多实用化技术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6" grpId="0"/>
      <p:bldP spid="31027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数字逻辑电路中的实用化技术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530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实际电路设计中的原则：</a:t>
            </a:r>
            <a:endParaRPr lang="zh-CN" altLang="en-US" dirty="0"/>
          </a:p>
        </p:txBody>
      </p:sp>
      <p:sp>
        <p:nvSpPr>
          <p:cNvPr id="311300" name="Rectangle 4"/>
          <p:cNvSpPr/>
          <p:nvPr/>
        </p:nvSpPr>
        <p:spPr>
          <a:xfrm>
            <a:off x="381000" y="2286000"/>
            <a:ext cx="8099425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/>
            <a:r>
              <a:rPr lang="zh-CN" altLang="en-US" dirty="0">
                <a:solidFill>
                  <a:schemeClr val="folHlink"/>
                </a:solidFill>
              </a:rPr>
              <a:t>雷锋精神：将方便留给别人，将困难留给自己。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sp>
        <p:nvSpPr>
          <p:cNvPr id="311301" name="Rectangle 5"/>
          <p:cNvSpPr/>
          <p:nvPr/>
        </p:nvSpPr>
        <p:spPr>
          <a:xfrm>
            <a:off x="381000" y="2908300"/>
            <a:ext cx="8534400" cy="1282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62000" lvl="1" indent="-304800" eaLnBrk="1" hangingPunct="1"/>
            <a:r>
              <a:rPr lang="zh-CN" altLang="en-US" dirty="0"/>
              <a:t>我们课程中讲解了很多实用化的逻辑电路，每一个都是很多人，多年辛勤汗水的结晶！每一幅逻辑电路图都是一个实用化的精美的作品。</a:t>
            </a:r>
            <a:endParaRPr lang="zh-CN" altLang="en-US" dirty="0"/>
          </a:p>
        </p:txBody>
      </p:sp>
      <p:sp>
        <p:nvSpPr>
          <p:cNvPr id="311302" name="Rectangle 6"/>
          <p:cNvSpPr/>
          <p:nvPr/>
        </p:nvSpPr>
        <p:spPr>
          <a:xfrm>
            <a:off x="762000" y="4419600"/>
            <a:ext cx="8153400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600" b="1" dirty="0"/>
              <a:t>希望大家能够仔细研究和阅读，体会其中包含的知识</a:t>
            </a:r>
            <a:endParaRPr lang="zh-CN" altLang="en-US" sz="2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/>
      <p:bldP spid="311301" grpId="0"/>
      <p:bldP spid="31130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数字逻辑电路中的实用化技术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设计中的实用化技术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负载问题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可靠性问题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扩展问题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线与问题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自启动问题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数字逻辑电路中的实用化技术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734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设计中的实用化技术</a:t>
            </a:r>
            <a:endParaRPr lang="zh-CN" altLang="en-US" dirty="0"/>
          </a:p>
          <a:p>
            <a:pPr marL="749300" lvl="1" indent="-292100" eaLnBrk="1" hangingPunct="1"/>
            <a:r>
              <a:rPr lang="zh-CN" altLang="en-US" sz="2800" dirty="0"/>
              <a:t>负载问题</a:t>
            </a:r>
            <a:endParaRPr lang="zh-CN" altLang="en-US" sz="2800" dirty="0"/>
          </a:p>
          <a:p>
            <a:pPr eaLnBrk="1" hangingPunct="1">
              <a:buNone/>
            </a:pPr>
            <a:r>
              <a:rPr lang="zh-CN" altLang="en-US" sz="2400" dirty="0"/>
              <a:t>		</a:t>
            </a:r>
            <a:endParaRPr lang="zh-CN" altLang="en-US" sz="2400" dirty="0"/>
          </a:p>
        </p:txBody>
      </p:sp>
      <p:grpSp>
        <p:nvGrpSpPr>
          <p:cNvPr id="329735" name="Group 7"/>
          <p:cNvGrpSpPr/>
          <p:nvPr/>
        </p:nvGrpSpPr>
        <p:grpSpPr>
          <a:xfrm>
            <a:off x="914400" y="2895600"/>
            <a:ext cx="8077200" cy="1552575"/>
            <a:chOff x="192" y="1920"/>
            <a:chExt cx="5088" cy="978"/>
          </a:xfrm>
        </p:grpSpPr>
        <p:sp>
          <p:nvSpPr>
            <p:cNvPr id="57350" name="Rectangle 4"/>
            <p:cNvSpPr/>
            <p:nvPr/>
          </p:nvSpPr>
          <p:spPr>
            <a:xfrm>
              <a:off x="192" y="1920"/>
              <a:ext cx="5088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dirty="0"/>
                <a:t>（</a:t>
              </a:r>
              <a:r>
                <a:rPr lang="en-US" altLang="zh-CN" sz="2400" dirty="0"/>
                <a:t>1</a:t>
              </a:r>
              <a:r>
                <a:rPr lang="zh-CN" altLang="en-US" sz="2400" dirty="0"/>
                <a:t>）输入缓冲：减少外部负载</a:t>
              </a:r>
              <a:endParaRPr lang="zh-CN" altLang="en-US" sz="2400" dirty="0"/>
            </a:p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dirty="0"/>
                <a:t>（</a:t>
              </a:r>
              <a:r>
                <a:rPr lang="en-US" altLang="zh-CN" sz="2400" dirty="0"/>
                <a:t>2</a:t>
              </a:r>
              <a:r>
                <a:rPr lang="zh-CN" altLang="en-US" sz="2400" dirty="0"/>
                <a:t>）内部负载分配</a:t>
              </a:r>
              <a:endParaRPr lang="zh-CN" altLang="en-US" sz="2400" dirty="0"/>
            </a:p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dirty="0"/>
                <a:t>（</a:t>
              </a:r>
              <a:r>
                <a:rPr lang="en-US" altLang="zh-CN" sz="2400" dirty="0"/>
                <a:t>3</a:t>
              </a:r>
              <a:r>
                <a:rPr lang="zh-CN" altLang="en-US" sz="2400" dirty="0"/>
                <a:t>）输出的扇出最大化（用</a:t>
              </a:r>
              <a:r>
                <a:rPr lang="en-US" altLang="zh-CN" sz="2400" dirty="0"/>
                <a:t>Q</a:t>
              </a:r>
              <a:r>
                <a:rPr lang="zh-CN" altLang="en-US" sz="2400" dirty="0"/>
                <a:t>反馈到内部）</a:t>
              </a:r>
              <a:endParaRPr lang="zh-CN" altLang="en-US" sz="2400" dirty="0"/>
            </a:p>
          </p:txBody>
        </p:sp>
        <p:sp>
          <p:nvSpPr>
            <p:cNvPr id="57351" name="Line 6"/>
            <p:cNvSpPr/>
            <p:nvPr/>
          </p:nvSpPr>
          <p:spPr>
            <a:xfrm>
              <a:off x="2640" y="2640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数字逻辑电路中的实用化技术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837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设计中的实用化技术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可靠性问题</a:t>
            </a:r>
            <a:endParaRPr lang="zh-CN" altLang="en-US" dirty="0"/>
          </a:p>
        </p:txBody>
      </p:sp>
      <p:sp>
        <p:nvSpPr>
          <p:cNvPr id="331780" name="Rectangle 4"/>
          <p:cNvSpPr/>
          <p:nvPr/>
        </p:nvSpPr>
        <p:spPr>
          <a:xfrm>
            <a:off x="533400" y="2895600"/>
            <a:ext cx="8229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62000" lvl="0" indent="-762000" eaLnBrk="1" hangingPunct="1">
              <a:spcBef>
                <a:spcPct val="50000"/>
              </a:spcBef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）设计的电路结构规则：如设计电路中有时用“异或”而不用的“与或”</a:t>
            </a:r>
            <a:endParaRPr lang="zh-CN" altLang="en-US" sz="2400" b="1" dirty="0"/>
          </a:p>
        </p:txBody>
      </p:sp>
      <p:sp>
        <p:nvSpPr>
          <p:cNvPr id="331781" name="Rectangle 5"/>
          <p:cNvSpPr/>
          <p:nvPr/>
        </p:nvSpPr>
        <p:spPr>
          <a:xfrm>
            <a:off x="533400" y="4495800"/>
            <a:ext cx="52244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）添加冗余电路：</a:t>
            </a:r>
            <a:r>
              <a:rPr lang="zh-CN" altLang="en-US" sz="2400" b="1" dirty="0"/>
              <a:t>消除竞争与冒险</a:t>
            </a:r>
            <a:endParaRPr lang="zh-CN" altLang="en-US" sz="2400" b="1" dirty="0"/>
          </a:p>
        </p:txBody>
      </p:sp>
      <p:sp>
        <p:nvSpPr>
          <p:cNvPr id="331782" name="Rectangle 6"/>
          <p:cNvSpPr/>
          <p:nvPr/>
        </p:nvSpPr>
        <p:spPr>
          <a:xfrm>
            <a:off x="685800" y="3810000"/>
            <a:ext cx="70119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好处：传输延迟可预测，可读性好，布线方便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0" grpId="0"/>
      <p:bldP spid="331781" grpId="0"/>
      <p:bldP spid="33178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数字逻辑电路中的实用化技术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939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设计中的实用化技术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扩展问题：</a:t>
            </a:r>
            <a:r>
              <a:rPr lang="zh-CN" altLang="en-US" b="0" dirty="0"/>
              <a:t>设计所有的集成电路都要考虑扩展，没有可扩展性的设计是没有生命力的。</a:t>
            </a:r>
            <a:endParaRPr lang="zh-CN" altLang="en-US" b="0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数字逻辑电路中的实用化技术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042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设计中的实用化技术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线与问题</a:t>
            </a:r>
            <a:endParaRPr lang="zh-CN" altLang="en-US" dirty="0"/>
          </a:p>
          <a:p>
            <a:pPr lvl="1"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335876" name="Rectangle 4"/>
          <p:cNvSpPr/>
          <p:nvPr/>
        </p:nvSpPr>
        <p:spPr>
          <a:xfrm>
            <a:off x="1143000" y="2819400"/>
            <a:ext cx="76200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）总线的接口电路采用三态结构</a:t>
            </a:r>
            <a:endParaRPr lang="zh-CN" altLang="en-US" sz="24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）集电极开路的“线与”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数字逻辑电路中的实用化技术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144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设计中的实用化技术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自启动问题：</a:t>
            </a:r>
            <a:r>
              <a:rPr lang="zh-CN" altLang="en-US" sz="2400" b="0" dirty="0"/>
              <a:t>所有时序电路都必须解决的问题，否则设计出来的产品是废品。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数字逻辑电路总复习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468" name="Rectangle 3"/>
          <p:cNvSpPr>
            <a:spLocks noGrp="1"/>
          </p:cNvSpPr>
          <p:nvPr>
            <p:ph idx="1"/>
          </p:nvPr>
        </p:nvSpPr>
        <p:spPr>
          <a:xfrm>
            <a:off x="838200" y="1524000"/>
            <a:ext cx="70866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四句话</a:t>
            </a:r>
            <a:endParaRPr lang="zh-CN" altLang="en-US" dirty="0"/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全书一句话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组合逻辑一句话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时序逻辑一句话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sz="3200" dirty="0">
                <a:latin typeface="宋体" panose="02010600030101010101" pitchFamily="2" charset="-122"/>
              </a:rPr>
              <a:t>可编程逻辑一句话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一个忠告</a:t>
            </a:r>
            <a:endParaRPr lang="zh-CN" altLang="en-US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sp>
        <p:nvSpPr>
          <p:cNvPr id="339972" name="Rectangle 4"/>
          <p:cNvSpPr/>
          <p:nvPr/>
        </p:nvSpPr>
        <p:spPr>
          <a:xfrm>
            <a:off x="228600" y="464820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数字逻辑电路课程的结束语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一句忠告：</a:t>
            </a:r>
            <a:endParaRPr lang="zh-CN" altLang="en-US" dirty="0"/>
          </a:p>
        </p:txBody>
      </p:sp>
      <p:sp>
        <p:nvSpPr>
          <p:cNvPr id="314372" name="Rectangle 4"/>
          <p:cNvSpPr/>
          <p:nvPr/>
        </p:nvSpPr>
        <p:spPr>
          <a:xfrm>
            <a:off x="381000" y="3200400"/>
            <a:ext cx="82296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/>
            <a:r>
              <a:rPr lang="zh-CN" altLang="en-US" dirty="0"/>
              <a:t>补充：完整的逻辑设计可以从课本得到，但实用化技术需要长期的积累。</a:t>
            </a:r>
            <a:endParaRPr lang="zh-CN" altLang="en-US" dirty="0"/>
          </a:p>
        </p:txBody>
      </p:sp>
      <p:sp>
        <p:nvSpPr>
          <p:cNvPr id="314373" name="Rectangle 5"/>
          <p:cNvSpPr/>
          <p:nvPr/>
        </p:nvSpPr>
        <p:spPr>
          <a:xfrm>
            <a:off x="152400" y="2209800"/>
            <a:ext cx="8534400" cy="885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62000" lvl="1" indent="-304800" eaLnBrk="1" hangingPunct="1"/>
            <a:r>
              <a:rPr lang="zh-CN" altLang="en-US" dirty="0">
                <a:solidFill>
                  <a:schemeClr val="folHlink"/>
                </a:solidFill>
              </a:rPr>
              <a:t>本课程特点：“说起来容易做起来难”，完整的逻辑设计</a:t>
            </a:r>
            <a:r>
              <a:rPr lang="zh-CN" altLang="en-US" dirty="0"/>
              <a:t>加上</a:t>
            </a:r>
            <a:r>
              <a:rPr lang="zh-CN" altLang="en-US" dirty="0">
                <a:solidFill>
                  <a:schemeClr val="folHlink"/>
                </a:solidFill>
              </a:rPr>
              <a:t>实用化技术</a:t>
            </a:r>
            <a:r>
              <a:rPr lang="zh-CN" altLang="en-US" dirty="0"/>
              <a:t>才可以设计出合格的产品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2" grpId="0"/>
      <p:bldP spid="31437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451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祝愿大家好好复习，取得好成绩！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我们共同度过的这学期让我感到很愉快！！！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ring">
  <a:themeElements>
    <a:clrScheme name="">
      <a:dk1>
        <a:srgbClr val="000000"/>
      </a:dk1>
      <a:lt1>
        <a:srgbClr val="FFFFFF"/>
      </a:lt1>
      <a:dk2>
        <a:srgbClr val="000066"/>
      </a:dk2>
      <a:lt2>
        <a:srgbClr val="FFCC66"/>
      </a:lt2>
      <a:accent1>
        <a:srgbClr val="000066"/>
      </a:accent1>
      <a:accent2>
        <a:srgbClr val="000066"/>
      </a:accent2>
      <a:accent3>
        <a:srgbClr val="AAAAB8"/>
      </a:accent3>
      <a:accent4>
        <a:srgbClr val="DADADA"/>
      </a:accent4>
      <a:accent5>
        <a:srgbClr val="AAAAB8"/>
      </a:accent5>
      <a:accent6>
        <a:srgbClr val="00005C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folHlink"/>
          </a:buClr>
          <a:buSzTx/>
          <a:buFont typeface="Wingdings" panose="05000000000000000000" pitchFamily="2" charset="2"/>
          <a:buChar char="Ø"/>
          <a:defRPr kumimoji="1" lang="zh-CN" altLang="en-US" sz="2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folHlink"/>
          </a:buClr>
          <a:buSzTx/>
          <a:buFont typeface="Wingdings" panose="05000000000000000000" pitchFamily="2" charset="2"/>
          <a:buChar char="Ø"/>
          <a:defRPr kumimoji="1" lang="zh-CN" altLang="en-US" sz="2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6186</Words>
  <Application>WPS 演示</Application>
  <PresentationFormat>全屏显示(4:3)</PresentationFormat>
  <Paragraphs>1399</Paragraphs>
  <Slides>60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60</vt:i4>
      </vt:variant>
    </vt:vector>
  </HeadingPairs>
  <TitlesOfParts>
    <vt:vector size="78" baseType="lpstr">
      <vt:lpstr>Arial</vt:lpstr>
      <vt:lpstr>宋体</vt:lpstr>
      <vt:lpstr>Wingdings</vt:lpstr>
      <vt:lpstr>Times New Roman</vt:lpstr>
      <vt:lpstr>Wingdings 3</vt:lpstr>
      <vt:lpstr>Tahoma</vt:lpstr>
      <vt:lpstr>Wingdings 2</vt:lpstr>
      <vt:lpstr>幼圆</vt:lpstr>
      <vt:lpstr>Symbol</vt:lpstr>
      <vt:lpstr>Georgia</vt:lpstr>
      <vt:lpstr>微软雅黑</vt:lpstr>
      <vt:lpstr>Arial Unicode MS</vt:lpstr>
      <vt:lpstr>Arial</vt:lpstr>
      <vt:lpstr>Soaring</vt:lpstr>
      <vt:lpstr>Photoshop.Image.6</vt:lpstr>
      <vt:lpstr>Photoshop.Image.6</vt:lpstr>
      <vt:lpstr>Photoshop.Image.6</vt:lpstr>
      <vt:lpstr>Photoshop.Image.6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cs-lab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逻辑代数及逻辑函数的化简</dc:title>
  <dc:creator>cs-lab23</dc:creator>
  <cp:lastModifiedBy>张芝源(2024010701)</cp:lastModifiedBy>
  <cp:revision>215</cp:revision>
  <dcterms:created xsi:type="dcterms:W3CDTF">2002-01-07T08:53:03Z</dcterms:created>
  <dcterms:modified xsi:type="dcterms:W3CDTF">2026-06-07T15:57:04Z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DE5A45FEC1DE4AD296579ADA829803F8_13</vt:lpwstr>
  </property>
  <property fmtid="{D5CDD505-2E9C-101B-9397-08002B2CF9AE}" pid="3" name="KSOProductBuildVer">
    <vt:lpwstr>2052-12.1.0.26375</vt:lpwstr>
  </property>
</Properties>
</file>