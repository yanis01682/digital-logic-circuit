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324" r:id="rId5"/>
    <p:sldId id="406" r:id="rId6"/>
    <p:sldId id="325" r:id="rId8"/>
    <p:sldId id="407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402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403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63" r:id="rId49"/>
    <p:sldId id="364" r:id="rId50"/>
    <p:sldId id="365" r:id="rId51"/>
    <p:sldId id="366" r:id="rId52"/>
    <p:sldId id="367" r:id="rId53"/>
    <p:sldId id="368" r:id="rId54"/>
    <p:sldId id="369" r:id="rId55"/>
    <p:sldId id="370" r:id="rId56"/>
    <p:sldId id="371" r:id="rId57"/>
    <p:sldId id="372" r:id="rId58"/>
    <p:sldId id="373" r:id="rId59"/>
    <p:sldId id="374" r:id="rId60"/>
    <p:sldId id="375" r:id="rId61"/>
    <p:sldId id="376" r:id="rId62"/>
    <p:sldId id="377" r:id="rId63"/>
    <p:sldId id="378" r:id="rId64"/>
    <p:sldId id="379" r:id="rId65"/>
    <p:sldId id="380" r:id="rId66"/>
    <p:sldId id="381" r:id="rId67"/>
    <p:sldId id="382" r:id="rId68"/>
    <p:sldId id="383" r:id="rId69"/>
    <p:sldId id="384" r:id="rId70"/>
    <p:sldId id="385" r:id="rId71"/>
    <p:sldId id="386" r:id="rId72"/>
    <p:sldId id="387" r:id="rId73"/>
    <p:sldId id="388" r:id="rId74"/>
    <p:sldId id="389" r:id="rId75"/>
    <p:sldId id="390" r:id="rId76"/>
    <p:sldId id="391" r:id="rId77"/>
    <p:sldId id="392" r:id="rId78"/>
    <p:sldId id="393" r:id="rId79"/>
    <p:sldId id="394" r:id="rId80"/>
    <p:sldId id="395" r:id="rId81"/>
    <p:sldId id="396" r:id="rId82"/>
    <p:sldId id="397" r:id="rId83"/>
    <p:sldId id="398" r:id="rId84"/>
    <p:sldId id="399" r:id="rId85"/>
    <p:sldId id="405" r:id="rId8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5E4"/>
    <a:srgbClr val="CAFDFE"/>
    <a:srgbClr val="3819E4"/>
    <a:srgbClr val="2F28B6"/>
    <a:srgbClr val="191652"/>
    <a:srgbClr val="1F26A9"/>
    <a:srgbClr val="404FE0"/>
    <a:srgbClr val="6992ED"/>
    <a:srgbClr val="5BA3F3"/>
    <a:srgbClr val="8BB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1" autoAdjust="0"/>
    <p:restoredTop sz="92675" autoAdjust="0"/>
  </p:normalViewPr>
  <p:slideViewPr>
    <p:cSldViewPr showGuides="1">
      <p:cViewPr varScale="1">
        <p:scale>
          <a:sx n="62" d="100"/>
          <a:sy n="62" d="100"/>
        </p:scale>
        <p:origin x="70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2.xml"/><Relationship Id="rId8" Type="http://schemas.openxmlformats.org/officeDocument/2006/relationships/slide" Target="slides/slide11.xml"/><Relationship Id="rId7" Type="http://schemas.openxmlformats.org/officeDocument/2006/relationships/slide" Target="slides/slide10.xml"/><Relationship Id="rId67" Type="http://schemas.openxmlformats.org/officeDocument/2006/relationships/slide" Target="slides/slide82.xml"/><Relationship Id="rId66" Type="http://schemas.openxmlformats.org/officeDocument/2006/relationships/slide" Target="slides/slide81.xml"/><Relationship Id="rId65" Type="http://schemas.openxmlformats.org/officeDocument/2006/relationships/slide" Target="slides/slide80.xml"/><Relationship Id="rId64" Type="http://schemas.openxmlformats.org/officeDocument/2006/relationships/slide" Target="slides/slide79.xml"/><Relationship Id="rId63" Type="http://schemas.openxmlformats.org/officeDocument/2006/relationships/slide" Target="slides/slide78.xml"/><Relationship Id="rId62" Type="http://schemas.openxmlformats.org/officeDocument/2006/relationships/slide" Target="slides/slide77.xml"/><Relationship Id="rId61" Type="http://schemas.openxmlformats.org/officeDocument/2006/relationships/slide" Target="slides/slide76.xml"/><Relationship Id="rId60" Type="http://schemas.openxmlformats.org/officeDocument/2006/relationships/slide" Target="slides/slide75.xml"/><Relationship Id="rId6" Type="http://schemas.openxmlformats.org/officeDocument/2006/relationships/slide" Target="slides/slide9.xml"/><Relationship Id="rId59" Type="http://schemas.openxmlformats.org/officeDocument/2006/relationships/slide" Target="slides/slide71.xml"/><Relationship Id="rId58" Type="http://schemas.openxmlformats.org/officeDocument/2006/relationships/slide" Target="slides/slide69.xml"/><Relationship Id="rId57" Type="http://schemas.openxmlformats.org/officeDocument/2006/relationships/slide" Target="slides/slide67.xml"/><Relationship Id="rId56" Type="http://schemas.openxmlformats.org/officeDocument/2006/relationships/slide" Target="slides/slide66.xml"/><Relationship Id="rId55" Type="http://schemas.openxmlformats.org/officeDocument/2006/relationships/slide" Target="slides/slide65.xml"/><Relationship Id="rId54" Type="http://schemas.openxmlformats.org/officeDocument/2006/relationships/slide" Target="slides/slide60.xml"/><Relationship Id="rId53" Type="http://schemas.openxmlformats.org/officeDocument/2006/relationships/slide" Target="slides/slide59.xml"/><Relationship Id="rId52" Type="http://schemas.openxmlformats.org/officeDocument/2006/relationships/slide" Target="slides/slide58.xml"/><Relationship Id="rId51" Type="http://schemas.openxmlformats.org/officeDocument/2006/relationships/slide" Target="slides/slide57.xml"/><Relationship Id="rId50" Type="http://schemas.openxmlformats.org/officeDocument/2006/relationships/slide" Target="slides/slide56.xml"/><Relationship Id="rId5" Type="http://schemas.openxmlformats.org/officeDocument/2006/relationships/slide" Target="slides/slide8.xml"/><Relationship Id="rId49" Type="http://schemas.openxmlformats.org/officeDocument/2006/relationships/slide" Target="slides/slide55.xml"/><Relationship Id="rId48" Type="http://schemas.openxmlformats.org/officeDocument/2006/relationships/slide" Target="slides/slide53.xml"/><Relationship Id="rId47" Type="http://schemas.openxmlformats.org/officeDocument/2006/relationships/slide" Target="slides/slide52.xml"/><Relationship Id="rId46" Type="http://schemas.openxmlformats.org/officeDocument/2006/relationships/slide" Target="slides/slide51.xml"/><Relationship Id="rId45" Type="http://schemas.openxmlformats.org/officeDocument/2006/relationships/slide" Target="slides/slide50.xml"/><Relationship Id="rId44" Type="http://schemas.openxmlformats.org/officeDocument/2006/relationships/slide" Target="slides/slide49.xml"/><Relationship Id="rId43" Type="http://schemas.openxmlformats.org/officeDocument/2006/relationships/slide" Target="slides/slide48.xml"/><Relationship Id="rId42" Type="http://schemas.openxmlformats.org/officeDocument/2006/relationships/slide" Target="slides/slide47.xml"/><Relationship Id="rId41" Type="http://schemas.openxmlformats.org/officeDocument/2006/relationships/slide" Target="slides/slide46.xml"/><Relationship Id="rId40" Type="http://schemas.openxmlformats.org/officeDocument/2006/relationships/slide" Target="slides/slide45.xml"/><Relationship Id="rId4" Type="http://schemas.openxmlformats.org/officeDocument/2006/relationships/slide" Target="slides/slide7.xml"/><Relationship Id="rId39" Type="http://schemas.openxmlformats.org/officeDocument/2006/relationships/slide" Target="slides/slide44.xml"/><Relationship Id="rId38" Type="http://schemas.openxmlformats.org/officeDocument/2006/relationships/slide" Target="slides/slide43.xml"/><Relationship Id="rId37" Type="http://schemas.openxmlformats.org/officeDocument/2006/relationships/slide" Target="slides/slide42.xml"/><Relationship Id="rId36" Type="http://schemas.openxmlformats.org/officeDocument/2006/relationships/slide" Target="slides/slide41.xml"/><Relationship Id="rId35" Type="http://schemas.openxmlformats.org/officeDocument/2006/relationships/slide" Target="slides/slide40.xml"/><Relationship Id="rId34" Type="http://schemas.openxmlformats.org/officeDocument/2006/relationships/slide" Target="slides/slide39.xml"/><Relationship Id="rId33" Type="http://schemas.openxmlformats.org/officeDocument/2006/relationships/slide" Target="slides/slide38.xml"/><Relationship Id="rId32" Type="http://schemas.openxmlformats.org/officeDocument/2006/relationships/slide" Target="slides/slide37.xml"/><Relationship Id="rId31" Type="http://schemas.openxmlformats.org/officeDocument/2006/relationships/slide" Target="slides/slide36.xml"/><Relationship Id="rId30" Type="http://schemas.openxmlformats.org/officeDocument/2006/relationships/slide" Target="slides/slide35.xml"/><Relationship Id="rId3" Type="http://schemas.openxmlformats.org/officeDocument/2006/relationships/slide" Target="slides/slide5.xml"/><Relationship Id="rId29" Type="http://schemas.openxmlformats.org/officeDocument/2006/relationships/slide" Target="slides/slide34.xml"/><Relationship Id="rId28" Type="http://schemas.openxmlformats.org/officeDocument/2006/relationships/slide" Target="slides/slide33.xml"/><Relationship Id="rId27" Type="http://schemas.openxmlformats.org/officeDocument/2006/relationships/slide" Target="slides/slide32.xml"/><Relationship Id="rId26" Type="http://schemas.openxmlformats.org/officeDocument/2006/relationships/slide" Target="slides/slide31.xml"/><Relationship Id="rId25" Type="http://schemas.openxmlformats.org/officeDocument/2006/relationships/slide" Target="slides/slide30.xml"/><Relationship Id="rId24" Type="http://schemas.openxmlformats.org/officeDocument/2006/relationships/slide" Target="slides/slide28.xml"/><Relationship Id="rId23" Type="http://schemas.openxmlformats.org/officeDocument/2006/relationships/slide" Target="slides/slide27.xml"/><Relationship Id="rId22" Type="http://schemas.openxmlformats.org/officeDocument/2006/relationships/slide" Target="slides/slide26.xml"/><Relationship Id="rId21" Type="http://schemas.openxmlformats.org/officeDocument/2006/relationships/slide" Target="slides/slide25.xml"/><Relationship Id="rId20" Type="http://schemas.openxmlformats.org/officeDocument/2006/relationships/slide" Target="slides/slide24.xml"/><Relationship Id="rId2" Type="http://schemas.openxmlformats.org/officeDocument/2006/relationships/slide" Target="slides/slide4.xml"/><Relationship Id="rId19" Type="http://schemas.openxmlformats.org/officeDocument/2006/relationships/slide" Target="slides/slide23.xml"/><Relationship Id="rId18" Type="http://schemas.openxmlformats.org/officeDocument/2006/relationships/slide" Target="slides/slide22.xml"/><Relationship Id="rId17" Type="http://schemas.openxmlformats.org/officeDocument/2006/relationships/slide" Target="slides/slide21.xml"/><Relationship Id="rId16" Type="http://schemas.openxmlformats.org/officeDocument/2006/relationships/slide" Target="slides/slide20.xml"/><Relationship Id="rId15" Type="http://schemas.openxmlformats.org/officeDocument/2006/relationships/slide" Target="slides/slide19.xml"/><Relationship Id="rId14" Type="http://schemas.openxmlformats.org/officeDocument/2006/relationships/slide" Target="slides/slide18.xml"/><Relationship Id="rId13" Type="http://schemas.openxmlformats.org/officeDocument/2006/relationships/slide" Target="slides/slide17.xml"/><Relationship Id="rId12" Type="http://schemas.openxmlformats.org/officeDocument/2006/relationships/slide" Target="slides/slide15.xml"/><Relationship Id="rId11" Type="http://schemas.openxmlformats.org/officeDocument/2006/relationships/slide" Target="slides/slide14.xml"/><Relationship Id="rId10" Type="http://schemas.openxmlformats.org/officeDocument/2006/relationships/slide" Target="slides/slide13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image" Target="../media/image51.wmf"/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0" Type="http://schemas.openxmlformats.org/officeDocument/2006/relationships/image" Target="../media/image53.wmf"/><Relationship Id="rId1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4" Type="http://schemas.openxmlformats.org/officeDocument/2006/relationships/image" Target="../media/image67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63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5" Type="http://schemas.openxmlformats.org/officeDocument/2006/relationships/image" Target="../media/image90.wmf"/><Relationship Id="rId14" Type="http://schemas.openxmlformats.org/officeDocument/2006/relationships/image" Target="../media/image89.wmf"/><Relationship Id="rId13" Type="http://schemas.openxmlformats.org/officeDocument/2006/relationships/image" Target="../media/image88.wmf"/><Relationship Id="rId12" Type="http://schemas.openxmlformats.org/officeDocument/2006/relationships/image" Target="../media/image87.wmf"/><Relationship Id="rId11" Type="http://schemas.openxmlformats.org/officeDocument/2006/relationships/image" Target="../media/image86.wmf"/><Relationship Id="rId10" Type="http://schemas.openxmlformats.org/officeDocument/2006/relationships/image" Target="../media/image85.wmf"/><Relationship Id="rId1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wmf"/><Relationship Id="rId8" Type="http://schemas.openxmlformats.org/officeDocument/2006/relationships/image" Target="../media/image136.wmf"/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1" Type="http://schemas.openxmlformats.org/officeDocument/2006/relationships/image" Target="../media/image139.wmf"/><Relationship Id="rId10" Type="http://schemas.openxmlformats.org/officeDocument/2006/relationships/image" Target="../media/image138.wmf"/><Relationship Id="rId1" Type="http://schemas.openxmlformats.org/officeDocument/2006/relationships/image" Target="../media/image12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3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wmf"/></Relationships>
</file>

<file path=ppt/drawings/_rels/vmlDrawing3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2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3.wmf"/></Relationships>
</file>

<file path=ppt/drawings/_rels/vmlDrawing3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0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7" Type="http://schemas.openxmlformats.org/officeDocument/2006/relationships/image" Target="../media/image197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3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08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9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3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12776"/>
            <a:ext cx="7772400" cy="4607024"/>
          </a:xfrm>
        </p:spPr>
        <p:txBody>
          <a:bodyPr vert="horz"/>
          <a:lstStyle>
            <a:lvl1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612140" indent="-360045">
              <a:buFont typeface="Wingdings" panose="05000000000000000000" pitchFamily="2" charset="2"/>
              <a:buChar char="Ø"/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64235" indent="-360045">
              <a:buFont typeface="Wingdings" panose="05000000000000000000" pitchFamily="2" charset="2"/>
              <a:buChar char="ü"/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>
              <a:defRPr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eaLnBrk="1" latinLnBrk="0" hangingPunct="1"/>
            <a:r>
              <a:rPr lang="zh-CN" altLang="en-US" dirty="0"/>
              <a:t>第二级</a:t>
            </a:r>
            <a:endParaRPr lang="zh-CN" altLang="en-US" dirty="0"/>
          </a:p>
          <a:p>
            <a:pPr lvl="2" eaLnBrk="1" latinLnBrk="0" hangingPunct="1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77D972-BCDF-49E7-A1C2-34E4FF33E8D7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10D2-EDE5-4260-B925-920BF770ACAA}" type="slidenum">
              <a:rPr lang="en-US" altLang="zh-CN" smtClean="0"/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1574-C682-445A-BFC3-7BB39269396A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AF61-4D7A-4FD3-A5DC-1F470F2A8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0F2D-AC86-437C-887F-46706DCBE779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E18837-4CC7-4E49-AE24-99B74D4B7E9E}" type="slidenum">
              <a:rPr lang="en-US" altLang="zh-CN" smtClean="0"/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5406-83BD-4F38-8270-45AA7492CB7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FE9F-3B20-4F64-A115-0D0B55C09A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360045" indent="-360045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anose="05000000000000000000" pitchFamily="2" charset="2"/>
        <a:buChar char="n"/>
        <a:defRPr kumimoji="0" sz="36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612140" indent="-360045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anose="05000000000000000000" pitchFamily="2" charset="2"/>
        <a:buChar char="p"/>
        <a:defRPr kumimoji="0" sz="32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864235" indent="-360045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anose="05000000000000000000" pitchFamily="2" charset="2"/>
        <a:buChar char="l"/>
        <a:defRPr kumimoji="0" sz="28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0.wmf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8.wmf"/><Relationship Id="rId13" Type="http://schemas.openxmlformats.org/officeDocument/2006/relationships/notesSlide" Target="../notesSlides/notesSlide2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4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30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9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vmlDrawing" Target="../drawings/vmlDrawing7.vml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40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29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3.wmf"/><Relationship Id="rId2" Type="http://schemas.openxmlformats.org/officeDocument/2006/relationships/image" Target="../media/image44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51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28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5.wmf"/><Relationship Id="rId30" Type="http://schemas.openxmlformats.org/officeDocument/2006/relationships/vmlDrawing" Target="../drawings/vmlDrawing10.vml"/><Relationship Id="rId3" Type="http://schemas.openxmlformats.org/officeDocument/2006/relationships/oleObject" Target="../embeddings/oleObject39.bin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67.wmf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66.wmf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65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64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63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62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3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68.w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5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77.wmf"/><Relationship Id="rId32" Type="http://schemas.openxmlformats.org/officeDocument/2006/relationships/vmlDrawing" Target="../drawings/vmlDrawing12.vml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90.wmf"/><Relationship Id="rId3" Type="http://schemas.openxmlformats.org/officeDocument/2006/relationships/oleObject" Target="../embeddings/oleObject61.bin"/><Relationship Id="rId29" Type="http://schemas.openxmlformats.org/officeDocument/2006/relationships/oleObject" Target="../embeddings/oleObject74.bin"/><Relationship Id="rId28" Type="http://schemas.openxmlformats.org/officeDocument/2006/relationships/image" Target="../media/image89.wmf"/><Relationship Id="rId27" Type="http://schemas.openxmlformats.org/officeDocument/2006/relationships/oleObject" Target="../embeddings/oleObject73.bin"/><Relationship Id="rId26" Type="http://schemas.openxmlformats.org/officeDocument/2006/relationships/image" Target="../media/image88.wmf"/><Relationship Id="rId25" Type="http://schemas.openxmlformats.org/officeDocument/2006/relationships/oleObject" Target="../embeddings/oleObject72.bin"/><Relationship Id="rId24" Type="http://schemas.openxmlformats.org/officeDocument/2006/relationships/image" Target="../media/image87.wmf"/><Relationship Id="rId23" Type="http://schemas.openxmlformats.org/officeDocument/2006/relationships/oleObject" Target="../embeddings/oleObject71.bin"/><Relationship Id="rId22" Type="http://schemas.openxmlformats.org/officeDocument/2006/relationships/image" Target="../media/image86.wmf"/><Relationship Id="rId21" Type="http://schemas.openxmlformats.org/officeDocument/2006/relationships/oleObject" Target="../embeddings/oleObject70.bin"/><Relationship Id="rId20" Type="http://schemas.openxmlformats.org/officeDocument/2006/relationships/image" Target="../media/image85.w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69.bin"/><Relationship Id="rId18" Type="http://schemas.openxmlformats.org/officeDocument/2006/relationships/image" Target="../media/image84.wmf"/><Relationship Id="rId17" Type="http://schemas.openxmlformats.org/officeDocument/2006/relationships/oleObject" Target="../embeddings/oleObject68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67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66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6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76.bin"/><Relationship Id="rId2" Type="http://schemas.openxmlformats.org/officeDocument/2006/relationships/image" Target="../media/image91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98.wmf"/><Relationship Id="rId15" Type="http://schemas.openxmlformats.org/officeDocument/2006/relationships/oleObject" Target="../embeddings/oleObject82.bin"/><Relationship Id="rId14" Type="http://schemas.openxmlformats.org/officeDocument/2006/relationships/image" Target="../media/image97.wmf"/><Relationship Id="rId13" Type="http://schemas.openxmlformats.org/officeDocument/2006/relationships/oleObject" Target="../embeddings/oleObject81.bin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80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7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99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8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103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8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8.GIF"/><Relationship Id="rId1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9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112.wmf"/><Relationship Id="rId1" Type="http://schemas.openxmlformats.org/officeDocument/2006/relationships/oleObject" Target="../embeddings/oleObject94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114.wmf"/><Relationship Id="rId1" Type="http://schemas.openxmlformats.org/officeDocument/2006/relationships/oleObject" Target="../embeddings/oleObject9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16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98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121.wmf"/><Relationship Id="rId18" Type="http://schemas.openxmlformats.org/officeDocument/2006/relationships/vmlDrawing" Target="../drawings/vmlDrawing20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28.wmf"/><Relationship Id="rId15" Type="http://schemas.openxmlformats.org/officeDocument/2006/relationships/oleObject" Target="../embeddings/oleObject110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03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12.bin"/><Relationship Id="rId24" Type="http://schemas.openxmlformats.org/officeDocument/2006/relationships/vmlDrawing" Target="../drawings/vmlDrawing21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39.wmf"/><Relationship Id="rId21" Type="http://schemas.openxmlformats.org/officeDocument/2006/relationships/oleObject" Target="../embeddings/oleObject121.bin"/><Relationship Id="rId20" Type="http://schemas.openxmlformats.org/officeDocument/2006/relationships/image" Target="../media/image138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20.bin"/><Relationship Id="rId18" Type="http://schemas.openxmlformats.org/officeDocument/2006/relationships/image" Target="../media/image137.wmf"/><Relationship Id="rId17" Type="http://schemas.openxmlformats.org/officeDocument/2006/relationships/oleObject" Target="../embeddings/oleObject119.bin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18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11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0.wmf"/><Relationship Id="rId1" Type="http://schemas.openxmlformats.org/officeDocument/2006/relationships/oleObject" Target="../embeddings/oleObject12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7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126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24.bin"/><Relationship Id="rId2" Type="http://schemas.openxmlformats.org/officeDocument/2006/relationships/image" Target="../media/image141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128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23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32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47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129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51.wmf"/><Relationship Id="rId14" Type="http://schemas.openxmlformats.org/officeDocument/2006/relationships/vmlDrawing" Target="../drawings/vmlDrawing2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6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33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57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63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6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39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65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64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146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152.bin"/><Relationship Id="rId2" Type="http://schemas.openxmlformats.org/officeDocument/2006/relationships/image" Target="../media/image169.w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151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5.wmf"/><Relationship Id="rId1" Type="http://schemas.openxmlformats.org/officeDocument/2006/relationships/oleObject" Target="../embeddings/oleObject157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2.bin"/><Relationship Id="rId8" Type="http://schemas.openxmlformats.org/officeDocument/2006/relationships/image" Target="../media/image179.wmf"/><Relationship Id="rId7" Type="http://schemas.openxmlformats.org/officeDocument/2006/relationships/oleObject" Target="../embeddings/oleObject161.bin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77.wmf"/><Relationship Id="rId3" Type="http://schemas.openxmlformats.org/officeDocument/2006/relationships/oleObject" Target="../embeddings/oleObject159.bin"/><Relationship Id="rId2" Type="http://schemas.openxmlformats.org/officeDocument/2006/relationships/image" Target="../media/image176.wmf"/><Relationship Id="rId14" Type="http://schemas.openxmlformats.org/officeDocument/2006/relationships/vmlDrawing" Target="../drawings/vmlDrawing3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81.wmf"/><Relationship Id="rId11" Type="http://schemas.openxmlformats.org/officeDocument/2006/relationships/oleObject" Target="../embeddings/oleObject163.bin"/><Relationship Id="rId10" Type="http://schemas.openxmlformats.org/officeDocument/2006/relationships/image" Target="../media/image180.wmf"/><Relationship Id="rId1" Type="http://schemas.openxmlformats.org/officeDocument/2006/relationships/oleObject" Target="../embeddings/oleObject158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2.wmf"/><Relationship Id="rId1" Type="http://schemas.openxmlformats.org/officeDocument/2006/relationships/oleObject" Target="../embeddings/oleObject164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slide" Target="slide60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3.wmf"/><Relationship Id="rId1" Type="http://schemas.openxmlformats.org/officeDocument/2006/relationships/oleObject" Target="../embeddings/oleObject165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85.w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84.wmf"/><Relationship Id="rId16" Type="http://schemas.openxmlformats.org/officeDocument/2006/relationships/vmlDrawing" Target="../drawings/vmlDrawing3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90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166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194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92.wmf"/><Relationship Id="rId3" Type="http://schemas.openxmlformats.org/officeDocument/2006/relationships/oleObject" Target="../embeddings/oleObject174.bin"/><Relationship Id="rId2" Type="http://schemas.openxmlformats.org/officeDocument/2006/relationships/image" Target="../media/image191.wmf"/><Relationship Id="rId19" Type="http://schemas.openxmlformats.org/officeDocument/2006/relationships/notesSlide" Target="../notesSlides/notesSlide3.xml"/><Relationship Id="rId18" Type="http://schemas.openxmlformats.org/officeDocument/2006/relationships/vmlDrawing" Target="../drawings/vmlDrawing34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98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97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196.w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195.wmf"/><Relationship Id="rId1" Type="http://schemas.openxmlformats.org/officeDocument/2006/relationships/oleObject" Target="../embeddings/oleObject17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200.wmf"/><Relationship Id="rId3" Type="http://schemas.openxmlformats.org/officeDocument/2006/relationships/oleObject" Target="../embeddings/oleObject182.bin"/><Relationship Id="rId2" Type="http://schemas.openxmlformats.org/officeDocument/2006/relationships/image" Target="../media/image199.wmf"/><Relationship Id="rId1" Type="http://schemas.openxmlformats.org/officeDocument/2006/relationships/oleObject" Target="../embeddings/oleObject181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202.wmf"/><Relationship Id="rId16" Type="http://schemas.openxmlformats.org/officeDocument/2006/relationships/vmlDrawing" Target="../drawings/vmlDrawing3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190.bin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189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184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9.wmf"/><Relationship Id="rId1" Type="http://schemas.openxmlformats.org/officeDocument/2006/relationships/oleObject" Target="../embeddings/oleObject191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0.wmf"/><Relationship Id="rId1" Type="http://schemas.openxmlformats.org/officeDocument/2006/relationships/oleObject" Target="../embeddings/oleObject192.bin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2.w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211.wmf"/><Relationship Id="rId1" Type="http://schemas.openxmlformats.org/officeDocument/2006/relationships/oleObject" Target="../embeddings/oleObject193.bin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3.wmf"/><Relationship Id="rId1" Type="http://schemas.openxmlformats.org/officeDocument/2006/relationships/oleObject" Target="../embeddings/oleObject195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6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214.wmf"/><Relationship Id="rId1" Type="http://schemas.openxmlformats.org/officeDocument/2006/relationships/oleObject" Target="../embeddings/oleObject196.bin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9.jpeg"/><Relationship Id="rId3" Type="http://schemas.openxmlformats.org/officeDocument/2006/relationships/image" Target="../media/image218.jpeg"/><Relationship Id="rId2" Type="http://schemas.openxmlformats.org/officeDocument/2006/relationships/image" Target="../media/image217.jpeg"/><Relationship Id="rId1" Type="http://schemas.openxmlformats.org/officeDocument/2006/relationships/image" Target="../media/image2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清华大学计算机系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陶品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taopin@tsinghua.edu.cn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</a:t>
            </a:r>
            <a:r>
              <a:rPr lang="zh-CN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自强楼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1-902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13717813059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           </a:t>
            </a:r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</a:fld>
            <a:endParaRPr lang="en-US" altLang="zh-CN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课程基本情况</a:t>
            </a:r>
            <a:endParaRPr lang="zh-CN" altLang="en-US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教学形式：</a:t>
            </a:r>
            <a:r>
              <a:rPr lang="zh-CN" altLang="en-US" sz="2400" dirty="0">
                <a:latin typeface="宋体" panose="02010600030101010101" pitchFamily="2" charset="-122"/>
              </a:rPr>
              <a:t>讲课，辅导，网上、定时和现场答疑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学时安排：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学分，共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学时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教学内容</a:t>
            </a:r>
            <a:r>
              <a:rPr lang="zh-CN" altLang="en-US" sz="2800" dirty="0"/>
              <a:t> </a:t>
            </a:r>
            <a:endParaRPr lang="zh-CN" altLang="en-US" sz="2800" dirty="0"/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第一章：前言和基本知识介绍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第二章  逻辑代数和化简方法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学时）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第三章：门电路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第四章：组合逻辑电路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第五章：时序逻辑电路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第六章：可编程逻辑电路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数字逻辑电路课程总复习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2B64-5C23-4F15-9F94-D7B6C40B0DDB}" type="slidenum">
              <a:rPr lang="en-US" altLang="zh-CN"/>
            </a:fld>
            <a:endParaRPr lang="en-US" altLang="zh-CN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576" y="1412776"/>
            <a:ext cx="7931224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2.1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2.3 </a:t>
            </a:r>
            <a:r>
              <a:rPr lang="zh-CN" altLang="en-US" dirty="0">
                <a:solidFill>
                  <a:srgbClr val="00B0F0"/>
                </a:solidFill>
              </a:rPr>
              <a:t>图解法</a:t>
            </a:r>
            <a:r>
              <a:rPr lang="en-US" altLang="zh-CN" dirty="0">
                <a:solidFill>
                  <a:srgbClr val="00B0F0"/>
                </a:solidFill>
              </a:rPr>
              <a:t>(</a:t>
            </a:r>
            <a:r>
              <a:rPr lang="zh-CN" altLang="en-US" dirty="0">
                <a:solidFill>
                  <a:srgbClr val="00B0F0"/>
                </a:solidFill>
              </a:rPr>
              <a:t>卡诺图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  <a:r>
              <a:rPr lang="zh-CN" altLang="en-US" dirty="0">
                <a:solidFill>
                  <a:srgbClr val="00B0F0"/>
                </a:solidFill>
              </a:rPr>
              <a:t>化简逻辑函数</a:t>
            </a:r>
            <a:endParaRPr lang="zh-CN" alt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2B64-5C23-4F15-9F94-D7B6C40B0DDB}" type="slidenum">
              <a:rPr lang="en-US" altLang="zh-CN"/>
            </a:fld>
            <a:endParaRPr lang="en-US" altLang="zh-CN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576" y="1412776"/>
            <a:ext cx="7931224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公式法化简的问题：</a:t>
            </a:r>
            <a:endParaRPr lang="en-US" altLang="zh-CN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1" r="52302" b="25768"/>
          <a:stretch>
            <a:fillRect/>
          </a:stretch>
        </p:blipFill>
        <p:spPr bwMode="auto">
          <a:xfrm>
            <a:off x="7607819" y="2816736"/>
            <a:ext cx="560790" cy="63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>
            <a:fillRect/>
          </a:stretch>
        </p:blipFill>
        <p:spPr bwMode="auto">
          <a:xfrm>
            <a:off x="7607819" y="3528302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>
            <a:fillRect/>
          </a:stretch>
        </p:blipFill>
        <p:spPr bwMode="auto">
          <a:xfrm>
            <a:off x="7607819" y="5013176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>
            <a:fillRect/>
          </a:stretch>
        </p:blipFill>
        <p:spPr bwMode="auto">
          <a:xfrm>
            <a:off x="7611610" y="5731598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313189" y="2952047"/>
                <a:ext cx="4945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𝐵𝐶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b="0" i="1" dirty="0"/>
                  <a:t>CD</a:t>
                </a:r>
                <a:endParaRPr lang="en-US" altLang="zh-CN" b="0" i="1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2952047"/>
                <a:ext cx="494596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0" t="-154" r="10" b="-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313189" y="5874167"/>
                <a:ext cx="2613985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en-US" altLang="zh-CN" b="0" i="1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5874167"/>
                <a:ext cx="2613985" cy="370101"/>
              </a:xfrm>
              <a:prstGeom prst="rect">
                <a:avLst/>
              </a:prstGeom>
              <a:blipFill rotWithShape="1">
                <a:blip r:embed="rId3"/>
                <a:stretch>
                  <a:fillRect l="-20" t="-113" r="-332" b="-1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2384944" y="5157489"/>
                <a:ext cx="2463800" cy="377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altLang="zh-CN" b="0" i="1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944" y="5157489"/>
                <a:ext cx="2463800" cy="377825"/>
              </a:xfrm>
              <a:prstGeom prst="rect">
                <a:avLst/>
              </a:prstGeom>
              <a:blipFill rotWithShape="1">
                <a:blip r:embed="rId4"/>
                <a:stretch>
                  <a:fillRect l="-21" t="-5" r="-3407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313189" y="3672127"/>
                <a:ext cx="42091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𝐵𝐶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b="0" i="1" dirty="0"/>
                  <a:t>CD</a:t>
                </a:r>
                <a:endParaRPr lang="en-US" altLang="zh-CN" b="0" i="1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3672127"/>
                <a:ext cx="420916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" t="-151" r="6" b="-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130422" y="4397776"/>
            <a:ext cx="4972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某个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化简后有两种结果，哪个对？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30422" y="2204864"/>
            <a:ext cx="4655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某个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化简后结果如下，对不对？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8D08-40DB-47EA-8B7F-87A62E4806D9}" type="slidenum">
              <a:rPr lang="en-US" altLang="zh-CN"/>
            </a:fld>
            <a:endParaRPr lang="en-US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公式法化简的缺点</a:t>
            </a:r>
            <a:endParaRPr lang="zh-CN" altLang="en-US" dirty="0"/>
          </a:p>
          <a:p>
            <a:pPr lvl="2"/>
            <a:r>
              <a:rPr lang="zh-CN" altLang="en-US" dirty="0"/>
              <a:t>需要掌握计算技巧，容易出错；</a:t>
            </a:r>
            <a:endParaRPr lang="zh-CN" altLang="en-US" dirty="0"/>
          </a:p>
          <a:p>
            <a:pPr lvl="2"/>
            <a:r>
              <a:rPr lang="zh-CN" altLang="en-US" dirty="0"/>
              <a:t>不容易判断结果是否为最简；</a:t>
            </a:r>
            <a:endParaRPr lang="zh-CN" altLang="en-US" dirty="0"/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304800" y="3810000"/>
            <a:ext cx="82296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图解法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优点：直观明了，过程简单，可从图中直接求出最简表达式；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缺点：函数变量不能太多，一般为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个或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个变量，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个有点困难；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个变量以上用卡诺图化简比较困难。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403985" y="2734310"/>
          <a:ext cx="4231640" cy="3423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910"/>
                <a:gridCol w="1057910"/>
                <a:gridCol w="1057910"/>
                <a:gridCol w="1057910"/>
              </a:tblGrid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A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B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C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F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0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  <a:tr h="380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1</a:t>
                      </a:r>
                      <a:endParaRPr lang="en-US" altLang="zh-CN" b="1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4572000" y="2749550"/>
            <a:ext cx="15240" cy="3415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130C-36C4-44D4-9C01-88986EF71F30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243" name="Rectangle 3"/>
              <p:cNvSpPr>
                <a:spLocks noGrp="1" noChangeArrowheads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/>
                  <a:t>概念的引入</a:t>
                </a:r>
                <a:endParaRPr lang="zh-CN" altLang="en-US"/>
              </a:p>
              <a:p>
                <a:pPr lvl="1"/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𝐹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𝐴𝐵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𝐴𝐵𝐶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altLang="zh-CN" sz="2800" b="0" i="1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8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1"/>
                <a:stretch>
                  <a:fillRect t="-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1531620" y="3140710"/>
            <a:ext cx="4048760" cy="3600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531620" y="3860800"/>
            <a:ext cx="4048760" cy="3600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1620" y="5444490"/>
            <a:ext cx="4048760" cy="3600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531620" y="5745480"/>
            <a:ext cx="4048760" cy="3600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94400" y="2791460"/>
            <a:ext cx="3048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ABC</a:t>
            </a:r>
            <a:r>
              <a:rPr lang="zh-CN" altLang="en-US">
                <a:solidFill>
                  <a:srgbClr val="FF0000"/>
                </a:solidFill>
              </a:rPr>
              <a:t>为</a:t>
            </a:r>
            <a:r>
              <a:rPr lang="en-US" altLang="zh-CN">
                <a:solidFill>
                  <a:srgbClr val="FF0000"/>
                </a:solidFill>
              </a:rPr>
              <a:t>000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010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110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111</a:t>
            </a:r>
            <a:r>
              <a:rPr lang="zh-CN" altLang="en-US">
                <a:solidFill>
                  <a:srgbClr val="FF0000"/>
                </a:solidFill>
              </a:rPr>
              <a:t>时，</a:t>
            </a:r>
            <a:r>
              <a:rPr lang="en-US" altLang="zh-CN">
                <a:solidFill>
                  <a:srgbClr val="FF0000"/>
                </a:solidFill>
              </a:rPr>
              <a:t>F=1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94400" y="4939030"/>
            <a:ext cx="3048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3855E4"/>
                </a:solidFill>
              </a:rPr>
              <a:t>ABC</a:t>
            </a:r>
            <a:r>
              <a:rPr lang="zh-CN" altLang="en-US">
                <a:solidFill>
                  <a:srgbClr val="3855E4"/>
                </a:solidFill>
              </a:rPr>
              <a:t>为</a:t>
            </a:r>
            <a:r>
              <a:rPr lang="en-US" altLang="zh-CN">
                <a:solidFill>
                  <a:srgbClr val="3855E4"/>
                </a:solidFill>
              </a:rPr>
              <a:t>001</a:t>
            </a:r>
            <a:r>
              <a:rPr lang="zh-CN" altLang="en-US">
                <a:solidFill>
                  <a:srgbClr val="3855E4"/>
                </a:solidFill>
              </a:rPr>
              <a:t>、</a:t>
            </a:r>
            <a:r>
              <a:rPr lang="en-US" altLang="zh-CN">
                <a:solidFill>
                  <a:srgbClr val="3855E4"/>
                </a:solidFill>
              </a:rPr>
              <a:t>011</a:t>
            </a:r>
            <a:r>
              <a:rPr lang="zh-CN" altLang="en-US">
                <a:solidFill>
                  <a:srgbClr val="3855E4"/>
                </a:solidFill>
              </a:rPr>
              <a:t>、</a:t>
            </a:r>
            <a:r>
              <a:rPr lang="en-US" altLang="zh-CN">
                <a:solidFill>
                  <a:srgbClr val="3855E4"/>
                </a:solidFill>
              </a:rPr>
              <a:t>100</a:t>
            </a:r>
            <a:r>
              <a:rPr lang="zh-CN" altLang="en-US">
                <a:solidFill>
                  <a:srgbClr val="3855E4"/>
                </a:solidFill>
              </a:rPr>
              <a:t>、</a:t>
            </a:r>
            <a:r>
              <a:rPr lang="en-US" altLang="zh-CN">
                <a:solidFill>
                  <a:srgbClr val="3855E4"/>
                </a:solidFill>
              </a:rPr>
              <a:t>101</a:t>
            </a:r>
            <a:r>
              <a:rPr lang="zh-CN" altLang="en-US">
                <a:solidFill>
                  <a:srgbClr val="3855E4"/>
                </a:solidFill>
              </a:rPr>
              <a:t>时，</a:t>
            </a:r>
            <a:r>
              <a:rPr lang="en-US" altLang="zh-CN">
                <a:solidFill>
                  <a:srgbClr val="3855E4"/>
                </a:solidFill>
              </a:rPr>
              <a:t>F=0</a:t>
            </a:r>
            <a:endParaRPr lang="en-US" altLang="zh-CN">
              <a:solidFill>
                <a:srgbClr val="3855E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068641" y="6237542"/>
                <a:ext cx="7618095" cy="4692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3855E4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𝐹</m:t>
                      </m:r>
                      <m:r>
                        <a:rPr lang="en-US" altLang="zh-CN" i="1">
                          <a:solidFill>
                            <a:srgbClr val="3855E4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ctrlP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solidFill>
                                <a:srgbClr val="3855E4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3855E4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i="1">
                  <a:solidFill>
                    <a:srgbClr val="3855E4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41" y="6237542"/>
                <a:ext cx="7618095" cy="469265"/>
              </a:xfrm>
              <a:prstGeom prst="rect">
                <a:avLst/>
              </a:prstGeom>
              <a:blipFill rotWithShape="1">
                <a:blip r:embed="rId2"/>
                <a:stretch>
                  <a:fillRect l="-7" t="-122" r="7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531620" y="3500755"/>
            <a:ext cx="4048760" cy="360045"/>
          </a:xfrm>
          <a:prstGeom prst="rect">
            <a:avLst/>
          </a:prstGeom>
          <a:noFill/>
          <a:ln w="28575">
            <a:solidFill>
              <a:srgbClr val="3855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531620" y="4292600"/>
            <a:ext cx="4048760" cy="360045"/>
          </a:xfrm>
          <a:prstGeom prst="rect">
            <a:avLst/>
          </a:prstGeom>
          <a:noFill/>
          <a:ln w="28575">
            <a:solidFill>
              <a:srgbClr val="3855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531620" y="4651375"/>
            <a:ext cx="4048760" cy="360045"/>
          </a:xfrm>
          <a:prstGeom prst="rect">
            <a:avLst/>
          </a:prstGeom>
          <a:noFill/>
          <a:ln w="28575">
            <a:solidFill>
              <a:srgbClr val="3855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531620" y="5013325"/>
            <a:ext cx="4048760" cy="360045"/>
          </a:xfrm>
          <a:prstGeom prst="rect">
            <a:avLst/>
          </a:prstGeom>
          <a:noFill/>
          <a:ln w="28575">
            <a:solidFill>
              <a:srgbClr val="3855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5796280" y="2420620"/>
            <a:ext cx="215900" cy="3816985"/>
          </a:xfrm>
          <a:prstGeom prst="straightConnector1">
            <a:avLst/>
          </a:prstGeom>
          <a:ln w="31750" cap="sq" cmpd="dbl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994400" y="403352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使用德摩根定律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泪滴形 18"/>
          <p:cNvSpPr/>
          <p:nvPr/>
        </p:nvSpPr>
        <p:spPr>
          <a:xfrm>
            <a:off x="7380605" y="1917065"/>
            <a:ext cx="935990" cy="647700"/>
          </a:xfrm>
          <a:prstGeom prst="teardrop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泪滴形 19"/>
          <p:cNvSpPr/>
          <p:nvPr/>
        </p:nvSpPr>
        <p:spPr>
          <a:xfrm>
            <a:off x="6734810" y="6148070"/>
            <a:ext cx="1616710" cy="647700"/>
          </a:xfrm>
          <a:prstGeom prst="teardrop">
            <a:avLst/>
          </a:prstGeom>
          <a:noFill/>
          <a:ln>
            <a:solidFill>
              <a:srgbClr val="3855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68895" y="1412875"/>
            <a:ext cx="1139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最小项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4795" y="5645150"/>
            <a:ext cx="1139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3855E4"/>
                </a:solidFill>
                <a:latin typeface="微软雅黑" panose="020B0503020204020204" charset="-122"/>
                <a:ea typeface="微软雅黑" panose="020B0503020204020204" charset="-122"/>
              </a:rPr>
              <a:t>最大项</a:t>
            </a:r>
            <a:endParaRPr lang="zh-CN" altLang="en-US" b="1">
              <a:solidFill>
                <a:srgbClr val="3855E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4" grpId="1" animBg="1"/>
      <p:bldP spid="3" grpId="1" animBg="1"/>
      <p:bldP spid="5" grpId="1" animBg="1"/>
      <p:bldP spid="7" grpId="1" animBg="1"/>
      <p:bldP spid="9" grpId="0"/>
      <p:bldP spid="9" grpId="1"/>
      <p:bldP spid="10" grpId="0"/>
      <p:bldP spid="10" grpId="1"/>
      <p:bldP spid="11" grpId="0"/>
      <p:bldP spid="11" grpId="1"/>
      <p:bldP spid="12" grpId="0" bldLvl="0" animBg="1"/>
      <p:bldP spid="12" grpId="1" animBg="1"/>
      <p:bldP spid="13" grpId="0" bldLvl="0" animBg="1"/>
      <p:bldP spid="13" grpId="1" animBg="1"/>
      <p:bldP spid="14" grpId="0" bldLvl="0" animBg="1"/>
      <p:bldP spid="14" grpId="1" animBg="1"/>
      <p:bldP spid="15" grpId="0" bldLvl="0" animBg="1"/>
      <p:bldP spid="15" grpId="1" animBg="1"/>
      <p:bldP spid="17" grpId="0"/>
      <p:bldP spid="17" grpId="1"/>
      <p:bldP spid="19" grpId="0" animBg="1"/>
      <p:bldP spid="21" grpId="0"/>
      <p:bldP spid="19" grpId="1" animBg="1"/>
      <p:bldP spid="21" grpId="1"/>
      <p:bldP spid="22" grpId="0"/>
      <p:bldP spid="20" grpId="0" bldLvl="0" animBg="1"/>
      <p:bldP spid="22" grpId="1"/>
      <p:bldP spid="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130C-36C4-44D4-9C01-88986EF71F30}" type="slidenum">
              <a:rPr lang="en-US" altLang="zh-CN"/>
            </a:fld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逻辑代数中的两个重要概念</a:t>
            </a:r>
            <a:endParaRPr lang="zh-CN" altLang="en-US"/>
          </a:p>
          <a:p>
            <a:pPr lvl="2"/>
            <a:r>
              <a:rPr lang="zh-CN" altLang="en-US"/>
              <a:t>最小项（</a:t>
            </a:r>
            <a:r>
              <a:rPr lang="en-US" altLang="zh-CN"/>
              <a:t>MinTerm</a:t>
            </a:r>
            <a:r>
              <a:rPr lang="zh-CN" altLang="en-US"/>
              <a:t>）</a:t>
            </a:r>
            <a:endParaRPr lang="zh-CN" altLang="en-US"/>
          </a:p>
          <a:p>
            <a:pPr lvl="2"/>
            <a:r>
              <a:rPr lang="zh-CN" altLang="en-US"/>
              <a:t>最大项（</a:t>
            </a:r>
            <a:r>
              <a:rPr lang="en-US" altLang="zh-CN"/>
              <a:t>MaxTerm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6A68-93E4-4660-A9E0-E5798E561D1E}" type="slidenum">
              <a:rPr lang="en-US" altLang="zh-CN"/>
            </a:fld>
            <a:endParaRPr lang="en-US" altLang="zh-CN"/>
          </a:p>
        </p:txBody>
      </p:sp>
      <p:sp>
        <p:nvSpPr>
          <p:cNvPr id="139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sz="2800" dirty="0"/>
              <a:t>最小项的定义</a:t>
            </a:r>
            <a:endParaRPr lang="zh-CN" altLang="en-US" sz="2800" dirty="0"/>
          </a:p>
          <a:p>
            <a:pPr lvl="2"/>
            <a:r>
              <a:rPr lang="zh-CN" altLang="en-US" dirty="0"/>
              <a:t>设一个逻辑函数表达式中有</a:t>
            </a:r>
            <a:r>
              <a:rPr lang="en-US" altLang="zh-CN" dirty="0"/>
              <a:t>n</a:t>
            </a:r>
            <a:r>
              <a:rPr lang="zh-CN" altLang="en-US" dirty="0"/>
              <a:t>个变量，由它们组成的具有</a:t>
            </a:r>
            <a:r>
              <a:rPr lang="en-US" altLang="zh-CN" dirty="0"/>
              <a:t>n</a:t>
            </a:r>
            <a:r>
              <a:rPr lang="zh-CN" altLang="en-US" dirty="0"/>
              <a:t>个变量的“</a:t>
            </a:r>
            <a:r>
              <a:rPr lang="zh-CN" altLang="en-US" dirty="0">
                <a:solidFill>
                  <a:srgbClr val="FF0000"/>
                </a:solidFill>
              </a:rPr>
              <a:t>与项</a:t>
            </a:r>
            <a:r>
              <a:rPr lang="zh-CN" altLang="en-US" b="1" dirty="0"/>
              <a:t>”</a:t>
            </a:r>
            <a:r>
              <a:rPr lang="zh-CN" altLang="en-US" dirty="0"/>
              <a:t>中，</a:t>
            </a:r>
            <a:r>
              <a:rPr lang="zh-CN" altLang="en-US" dirty="0">
                <a:solidFill>
                  <a:srgbClr val="FF0000"/>
                </a:solidFill>
              </a:rPr>
              <a:t>每个变量以原变量或反变量的形式出现且仅出现一次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r>
              <a:rPr lang="zh-CN" altLang="en-US" dirty="0"/>
              <a:t>这个与项为</a:t>
            </a:r>
            <a:r>
              <a:rPr lang="zh-CN" altLang="en-US" dirty="0">
                <a:solidFill>
                  <a:srgbClr val="FF0000"/>
                </a:solidFill>
              </a:rPr>
              <a:t>最小项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143000" y="4318595"/>
            <a:ext cx="64475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例如：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n=3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，对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，有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个最小项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1428750" y="4928195"/>
          <a:ext cx="47625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公式" r:id="rId1" imgW="1587500" imgH="508000" progId="Equation.3">
                  <p:embed/>
                </p:oleObj>
              </mc:Choice>
              <mc:Fallback>
                <p:oleObj name="公式" r:id="rId1" imgW="1587500" imgH="508000" progId="Equation.3">
                  <p:embed/>
                  <p:pic>
                    <p:nvPicPr>
                      <p:cNvPr id="0" name="图片 307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928195"/>
                        <a:ext cx="4762500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31D28-C372-44E1-9F87-507D1A276BBA}" type="slidenum">
              <a:rPr lang="en-US" altLang="zh-CN">
                <a:latin typeface="方正姚体" panose="02010601030101010101" pitchFamily="2" charset="-122"/>
                <a:ea typeface="方正姚体" panose="02010601030101010101" pitchFamily="2" charset="-122"/>
              </a:rPr>
            </a:fld>
            <a:endParaRPr lang="en-US" altLang="zh-CN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最小项的性质</a:t>
            </a:r>
            <a:endParaRPr lang="zh-CN" altLang="en-US" dirty="0"/>
          </a:p>
          <a:p>
            <a:pPr lvl="1"/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  <a:p>
            <a:endParaRPr lang="en-US" altLang="zh-CN" dirty="0"/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28600" y="274320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143000" lvl="2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个变量有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个最小项。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228600" y="3216275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对任意最小项，只有一组变量取值使它的值为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，其他取值使该最小项为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228600" y="4054475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任何逻辑函数均可表示为唯一的一组最小项</a:t>
            </a:r>
            <a:r>
              <a:rPr lang="zh-CN" altLang="en-US" strike="sngStrike" dirty="0">
                <a:latin typeface="华文新魏" panose="02010800040101010101" pitchFamily="2" charset="-122"/>
                <a:ea typeface="华文新魏" panose="02010800040101010101" pitchFamily="2" charset="-122"/>
              </a:rPr>
              <a:t>之和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（与或），称为标准的与或表达式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228600" y="4968875"/>
            <a:ext cx="861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某一最小项不是包含在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的原函数中，就是包含在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的反函数中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220663" y="5867400"/>
            <a:ext cx="7184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个变量全体最小项</a:t>
            </a:r>
            <a:r>
              <a:rPr lang="zh-CN" altLang="en-US" strike="sngStrike" dirty="0">
                <a:latin typeface="华文新魏" panose="02010800040101010101" pitchFamily="2" charset="-122"/>
                <a:ea typeface="华文新魏" panose="02010800040101010101" pitchFamily="2" charset="-122"/>
              </a:rPr>
              <a:t>之和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（与或）必为“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autoUpdateAnimBg="0"/>
      <p:bldP spid="140296" grpId="0" autoUpdateAnimBg="0"/>
      <p:bldP spid="140297" grpId="0" autoUpdateAnimBg="0"/>
      <p:bldP spid="140298" grpId="0" autoUpdateAnimBg="0"/>
      <p:bldP spid="14029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1940-878E-40E0-8255-C28034A94B19}" type="slidenum">
              <a:rPr lang="en-US" altLang="zh-CN"/>
            </a:fld>
            <a:endParaRPr lang="en-US" altLang="zh-CN"/>
          </a:p>
        </p:txBody>
      </p:sp>
      <p:sp>
        <p:nvSpPr>
          <p:cNvPr id="141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>
              <a:spcBef>
                <a:spcPct val="20000"/>
              </a:spcBef>
            </a:pPr>
            <a:r>
              <a:rPr lang="zh-CN" altLang="en-US"/>
              <a:t>最小项的表示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304800" y="2590800"/>
            <a:ext cx="8001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236980" lvl="2" indent="-32258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将最小项表示为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是对应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进制表示的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进制数值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28600" y="3429000"/>
            <a:ext cx="87318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应用举例：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n=3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个最小项为（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为高位，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低位）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1179513" y="4008438"/>
          <a:ext cx="15335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0" name="公式" r:id="rId1" imgW="723900" imgH="254000" progId="Equation.3">
                  <p:embed/>
                </p:oleObj>
              </mc:Choice>
              <mc:Fallback>
                <p:oleObj name="公式" r:id="rId1" imgW="723900" imgH="254000" progId="Equation.3">
                  <p:embed/>
                  <p:pic>
                    <p:nvPicPr>
                      <p:cNvPr id="0" name="图片 32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008438"/>
                        <a:ext cx="1533525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0" name="Object 8"/>
          <p:cNvGraphicFramePr>
            <a:graphicFrameLocks noChangeAspect="1"/>
          </p:cNvGraphicFramePr>
          <p:nvPr/>
        </p:nvGraphicFramePr>
        <p:xfrm>
          <a:off x="2779713" y="3987800"/>
          <a:ext cx="152876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1" name="公式" r:id="rId3" imgW="711200" imgH="254000" progId="Equation.3">
                  <p:embed/>
                </p:oleObj>
              </mc:Choice>
              <mc:Fallback>
                <p:oleObj name="公式" r:id="rId3" imgW="711200" imgH="254000" progId="Equation.3">
                  <p:embed/>
                  <p:pic>
                    <p:nvPicPr>
                      <p:cNvPr id="0" name="图片 32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3987800"/>
                        <a:ext cx="1528762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1" name="Object 9"/>
          <p:cNvGraphicFramePr>
            <a:graphicFrameLocks noChangeAspect="1"/>
          </p:cNvGraphicFramePr>
          <p:nvPr/>
        </p:nvGraphicFramePr>
        <p:xfrm>
          <a:off x="4379913" y="3948113"/>
          <a:ext cx="150971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2" name="公式" r:id="rId5" imgW="711200" imgH="254000" progId="Equation.3">
                  <p:embed/>
                </p:oleObj>
              </mc:Choice>
              <mc:Fallback>
                <p:oleObj name="公式" r:id="rId5" imgW="711200" imgH="254000" progId="Equation.3">
                  <p:embed/>
                  <p:pic>
                    <p:nvPicPr>
                      <p:cNvPr id="0" name="图片 32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913" y="3948113"/>
                        <a:ext cx="1509712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2" name="Object 10"/>
          <p:cNvGraphicFramePr>
            <a:graphicFrameLocks noChangeAspect="1"/>
          </p:cNvGraphicFramePr>
          <p:nvPr/>
        </p:nvGraphicFramePr>
        <p:xfrm>
          <a:off x="6054725" y="3962400"/>
          <a:ext cx="15303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3" name="公式" r:id="rId7" imgW="711200" imgH="254000" progId="Equation.3">
                  <p:embed/>
                </p:oleObj>
              </mc:Choice>
              <mc:Fallback>
                <p:oleObj name="公式" r:id="rId7" imgW="711200" imgH="254000" progId="Equation.3">
                  <p:embed/>
                  <p:pic>
                    <p:nvPicPr>
                      <p:cNvPr id="0" name="图片 32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3962400"/>
                        <a:ext cx="153035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11"/>
          <p:cNvGraphicFramePr>
            <a:graphicFrameLocks noChangeAspect="1"/>
          </p:cNvGraphicFramePr>
          <p:nvPr/>
        </p:nvGraphicFramePr>
        <p:xfrm>
          <a:off x="1179513" y="4710113"/>
          <a:ext cx="1508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4" name="公式" r:id="rId9" imgW="711200" imgH="254000" progId="Equation.3">
                  <p:embed/>
                </p:oleObj>
              </mc:Choice>
              <mc:Fallback>
                <p:oleObj name="公式" r:id="rId9" imgW="711200" imgH="254000" progId="Equation.3">
                  <p:embed/>
                  <p:pic>
                    <p:nvPicPr>
                      <p:cNvPr id="0" name="图片 32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710113"/>
                        <a:ext cx="15081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4" name="Object 12"/>
          <p:cNvGraphicFramePr>
            <a:graphicFrameLocks noChangeAspect="1"/>
          </p:cNvGraphicFramePr>
          <p:nvPr/>
        </p:nvGraphicFramePr>
        <p:xfrm>
          <a:off x="2779713" y="4714875"/>
          <a:ext cx="15065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5" name="公式" r:id="rId11" imgW="711200" imgH="254000" progId="Equation.3">
                  <p:embed/>
                </p:oleObj>
              </mc:Choice>
              <mc:Fallback>
                <p:oleObj name="公式" r:id="rId11" imgW="711200" imgH="254000" progId="Equation.3">
                  <p:embed/>
                  <p:pic>
                    <p:nvPicPr>
                      <p:cNvPr id="0" name="图片 32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4714875"/>
                        <a:ext cx="1506537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5" name="Object 13"/>
          <p:cNvGraphicFramePr>
            <a:graphicFrameLocks noChangeAspect="1"/>
          </p:cNvGraphicFramePr>
          <p:nvPr/>
        </p:nvGraphicFramePr>
        <p:xfrm>
          <a:off x="4392613" y="4648200"/>
          <a:ext cx="14827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6" name="公式" r:id="rId13" imgW="698500" imgH="254000" progId="Equation.3">
                  <p:embed/>
                </p:oleObj>
              </mc:Choice>
              <mc:Fallback>
                <p:oleObj name="公式" r:id="rId13" imgW="698500" imgH="254000" progId="Equation.3">
                  <p:embed/>
                  <p:pic>
                    <p:nvPicPr>
                      <p:cNvPr id="0" name="图片 32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648200"/>
                        <a:ext cx="1482725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6" name="Object 14"/>
          <p:cNvGraphicFramePr>
            <a:graphicFrameLocks noChangeAspect="1"/>
          </p:cNvGraphicFramePr>
          <p:nvPr/>
        </p:nvGraphicFramePr>
        <p:xfrm>
          <a:off x="6005513" y="4648200"/>
          <a:ext cx="16303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7" name="公式" r:id="rId15" imgW="698500" imgH="228600" progId="Equation.3">
                  <p:embed/>
                </p:oleObj>
              </mc:Choice>
              <mc:Fallback>
                <p:oleObj name="公式" r:id="rId15" imgW="698500" imgH="228600" progId="Equation.3">
                  <p:embed/>
                  <p:pic>
                    <p:nvPicPr>
                      <p:cNvPr id="0" name="图片 32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3" y="4648200"/>
                        <a:ext cx="163036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autoUpdateAnimBg="0"/>
      <p:bldP spid="14131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8AD69-6216-4E64-973B-FF3BB13AE06E}" type="slidenum">
              <a:rPr lang="en-US" altLang="zh-CN"/>
            </a:fld>
            <a:endParaRPr lang="en-US" altLang="zh-CN"/>
          </a:p>
        </p:txBody>
      </p:sp>
      <p:sp>
        <p:nvSpPr>
          <p:cNvPr id="142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举例：用最小项表示一个函数</a:t>
            </a:r>
            <a:endParaRPr lang="zh-CN" altLang="en-US" dirty="0"/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2483768" y="2971800"/>
          <a:ext cx="3327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5" name="公式" r:id="rId1" imgW="1434465" imgH="215900" progId="Equation.3">
                  <p:embed/>
                </p:oleObj>
              </mc:Choice>
              <mc:Fallback>
                <p:oleObj name="公式" r:id="rId1" imgW="1434465" imgH="215900" progId="Equation.3">
                  <p:embed/>
                  <p:pic>
                    <p:nvPicPr>
                      <p:cNvPr id="0" name="图片 330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971800"/>
                        <a:ext cx="33274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/>
        </p:nvGraphicFramePr>
        <p:xfrm>
          <a:off x="2915816" y="3505200"/>
          <a:ext cx="51530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6" name="公式" r:id="rId3" imgW="2222500" imgH="241300" progId="Equation.3">
                  <p:embed/>
                </p:oleObj>
              </mc:Choice>
              <mc:Fallback>
                <p:oleObj name="公式" r:id="rId3" imgW="2222500" imgH="241300" progId="Equation.3">
                  <p:embed/>
                  <p:pic>
                    <p:nvPicPr>
                      <p:cNvPr id="0" name="图片 330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505200"/>
                        <a:ext cx="5153025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2918867" y="4114800"/>
          <a:ext cx="43894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7" name="公式" r:id="rId5" imgW="1892300" imgH="215900" progId="Equation.3">
                  <p:embed/>
                </p:oleObj>
              </mc:Choice>
              <mc:Fallback>
                <p:oleObj name="公式" r:id="rId5" imgW="1892300" imgH="215900" progId="Equation.3">
                  <p:embed/>
                  <p:pic>
                    <p:nvPicPr>
                      <p:cNvPr id="0" name="图片 330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867" y="4114800"/>
                        <a:ext cx="4389437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3" name="Object 7"/>
          <p:cNvGraphicFramePr>
            <a:graphicFrameLocks noChangeAspect="1"/>
          </p:cNvGraphicFramePr>
          <p:nvPr/>
        </p:nvGraphicFramePr>
        <p:xfrm>
          <a:off x="2916088" y="4727575"/>
          <a:ext cx="32400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8" name="公式" r:id="rId7" imgW="1397000" imgH="228600" progId="Equation.3">
                  <p:embed/>
                </p:oleObj>
              </mc:Choice>
              <mc:Fallback>
                <p:oleObj name="公式" r:id="rId7" imgW="1397000" imgH="228600" progId="Equation.3">
                  <p:embed/>
                  <p:pic>
                    <p:nvPicPr>
                      <p:cNvPr id="0" name="图片 330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088" y="4727575"/>
                        <a:ext cx="324008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4" name="Object 8"/>
          <p:cNvGraphicFramePr>
            <a:graphicFrameLocks noChangeAspect="1"/>
          </p:cNvGraphicFramePr>
          <p:nvPr/>
        </p:nvGraphicFramePr>
        <p:xfrm>
          <a:off x="2943225" y="5319713"/>
          <a:ext cx="2414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9" name="公式" r:id="rId9" imgW="1040765" imgH="266700" progId="Equation.3">
                  <p:embed/>
                </p:oleObj>
              </mc:Choice>
              <mc:Fallback>
                <p:oleObj name="公式" r:id="rId9" imgW="1040765" imgH="266700" progId="Equation.3">
                  <p:embed/>
                  <p:pic>
                    <p:nvPicPr>
                      <p:cNvPr id="0" name="图片 330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5319713"/>
                        <a:ext cx="24145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C9B4-309A-4677-9209-2FBA64A86664}" type="slidenum">
              <a:rPr lang="en-US" altLang="zh-CN"/>
            </a:fld>
            <a:endParaRPr lang="en-US" altLang="zh-CN"/>
          </a:p>
        </p:txBody>
      </p:sp>
      <p:sp>
        <p:nvSpPr>
          <p:cNvPr id="143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最大项的定义</a:t>
            </a:r>
            <a:endParaRPr lang="zh-CN" altLang="en-US" dirty="0"/>
          </a:p>
          <a:p>
            <a:pPr lvl="2"/>
            <a:r>
              <a:rPr lang="zh-CN" altLang="en-US" sz="2400" dirty="0"/>
              <a:t>设一个逻辑函数表达式中有</a:t>
            </a:r>
            <a:r>
              <a:rPr lang="en-US" altLang="zh-CN" sz="2400" dirty="0"/>
              <a:t>n</a:t>
            </a:r>
            <a:r>
              <a:rPr lang="zh-CN" altLang="en-US" sz="2400" dirty="0"/>
              <a:t>个变量，由他们组成的具有</a:t>
            </a:r>
            <a:r>
              <a:rPr lang="en-US" altLang="zh-CN" sz="2400" dirty="0"/>
              <a:t>n</a:t>
            </a:r>
            <a:r>
              <a:rPr lang="zh-CN" altLang="en-US" sz="2400" dirty="0"/>
              <a:t>个变量的</a:t>
            </a:r>
            <a:r>
              <a:rPr lang="zh-CN" altLang="en-US" sz="2400" dirty="0">
                <a:solidFill>
                  <a:srgbClr val="FF0000"/>
                </a:solidFill>
              </a:rPr>
              <a:t>或项</a:t>
            </a:r>
            <a:r>
              <a:rPr lang="zh-CN" altLang="en-US" sz="2400" dirty="0"/>
              <a:t>中，每个变量以原变量或反变量的形式出现且仅出现一次，则称这个项为最大项。</a:t>
            </a:r>
            <a:endParaRPr lang="zh-CN" altLang="en-US" sz="2400" dirty="0"/>
          </a:p>
          <a:p>
            <a:endParaRPr lang="en-US" altLang="zh-CN" dirty="0"/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1219200" y="3886200"/>
            <a:ext cx="37625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例如：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n=3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的最大项为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1341438" y="4343400"/>
          <a:ext cx="5681662" cy="226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公式" r:id="rId1" imgW="2362200" imgH="939800" progId="Equation.3">
                  <p:embed/>
                </p:oleObj>
              </mc:Choice>
              <mc:Fallback>
                <p:oleObj name="公式" r:id="rId1" imgW="2362200" imgH="939800" progId="Equation.3">
                  <p:embed/>
                  <p:pic>
                    <p:nvPicPr>
                      <p:cNvPr id="0" name="图片 338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4343400"/>
                        <a:ext cx="5681662" cy="226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C064B-5520-454E-8636-1E50FFF76A76}" type="slidenum">
              <a:rPr lang="en-US" altLang="zh-CN"/>
            </a:fld>
            <a:endParaRPr lang="en-US" altLang="zh-CN"/>
          </a:p>
        </p:txBody>
      </p:sp>
      <p:sp>
        <p:nvSpPr>
          <p:cNvPr id="144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最大项的性质</a:t>
            </a:r>
            <a:endParaRPr lang="zh-CN" altLang="en-US" dirty="0"/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个变量有</a:t>
            </a:r>
            <a:r>
              <a:rPr lang="en-US" altLang="zh-CN" dirty="0">
                <a:ea typeface="幼圆" panose="02010509060101010101" pitchFamily="49" charset="-122"/>
              </a:rPr>
              <a:t>2</a:t>
            </a:r>
            <a:r>
              <a:rPr lang="en-US" altLang="zh-CN" baseline="30000" dirty="0">
                <a:ea typeface="幼圆" panose="02010509060101010101" pitchFamily="49" charset="-122"/>
              </a:rPr>
              <a:t>n</a:t>
            </a:r>
            <a:r>
              <a:rPr lang="zh-CN" altLang="en-US" dirty="0"/>
              <a:t>个最大项。</a:t>
            </a:r>
            <a:endParaRPr lang="zh-CN" altLang="en-US" dirty="0"/>
          </a:p>
          <a:p>
            <a:pPr lvl="2"/>
            <a:r>
              <a:rPr lang="zh-CN" altLang="en-US" dirty="0"/>
              <a:t>对任意最大项，只有一组变量取值使它的值为</a:t>
            </a:r>
            <a:r>
              <a:rPr lang="en-US" altLang="zh-CN" dirty="0"/>
              <a:t>0</a:t>
            </a:r>
            <a:r>
              <a:rPr lang="zh-CN" altLang="en-US" dirty="0"/>
              <a:t>，其他取值使该最大项为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任何逻辑函数均可表示为唯一的一组最大项</a:t>
            </a:r>
            <a:r>
              <a:rPr lang="zh-CN" altLang="en-US" strike="sngStrike" dirty="0"/>
              <a:t>之积</a:t>
            </a:r>
            <a:r>
              <a:rPr lang="zh-CN" altLang="en-US" dirty="0"/>
              <a:t>（或与），称为标准的或与表达式</a:t>
            </a:r>
            <a:endParaRPr lang="zh-CN" altLang="en-US" dirty="0"/>
          </a:p>
          <a:p>
            <a:pPr lvl="2"/>
            <a:r>
              <a:rPr lang="zh-CN" altLang="en-US" dirty="0"/>
              <a:t>某一最大项不是包含在</a:t>
            </a:r>
            <a:r>
              <a:rPr lang="en-US" altLang="zh-CN" dirty="0"/>
              <a:t>F</a:t>
            </a:r>
            <a:r>
              <a:rPr lang="zh-CN" altLang="en-US" dirty="0"/>
              <a:t>的原函数中，就是包含在</a:t>
            </a:r>
            <a:r>
              <a:rPr lang="en-US" altLang="zh-CN" dirty="0"/>
              <a:t>F</a:t>
            </a:r>
            <a:r>
              <a:rPr lang="zh-CN" altLang="en-US" dirty="0"/>
              <a:t>的反函数中</a:t>
            </a:r>
            <a:endParaRPr lang="zh-CN" altLang="en-US" dirty="0"/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个变量全体最大项</a:t>
            </a:r>
            <a:r>
              <a:rPr lang="zh-CN" altLang="en-US" strike="sngStrike" dirty="0"/>
              <a:t>之积</a:t>
            </a:r>
            <a:r>
              <a:rPr lang="zh-CN" altLang="en-US" dirty="0"/>
              <a:t>（或与）必为“</a:t>
            </a:r>
            <a:r>
              <a:rPr lang="en-US" altLang="zh-CN" dirty="0"/>
              <a:t>0”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58FF-0661-4F97-A747-B50949F8F093}" type="slidenum">
              <a:rPr lang="en-US" altLang="zh-CN"/>
            </a:fld>
            <a:endParaRPr lang="en-US" altLang="zh-CN"/>
          </a:p>
        </p:txBody>
      </p:sp>
      <p:sp>
        <p:nvSpPr>
          <p:cNvPr id="145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举例：用最大项表示一个函数</a:t>
            </a:r>
            <a:endParaRPr lang="zh-CN" altLang="en-US" dirty="0"/>
          </a:p>
        </p:txBody>
      </p:sp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584200" y="2819400"/>
          <a:ext cx="45227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3" name="公式" r:id="rId1" imgW="1828800" imgH="241300" progId="Equation.3">
                  <p:embed/>
                </p:oleObj>
              </mc:Choice>
              <mc:Fallback>
                <p:oleObj name="公式" r:id="rId1" imgW="1828800" imgH="241300" progId="Equation.3">
                  <p:embed/>
                  <p:pic>
                    <p:nvPicPr>
                      <p:cNvPr id="0" name="图片 35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2819400"/>
                        <a:ext cx="4522788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6" name="Object 8"/>
          <p:cNvGraphicFramePr>
            <a:graphicFrameLocks noChangeAspect="1"/>
          </p:cNvGraphicFramePr>
          <p:nvPr/>
        </p:nvGraphicFramePr>
        <p:xfrm>
          <a:off x="1060971" y="4876800"/>
          <a:ext cx="25749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4" name="公式" r:id="rId3" imgW="1040765" imgH="228600" progId="Equation.3">
                  <p:embed/>
                </p:oleObj>
              </mc:Choice>
              <mc:Fallback>
                <p:oleObj name="公式" r:id="rId3" imgW="1040765" imgH="228600" progId="Equation.3">
                  <p:embed/>
                  <p:pic>
                    <p:nvPicPr>
                      <p:cNvPr id="0" name="图片 35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971" y="4876800"/>
                        <a:ext cx="2574925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/>
          <p:cNvGraphicFramePr>
            <a:graphicFrameLocks noChangeAspect="1"/>
          </p:cNvGraphicFramePr>
          <p:nvPr/>
        </p:nvGraphicFramePr>
        <p:xfrm>
          <a:off x="1043608" y="3429000"/>
          <a:ext cx="58086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5" name="公式" r:id="rId5" imgW="2349500" imgH="241300" progId="Equation.3">
                  <p:embed/>
                </p:oleObj>
              </mc:Choice>
              <mc:Fallback>
                <p:oleObj name="公式" r:id="rId5" imgW="2349500" imgH="241300" progId="Equation.3">
                  <p:embed/>
                  <p:pic>
                    <p:nvPicPr>
                      <p:cNvPr id="0" name="图片 35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429000"/>
                        <a:ext cx="5808663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8" name="Object 10"/>
          <p:cNvGraphicFramePr>
            <a:graphicFrameLocks noChangeAspect="1"/>
          </p:cNvGraphicFramePr>
          <p:nvPr/>
        </p:nvGraphicFramePr>
        <p:xfrm>
          <a:off x="1053033" y="4114800"/>
          <a:ext cx="71913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6" name="公式" r:id="rId7" imgW="2908300" imgH="241300" progId="Equation.3">
                  <p:embed/>
                </p:oleObj>
              </mc:Choice>
              <mc:Fallback>
                <p:oleObj name="公式" r:id="rId7" imgW="2908300" imgH="241300" progId="Equation.3">
                  <p:embed/>
                  <p:pic>
                    <p:nvPicPr>
                      <p:cNvPr id="0" name="图片 35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033" y="4114800"/>
                        <a:ext cx="7191375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9" name="Object 11"/>
          <p:cNvGraphicFramePr>
            <a:graphicFrameLocks noChangeAspect="1"/>
          </p:cNvGraphicFramePr>
          <p:nvPr/>
        </p:nvGraphicFramePr>
        <p:xfrm>
          <a:off x="1115963" y="5546725"/>
          <a:ext cx="24479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7" name="Equation" r:id="rId9" imgW="23774400" imgH="6400800" progId="Equation.3">
                  <p:embed/>
                </p:oleObj>
              </mc:Choice>
              <mc:Fallback>
                <p:oleObj name="Equation" r:id="rId9" imgW="23774400" imgH="6400800" progId="Equation.3">
                  <p:embed/>
                  <p:pic>
                    <p:nvPicPr>
                      <p:cNvPr id="0" name="图片 35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963" y="5546725"/>
                        <a:ext cx="2447925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EF6C-A172-449B-A1E9-B5572ECB6183}" type="slidenum">
              <a:rPr lang="en-US" altLang="zh-CN"/>
            </a:fld>
            <a:endParaRPr lang="en-US" altLang="zh-CN"/>
          </a:p>
        </p:txBody>
      </p:sp>
      <p:sp>
        <p:nvSpPr>
          <p:cNvPr id="146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最大项与最小项的关系</a:t>
            </a:r>
            <a:endParaRPr lang="zh-CN" altLang="en-US" dirty="0"/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762000" y="2765425"/>
            <a:ext cx="8051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sz="2600" dirty="0"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rPr>
              <a:t>）对于所有的</a:t>
            </a:r>
            <a:r>
              <a:rPr lang="en-US" altLang="zh-CN" sz="26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i</a:t>
            </a:r>
            <a:r>
              <a: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rPr>
              <a:t>，相同</a:t>
            </a:r>
            <a:r>
              <a:rPr lang="en-US" altLang="zh-CN" sz="2600" dirty="0" err="1">
                <a:latin typeface="方正姚体" panose="02010601030101010101" pitchFamily="2" charset="-122"/>
                <a:ea typeface="方正姚体" panose="02010601030101010101" pitchFamily="2" charset="-122"/>
              </a:rPr>
              <a:t>i</a:t>
            </a:r>
            <a:r>
              <a: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rPr>
              <a:t>的最大项与最小项互补</a:t>
            </a:r>
            <a:endParaRPr lang="zh-CN" altLang="en-US" sz="2600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436" name="Object 4"/>
              <p:cNvSpPr txBox="1"/>
              <p:nvPr/>
            </p:nvSpPr>
            <p:spPr bwMode="auto">
              <a:xfrm>
                <a:off x="2483768" y="3352799"/>
                <a:ext cx="1582737" cy="12842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ba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bar>
                          </m:e>
                        </m:mr>
                      </m:m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14643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3352799"/>
                <a:ext cx="1582737" cy="1284288"/>
              </a:xfrm>
              <a:prstGeom prst="rect">
                <a:avLst/>
              </a:prstGeom>
              <a:blipFill rotWithShape="1">
                <a:blip r:embed="rId1"/>
                <a:stretch>
                  <a:fillRect l="-18" t="-49" r="3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447" name="Group 15"/>
          <p:cNvGrpSpPr/>
          <p:nvPr/>
        </p:nvGrpSpPr>
        <p:grpSpPr bwMode="auto">
          <a:xfrm>
            <a:off x="1676400" y="4664393"/>
            <a:ext cx="6661150" cy="1122363"/>
            <a:chOff x="1056" y="2667"/>
            <a:chExt cx="4196" cy="707"/>
          </a:xfrm>
        </p:grpSpPr>
        <p:graphicFrame>
          <p:nvGraphicFramePr>
            <p:cNvPr id="146438" name="Object 6"/>
            <p:cNvGraphicFramePr>
              <a:graphicFrameLocks noChangeAspect="1"/>
            </p:cNvGraphicFramePr>
            <p:nvPr/>
          </p:nvGraphicFramePr>
          <p:xfrm>
            <a:off x="2728" y="3024"/>
            <a:ext cx="545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84" name="公式" r:id="rId2" imgW="405765" imgH="254000" progId="Equation.3">
                    <p:embed/>
                  </p:oleObj>
                </mc:Choice>
                <mc:Fallback>
                  <p:oleObj name="公式" r:id="rId2" imgW="405765" imgH="254000" progId="Equation.3">
                    <p:embed/>
                    <p:pic>
                      <p:nvPicPr>
                        <p:cNvPr id="0" name="图片 359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3024"/>
                          <a:ext cx="545" cy="3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39" name="Object 7"/>
            <p:cNvGraphicFramePr>
              <a:graphicFrameLocks noChangeAspect="1"/>
            </p:cNvGraphicFramePr>
            <p:nvPr/>
          </p:nvGraphicFramePr>
          <p:xfrm>
            <a:off x="3612" y="3072"/>
            <a:ext cx="5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85" name="公式" r:id="rId4" imgW="443865" imgH="254000" progId="Equation.3">
                    <p:embed/>
                  </p:oleObj>
                </mc:Choice>
                <mc:Fallback>
                  <p:oleObj name="公式" r:id="rId4" imgW="443865" imgH="254000" progId="Equation.3">
                    <p:embed/>
                    <p:pic>
                      <p:nvPicPr>
                        <p:cNvPr id="0" name="图片 359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2" y="3072"/>
                          <a:ext cx="576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40" name="Rectangle 8"/>
            <p:cNvSpPr>
              <a:spLocks noChangeArrowheads="1"/>
            </p:cNvSpPr>
            <p:nvPr/>
          </p:nvSpPr>
          <p:spPr bwMode="auto">
            <a:xfrm>
              <a:off x="3180" y="3024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sz="28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和</a:t>
              </a:r>
              <a:endParaRPr kumimoji="0"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46441" name="Rectangle 9"/>
            <p:cNvSpPr>
              <a:spLocks noChangeArrowheads="1"/>
            </p:cNvSpPr>
            <p:nvPr/>
          </p:nvSpPr>
          <p:spPr bwMode="auto">
            <a:xfrm>
              <a:off x="4176" y="307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互为对偶式</a:t>
              </a:r>
              <a:endParaRPr kumimoji="0"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46443" name="Text Box 11"/>
            <p:cNvSpPr txBox="1">
              <a:spLocks noChangeArrowheads="1"/>
            </p:cNvSpPr>
            <p:nvPr/>
          </p:nvSpPr>
          <p:spPr bwMode="auto">
            <a:xfrm>
              <a:off x="1056" y="2667"/>
              <a:ext cx="57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（</a:t>
              </a:r>
              <a:r>
                <a:rPr lang="en-US" altLang="zh-CN" sz="26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2</a:t>
              </a:r>
              <a:r>
                <a:rPr lang="zh-CN" altLang="en-US" sz="26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）</a:t>
              </a:r>
              <a:endPara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  <p:sp>
          <p:nvSpPr>
            <p:cNvPr id="146445" name="Rectangle 13"/>
            <p:cNvSpPr>
              <a:spLocks noChangeArrowheads="1"/>
            </p:cNvSpPr>
            <p:nvPr/>
          </p:nvSpPr>
          <p:spPr bwMode="auto">
            <a:xfrm>
              <a:off x="1488" y="2667"/>
              <a:ext cx="203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600" dirty="0">
                  <a:latin typeface="方正姚体" panose="02010601030101010101" pitchFamily="2" charset="-122"/>
                  <a:ea typeface="方正姚体" panose="02010601030101010101" pitchFamily="2" charset="-122"/>
                </a:rPr>
                <a:t>对于</a:t>
              </a:r>
              <a:r>
                <a:rPr lang="zh-CN" altLang="en-US" sz="2600" dirty="0">
                  <a:solidFill>
                    <a:srgbClr val="FF000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由所有的</a:t>
              </a:r>
              <a:r>
                <a:rPr lang="en-US" altLang="zh-CN" sz="2600" dirty="0" err="1">
                  <a:solidFill>
                    <a:srgbClr val="FF000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i</a:t>
              </a:r>
              <a:r>
                <a:rPr lang="zh-CN" altLang="en-US" sz="2600" dirty="0" err="1">
                  <a:solidFill>
                    <a:srgbClr val="FF000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组成的</a:t>
              </a:r>
              <a:endParaRPr lang="zh-CN" altLang="en-US" sz="2600" dirty="0">
                <a:latin typeface="方正姚体" panose="02010601030101010101" pitchFamily="2" charset="-122"/>
                <a:ea typeface="方正姚体" panose="02010601030101010101" pitchFamily="2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bject 4"/>
              <p:cNvSpPr txBox="1"/>
              <p:nvPr/>
            </p:nvSpPr>
            <p:spPr bwMode="auto">
              <a:xfrm>
                <a:off x="4550678" y="3507512"/>
                <a:ext cx="4485818" cy="109951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acc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0678" y="3507512"/>
                <a:ext cx="4485818" cy="1099512"/>
              </a:xfrm>
              <a:prstGeom prst="rect">
                <a:avLst/>
              </a:prstGeom>
              <a:blipFill rotWithShape="1">
                <a:blip r:embed="rId6"/>
                <a:stretch>
                  <a:fillRect l="-6" t="-37" r="10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3"/>
          <p:cNvSpPr/>
          <p:nvPr/>
        </p:nvSpPr>
        <p:spPr>
          <a:xfrm>
            <a:off x="4233282" y="3861048"/>
            <a:ext cx="266710" cy="271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2" grpId="0" autoUpdateAnimBg="0"/>
      <p:bldP spid="146436" grpId="0"/>
      <p:bldP spid="16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公式法化简（不唯一、不好判断）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763688" y="2297943"/>
                <a:ext cx="3382593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𝐴𝐶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𝐵𝐶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297943"/>
                <a:ext cx="3382593" cy="462434"/>
              </a:xfrm>
              <a:prstGeom prst="rect">
                <a:avLst/>
              </a:prstGeom>
              <a:blipFill rotWithShape="1">
                <a:blip r:embed="rId1"/>
                <a:stretch>
                  <a:fillRect l="-9" t="-111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763688" y="2995522"/>
                <a:ext cx="3454728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  <m:r>
                      <a:rPr lang="en-US" altLang="zh-CN" i="1">
                        <a:latin typeface="Cambria Math" panose="02040503050406030204"/>
                      </a:rPr>
                      <m:t>+(</m:t>
                    </m:r>
                    <m:r>
                      <a:rPr lang="en-US" altLang="zh-CN" i="1">
                        <a:latin typeface="Cambria Math" panose="02040503050406030204"/>
                      </a:rPr>
                      <m:t>𝐴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𝐵</m:t>
                    </m:r>
                    <m:r>
                      <a:rPr lang="en-US" altLang="zh-CN" i="1">
                        <a:latin typeface="Cambria Math" panose="02040503050406030204"/>
                      </a:rPr>
                      <m:t>)</m:t>
                    </m:r>
                    <m:r>
                      <a:rPr lang="en-US" altLang="zh-CN" i="1">
                        <a:latin typeface="Cambria Math" panose="02040503050406030204"/>
                      </a:rPr>
                      <m:t>𝐶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995522"/>
                <a:ext cx="3454728" cy="462434"/>
              </a:xfrm>
              <a:prstGeom prst="rect">
                <a:avLst/>
              </a:prstGeom>
              <a:blipFill rotWithShape="1">
                <a:blip r:embed="rId2"/>
                <a:stretch>
                  <a:fillRect l="-8" t="-49" r="18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763688" y="1600364"/>
                <a:ext cx="6120680" cy="462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𝐶</m:t>
                    </m:r>
                    <m:r>
                      <a:rPr lang="en-US" altLang="zh-CN" i="1">
                        <a:latin typeface="Cambria Math" panose="02040503050406030204"/>
                      </a:rPr>
                      <m:t>+ 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𝐶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𝐴𝐶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𝐵𝐶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𝐴𝐵𝐶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600364"/>
                <a:ext cx="6120680" cy="462434"/>
              </a:xfrm>
              <a:prstGeom prst="rect">
                <a:avLst/>
              </a:prstGeom>
              <a:blipFill rotWithShape="1">
                <a:blip r:embed="rId3"/>
                <a:stretch>
                  <a:fillRect l="-5" t="-35" r="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763688" y="3693101"/>
                <a:ext cx="2899512" cy="511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latin typeface="Cambria Math" panose="02040503050406030204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𝐵</m:t>
                            </m:r>
                          </m:e>
                        </m:acc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𝐶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693101"/>
                <a:ext cx="2899512" cy="511550"/>
              </a:xfrm>
              <a:prstGeom prst="rect">
                <a:avLst/>
              </a:prstGeom>
              <a:blipFill rotWithShape="1">
                <a:blip r:embed="rId4"/>
                <a:stretch>
                  <a:fillRect l="-10" t="-113" r="14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763688" y="4439796"/>
                <a:ext cx="2899512" cy="511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latin typeface="Cambria Math" panose="02040503050406030204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𝐵</m:t>
                            </m:r>
                          </m:e>
                        </m:acc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𝐶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439796"/>
                <a:ext cx="2899512" cy="511550"/>
              </a:xfrm>
              <a:prstGeom prst="rect">
                <a:avLst/>
              </a:prstGeom>
              <a:blipFill rotWithShape="1">
                <a:blip r:embed="rId5"/>
                <a:stretch>
                  <a:fillRect l="-10" t="-100" r="14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763688" y="5186491"/>
                <a:ext cx="2434641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𝐶</m:t>
                    </m:r>
                    <m:r>
                      <a:rPr lang="en-US" altLang="zh-CN" i="1">
                        <a:latin typeface="Cambria Math" panose="02040503050406030204"/>
                      </a:rPr>
                      <m:t>+</m:t>
                    </m:r>
                    <m:r>
                      <a:rPr lang="en-US" altLang="zh-CN" i="1">
                        <a:latin typeface="Cambria Math" panose="02040503050406030204"/>
                      </a:rPr>
                      <m:t>𝐴𝐵</m:t>
                    </m:r>
                  </m:oMath>
                </a14:m>
                <a:endParaRPr lang="zh-CN" altLang="zh-CN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186491"/>
                <a:ext cx="2434641" cy="462434"/>
              </a:xfrm>
              <a:prstGeom prst="rect">
                <a:avLst/>
              </a:prstGeom>
              <a:blipFill rotWithShape="1">
                <a:blip r:embed="rId6"/>
                <a:stretch>
                  <a:fillRect l="-12" t="-96" r="14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右箭头 13"/>
          <p:cNvSpPr/>
          <p:nvPr/>
        </p:nvSpPr>
        <p:spPr>
          <a:xfrm>
            <a:off x="1068760" y="2348880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1068760" y="3046459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1068760" y="3744038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1068760" y="4490733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1069619" y="5237428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441657" y="2735349"/>
            <a:ext cx="2137445" cy="1040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800" dirty="0"/>
              <a:t>吸收律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800" spc="-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(Absorption)</a:t>
            </a:r>
            <a:endParaRPr lang="zh-CN" altLang="en-US" sz="2800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292080" y="3820838"/>
          <a:ext cx="3644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6" name="公式" r:id="rId7" imgW="1435100" imgH="1041400" progId="Equation.3">
                  <p:embed/>
                </p:oleObj>
              </mc:Choice>
              <mc:Fallback>
                <p:oleObj name="公式" r:id="rId7" imgW="1435100" imgH="1041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820838"/>
                        <a:ext cx="36449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2" grpId="0"/>
      <p:bldP spid="13" grpId="0"/>
      <p:bldP spid="14" grpId="0" animBg="1"/>
      <p:bldP spid="15" grpId="0" animBg="1"/>
      <p:bldP spid="16" grpId="0" animBg="1"/>
      <p:bldP spid="18" grpId="0" animBg="1"/>
      <p:bldP spid="19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32FF-72FF-4EE2-8B35-F565E7CA617E}" type="slidenum">
              <a:rPr lang="en-US" altLang="zh-CN"/>
            </a:fld>
            <a:endParaRPr lang="en-US" altLang="zh-CN"/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卡诺图：</a:t>
            </a:r>
            <a:r>
              <a:rPr lang="en-US" altLang="zh-CN" sz="2200" dirty="0" err="1"/>
              <a:t>Karnaugh</a:t>
            </a:r>
            <a:r>
              <a:rPr lang="en-US" altLang="zh-CN" sz="2200" dirty="0"/>
              <a:t> Map</a:t>
            </a:r>
            <a:r>
              <a:rPr lang="zh-CN" altLang="en-US" sz="2200" dirty="0"/>
              <a:t>（</a:t>
            </a:r>
            <a:r>
              <a:rPr lang="en-US" altLang="zh-CN" sz="2200" dirty="0"/>
              <a:t>by Maurice </a:t>
            </a:r>
            <a:r>
              <a:rPr lang="en-US" altLang="zh-CN" sz="2200" dirty="0" err="1"/>
              <a:t>Karnaugh</a:t>
            </a:r>
            <a:r>
              <a:rPr lang="zh-CN" altLang="en-US" sz="2200" dirty="0"/>
              <a:t>，</a:t>
            </a:r>
            <a:r>
              <a:rPr lang="en-US" altLang="zh-CN" sz="2200" dirty="0"/>
              <a:t>1953</a:t>
            </a:r>
            <a:r>
              <a:rPr lang="zh-CN" altLang="en-US" sz="2200" dirty="0"/>
              <a:t>）；</a:t>
            </a:r>
            <a:endParaRPr lang="zh-CN" altLang="en-US" dirty="0"/>
          </a:p>
          <a:p>
            <a:pPr lvl="1"/>
            <a:r>
              <a:rPr lang="zh-CN" altLang="en-US" dirty="0"/>
              <a:t>卡诺图：逻辑函数的图示表示，把最小项填入卡诺图，利用相邻最小项的互补性，消去一个变量，实现化简。</a:t>
            </a:r>
            <a:endParaRPr lang="zh-CN" altLang="en-US" dirty="0"/>
          </a:p>
          <a:p>
            <a:pPr lvl="1"/>
            <a:r>
              <a:rPr lang="zh-CN" altLang="en-US" dirty="0"/>
              <a:t>卡诺图的构成</a:t>
            </a:r>
            <a:endParaRPr lang="zh-CN" altLang="en-US" dirty="0"/>
          </a:p>
          <a:p>
            <a:pPr marL="952500" lvl="2" indent="-19050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(1)</a:t>
            </a:r>
            <a:r>
              <a:rPr lang="zh-CN" altLang="en-US" dirty="0"/>
              <a:t>由矩形或正方形组成的图形</a:t>
            </a:r>
            <a:endParaRPr lang="zh-CN" altLang="en-US" dirty="0"/>
          </a:p>
          <a:p>
            <a:pPr marL="952500" lvl="2" indent="-19050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(2)</a:t>
            </a:r>
            <a:r>
              <a:rPr lang="zh-CN" altLang="en-US" dirty="0"/>
              <a:t>将矩形分成若干小方块，每个小方块对应一个最小项。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CC7F-99DE-4642-A629-4010D8792F29}" type="slidenum">
              <a:rPr lang="en-US" altLang="zh-CN"/>
            </a:fld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en-US" altLang="zh-CN"/>
              <a:t>1</a:t>
            </a:r>
            <a:r>
              <a:rPr lang="zh-CN" altLang="en-US"/>
              <a:t>变量卡诺图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524000" y="2971800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整体为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8503" name="Group 23"/>
          <p:cNvGrpSpPr/>
          <p:nvPr/>
        </p:nvGrpSpPr>
        <p:grpSpPr bwMode="auto">
          <a:xfrm>
            <a:off x="1371600" y="4267200"/>
            <a:ext cx="4191000" cy="830263"/>
            <a:chOff x="864" y="2688"/>
            <a:chExt cx="2640" cy="523"/>
          </a:xfrm>
        </p:grpSpPr>
        <p:sp>
          <p:nvSpPr>
            <p:cNvPr id="148488" name="Text Box 8"/>
            <p:cNvSpPr txBox="1">
              <a:spLocks noChangeArrowheads="1"/>
            </p:cNvSpPr>
            <p:nvPr/>
          </p:nvSpPr>
          <p:spPr bwMode="auto">
            <a:xfrm>
              <a:off x="864" y="2688"/>
              <a:ext cx="26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只有一个变量，将大方框划分为左、右两部分，表示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48489" name="Object 9"/>
            <p:cNvGraphicFramePr>
              <a:graphicFrameLocks noChangeAspect="1"/>
            </p:cNvGraphicFramePr>
            <p:nvPr/>
          </p:nvGraphicFramePr>
          <p:xfrm>
            <a:off x="2881" y="2954"/>
            <a:ext cx="40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58" name="Equation" r:id="rId1" imgW="8534400" imgH="5486400" progId="Equation.3">
                    <p:embed/>
                  </p:oleObj>
                </mc:Choice>
                <mc:Fallback>
                  <p:oleObj name="Equation" r:id="rId1" imgW="8534400" imgH="5486400" progId="Equation.3">
                    <p:embed/>
                    <p:pic>
                      <p:nvPicPr>
                        <p:cNvPr id="0" name="图片 370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2954"/>
                          <a:ext cx="400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493" name="Group 13"/>
          <p:cNvGrpSpPr/>
          <p:nvPr/>
        </p:nvGrpSpPr>
        <p:grpSpPr bwMode="auto">
          <a:xfrm>
            <a:off x="7162800" y="2590800"/>
            <a:ext cx="1143000" cy="914400"/>
            <a:chOff x="2976" y="1824"/>
            <a:chExt cx="720" cy="576"/>
          </a:xfrm>
        </p:grpSpPr>
        <p:sp>
          <p:nvSpPr>
            <p:cNvPr id="148491" name="Rectangle 11"/>
            <p:cNvSpPr>
              <a:spLocks noChangeArrowheads="1"/>
            </p:cNvSpPr>
            <p:nvPr/>
          </p:nvSpPr>
          <p:spPr bwMode="auto">
            <a:xfrm>
              <a:off x="2976" y="1824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2" name="Text Box 12"/>
            <p:cNvSpPr txBox="1">
              <a:spLocks noChangeArrowheads="1"/>
            </p:cNvSpPr>
            <p:nvPr/>
          </p:nvSpPr>
          <p:spPr bwMode="auto">
            <a:xfrm>
              <a:off x="3216" y="19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48501" name="Group 21"/>
          <p:cNvGrpSpPr/>
          <p:nvPr/>
        </p:nvGrpSpPr>
        <p:grpSpPr bwMode="auto">
          <a:xfrm>
            <a:off x="7162800" y="4114800"/>
            <a:ext cx="1143000" cy="914400"/>
            <a:chOff x="4512" y="2592"/>
            <a:chExt cx="720" cy="576"/>
          </a:xfrm>
        </p:grpSpPr>
        <p:graphicFrame>
          <p:nvGraphicFramePr>
            <p:cNvPr id="148495" name="Object 15"/>
            <p:cNvGraphicFramePr>
              <a:graphicFrameLocks noChangeAspect="1"/>
            </p:cNvGraphicFramePr>
            <p:nvPr/>
          </p:nvGraphicFramePr>
          <p:xfrm>
            <a:off x="4590" y="2592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59" name="公式" r:id="rId3" imgW="381000" imgH="431800" progId="Equation.3">
                    <p:embed/>
                  </p:oleObj>
                </mc:Choice>
                <mc:Fallback>
                  <p:oleObj name="公式" r:id="rId3" imgW="381000" imgH="431800" progId="Equation.3">
                    <p:embed/>
                    <p:pic>
                      <p:nvPicPr>
                        <p:cNvPr id="0" name="图片 37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0" y="2592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490" name="Rectangle 10"/>
            <p:cNvSpPr>
              <a:spLocks noChangeArrowheads="1"/>
            </p:cNvSpPr>
            <p:nvPr/>
          </p:nvSpPr>
          <p:spPr bwMode="auto">
            <a:xfrm>
              <a:off x="4512" y="2592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4" name="Line 14"/>
            <p:cNvSpPr>
              <a:spLocks noChangeShapeType="1"/>
            </p:cNvSpPr>
            <p:nvPr/>
          </p:nvSpPr>
          <p:spPr bwMode="auto">
            <a:xfrm>
              <a:off x="4896" y="259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04" name="Group 24"/>
          <p:cNvGrpSpPr/>
          <p:nvPr/>
        </p:nvGrpSpPr>
        <p:grpSpPr bwMode="auto">
          <a:xfrm>
            <a:off x="1447800" y="5410200"/>
            <a:ext cx="4191000" cy="830263"/>
            <a:chOff x="912" y="3408"/>
            <a:chExt cx="2640" cy="523"/>
          </a:xfrm>
        </p:grpSpPr>
        <p:sp>
          <p:nvSpPr>
            <p:cNvPr id="148496" name="Text Box 16"/>
            <p:cNvSpPr txBox="1">
              <a:spLocks noChangeArrowheads="1"/>
            </p:cNvSpPr>
            <p:nvPr/>
          </p:nvSpPr>
          <p:spPr bwMode="auto">
            <a:xfrm>
              <a:off x="912" y="3408"/>
              <a:ext cx="26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也可以将大方框划分为上、下两部分，表示</a:t>
              </a:r>
              <a:endPara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48497" name="Object 17"/>
            <p:cNvGraphicFramePr>
              <a:graphicFrameLocks noChangeAspect="1"/>
            </p:cNvGraphicFramePr>
            <p:nvPr/>
          </p:nvGraphicFramePr>
          <p:xfrm>
            <a:off x="2190" y="3674"/>
            <a:ext cx="40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0" name="Equation" r:id="rId5" imgW="8534400" imgH="5486400" progId="Equation.3">
                    <p:embed/>
                  </p:oleObj>
                </mc:Choice>
                <mc:Fallback>
                  <p:oleObj name="Equation" r:id="rId5" imgW="8534400" imgH="5486400" progId="Equation.3">
                    <p:embed/>
                    <p:pic>
                      <p:nvPicPr>
                        <p:cNvPr id="0" name="图片 37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0" y="3674"/>
                          <a:ext cx="40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02" name="Group 22"/>
          <p:cNvGrpSpPr/>
          <p:nvPr/>
        </p:nvGrpSpPr>
        <p:grpSpPr bwMode="auto">
          <a:xfrm>
            <a:off x="7162800" y="5310188"/>
            <a:ext cx="1143000" cy="965200"/>
            <a:chOff x="4512" y="3345"/>
            <a:chExt cx="720" cy="608"/>
          </a:xfrm>
        </p:grpSpPr>
        <p:sp>
          <p:nvSpPr>
            <p:cNvPr id="148498" name="Rectangle 18"/>
            <p:cNvSpPr>
              <a:spLocks noChangeArrowheads="1"/>
            </p:cNvSpPr>
            <p:nvPr/>
          </p:nvSpPr>
          <p:spPr bwMode="auto">
            <a:xfrm>
              <a:off x="4512" y="3360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9" name="Line 19"/>
            <p:cNvSpPr>
              <a:spLocks noChangeShapeType="1"/>
            </p:cNvSpPr>
            <p:nvPr/>
          </p:nvSpPr>
          <p:spPr bwMode="auto">
            <a:xfrm>
              <a:off x="4512" y="36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8500" name="Object 20"/>
            <p:cNvGraphicFramePr>
              <a:graphicFrameLocks noChangeAspect="1"/>
            </p:cNvGraphicFramePr>
            <p:nvPr/>
          </p:nvGraphicFramePr>
          <p:xfrm>
            <a:off x="4770" y="3345"/>
            <a:ext cx="18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61" name="公式" r:id="rId7" imgW="127000" imgH="457200" progId="Equation.3">
                    <p:embed/>
                  </p:oleObj>
                </mc:Choice>
                <mc:Fallback>
                  <p:oleObj name="公式" r:id="rId7" imgW="127000" imgH="457200" progId="Equation.3">
                    <p:embed/>
                    <p:pic>
                      <p:nvPicPr>
                        <p:cNvPr id="0" name="图片 37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0" y="3345"/>
                          <a:ext cx="186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811C-18FF-4873-BF7F-09412237C8BA}" type="slidenum">
              <a:rPr lang="en-US" altLang="zh-CN"/>
            </a:fld>
            <a:endParaRPr lang="en-US" altLang="zh-CN"/>
          </a:p>
        </p:txBody>
      </p:sp>
      <p:sp>
        <p:nvSpPr>
          <p:cNvPr id="149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412776"/>
            <a:ext cx="8122096" cy="4607024"/>
          </a:xfrm>
        </p:spPr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变量卡诺图：假设两个变量分别为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149538" name="Group 34"/>
          <p:cNvGrpSpPr/>
          <p:nvPr/>
        </p:nvGrpSpPr>
        <p:grpSpPr bwMode="auto">
          <a:xfrm>
            <a:off x="2663552" y="2969939"/>
            <a:ext cx="2971800" cy="830263"/>
            <a:chOff x="1008" y="1776"/>
            <a:chExt cx="1872" cy="523"/>
          </a:xfrm>
        </p:grpSpPr>
        <p:sp>
          <p:nvSpPr>
            <p:cNvPr id="149512" name="Text Box 8"/>
            <p:cNvSpPr txBox="1">
              <a:spLocks noChangeArrowheads="1"/>
            </p:cNvSpPr>
            <p:nvPr/>
          </p:nvSpPr>
          <p:spPr bwMode="auto">
            <a:xfrm>
              <a:off x="1008" y="1776"/>
              <a:ext cx="187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一个变量用大方框左、右两部分表示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49513" name="Object 9"/>
            <p:cNvGraphicFramePr>
              <a:graphicFrameLocks noChangeAspect="1"/>
            </p:cNvGraphicFramePr>
            <p:nvPr/>
          </p:nvGraphicFramePr>
          <p:xfrm>
            <a:off x="2238" y="2042"/>
            <a:ext cx="40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0" name="Equation" r:id="rId1" imgW="8534400" imgH="5486400" progId="Equation.3">
                    <p:embed/>
                  </p:oleObj>
                </mc:Choice>
                <mc:Fallback>
                  <p:oleObj name="Equation" r:id="rId1" imgW="8534400" imgH="5486400" progId="Equation.3">
                    <p:embed/>
                    <p:pic>
                      <p:nvPicPr>
                        <p:cNvPr id="0" name="图片 383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8" y="2042"/>
                          <a:ext cx="40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9544" name="Group 40"/>
          <p:cNvGrpSpPr/>
          <p:nvPr/>
        </p:nvGrpSpPr>
        <p:grpSpPr bwMode="auto">
          <a:xfrm>
            <a:off x="7162800" y="2743200"/>
            <a:ext cx="1143000" cy="914400"/>
            <a:chOff x="4512" y="1728"/>
            <a:chExt cx="720" cy="576"/>
          </a:xfrm>
        </p:grpSpPr>
        <p:graphicFrame>
          <p:nvGraphicFramePr>
            <p:cNvPr id="149514" name="Object 10"/>
            <p:cNvGraphicFramePr>
              <a:graphicFrameLocks noChangeAspect="1"/>
            </p:cNvGraphicFramePr>
            <p:nvPr/>
          </p:nvGraphicFramePr>
          <p:xfrm>
            <a:off x="4590" y="1728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1" name="公式" r:id="rId3" imgW="381000" imgH="431800" progId="Equation.3">
                    <p:embed/>
                  </p:oleObj>
                </mc:Choice>
                <mc:Fallback>
                  <p:oleObj name="公式" r:id="rId3" imgW="381000" imgH="431800" progId="Equation.3">
                    <p:embed/>
                    <p:pic>
                      <p:nvPicPr>
                        <p:cNvPr id="0" name="图片 383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0" y="1728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515" name="Rectangle 11"/>
            <p:cNvSpPr>
              <a:spLocks noChangeArrowheads="1"/>
            </p:cNvSpPr>
            <p:nvPr/>
          </p:nvSpPr>
          <p:spPr bwMode="auto">
            <a:xfrm>
              <a:off x="4512" y="1728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16" name="Line 12"/>
            <p:cNvSpPr>
              <a:spLocks noChangeShapeType="1"/>
            </p:cNvSpPr>
            <p:nvPr/>
          </p:nvSpPr>
          <p:spPr bwMode="auto">
            <a:xfrm>
              <a:off x="4896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9539" name="Group 35"/>
          <p:cNvGrpSpPr/>
          <p:nvPr/>
        </p:nvGrpSpPr>
        <p:grpSpPr bwMode="auto">
          <a:xfrm>
            <a:off x="2663552" y="3960539"/>
            <a:ext cx="3276600" cy="830263"/>
            <a:chOff x="1008" y="2400"/>
            <a:chExt cx="2064" cy="523"/>
          </a:xfrm>
        </p:grpSpPr>
        <p:sp>
          <p:nvSpPr>
            <p:cNvPr id="149517" name="Text Box 13"/>
            <p:cNvSpPr txBox="1">
              <a:spLocks noChangeArrowheads="1"/>
            </p:cNvSpPr>
            <p:nvPr/>
          </p:nvSpPr>
          <p:spPr bwMode="auto">
            <a:xfrm>
              <a:off x="1008" y="2400"/>
              <a:ext cx="206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另一个变量用大方框上、下两部分表示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49518" name="Object 14"/>
            <p:cNvGraphicFramePr>
              <a:graphicFrameLocks noChangeAspect="1"/>
            </p:cNvGraphicFramePr>
            <p:nvPr/>
          </p:nvGraphicFramePr>
          <p:xfrm>
            <a:off x="2265" y="2666"/>
            <a:ext cx="44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2" name="Equation" r:id="rId5" imgW="9448800" imgH="5486400" progId="Equation.3">
                    <p:embed/>
                  </p:oleObj>
                </mc:Choice>
                <mc:Fallback>
                  <p:oleObj name="Equation" r:id="rId5" imgW="9448800" imgH="5486400" progId="Equation.3">
                    <p:embed/>
                    <p:pic>
                      <p:nvPicPr>
                        <p:cNvPr id="0" name="图片 383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" y="2666"/>
                          <a:ext cx="442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9545" name="Group 41"/>
          <p:cNvGrpSpPr/>
          <p:nvPr/>
        </p:nvGrpSpPr>
        <p:grpSpPr bwMode="auto">
          <a:xfrm>
            <a:off x="7162800" y="3935413"/>
            <a:ext cx="1143000" cy="965200"/>
            <a:chOff x="4512" y="2479"/>
            <a:chExt cx="720" cy="608"/>
          </a:xfrm>
        </p:grpSpPr>
        <p:sp>
          <p:nvSpPr>
            <p:cNvPr id="149519" name="Rectangle 15"/>
            <p:cNvSpPr>
              <a:spLocks noChangeArrowheads="1"/>
            </p:cNvSpPr>
            <p:nvPr/>
          </p:nvSpPr>
          <p:spPr bwMode="auto">
            <a:xfrm>
              <a:off x="4512" y="2496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0" name="Line 16"/>
            <p:cNvSpPr>
              <a:spLocks noChangeShapeType="1"/>
            </p:cNvSpPr>
            <p:nvPr/>
          </p:nvSpPr>
          <p:spPr bwMode="auto">
            <a:xfrm>
              <a:off x="4512" y="278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21" name="Object 17"/>
            <p:cNvGraphicFramePr>
              <a:graphicFrameLocks noChangeAspect="1"/>
            </p:cNvGraphicFramePr>
            <p:nvPr/>
          </p:nvGraphicFramePr>
          <p:xfrm>
            <a:off x="4752" y="2479"/>
            <a:ext cx="223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3" name="公式" r:id="rId7" imgW="152400" imgH="457200" progId="Equation.3">
                    <p:embed/>
                  </p:oleObj>
                </mc:Choice>
                <mc:Fallback>
                  <p:oleObj name="公式" r:id="rId7" imgW="152400" imgH="457200" progId="Equation.3">
                    <p:embed/>
                    <p:pic>
                      <p:nvPicPr>
                        <p:cNvPr id="0" name="图片 383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479"/>
                          <a:ext cx="223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2663552" y="5257800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将两图合二为一，可得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变量卡诺图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9534" name="Group 30"/>
          <p:cNvGrpSpPr/>
          <p:nvPr/>
        </p:nvGrpSpPr>
        <p:grpSpPr bwMode="auto">
          <a:xfrm>
            <a:off x="6732588" y="4803777"/>
            <a:ext cx="1573212" cy="1544638"/>
            <a:chOff x="4241" y="3026"/>
            <a:chExt cx="991" cy="973"/>
          </a:xfrm>
        </p:grpSpPr>
        <p:sp>
          <p:nvSpPr>
            <p:cNvPr id="149526" name="Rectangle 22"/>
            <p:cNvSpPr>
              <a:spLocks noChangeArrowheads="1"/>
            </p:cNvSpPr>
            <p:nvPr/>
          </p:nvSpPr>
          <p:spPr bwMode="auto">
            <a:xfrm>
              <a:off x="4512" y="3408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7" name="Line 23"/>
            <p:cNvSpPr>
              <a:spLocks noChangeShapeType="1"/>
            </p:cNvSpPr>
            <p:nvPr/>
          </p:nvSpPr>
          <p:spPr bwMode="auto">
            <a:xfrm>
              <a:off x="4512" y="36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28" name="Object 24"/>
            <p:cNvGraphicFramePr>
              <a:graphicFrameLocks noChangeAspect="1"/>
            </p:cNvGraphicFramePr>
            <p:nvPr/>
          </p:nvGraphicFramePr>
          <p:xfrm>
            <a:off x="4241" y="3391"/>
            <a:ext cx="223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4" name="公式" r:id="rId9" imgW="152400" imgH="457200" progId="Equation.3">
                    <p:embed/>
                  </p:oleObj>
                </mc:Choice>
                <mc:Fallback>
                  <p:oleObj name="公式" r:id="rId9" imgW="152400" imgH="457200" progId="Equation.3">
                    <p:embed/>
                    <p:pic>
                      <p:nvPicPr>
                        <p:cNvPr id="0" name="图片 383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391"/>
                          <a:ext cx="223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529" name="Line 25"/>
            <p:cNvSpPr>
              <a:spLocks noChangeShapeType="1"/>
            </p:cNvSpPr>
            <p:nvPr/>
          </p:nvSpPr>
          <p:spPr bwMode="auto">
            <a:xfrm>
              <a:off x="4896" y="340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30" name="Object 26"/>
            <p:cNvGraphicFramePr>
              <a:graphicFrameLocks noChangeAspect="1"/>
            </p:cNvGraphicFramePr>
            <p:nvPr/>
          </p:nvGraphicFramePr>
          <p:xfrm>
            <a:off x="4598" y="3026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85" name="公式" r:id="rId11" imgW="381000" imgH="431800" progId="Equation.3">
                    <p:embed/>
                  </p:oleObj>
                </mc:Choice>
                <mc:Fallback>
                  <p:oleObj name="公式" r:id="rId11" imgW="381000" imgH="431800" progId="Equation.3">
                    <p:embed/>
                    <p:pic>
                      <p:nvPicPr>
                        <p:cNvPr id="0" name="图片 383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3026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540" name="Object 36"/>
          <p:cNvGraphicFramePr>
            <a:graphicFrameLocks noChangeAspect="1"/>
          </p:cNvGraphicFramePr>
          <p:nvPr/>
        </p:nvGraphicFramePr>
        <p:xfrm>
          <a:off x="7194550" y="5394325"/>
          <a:ext cx="568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86" name="公式" r:id="rId13" imgW="228600" imgH="215900" progId="Equation.3">
                  <p:embed/>
                </p:oleObj>
              </mc:Choice>
              <mc:Fallback>
                <p:oleObj name="公式" r:id="rId13" imgW="228600" imgH="215900" progId="Equation.3">
                  <p:embed/>
                  <p:pic>
                    <p:nvPicPr>
                      <p:cNvPr id="0" name="图片 38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5394325"/>
                        <a:ext cx="5683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1" name="Object 37"/>
          <p:cNvGraphicFramePr>
            <a:graphicFrameLocks noChangeAspect="1"/>
          </p:cNvGraphicFramePr>
          <p:nvPr/>
        </p:nvGraphicFramePr>
        <p:xfrm>
          <a:off x="7781925" y="5394325"/>
          <a:ext cx="568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87" name="公式" r:id="rId15" imgW="228600" imgH="215900" progId="Equation.3">
                  <p:embed/>
                </p:oleObj>
              </mc:Choice>
              <mc:Fallback>
                <p:oleObj name="公式" r:id="rId15" imgW="228600" imgH="215900" progId="Equation.3">
                  <p:embed/>
                  <p:pic>
                    <p:nvPicPr>
                      <p:cNvPr id="0" name="图片 383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1925" y="5394325"/>
                        <a:ext cx="5683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2" name="Object 38"/>
          <p:cNvGraphicFramePr>
            <a:graphicFrameLocks noChangeAspect="1"/>
          </p:cNvGraphicFramePr>
          <p:nvPr/>
        </p:nvGraphicFramePr>
        <p:xfrm>
          <a:off x="7202488" y="5851525"/>
          <a:ext cx="5381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88" name="公式" r:id="rId17" imgW="215900" imgH="215900" progId="Equation.3">
                  <p:embed/>
                </p:oleObj>
              </mc:Choice>
              <mc:Fallback>
                <p:oleObj name="公式" r:id="rId17" imgW="215900" imgH="215900" progId="Equation.3">
                  <p:embed/>
                  <p:pic>
                    <p:nvPicPr>
                      <p:cNvPr id="0" name="图片 383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5851525"/>
                        <a:ext cx="538162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3" name="Object 39"/>
          <p:cNvGraphicFramePr>
            <a:graphicFrameLocks noChangeAspect="1"/>
          </p:cNvGraphicFramePr>
          <p:nvPr/>
        </p:nvGraphicFramePr>
        <p:xfrm>
          <a:off x="7820099" y="5970166"/>
          <a:ext cx="5683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89" name="公式" r:id="rId19" imgW="228600" imgH="165100" progId="Equation.3">
                  <p:embed/>
                </p:oleObj>
              </mc:Choice>
              <mc:Fallback>
                <p:oleObj name="公式" r:id="rId19" imgW="228600" imgH="165100" progId="Equation.3">
                  <p:embed/>
                  <p:pic>
                    <p:nvPicPr>
                      <p:cNvPr id="0" name="图片 38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99" y="5970166"/>
                        <a:ext cx="56832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59D6A-1407-45E3-96BF-7E5F7B4F6836}" type="slidenum">
              <a:rPr lang="en-US" altLang="zh-CN"/>
            </a:fld>
            <a:endParaRPr lang="en-US" altLang="zh-CN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en-US" altLang="zh-CN"/>
              <a:t>2</a:t>
            </a:r>
            <a:r>
              <a:rPr lang="zh-CN" altLang="en-US"/>
              <a:t>变量卡诺图</a:t>
            </a:r>
            <a:endParaRPr lang="zh-CN" altLang="en-US"/>
          </a:p>
        </p:txBody>
      </p:sp>
      <p:grpSp>
        <p:nvGrpSpPr>
          <p:cNvPr id="150592" name="Group 64"/>
          <p:cNvGrpSpPr/>
          <p:nvPr/>
        </p:nvGrpSpPr>
        <p:grpSpPr bwMode="auto">
          <a:xfrm>
            <a:off x="5626100" y="3392488"/>
            <a:ext cx="2374900" cy="2376487"/>
            <a:chOff x="3544" y="2137"/>
            <a:chExt cx="1496" cy="1497"/>
          </a:xfrm>
        </p:grpSpPr>
        <p:grpSp>
          <p:nvGrpSpPr>
            <p:cNvPr id="150566" name="Group 38"/>
            <p:cNvGrpSpPr/>
            <p:nvPr/>
          </p:nvGrpSpPr>
          <p:grpSpPr bwMode="auto">
            <a:xfrm>
              <a:off x="3662" y="2256"/>
              <a:ext cx="1378" cy="1378"/>
              <a:chOff x="3755" y="1780"/>
              <a:chExt cx="1378" cy="1378"/>
            </a:xfrm>
          </p:grpSpPr>
          <p:sp>
            <p:nvSpPr>
              <p:cNvPr id="150567" name="Rectangle 39"/>
              <p:cNvSpPr>
                <a:spLocks noChangeArrowheads="1"/>
              </p:cNvSpPr>
              <p:nvPr/>
            </p:nvSpPr>
            <p:spPr bwMode="auto">
              <a:xfrm>
                <a:off x="4587" y="2623"/>
                <a:ext cx="546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0568" name="Rectangle 40"/>
              <p:cNvSpPr>
                <a:spLocks noChangeArrowheads="1"/>
              </p:cNvSpPr>
              <p:nvPr/>
            </p:nvSpPr>
            <p:spPr bwMode="auto">
              <a:xfrm>
                <a:off x="4041" y="2623"/>
                <a:ext cx="546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0569" name="Rectangle 41"/>
              <p:cNvSpPr>
                <a:spLocks noChangeArrowheads="1"/>
              </p:cNvSpPr>
              <p:nvPr/>
            </p:nvSpPr>
            <p:spPr bwMode="auto">
              <a:xfrm>
                <a:off x="4587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0570" name="Rectangle 42"/>
              <p:cNvSpPr>
                <a:spLocks noChangeArrowheads="1"/>
              </p:cNvSpPr>
              <p:nvPr/>
            </p:nvSpPr>
            <p:spPr bwMode="auto">
              <a:xfrm>
                <a:off x="4041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0571" name="Line 43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2" name="Line 44"/>
              <p:cNvSpPr>
                <a:spLocks noChangeShapeType="1"/>
              </p:cNvSpPr>
              <p:nvPr/>
            </p:nvSpPr>
            <p:spPr bwMode="auto">
              <a:xfrm>
                <a:off x="4041" y="2623"/>
                <a:ext cx="1092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3" name="Line 45"/>
              <p:cNvSpPr>
                <a:spLocks noChangeShapeType="1"/>
              </p:cNvSpPr>
              <p:nvPr/>
            </p:nvSpPr>
            <p:spPr bwMode="auto">
              <a:xfrm>
                <a:off x="4041" y="3158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4" name="Line 46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0" cy="1081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4587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5133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 flipV="1">
                <a:off x="3755" y="1780"/>
                <a:ext cx="286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0588" name="Text Box 60"/>
            <p:cNvSpPr txBox="1">
              <a:spLocks noChangeArrowheads="1"/>
            </p:cNvSpPr>
            <p:nvPr/>
          </p:nvSpPr>
          <p:spPr bwMode="auto">
            <a:xfrm>
              <a:off x="3816" y="2137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anose="020B0604030504040204" pitchFamily="34" charset="0"/>
                </a:rPr>
                <a:t>A</a:t>
              </a:r>
              <a:endParaRPr kumimoji="0"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150589" name="Text Box 61"/>
            <p:cNvSpPr txBox="1">
              <a:spLocks noChangeArrowheads="1"/>
            </p:cNvSpPr>
            <p:nvPr/>
          </p:nvSpPr>
          <p:spPr bwMode="auto">
            <a:xfrm>
              <a:off x="3544" y="2364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anose="020B0604030504040204" pitchFamily="34" charset="0"/>
                </a:rPr>
                <a:t>B</a:t>
              </a:r>
              <a:endParaRPr kumimoji="0" lang="en-US" altLang="zh-CN" sz="2800">
                <a:latin typeface="Tahoma" panose="020B0604030504040204" pitchFamily="34" charset="0"/>
              </a:endParaRPr>
            </a:p>
          </p:txBody>
        </p:sp>
      </p:grp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838200" y="2667000"/>
            <a:ext cx="71529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一个整体可由代表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个最小项的四个小方格组成：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1798638" y="4589463"/>
          <a:ext cx="5445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6" name="公式" r:id="rId1" imgW="190500" imgH="228600" progId="Equation.3">
                  <p:embed/>
                </p:oleObj>
              </mc:Choice>
              <mc:Fallback>
                <p:oleObj name="公式" r:id="rId1" imgW="190500" imgH="228600" progId="Equation.3">
                  <p:embed/>
                  <p:pic>
                    <p:nvPicPr>
                      <p:cNvPr id="0" name="图片 395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4589463"/>
                        <a:ext cx="544512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6" name="Object 18"/>
          <p:cNvGraphicFramePr>
            <a:graphicFrameLocks noChangeAspect="1"/>
          </p:cNvGraphicFramePr>
          <p:nvPr/>
        </p:nvGraphicFramePr>
        <p:xfrm>
          <a:off x="2471738" y="5148263"/>
          <a:ext cx="466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7" name="公式" r:id="rId3" imgW="177800" imgH="228600" progId="Equation.3">
                  <p:embed/>
                </p:oleObj>
              </mc:Choice>
              <mc:Fallback>
                <p:oleObj name="公式" r:id="rId3" imgW="177800" imgH="228600" progId="Equation.3">
                  <p:embed/>
                  <p:pic>
                    <p:nvPicPr>
                      <p:cNvPr id="0" name="图片 395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5148263"/>
                        <a:ext cx="4667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7" name="Object 19"/>
          <p:cNvGraphicFramePr>
            <a:graphicFrameLocks noChangeAspect="1"/>
          </p:cNvGraphicFramePr>
          <p:nvPr/>
        </p:nvGraphicFramePr>
        <p:xfrm>
          <a:off x="1860550" y="5132388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8" name="公式" r:id="rId5" imgW="177800" imgH="228600" progId="Equation.3">
                  <p:embed/>
                </p:oleObj>
              </mc:Choice>
              <mc:Fallback>
                <p:oleObj name="公式" r:id="rId5" imgW="177800" imgH="228600" progId="Equation.3">
                  <p:embed/>
                  <p:pic>
                    <p:nvPicPr>
                      <p:cNvPr id="0" name="图片 395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5132388"/>
                        <a:ext cx="444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8" name="Object 20"/>
          <p:cNvGraphicFramePr>
            <a:graphicFrameLocks noChangeAspect="1"/>
          </p:cNvGraphicFramePr>
          <p:nvPr/>
        </p:nvGraphicFramePr>
        <p:xfrm>
          <a:off x="2493963" y="4595813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89" name="公式" r:id="rId7" imgW="177800" imgH="228600" progId="Equation.3">
                  <p:embed/>
                </p:oleObj>
              </mc:Choice>
              <mc:Fallback>
                <p:oleObj name="公式" r:id="rId7" imgW="177800" imgH="228600" progId="Equation.3">
                  <p:embed/>
                  <p:pic>
                    <p:nvPicPr>
                      <p:cNvPr id="0" name="图片 395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4595813"/>
                        <a:ext cx="444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91" name="Group 63"/>
          <p:cNvGrpSpPr/>
          <p:nvPr/>
        </p:nvGrpSpPr>
        <p:grpSpPr bwMode="auto">
          <a:xfrm>
            <a:off x="685800" y="3402013"/>
            <a:ext cx="3005138" cy="2922587"/>
            <a:chOff x="432" y="2143"/>
            <a:chExt cx="1893" cy="1841"/>
          </a:xfrm>
        </p:grpSpPr>
        <p:grpSp>
          <p:nvGrpSpPr>
            <p:cNvPr id="150534" name="Group 6"/>
            <p:cNvGrpSpPr/>
            <p:nvPr/>
          </p:nvGrpSpPr>
          <p:grpSpPr bwMode="auto">
            <a:xfrm>
              <a:off x="692" y="2487"/>
              <a:ext cx="1633" cy="1497"/>
              <a:chOff x="1746" y="1752"/>
              <a:chExt cx="1633" cy="1497"/>
            </a:xfrm>
          </p:grpSpPr>
          <p:sp>
            <p:nvSpPr>
              <p:cNvPr id="150535" name="Rectangle 7"/>
              <p:cNvSpPr>
                <a:spLocks noChangeArrowheads="1"/>
              </p:cNvSpPr>
              <p:nvPr/>
            </p:nvSpPr>
            <p:spPr bwMode="auto">
              <a:xfrm>
                <a:off x="1746" y="1752"/>
                <a:ext cx="1633" cy="14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36" name="Line 8"/>
              <p:cNvSpPr>
                <a:spLocks noChangeShapeType="1"/>
              </p:cNvSpPr>
              <p:nvPr/>
            </p:nvSpPr>
            <p:spPr bwMode="auto">
              <a:xfrm>
                <a:off x="1746" y="2523"/>
                <a:ext cx="16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37" name="Line 9"/>
              <p:cNvSpPr>
                <a:spLocks noChangeShapeType="1"/>
              </p:cNvSpPr>
              <p:nvPr/>
            </p:nvSpPr>
            <p:spPr bwMode="auto">
              <a:xfrm>
                <a:off x="2562" y="1752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38" name="Rectangle 10"/>
              <p:cNvSpPr>
                <a:spLocks noChangeArrowheads="1"/>
              </p:cNvSpPr>
              <p:nvPr/>
            </p:nvSpPr>
            <p:spPr bwMode="auto">
              <a:xfrm>
                <a:off x="1746" y="1752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39" name="Rectangle 11"/>
              <p:cNvSpPr>
                <a:spLocks noChangeArrowheads="1"/>
              </p:cNvSpPr>
              <p:nvPr/>
            </p:nvSpPr>
            <p:spPr bwMode="auto">
              <a:xfrm>
                <a:off x="2971" y="2886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40" name="Rectangle 12"/>
              <p:cNvSpPr>
                <a:spLocks noChangeArrowheads="1"/>
              </p:cNvSpPr>
              <p:nvPr/>
            </p:nvSpPr>
            <p:spPr bwMode="auto">
              <a:xfrm>
                <a:off x="1746" y="2886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41" name="Rectangle 13"/>
              <p:cNvSpPr>
                <a:spLocks noChangeArrowheads="1"/>
              </p:cNvSpPr>
              <p:nvPr/>
            </p:nvSpPr>
            <p:spPr bwMode="auto">
              <a:xfrm>
                <a:off x="2971" y="1752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50542" name="Object 14"/>
            <p:cNvGraphicFramePr>
              <a:graphicFrameLocks noChangeAspect="1"/>
            </p:cNvGraphicFramePr>
            <p:nvPr/>
          </p:nvGraphicFramePr>
          <p:xfrm>
            <a:off x="1935" y="3666"/>
            <a:ext cx="35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0" name="公式" r:id="rId9" imgW="228600" imgH="165100" progId="Equation.3">
                    <p:embed/>
                  </p:oleObj>
                </mc:Choice>
                <mc:Fallback>
                  <p:oleObj name="公式" r:id="rId9" imgW="228600" imgH="165100" progId="Equation.3">
                    <p:embed/>
                    <p:pic>
                      <p:nvPicPr>
                        <p:cNvPr id="0" name="图片 395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3666"/>
                          <a:ext cx="359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3" name="Object 15"/>
            <p:cNvGraphicFramePr>
              <a:graphicFrameLocks noChangeAspect="1"/>
            </p:cNvGraphicFramePr>
            <p:nvPr/>
          </p:nvGraphicFramePr>
          <p:xfrm>
            <a:off x="712" y="2493"/>
            <a:ext cx="35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1" name="公式" r:id="rId11" imgW="228600" imgH="215900" progId="Equation.3">
                    <p:embed/>
                  </p:oleObj>
                </mc:Choice>
                <mc:Fallback>
                  <p:oleObj name="公式" r:id="rId11" imgW="228600" imgH="215900" progId="Equation.3">
                    <p:embed/>
                    <p:pic>
                      <p:nvPicPr>
                        <p:cNvPr id="0" name="图片 395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2493"/>
                          <a:ext cx="358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4" name="Object 16"/>
            <p:cNvGraphicFramePr>
              <a:graphicFrameLocks noChangeAspect="1"/>
            </p:cNvGraphicFramePr>
            <p:nvPr/>
          </p:nvGraphicFramePr>
          <p:xfrm>
            <a:off x="722" y="3626"/>
            <a:ext cx="33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2" name="公式" r:id="rId13" imgW="215900" imgH="215900" progId="Equation.3">
                    <p:embed/>
                  </p:oleObj>
                </mc:Choice>
                <mc:Fallback>
                  <p:oleObj name="公式" r:id="rId13" imgW="215900" imgH="215900" progId="Equation.3">
                    <p:embed/>
                    <p:pic>
                      <p:nvPicPr>
                        <p:cNvPr id="0" name="图片 395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" y="3626"/>
                          <a:ext cx="338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5" name="Object 17"/>
            <p:cNvGraphicFramePr>
              <a:graphicFrameLocks noChangeAspect="1"/>
            </p:cNvGraphicFramePr>
            <p:nvPr/>
          </p:nvGraphicFramePr>
          <p:xfrm>
            <a:off x="1935" y="2493"/>
            <a:ext cx="359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3" name="公式" r:id="rId15" imgW="228600" imgH="215900" progId="Equation.3">
                    <p:embed/>
                  </p:oleObj>
                </mc:Choice>
                <mc:Fallback>
                  <p:oleObj name="公式" r:id="rId15" imgW="228600" imgH="215900" progId="Equation.3">
                    <p:embed/>
                    <p:pic>
                      <p:nvPicPr>
                        <p:cNvPr id="0" name="图片 395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2493"/>
                          <a:ext cx="359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9" name="Object 21"/>
            <p:cNvGraphicFramePr>
              <a:graphicFrameLocks noChangeAspect="1"/>
            </p:cNvGraphicFramePr>
            <p:nvPr/>
          </p:nvGraphicFramePr>
          <p:xfrm>
            <a:off x="860" y="2143"/>
            <a:ext cx="120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4" name="公式" r:id="rId17" imgW="596900" imgH="241300" progId="Equation.3">
                    <p:embed/>
                  </p:oleObj>
                </mc:Choice>
                <mc:Fallback>
                  <p:oleObj name="公式" r:id="rId17" imgW="596900" imgH="241300" progId="Equation.3">
                    <p:embed/>
                    <p:pic>
                      <p:nvPicPr>
                        <p:cNvPr id="0" name="图片 395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" y="2143"/>
                          <a:ext cx="1209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0" name="Object 22"/>
            <p:cNvGraphicFramePr>
              <a:graphicFrameLocks noChangeAspect="1"/>
            </p:cNvGraphicFramePr>
            <p:nvPr/>
          </p:nvGraphicFramePr>
          <p:xfrm>
            <a:off x="432" y="2719"/>
            <a:ext cx="223" cy="1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5" name="公式" r:id="rId19" imgW="152400" imgH="914400" progId="Equation.3">
                    <p:embed/>
                  </p:oleObj>
                </mc:Choice>
                <mc:Fallback>
                  <p:oleObj name="公式" r:id="rId19" imgW="152400" imgH="914400" progId="Equation.3">
                    <p:embed/>
                    <p:pic>
                      <p:nvPicPr>
                        <p:cNvPr id="0" name="图片 395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719"/>
                          <a:ext cx="223" cy="1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51" name="Group 23"/>
          <p:cNvGrpSpPr/>
          <p:nvPr/>
        </p:nvGrpSpPr>
        <p:grpSpPr bwMode="auto">
          <a:xfrm>
            <a:off x="3962400" y="4419600"/>
            <a:ext cx="1655763" cy="1223963"/>
            <a:chOff x="2517" y="1979"/>
            <a:chExt cx="1043" cy="771"/>
          </a:xfrm>
        </p:grpSpPr>
        <p:sp>
          <p:nvSpPr>
            <p:cNvPr id="150552" name="AutoShape 24"/>
            <p:cNvSpPr>
              <a:spLocks noChangeArrowheads="1"/>
            </p:cNvSpPr>
            <p:nvPr/>
          </p:nvSpPr>
          <p:spPr bwMode="auto">
            <a:xfrm>
              <a:off x="2517" y="2341"/>
              <a:ext cx="1043" cy="409"/>
            </a:xfrm>
            <a:prstGeom prst="rightArrow">
              <a:avLst>
                <a:gd name="adj1" fmla="val 50000"/>
                <a:gd name="adj2" fmla="val 637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53" name="Text Box 25"/>
            <p:cNvSpPr txBox="1">
              <a:spLocks noChangeArrowheads="1"/>
            </p:cNvSpPr>
            <p:nvPr/>
          </p:nvSpPr>
          <p:spPr bwMode="auto">
            <a:xfrm>
              <a:off x="2563" y="1979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800">
                  <a:latin typeface="Tahoma" panose="020B0604030504040204" pitchFamily="34" charset="0"/>
                </a:rPr>
                <a:t>改画成</a:t>
              </a:r>
              <a:endParaRPr kumimoji="0" lang="zh-CN" altLang="en-US" sz="2800">
                <a:latin typeface="Tahoma" panose="020B0604030504040204" pitchFamily="34" charset="0"/>
              </a:endParaRPr>
            </a:p>
          </p:txBody>
        </p:sp>
      </p:grpSp>
      <p:grpSp>
        <p:nvGrpSpPr>
          <p:cNvPr id="150578" name="Group 50"/>
          <p:cNvGrpSpPr/>
          <p:nvPr/>
        </p:nvGrpSpPr>
        <p:grpSpPr bwMode="auto">
          <a:xfrm>
            <a:off x="5789621" y="4205286"/>
            <a:ext cx="357188" cy="1460500"/>
            <a:chOff x="3754" y="2173"/>
            <a:chExt cx="225" cy="920"/>
          </a:xfrm>
        </p:grpSpPr>
        <p:graphicFrame>
          <p:nvGraphicFramePr>
            <p:cNvPr id="150579" name="Object 51"/>
            <p:cNvGraphicFramePr>
              <a:graphicFrameLocks noChangeAspect="1"/>
            </p:cNvGraphicFramePr>
            <p:nvPr/>
          </p:nvGraphicFramePr>
          <p:xfrm>
            <a:off x="3754" y="2173"/>
            <a:ext cx="22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6" name="公式" r:id="rId21" imgW="114300" imgH="165100" progId="Equation.3">
                    <p:embed/>
                  </p:oleObj>
                </mc:Choice>
                <mc:Fallback>
                  <p:oleObj name="公式" r:id="rId21" imgW="114300" imgH="165100" progId="Equation.3">
                    <p:embed/>
                    <p:pic>
                      <p:nvPicPr>
                        <p:cNvPr id="0" name="图片 395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2173"/>
                          <a:ext cx="225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80" name="Object 52"/>
            <p:cNvGraphicFramePr>
              <a:graphicFrameLocks noChangeAspect="1"/>
            </p:cNvGraphicFramePr>
            <p:nvPr/>
          </p:nvGraphicFramePr>
          <p:xfrm>
            <a:off x="3776" y="2795"/>
            <a:ext cx="17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7" name="公式" r:id="rId23" imgW="101600" imgH="165100" progId="Equation.3">
                    <p:embed/>
                  </p:oleObj>
                </mc:Choice>
                <mc:Fallback>
                  <p:oleObj name="公式" r:id="rId23" imgW="101600" imgH="165100" progId="Equation.3">
                    <p:embed/>
                    <p:pic>
                      <p:nvPicPr>
                        <p:cNvPr id="0" name="图片 395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2795"/>
                          <a:ext cx="175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81" name="Group 53"/>
          <p:cNvGrpSpPr/>
          <p:nvPr/>
        </p:nvGrpSpPr>
        <p:grpSpPr bwMode="auto">
          <a:xfrm>
            <a:off x="6505578" y="3536950"/>
            <a:ext cx="1182688" cy="479425"/>
            <a:chOff x="4205" y="1752"/>
            <a:chExt cx="745" cy="302"/>
          </a:xfrm>
        </p:grpSpPr>
        <p:graphicFrame>
          <p:nvGraphicFramePr>
            <p:cNvPr id="150582" name="Object 54"/>
            <p:cNvGraphicFramePr>
              <a:graphicFrameLocks noChangeAspect="1"/>
            </p:cNvGraphicFramePr>
            <p:nvPr/>
          </p:nvGraphicFramePr>
          <p:xfrm>
            <a:off x="4774" y="1752"/>
            <a:ext cx="17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8" name="公式" r:id="rId25" imgW="101600" imgH="165100" progId="Equation.3">
                    <p:embed/>
                  </p:oleObj>
                </mc:Choice>
                <mc:Fallback>
                  <p:oleObj name="公式" r:id="rId25" imgW="101600" imgH="165100" progId="Equation.3">
                    <p:embed/>
                    <p:pic>
                      <p:nvPicPr>
                        <p:cNvPr id="0" name="图片 395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4" y="1752"/>
                          <a:ext cx="176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83" name="Object 55"/>
            <p:cNvGraphicFramePr>
              <a:graphicFrameLocks noChangeAspect="1"/>
            </p:cNvGraphicFramePr>
            <p:nvPr/>
          </p:nvGraphicFramePr>
          <p:xfrm>
            <a:off x="4205" y="1763"/>
            <a:ext cx="19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599" name="公式" r:id="rId27" imgW="114300" imgH="165100" progId="Equation.3">
                    <p:embed/>
                  </p:oleObj>
                </mc:Choice>
                <mc:Fallback>
                  <p:oleObj name="公式" r:id="rId27" imgW="114300" imgH="165100" progId="Equation.3">
                    <p:embed/>
                    <p:pic>
                      <p:nvPicPr>
                        <p:cNvPr id="0" name="图片 395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5" y="1763"/>
                          <a:ext cx="193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84" name="Rectangle 56"/>
          <p:cNvSpPr>
            <a:spLocks noChangeArrowheads="1"/>
          </p:cNvSpPr>
          <p:nvPr/>
        </p:nvSpPr>
        <p:spPr bwMode="auto">
          <a:xfrm>
            <a:off x="7242175" y="4214962"/>
            <a:ext cx="904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 dirty="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dirty="0"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dirty="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585" name="Rectangle 57"/>
          <p:cNvSpPr>
            <a:spLocks noChangeArrowheads="1"/>
          </p:cNvSpPr>
          <p:nvPr/>
        </p:nvSpPr>
        <p:spPr bwMode="auto">
          <a:xfrm>
            <a:off x="6472238" y="5105400"/>
            <a:ext cx="69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586" name="Rectangle 58"/>
          <p:cNvSpPr>
            <a:spLocks noChangeArrowheads="1"/>
          </p:cNvSpPr>
          <p:nvPr/>
        </p:nvSpPr>
        <p:spPr bwMode="auto">
          <a:xfrm>
            <a:off x="7242175" y="5105400"/>
            <a:ext cx="52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endParaRPr kumimoji="0" lang="en-US" altLang="zh-CN" baseline="-30000"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587" name="Rectangle 59"/>
          <p:cNvSpPr>
            <a:spLocks noChangeArrowheads="1"/>
          </p:cNvSpPr>
          <p:nvPr/>
        </p:nvSpPr>
        <p:spPr bwMode="auto">
          <a:xfrm>
            <a:off x="6424613" y="4217988"/>
            <a:ext cx="611187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590" name="Text Box 62"/>
          <p:cNvSpPr txBox="1">
            <a:spLocks noChangeArrowheads="1"/>
          </p:cNvSpPr>
          <p:nvPr/>
        </p:nvSpPr>
        <p:spPr bwMode="auto">
          <a:xfrm>
            <a:off x="5843588" y="6056313"/>
            <a:ext cx="2735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>
                <a:latin typeface="Tahoma" panose="020B0604030504040204" pitchFamily="34" charset="0"/>
              </a:rPr>
              <a:t>即</a:t>
            </a:r>
            <a:r>
              <a:rPr kumimoji="0" lang="en-US" altLang="zh-CN" sz="2800">
                <a:latin typeface="Tahoma" panose="020B0604030504040204" pitchFamily="34" charset="0"/>
              </a:rPr>
              <a:t>2</a:t>
            </a:r>
            <a:r>
              <a:rPr kumimoji="0" lang="zh-CN" altLang="en-US" sz="2800">
                <a:latin typeface="Tahoma" panose="020B0604030504040204" pitchFamily="34" charset="0"/>
              </a:rPr>
              <a:t>变量卡诺图</a:t>
            </a:r>
            <a:endParaRPr kumimoji="0" lang="zh-CN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autoUpdateAnimBg="0"/>
      <p:bldP spid="150584" grpId="0" autoUpdateAnimBg="0"/>
      <p:bldP spid="150585" grpId="0" autoUpdateAnimBg="0"/>
      <p:bldP spid="150586" grpId="0" autoUpdateAnimBg="0"/>
      <p:bldP spid="150587" grpId="0" autoUpdateAnimBg="0"/>
      <p:bldP spid="15059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877-FF2B-4DA8-8FAF-D3D2A6899DB2}" type="slidenum">
              <a:rPr lang="en-US" altLang="zh-CN"/>
            </a:fld>
            <a:endParaRPr lang="en-US" altLang="zh-CN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en-US" altLang="zh-CN"/>
              <a:t>3</a:t>
            </a:r>
            <a:r>
              <a:rPr lang="zh-CN" altLang="en-US"/>
              <a:t>变量卡诺图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1066800" y="2819400"/>
            <a:ext cx="3749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一个整体分成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个小方格</a:t>
            </a:r>
            <a:r>
              <a:rPr kumimoji="0"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kumimoji="0"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51557" name="Group 5"/>
          <p:cNvGrpSpPr/>
          <p:nvPr/>
        </p:nvGrpSpPr>
        <p:grpSpPr bwMode="auto">
          <a:xfrm>
            <a:off x="1835150" y="3556000"/>
            <a:ext cx="4465638" cy="2159000"/>
            <a:chOff x="1156" y="1707"/>
            <a:chExt cx="2813" cy="1360"/>
          </a:xfrm>
        </p:grpSpPr>
        <p:sp>
          <p:nvSpPr>
            <p:cNvPr id="151558" name="Rectangle 6"/>
            <p:cNvSpPr>
              <a:spLocks noChangeArrowheads="1"/>
            </p:cNvSpPr>
            <p:nvPr/>
          </p:nvSpPr>
          <p:spPr bwMode="auto">
            <a:xfrm>
              <a:off x="3357" y="2591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59" name="Rectangle 7"/>
            <p:cNvSpPr>
              <a:spLocks noChangeArrowheads="1"/>
            </p:cNvSpPr>
            <p:nvPr/>
          </p:nvSpPr>
          <p:spPr bwMode="auto">
            <a:xfrm>
              <a:off x="2744" y="2591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0" name="Rectangle 8"/>
            <p:cNvSpPr>
              <a:spLocks noChangeArrowheads="1"/>
            </p:cNvSpPr>
            <p:nvPr/>
          </p:nvSpPr>
          <p:spPr bwMode="auto">
            <a:xfrm>
              <a:off x="2132" y="2591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1" name="Rectangle 9"/>
            <p:cNvSpPr>
              <a:spLocks noChangeArrowheads="1"/>
            </p:cNvSpPr>
            <p:nvPr/>
          </p:nvSpPr>
          <p:spPr bwMode="auto">
            <a:xfrm>
              <a:off x="1519" y="2591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2" name="Rectangle 10"/>
            <p:cNvSpPr>
              <a:spLocks noChangeArrowheads="1"/>
            </p:cNvSpPr>
            <p:nvPr/>
          </p:nvSpPr>
          <p:spPr bwMode="auto">
            <a:xfrm>
              <a:off x="3357" y="2115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3" name="Rectangle 11"/>
            <p:cNvSpPr>
              <a:spLocks noChangeArrowheads="1"/>
            </p:cNvSpPr>
            <p:nvPr/>
          </p:nvSpPr>
          <p:spPr bwMode="auto">
            <a:xfrm>
              <a:off x="2744" y="2115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4" name="Rectangle 12"/>
            <p:cNvSpPr>
              <a:spLocks noChangeArrowheads="1"/>
            </p:cNvSpPr>
            <p:nvPr/>
          </p:nvSpPr>
          <p:spPr bwMode="auto">
            <a:xfrm>
              <a:off x="2132" y="2115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5" name="Rectangle 13"/>
            <p:cNvSpPr>
              <a:spLocks noChangeArrowheads="1"/>
            </p:cNvSpPr>
            <p:nvPr/>
          </p:nvSpPr>
          <p:spPr bwMode="auto">
            <a:xfrm>
              <a:off x="1519" y="2115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566" name="Line 14"/>
            <p:cNvSpPr>
              <a:spLocks noChangeShapeType="1"/>
            </p:cNvSpPr>
            <p:nvPr/>
          </p:nvSpPr>
          <p:spPr bwMode="auto">
            <a:xfrm>
              <a:off x="1519" y="2115"/>
              <a:ext cx="24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7" name="Line 15"/>
            <p:cNvSpPr>
              <a:spLocks noChangeShapeType="1"/>
            </p:cNvSpPr>
            <p:nvPr/>
          </p:nvSpPr>
          <p:spPr bwMode="auto">
            <a:xfrm>
              <a:off x="1519" y="2591"/>
              <a:ext cx="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8" name="Line 16"/>
            <p:cNvSpPr>
              <a:spLocks noChangeShapeType="1"/>
            </p:cNvSpPr>
            <p:nvPr/>
          </p:nvSpPr>
          <p:spPr bwMode="auto">
            <a:xfrm>
              <a:off x="1519" y="3067"/>
              <a:ext cx="24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9" name="Line 17"/>
            <p:cNvSpPr>
              <a:spLocks noChangeShapeType="1"/>
            </p:cNvSpPr>
            <p:nvPr/>
          </p:nvSpPr>
          <p:spPr bwMode="auto">
            <a:xfrm>
              <a:off x="1519" y="2115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0" name="Line 18"/>
            <p:cNvSpPr>
              <a:spLocks noChangeShapeType="1"/>
            </p:cNvSpPr>
            <p:nvPr/>
          </p:nvSpPr>
          <p:spPr bwMode="auto">
            <a:xfrm>
              <a:off x="2132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1" name="Line 19"/>
            <p:cNvSpPr>
              <a:spLocks noChangeShapeType="1"/>
            </p:cNvSpPr>
            <p:nvPr/>
          </p:nvSpPr>
          <p:spPr bwMode="auto">
            <a:xfrm>
              <a:off x="2744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2" name="Line 20"/>
            <p:cNvSpPr>
              <a:spLocks noChangeShapeType="1"/>
            </p:cNvSpPr>
            <p:nvPr/>
          </p:nvSpPr>
          <p:spPr bwMode="auto">
            <a:xfrm>
              <a:off x="3357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3" name="Line 21"/>
            <p:cNvSpPr>
              <a:spLocks noChangeShapeType="1"/>
            </p:cNvSpPr>
            <p:nvPr/>
          </p:nvSpPr>
          <p:spPr bwMode="auto">
            <a:xfrm>
              <a:off x="3969" y="2115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4" name="Line 22"/>
            <p:cNvSpPr>
              <a:spLocks noChangeShapeType="1"/>
            </p:cNvSpPr>
            <p:nvPr/>
          </p:nvSpPr>
          <p:spPr bwMode="auto">
            <a:xfrm>
              <a:off x="1156" y="1707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575" name="Group 23"/>
          <p:cNvGrpSpPr/>
          <p:nvPr/>
        </p:nvGrpSpPr>
        <p:grpSpPr bwMode="auto">
          <a:xfrm>
            <a:off x="1763713" y="3338513"/>
            <a:ext cx="865187" cy="962025"/>
            <a:chOff x="1111" y="1570"/>
            <a:chExt cx="545" cy="606"/>
          </a:xfrm>
        </p:grpSpPr>
        <p:sp>
          <p:nvSpPr>
            <p:cNvPr id="151576" name="Text Box 24"/>
            <p:cNvSpPr txBox="1">
              <a:spLocks noChangeArrowheads="1"/>
            </p:cNvSpPr>
            <p:nvPr/>
          </p:nvSpPr>
          <p:spPr bwMode="auto">
            <a:xfrm>
              <a:off x="1246" y="157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77" name="Text Box 25"/>
            <p:cNvSpPr txBox="1">
              <a:spLocks noChangeArrowheads="1"/>
            </p:cNvSpPr>
            <p:nvPr/>
          </p:nvSpPr>
          <p:spPr bwMode="auto">
            <a:xfrm>
              <a:off x="1383" y="175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78" name="Text Box 26"/>
            <p:cNvSpPr txBox="1">
              <a:spLocks noChangeArrowheads="1"/>
            </p:cNvSpPr>
            <p:nvPr/>
          </p:nvSpPr>
          <p:spPr bwMode="auto">
            <a:xfrm>
              <a:off x="1111" y="1888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1579" name="Group 27"/>
          <p:cNvGrpSpPr/>
          <p:nvPr/>
        </p:nvGrpSpPr>
        <p:grpSpPr bwMode="auto">
          <a:xfrm>
            <a:off x="1979613" y="4346575"/>
            <a:ext cx="576262" cy="1249363"/>
            <a:chOff x="1156" y="2205"/>
            <a:chExt cx="363" cy="787"/>
          </a:xfrm>
        </p:grpSpPr>
        <p:sp>
          <p:nvSpPr>
            <p:cNvPr id="151580" name="Text Box 28"/>
            <p:cNvSpPr txBox="1">
              <a:spLocks noChangeArrowheads="1"/>
            </p:cNvSpPr>
            <p:nvPr/>
          </p:nvSpPr>
          <p:spPr bwMode="auto">
            <a:xfrm>
              <a:off x="1156" y="270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81" name="Text Box 29"/>
            <p:cNvSpPr txBox="1">
              <a:spLocks noChangeArrowheads="1"/>
            </p:cNvSpPr>
            <p:nvPr/>
          </p:nvSpPr>
          <p:spPr bwMode="auto">
            <a:xfrm>
              <a:off x="1156" y="220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1582" name="Group 30"/>
          <p:cNvGrpSpPr/>
          <p:nvPr/>
        </p:nvGrpSpPr>
        <p:grpSpPr bwMode="auto">
          <a:xfrm>
            <a:off x="2627313" y="3698875"/>
            <a:ext cx="3529012" cy="457200"/>
            <a:chOff x="1655" y="1797"/>
            <a:chExt cx="2223" cy="288"/>
          </a:xfrm>
        </p:grpSpPr>
        <p:sp>
          <p:nvSpPr>
            <p:cNvPr id="151583" name="Text Box 31"/>
            <p:cNvSpPr txBox="1">
              <a:spLocks noChangeArrowheads="1"/>
            </p:cNvSpPr>
            <p:nvPr/>
          </p:nvSpPr>
          <p:spPr bwMode="auto">
            <a:xfrm>
              <a:off x="165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84" name="Text Box 32"/>
            <p:cNvSpPr txBox="1">
              <a:spLocks noChangeArrowheads="1"/>
            </p:cNvSpPr>
            <p:nvPr/>
          </p:nvSpPr>
          <p:spPr bwMode="auto">
            <a:xfrm>
              <a:off x="292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85" name="Text Box 33"/>
            <p:cNvSpPr txBox="1">
              <a:spLocks noChangeArrowheads="1"/>
            </p:cNvSpPr>
            <p:nvPr/>
          </p:nvSpPr>
          <p:spPr bwMode="auto">
            <a:xfrm>
              <a:off x="2290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1586" name="Text Box 34"/>
            <p:cNvSpPr txBox="1">
              <a:spLocks noChangeArrowheads="1"/>
            </p:cNvSpPr>
            <p:nvPr/>
          </p:nvSpPr>
          <p:spPr bwMode="auto">
            <a:xfrm>
              <a:off x="351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51587" name="Rectangle 35"/>
          <p:cNvSpPr>
            <a:spLocks noChangeArrowheads="1"/>
          </p:cNvSpPr>
          <p:nvPr/>
        </p:nvSpPr>
        <p:spPr bwMode="auto">
          <a:xfrm>
            <a:off x="3635375" y="4346575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88" name="Rectangle 36"/>
          <p:cNvSpPr>
            <a:spLocks noChangeArrowheads="1"/>
          </p:cNvSpPr>
          <p:nvPr/>
        </p:nvSpPr>
        <p:spPr bwMode="auto">
          <a:xfrm>
            <a:off x="2700338" y="4324350"/>
            <a:ext cx="6111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89" name="Rectangle 37"/>
          <p:cNvSpPr>
            <a:spLocks noChangeArrowheads="1"/>
          </p:cNvSpPr>
          <p:nvPr/>
        </p:nvSpPr>
        <p:spPr bwMode="auto">
          <a:xfrm>
            <a:off x="4537075" y="43243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0" name="Rectangle 38"/>
          <p:cNvSpPr>
            <a:spLocks noChangeArrowheads="1"/>
          </p:cNvSpPr>
          <p:nvPr/>
        </p:nvSpPr>
        <p:spPr bwMode="auto">
          <a:xfrm>
            <a:off x="5508625" y="4346575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1" name="Rectangle 39"/>
          <p:cNvSpPr>
            <a:spLocks noChangeArrowheads="1"/>
          </p:cNvSpPr>
          <p:nvPr/>
        </p:nvSpPr>
        <p:spPr bwMode="auto">
          <a:xfrm>
            <a:off x="3635375" y="51387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2" name="Rectangle 40"/>
          <p:cNvSpPr>
            <a:spLocks noChangeArrowheads="1"/>
          </p:cNvSpPr>
          <p:nvPr/>
        </p:nvSpPr>
        <p:spPr bwMode="auto">
          <a:xfrm>
            <a:off x="2665413" y="5067300"/>
            <a:ext cx="6111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3" name="Rectangle 41"/>
          <p:cNvSpPr>
            <a:spLocks noChangeArrowheads="1"/>
          </p:cNvSpPr>
          <p:nvPr/>
        </p:nvSpPr>
        <p:spPr bwMode="auto">
          <a:xfrm>
            <a:off x="4572000" y="51387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7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4" name="Rectangle 42"/>
          <p:cNvSpPr>
            <a:spLocks noChangeArrowheads="1"/>
          </p:cNvSpPr>
          <p:nvPr/>
        </p:nvSpPr>
        <p:spPr bwMode="auto">
          <a:xfrm>
            <a:off x="5508625" y="506730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595" name="Rectangle 43"/>
          <p:cNvSpPr>
            <a:spLocks noChangeArrowheads="1"/>
          </p:cNvSpPr>
          <p:nvPr/>
        </p:nvSpPr>
        <p:spPr bwMode="auto">
          <a:xfrm>
            <a:off x="1066801" y="5786864"/>
            <a:ext cx="7321624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注意：上表头编码按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00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01―11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0"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（循环？？码）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顺序排列，而不是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00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kumimoji="0"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kumimoji="0"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  <p:bldP spid="151587" grpId="0" autoUpdateAnimBg="0"/>
      <p:bldP spid="151588" grpId="0" autoUpdateAnimBg="0"/>
      <p:bldP spid="151589" grpId="0" autoUpdateAnimBg="0"/>
      <p:bldP spid="151590" grpId="0" autoUpdateAnimBg="0"/>
      <p:bldP spid="151591" grpId="0" autoUpdateAnimBg="0"/>
      <p:bldP spid="151592" grpId="0" autoUpdateAnimBg="0"/>
      <p:bldP spid="151593" grpId="0" autoUpdateAnimBg="0"/>
      <p:bldP spid="151594" grpId="0" autoUpdateAnimBg="0"/>
      <p:bldP spid="15159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409FE-9358-41FF-BC00-4B778D856BA3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4000"/>
            <a:ext cx="8763000" cy="4572000"/>
          </a:xfrm>
        </p:spPr>
        <p:txBody>
          <a:bodyPr/>
          <a:lstStyle/>
          <a:p>
            <a:pPr marL="95250" indent="-95250"/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marL="285750" lvl="1" indent="0"/>
            <a:r>
              <a:rPr lang="zh-CN" altLang="en-US" dirty="0"/>
              <a:t>循环格雷码</a:t>
            </a:r>
            <a:endParaRPr lang="zh-CN" altLang="en-US" dirty="0"/>
          </a:p>
          <a:p>
            <a:pPr marL="666750" lvl="2" indent="-190500"/>
            <a:r>
              <a:rPr lang="zh-CN" altLang="en-US" dirty="0"/>
              <a:t>循环码的定义：相邻两个编码之间只有一位数不同，而且首尾两个编码之间也只有一位数不同，这种编码叫循环格雷码。</a:t>
            </a:r>
            <a:endParaRPr lang="zh-CN" altLang="en-US" dirty="0"/>
          </a:p>
        </p:txBody>
      </p:sp>
      <p:sp>
        <p:nvSpPr>
          <p:cNvPr id="152585" name="Rectangle 9"/>
          <p:cNvSpPr>
            <a:spLocks noChangeArrowheads="1"/>
          </p:cNvSpPr>
          <p:nvPr/>
        </p:nvSpPr>
        <p:spPr bwMode="auto">
          <a:xfrm>
            <a:off x="934144" y="4086944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4480" indent="-28448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位循环码</a:t>
            </a:r>
            <a:r>
              <a:rPr lang="en-US" altLang="zh-CN" dirty="0">
                <a:latin typeface="+mn-ea"/>
                <a:ea typeface="+mn-ea"/>
              </a:rPr>
              <a:t>:</a:t>
            </a:r>
            <a:r>
              <a:rPr lang="en-US" altLang="zh-CN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 00</a:t>
            </a:r>
            <a:r>
              <a:rPr lang="en-US" altLang="zh-CN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01</a:t>
            </a:r>
            <a:r>
              <a:rPr lang="en-US" altLang="zh-CN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11</a:t>
            </a:r>
            <a:r>
              <a:rPr lang="en-US" altLang="zh-CN" dirty="0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10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52586" name="Rectangle 10"/>
          <p:cNvSpPr>
            <a:spLocks noChangeArrowheads="1"/>
          </p:cNvSpPr>
          <p:nvPr/>
        </p:nvSpPr>
        <p:spPr bwMode="auto">
          <a:xfrm>
            <a:off x="934144" y="4620344"/>
            <a:ext cx="8209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4480" indent="-28448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>
                <a:latin typeface="+mn-ea"/>
                <a:ea typeface="+mn-ea"/>
              </a:rPr>
              <a:t>3</a:t>
            </a:r>
            <a:r>
              <a:rPr lang="zh-CN" altLang="en-US">
                <a:latin typeface="+mn-ea"/>
                <a:ea typeface="+mn-ea"/>
              </a:rPr>
              <a:t>位循环码</a:t>
            </a:r>
            <a:r>
              <a:rPr lang="en-US" altLang="zh-CN">
                <a:latin typeface="+mn-ea"/>
                <a:ea typeface="+mn-ea"/>
              </a:rPr>
              <a:t>: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000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001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011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010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110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111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101</a:t>
            </a:r>
            <a:r>
              <a:rPr lang="en-US" altLang="zh-CN">
                <a:latin typeface="+mn-ea"/>
                <a:ea typeface="+mn-ea"/>
                <a:sym typeface="Wingdings" panose="05000000000000000000" pitchFamily="2" charset="2"/>
              </a:rPr>
              <a:t></a:t>
            </a:r>
            <a:r>
              <a:rPr lang="en-US" altLang="zh-CN">
                <a:latin typeface="+mn-ea"/>
                <a:ea typeface="+mn-ea"/>
              </a:rPr>
              <a:t>100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152587" name="Rectangle 11"/>
          <p:cNvSpPr>
            <a:spLocks noChangeArrowheads="1"/>
          </p:cNvSpPr>
          <p:nvPr/>
        </p:nvSpPr>
        <p:spPr bwMode="auto">
          <a:xfrm>
            <a:off x="934144" y="5153744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4480" indent="-28448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循环格雷码的特点：每次只变一位；用在卡诺图上，可以较为容易地发现和消去最小项的多余变量。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5" grpId="0" autoUpdateAnimBg="0"/>
      <p:bldP spid="152586" grpId="0" autoUpdateAnimBg="0"/>
      <p:bldP spid="15258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FF7E-5F42-4BAE-AC9A-ABA247E4F219}" type="slidenum">
              <a:rPr lang="en-US" altLang="zh-CN"/>
            </a:fld>
            <a:endParaRPr lang="en-US" altLang="zh-CN"/>
          </a:p>
        </p:txBody>
      </p:sp>
      <p:sp>
        <p:nvSpPr>
          <p:cNvPr id="286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2362200" cy="4572000"/>
          </a:xfrm>
        </p:spPr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变量卡诺图的含义</a:t>
            </a:r>
            <a:endParaRPr lang="zh-CN" altLang="en-US"/>
          </a:p>
        </p:txBody>
      </p:sp>
      <p:grpSp>
        <p:nvGrpSpPr>
          <p:cNvPr id="286762" name="Group 42"/>
          <p:cNvGrpSpPr/>
          <p:nvPr/>
        </p:nvGrpSpPr>
        <p:grpSpPr bwMode="auto">
          <a:xfrm>
            <a:off x="2971800" y="1371600"/>
            <a:ext cx="4537075" cy="2376488"/>
            <a:chOff x="288" y="1959"/>
            <a:chExt cx="2858" cy="1497"/>
          </a:xfrm>
        </p:grpSpPr>
        <p:grpSp>
          <p:nvGrpSpPr>
            <p:cNvPr id="286724" name="Group 4"/>
            <p:cNvGrpSpPr/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86725" name="Rectangle 5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26" name="Rectangle 6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27" name="Rectangle 7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28" name="Rectangle 8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29" name="Rectangle 9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30" name="Rectangle 10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31" name="Rectangle 11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32" name="Rectangle 12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33" name="Line 13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4" name="Line 14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5" name="Line 15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6" name="Line 16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7" name="Line 17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8" name="Line 18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9" name="Line 19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40" name="Line 20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41" name="Line 21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6742" name="Group 22"/>
            <p:cNvGrpSpPr/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86743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44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45" name="Text Box 2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6746" name="Group 26"/>
            <p:cNvGrpSpPr/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86747" name="Text Box 27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48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6749" name="Group 29"/>
            <p:cNvGrpSpPr/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86750" name="Text Box 30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51" name="Text Box 31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52" name="Text Box 3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53" name="Text Box 33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6754" name="Rectangle 34"/>
            <p:cNvSpPr>
              <a:spLocks noChangeArrowheads="1"/>
            </p:cNvSpPr>
            <p:nvPr/>
          </p:nvSpPr>
          <p:spPr bwMode="auto">
            <a:xfrm>
              <a:off x="1467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55" name="Rectangle 35"/>
            <p:cNvSpPr>
              <a:spLocks noChangeArrowheads="1"/>
            </p:cNvSpPr>
            <p:nvPr/>
          </p:nvSpPr>
          <p:spPr bwMode="auto">
            <a:xfrm>
              <a:off x="856" y="2604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56" name="Rectangle 36"/>
            <p:cNvSpPr>
              <a:spLocks noChangeArrowheads="1"/>
            </p:cNvSpPr>
            <p:nvPr/>
          </p:nvSpPr>
          <p:spPr bwMode="auto">
            <a:xfrm>
              <a:off x="2035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57" name="Rectangle 37"/>
            <p:cNvSpPr>
              <a:spLocks noChangeArrowheads="1"/>
            </p:cNvSpPr>
            <p:nvPr/>
          </p:nvSpPr>
          <p:spPr bwMode="auto">
            <a:xfrm>
              <a:off x="2647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58" name="Rectangle 38"/>
            <p:cNvSpPr>
              <a:spLocks noChangeArrowheads="1"/>
            </p:cNvSpPr>
            <p:nvPr/>
          </p:nvSpPr>
          <p:spPr bwMode="auto">
            <a:xfrm>
              <a:off x="1467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59" name="Rectangle 39"/>
            <p:cNvSpPr>
              <a:spLocks noChangeArrowheads="1"/>
            </p:cNvSpPr>
            <p:nvPr/>
          </p:nvSpPr>
          <p:spPr bwMode="auto">
            <a:xfrm>
              <a:off x="856" y="3074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60" name="Rectangle 40"/>
            <p:cNvSpPr>
              <a:spLocks noChangeArrowheads="1"/>
            </p:cNvSpPr>
            <p:nvPr/>
          </p:nvSpPr>
          <p:spPr bwMode="auto">
            <a:xfrm>
              <a:off x="2035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761" name="Rectangle 41"/>
            <p:cNvSpPr>
              <a:spLocks noChangeArrowheads="1"/>
            </p:cNvSpPr>
            <p:nvPr/>
          </p:nvSpPr>
          <p:spPr bwMode="auto">
            <a:xfrm>
              <a:off x="2647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6810" name="Group 90"/>
          <p:cNvGrpSpPr/>
          <p:nvPr/>
        </p:nvGrpSpPr>
        <p:grpSpPr bwMode="auto">
          <a:xfrm>
            <a:off x="2971800" y="3886200"/>
            <a:ext cx="4537075" cy="2376488"/>
            <a:chOff x="1872" y="2448"/>
            <a:chExt cx="2858" cy="1497"/>
          </a:xfrm>
        </p:grpSpPr>
        <p:grpSp>
          <p:nvGrpSpPr>
            <p:cNvPr id="286764" name="Group 44"/>
            <p:cNvGrpSpPr/>
            <p:nvPr/>
          </p:nvGrpSpPr>
          <p:grpSpPr bwMode="auto">
            <a:xfrm>
              <a:off x="1917" y="2585"/>
              <a:ext cx="2813" cy="1360"/>
              <a:chOff x="1156" y="1707"/>
              <a:chExt cx="2813" cy="1360"/>
            </a:xfrm>
          </p:grpSpPr>
          <p:sp>
            <p:nvSpPr>
              <p:cNvPr id="286765" name="Rectangle 45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66" name="Rectangle 46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67" name="Rectangle 47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68" name="Rectangle 48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69" name="Rectangle 49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70" name="Rectangle 50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71" name="Rectangle 51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72" name="Rectangle 52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773" name="Line 53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4" name="Line 54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5" name="Line 55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6" name="Line 56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7" name="Line 57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8" name="Line 58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9" name="Line 59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80" name="Line 60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81" name="Line 61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6782" name="Group 62"/>
            <p:cNvGrpSpPr/>
            <p:nvPr/>
          </p:nvGrpSpPr>
          <p:grpSpPr bwMode="auto">
            <a:xfrm>
              <a:off x="1872" y="2448"/>
              <a:ext cx="545" cy="606"/>
              <a:chOff x="1111" y="1570"/>
              <a:chExt cx="545" cy="606"/>
            </a:xfrm>
          </p:grpSpPr>
          <p:sp>
            <p:nvSpPr>
              <p:cNvPr id="286783" name="Text Box 6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84" name="Text Box 6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85" name="Text Box 6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6786" name="Group 66"/>
            <p:cNvGrpSpPr/>
            <p:nvPr/>
          </p:nvGrpSpPr>
          <p:grpSpPr bwMode="auto">
            <a:xfrm>
              <a:off x="2008" y="3083"/>
              <a:ext cx="363" cy="787"/>
              <a:chOff x="1156" y="2205"/>
              <a:chExt cx="363" cy="787"/>
            </a:xfrm>
          </p:grpSpPr>
          <p:sp>
            <p:nvSpPr>
              <p:cNvPr id="286787" name="Text Box 67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88" name="Text Box 6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6789" name="Group 69"/>
            <p:cNvGrpSpPr/>
            <p:nvPr/>
          </p:nvGrpSpPr>
          <p:grpSpPr bwMode="auto">
            <a:xfrm>
              <a:off x="2416" y="2675"/>
              <a:ext cx="2223" cy="288"/>
              <a:chOff x="1655" y="1797"/>
              <a:chExt cx="2223" cy="288"/>
            </a:xfrm>
          </p:grpSpPr>
          <p:sp>
            <p:nvSpPr>
              <p:cNvPr id="286790" name="Text Box 70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91" name="Text Box 71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92" name="Text Box 7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6793" name="Text Box 73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286802" name="Object 82"/>
            <p:cNvGraphicFramePr>
              <a:graphicFrameLocks noChangeAspect="1"/>
            </p:cNvGraphicFramePr>
            <p:nvPr/>
          </p:nvGraphicFramePr>
          <p:xfrm>
            <a:off x="2337" y="3024"/>
            <a:ext cx="576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0" name="公式" r:id="rId1" imgW="330200" imgH="215900" progId="Equation.3">
                    <p:embed/>
                  </p:oleObj>
                </mc:Choice>
                <mc:Fallback>
                  <p:oleObj name="公式" r:id="rId1" imgW="330200" imgH="215900" progId="Equation.3">
                    <p:embed/>
                    <p:pic>
                      <p:nvPicPr>
                        <p:cNvPr id="0" name="图片 403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3024"/>
                          <a:ext cx="576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3" name="Object 83"/>
            <p:cNvGraphicFramePr>
              <a:graphicFrameLocks noChangeAspect="1"/>
            </p:cNvGraphicFramePr>
            <p:nvPr/>
          </p:nvGraphicFramePr>
          <p:xfrm>
            <a:off x="2913" y="3024"/>
            <a:ext cx="577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1" name="公式" r:id="rId3" imgW="330200" imgH="215900" progId="Equation.3">
                    <p:embed/>
                  </p:oleObj>
                </mc:Choice>
                <mc:Fallback>
                  <p:oleObj name="公式" r:id="rId3" imgW="330200" imgH="215900" progId="Equation.3">
                    <p:embed/>
                    <p:pic>
                      <p:nvPicPr>
                        <p:cNvPr id="0" name="图片 403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3024"/>
                          <a:ext cx="577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4" name="Object 84"/>
            <p:cNvGraphicFramePr>
              <a:graphicFrameLocks noChangeAspect="1"/>
            </p:cNvGraphicFramePr>
            <p:nvPr/>
          </p:nvGraphicFramePr>
          <p:xfrm>
            <a:off x="3541" y="3020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2" name="公式" r:id="rId5" imgW="316865" imgH="215900" progId="Equation.3">
                    <p:embed/>
                  </p:oleObj>
                </mc:Choice>
                <mc:Fallback>
                  <p:oleObj name="公式" r:id="rId5" imgW="316865" imgH="215900" progId="Equation.3">
                    <p:embed/>
                    <p:pic>
                      <p:nvPicPr>
                        <p:cNvPr id="0" name="图片 403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3020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5" name="Object 85"/>
            <p:cNvGraphicFramePr>
              <a:graphicFrameLocks noChangeAspect="1"/>
            </p:cNvGraphicFramePr>
            <p:nvPr/>
          </p:nvGraphicFramePr>
          <p:xfrm>
            <a:off x="4153" y="3024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3" name="公式" r:id="rId7" imgW="316865" imgH="215900" progId="Equation.3">
                    <p:embed/>
                  </p:oleObj>
                </mc:Choice>
                <mc:Fallback>
                  <p:oleObj name="公式" r:id="rId7" imgW="316865" imgH="215900" progId="Equation.3">
                    <p:embed/>
                    <p:pic>
                      <p:nvPicPr>
                        <p:cNvPr id="0" name="图片 403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3024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6" name="Object 86"/>
            <p:cNvGraphicFramePr>
              <a:graphicFrameLocks noChangeAspect="1"/>
            </p:cNvGraphicFramePr>
            <p:nvPr/>
          </p:nvGraphicFramePr>
          <p:xfrm>
            <a:off x="2348" y="3504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4" name="公式" r:id="rId9" imgW="316865" imgH="215900" progId="Equation.3">
                    <p:embed/>
                  </p:oleObj>
                </mc:Choice>
                <mc:Fallback>
                  <p:oleObj name="公式" r:id="rId9" imgW="316865" imgH="215900" progId="Equation.3">
                    <p:embed/>
                    <p:pic>
                      <p:nvPicPr>
                        <p:cNvPr id="0" name="图片 403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8" y="3504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7" name="Object 87"/>
            <p:cNvGraphicFramePr>
              <a:graphicFrameLocks noChangeAspect="1"/>
            </p:cNvGraphicFramePr>
            <p:nvPr/>
          </p:nvGraphicFramePr>
          <p:xfrm>
            <a:off x="2924" y="3504"/>
            <a:ext cx="555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5" name="公式" r:id="rId11" imgW="316865" imgH="215900" progId="Equation.3">
                    <p:embed/>
                  </p:oleObj>
                </mc:Choice>
                <mc:Fallback>
                  <p:oleObj name="公式" r:id="rId11" imgW="316865" imgH="215900" progId="Equation.3">
                    <p:embed/>
                    <p:pic>
                      <p:nvPicPr>
                        <p:cNvPr id="0" name="图片 403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4" y="3504"/>
                          <a:ext cx="555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8" name="Object 88"/>
            <p:cNvGraphicFramePr>
              <a:graphicFrameLocks noChangeAspect="1"/>
            </p:cNvGraphicFramePr>
            <p:nvPr/>
          </p:nvGraphicFramePr>
          <p:xfrm>
            <a:off x="3551" y="3580"/>
            <a:ext cx="5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6" name="公式" r:id="rId13" imgW="304800" imgH="165100" progId="Equation.3">
                    <p:embed/>
                  </p:oleObj>
                </mc:Choice>
                <mc:Fallback>
                  <p:oleObj name="公式" r:id="rId13" imgW="304800" imgH="165100" progId="Equation.3">
                    <p:embed/>
                    <p:pic>
                      <p:nvPicPr>
                        <p:cNvPr id="0" name="图片 403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1" y="3580"/>
                          <a:ext cx="532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9" name="Object 89"/>
            <p:cNvGraphicFramePr>
              <a:graphicFrameLocks noChangeAspect="1"/>
            </p:cNvGraphicFramePr>
            <p:nvPr/>
          </p:nvGraphicFramePr>
          <p:xfrm>
            <a:off x="4183" y="3504"/>
            <a:ext cx="531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37" name="公式" r:id="rId15" imgW="304800" imgH="215900" progId="Equation.3">
                    <p:embed/>
                  </p:oleObj>
                </mc:Choice>
                <mc:Fallback>
                  <p:oleObj name="公式" r:id="rId15" imgW="304800" imgH="215900" progId="Equation.3">
                    <p:embed/>
                    <p:pic>
                      <p:nvPicPr>
                        <p:cNvPr id="0" name="图片 403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3" y="3504"/>
                          <a:ext cx="531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798" name="Group 54"/>
          <p:cNvGrpSpPr/>
          <p:nvPr/>
        </p:nvGrpSpPr>
        <p:grpSpPr bwMode="auto">
          <a:xfrm>
            <a:off x="2514600" y="3276600"/>
            <a:ext cx="3048000" cy="533400"/>
            <a:chOff x="1584" y="2064"/>
            <a:chExt cx="1920" cy="336"/>
          </a:xfrm>
        </p:grpSpPr>
        <p:sp>
          <p:nvSpPr>
            <p:cNvPr id="287796" name="Rectangle 52"/>
            <p:cNvSpPr>
              <a:spLocks noChangeArrowheads="1"/>
            </p:cNvSpPr>
            <p:nvPr/>
          </p:nvSpPr>
          <p:spPr bwMode="auto">
            <a:xfrm>
              <a:off x="3024" y="2064"/>
              <a:ext cx="480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797" name="Rectangle 53"/>
            <p:cNvSpPr>
              <a:spLocks noChangeArrowheads="1"/>
            </p:cNvSpPr>
            <p:nvPr/>
          </p:nvSpPr>
          <p:spPr bwMode="auto">
            <a:xfrm>
              <a:off x="1584" y="2064"/>
              <a:ext cx="480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042F-D5DC-41F3-9BF7-869153E24DDA}" type="slidenum">
              <a:rPr lang="en-US" altLang="zh-CN"/>
            </a:fld>
            <a:endParaRPr lang="en-US" altLang="zh-CN"/>
          </a:p>
        </p:txBody>
      </p:sp>
      <p:sp>
        <p:nvSpPr>
          <p:cNvPr id="2877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变量卡诺图化简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287791" name="Rectangle 47"/>
          <p:cNvSpPr>
            <a:spLocks noChangeArrowheads="1"/>
          </p:cNvSpPr>
          <p:nvPr/>
        </p:nvSpPr>
        <p:spPr bwMode="auto">
          <a:xfrm>
            <a:off x="2514600" y="2743200"/>
            <a:ext cx="15240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93" name="Rectangle 49"/>
          <p:cNvSpPr>
            <a:spLocks noChangeArrowheads="1"/>
          </p:cNvSpPr>
          <p:nvPr/>
        </p:nvSpPr>
        <p:spPr bwMode="auto">
          <a:xfrm>
            <a:off x="3276600" y="2743200"/>
            <a:ext cx="1524000" cy="10668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87" name="Rectangle 43"/>
          <p:cNvSpPr>
            <a:spLocks noChangeArrowheads="1"/>
          </p:cNvSpPr>
          <p:nvPr/>
        </p:nvSpPr>
        <p:spPr bwMode="auto">
          <a:xfrm>
            <a:off x="838200" y="3886200"/>
            <a:ext cx="466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变量函数如何用卡诺图化简？</a:t>
            </a:r>
            <a:r>
              <a:rPr kumimoji="0"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kumimoji="0"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87788" name="Object 44"/>
          <p:cNvGraphicFramePr>
            <a:graphicFrameLocks noChangeAspect="1"/>
          </p:cNvGraphicFramePr>
          <p:nvPr/>
        </p:nvGraphicFramePr>
        <p:xfrm>
          <a:off x="771029" y="4419600"/>
          <a:ext cx="29368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1" name="公式" r:id="rId1" imgW="1155065" imgH="215900" progId="Equation.3">
                  <p:embed/>
                </p:oleObj>
              </mc:Choice>
              <mc:Fallback>
                <p:oleObj name="公式" r:id="rId1" imgW="1155065" imgH="215900" progId="Equation.3">
                  <p:embed/>
                  <p:pic>
                    <p:nvPicPr>
                      <p:cNvPr id="0" name="图片 416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29" y="4419600"/>
                        <a:ext cx="29368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790" name="Group 46"/>
          <p:cNvGrpSpPr/>
          <p:nvPr/>
        </p:nvGrpSpPr>
        <p:grpSpPr bwMode="auto">
          <a:xfrm>
            <a:off x="1828800" y="1905000"/>
            <a:ext cx="3733800" cy="1925638"/>
            <a:chOff x="1152" y="1200"/>
            <a:chExt cx="2352" cy="1213"/>
          </a:xfrm>
        </p:grpSpPr>
        <p:sp>
          <p:nvSpPr>
            <p:cNvPr id="287757" name="Line 13"/>
            <p:cNvSpPr>
              <a:spLocks noChangeShapeType="1"/>
            </p:cNvSpPr>
            <p:nvPr/>
          </p:nvSpPr>
          <p:spPr bwMode="auto">
            <a:xfrm>
              <a:off x="1584" y="1728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8" name="Line 14"/>
            <p:cNvSpPr>
              <a:spLocks noChangeShapeType="1"/>
            </p:cNvSpPr>
            <p:nvPr/>
          </p:nvSpPr>
          <p:spPr bwMode="auto">
            <a:xfrm>
              <a:off x="1584" y="2064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9" name="Line 15"/>
            <p:cNvSpPr>
              <a:spLocks noChangeShapeType="1"/>
            </p:cNvSpPr>
            <p:nvPr/>
          </p:nvSpPr>
          <p:spPr bwMode="auto">
            <a:xfrm>
              <a:off x="1584" y="2400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1" name="Line 17"/>
            <p:cNvSpPr>
              <a:spLocks noChangeShapeType="1"/>
            </p:cNvSpPr>
            <p:nvPr/>
          </p:nvSpPr>
          <p:spPr bwMode="auto">
            <a:xfrm>
              <a:off x="206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2" name="Line 18"/>
            <p:cNvSpPr>
              <a:spLocks noChangeShapeType="1"/>
            </p:cNvSpPr>
            <p:nvPr/>
          </p:nvSpPr>
          <p:spPr bwMode="auto">
            <a:xfrm>
              <a:off x="254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3" name="Line 19"/>
            <p:cNvSpPr>
              <a:spLocks noChangeShapeType="1"/>
            </p:cNvSpPr>
            <p:nvPr/>
          </p:nvSpPr>
          <p:spPr bwMode="auto">
            <a:xfrm flipH="1">
              <a:off x="302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4" name="Line 20"/>
            <p:cNvSpPr>
              <a:spLocks noChangeShapeType="1"/>
            </p:cNvSpPr>
            <p:nvPr/>
          </p:nvSpPr>
          <p:spPr bwMode="auto">
            <a:xfrm flipH="1">
              <a:off x="3504" y="1728"/>
              <a:ext cx="0" cy="6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5" name="Line 21"/>
            <p:cNvSpPr>
              <a:spLocks noChangeShapeType="1"/>
            </p:cNvSpPr>
            <p:nvPr/>
          </p:nvSpPr>
          <p:spPr bwMode="auto">
            <a:xfrm>
              <a:off x="1197" y="1337"/>
              <a:ext cx="387" cy="3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766" name="Group 22"/>
            <p:cNvGrpSpPr/>
            <p:nvPr/>
          </p:nvGrpSpPr>
          <p:grpSpPr bwMode="auto">
            <a:xfrm>
              <a:off x="1152" y="1200"/>
              <a:ext cx="545" cy="606"/>
              <a:chOff x="1111" y="1570"/>
              <a:chExt cx="545" cy="606"/>
            </a:xfrm>
          </p:grpSpPr>
          <p:sp>
            <p:nvSpPr>
              <p:cNvPr id="287767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7768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7769" name="Text Box 2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7789" name="Group 45"/>
            <p:cNvGrpSpPr/>
            <p:nvPr/>
          </p:nvGrpSpPr>
          <p:grpSpPr bwMode="auto">
            <a:xfrm>
              <a:off x="1296" y="1728"/>
              <a:ext cx="363" cy="672"/>
              <a:chOff x="1296" y="1728"/>
              <a:chExt cx="363" cy="672"/>
            </a:xfrm>
          </p:grpSpPr>
          <p:sp>
            <p:nvSpPr>
              <p:cNvPr id="287760" name="Line 16"/>
              <p:cNvSpPr>
                <a:spLocks noChangeShapeType="1"/>
              </p:cNvSpPr>
              <p:nvPr/>
            </p:nvSpPr>
            <p:spPr bwMode="auto">
              <a:xfrm>
                <a:off x="1584" y="1728"/>
                <a:ext cx="0" cy="67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71" name="Text Box 27"/>
              <p:cNvSpPr txBox="1">
                <a:spLocks noChangeArrowheads="1"/>
              </p:cNvSpPr>
              <p:nvPr/>
            </p:nvSpPr>
            <p:spPr bwMode="auto">
              <a:xfrm>
                <a:off x="1296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7772" name="Text Box 28"/>
              <p:cNvSpPr txBox="1">
                <a:spLocks noChangeArrowheads="1"/>
              </p:cNvSpPr>
              <p:nvPr/>
            </p:nvSpPr>
            <p:spPr bwMode="auto">
              <a:xfrm>
                <a:off x="1296" y="172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7774" name="Text Box 30"/>
            <p:cNvSpPr txBox="1">
              <a:spLocks noChangeArrowheads="1"/>
            </p:cNvSpPr>
            <p:nvPr/>
          </p:nvSpPr>
          <p:spPr bwMode="auto">
            <a:xfrm>
              <a:off x="1621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87775" name="Text Box 31"/>
            <p:cNvSpPr txBox="1">
              <a:spLocks noChangeArrowheads="1"/>
            </p:cNvSpPr>
            <p:nvPr/>
          </p:nvSpPr>
          <p:spPr bwMode="auto">
            <a:xfrm>
              <a:off x="259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87776" name="Text Box 32"/>
            <p:cNvSpPr txBox="1">
              <a:spLocks noChangeArrowheads="1"/>
            </p:cNvSpPr>
            <p:nvPr/>
          </p:nvSpPr>
          <p:spPr bwMode="auto">
            <a:xfrm>
              <a:off x="211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287777" name="Text Box 33"/>
            <p:cNvSpPr txBox="1">
              <a:spLocks noChangeArrowheads="1"/>
            </p:cNvSpPr>
            <p:nvPr/>
          </p:nvSpPr>
          <p:spPr bwMode="auto">
            <a:xfrm>
              <a:off x="307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graphicFrame>
          <p:nvGraphicFramePr>
            <p:cNvPr id="287778" name="Object 34"/>
            <p:cNvGraphicFramePr>
              <a:graphicFrameLocks noChangeAspect="1"/>
            </p:cNvGraphicFramePr>
            <p:nvPr/>
          </p:nvGraphicFramePr>
          <p:xfrm>
            <a:off x="1609" y="1747"/>
            <a:ext cx="448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2" name="公式" r:id="rId3" imgW="330200" imgH="215900" progId="Equation.3">
                    <p:embed/>
                  </p:oleObj>
                </mc:Choice>
                <mc:Fallback>
                  <p:oleObj name="公式" r:id="rId3" imgW="330200" imgH="215900" progId="Equation.3">
                    <p:embed/>
                    <p:pic>
                      <p:nvPicPr>
                        <p:cNvPr id="0" name="图片 416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1747"/>
                          <a:ext cx="448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79" name="Object 35"/>
            <p:cNvGraphicFramePr>
              <a:graphicFrameLocks noChangeAspect="1"/>
            </p:cNvGraphicFramePr>
            <p:nvPr/>
          </p:nvGraphicFramePr>
          <p:xfrm>
            <a:off x="2088" y="1747"/>
            <a:ext cx="4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3" name="公式" r:id="rId5" imgW="330200" imgH="215900" progId="Equation.3">
                    <p:embed/>
                  </p:oleObj>
                </mc:Choice>
                <mc:Fallback>
                  <p:oleObj name="公式" r:id="rId5" imgW="330200" imgH="215900" progId="Equation.3">
                    <p:embed/>
                    <p:pic>
                      <p:nvPicPr>
                        <p:cNvPr id="0" name="图片 416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8" y="1747"/>
                          <a:ext cx="431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0" name="Object 36"/>
            <p:cNvGraphicFramePr>
              <a:graphicFrameLocks noChangeAspect="1"/>
            </p:cNvGraphicFramePr>
            <p:nvPr/>
          </p:nvGraphicFramePr>
          <p:xfrm>
            <a:off x="2569" y="1728"/>
            <a:ext cx="42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4" name="公式" r:id="rId7" imgW="316865" imgH="215900" progId="Equation.3">
                    <p:embed/>
                  </p:oleObj>
                </mc:Choice>
                <mc:Fallback>
                  <p:oleObj name="公式" r:id="rId7" imgW="316865" imgH="215900" progId="Equation.3">
                    <p:embed/>
                    <p:pic>
                      <p:nvPicPr>
                        <p:cNvPr id="0" name="图片 416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1728"/>
                          <a:ext cx="429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1" name="Object 37"/>
            <p:cNvGraphicFramePr>
              <a:graphicFrameLocks noChangeAspect="1"/>
            </p:cNvGraphicFramePr>
            <p:nvPr/>
          </p:nvGraphicFramePr>
          <p:xfrm>
            <a:off x="3049" y="1728"/>
            <a:ext cx="42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5" name="公式" r:id="rId9" imgW="316865" imgH="215900" progId="Equation.3">
                    <p:embed/>
                  </p:oleObj>
                </mc:Choice>
                <mc:Fallback>
                  <p:oleObj name="公式" r:id="rId9" imgW="316865" imgH="215900" progId="Equation.3">
                    <p:embed/>
                    <p:pic>
                      <p:nvPicPr>
                        <p:cNvPr id="0" name="图片 416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" y="1728"/>
                          <a:ext cx="429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2" name="Object 38"/>
            <p:cNvGraphicFramePr>
              <a:graphicFrameLocks noChangeAspect="1"/>
            </p:cNvGraphicFramePr>
            <p:nvPr/>
          </p:nvGraphicFramePr>
          <p:xfrm>
            <a:off x="1609" y="2112"/>
            <a:ext cx="42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6" name="公式" r:id="rId11" imgW="316865" imgH="215900" progId="Equation.3">
                    <p:embed/>
                  </p:oleObj>
                </mc:Choice>
                <mc:Fallback>
                  <p:oleObj name="公式" r:id="rId11" imgW="316865" imgH="215900" progId="Equation.3">
                    <p:embed/>
                    <p:pic>
                      <p:nvPicPr>
                        <p:cNvPr id="0" name="图片 416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2112"/>
                          <a:ext cx="429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3" name="Object 39"/>
            <p:cNvGraphicFramePr>
              <a:graphicFrameLocks noChangeAspect="1"/>
            </p:cNvGraphicFramePr>
            <p:nvPr/>
          </p:nvGraphicFramePr>
          <p:xfrm>
            <a:off x="2090" y="2100"/>
            <a:ext cx="42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7" name="公式" r:id="rId13" imgW="316865" imgH="215900" progId="Equation.3">
                    <p:embed/>
                  </p:oleObj>
                </mc:Choice>
                <mc:Fallback>
                  <p:oleObj name="公式" r:id="rId13" imgW="316865" imgH="215900" progId="Equation.3">
                    <p:embed/>
                    <p:pic>
                      <p:nvPicPr>
                        <p:cNvPr id="0" name="图片 416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100"/>
                          <a:ext cx="428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4" name="Object 40"/>
            <p:cNvGraphicFramePr>
              <a:graphicFrameLocks noChangeAspect="1"/>
            </p:cNvGraphicFramePr>
            <p:nvPr/>
          </p:nvGraphicFramePr>
          <p:xfrm>
            <a:off x="2578" y="2161"/>
            <a:ext cx="41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8" name="公式" r:id="rId15" imgW="304800" imgH="165100" progId="Equation.3">
                    <p:embed/>
                  </p:oleObj>
                </mc:Choice>
                <mc:Fallback>
                  <p:oleObj name="公式" r:id="rId15" imgW="304800" imgH="165100" progId="Equation.3">
                    <p:embed/>
                    <p:pic>
                      <p:nvPicPr>
                        <p:cNvPr id="0" name="图片 416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161"/>
                          <a:ext cx="411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5" name="Object 41"/>
            <p:cNvGraphicFramePr>
              <a:graphicFrameLocks noChangeAspect="1"/>
            </p:cNvGraphicFramePr>
            <p:nvPr/>
          </p:nvGraphicFramePr>
          <p:xfrm>
            <a:off x="3058" y="2099"/>
            <a:ext cx="41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9" name="公式" r:id="rId17" imgW="304800" imgH="215900" progId="Equation.3">
                    <p:embed/>
                  </p:oleObj>
                </mc:Choice>
                <mc:Fallback>
                  <p:oleObj name="公式" r:id="rId17" imgW="304800" imgH="215900" progId="Equation.3">
                    <p:embed/>
                    <p:pic>
                      <p:nvPicPr>
                        <p:cNvPr id="0" name="图片 416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2099"/>
                          <a:ext cx="411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7792" name="Object 48"/>
          <p:cNvGraphicFramePr>
            <a:graphicFrameLocks noChangeAspect="1"/>
          </p:cNvGraphicFramePr>
          <p:nvPr/>
        </p:nvGraphicFramePr>
        <p:xfrm>
          <a:off x="769938" y="4953000"/>
          <a:ext cx="52927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0" name="公式" r:id="rId19" imgW="2082800" imgH="215900" progId="Equation.3">
                  <p:embed/>
                </p:oleObj>
              </mc:Choice>
              <mc:Fallback>
                <p:oleObj name="公式" r:id="rId19" imgW="2082800" imgH="215900" progId="Equation.3">
                  <p:embed/>
                  <p:pic>
                    <p:nvPicPr>
                      <p:cNvPr id="0" name="图片 416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4953000"/>
                        <a:ext cx="52927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4" name="Object 50"/>
          <p:cNvGraphicFramePr>
            <a:graphicFrameLocks noChangeAspect="1"/>
          </p:cNvGraphicFramePr>
          <p:nvPr/>
        </p:nvGraphicFramePr>
        <p:xfrm>
          <a:off x="3778250" y="4419600"/>
          <a:ext cx="10318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1" name="公式" r:id="rId21" imgW="405765" imgH="215900" progId="Equation.3">
                  <p:embed/>
                </p:oleObj>
              </mc:Choice>
              <mc:Fallback>
                <p:oleObj name="公式" r:id="rId21" imgW="405765" imgH="215900" progId="Equation.3">
                  <p:embed/>
                  <p:pic>
                    <p:nvPicPr>
                      <p:cNvPr id="0" name="图片 416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419600"/>
                        <a:ext cx="10318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5" name="Object 51"/>
          <p:cNvGraphicFramePr>
            <a:graphicFrameLocks noChangeAspect="1"/>
          </p:cNvGraphicFramePr>
          <p:nvPr/>
        </p:nvGraphicFramePr>
        <p:xfrm>
          <a:off x="5989290" y="5085432"/>
          <a:ext cx="742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2" name="公式" r:id="rId23" imgW="292100" imgH="165100" progId="Equation.3">
                  <p:embed/>
                </p:oleObj>
              </mc:Choice>
              <mc:Fallback>
                <p:oleObj name="公式" r:id="rId23" imgW="292100" imgH="165100" progId="Equation.3">
                  <p:embed/>
                  <p:pic>
                    <p:nvPicPr>
                      <p:cNvPr id="0" name="图片 416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290" y="5085432"/>
                        <a:ext cx="7429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9" name="Object 55"/>
          <p:cNvGraphicFramePr>
            <a:graphicFrameLocks noChangeAspect="1"/>
          </p:cNvGraphicFramePr>
          <p:nvPr/>
        </p:nvGraphicFramePr>
        <p:xfrm>
          <a:off x="758825" y="5486400"/>
          <a:ext cx="28384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3" name="公式" r:id="rId25" imgW="1116965" imgH="215900" progId="Equation.3">
                  <p:embed/>
                </p:oleObj>
              </mc:Choice>
              <mc:Fallback>
                <p:oleObj name="公式" r:id="rId25" imgW="1116965" imgH="215900" progId="Equation.3">
                  <p:embed/>
                  <p:pic>
                    <p:nvPicPr>
                      <p:cNvPr id="0" name="图片 416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5486400"/>
                        <a:ext cx="28384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0" name="Object 56"/>
          <p:cNvGraphicFramePr>
            <a:graphicFrameLocks noChangeAspect="1"/>
          </p:cNvGraphicFramePr>
          <p:nvPr/>
        </p:nvGraphicFramePr>
        <p:xfrm>
          <a:off x="3600450" y="5445224"/>
          <a:ext cx="971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4" name="公式" r:id="rId27" imgW="381000" imgH="215900" progId="Equation.3">
                  <p:embed/>
                </p:oleObj>
              </mc:Choice>
              <mc:Fallback>
                <p:oleObj name="公式" r:id="rId27" imgW="381000" imgH="215900" progId="Equation.3">
                  <p:embed/>
                  <p:pic>
                    <p:nvPicPr>
                      <p:cNvPr id="0" name="图片 416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5445224"/>
                        <a:ext cx="9715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52400" y="6032500"/>
          <a:ext cx="46116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5" name="公式" r:id="rId29" imgW="43586400" imgH="5181600" progId="Equation.3">
                  <p:embed/>
                </p:oleObj>
              </mc:Choice>
              <mc:Fallback>
                <p:oleObj name="公式" r:id="rId29" imgW="43586400" imgH="51816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00" y="6032500"/>
                        <a:ext cx="46116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24128" y="5730209"/>
            <a:ext cx="266429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请用公式法和卡诺图法分别试一试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8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8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8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91" grpId="0" animBg="1"/>
      <p:bldP spid="287793" grpId="0" animBg="1"/>
      <p:bldP spid="287787" grpId="0" autoUpdateAnimBg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279B-DBA9-4421-9B02-4042ADDB7A62}" type="slidenum">
              <a:rPr lang="en-US" altLang="zh-CN"/>
            </a:fld>
            <a:endParaRPr lang="en-US" altLang="zh-CN"/>
          </a:p>
        </p:txBody>
      </p:sp>
      <p:sp>
        <p:nvSpPr>
          <p:cNvPr id="153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en-US" altLang="zh-CN"/>
              <a:t>4</a:t>
            </a:r>
            <a:r>
              <a:rPr lang="zh-CN" altLang="en-US"/>
              <a:t>变量卡诺图</a:t>
            </a:r>
            <a:endParaRPr lang="zh-CN" altLang="en-US"/>
          </a:p>
        </p:txBody>
      </p:sp>
      <p:grpSp>
        <p:nvGrpSpPr>
          <p:cNvPr id="153604" name="Group 4"/>
          <p:cNvGrpSpPr/>
          <p:nvPr/>
        </p:nvGrpSpPr>
        <p:grpSpPr bwMode="auto">
          <a:xfrm>
            <a:off x="4110558" y="2574925"/>
            <a:ext cx="4056063" cy="3883025"/>
            <a:chOff x="1429" y="1389"/>
            <a:chExt cx="2540" cy="2449"/>
          </a:xfrm>
        </p:grpSpPr>
        <p:sp>
          <p:nvSpPr>
            <p:cNvPr id="153605" name="Rectangle 5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06" name="Rectangle 6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07" name="Rectangle 7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08" name="Rectangle 8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09" name="Rectangle 9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0" name="Rectangle 10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1" name="Rectangle 11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2" name="Rectangle 12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3" name="Rectangle 13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4" name="Rectangle 14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5" name="Rectangle 15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6" name="Rectangle 16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7" name="Rectangle 17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8" name="Rectangle 18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19" name="Rectangle 19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20" name="Rectangle 20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3621" name="Line 21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2" name="Line 22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3" name="Line 23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4" name="Line 24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5" name="Line 25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6" name="Line 26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7" name="Line 27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8" name="Line 28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9" name="Line 29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0" name="Line 30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1" name="Line 31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3632" name="Group 32"/>
          <p:cNvGrpSpPr/>
          <p:nvPr/>
        </p:nvGrpSpPr>
        <p:grpSpPr bwMode="auto">
          <a:xfrm>
            <a:off x="3964508" y="2209800"/>
            <a:ext cx="865188" cy="1177925"/>
            <a:chOff x="1337" y="1162"/>
            <a:chExt cx="545" cy="742"/>
          </a:xfrm>
        </p:grpSpPr>
        <p:sp>
          <p:nvSpPr>
            <p:cNvPr id="153633" name="Text Box 33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34" name="Text Box 34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35" name="Text Box 35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36" name="Text Box 36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3637" name="Group 37"/>
          <p:cNvGrpSpPr/>
          <p:nvPr/>
        </p:nvGrpSpPr>
        <p:grpSpPr bwMode="auto">
          <a:xfrm>
            <a:off x="4901133" y="2570163"/>
            <a:ext cx="3168650" cy="457200"/>
            <a:chOff x="1927" y="1389"/>
            <a:chExt cx="1996" cy="288"/>
          </a:xfrm>
        </p:grpSpPr>
        <p:sp>
          <p:nvSpPr>
            <p:cNvPr id="153638" name="Text Box 38"/>
            <p:cNvSpPr txBox="1">
              <a:spLocks noChangeArrowheads="1"/>
            </p:cNvSpPr>
            <p:nvPr/>
          </p:nvSpPr>
          <p:spPr bwMode="auto">
            <a:xfrm>
              <a:off x="1927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39" name="Text Box 39"/>
            <p:cNvSpPr txBox="1">
              <a:spLocks noChangeArrowheads="1"/>
            </p:cNvSpPr>
            <p:nvPr/>
          </p:nvSpPr>
          <p:spPr bwMode="auto">
            <a:xfrm>
              <a:off x="3016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40" name="Text Box 40"/>
            <p:cNvSpPr txBox="1">
              <a:spLocks noChangeArrowheads="1"/>
            </p:cNvSpPr>
            <p:nvPr/>
          </p:nvSpPr>
          <p:spPr bwMode="auto">
            <a:xfrm>
              <a:off x="2472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41" name="Text Box 41"/>
            <p:cNvSpPr txBox="1">
              <a:spLocks noChangeArrowheads="1"/>
            </p:cNvSpPr>
            <p:nvPr/>
          </p:nvSpPr>
          <p:spPr bwMode="auto">
            <a:xfrm>
              <a:off x="3560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3642" name="Group 42"/>
          <p:cNvGrpSpPr/>
          <p:nvPr/>
        </p:nvGrpSpPr>
        <p:grpSpPr bwMode="auto">
          <a:xfrm>
            <a:off x="4181996" y="3336925"/>
            <a:ext cx="576262" cy="2905125"/>
            <a:chOff x="1474" y="1872"/>
            <a:chExt cx="363" cy="1830"/>
          </a:xfrm>
        </p:grpSpPr>
        <p:sp>
          <p:nvSpPr>
            <p:cNvPr id="153643" name="Text Box 43"/>
            <p:cNvSpPr txBox="1">
              <a:spLocks noChangeArrowheads="1"/>
            </p:cNvSpPr>
            <p:nvPr/>
          </p:nvSpPr>
          <p:spPr bwMode="auto">
            <a:xfrm>
              <a:off x="1474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44" name="Text Box 44"/>
            <p:cNvSpPr txBox="1">
              <a:spLocks noChangeArrowheads="1"/>
            </p:cNvSpPr>
            <p:nvPr/>
          </p:nvSpPr>
          <p:spPr bwMode="auto">
            <a:xfrm>
              <a:off x="1474" y="291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45" name="Text Box 45"/>
            <p:cNvSpPr txBox="1">
              <a:spLocks noChangeArrowheads="1"/>
            </p:cNvSpPr>
            <p:nvPr/>
          </p:nvSpPr>
          <p:spPr bwMode="auto">
            <a:xfrm>
              <a:off x="1474" y="2371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3646" name="Text Box 46"/>
            <p:cNvSpPr txBox="1">
              <a:spLocks noChangeArrowheads="1"/>
            </p:cNvSpPr>
            <p:nvPr/>
          </p:nvSpPr>
          <p:spPr bwMode="auto">
            <a:xfrm>
              <a:off x="1474" y="341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53647" name="Rectangle 47"/>
          <p:cNvSpPr>
            <a:spLocks noChangeArrowheads="1"/>
          </p:cNvSpPr>
          <p:nvPr/>
        </p:nvSpPr>
        <p:spPr bwMode="auto">
          <a:xfrm>
            <a:off x="5801246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48" name="Rectangle 48"/>
          <p:cNvSpPr>
            <a:spLocks noChangeArrowheads="1"/>
          </p:cNvSpPr>
          <p:nvPr/>
        </p:nvSpPr>
        <p:spPr bwMode="auto">
          <a:xfrm>
            <a:off x="4901133" y="3267075"/>
            <a:ext cx="6111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49" name="Rectangle 49"/>
          <p:cNvSpPr>
            <a:spLocks noChangeArrowheads="1"/>
          </p:cNvSpPr>
          <p:nvPr/>
        </p:nvSpPr>
        <p:spPr bwMode="auto">
          <a:xfrm>
            <a:off x="6629921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0" name="Rectangle 50"/>
          <p:cNvSpPr>
            <a:spLocks noChangeArrowheads="1"/>
          </p:cNvSpPr>
          <p:nvPr/>
        </p:nvSpPr>
        <p:spPr bwMode="auto">
          <a:xfrm>
            <a:off x="7493521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1" name="Rectangle 51"/>
          <p:cNvSpPr>
            <a:spLocks noChangeArrowheads="1"/>
          </p:cNvSpPr>
          <p:nvPr/>
        </p:nvSpPr>
        <p:spPr bwMode="auto">
          <a:xfrm>
            <a:off x="5802833" y="40576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2" name="Rectangle 52"/>
          <p:cNvSpPr>
            <a:spLocks noChangeArrowheads="1"/>
          </p:cNvSpPr>
          <p:nvPr/>
        </p:nvSpPr>
        <p:spPr bwMode="auto">
          <a:xfrm>
            <a:off x="4939233" y="4059238"/>
            <a:ext cx="61118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3" name="Rectangle 53"/>
          <p:cNvSpPr>
            <a:spLocks noChangeArrowheads="1"/>
          </p:cNvSpPr>
          <p:nvPr/>
        </p:nvSpPr>
        <p:spPr bwMode="auto">
          <a:xfrm>
            <a:off x="6666433" y="40576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7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4" name="Rectangle 54"/>
          <p:cNvSpPr>
            <a:spLocks noChangeArrowheads="1"/>
          </p:cNvSpPr>
          <p:nvPr/>
        </p:nvSpPr>
        <p:spPr bwMode="auto">
          <a:xfrm>
            <a:off x="7531621" y="4081463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5" name="Rectangle 55"/>
          <p:cNvSpPr>
            <a:spLocks noChangeArrowheads="1"/>
          </p:cNvSpPr>
          <p:nvPr/>
        </p:nvSpPr>
        <p:spPr bwMode="auto">
          <a:xfrm>
            <a:off x="5802833" y="4992688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13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6" name="Rectangle 56"/>
          <p:cNvSpPr>
            <a:spLocks noChangeArrowheads="1"/>
          </p:cNvSpPr>
          <p:nvPr/>
        </p:nvSpPr>
        <p:spPr bwMode="auto">
          <a:xfrm>
            <a:off x="4939233" y="4946650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12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7" name="Rectangle 57"/>
          <p:cNvSpPr>
            <a:spLocks noChangeArrowheads="1"/>
          </p:cNvSpPr>
          <p:nvPr/>
        </p:nvSpPr>
        <p:spPr bwMode="auto">
          <a:xfrm>
            <a:off x="6629921" y="4992688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15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8" name="Rectangle 58"/>
          <p:cNvSpPr>
            <a:spLocks noChangeArrowheads="1"/>
          </p:cNvSpPr>
          <p:nvPr/>
        </p:nvSpPr>
        <p:spPr bwMode="auto">
          <a:xfrm>
            <a:off x="7493521" y="4992688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14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59" name="Rectangle 59"/>
          <p:cNvSpPr>
            <a:spLocks noChangeArrowheads="1"/>
          </p:cNvSpPr>
          <p:nvPr/>
        </p:nvSpPr>
        <p:spPr bwMode="auto">
          <a:xfrm>
            <a:off x="5837758" y="57848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9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60" name="Rectangle 60"/>
          <p:cNvSpPr>
            <a:spLocks noChangeArrowheads="1"/>
          </p:cNvSpPr>
          <p:nvPr/>
        </p:nvSpPr>
        <p:spPr bwMode="auto">
          <a:xfrm>
            <a:off x="4939233" y="57864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61" name="Rectangle 61"/>
          <p:cNvSpPr>
            <a:spLocks noChangeArrowheads="1"/>
          </p:cNvSpPr>
          <p:nvPr/>
        </p:nvSpPr>
        <p:spPr bwMode="auto">
          <a:xfrm>
            <a:off x="6701358" y="5784850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11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3662" name="Rectangle 62"/>
          <p:cNvSpPr>
            <a:spLocks noChangeArrowheads="1"/>
          </p:cNvSpPr>
          <p:nvPr/>
        </p:nvSpPr>
        <p:spPr bwMode="auto">
          <a:xfrm>
            <a:off x="7531621" y="5784850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>
                <a:ea typeface="幼圆" panose="020105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b="1">
              <a:latin typeface="Tahoma" panose="020B0604030504040204" pitchFamily="34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7" grpId="0" autoUpdateAnimBg="0"/>
      <p:bldP spid="153648" grpId="0" autoUpdateAnimBg="0"/>
      <p:bldP spid="153649" grpId="0" autoUpdateAnimBg="0"/>
      <p:bldP spid="153650" grpId="0" autoUpdateAnimBg="0"/>
      <p:bldP spid="153651" grpId="0" autoUpdateAnimBg="0"/>
      <p:bldP spid="153652" grpId="0" autoUpdateAnimBg="0"/>
      <p:bldP spid="153653" grpId="0" autoUpdateAnimBg="0"/>
      <p:bldP spid="153654" grpId="0" autoUpdateAnimBg="0"/>
      <p:bldP spid="153655" grpId="0" autoUpdateAnimBg="0"/>
      <p:bldP spid="153656" grpId="0" autoUpdateAnimBg="0"/>
      <p:bldP spid="153657" grpId="0" autoUpdateAnimBg="0"/>
      <p:bldP spid="153658" grpId="0" autoUpdateAnimBg="0"/>
      <p:bldP spid="153659" grpId="0" autoUpdateAnimBg="0"/>
      <p:bldP spid="153660" grpId="0" autoUpdateAnimBg="0"/>
      <p:bldP spid="153661" grpId="0" autoUpdateAnimBg="0"/>
      <p:bldP spid="15366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6D99-C845-4C41-AECA-A5D18924156B}" type="slidenum">
              <a:rPr lang="en-US" altLang="zh-CN"/>
            </a:fld>
            <a:endParaRPr lang="en-US" altLang="zh-CN"/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/>
            <a:r>
              <a:rPr lang="en-US" altLang="zh-CN"/>
              <a:t>4</a:t>
            </a:r>
            <a:r>
              <a:rPr lang="zh-CN" altLang="en-US"/>
              <a:t>变量卡诺图</a:t>
            </a:r>
            <a:endParaRPr lang="zh-CN" altLang="en-US"/>
          </a:p>
          <a:p>
            <a:pPr marL="190500" lvl="1" indent="0"/>
            <a:r>
              <a:rPr lang="en-US" altLang="zh-CN"/>
              <a:t>2</a:t>
            </a:r>
            <a:r>
              <a:rPr lang="zh-CN" altLang="en-US"/>
              <a:t>个最小项相邻</a:t>
            </a:r>
            <a:endParaRPr lang="zh-CN" altLang="en-US"/>
          </a:p>
        </p:txBody>
      </p:sp>
      <p:sp>
        <p:nvSpPr>
          <p:cNvPr id="288833" name="Rectangle 65"/>
          <p:cNvSpPr>
            <a:spLocks noChangeArrowheads="1"/>
          </p:cNvSpPr>
          <p:nvPr/>
        </p:nvSpPr>
        <p:spPr bwMode="auto">
          <a:xfrm>
            <a:off x="6337300" y="3333750"/>
            <a:ext cx="685800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834" name="Rectangle 66"/>
          <p:cNvSpPr>
            <a:spLocks noChangeArrowheads="1"/>
          </p:cNvSpPr>
          <p:nvPr/>
        </p:nvSpPr>
        <p:spPr bwMode="auto">
          <a:xfrm>
            <a:off x="7327900" y="2495550"/>
            <a:ext cx="1295400" cy="6096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8837" name="Group 69"/>
          <p:cNvGrpSpPr/>
          <p:nvPr/>
        </p:nvGrpSpPr>
        <p:grpSpPr bwMode="auto">
          <a:xfrm>
            <a:off x="5499100" y="5086350"/>
            <a:ext cx="3276600" cy="533400"/>
            <a:chOff x="768" y="3552"/>
            <a:chExt cx="2064" cy="336"/>
          </a:xfrm>
        </p:grpSpPr>
        <p:sp>
          <p:nvSpPr>
            <p:cNvPr id="288835" name="Rectangle 67"/>
            <p:cNvSpPr>
              <a:spLocks noChangeArrowheads="1"/>
            </p:cNvSpPr>
            <p:nvPr/>
          </p:nvSpPr>
          <p:spPr bwMode="auto">
            <a:xfrm>
              <a:off x="768" y="3552"/>
              <a:ext cx="432" cy="336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836" name="Rectangle 68"/>
            <p:cNvSpPr>
              <a:spLocks noChangeArrowheads="1"/>
            </p:cNvSpPr>
            <p:nvPr/>
          </p:nvSpPr>
          <p:spPr bwMode="auto">
            <a:xfrm>
              <a:off x="2400" y="3552"/>
              <a:ext cx="432" cy="336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8840" name="Group 72"/>
          <p:cNvGrpSpPr/>
          <p:nvPr/>
        </p:nvGrpSpPr>
        <p:grpSpPr bwMode="auto">
          <a:xfrm>
            <a:off x="6413500" y="2495550"/>
            <a:ext cx="609600" cy="3200400"/>
            <a:chOff x="1344" y="1920"/>
            <a:chExt cx="384" cy="2016"/>
          </a:xfrm>
        </p:grpSpPr>
        <p:sp>
          <p:nvSpPr>
            <p:cNvPr id="288838" name="Rectangle 70"/>
            <p:cNvSpPr>
              <a:spLocks noChangeArrowheads="1"/>
            </p:cNvSpPr>
            <p:nvPr/>
          </p:nvSpPr>
          <p:spPr bwMode="auto">
            <a:xfrm>
              <a:off x="1344" y="3552"/>
              <a:ext cx="384" cy="384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839" name="Rectangle 71"/>
            <p:cNvSpPr>
              <a:spLocks noChangeArrowheads="1"/>
            </p:cNvSpPr>
            <p:nvPr/>
          </p:nvSpPr>
          <p:spPr bwMode="auto">
            <a:xfrm>
              <a:off x="1344" y="1920"/>
              <a:ext cx="384" cy="384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8831" name="Group 63"/>
          <p:cNvGrpSpPr/>
          <p:nvPr/>
        </p:nvGrpSpPr>
        <p:grpSpPr bwMode="auto">
          <a:xfrm>
            <a:off x="4648200" y="1524000"/>
            <a:ext cx="4279900" cy="4248150"/>
            <a:chOff x="2200" y="1392"/>
            <a:chExt cx="2696" cy="2676"/>
          </a:xfrm>
        </p:grpSpPr>
        <p:grpSp>
          <p:nvGrpSpPr>
            <p:cNvPr id="288772" name="Group 4"/>
            <p:cNvGrpSpPr/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88773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4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5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6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7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8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79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0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1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2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3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4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5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6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7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8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8789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0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1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2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3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4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5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6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7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8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9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8800" name="Group 32"/>
            <p:cNvGrpSpPr/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88801" name="Text Box 3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2" name="Text Box 3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3" name="Text Box 3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4" name="Text Box 3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8805" name="Group 37"/>
            <p:cNvGrpSpPr/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88806" name="Text Box 38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7" name="Text Box 39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8" name="Text Box 40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09" name="Text Box 41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8810" name="Group 42"/>
            <p:cNvGrpSpPr/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88811" name="Text Box 43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12" name="Text Box 44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13" name="Text Box 45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8814" name="Text Box 46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8815" name="Rectangle 47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16" name="Rectangle 48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17" name="Rectangle 49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18" name="Rectangle 50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19" name="Rectangle 51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0" name="Rectangle 52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1" name="Rectangle 53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2" name="Rectangle 54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3" name="Rectangle 55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4" name="Rectangle 56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5" name="Rectangle 57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6" name="Rectangle 58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7" name="Rectangle 59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9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8" name="Rectangle 60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8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29" name="Rectangle 61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830" name="Rectangle 62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8841" name="Rectangle 73"/>
          <p:cNvSpPr>
            <a:spLocks noChangeArrowheads="1"/>
          </p:cNvSpPr>
          <p:nvPr/>
        </p:nvSpPr>
        <p:spPr bwMode="auto">
          <a:xfrm>
            <a:off x="152400" y="2895600"/>
            <a:ext cx="401289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+mn-ea"/>
                <a:ea typeface="+mn-ea"/>
              </a:rPr>
              <a:t>合并后减少</a:t>
            </a:r>
            <a:r>
              <a:rPr lang="en-US" altLang="zh-CN" sz="2600" b="1" dirty="0">
                <a:latin typeface="+mn-ea"/>
                <a:ea typeface="+mn-ea"/>
              </a:rPr>
              <a:t>1</a:t>
            </a:r>
            <a:r>
              <a:rPr lang="zh-CN" altLang="en-US" sz="2600" b="1" dirty="0">
                <a:latin typeface="+mn-ea"/>
                <a:ea typeface="+mn-ea"/>
              </a:rPr>
              <a:t>个变量</a:t>
            </a:r>
            <a:endParaRPr lang="zh-CN" altLang="en-US" sz="2600" b="1" dirty="0">
              <a:latin typeface="+mn-ea"/>
              <a:ea typeface="+mn-ea"/>
            </a:endParaRPr>
          </a:p>
        </p:txBody>
      </p:sp>
      <p:graphicFrame>
        <p:nvGraphicFramePr>
          <p:cNvPr id="288842" name="Object 74"/>
          <p:cNvGraphicFramePr>
            <a:graphicFrameLocks noChangeAspect="1"/>
          </p:cNvGraphicFramePr>
          <p:nvPr/>
        </p:nvGraphicFramePr>
        <p:xfrm>
          <a:off x="100013" y="3836988"/>
          <a:ext cx="33543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8" name="公式" r:id="rId1" imgW="1320165" imgH="254000" progId="Equation.3">
                  <p:embed/>
                </p:oleObj>
              </mc:Choice>
              <mc:Fallback>
                <p:oleObj name="公式" r:id="rId1" imgW="1320165" imgH="254000" progId="Equation.3">
                  <p:embed/>
                  <p:pic>
                    <p:nvPicPr>
                      <p:cNvPr id="0" name="图片 423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836988"/>
                        <a:ext cx="3354387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3" name="Object 75"/>
          <p:cNvGraphicFramePr>
            <a:graphicFrameLocks noChangeAspect="1"/>
          </p:cNvGraphicFramePr>
          <p:nvPr/>
        </p:nvGraphicFramePr>
        <p:xfrm>
          <a:off x="3440113" y="3854450"/>
          <a:ext cx="12239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9" name="公式" r:id="rId3" imgW="481965" imgH="215900" progId="Equation.3">
                  <p:embed/>
                </p:oleObj>
              </mc:Choice>
              <mc:Fallback>
                <p:oleObj name="公式" r:id="rId3" imgW="481965" imgH="215900" progId="Equation.3">
                  <p:embed/>
                  <p:pic>
                    <p:nvPicPr>
                      <p:cNvPr id="0" name="图片 423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3854450"/>
                        <a:ext cx="12239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4" name="Object 76"/>
          <p:cNvGraphicFramePr>
            <a:graphicFrameLocks noChangeAspect="1"/>
          </p:cNvGraphicFramePr>
          <p:nvPr/>
        </p:nvGraphicFramePr>
        <p:xfrm>
          <a:off x="73025" y="4446588"/>
          <a:ext cx="34861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0" name="公式" r:id="rId5" imgW="1371600" imgH="254000" progId="Equation.3">
                  <p:embed/>
                </p:oleObj>
              </mc:Choice>
              <mc:Fallback>
                <p:oleObj name="公式" r:id="rId5" imgW="1371600" imgH="254000" progId="Equation.3">
                  <p:embed/>
                  <p:pic>
                    <p:nvPicPr>
                      <p:cNvPr id="0" name="图片 42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4446588"/>
                        <a:ext cx="3486150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5" name="Object 77"/>
          <p:cNvGraphicFramePr>
            <a:graphicFrameLocks noChangeAspect="1"/>
          </p:cNvGraphicFramePr>
          <p:nvPr/>
        </p:nvGraphicFramePr>
        <p:xfrm>
          <a:off x="3452813" y="4464050"/>
          <a:ext cx="12874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1" name="公式" r:id="rId7" imgW="508000" imgH="215900" progId="Equation.3">
                  <p:embed/>
                </p:oleObj>
              </mc:Choice>
              <mc:Fallback>
                <p:oleObj name="公式" r:id="rId7" imgW="508000" imgH="215900" progId="Equation.3">
                  <p:embed/>
                  <p:pic>
                    <p:nvPicPr>
                      <p:cNvPr id="0" name="图片 42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4464050"/>
                        <a:ext cx="12874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6" name="Object 78"/>
          <p:cNvGraphicFramePr>
            <a:graphicFrameLocks noChangeAspect="1"/>
          </p:cNvGraphicFramePr>
          <p:nvPr/>
        </p:nvGraphicFramePr>
        <p:xfrm>
          <a:off x="88900" y="5105400"/>
          <a:ext cx="34544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2" name="公式" r:id="rId9" imgW="1358265" imgH="254000" progId="Equation.3">
                  <p:embed/>
                </p:oleObj>
              </mc:Choice>
              <mc:Fallback>
                <p:oleObj name="公式" r:id="rId9" imgW="1358265" imgH="254000" progId="Equation.3">
                  <p:embed/>
                  <p:pic>
                    <p:nvPicPr>
                      <p:cNvPr id="0" name="图片 423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5105400"/>
                        <a:ext cx="34544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7" name="Object 79"/>
          <p:cNvGraphicFramePr>
            <a:graphicFrameLocks noChangeAspect="1"/>
          </p:cNvGraphicFramePr>
          <p:nvPr/>
        </p:nvGraphicFramePr>
        <p:xfrm>
          <a:off x="3444875" y="5073650"/>
          <a:ext cx="12223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3" name="公式" r:id="rId11" imgW="481965" imgH="215900" progId="Equation.3">
                  <p:embed/>
                </p:oleObj>
              </mc:Choice>
              <mc:Fallback>
                <p:oleObj name="公式" r:id="rId11" imgW="481965" imgH="215900" progId="Equation.3">
                  <p:embed/>
                  <p:pic>
                    <p:nvPicPr>
                      <p:cNvPr id="0" name="图片 423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073650"/>
                        <a:ext cx="12223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8" name="Object 80"/>
          <p:cNvGraphicFramePr>
            <a:graphicFrameLocks noChangeAspect="1"/>
          </p:cNvGraphicFramePr>
          <p:nvPr/>
        </p:nvGraphicFramePr>
        <p:xfrm>
          <a:off x="119583" y="5667375"/>
          <a:ext cx="351631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4" name="公式" r:id="rId13" imgW="1384300" imgH="254000" progId="Equation.3">
                  <p:embed/>
                </p:oleObj>
              </mc:Choice>
              <mc:Fallback>
                <p:oleObj name="公式" r:id="rId13" imgW="1384300" imgH="254000" progId="Equation.3">
                  <p:embed/>
                  <p:pic>
                    <p:nvPicPr>
                      <p:cNvPr id="0" name="图片 423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83" y="5667375"/>
                        <a:ext cx="3516313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9" name="Object 81"/>
          <p:cNvGraphicFramePr>
            <a:graphicFrameLocks noChangeAspect="1"/>
          </p:cNvGraphicFramePr>
          <p:nvPr/>
        </p:nvGraphicFramePr>
        <p:xfrm>
          <a:off x="3677915" y="5683250"/>
          <a:ext cx="12541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5" name="公式" r:id="rId15" imgW="494665" imgH="215900" progId="Equation.3">
                  <p:embed/>
                </p:oleObj>
              </mc:Choice>
              <mc:Fallback>
                <p:oleObj name="公式" r:id="rId15" imgW="494665" imgH="215900" progId="Equation.3">
                  <p:embed/>
                  <p:pic>
                    <p:nvPicPr>
                      <p:cNvPr id="0" name="图片 423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915" y="5683250"/>
                        <a:ext cx="12541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8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33" grpId="0" animBg="1"/>
      <p:bldP spid="288834" grpId="0" animBg="1"/>
      <p:bldP spid="28884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C9AA-97E0-4C85-A697-23511FBC6625}" type="slidenum">
              <a:rPr lang="en-US" altLang="zh-CN"/>
            </a:fld>
            <a:endParaRPr lang="en-US" altLang="zh-CN"/>
          </a:p>
        </p:txBody>
      </p:sp>
      <p:sp>
        <p:nvSpPr>
          <p:cNvPr id="2897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变量卡诺图</a:t>
            </a:r>
            <a:endParaRPr lang="zh-CN" altLang="en-US"/>
          </a:p>
          <a:p>
            <a:pPr lvl="1"/>
            <a:r>
              <a:rPr lang="en-US" altLang="zh-CN"/>
              <a:t>4</a:t>
            </a:r>
            <a:r>
              <a:rPr lang="zh-CN" altLang="en-US"/>
              <a:t>个最小项相邻</a:t>
            </a:r>
            <a:endParaRPr lang="zh-CN" altLang="en-US"/>
          </a:p>
        </p:txBody>
      </p:sp>
      <p:sp>
        <p:nvSpPr>
          <p:cNvPr id="289857" name="Rectangle 65"/>
          <p:cNvSpPr>
            <a:spLocks noChangeArrowheads="1"/>
          </p:cNvSpPr>
          <p:nvPr/>
        </p:nvSpPr>
        <p:spPr bwMode="auto">
          <a:xfrm>
            <a:off x="6089848" y="3886200"/>
            <a:ext cx="1447800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9860" name="Group 68"/>
          <p:cNvGrpSpPr/>
          <p:nvPr/>
        </p:nvGrpSpPr>
        <p:grpSpPr bwMode="auto">
          <a:xfrm>
            <a:off x="5175448" y="3810000"/>
            <a:ext cx="3276600" cy="1447800"/>
            <a:chOff x="2784" y="2400"/>
            <a:chExt cx="2064" cy="912"/>
          </a:xfrm>
        </p:grpSpPr>
        <p:sp>
          <p:nvSpPr>
            <p:cNvPr id="289858" name="Rectangle 66"/>
            <p:cNvSpPr>
              <a:spLocks noChangeArrowheads="1"/>
            </p:cNvSpPr>
            <p:nvPr/>
          </p:nvSpPr>
          <p:spPr bwMode="auto">
            <a:xfrm>
              <a:off x="2784" y="2400"/>
              <a:ext cx="432" cy="912"/>
            </a:xfrm>
            <a:prstGeom prst="rect">
              <a:avLst/>
            </a:prstGeom>
            <a:solidFill>
              <a:srgbClr val="CC00FF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59" name="Rectangle 67"/>
            <p:cNvSpPr>
              <a:spLocks noChangeArrowheads="1"/>
            </p:cNvSpPr>
            <p:nvPr/>
          </p:nvSpPr>
          <p:spPr bwMode="auto">
            <a:xfrm>
              <a:off x="4416" y="2400"/>
              <a:ext cx="432" cy="912"/>
            </a:xfrm>
            <a:prstGeom prst="rect">
              <a:avLst/>
            </a:prstGeom>
            <a:solidFill>
              <a:srgbClr val="CC00FF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863" name="Group 71"/>
          <p:cNvGrpSpPr/>
          <p:nvPr/>
        </p:nvGrpSpPr>
        <p:grpSpPr bwMode="auto">
          <a:xfrm>
            <a:off x="6089848" y="2971800"/>
            <a:ext cx="1447800" cy="3200400"/>
            <a:chOff x="3360" y="1872"/>
            <a:chExt cx="912" cy="2016"/>
          </a:xfrm>
        </p:grpSpPr>
        <p:sp>
          <p:nvSpPr>
            <p:cNvPr id="289861" name="Rectangle 69"/>
            <p:cNvSpPr>
              <a:spLocks noChangeArrowheads="1"/>
            </p:cNvSpPr>
            <p:nvPr/>
          </p:nvSpPr>
          <p:spPr bwMode="auto">
            <a:xfrm>
              <a:off x="3360" y="3504"/>
              <a:ext cx="912" cy="384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2" name="Rectangle 70"/>
            <p:cNvSpPr>
              <a:spLocks noChangeArrowheads="1"/>
            </p:cNvSpPr>
            <p:nvPr/>
          </p:nvSpPr>
          <p:spPr bwMode="auto">
            <a:xfrm>
              <a:off x="3360" y="1872"/>
              <a:ext cx="912" cy="384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868" name="Group 76"/>
          <p:cNvGrpSpPr/>
          <p:nvPr/>
        </p:nvGrpSpPr>
        <p:grpSpPr bwMode="auto">
          <a:xfrm>
            <a:off x="5175448" y="2895600"/>
            <a:ext cx="3276600" cy="3276600"/>
            <a:chOff x="2784" y="1824"/>
            <a:chExt cx="2064" cy="2064"/>
          </a:xfrm>
        </p:grpSpPr>
        <p:sp>
          <p:nvSpPr>
            <p:cNvPr id="289864" name="Rectangle 72"/>
            <p:cNvSpPr>
              <a:spLocks noChangeArrowheads="1"/>
            </p:cNvSpPr>
            <p:nvPr/>
          </p:nvSpPr>
          <p:spPr bwMode="auto">
            <a:xfrm>
              <a:off x="2832" y="3456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5" name="Rectangle 73"/>
            <p:cNvSpPr>
              <a:spLocks noChangeArrowheads="1"/>
            </p:cNvSpPr>
            <p:nvPr/>
          </p:nvSpPr>
          <p:spPr bwMode="auto">
            <a:xfrm>
              <a:off x="4464" y="3456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6" name="Rectangle 74"/>
            <p:cNvSpPr>
              <a:spLocks noChangeArrowheads="1"/>
            </p:cNvSpPr>
            <p:nvPr/>
          </p:nvSpPr>
          <p:spPr bwMode="auto">
            <a:xfrm>
              <a:off x="2784" y="1872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7" name="Rectangle 75"/>
            <p:cNvSpPr>
              <a:spLocks noChangeArrowheads="1"/>
            </p:cNvSpPr>
            <p:nvPr/>
          </p:nvSpPr>
          <p:spPr bwMode="auto">
            <a:xfrm>
              <a:off x="4416" y="1824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797" name="Group 5"/>
          <p:cNvGrpSpPr/>
          <p:nvPr/>
        </p:nvGrpSpPr>
        <p:grpSpPr bwMode="auto">
          <a:xfrm>
            <a:off x="4324548" y="2000250"/>
            <a:ext cx="4279900" cy="4248150"/>
            <a:chOff x="2200" y="1392"/>
            <a:chExt cx="2696" cy="2676"/>
          </a:xfrm>
        </p:grpSpPr>
        <p:grpSp>
          <p:nvGrpSpPr>
            <p:cNvPr id="289798" name="Group 6"/>
            <p:cNvGrpSpPr/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89799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0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1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2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3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4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5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6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7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8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09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0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1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2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3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4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9815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6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7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8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9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0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1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2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3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4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5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9826" name="Group 34"/>
            <p:cNvGrpSpPr/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89827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28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29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0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9831" name="Group 39"/>
            <p:cNvGrpSpPr/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89832" name="Text Box 40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3" name="Text Box 41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5" name="Text Box 43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89836" name="Group 44"/>
            <p:cNvGrpSpPr/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89837" name="Text Box 45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8" name="Text Box 46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39" name="Text Box 47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89840" name="Text Box 48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9841" name="Rectangle 49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2" name="Rectangle 50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3" name="Rectangle 51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4" name="Rectangle 52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5" name="Rectangle 53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6" name="Rectangle 54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7" name="Rectangle 55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8" name="Rectangle 56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49" name="Rectangle 57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0" name="Rectangle 58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1" name="Rectangle 59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2" name="Rectangle 60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3" name="Rectangle 61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9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4" name="Rectangle 62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8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5" name="Rectangle 63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856" name="Rectangle 64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9869" name="Rectangle 77"/>
          <p:cNvSpPr>
            <a:spLocks noChangeArrowheads="1"/>
          </p:cNvSpPr>
          <p:nvPr/>
        </p:nvSpPr>
        <p:spPr bwMode="auto">
          <a:xfrm>
            <a:off x="152400" y="2895600"/>
            <a:ext cx="388141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/>
              <a:t>合并后减少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个变量</a:t>
            </a:r>
            <a:endParaRPr lang="zh-CN" altLang="en-US" sz="2600" b="1" dirty="0"/>
          </a:p>
        </p:txBody>
      </p:sp>
      <p:graphicFrame>
        <p:nvGraphicFramePr>
          <p:cNvPr id="289870" name="Object 78"/>
          <p:cNvGraphicFramePr>
            <a:graphicFrameLocks noChangeAspect="1"/>
          </p:cNvGraphicFramePr>
          <p:nvPr/>
        </p:nvGraphicFramePr>
        <p:xfrm>
          <a:off x="1176338" y="3870325"/>
          <a:ext cx="15160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6" name="公式" r:id="rId1" imgW="596900" imgH="228600" progId="Equation.3">
                  <p:embed/>
                </p:oleObj>
              </mc:Choice>
              <mc:Fallback>
                <p:oleObj name="公式" r:id="rId1" imgW="596900" imgH="228600" progId="Equation.3">
                  <p:embed/>
                  <p:pic>
                    <p:nvPicPr>
                      <p:cNvPr id="0" name="图片 43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3870325"/>
                        <a:ext cx="151606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1" name="Object 79"/>
          <p:cNvGraphicFramePr>
            <a:graphicFrameLocks noChangeAspect="1"/>
          </p:cNvGraphicFramePr>
          <p:nvPr/>
        </p:nvGraphicFramePr>
        <p:xfrm>
          <a:off x="1155700" y="4398963"/>
          <a:ext cx="14859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7" name="公式" r:id="rId3" imgW="584200" imgH="254000" progId="Equation.3">
                  <p:embed/>
                </p:oleObj>
              </mc:Choice>
              <mc:Fallback>
                <p:oleObj name="公式" r:id="rId3" imgW="584200" imgH="254000" progId="Equation.3">
                  <p:embed/>
                  <p:pic>
                    <p:nvPicPr>
                      <p:cNvPr id="0" name="图片 43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4398963"/>
                        <a:ext cx="14859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2" name="Object 80"/>
          <p:cNvGraphicFramePr>
            <a:graphicFrameLocks noChangeAspect="1"/>
          </p:cNvGraphicFramePr>
          <p:nvPr/>
        </p:nvGraphicFramePr>
        <p:xfrm>
          <a:off x="1123950" y="4979988"/>
          <a:ext cx="15192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8" name="公式" r:id="rId5" imgW="596900" imgH="254000" progId="Equation.3">
                  <p:embed/>
                </p:oleObj>
              </mc:Choice>
              <mc:Fallback>
                <p:oleObj name="公式" r:id="rId5" imgW="596900" imgH="254000" progId="Equation.3">
                  <p:embed/>
                  <p:pic>
                    <p:nvPicPr>
                      <p:cNvPr id="0" name="图片 43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4979988"/>
                        <a:ext cx="15192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3" name="Object 81"/>
          <p:cNvGraphicFramePr>
            <a:graphicFrameLocks noChangeAspect="1"/>
          </p:cNvGraphicFramePr>
          <p:nvPr/>
        </p:nvGraphicFramePr>
        <p:xfrm>
          <a:off x="1108546" y="5572150"/>
          <a:ext cx="15192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9" name="公式" r:id="rId7" imgW="596900" imgH="254000" progId="Equation.3">
                  <p:embed/>
                </p:oleObj>
              </mc:Choice>
              <mc:Fallback>
                <p:oleObj name="公式" r:id="rId7" imgW="596900" imgH="254000" progId="Equation.3">
                  <p:embed/>
                  <p:pic>
                    <p:nvPicPr>
                      <p:cNvPr id="0" name="图片 43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546" y="5572150"/>
                        <a:ext cx="15192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9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9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9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57" grpId="0" animBg="1"/>
      <p:bldP spid="28986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179C-6882-4143-8D06-BB4FA832808C}" type="slidenum">
              <a:rPr lang="en-US" altLang="zh-CN"/>
            </a:fld>
            <a:endParaRPr lang="en-US" altLang="zh-CN"/>
          </a:p>
        </p:txBody>
      </p:sp>
      <p:sp>
        <p:nvSpPr>
          <p:cNvPr id="290821" name="Rectangle 5"/>
          <p:cNvSpPr>
            <a:spLocks noGrp="1" noChangeArrowheads="1"/>
          </p:cNvSpPr>
          <p:nvPr>
            <p:ph sz="quarter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/>
              <a:t>4</a:t>
            </a:r>
            <a:r>
              <a:rPr lang="zh-CN" altLang="en-US"/>
              <a:t>变量卡诺图</a:t>
            </a:r>
            <a:endParaRPr lang="zh-CN" altLang="en-US"/>
          </a:p>
          <a:p>
            <a:pPr lvl="1"/>
            <a:r>
              <a:rPr lang="en-US" altLang="zh-CN"/>
              <a:t>8</a:t>
            </a:r>
            <a:r>
              <a:rPr lang="zh-CN" altLang="en-US"/>
              <a:t>个最小项相邻</a:t>
            </a:r>
            <a:endParaRPr lang="zh-CN" altLang="en-US"/>
          </a:p>
        </p:txBody>
      </p:sp>
      <p:sp>
        <p:nvSpPr>
          <p:cNvPr id="290822" name="Rectangle 6"/>
          <p:cNvSpPr>
            <a:spLocks noChangeArrowheads="1"/>
          </p:cNvSpPr>
          <p:nvPr/>
        </p:nvSpPr>
        <p:spPr bwMode="auto">
          <a:xfrm>
            <a:off x="152400" y="2895600"/>
            <a:ext cx="379904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/>
              <a:t>合并后减少</a:t>
            </a:r>
            <a:r>
              <a:rPr lang="en-US" altLang="zh-CN" sz="2600" b="1" dirty="0"/>
              <a:t>3</a:t>
            </a:r>
            <a:r>
              <a:rPr lang="zh-CN" altLang="en-US" sz="2600" b="1" dirty="0"/>
              <a:t>个变量</a:t>
            </a:r>
            <a:endParaRPr lang="zh-CN" altLang="en-US" sz="2600" b="1" dirty="0"/>
          </a:p>
        </p:txBody>
      </p:sp>
      <p:grpSp>
        <p:nvGrpSpPr>
          <p:cNvPr id="290823" name="Group 7"/>
          <p:cNvGrpSpPr/>
          <p:nvPr/>
        </p:nvGrpSpPr>
        <p:grpSpPr bwMode="auto">
          <a:xfrm>
            <a:off x="4396556" y="2000250"/>
            <a:ext cx="4279900" cy="4248150"/>
            <a:chOff x="2200" y="1392"/>
            <a:chExt cx="2696" cy="2676"/>
          </a:xfrm>
        </p:grpSpPr>
        <p:grpSp>
          <p:nvGrpSpPr>
            <p:cNvPr id="290824" name="Group 8"/>
            <p:cNvGrpSpPr/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90825" name="Rectangle 9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26" name="Rectangle 10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27" name="Rectangle 11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28" name="Rectangle 12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29" name="Rectangle 13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0" name="Rectangle 14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1" name="Rectangle 15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2" name="Rectangle 16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3" name="Rectangle 17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4" name="Rectangle 18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5" name="Rectangle 19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6" name="Rectangle 20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7" name="Rectangle 21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8" name="Rectangle 22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39" name="Rectangle 23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40" name="Rectangle 24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0841" name="Line 2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2" name="Line 26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3" name="Line 27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4" name="Line 28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5" name="Line 29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6" name="Line 3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7" name="Line 31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8" name="Line 32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9" name="Line 33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50" name="Line 34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51" name="Line 35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0852" name="Group 36"/>
            <p:cNvGrpSpPr/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90853" name="Text Box 37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54" name="Text Box 38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55" name="Text Box 39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56" name="Text Box 40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0857" name="Group 41"/>
            <p:cNvGrpSpPr/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90858" name="Text Box 42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59" name="Text Box 43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60" name="Text Box 44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61" name="Text Box 45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0862" name="Group 46"/>
            <p:cNvGrpSpPr/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90863" name="Text Box 47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64" name="Text Box 48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65" name="Text Box 49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0866" name="Text Box 50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90867" name="Rectangle 51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68" name="Rectangle 52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69" name="Rectangle 53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0" name="Rectangle 54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1" name="Rectangle 55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2" name="Rectangle 56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3" name="Rectangle 57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4" name="Rectangle 58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5" name="Rectangle 59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6" name="Rectangle 60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7" name="Rectangle 61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8" name="Rectangle 62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79" name="Rectangle 63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9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80" name="Rectangle 64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8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81" name="Rectangle 65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882" name="Rectangle 66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0883" name="Rectangle 67"/>
          <p:cNvSpPr>
            <a:spLocks noChangeArrowheads="1"/>
          </p:cNvSpPr>
          <p:nvPr/>
        </p:nvSpPr>
        <p:spPr bwMode="auto">
          <a:xfrm>
            <a:off x="5323656" y="3048000"/>
            <a:ext cx="1447800" cy="3048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0884" name="Rectangle 68"/>
          <p:cNvSpPr>
            <a:spLocks noChangeArrowheads="1"/>
          </p:cNvSpPr>
          <p:nvPr/>
        </p:nvSpPr>
        <p:spPr bwMode="auto">
          <a:xfrm>
            <a:off x="6085656" y="2895600"/>
            <a:ext cx="1447800" cy="32766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0885" name="Rectangle 69"/>
          <p:cNvSpPr>
            <a:spLocks noChangeArrowheads="1"/>
          </p:cNvSpPr>
          <p:nvPr/>
        </p:nvSpPr>
        <p:spPr bwMode="auto">
          <a:xfrm>
            <a:off x="7000056" y="3048000"/>
            <a:ext cx="1447800" cy="30480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0888" name="Group 72"/>
          <p:cNvGrpSpPr/>
          <p:nvPr/>
        </p:nvGrpSpPr>
        <p:grpSpPr bwMode="auto">
          <a:xfrm>
            <a:off x="5247456" y="2971800"/>
            <a:ext cx="3276600" cy="3200400"/>
            <a:chOff x="2784" y="1872"/>
            <a:chExt cx="2064" cy="2016"/>
          </a:xfrm>
        </p:grpSpPr>
        <p:sp>
          <p:nvSpPr>
            <p:cNvPr id="290886" name="Rectangle 70"/>
            <p:cNvSpPr>
              <a:spLocks noChangeArrowheads="1"/>
            </p:cNvSpPr>
            <p:nvPr/>
          </p:nvSpPr>
          <p:spPr bwMode="auto">
            <a:xfrm>
              <a:off x="4416" y="1872"/>
              <a:ext cx="432" cy="201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0887" name="Rectangle 71"/>
            <p:cNvSpPr>
              <a:spLocks noChangeArrowheads="1"/>
            </p:cNvSpPr>
            <p:nvPr/>
          </p:nvSpPr>
          <p:spPr bwMode="auto">
            <a:xfrm>
              <a:off x="2784" y="1872"/>
              <a:ext cx="432" cy="201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0950" name="Object 134"/>
          <p:cNvGraphicFramePr>
            <a:graphicFrameLocks noChangeAspect="1"/>
          </p:cNvGraphicFramePr>
          <p:nvPr/>
        </p:nvGraphicFramePr>
        <p:xfrm>
          <a:off x="1168400" y="3836988"/>
          <a:ext cx="12906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0" name="公式" r:id="rId1" imgW="508000" imgH="254000" progId="Equation.3">
                  <p:embed/>
                </p:oleObj>
              </mc:Choice>
              <mc:Fallback>
                <p:oleObj name="公式" r:id="rId1" imgW="508000" imgH="254000" progId="Equation.3">
                  <p:embed/>
                  <p:pic>
                    <p:nvPicPr>
                      <p:cNvPr id="0" name="图片 44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836988"/>
                        <a:ext cx="12906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1" name="Object 135"/>
          <p:cNvGraphicFramePr>
            <a:graphicFrameLocks noChangeAspect="1"/>
          </p:cNvGraphicFramePr>
          <p:nvPr/>
        </p:nvGraphicFramePr>
        <p:xfrm>
          <a:off x="1171575" y="4432300"/>
          <a:ext cx="12588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1" name="公式" r:id="rId3" imgW="495300" imgH="228600" progId="Equation.3">
                  <p:embed/>
                </p:oleObj>
              </mc:Choice>
              <mc:Fallback>
                <p:oleObj name="公式" r:id="rId3" imgW="495300" imgH="228600" progId="Equation.3">
                  <p:embed/>
                  <p:pic>
                    <p:nvPicPr>
                      <p:cNvPr id="0" name="图片 44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432300"/>
                        <a:ext cx="12588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2" name="Object 136"/>
          <p:cNvGraphicFramePr>
            <a:graphicFrameLocks noChangeAspect="1"/>
          </p:cNvGraphicFramePr>
          <p:nvPr/>
        </p:nvGraphicFramePr>
        <p:xfrm>
          <a:off x="1122363" y="5013325"/>
          <a:ext cx="1325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2" name="公式" r:id="rId5" imgW="520700" imgH="228600" progId="Equation.3">
                  <p:embed/>
                </p:oleObj>
              </mc:Choice>
              <mc:Fallback>
                <p:oleObj name="公式" r:id="rId5" imgW="520700" imgH="228600" progId="Equation.3">
                  <p:embed/>
                  <p:pic>
                    <p:nvPicPr>
                      <p:cNvPr id="0" name="图片 44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5013325"/>
                        <a:ext cx="132556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3" name="Object 137"/>
          <p:cNvGraphicFramePr>
            <a:graphicFrameLocks noChangeAspect="1"/>
          </p:cNvGraphicFramePr>
          <p:nvPr/>
        </p:nvGraphicFramePr>
        <p:xfrm>
          <a:off x="1160463" y="5513388"/>
          <a:ext cx="12922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3" name="公式" r:id="rId7" imgW="508000" imgH="254000" progId="Equation.3">
                  <p:embed/>
                </p:oleObj>
              </mc:Choice>
              <mc:Fallback>
                <p:oleObj name="公式" r:id="rId7" imgW="508000" imgH="254000" progId="Equation.3">
                  <p:embed/>
                  <p:pic>
                    <p:nvPicPr>
                      <p:cNvPr id="0" name="图片 44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5513388"/>
                        <a:ext cx="1292225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90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90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90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autoUpdateAnimBg="0"/>
      <p:bldP spid="290883" grpId="0" animBg="1"/>
      <p:bldP spid="290884" grpId="0" animBg="1"/>
      <p:bldP spid="29088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</a:fld>
            <a:endParaRPr lang="en-US" altLang="zh-CN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901911" cy="252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212976"/>
            <a:ext cx="4568056" cy="3426042"/>
          </a:xfr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7584" y="4293096"/>
            <a:ext cx="2880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变量卡诺图的合并关系三维想象。</a:t>
            </a:r>
            <a:endParaRPr lang="zh-CN" altLang="en-US" sz="3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圆角右箭头 5"/>
          <p:cNvSpPr/>
          <p:nvPr/>
        </p:nvSpPr>
        <p:spPr>
          <a:xfrm flipH="1">
            <a:off x="5580112" y="2168860"/>
            <a:ext cx="1670067" cy="1728192"/>
          </a:xfrm>
          <a:prstGeom prst="ben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50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6FB7-919F-476A-810B-9D91879CED06}" type="slidenum">
              <a:rPr lang="en-US" altLang="zh-CN"/>
            </a:fld>
            <a:endParaRPr lang="en-US" altLang="zh-CN"/>
          </a:p>
        </p:txBody>
      </p:sp>
      <p:sp>
        <p:nvSpPr>
          <p:cNvPr id="291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196752"/>
            <a:ext cx="7772400" cy="4572000"/>
          </a:xfrm>
        </p:spPr>
        <p:txBody>
          <a:bodyPr/>
          <a:lstStyle/>
          <a:p>
            <a:r>
              <a:rPr lang="zh-CN" altLang="en-US" dirty="0"/>
              <a:t>最小项的卡诺图表示</a:t>
            </a:r>
            <a:endParaRPr lang="zh-CN" altLang="en-US" dirty="0"/>
          </a:p>
        </p:txBody>
      </p:sp>
      <p:grpSp>
        <p:nvGrpSpPr>
          <p:cNvPr id="291907" name="Group 67"/>
          <p:cNvGrpSpPr/>
          <p:nvPr/>
        </p:nvGrpSpPr>
        <p:grpSpPr bwMode="auto">
          <a:xfrm>
            <a:off x="4267200" y="1600200"/>
            <a:ext cx="4537075" cy="2376488"/>
            <a:chOff x="288" y="1959"/>
            <a:chExt cx="2858" cy="1497"/>
          </a:xfrm>
        </p:grpSpPr>
        <p:grpSp>
          <p:nvGrpSpPr>
            <p:cNvPr id="291908" name="Group 68"/>
            <p:cNvGrpSpPr/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91909" name="Rectangle 69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0" name="Rectangle 70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1" name="Rectangle 71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2" name="Rectangle 72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3" name="Rectangle 73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4" name="Rectangle 74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5" name="Rectangle 75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6" name="Rectangle 76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17" name="Line 7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18" name="Line 78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19" name="Line 79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0" name="Line 80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1" name="Line 81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2" name="Line 82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3" name="Line 83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4" name="Line 84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5" name="Line 85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1926" name="Group 86"/>
            <p:cNvGrpSpPr/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91927" name="Text Box 87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anose="020B0604030504040204" pitchFamily="34" charset="0"/>
                  </a:rPr>
                  <a:t>B</a:t>
                </a:r>
                <a:endParaRPr kumimoji="0"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1928" name="Text Box 88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29" name="Text Box 89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1930" name="Group 90"/>
            <p:cNvGrpSpPr/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91931" name="Text Box 9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32" name="Text Box 9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1933" name="Group 93"/>
            <p:cNvGrpSpPr/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91934" name="Text Box 94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35" name="Text Box 95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36" name="Text Box 96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37" name="Text Box 97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91938" name="Rectangle 98"/>
            <p:cNvSpPr>
              <a:spLocks noChangeArrowheads="1"/>
            </p:cNvSpPr>
            <p:nvPr/>
          </p:nvSpPr>
          <p:spPr bwMode="auto">
            <a:xfrm>
              <a:off x="1467" y="259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39" name="Rectangle 99"/>
            <p:cNvSpPr>
              <a:spLocks noChangeArrowheads="1"/>
            </p:cNvSpPr>
            <p:nvPr/>
          </p:nvSpPr>
          <p:spPr bwMode="auto">
            <a:xfrm>
              <a:off x="878" y="2580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0" name="Rectangle 100"/>
            <p:cNvSpPr>
              <a:spLocks noChangeArrowheads="1"/>
            </p:cNvSpPr>
            <p:nvPr/>
          </p:nvSpPr>
          <p:spPr bwMode="auto">
            <a:xfrm>
              <a:off x="2035" y="2580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1" name="Rectangle 101"/>
            <p:cNvSpPr>
              <a:spLocks noChangeArrowheads="1"/>
            </p:cNvSpPr>
            <p:nvPr/>
          </p:nvSpPr>
          <p:spPr bwMode="auto">
            <a:xfrm>
              <a:off x="2647" y="259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2" name="Rectangle 102"/>
            <p:cNvSpPr>
              <a:spLocks noChangeArrowheads="1"/>
            </p:cNvSpPr>
            <p:nvPr/>
          </p:nvSpPr>
          <p:spPr bwMode="auto">
            <a:xfrm>
              <a:off x="1467" y="3093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3" name="Rectangle 103"/>
            <p:cNvSpPr>
              <a:spLocks noChangeArrowheads="1"/>
            </p:cNvSpPr>
            <p:nvPr/>
          </p:nvSpPr>
          <p:spPr bwMode="auto">
            <a:xfrm>
              <a:off x="856" y="304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4" name="Rectangle 104"/>
            <p:cNvSpPr>
              <a:spLocks noChangeArrowheads="1"/>
            </p:cNvSpPr>
            <p:nvPr/>
          </p:nvSpPr>
          <p:spPr bwMode="auto">
            <a:xfrm>
              <a:off x="2057" y="3093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45" name="Rectangle 105"/>
            <p:cNvSpPr>
              <a:spLocks noChangeArrowheads="1"/>
            </p:cNvSpPr>
            <p:nvPr/>
          </p:nvSpPr>
          <p:spPr bwMode="auto">
            <a:xfrm>
              <a:off x="2647" y="3048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m</a:t>
              </a:r>
              <a:r>
                <a:rPr kumimoji="0"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1947" name="Rectangle 107"/>
          <p:cNvSpPr>
            <a:spLocks noChangeArrowheads="1"/>
          </p:cNvSpPr>
          <p:nvPr/>
        </p:nvSpPr>
        <p:spPr bwMode="auto">
          <a:xfrm>
            <a:off x="5943600" y="2514600"/>
            <a:ext cx="838200" cy="609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48" name="Rectangle 108"/>
          <p:cNvSpPr>
            <a:spLocks noChangeArrowheads="1"/>
          </p:cNvSpPr>
          <p:nvPr/>
        </p:nvSpPr>
        <p:spPr bwMode="auto">
          <a:xfrm>
            <a:off x="7924800" y="2590799"/>
            <a:ext cx="838200" cy="1276573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49" name="Rectangle 109"/>
          <p:cNvSpPr>
            <a:spLocks noChangeArrowheads="1"/>
          </p:cNvSpPr>
          <p:nvPr/>
        </p:nvSpPr>
        <p:spPr bwMode="auto">
          <a:xfrm>
            <a:off x="7010400" y="3276600"/>
            <a:ext cx="1676400" cy="6096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50" name="Rectangle 110"/>
          <p:cNvSpPr>
            <a:spLocks noChangeArrowheads="1"/>
          </p:cNvSpPr>
          <p:nvPr/>
        </p:nvSpPr>
        <p:spPr bwMode="auto">
          <a:xfrm>
            <a:off x="179512" y="4343400"/>
            <a:ext cx="416388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在函数最小项对应的小方块填“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，其他方块填“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91951" name="Group 111"/>
          <p:cNvGrpSpPr/>
          <p:nvPr/>
        </p:nvGrpSpPr>
        <p:grpSpPr bwMode="auto">
          <a:xfrm>
            <a:off x="4419600" y="4038600"/>
            <a:ext cx="4537075" cy="2376488"/>
            <a:chOff x="288" y="1959"/>
            <a:chExt cx="2858" cy="1497"/>
          </a:xfrm>
        </p:grpSpPr>
        <p:grpSp>
          <p:nvGrpSpPr>
            <p:cNvPr id="291952" name="Group 112"/>
            <p:cNvGrpSpPr/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91953" name="Rectangle 113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4" name="Rectangle 114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5" name="Rectangle 115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6" name="Rectangle 116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7" name="Rectangle 117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8" name="Rectangle 118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59" name="Rectangle 119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60" name="Rectangle 120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1961" name="Line 121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2" name="Line 122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3" name="Line 123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4" name="Line 12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5" name="Line 125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6" name="Line 126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7" name="Line 127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8" name="Line 128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9" name="Line 129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1970" name="Group 130"/>
            <p:cNvGrpSpPr/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91971" name="Text Box 131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72" name="Text Box 132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73" name="Text Box 133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1974" name="Group 134"/>
            <p:cNvGrpSpPr/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91975" name="Text Box 135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76" name="Text Box 136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1977" name="Group 137"/>
            <p:cNvGrpSpPr/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91978" name="Text Box 138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79" name="Text Box 139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80" name="Text Box 140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1981" name="Text Box 141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91982" name="Rectangle 142"/>
            <p:cNvSpPr>
              <a:spLocks noChangeArrowheads="1"/>
            </p:cNvSpPr>
            <p:nvPr/>
          </p:nvSpPr>
          <p:spPr bwMode="auto">
            <a:xfrm>
              <a:off x="1467" y="2594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3" name="Rectangle 143"/>
            <p:cNvSpPr>
              <a:spLocks noChangeArrowheads="1"/>
            </p:cNvSpPr>
            <p:nvPr/>
          </p:nvSpPr>
          <p:spPr bwMode="auto">
            <a:xfrm>
              <a:off x="878" y="25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4" name="Rectangle 144"/>
            <p:cNvSpPr>
              <a:spLocks noChangeArrowheads="1"/>
            </p:cNvSpPr>
            <p:nvPr/>
          </p:nvSpPr>
          <p:spPr bwMode="auto">
            <a:xfrm>
              <a:off x="2035" y="25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5" name="Rectangle 145"/>
            <p:cNvSpPr>
              <a:spLocks noChangeArrowheads="1"/>
            </p:cNvSpPr>
            <p:nvPr/>
          </p:nvSpPr>
          <p:spPr bwMode="auto">
            <a:xfrm>
              <a:off x="2647" y="25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6" name="Rectangle 146"/>
            <p:cNvSpPr>
              <a:spLocks noChangeArrowheads="1"/>
            </p:cNvSpPr>
            <p:nvPr/>
          </p:nvSpPr>
          <p:spPr bwMode="auto">
            <a:xfrm>
              <a:off x="1467" y="309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7" name="Rectangle 147"/>
            <p:cNvSpPr>
              <a:spLocks noChangeArrowheads="1"/>
            </p:cNvSpPr>
            <p:nvPr/>
          </p:nvSpPr>
          <p:spPr bwMode="auto">
            <a:xfrm>
              <a:off x="856" y="304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8" name="Rectangle 148"/>
            <p:cNvSpPr>
              <a:spLocks noChangeArrowheads="1"/>
            </p:cNvSpPr>
            <p:nvPr/>
          </p:nvSpPr>
          <p:spPr bwMode="auto">
            <a:xfrm>
              <a:off x="2057" y="309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1989" name="Rectangle 149"/>
            <p:cNvSpPr>
              <a:spLocks noChangeArrowheads="1"/>
            </p:cNvSpPr>
            <p:nvPr/>
          </p:nvSpPr>
          <p:spPr bwMode="auto">
            <a:xfrm>
              <a:off x="2647" y="30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1990" name="Rectangle 150"/>
          <p:cNvSpPr>
            <a:spLocks noChangeArrowheads="1"/>
          </p:cNvSpPr>
          <p:nvPr/>
        </p:nvSpPr>
        <p:spPr bwMode="auto">
          <a:xfrm>
            <a:off x="6096000" y="4953000"/>
            <a:ext cx="838200" cy="609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91" name="Rectangle 151"/>
          <p:cNvSpPr>
            <a:spLocks noChangeArrowheads="1"/>
          </p:cNvSpPr>
          <p:nvPr/>
        </p:nvSpPr>
        <p:spPr bwMode="auto">
          <a:xfrm>
            <a:off x="8077200" y="5029199"/>
            <a:ext cx="838200" cy="1266825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92" name="Rectangle 152"/>
          <p:cNvSpPr>
            <a:spLocks noChangeArrowheads="1"/>
          </p:cNvSpPr>
          <p:nvPr/>
        </p:nvSpPr>
        <p:spPr bwMode="auto">
          <a:xfrm>
            <a:off x="7162800" y="5715000"/>
            <a:ext cx="1676400" cy="6096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1995" name="Group 155"/>
          <p:cNvGrpSpPr/>
          <p:nvPr/>
        </p:nvGrpSpPr>
        <p:grpSpPr bwMode="auto">
          <a:xfrm>
            <a:off x="387350" y="2438400"/>
            <a:ext cx="4033838" cy="1595438"/>
            <a:chOff x="244" y="1536"/>
            <a:chExt cx="2541" cy="1005"/>
          </a:xfrm>
        </p:grpSpPr>
        <p:graphicFrame>
          <p:nvGraphicFramePr>
            <p:cNvPr id="291906" name="Object 66"/>
            <p:cNvGraphicFramePr>
              <a:graphicFrameLocks noChangeAspect="1"/>
            </p:cNvGraphicFramePr>
            <p:nvPr/>
          </p:nvGraphicFramePr>
          <p:xfrm>
            <a:off x="244" y="1536"/>
            <a:ext cx="209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8" name="公式" r:id="rId1" imgW="1434465" imgH="215900" progId="Equation.3">
                    <p:embed/>
                  </p:oleObj>
                </mc:Choice>
                <mc:Fallback>
                  <p:oleObj name="公式" r:id="rId1" imgW="1434465" imgH="215900" progId="Equation.3">
                    <p:embed/>
                    <p:pic>
                      <p:nvPicPr>
                        <p:cNvPr id="0" name="图片 45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" y="1536"/>
                          <a:ext cx="2095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946" name="Object 106"/>
            <p:cNvGraphicFramePr>
              <a:graphicFrameLocks noChangeAspect="1"/>
            </p:cNvGraphicFramePr>
            <p:nvPr/>
          </p:nvGraphicFramePr>
          <p:xfrm>
            <a:off x="557" y="2151"/>
            <a:ext cx="1522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9" name="公式" r:id="rId3" imgW="1040765" imgH="266700" progId="Equation.3">
                    <p:embed/>
                  </p:oleObj>
                </mc:Choice>
                <mc:Fallback>
                  <p:oleObj name="公式" r:id="rId3" imgW="1040765" imgH="266700" progId="Equation.3">
                    <p:embed/>
                    <p:pic>
                      <p:nvPicPr>
                        <p:cNvPr id="0" name="图片 452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2151"/>
                          <a:ext cx="1522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994" name="Object 154"/>
            <p:cNvGraphicFramePr>
              <a:graphicFrameLocks noChangeAspect="1"/>
            </p:cNvGraphicFramePr>
            <p:nvPr/>
          </p:nvGraphicFramePr>
          <p:xfrm>
            <a:off x="523" y="1824"/>
            <a:ext cx="226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10" name="公式" r:id="rId5" imgW="1892300" imgH="215900" progId="Equation.3">
                    <p:embed/>
                  </p:oleObj>
                </mc:Choice>
                <mc:Fallback>
                  <p:oleObj name="公式" r:id="rId5" imgW="1892300" imgH="215900" progId="Equation.3">
                    <p:embed/>
                    <p:pic>
                      <p:nvPicPr>
                        <p:cNvPr id="0" name="图片 45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1824"/>
                          <a:ext cx="226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9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9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947" grpId="0" animBg="1"/>
      <p:bldP spid="291948" grpId="0" animBg="1"/>
      <p:bldP spid="291949" grpId="0" animBg="1"/>
      <p:bldP spid="291950" grpId="0" autoUpdateAnimBg="0"/>
      <p:bldP spid="291990" grpId="0" animBg="1"/>
      <p:bldP spid="291991" grpId="0" animBg="1"/>
      <p:bldP spid="29199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3FA5-A21A-479A-B01F-8421D12CA2F6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卡诺图化简的步骤</a:t>
            </a:r>
            <a:endParaRPr lang="zh-CN" altLang="en-US"/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381000" y="2819400"/>
            <a:ext cx="6999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画图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：按照循环码规律指定卡诺图变量取值；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381000" y="3284984"/>
            <a:ext cx="8943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填数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：在函数最小项对应的小方块填“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，其他方块填“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81000" y="3789040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合并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：合并相邻填“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的小方块，两个方块合并消去一个变量（一维块）；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个方块合并消去两个变量（二维块）；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381000" y="5085184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不要漏、不冗余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：使每一最小项至少被合并包含过一次；每个合并的圈中，至少要有一个“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没有被圈过，否则这个圈就是多余的。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381000" y="4623792"/>
            <a:ext cx="905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先大后小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：合并过程中先找大圈合并，圈越大消去的变量越多；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 autoUpdateAnimBg="0"/>
      <p:bldP spid="154629" grpId="0" autoUpdateAnimBg="0"/>
      <p:bldP spid="154631" grpId="0" autoUpdateAnimBg="0"/>
      <p:bldP spid="154632" grpId="0" autoUpdateAnimBg="0"/>
      <p:bldP spid="15463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0D69-F600-4122-8B36-E82EEF8F1251}" type="slidenum">
              <a:rPr lang="en-US" altLang="zh-CN"/>
            </a:fld>
            <a:endParaRPr lang="en-US" altLang="zh-CN"/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 “</a:t>
            </a:r>
            <a:r>
              <a:rPr lang="zh-CN" altLang="en-US" dirty="0"/>
              <a:t>与或”式化简：</a:t>
            </a:r>
            <a:endParaRPr lang="zh-CN" altLang="en-US" dirty="0"/>
          </a:p>
          <a:p>
            <a:pPr lvl="2"/>
            <a:endParaRPr lang="en-US" altLang="zh-CN" dirty="0"/>
          </a:p>
        </p:txBody>
      </p:sp>
      <p:grpSp>
        <p:nvGrpSpPr>
          <p:cNvPr id="155700" name="Group 52"/>
          <p:cNvGrpSpPr/>
          <p:nvPr/>
        </p:nvGrpSpPr>
        <p:grpSpPr bwMode="auto">
          <a:xfrm>
            <a:off x="2302743" y="5073352"/>
            <a:ext cx="3505200" cy="609600"/>
            <a:chOff x="1632" y="2976"/>
            <a:chExt cx="2208" cy="384"/>
          </a:xfrm>
        </p:grpSpPr>
        <p:sp>
          <p:nvSpPr>
            <p:cNvPr id="155698" name="Rectangle 50"/>
            <p:cNvSpPr>
              <a:spLocks noChangeArrowheads="1"/>
            </p:cNvSpPr>
            <p:nvPr/>
          </p:nvSpPr>
          <p:spPr bwMode="auto">
            <a:xfrm>
              <a:off x="3408" y="2976"/>
              <a:ext cx="432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99" name="Rectangle 51"/>
            <p:cNvSpPr>
              <a:spLocks noChangeArrowheads="1"/>
            </p:cNvSpPr>
            <p:nvPr/>
          </p:nvSpPr>
          <p:spPr bwMode="auto">
            <a:xfrm>
              <a:off x="1632" y="3024"/>
              <a:ext cx="432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5697" name="Rectangle 49"/>
          <p:cNvSpPr>
            <a:spLocks noChangeArrowheads="1"/>
          </p:cNvSpPr>
          <p:nvPr/>
        </p:nvSpPr>
        <p:spPr bwMode="auto">
          <a:xfrm>
            <a:off x="4131543" y="4463752"/>
            <a:ext cx="685800" cy="1143000"/>
          </a:xfrm>
          <a:prstGeom prst="rect">
            <a:avLst/>
          </a:prstGeom>
          <a:solidFill>
            <a:srgbClr val="993366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5692" name="Group 44"/>
          <p:cNvGrpSpPr/>
          <p:nvPr/>
        </p:nvGrpSpPr>
        <p:grpSpPr bwMode="auto">
          <a:xfrm>
            <a:off x="1475656" y="3396952"/>
            <a:ext cx="4537075" cy="2376488"/>
            <a:chOff x="1111" y="1920"/>
            <a:chExt cx="2858" cy="1497"/>
          </a:xfrm>
        </p:grpSpPr>
        <p:grpSp>
          <p:nvGrpSpPr>
            <p:cNvPr id="155653" name="Group 5"/>
            <p:cNvGrpSpPr/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155654" name="Rectangle 6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55" name="Rectangle 7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56" name="Rectangle 8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57" name="Rectangle 9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58" name="Rectangle 10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59" name="Rectangle 11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kumimoji="0" lang="en-US" altLang="zh-CN" b="1">
                    <a:latin typeface="Arial" panose="020B0604020202020204" pitchFamily="34" charset="0"/>
                    <a:ea typeface="幼圆" panose="02010509060101010101" pitchFamily="49" charset="-122"/>
                  </a:rPr>
                  <a:t> </a:t>
                </a:r>
                <a:endParaRPr kumimoji="0" lang="en-US" altLang="zh-CN" b="1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5660" name="Rectangle 12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61" name="Rectangle 13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5662" name="Line 1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3" name="Line 15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4" name="Line 16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5" name="Line 1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6" name="Line 18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7" name="Line 19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8" name="Line 20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9" name="Line 21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70" name="Line 22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5671" name="Group 23"/>
            <p:cNvGrpSpPr/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155672" name="Text Box 24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73" name="Text Box 25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74" name="Text Box 26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5675" name="Group 27"/>
            <p:cNvGrpSpPr/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155676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77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5678" name="Group 30"/>
            <p:cNvGrpSpPr/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155679" name="Text Box 31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80" name="Text Box 32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81" name="Text Box 33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5682" name="Text Box 34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5683" name="Rectangle 35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4" name="Rectangle 36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5" name="Rectangle 37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6" name="Rectangle 38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7" name="Rectangle 39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8" name="Rectangle 40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 dirty="0">
                  <a:solidFill>
                    <a:schemeClr val="folHlink"/>
                  </a:solidFill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solidFill>
                  <a:schemeClr val="folHlink"/>
                </a:solidFill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89" name="Rectangle 41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690" name="Rectangle 42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5691" name="Object 43"/>
          <p:cNvGraphicFramePr>
            <a:graphicFrameLocks noChangeAspect="1"/>
          </p:cNvGraphicFramePr>
          <p:nvPr/>
        </p:nvGraphicFramePr>
        <p:xfrm>
          <a:off x="4139927" y="2482552"/>
          <a:ext cx="47672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0" name="公式" r:id="rId1" imgW="2057400" imgH="215900" progId="Equation.3">
                  <p:embed/>
                </p:oleObj>
              </mc:Choice>
              <mc:Fallback>
                <p:oleObj name="公式" r:id="rId1" imgW="2057400" imgH="215900" progId="Equation.3">
                  <p:embed/>
                  <p:pic>
                    <p:nvPicPr>
                      <p:cNvPr id="0" name="图片 46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27" y="2482552"/>
                        <a:ext cx="47672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93" name="Line 45"/>
          <p:cNvSpPr>
            <a:spLocks noChangeShapeType="1"/>
          </p:cNvSpPr>
          <p:nvPr/>
        </p:nvSpPr>
        <p:spPr bwMode="auto">
          <a:xfrm flipH="1">
            <a:off x="4360142" y="3015952"/>
            <a:ext cx="931863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4" name="Line 46"/>
          <p:cNvSpPr>
            <a:spLocks noChangeShapeType="1"/>
          </p:cNvSpPr>
          <p:nvPr/>
        </p:nvSpPr>
        <p:spPr bwMode="auto">
          <a:xfrm flipH="1">
            <a:off x="2607543" y="3015952"/>
            <a:ext cx="3692624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5" name="Line 47"/>
          <p:cNvSpPr>
            <a:spLocks noChangeShapeType="1"/>
          </p:cNvSpPr>
          <p:nvPr/>
        </p:nvSpPr>
        <p:spPr bwMode="auto">
          <a:xfrm flipH="1">
            <a:off x="4588743" y="3015952"/>
            <a:ext cx="2863552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6" name="Line 48"/>
          <p:cNvSpPr>
            <a:spLocks noChangeShapeType="1"/>
          </p:cNvSpPr>
          <p:nvPr/>
        </p:nvSpPr>
        <p:spPr bwMode="auto">
          <a:xfrm flipH="1">
            <a:off x="5579343" y="3015952"/>
            <a:ext cx="3025080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5703" name="Group 55"/>
          <p:cNvGrpSpPr/>
          <p:nvPr/>
        </p:nvGrpSpPr>
        <p:grpSpPr bwMode="auto">
          <a:xfrm>
            <a:off x="2159868" y="6063952"/>
            <a:ext cx="3675063" cy="533400"/>
            <a:chOff x="1056" y="3600"/>
            <a:chExt cx="2315" cy="336"/>
          </a:xfrm>
        </p:grpSpPr>
        <p:graphicFrame>
          <p:nvGraphicFramePr>
            <p:cNvPr id="155701" name="Object 53"/>
            <p:cNvGraphicFramePr>
              <a:graphicFrameLocks noChangeAspect="1"/>
            </p:cNvGraphicFramePr>
            <p:nvPr/>
          </p:nvGraphicFramePr>
          <p:xfrm>
            <a:off x="1999" y="3600"/>
            <a:ext cx="13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81" name="公式" r:id="rId3" imgW="939165" imgH="215900" progId="Equation.3">
                    <p:embed/>
                  </p:oleObj>
                </mc:Choice>
                <mc:Fallback>
                  <p:oleObj name="公式" r:id="rId3" imgW="939165" imgH="215900" progId="Equation.3">
                    <p:embed/>
                    <p:pic>
                      <p:nvPicPr>
                        <p:cNvPr id="0" name="图片 46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3600"/>
                          <a:ext cx="137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702" name="Text Box 54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化简结果：</a:t>
              </a:r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55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5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55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55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97" grpId="0" animBg="1"/>
      <p:bldP spid="155693" grpId="0" animBg="1"/>
      <p:bldP spid="155694" grpId="0" animBg="1"/>
      <p:bldP spid="155695" grpId="0" animBg="1"/>
      <p:bldP spid="15569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E1C5-97F9-47D5-803B-D4FA72115A70}" type="slidenum">
              <a:rPr lang="en-US" altLang="zh-CN"/>
            </a:fld>
            <a:endParaRPr lang="en-US" altLang="zh-CN"/>
          </a:p>
        </p:txBody>
      </p:sp>
      <p:sp>
        <p:nvSpPr>
          <p:cNvPr id="156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例</a:t>
            </a:r>
            <a:r>
              <a:rPr lang="en-US" altLang="zh-CN"/>
              <a:t>2 “</a:t>
            </a:r>
            <a:r>
              <a:rPr lang="zh-CN" altLang="en-US"/>
              <a:t>与或”式化简：</a:t>
            </a:r>
            <a:endParaRPr lang="zh-CN" altLang="en-US"/>
          </a:p>
        </p:txBody>
      </p:sp>
      <p:grpSp>
        <p:nvGrpSpPr>
          <p:cNvPr id="156730" name="Group 58"/>
          <p:cNvGrpSpPr/>
          <p:nvPr/>
        </p:nvGrpSpPr>
        <p:grpSpPr bwMode="auto">
          <a:xfrm>
            <a:off x="1371600" y="3429000"/>
            <a:ext cx="3200400" cy="3276600"/>
            <a:chOff x="1429" y="1389"/>
            <a:chExt cx="2540" cy="2449"/>
          </a:xfrm>
        </p:grpSpPr>
        <p:sp>
          <p:nvSpPr>
            <p:cNvPr id="156731" name="Rectangle 59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2" name="Rectangle 60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3" name="Rectangle 61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4" name="Rectangle 62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5" name="Rectangle 63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6" name="Rectangle 64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7" name="Rectangle 65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8" name="Rectangle 66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39" name="Rectangle 67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0" name="Rectangle 68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1" name="Rectangle 69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2" name="Rectangle 70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3" name="Rectangle 71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4" name="Rectangle 72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5" name="Rectangle 73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6" name="Rectangle 74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747" name="Line 75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8" name="Line 76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9" name="Line 77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0" name="Line 78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1" name="Line 79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2" name="Line 80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3" name="Line 81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4" name="Line 82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5" name="Line 83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6" name="Line 84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7" name="Line 85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6728" name="Object 56"/>
          <p:cNvGraphicFramePr>
            <a:graphicFrameLocks noChangeAspect="1"/>
          </p:cNvGraphicFramePr>
          <p:nvPr/>
        </p:nvGraphicFramePr>
        <p:xfrm>
          <a:off x="328613" y="2730500"/>
          <a:ext cx="464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4" name="公式" r:id="rId1" imgW="2095500" imgH="228600" progId="Equation.3">
                  <p:embed/>
                </p:oleObj>
              </mc:Choice>
              <mc:Fallback>
                <p:oleObj name="公式" r:id="rId1" imgW="2095500" imgH="228600" progId="Equation.3">
                  <p:embed/>
                  <p:pic>
                    <p:nvPicPr>
                      <p:cNvPr id="0" name="图片 47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2730500"/>
                        <a:ext cx="46418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29" name="Object 57"/>
          <p:cNvGraphicFramePr>
            <a:graphicFrameLocks noChangeAspect="1"/>
          </p:cNvGraphicFramePr>
          <p:nvPr/>
        </p:nvGraphicFramePr>
        <p:xfrm>
          <a:off x="4977705" y="2747963"/>
          <a:ext cx="39147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5" name="公式" r:id="rId3" imgW="1739900" imgH="266700" progId="Equation.3">
                  <p:embed/>
                </p:oleObj>
              </mc:Choice>
              <mc:Fallback>
                <p:oleObj name="公式" r:id="rId3" imgW="1739900" imgH="266700" progId="Equation.3">
                  <p:embed/>
                  <p:pic>
                    <p:nvPicPr>
                      <p:cNvPr id="0" name="图片 47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705" y="2747963"/>
                        <a:ext cx="391477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6758" name="Group 86"/>
          <p:cNvGrpSpPr/>
          <p:nvPr/>
        </p:nvGrpSpPr>
        <p:grpSpPr bwMode="auto">
          <a:xfrm>
            <a:off x="1295400" y="3048000"/>
            <a:ext cx="788988" cy="1177925"/>
            <a:chOff x="1337" y="1162"/>
            <a:chExt cx="545" cy="742"/>
          </a:xfrm>
        </p:grpSpPr>
        <p:sp>
          <p:nvSpPr>
            <p:cNvPr id="156759" name="Text Box 87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60" name="Text Box 88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61" name="Text Box 89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62" name="Text Box 90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6878" name="Group 206"/>
          <p:cNvGrpSpPr/>
          <p:nvPr/>
        </p:nvGrpSpPr>
        <p:grpSpPr bwMode="auto">
          <a:xfrm>
            <a:off x="1981200" y="3338513"/>
            <a:ext cx="2647950" cy="471487"/>
            <a:chOff x="1248" y="2103"/>
            <a:chExt cx="1668" cy="297"/>
          </a:xfrm>
        </p:grpSpPr>
        <p:sp>
          <p:nvSpPr>
            <p:cNvPr id="156785" name="Text Box 113"/>
            <p:cNvSpPr txBox="1">
              <a:spLocks noChangeArrowheads="1"/>
            </p:cNvSpPr>
            <p:nvPr/>
          </p:nvSpPr>
          <p:spPr bwMode="auto">
            <a:xfrm>
              <a:off x="1248" y="211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86" name="Text Box 114"/>
            <p:cNvSpPr txBox="1">
              <a:spLocks noChangeArrowheads="1"/>
            </p:cNvSpPr>
            <p:nvPr/>
          </p:nvSpPr>
          <p:spPr bwMode="auto">
            <a:xfrm>
              <a:off x="2121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87" name="Text Box 115"/>
            <p:cNvSpPr txBox="1">
              <a:spLocks noChangeArrowheads="1"/>
            </p:cNvSpPr>
            <p:nvPr/>
          </p:nvSpPr>
          <p:spPr bwMode="auto">
            <a:xfrm>
              <a:off x="1689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88" name="Text Box 116"/>
            <p:cNvSpPr txBox="1">
              <a:spLocks noChangeArrowheads="1"/>
            </p:cNvSpPr>
            <p:nvPr/>
          </p:nvSpPr>
          <p:spPr bwMode="auto">
            <a:xfrm>
              <a:off x="2553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6877" name="Group 205"/>
          <p:cNvGrpSpPr/>
          <p:nvPr/>
        </p:nvGrpSpPr>
        <p:grpSpPr bwMode="auto">
          <a:xfrm>
            <a:off x="1295400" y="4114800"/>
            <a:ext cx="576263" cy="2438400"/>
            <a:chOff x="816" y="2592"/>
            <a:chExt cx="363" cy="1536"/>
          </a:xfrm>
        </p:grpSpPr>
        <p:sp>
          <p:nvSpPr>
            <p:cNvPr id="156790" name="Text Box 118"/>
            <p:cNvSpPr txBox="1">
              <a:spLocks noChangeArrowheads="1"/>
            </p:cNvSpPr>
            <p:nvPr/>
          </p:nvSpPr>
          <p:spPr bwMode="auto">
            <a:xfrm>
              <a:off x="816" y="259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91" name="Text Box 119"/>
            <p:cNvSpPr txBox="1">
              <a:spLocks noChangeArrowheads="1"/>
            </p:cNvSpPr>
            <p:nvPr/>
          </p:nvSpPr>
          <p:spPr bwMode="auto">
            <a:xfrm>
              <a:off x="816" y="340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92" name="Text Box 120"/>
            <p:cNvSpPr txBox="1">
              <a:spLocks noChangeArrowheads="1"/>
            </p:cNvSpPr>
            <p:nvPr/>
          </p:nvSpPr>
          <p:spPr bwMode="auto">
            <a:xfrm>
              <a:off x="816" y="297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56793" name="Text Box 121"/>
            <p:cNvSpPr txBox="1">
              <a:spLocks noChangeArrowheads="1"/>
            </p:cNvSpPr>
            <p:nvPr/>
          </p:nvSpPr>
          <p:spPr bwMode="auto">
            <a:xfrm>
              <a:off x="816" y="38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56876" name="Group 204"/>
          <p:cNvGrpSpPr/>
          <p:nvPr/>
        </p:nvGrpSpPr>
        <p:grpSpPr bwMode="auto">
          <a:xfrm>
            <a:off x="1981200" y="6096000"/>
            <a:ext cx="2438400" cy="533400"/>
            <a:chOff x="1296" y="3840"/>
            <a:chExt cx="1536" cy="336"/>
          </a:xfrm>
        </p:grpSpPr>
        <p:grpSp>
          <p:nvGrpSpPr>
            <p:cNvPr id="156875" name="Group 203"/>
            <p:cNvGrpSpPr/>
            <p:nvPr/>
          </p:nvGrpSpPr>
          <p:grpSpPr bwMode="auto">
            <a:xfrm>
              <a:off x="1296" y="3840"/>
              <a:ext cx="1536" cy="336"/>
              <a:chOff x="1296" y="3840"/>
              <a:chExt cx="1536" cy="336"/>
            </a:xfrm>
          </p:grpSpPr>
          <p:sp>
            <p:nvSpPr>
              <p:cNvPr id="156873" name="Rectangle 201"/>
              <p:cNvSpPr>
                <a:spLocks noChangeArrowheads="1"/>
              </p:cNvSpPr>
              <p:nvPr/>
            </p:nvSpPr>
            <p:spPr bwMode="auto">
              <a:xfrm>
                <a:off x="1296" y="3840"/>
                <a:ext cx="288" cy="336"/>
              </a:xfrm>
              <a:prstGeom prst="rect">
                <a:avLst/>
              </a:prstGeom>
              <a:solidFill>
                <a:srgbClr val="CC00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874" name="Rectangle 202"/>
              <p:cNvSpPr>
                <a:spLocks noChangeArrowheads="1"/>
              </p:cNvSpPr>
              <p:nvPr/>
            </p:nvSpPr>
            <p:spPr bwMode="auto">
              <a:xfrm>
                <a:off x="2544" y="3840"/>
                <a:ext cx="288" cy="336"/>
              </a:xfrm>
              <a:prstGeom prst="rect">
                <a:avLst/>
              </a:prstGeom>
              <a:solidFill>
                <a:srgbClr val="CC00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6872" name="Text Box 200"/>
            <p:cNvSpPr txBox="1">
              <a:spLocks noChangeArrowheads="1"/>
            </p:cNvSpPr>
            <p:nvPr/>
          </p:nvSpPr>
          <p:spPr bwMode="auto">
            <a:xfrm>
              <a:off x="1340" y="3855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56880" name="Group 208"/>
          <p:cNvGrpSpPr/>
          <p:nvPr/>
        </p:nvGrpSpPr>
        <p:grpSpPr bwMode="auto">
          <a:xfrm>
            <a:off x="3276602" y="3886201"/>
            <a:ext cx="1223963" cy="2728913"/>
            <a:chOff x="3120" y="2448"/>
            <a:chExt cx="771" cy="1719"/>
          </a:xfrm>
        </p:grpSpPr>
        <p:sp>
          <p:nvSpPr>
            <p:cNvPr id="156871" name="Rectangle 199"/>
            <p:cNvSpPr>
              <a:spLocks noChangeArrowheads="1"/>
            </p:cNvSpPr>
            <p:nvPr/>
          </p:nvSpPr>
          <p:spPr bwMode="auto">
            <a:xfrm>
              <a:off x="3123" y="3831"/>
              <a:ext cx="768" cy="336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70" name="Rectangle 198"/>
            <p:cNvSpPr>
              <a:spLocks noChangeArrowheads="1"/>
            </p:cNvSpPr>
            <p:nvPr/>
          </p:nvSpPr>
          <p:spPr bwMode="auto">
            <a:xfrm>
              <a:off x="3120" y="2448"/>
              <a:ext cx="768" cy="384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69" name="Group 197"/>
            <p:cNvGrpSpPr/>
            <p:nvPr/>
          </p:nvGrpSpPr>
          <p:grpSpPr bwMode="auto">
            <a:xfrm>
              <a:off x="3168" y="2496"/>
              <a:ext cx="723" cy="1653"/>
              <a:chOff x="2160" y="2496"/>
              <a:chExt cx="723" cy="1653"/>
            </a:xfrm>
          </p:grpSpPr>
          <p:sp>
            <p:nvSpPr>
              <p:cNvPr id="156865" name="Text Box 193"/>
              <p:cNvSpPr txBox="1">
                <a:spLocks noChangeArrowheads="1"/>
              </p:cNvSpPr>
              <p:nvPr/>
            </p:nvSpPr>
            <p:spPr bwMode="auto">
              <a:xfrm>
                <a:off x="2160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6866" name="Text Box 194"/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6867" name="Text Box 195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6868" name="Text Box 196"/>
              <p:cNvSpPr txBox="1">
                <a:spLocks noChangeArrowheads="1"/>
              </p:cNvSpPr>
              <p:nvPr/>
            </p:nvSpPr>
            <p:spPr bwMode="auto">
              <a:xfrm>
                <a:off x="2595" y="386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grpSp>
        <p:nvGrpSpPr>
          <p:cNvPr id="156892" name="Group 220"/>
          <p:cNvGrpSpPr/>
          <p:nvPr/>
        </p:nvGrpSpPr>
        <p:grpSpPr bwMode="auto">
          <a:xfrm>
            <a:off x="2667000" y="4648200"/>
            <a:ext cx="457200" cy="1295400"/>
            <a:chOff x="1680" y="2928"/>
            <a:chExt cx="288" cy="816"/>
          </a:xfrm>
        </p:grpSpPr>
        <p:sp>
          <p:nvSpPr>
            <p:cNvPr id="156882" name="Rectangle 210" descr="绿色大理石"/>
            <p:cNvSpPr>
              <a:spLocks noChangeArrowheads="1"/>
            </p:cNvSpPr>
            <p:nvPr/>
          </p:nvSpPr>
          <p:spPr bwMode="auto">
            <a:xfrm>
              <a:off x="1680" y="2928"/>
              <a:ext cx="288" cy="8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81" name="Text Box 209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156879" name="Group 207"/>
          <p:cNvGrpSpPr/>
          <p:nvPr/>
        </p:nvGrpSpPr>
        <p:grpSpPr bwMode="auto">
          <a:xfrm>
            <a:off x="1905000" y="5334000"/>
            <a:ext cx="1219200" cy="533400"/>
            <a:chOff x="3648" y="3408"/>
            <a:chExt cx="768" cy="336"/>
          </a:xfrm>
        </p:grpSpPr>
        <p:sp>
          <p:nvSpPr>
            <p:cNvPr id="156864" name="Rectangle 192"/>
            <p:cNvSpPr>
              <a:spLocks noChangeArrowheads="1"/>
            </p:cNvSpPr>
            <p:nvPr/>
          </p:nvSpPr>
          <p:spPr bwMode="auto">
            <a:xfrm>
              <a:off x="3648" y="3408"/>
              <a:ext cx="720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63" name="Group 191"/>
            <p:cNvGrpSpPr/>
            <p:nvPr/>
          </p:nvGrpSpPr>
          <p:grpSpPr bwMode="auto">
            <a:xfrm>
              <a:off x="3696" y="3456"/>
              <a:ext cx="720" cy="288"/>
              <a:chOff x="1296" y="3408"/>
              <a:chExt cx="720" cy="288"/>
            </a:xfrm>
          </p:grpSpPr>
          <p:sp>
            <p:nvSpPr>
              <p:cNvPr id="156861" name="Text Box 189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6862" name="Text Box 19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sp>
        <p:nvSpPr>
          <p:cNvPr id="156884" name="Line 212"/>
          <p:cNvSpPr>
            <a:spLocks noChangeShapeType="1"/>
          </p:cNvSpPr>
          <p:nvPr/>
        </p:nvSpPr>
        <p:spPr bwMode="auto">
          <a:xfrm>
            <a:off x="1524000" y="3124200"/>
            <a:ext cx="914400" cy="2133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890" name="Group 218"/>
          <p:cNvGrpSpPr/>
          <p:nvPr/>
        </p:nvGrpSpPr>
        <p:grpSpPr bwMode="auto">
          <a:xfrm>
            <a:off x="2438400" y="3124200"/>
            <a:ext cx="1143000" cy="3048000"/>
            <a:chOff x="1536" y="1968"/>
            <a:chExt cx="720" cy="1920"/>
          </a:xfrm>
        </p:grpSpPr>
        <p:sp>
          <p:nvSpPr>
            <p:cNvPr id="156885" name="Line 213"/>
            <p:cNvSpPr>
              <a:spLocks noChangeShapeType="1"/>
            </p:cNvSpPr>
            <p:nvPr/>
          </p:nvSpPr>
          <p:spPr bwMode="auto">
            <a:xfrm>
              <a:off x="1536" y="2016"/>
              <a:ext cx="528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6" name="Line 214"/>
            <p:cNvSpPr>
              <a:spLocks noChangeShapeType="1"/>
            </p:cNvSpPr>
            <p:nvPr/>
          </p:nvSpPr>
          <p:spPr bwMode="auto">
            <a:xfrm>
              <a:off x="1536" y="1968"/>
              <a:ext cx="720" cy="19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6891" name="Group 219"/>
          <p:cNvGrpSpPr/>
          <p:nvPr/>
        </p:nvGrpSpPr>
        <p:grpSpPr bwMode="auto">
          <a:xfrm>
            <a:off x="2362200" y="3200400"/>
            <a:ext cx="1828800" cy="2895600"/>
            <a:chOff x="1488" y="2016"/>
            <a:chExt cx="1152" cy="1824"/>
          </a:xfrm>
        </p:grpSpPr>
        <p:sp>
          <p:nvSpPr>
            <p:cNvPr id="156887" name="Line 215"/>
            <p:cNvSpPr>
              <a:spLocks noChangeShapeType="1"/>
            </p:cNvSpPr>
            <p:nvPr/>
          </p:nvSpPr>
          <p:spPr bwMode="auto">
            <a:xfrm>
              <a:off x="2064" y="2016"/>
              <a:ext cx="576" cy="18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8" name="Line 216"/>
            <p:cNvSpPr>
              <a:spLocks noChangeShapeType="1"/>
            </p:cNvSpPr>
            <p:nvPr/>
          </p:nvSpPr>
          <p:spPr bwMode="auto">
            <a:xfrm flipH="1">
              <a:off x="1488" y="2016"/>
              <a:ext cx="576" cy="18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6889" name="Line 217"/>
          <p:cNvSpPr>
            <a:spLocks noChangeShapeType="1"/>
          </p:cNvSpPr>
          <p:nvPr/>
        </p:nvSpPr>
        <p:spPr bwMode="auto">
          <a:xfrm flipH="1">
            <a:off x="3124200" y="3200400"/>
            <a:ext cx="10668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56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56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56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56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884" grpId="0" animBg="1"/>
      <p:bldP spid="15688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F18E-28D5-459A-9A86-00A374D20F96}" type="slidenum">
              <a:rPr lang="en-US" altLang="zh-CN"/>
            </a:fld>
            <a:endParaRPr lang="en-US" altLang="zh-CN"/>
          </a:p>
        </p:txBody>
      </p:sp>
      <p:sp>
        <p:nvSpPr>
          <p:cNvPr id="157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例</a:t>
            </a:r>
            <a:r>
              <a:rPr lang="en-US" altLang="zh-CN"/>
              <a:t>2 “</a:t>
            </a:r>
            <a:r>
              <a:rPr lang="zh-CN" altLang="en-US"/>
              <a:t>与或”式化简</a:t>
            </a:r>
            <a:r>
              <a:rPr lang="en-US" altLang="zh-CN"/>
              <a:t>(</a:t>
            </a:r>
            <a:r>
              <a:rPr lang="zh-CN" altLang="en-US"/>
              <a:t>续）：</a:t>
            </a:r>
            <a:endParaRPr lang="zh-CN" altLang="en-US"/>
          </a:p>
          <a:p>
            <a:endParaRPr lang="en-US" altLang="zh-CN"/>
          </a:p>
        </p:txBody>
      </p:sp>
      <p:sp>
        <p:nvSpPr>
          <p:cNvPr id="157787" name="Rectangle 91"/>
          <p:cNvSpPr>
            <a:spLocks noChangeArrowheads="1"/>
          </p:cNvSpPr>
          <p:nvPr/>
        </p:nvSpPr>
        <p:spPr bwMode="auto">
          <a:xfrm>
            <a:off x="1905000" y="5410200"/>
            <a:ext cx="533400" cy="1143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86" name="Rectangle 90"/>
          <p:cNvSpPr>
            <a:spLocks noChangeArrowheads="1"/>
          </p:cNvSpPr>
          <p:nvPr/>
        </p:nvSpPr>
        <p:spPr bwMode="auto">
          <a:xfrm>
            <a:off x="2590800" y="4648200"/>
            <a:ext cx="5334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7785" name="Group 89"/>
          <p:cNvGrpSpPr/>
          <p:nvPr/>
        </p:nvGrpSpPr>
        <p:grpSpPr bwMode="auto">
          <a:xfrm>
            <a:off x="3276600" y="3886200"/>
            <a:ext cx="1219200" cy="2743200"/>
            <a:chOff x="2064" y="2448"/>
            <a:chExt cx="768" cy="1728"/>
          </a:xfrm>
        </p:grpSpPr>
        <p:sp>
          <p:nvSpPr>
            <p:cNvPr id="157774" name="Rectangle 78"/>
            <p:cNvSpPr>
              <a:spLocks noChangeArrowheads="1"/>
            </p:cNvSpPr>
            <p:nvPr/>
          </p:nvSpPr>
          <p:spPr bwMode="auto">
            <a:xfrm>
              <a:off x="2064" y="3840"/>
              <a:ext cx="768" cy="336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75" name="Rectangle 79"/>
            <p:cNvSpPr>
              <a:spLocks noChangeArrowheads="1"/>
            </p:cNvSpPr>
            <p:nvPr/>
          </p:nvSpPr>
          <p:spPr bwMode="auto">
            <a:xfrm>
              <a:off x="2064" y="2448"/>
              <a:ext cx="768" cy="384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7728" name="Object 32"/>
          <p:cNvGraphicFramePr>
            <a:graphicFrameLocks noChangeAspect="1"/>
          </p:cNvGraphicFramePr>
          <p:nvPr/>
        </p:nvGraphicFramePr>
        <p:xfrm>
          <a:off x="328613" y="2654300"/>
          <a:ext cx="464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0" name="公式" r:id="rId1" imgW="2095500" imgH="228600" progId="Equation.3">
                  <p:embed/>
                </p:oleObj>
              </mc:Choice>
              <mc:Fallback>
                <p:oleObj name="公式" r:id="rId1" imgW="2095500" imgH="228600" progId="Equation.3">
                  <p:embed/>
                  <p:pic>
                    <p:nvPicPr>
                      <p:cNvPr id="0" name="图片 48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2654300"/>
                        <a:ext cx="46418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7784" name="Group 88"/>
          <p:cNvGrpSpPr/>
          <p:nvPr/>
        </p:nvGrpSpPr>
        <p:grpSpPr bwMode="auto">
          <a:xfrm>
            <a:off x="1295400" y="3048000"/>
            <a:ext cx="3333750" cy="3657600"/>
            <a:chOff x="816" y="1920"/>
            <a:chExt cx="2100" cy="2304"/>
          </a:xfrm>
        </p:grpSpPr>
        <p:grpSp>
          <p:nvGrpSpPr>
            <p:cNvPr id="157700" name="Group 4"/>
            <p:cNvGrpSpPr/>
            <p:nvPr/>
          </p:nvGrpSpPr>
          <p:grpSpPr bwMode="auto">
            <a:xfrm>
              <a:off x="864" y="2160"/>
              <a:ext cx="2016" cy="2064"/>
              <a:chOff x="1429" y="1389"/>
              <a:chExt cx="2540" cy="2449"/>
            </a:xfrm>
          </p:grpSpPr>
          <p:sp>
            <p:nvSpPr>
              <p:cNvPr id="157701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2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3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4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5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6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7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8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09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0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1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2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3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4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5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6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7717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8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9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0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1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2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3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4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5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6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7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7729" name="Group 33"/>
            <p:cNvGrpSpPr/>
            <p:nvPr/>
          </p:nvGrpSpPr>
          <p:grpSpPr bwMode="auto">
            <a:xfrm>
              <a:off x="816" y="1920"/>
              <a:ext cx="497" cy="742"/>
              <a:chOff x="1337" y="1162"/>
              <a:chExt cx="545" cy="742"/>
            </a:xfrm>
          </p:grpSpPr>
          <p:sp>
            <p:nvSpPr>
              <p:cNvPr id="157730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1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2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3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7734" name="Group 38"/>
            <p:cNvGrpSpPr/>
            <p:nvPr/>
          </p:nvGrpSpPr>
          <p:grpSpPr bwMode="auto">
            <a:xfrm>
              <a:off x="1248" y="2103"/>
              <a:ext cx="1668" cy="297"/>
              <a:chOff x="1248" y="2103"/>
              <a:chExt cx="1668" cy="297"/>
            </a:xfrm>
          </p:grpSpPr>
          <p:sp>
            <p:nvSpPr>
              <p:cNvPr id="157735" name="Text Box 39"/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6" name="Text Box 40"/>
              <p:cNvSpPr txBox="1">
                <a:spLocks noChangeArrowheads="1"/>
              </p:cNvSpPr>
              <p:nvPr/>
            </p:nvSpPr>
            <p:spPr bwMode="auto">
              <a:xfrm>
                <a:off x="2121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7" name="Text Box 41"/>
              <p:cNvSpPr txBox="1">
                <a:spLocks noChangeArrowheads="1"/>
              </p:cNvSpPr>
              <p:nvPr/>
            </p:nvSpPr>
            <p:spPr bwMode="auto">
              <a:xfrm>
                <a:off x="1689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38" name="Text Box 42"/>
              <p:cNvSpPr txBox="1">
                <a:spLocks noChangeArrowheads="1"/>
              </p:cNvSpPr>
              <p:nvPr/>
            </p:nvSpPr>
            <p:spPr bwMode="auto">
              <a:xfrm>
                <a:off x="2553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7739" name="Group 43"/>
            <p:cNvGrpSpPr/>
            <p:nvPr/>
          </p:nvGrpSpPr>
          <p:grpSpPr bwMode="auto">
            <a:xfrm>
              <a:off x="816" y="2592"/>
              <a:ext cx="363" cy="1536"/>
              <a:chOff x="816" y="2592"/>
              <a:chExt cx="363" cy="1536"/>
            </a:xfrm>
          </p:grpSpPr>
          <p:sp>
            <p:nvSpPr>
              <p:cNvPr id="157740" name="Text Box 44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41" name="Text Box 45"/>
              <p:cNvSpPr txBox="1">
                <a:spLocks noChangeArrowheads="1"/>
              </p:cNvSpPr>
              <p:nvPr/>
            </p:nvSpPr>
            <p:spPr bwMode="auto">
              <a:xfrm>
                <a:off x="816" y="340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42" name="Text Box 46"/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57743" name="Text Box 47"/>
              <p:cNvSpPr txBox="1">
                <a:spLocks noChangeArrowheads="1"/>
              </p:cNvSpPr>
              <p:nvPr/>
            </p:nvSpPr>
            <p:spPr bwMode="auto">
              <a:xfrm>
                <a:off x="816" y="3840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7748" name="Text Box 52"/>
            <p:cNvSpPr txBox="1">
              <a:spLocks noChangeArrowheads="1"/>
            </p:cNvSpPr>
            <p:nvPr/>
          </p:nvSpPr>
          <p:spPr bwMode="auto">
            <a:xfrm>
              <a:off x="1248" y="38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grpSp>
          <p:nvGrpSpPr>
            <p:cNvPr id="157752" name="Group 56"/>
            <p:cNvGrpSpPr/>
            <p:nvPr/>
          </p:nvGrpSpPr>
          <p:grpSpPr bwMode="auto">
            <a:xfrm>
              <a:off x="2112" y="2496"/>
              <a:ext cx="720" cy="1632"/>
              <a:chOff x="2160" y="2496"/>
              <a:chExt cx="720" cy="1632"/>
            </a:xfrm>
          </p:grpSpPr>
          <p:sp>
            <p:nvSpPr>
              <p:cNvPr id="157753" name="Text Box 57"/>
              <p:cNvSpPr txBox="1">
                <a:spLocks noChangeArrowheads="1"/>
              </p:cNvSpPr>
              <p:nvPr/>
            </p:nvSpPr>
            <p:spPr bwMode="auto">
              <a:xfrm>
                <a:off x="2160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7754" name="Text Box 58"/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7755" name="Text Box 59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7756" name="Text Box 60"/>
              <p:cNvSpPr txBox="1">
                <a:spLocks noChangeArrowheads="1"/>
              </p:cNvSpPr>
              <p:nvPr/>
            </p:nvSpPr>
            <p:spPr bwMode="auto">
              <a:xfrm>
                <a:off x="2592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  <p:sp>
          <p:nvSpPr>
            <p:cNvPr id="157759" name="Text Box 63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grpSp>
          <p:nvGrpSpPr>
            <p:cNvPr id="157762" name="Group 66"/>
            <p:cNvGrpSpPr/>
            <p:nvPr/>
          </p:nvGrpSpPr>
          <p:grpSpPr bwMode="auto">
            <a:xfrm>
              <a:off x="1248" y="3408"/>
              <a:ext cx="720" cy="288"/>
              <a:chOff x="1296" y="3408"/>
              <a:chExt cx="720" cy="288"/>
            </a:xfrm>
          </p:grpSpPr>
          <p:sp>
            <p:nvSpPr>
              <p:cNvPr id="157763" name="Text Box 67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57764" name="Text Box 68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graphicFrame>
        <p:nvGraphicFramePr>
          <p:cNvPr id="157791" name="Object 95"/>
          <p:cNvGraphicFramePr>
            <a:graphicFrameLocks noChangeAspect="1"/>
          </p:cNvGraphicFramePr>
          <p:nvPr/>
        </p:nvGraphicFramePr>
        <p:xfrm>
          <a:off x="257175" y="51689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1" name="公式" r:id="rId3" imgW="330200" imgH="215900" progId="Equation.3">
                  <p:embed/>
                </p:oleObj>
              </mc:Choice>
              <mc:Fallback>
                <p:oleObj name="公式" r:id="rId3" imgW="330200" imgH="215900" progId="Equation.3">
                  <p:embed/>
                  <p:pic>
                    <p:nvPicPr>
                      <p:cNvPr id="0" name="图片 48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5168900"/>
                        <a:ext cx="7302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3" name="Object 97"/>
          <p:cNvGraphicFramePr>
            <a:graphicFrameLocks noChangeAspect="1"/>
          </p:cNvGraphicFramePr>
          <p:nvPr/>
        </p:nvGraphicFramePr>
        <p:xfrm>
          <a:off x="4903788" y="4940300"/>
          <a:ext cx="7032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2" name="公式" r:id="rId5" imgW="317500" imgH="228600" progId="Equation.3">
                  <p:embed/>
                </p:oleObj>
              </mc:Choice>
              <mc:Fallback>
                <p:oleObj name="公式" r:id="rId5" imgW="317500" imgH="228600" progId="Equation.3">
                  <p:embed/>
                  <p:pic>
                    <p:nvPicPr>
                      <p:cNvPr id="0" name="图片 483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4940300"/>
                        <a:ext cx="7032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5" name="Object 99"/>
          <p:cNvGraphicFramePr>
            <a:graphicFrameLocks noChangeAspect="1"/>
          </p:cNvGraphicFramePr>
          <p:nvPr/>
        </p:nvGraphicFramePr>
        <p:xfrm>
          <a:off x="6042025" y="4940300"/>
          <a:ext cx="561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3" name="公式" r:id="rId7" imgW="254000" imgH="228600" progId="Equation.3">
                  <p:embed/>
                </p:oleObj>
              </mc:Choice>
              <mc:Fallback>
                <p:oleObj name="公式" r:id="rId7" imgW="254000" imgH="228600" progId="Equation.3">
                  <p:embed/>
                  <p:pic>
                    <p:nvPicPr>
                      <p:cNvPr id="0" name="图片 483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4940300"/>
                        <a:ext cx="561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9" name="Object 103"/>
          <p:cNvGraphicFramePr>
            <a:graphicFrameLocks noChangeAspect="1"/>
          </p:cNvGraphicFramePr>
          <p:nvPr/>
        </p:nvGraphicFramePr>
        <p:xfrm>
          <a:off x="5427663" y="3898900"/>
          <a:ext cx="351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4" name="公式" r:id="rId9" imgW="1587500" imgH="228600" progId="Equation.3">
                  <p:embed/>
                </p:oleObj>
              </mc:Choice>
              <mc:Fallback>
                <p:oleObj name="公式" r:id="rId9" imgW="1587500" imgH="228600" progId="Equation.3">
                  <p:embed/>
                  <p:pic>
                    <p:nvPicPr>
                      <p:cNvPr id="0" name="图片 483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663" y="3898900"/>
                        <a:ext cx="3517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800" name="Text Box 104"/>
          <p:cNvSpPr txBox="1">
            <a:spLocks noChangeArrowheads="1"/>
          </p:cNvSpPr>
          <p:nvPr/>
        </p:nvSpPr>
        <p:spPr bwMode="auto">
          <a:xfrm>
            <a:off x="5791200" y="33020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化简结果：</a:t>
            </a:r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57805" name="Group 109"/>
          <p:cNvGrpSpPr/>
          <p:nvPr/>
        </p:nvGrpSpPr>
        <p:grpSpPr bwMode="auto">
          <a:xfrm>
            <a:off x="4495800" y="4114800"/>
            <a:ext cx="1600200" cy="2209800"/>
            <a:chOff x="2832" y="2592"/>
            <a:chExt cx="1008" cy="1392"/>
          </a:xfrm>
        </p:grpSpPr>
        <p:sp>
          <p:nvSpPr>
            <p:cNvPr id="157801" name="Line 105"/>
            <p:cNvSpPr>
              <a:spLocks noChangeShapeType="1"/>
            </p:cNvSpPr>
            <p:nvPr/>
          </p:nvSpPr>
          <p:spPr bwMode="auto">
            <a:xfrm>
              <a:off x="2832" y="2592"/>
              <a:ext cx="1008" cy="57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802" name="Line 106"/>
            <p:cNvSpPr>
              <a:spLocks noChangeShapeType="1"/>
            </p:cNvSpPr>
            <p:nvPr/>
          </p:nvSpPr>
          <p:spPr bwMode="auto">
            <a:xfrm flipV="1">
              <a:off x="2832" y="3312"/>
              <a:ext cx="1008" cy="6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803" name="Line 107"/>
          <p:cNvSpPr>
            <a:spLocks noChangeShapeType="1"/>
          </p:cNvSpPr>
          <p:nvPr/>
        </p:nvSpPr>
        <p:spPr bwMode="auto">
          <a:xfrm>
            <a:off x="3048000" y="4800600"/>
            <a:ext cx="19812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804" name="Line 108"/>
          <p:cNvSpPr>
            <a:spLocks noChangeShapeType="1"/>
          </p:cNvSpPr>
          <p:nvPr/>
        </p:nvSpPr>
        <p:spPr bwMode="auto">
          <a:xfrm flipH="1" flipV="1">
            <a:off x="914400" y="5486400"/>
            <a:ext cx="99060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5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9" dur="500"/>
                                        <p:tgtEl>
                                          <p:spTgt spid="15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87" grpId="0" animBg="1"/>
      <p:bldP spid="157786" grpId="0" animBg="1"/>
      <p:bldP spid="157800" grpId="0" autoUpdateAnimBg="0"/>
      <p:bldP spid="157803" grpId="0" animBg="1"/>
      <p:bldP spid="15780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8A356-6C65-46B4-BDD4-D80D82F5D655}" type="slidenum">
              <a:rPr lang="en-US" altLang="zh-CN"/>
            </a:fld>
            <a:endParaRPr lang="en-US" altLang="zh-CN"/>
          </a:p>
        </p:txBody>
      </p:sp>
      <p:sp>
        <p:nvSpPr>
          <p:cNvPr id="261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规则的深刻理解</a:t>
            </a:r>
            <a:endParaRPr lang="zh-CN" altLang="en-US" dirty="0"/>
          </a:p>
        </p:txBody>
      </p:sp>
      <p:grpSp>
        <p:nvGrpSpPr>
          <p:cNvPr id="261221" name="Group 101"/>
          <p:cNvGrpSpPr/>
          <p:nvPr/>
        </p:nvGrpSpPr>
        <p:grpSpPr bwMode="auto">
          <a:xfrm>
            <a:off x="247650" y="2971800"/>
            <a:ext cx="3333750" cy="3657600"/>
            <a:chOff x="720" y="1872"/>
            <a:chExt cx="2100" cy="2304"/>
          </a:xfrm>
        </p:grpSpPr>
        <p:grpSp>
          <p:nvGrpSpPr>
            <p:cNvPr id="261168" name="Group 48"/>
            <p:cNvGrpSpPr/>
            <p:nvPr/>
          </p:nvGrpSpPr>
          <p:grpSpPr bwMode="auto">
            <a:xfrm>
              <a:off x="768" y="2112"/>
              <a:ext cx="2016" cy="2064"/>
              <a:chOff x="1429" y="1389"/>
              <a:chExt cx="2540" cy="2449"/>
            </a:xfrm>
          </p:grpSpPr>
          <p:sp>
            <p:nvSpPr>
              <p:cNvPr id="261169" name="Rectangle 49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0" name="Rectangle 50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1" name="Rectangle 51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2" name="Rectangle 52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3" name="Rectangle 53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4" name="Rectangle 54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5" name="Rectangle 55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6" name="Rectangle 56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7" name="Rectangle 57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8" name="Rectangle 58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79" name="Rectangle 59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0" name="Rectangle 60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1" name="Rectangle 61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2" name="Rectangle 62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3" name="Rectangle 63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4" name="Rectangle 64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61185" name="Line 6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6" name="Line 66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7" name="Line 67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8" name="Line 68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9" name="Line 69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0" name="Line 7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1" name="Line 71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2" name="Line 72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3" name="Line 73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4" name="Line 74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5" name="Line 75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1196" name="Group 76"/>
            <p:cNvGrpSpPr/>
            <p:nvPr/>
          </p:nvGrpSpPr>
          <p:grpSpPr bwMode="auto">
            <a:xfrm>
              <a:off x="720" y="1872"/>
              <a:ext cx="497" cy="742"/>
              <a:chOff x="1337" y="1162"/>
              <a:chExt cx="545" cy="742"/>
            </a:xfrm>
          </p:grpSpPr>
          <p:sp>
            <p:nvSpPr>
              <p:cNvPr id="261197" name="Text Box 77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198" name="Text Box 78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199" name="Text Box 79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0" name="Text Box 80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61201" name="Group 81"/>
            <p:cNvGrpSpPr/>
            <p:nvPr/>
          </p:nvGrpSpPr>
          <p:grpSpPr bwMode="auto">
            <a:xfrm>
              <a:off x="1152" y="2055"/>
              <a:ext cx="1668" cy="297"/>
              <a:chOff x="1248" y="2103"/>
              <a:chExt cx="1668" cy="297"/>
            </a:xfrm>
          </p:grpSpPr>
          <p:sp>
            <p:nvSpPr>
              <p:cNvPr id="261202" name="Text Box 82"/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3" name="Text Box 83"/>
              <p:cNvSpPr txBox="1">
                <a:spLocks noChangeArrowheads="1"/>
              </p:cNvSpPr>
              <p:nvPr/>
            </p:nvSpPr>
            <p:spPr bwMode="auto">
              <a:xfrm>
                <a:off x="2121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4" name="Text Box 84"/>
              <p:cNvSpPr txBox="1">
                <a:spLocks noChangeArrowheads="1"/>
              </p:cNvSpPr>
              <p:nvPr/>
            </p:nvSpPr>
            <p:spPr bwMode="auto">
              <a:xfrm>
                <a:off x="1689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5" name="Text Box 85"/>
              <p:cNvSpPr txBox="1">
                <a:spLocks noChangeArrowheads="1"/>
              </p:cNvSpPr>
              <p:nvPr/>
            </p:nvSpPr>
            <p:spPr bwMode="auto">
              <a:xfrm>
                <a:off x="2553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61206" name="Group 86"/>
            <p:cNvGrpSpPr/>
            <p:nvPr/>
          </p:nvGrpSpPr>
          <p:grpSpPr bwMode="auto">
            <a:xfrm>
              <a:off x="720" y="2544"/>
              <a:ext cx="363" cy="1536"/>
              <a:chOff x="816" y="2592"/>
              <a:chExt cx="363" cy="1536"/>
            </a:xfrm>
          </p:grpSpPr>
          <p:sp>
            <p:nvSpPr>
              <p:cNvPr id="261207" name="Text Box 87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8" name="Text Box 88"/>
              <p:cNvSpPr txBox="1">
                <a:spLocks noChangeArrowheads="1"/>
              </p:cNvSpPr>
              <p:nvPr/>
            </p:nvSpPr>
            <p:spPr bwMode="auto">
              <a:xfrm>
                <a:off x="816" y="340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09" name="Text Box 89"/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61210" name="Text Box 90"/>
              <p:cNvSpPr txBox="1">
                <a:spLocks noChangeArrowheads="1"/>
              </p:cNvSpPr>
              <p:nvPr/>
            </p:nvSpPr>
            <p:spPr bwMode="auto">
              <a:xfrm>
                <a:off x="816" y="3840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61211" name="Text Box 91"/>
            <p:cNvSpPr txBox="1">
              <a:spLocks noChangeArrowheads="1"/>
            </p:cNvSpPr>
            <p:nvPr/>
          </p:nvSpPr>
          <p:spPr bwMode="auto">
            <a:xfrm>
              <a:off x="2016" y="37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1213" name="Text Box 93"/>
            <p:cNvSpPr txBox="1">
              <a:spLocks noChangeArrowheads="1"/>
            </p:cNvSpPr>
            <p:nvPr/>
          </p:nvSpPr>
          <p:spPr bwMode="auto">
            <a:xfrm>
              <a:off x="2016" y="33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1214" name="Text Box 94"/>
            <p:cNvSpPr txBox="1">
              <a:spLocks noChangeArrowheads="1"/>
            </p:cNvSpPr>
            <p:nvPr/>
          </p:nvSpPr>
          <p:spPr bwMode="auto">
            <a:xfrm>
              <a:off x="2016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1215" name="Text Box 95"/>
            <p:cNvSpPr txBox="1">
              <a:spLocks noChangeArrowheads="1"/>
            </p:cNvSpPr>
            <p:nvPr/>
          </p:nvSpPr>
          <p:spPr bwMode="auto">
            <a:xfrm>
              <a:off x="1584" y="244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1216" name="Text Box 96"/>
            <p:cNvSpPr txBox="1">
              <a:spLocks noChangeArrowheads="1"/>
            </p:cNvSpPr>
            <p:nvPr/>
          </p:nvSpPr>
          <p:spPr bwMode="auto">
            <a:xfrm>
              <a:off x="2448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1217" name="Text Box 97"/>
            <p:cNvSpPr txBox="1">
              <a:spLocks noChangeArrowheads="1"/>
            </p:cNvSpPr>
            <p:nvPr/>
          </p:nvSpPr>
          <p:spPr bwMode="auto">
            <a:xfrm>
              <a:off x="1584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grpSp>
          <p:nvGrpSpPr>
            <p:cNvPr id="261218" name="Group 98"/>
            <p:cNvGrpSpPr/>
            <p:nvPr/>
          </p:nvGrpSpPr>
          <p:grpSpPr bwMode="auto">
            <a:xfrm>
              <a:off x="1152" y="3360"/>
              <a:ext cx="720" cy="288"/>
              <a:chOff x="1296" y="3408"/>
              <a:chExt cx="720" cy="288"/>
            </a:xfrm>
          </p:grpSpPr>
          <p:sp>
            <p:nvSpPr>
              <p:cNvPr id="261219" name="Text Box 99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261220" name="Text Box 10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</a:t>
                </a:r>
                <a:endParaRPr lang="en-US" altLang="zh-CN"/>
              </a:p>
            </p:txBody>
          </p:sp>
        </p:grpSp>
      </p:grpSp>
      <p:graphicFrame>
        <p:nvGraphicFramePr>
          <p:cNvPr id="261223" name="Object 103"/>
          <p:cNvGraphicFramePr>
            <a:graphicFrameLocks noChangeAspect="1"/>
          </p:cNvGraphicFramePr>
          <p:nvPr/>
        </p:nvGraphicFramePr>
        <p:xfrm>
          <a:off x="899592" y="2723456"/>
          <a:ext cx="3235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6" name="Equation" r:id="rId1" imgW="45720000" imgH="6400800" progId="Equation.3">
                  <p:embed/>
                </p:oleObj>
              </mc:Choice>
              <mc:Fallback>
                <p:oleObj name="Equation" r:id="rId1" imgW="45720000" imgH="6400800" progId="Equation.3">
                  <p:embed/>
                  <p:pic>
                    <p:nvPicPr>
                      <p:cNvPr id="0" name="图片 495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723456"/>
                        <a:ext cx="3235325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24" name="Rectangle 104"/>
          <p:cNvSpPr>
            <a:spLocks noChangeArrowheads="1"/>
          </p:cNvSpPr>
          <p:nvPr/>
        </p:nvSpPr>
        <p:spPr bwMode="auto">
          <a:xfrm>
            <a:off x="1543050" y="4572000"/>
            <a:ext cx="12192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7" name="Rectangle 107"/>
          <p:cNvSpPr>
            <a:spLocks noChangeArrowheads="1"/>
          </p:cNvSpPr>
          <p:nvPr/>
        </p:nvSpPr>
        <p:spPr bwMode="auto">
          <a:xfrm>
            <a:off x="2228850" y="4572000"/>
            <a:ext cx="1219200" cy="5334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8" name="Rectangle 108"/>
          <p:cNvSpPr>
            <a:spLocks noChangeArrowheads="1"/>
          </p:cNvSpPr>
          <p:nvPr/>
        </p:nvSpPr>
        <p:spPr bwMode="auto">
          <a:xfrm>
            <a:off x="1619250" y="3886200"/>
            <a:ext cx="381000" cy="12192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9" name="Rectangle 109"/>
          <p:cNvSpPr>
            <a:spLocks noChangeArrowheads="1"/>
          </p:cNvSpPr>
          <p:nvPr/>
        </p:nvSpPr>
        <p:spPr bwMode="auto">
          <a:xfrm>
            <a:off x="857250" y="5257800"/>
            <a:ext cx="1143000" cy="6096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30" name="Rectangle 110"/>
          <p:cNvSpPr>
            <a:spLocks noChangeArrowheads="1"/>
          </p:cNvSpPr>
          <p:nvPr/>
        </p:nvSpPr>
        <p:spPr bwMode="auto">
          <a:xfrm>
            <a:off x="2228850" y="5410200"/>
            <a:ext cx="533400" cy="10668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32" name="Line 112"/>
          <p:cNvSpPr>
            <a:spLocks noChangeShapeType="1"/>
          </p:cNvSpPr>
          <p:nvPr/>
        </p:nvSpPr>
        <p:spPr bwMode="auto">
          <a:xfrm flipH="1">
            <a:off x="2133600" y="3429000"/>
            <a:ext cx="22860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3" name="Line 113"/>
          <p:cNvSpPr>
            <a:spLocks noChangeShapeType="1"/>
          </p:cNvSpPr>
          <p:nvPr/>
        </p:nvSpPr>
        <p:spPr bwMode="auto">
          <a:xfrm flipH="1">
            <a:off x="3200400" y="3429000"/>
            <a:ext cx="2209800" cy="1371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4" name="Line 114"/>
          <p:cNvSpPr>
            <a:spLocks noChangeShapeType="1"/>
          </p:cNvSpPr>
          <p:nvPr/>
        </p:nvSpPr>
        <p:spPr bwMode="auto">
          <a:xfrm flipH="1">
            <a:off x="1981200" y="3429000"/>
            <a:ext cx="44196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5" name="Line 115"/>
          <p:cNvSpPr>
            <a:spLocks noChangeShapeType="1"/>
          </p:cNvSpPr>
          <p:nvPr/>
        </p:nvSpPr>
        <p:spPr bwMode="auto">
          <a:xfrm flipH="1">
            <a:off x="1371600" y="3352800"/>
            <a:ext cx="58674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6" name="Line 116"/>
          <p:cNvSpPr>
            <a:spLocks noChangeShapeType="1"/>
          </p:cNvSpPr>
          <p:nvPr/>
        </p:nvSpPr>
        <p:spPr bwMode="auto">
          <a:xfrm flipH="1">
            <a:off x="2743200" y="3429000"/>
            <a:ext cx="5410200" cy="2133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7" name="Text Box 117"/>
          <p:cNvSpPr txBox="1">
            <a:spLocks noChangeArrowheads="1"/>
          </p:cNvSpPr>
          <p:nvPr/>
        </p:nvSpPr>
        <p:spPr bwMode="auto">
          <a:xfrm>
            <a:off x="4038600" y="41910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有没有问题？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61238" name="Object 118"/>
          <p:cNvGraphicFramePr>
            <a:graphicFrameLocks noChangeAspect="1"/>
          </p:cNvGraphicFramePr>
          <p:nvPr/>
        </p:nvGraphicFramePr>
        <p:xfrm>
          <a:off x="3529013" y="3657600"/>
          <a:ext cx="5543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7" name="公式" r:id="rId3" imgW="2463800" imgH="215900" progId="Equation.3">
                  <p:embed/>
                </p:oleObj>
              </mc:Choice>
              <mc:Fallback>
                <p:oleObj name="公式" r:id="rId3" imgW="2463800" imgH="215900" progId="Equation.3">
                  <p:embed/>
                  <p:pic>
                    <p:nvPicPr>
                      <p:cNvPr id="0" name="图片 495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3657600"/>
                        <a:ext cx="55435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39" name="Object 119"/>
          <p:cNvGraphicFramePr>
            <a:graphicFrameLocks noChangeAspect="1"/>
          </p:cNvGraphicFramePr>
          <p:nvPr/>
        </p:nvGraphicFramePr>
        <p:xfrm>
          <a:off x="4157663" y="3060700"/>
          <a:ext cx="5143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8" name="公式" r:id="rId5" imgW="228600" imgH="165100" progId="Equation.3">
                  <p:embed/>
                </p:oleObj>
              </mc:Choice>
              <mc:Fallback>
                <p:oleObj name="公式" r:id="rId5" imgW="228600" imgH="165100" progId="Equation.3">
                  <p:embed/>
                  <p:pic>
                    <p:nvPicPr>
                      <p:cNvPr id="0" name="图片 495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663" y="3060700"/>
                        <a:ext cx="514350" cy="3349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0" name="Object 120"/>
          <p:cNvGraphicFramePr>
            <a:graphicFrameLocks noChangeAspect="1"/>
          </p:cNvGraphicFramePr>
          <p:nvPr/>
        </p:nvGraphicFramePr>
        <p:xfrm>
          <a:off x="5086350" y="2971800"/>
          <a:ext cx="7429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49" name="公式" r:id="rId7" imgW="330200" imgH="215900" progId="Equation.3">
                  <p:embed/>
                </p:oleObj>
              </mc:Choice>
              <mc:Fallback>
                <p:oleObj name="公式" r:id="rId7" imgW="330200" imgH="215900" progId="Equation.3">
                  <p:embed/>
                  <p:pic>
                    <p:nvPicPr>
                      <p:cNvPr id="0" name="图片 495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2971800"/>
                        <a:ext cx="7429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1" name="Object 121"/>
          <p:cNvGraphicFramePr>
            <a:graphicFrameLocks noChangeAspect="1"/>
          </p:cNvGraphicFramePr>
          <p:nvPr/>
        </p:nvGraphicFramePr>
        <p:xfrm>
          <a:off x="6000750" y="2959100"/>
          <a:ext cx="7429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50" name="公式" r:id="rId9" imgW="330200" imgH="215900" progId="Equation.3">
                  <p:embed/>
                </p:oleObj>
              </mc:Choice>
              <mc:Fallback>
                <p:oleObj name="公式" r:id="rId9" imgW="330200" imgH="215900" progId="Equation.3">
                  <p:embed/>
                  <p:pic>
                    <p:nvPicPr>
                      <p:cNvPr id="0" name="图片 495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959100"/>
                        <a:ext cx="742950" cy="4365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2" name="Object 122"/>
          <p:cNvGraphicFramePr>
            <a:graphicFrameLocks noChangeAspect="1"/>
          </p:cNvGraphicFramePr>
          <p:nvPr/>
        </p:nvGraphicFramePr>
        <p:xfrm>
          <a:off x="6953250" y="2990850"/>
          <a:ext cx="6858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51" name="公式" r:id="rId11" imgW="304800" imgH="215900" progId="Equation.3">
                  <p:embed/>
                </p:oleObj>
              </mc:Choice>
              <mc:Fallback>
                <p:oleObj name="公式" r:id="rId11" imgW="304800" imgH="215900" progId="Equation.3">
                  <p:embed/>
                  <p:pic>
                    <p:nvPicPr>
                      <p:cNvPr id="0" name="图片 495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2990850"/>
                        <a:ext cx="68580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3" name="Object 123"/>
          <p:cNvGraphicFramePr>
            <a:graphicFrameLocks noChangeAspect="1"/>
          </p:cNvGraphicFramePr>
          <p:nvPr/>
        </p:nvGraphicFramePr>
        <p:xfrm>
          <a:off x="7829550" y="3048000"/>
          <a:ext cx="685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52" name="公式" r:id="rId13" imgW="304800" imgH="165100" progId="Equation.3">
                  <p:embed/>
                </p:oleObj>
              </mc:Choice>
              <mc:Fallback>
                <p:oleObj name="公式" r:id="rId13" imgW="304800" imgH="165100" progId="Equation.3">
                  <p:embed/>
                  <p:pic>
                    <p:nvPicPr>
                      <p:cNvPr id="0" name="图片 495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9550" y="3048000"/>
                        <a:ext cx="685800" cy="3365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44" name="Text Box 124"/>
          <p:cNvSpPr txBox="1">
            <a:spLocks noChangeArrowheads="1"/>
          </p:cNvSpPr>
          <p:nvPr/>
        </p:nvSpPr>
        <p:spPr bwMode="auto">
          <a:xfrm>
            <a:off x="4038600" y="4648200"/>
            <a:ext cx="472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大框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(AC)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包含的最小项被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个小框完全包含，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是多余的项。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61245" name="Object 125"/>
          <p:cNvGraphicFramePr>
            <a:graphicFrameLocks noChangeAspect="1"/>
          </p:cNvGraphicFramePr>
          <p:nvPr/>
        </p:nvGraphicFramePr>
        <p:xfrm>
          <a:off x="3938588" y="6019800"/>
          <a:ext cx="4686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53" name="公式" r:id="rId15" imgW="2082800" imgH="215900" progId="Equation.3">
                  <p:embed/>
                </p:oleObj>
              </mc:Choice>
              <mc:Fallback>
                <p:oleObj name="公式" r:id="rId15" imgW="2082800" imgH="215900" progId="Equation.3">
                  <p:embed/>
                  <p:pic>
                    <p:nvPicPr>
                      <p:cNvPr id="0" name="图片 495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588" y="6019800"/>
                        <a:ext cx="46863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46" name="Text Box 126"/>
          <p:cNvSpPr txBox="1">
            <a:spLocks noChangeArrowheads="1"/>
          </p:cNvSpPr>
          <p:nvPr/>
        </p:nvSpPr>
        <p:spPr bwMode="auto">
          <a:xfrm>
            <a:off x="4038600" y="5486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最简表达式应为：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6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261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6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261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26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61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6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261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6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6" dur="500"/>
                                        <p:tgtEl>
                                          <p:spTgt spid="26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261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6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24" grpId="0" animBg="1"/>
      <p:bldP spid="261227" grpId="0" animBg="1"/>
      <p:bldP spid="261228" grpId="0" animBg="1"/>
      <p:bldP spid="261229" grpId="0" animBg="1"/>
      <p:bldP spid="261230" grpId="0" animBg="1"/>
      <p:bldP spid="261232" grpId="0" animBg="1"/>
      <p:bldP spid="261233" grpId="0" animBg="1"/>
      <p:bldP spid="261234" grpId="0" animBg="1"/>
      <p:bldP spid="261235" grpId="0" animBg="1"/>
      <p:bldP spid="261236" grpId="0" animBg="1"/>
      <p:bldP spid="261237" grpId="0" autoUpdateAnimBg="0"/>
      <p:bldP spid="261244" grpId="0" autoUpdateAnimBg="0"/>
      <p:bldP spid="26124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F950-020C-4878-A05C-16530E716A0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卡诺图化简的步骤</a:t>
            </a:r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81000" y="2819400"/>
            <a:ext cx="6999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画图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：按照循环码规律指定卡诺图变量取值；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3284984"/>
            <a:ext cx="8943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填数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：在函数最小项对应的小方块填“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，其他方块填“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81000" y="3789040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合并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：合并相邻填“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的小方块，两个方块合并消去一个变量（一维块）；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个方块合并消去两个变量（二维块）；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81000" y="5085184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不要漏、不冗余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：使每一最小项至少被合并包含过一次；每个合并的圈中，至少要有一个“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没有被圈过，否则这个圈就是多余的。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381000" y="4623792"/>
            <a:ext cx="905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先大后小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：合并过程中先找大圈合并，圈越大消去的变量越多；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53888" y="5081428"/>
            <a:ext cx="8610600" cy="1200329"/>
          </a:xfrm>
          <a:custGeom>
            <a:avLst/>
            <a:gdLst>
              <a:gd name="connsiteX0" fmla="*/ 0 w 8610600"/>
              <a:gd name="connsiteY0" fmla="*/ 0 h 1200329"/>
              <a:gd name="connsiteX1" fmla="*/ 574040 w 8610600"/>
              <a:gd name="connsiteY1" fmla="*/ 0 h 1200329"/>
              <a:gd name="connsiteX2" fmla="*/ 1234186 w 8610600"/>
              <a:gd name="connsiteY2" fmla="*/ 0 h 1200329"/>
              <a:gd name="connsiteX3" fmla="*/ 1808226 w 8610600"/>
              <a:gd name="connsiteY3" fmla="*/ 0 h 1200329"/>
              <a:gd name="connsiteX4" fmla="*/ 2296160 w 8610600"/>
              <a:gd name="connsiteY4" fmla="*/ 0 h 1200329"/>
              <a:gd name="connsiteX5" fmla="*/ 2784094 w 8610600"/>
              <a:gd name="connsiteY5" fmla="*/ 0 h 1200329"/>
              <a:gd name="connsiteX6" fmla="*/ 3099816 w 8610600"/>
              <a:gd name="connsiteY6" fmla="*/ 0 h 1200329"/>
              <a:gd name="connsiteX7" fmla="*/ 3415538 w 8610600"/>
              <a:gd name="connsiteY7" fmla="*/ 0 h 1200329"/>
              <a:gd name="connsiteX8" fmla="*/ 3731260 w 8610600"/>
              <a:gd name="connsiteY8" fmla="*/ 0 h 1200329"/>
              <a:gd name="connsiteX9" fmla="*/ 4391406 w 8610600"/>
              <a:gd name="connsiteY9" fmla="*/ 0 h 1200329"/>
              <a:gd name="connsiteX10" fmla="*/ 4965446 w 8610600"/>
              <a:gd name="connsiteY10" fmla="*/ 0 h 1200329"/>
              <a:gd name="connsiteX11" fmla="*/ 5539486 w 8610600"/>
              <a:gd name="connsiteY11" fmla="*/ 0 h 1200329"/>
              <a:gd name="connsiteX12" fmla="*/ 6199632 w 8610600"/>
              <a:gd name="connsiteY12" fmla="*/ 0 h 1200329"/>
              <a:gd name="connsiteX13" fmla="*/ 6859778 w 8610600"/>
              <a:gd name="connsiteY13" fmla="*/ 0 h 1200329"/>
              <a:gd name="connsiteX14" fmla="*/ 7606030 w 8610600"/>
              <a:gd name="connsiteY14" fmla="*/ 0 h 1200329"/>
              <a:gd name="connsiteX15" fmla="*/ 8093964 w 8610600"/>
              <a:gd name="connsiteY15" fmla="*/ 0 h 1200329"/>
              <a:gd name="connsiteX16" fmla="*/ 8610600 w 8610600"/>
              <a:gd name="connsiteY16" fmla="*/ 0 h 1200329"/>
              <a:gd name="connsiteX17" fmla="*/ 8610600 w 8610600"/>
              <a:gd name="connsiteY17" fmla="*/ 388106 h 1200329"/>
              <a:gd name="connsiteX18" fmla="*/ 8610600 w 8610600"/>
              <a:gd name="connsiteY18" fmla="*/ 800219 h 1200329"/>
              <a:gd name="connsiteX19" fmla="*/ 8610600 w 8610600"/>
              <a:gd name="connsiteY19" fmla="*/ 1200329 h 1200329"/>
              <a:gd name="connsiteX20" fmla="*/ 7864348 w 8610600"/>
              <a:gd name="connsiteY20" fmla="*/ 1200329 h 1200329"/>
              <a:gd name="connsiteX21" fmla="*/ 7548626 w 8610600"/>
              <a:gd name="connsiteY21" fmla="*/ 1200329 h 1200329"/>
              <a:gd name="connsiteX22" fmla="*/ 7146798 w 8610600"/>
              <a:gd name="connsiteY22" fmla="*/ 1200329 h 1200329"/>
              <a:gd name="connsiteX23" fmla="*/ 6572758 w 8610600"/>
              <a:gd name="connsiteY23" fmla="*/ 1200329 h 1200329"/>
              <a:gd name="connsiteX24" fmla="*/ 5826506 w 8610600"/>
              <a:gd name="connsiteY24" fmla="*/ 1200329 h 1200329"/>
              <a:gd name="connsiteX25" fmla="*/ 5338572 w 8610600"/>
              <a:gd name="connsiteY25" fmla="*/ 1200329 h 1200329"/>
              <a:gd name="connsiteX26" fmla="*/ 4850638 w 8610600"/>
              <a:gd name="connsiteY26" fmla="*/ 1200329 h 1200329"/>
              <a:gd name="connsiteX27" fmla="*/ 4448810 w 8610600"/>
              <a:gd name="connsiteY27" fmla="*/ 1200329 h 1200329"/>
              <a:gd name="connsiteX28" fmla="*/ 3874770 w 8610600"/>
              <a:gd name="connsiteY28" fmla="*/ 1200329 h 1200329"/>
              <a:gd name="connsiteX29" fmla="*/ 3472942 w 8610600"/>
              <a:gd name="connsiteY29" fmla="*/ 1200329 h 1200329"/>
              <a:gd name="connsiteX30" fmla="*/ 2726690 w 8610600"/>
              <a:gd name="connsiteY30" fmla="*/ 1200329 h 1200329"/>
              <a:gd name="connsiteX31" fmla="*/ 2066544 w 8610600"/>
              <a:gd name="connsiteY31" fmla="*/ 1200329 h 1200329"/>
              <a:gd name="connsiteX32" fmla="*/ 1492504 w 8610600"/>
              <a:gd name="connsiteY32" fmla="*/ 1200329 h 1200329"/>
              <a:gd name="connsiteX33" fmla="*/ 1090676 w 8610600"/>
              <a:gd name="connsiteY33" fmla="*/ 1200329 h 1200329"/>
              <a:gd name="connsiteX34" fmla="*/ 774954 w 8610600"/>
              <a:gd name="connsiteY34" fmla="*/ 1200329 h 1200329"/>
              <a:gd name="connsiteX35" fmla="*/ 0 w 8610600"/>
              <a:gd name="connsiteY35" fmla="*/ 1200329 h 1200329"/>
              <a:gd name="connsiteX36" fmla="*/ 0 w 8610600"/>
              <a:gd name="connsiteY36" fmla="*/ 776213 h 1200329"/>
              <a:gd name="connsiteX37" fmla="*/ 0 w 8610600"/>
              <a:gd name="connsiteY37" fmla="*/ 352097 h 1200329"/>
              <a:gd name="connsiteX38" fmla="*/ 0 w 8610600"/>
              <a:gd name="connsiteY38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610600" h="1200329" extrusionOk="0">
                <a:moveTo>
                  <a:pt x="0" y="0"/>
                </a:moveTo>
                <a:cubicBezTo>
                  <a:pt x="118584" y="-18219"/>
                  <a:pt x="447699" y="31542"/>
                  <a:pt x="574040" y="0"/>
                </a:cubicBezTo>
                <a:cubicBezTo>
                  <a:pt x="700381" y="-31542"/>
                  <a:pt x="985782" y="37569"/>
                  <a:pt x="1234186" y="0"/>
                </a:cubicBezTo>
                <a:cubicBezTo>
                  <a:pt x="1482590" y="-37569"/>
                  <a:pt x="1554614" y="2288"/>
                  <a:pt x="1808226" y="0"/>
                </a:cubicBezTo>
                <a:cubicBezTo>
                  <a:pt x="2061838" y="-2288"/>
                  <a:pt x="2175930" y="47488"/>
                  <a:pt x="2296160" y="0"/>
                </a:cubicBezTo>
                <a:cubicBezTo>
                  <a:pt x="2416390" y="-47488"/>
                  <a:pt x="2579539" y="13323"/>
                  <a:pt x="2784094" y="0"/>
                </a:cubicBezTo>
                <a:cubicBezTo>
                  <a:pt x="2988649" y="-13323"/>
                  <a:pt x="3003591" y="36935"/>
                  <a:pt x="3099816" y="0"/>
                </a:cubicBezTo>
                <a:cubicBezTo>
                  <a:pt x="3196041" y="-36935"/>
                  <a:pt x="3288704" y="33853"/>
                  <a:pt x="3415538" y="0"/>
                </a:cubicBezTo>
                <a:cubicBezTo>
                  <a:pt x="3542372" y="-33853"/>
                  <a:pt x="3584477" y="13994"/>
                  <a:pt x="3731260" y="0"/>
                </a:cubicBezTo>
                <a:cubicBezTo>
                  <a:pt x="3878043" y="-13994"/>
                  <a:pt x="4219391" y="59659"/>
                  <a:pt x="4391406" y="0"/>
                </a:cubicBezTo>
                <a:cubicBezTo>
                  <a:pt x="4563421" y="-59659"/>
                  <a:pt x="4678913" y="36618"/>
                  <a:pt x="4965446" y="0"/>
                </a:cubicBezTo>
                <a:cubicBezTo>
                  <a:pt x="5251979" y="-36618"/>
                  <a:pt x="5384857" y="34277"/>
                  <a:pt x="5539486" y="0"/>
                </a:cubicBezTo>
                <a:cubicBezTo>
                  <a:pt x="5694115" y="-34277"/>
                  <a:pt x="6066897" y="36684"/>
                  <a:pt x="6199632" y="0"/>
                </a:cubicBezTo>
                <a:cubicBezTo>
                  <a:pt x="6332367" y="-36684"/>
                  <a:pt x="6607023" y="73058"/>
                  <a:pt x="6859778" y="0"/>
                </a:cubicBezTo>
                <a:cubicBezTo>
                  <a:pt x="7112533" y="-73058"/>
                  <a:pt x="7265465" y="16320"/>
                  <a:pt x="7606030" y="0"/>
                </a:cubicBezTo>
                <a:cubicBezTo>
                  <a:pt x="7946595" y="-16320"/>
                  <a:pt x="7968351" y="34151"/>
                  <a:pt x="8093964" y="0"/>
                </a:cubicBezTo>
                <a:cubicBezTo>
                  <a:pt x="8219577" y="-34151"/>
                  <a:pt x="8445728" y="54814"/>
                  <a:pt x="8610600" y="0"/>
                </a:cubicBezTo>
                <a:cubicBezTo>
                  <a:pt x="8629098" y="169505"/>
                  <a:pt x="8591198" y="278605"/>
                  <a:pt x="8610600" y="388106"/>
                </a:cubicBezTo>
                <a:cubicBezTo>
                  <a:pt x="8630002" y="497607"/>
                  <a:pt x="8610309" y="622670"/>
                  <a:pt x="8610600" y="800219"/>
                </a:cubicBezTo>
                <a:cubicBezTo>
                  <a:pt x="8610891" y="977768"/>
                  <a:pt x="8568823" y="1095256"/>
                  <a:pt x="8610600" y="1200329"/>
                </a:cubicBezTo>
                <a:cubicBezTo>
                  <a:pt x="8313253" y="1245987"/>
                  <a:pt x="8083693" y="1130044"/>
                  <a:pt x="7864348" y="1200329"/>
                </a:cubicBezTo>
                <a:cubicBezTo>
                  <a:pt x="7645003" y="1270614"/>
                  <a:pt x="7622519" y="1169134"/>
                  <a:pt x="7548626" y="1200329"/>
                </a:cubicBezTo>
                <a:cubicBezTo>
                  <a:pt x="7474733" y="1231524"/>
                  <a:pt x="7320253" y="1189487"/>
                  <a:pt x="7146798" y="1200329"/>
                </a:cubicBezTo>
                <a:cubicBezTo>
                  <a:pt x="6973343" y="1211171"/>
                  <a:pt x="6764721" y="1172563"/>
                  <a:pt x="6572758" y="1200329"/>
                </a:cubicBezTo>
                <a:cubicBezTo>
                  <a:pt x="6380795" y="1228095"/>
                  <a:pt x="6181545" y="1161838"/>
                  <a:pt x="5826506" y="1200329"/>
                </a:cubicBezTo>
                <a:cubicBezTo>
                  <a:pt x="5471467" y="1238820"/>
                  <a:pt x="5535158" y="1192812"/>
                  <a:pt x="5338572" y="1200329"/>
                </a:cubicBezTo>
                <a:cubicBezTo>
                  <a:pt x="5141986" y="1207846"/>
                  <a:pt x="5039290" y="1143350"/>
                  <a:pt x="4850638" y="1200329"/>
                </a:cubicBezTo>
                <a:cubicBezTo>
                  <a:pt x="4661986" y="1257308"/>
                  <a:pt x="4539375" y="1173295"/>
                  <a:pt x="4448810" y="1200329"/>
                </a:cubicBezTo>
                <a:cubicBezTo>
                  <a:pt x="4358245" y="1227363"/>
                  <a:pt x="4004442" y="1142950"/>
                  <a:pt x="3874770" y="1200329"/>
                </a:cubicBezTo>
                <a:cubicBezTo>
                  <a:pt x="3745098" y="1257708"/>
                  <a:pt x="3559081" y="1162260"/>
                  <a:pt x="3472942" y="1200329"/>
                </a:cubicBezTo>
                <a:cubicBezTo>
                  <a:pt x="3386803" y="1238398"/>
                  <a:pt x="2926432" y="1162869"/>
                  <a:pt x="2726690" y="1200329"/>
                </a:cubicBezTo>
                <a:cubicBezTo>
                  <a:pt x="2526948" y="1237789"/>
                  <a:pt x="2270588" y="1189898"/>
                  <a:pt x="2066544" y="1200329"/>
                </a:cubicBezTo>
                <a:cubicBezTo>
                  <a:pt x="1862500" y="1210760"/>
                  <a:pt x="1725131" y="1134424"/>
                  <a:pt x="1492504" y="1200329"/>
                </a:cubicBezTo>
                <a:cubicBezTo>
                  <a:pt x="1259877" y="1266234"/>
                  <a:pt x="1189487" y="1165868"/>
                  <a:pt x="1090676" y="1200329"/>
                </a:cubicBezTo>
                <a:cubicBezTo>
                  <a:pt x="991865" y="1234790"/>
                  <a:pt x="848595" y="1200187"/>
                  <a:pt x="774954" y="1200329"/>
                </a:cubicBezTo>
                <a:cubicBezTo>
                  <a:pt x="701313" y="1200471"/>
                  <a:pt x="285581" y="1109348"/>
                  <a:pt x="0" y="1200329"/>
                </a:cubicBezTo>
                <a:cubicBezTo>
                  <a:pt x="-10552" y="1100850"/>
                  <a:pt x="33514" y="890301"/>
                  <a:pt x="0" y="776213"/>
                </a:cubicBezTo>
                <a:cubicBezTo>
                  <a:pt x="-33514" y="662125"/>
                  <a:pt x="2522" y="510898"/>
                  <a:pt x="0" y="352097"/>
                </a:cubicBezTo>
                <a:cubicBezTo>
                  <a:pt x="-2522" y="193296"/>
                  <a:pt x="24313" y="8887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1E2C1-E52F-46EC-ABAF-0C0A8CBFC2EC}" type="slidenum">
              <a:rPr lang="en-US" altLang="zh-CN"/>
            </a:fld>
            <a:endParaRPr lang="en-US" altLang="zh-CN"/>
          </a:p>
        </p:txBody>
      </p:sp>
      <p:sp>
        <p:nvSpPr>
          <p:cNvPr id="294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图解法求解反函数</a:t>
            </a:r>
            <a:endParaRPr lang="zh-CN" altLang="en-US"/>
          </a:p>
          <a:p>
            <a:endParaRPr lang="en-US" altLang="zh-CN"/>
          </a:p>
        </p:txBody>
      </p:sp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949325" y="2209800"/>
          <a:ext cx="47672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39" name="公式" r:id="rId1" imgW="2057400" imgH="215900" progId="Equation.3">
                  <p:embed/>
                </p:oleObj>
              </mc:Choice>
              <mc:Fallback>
                <p:oleObj name="公式" r:id="rId1" imgW="2057400" imgH="215900" progId="Equation.3">
                  <p:embed/>
                  <p:pic>
                    <p:nvPicPr>
                      <p:cNvPr id="0" name="图片 507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209800"/>
                        <a:ext cx="47672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4917" name="Group 5"/>
          <p:cNvGrpSpPr/>
          <p:nvPr/>
        </p:nvGrpSpPr>
        <p:grpSpPr bwMode="auto">
          <a:xfrm>
            <a:off x="4343400" y="2667000"/>
            <a:ext cx="4537075" cy="2376488"/>
            <a:chOff x="1111" y="1920"/>
            <a:chExt cx="2858" cy="1497"/>
          </a:xfrm>
        </p:grpSpPr>
        <p:grpSp>
          <p:nvGrpSpPr>
            <p:cNvPr id="294918" name="Group 6"/>
            <p:cNvGrpSpPr/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294919" name="Rectangle 7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0" name="Rectangle 8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1" name="Rectangle 9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2" name="Rectangle 10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3" name="Rectangle 11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4" name="Rectangle 12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kumimoji="0" lang="en-US" altLang="zh-CN" b="1">
                    <a:latin typeface="Arial" panose="020B0604020202020204" pitchFamily="34" charset="0"/>
                    <a:ea typeface="幼圆" panose="02010509060101010101" pitchFamily="49" charset="-122"/>
                  </a:rPr>
                  <a:t> </a:t>
                </a:r>
                <a:endParaRPr kumimoji="0" lang="en-US" altLang="zh-CN" b="1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294925" name="Rectangle 13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6" name="Rectangle 14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94927" name="Line 15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28" name="Line 16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29" name="Line 17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0" name="Line 18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1" name="Line 19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2" name="Line 20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3" name="Line 21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4" name="Line 22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5" name="Line 23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4936" name="Group 24"/>
            <p:cNvGrpSpPr/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294937" name="Text Box 25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38" name="Text Box 26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39" name="Text Box 27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4940" name="Group 28"/>
            <p:cNvGrpSpPr/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294941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42" name="Text Box 30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4943" name="Group 31"/>
            <p:cNvGrpSpPr/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294944" name="Text Box 32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45" name="Text Box 33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46" name="Text Box 34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4947" name="Text Box 35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94948" name="Rectangle 36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49" name="Rectangle 37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0" name="Rectangle 38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1" name="Rectangle 39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2" name="Rectangle 40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3" name="Rectangle 41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solidFill>
                    <a:schemeClr val="folHlink"/>
                  </a:solidFill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solidFill>
                  <a:schemeClr val="folHlink"/>
                </a:solidFill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4" name="Rectangle 42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4955" name="Rectangle 43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4956" name="Group 44"/>
          <p:cNvGrpSpPr/>
          <p:nvPr/>
        </p:nvGrpSpPr>
        <p:grpSpPr bwMode="auto">
          <a:xfrm>
            <a:off x="609600" y="2819400"/>
            <a:ext cx="3675063" cy="533400"/>
            <a:chOff x="1056" y="3600"/>
            <a:chExt cx="2315" cy="336"/>
          </a:xfrm>
        </p:grpSpPr>
        <p:graphicFrame>
          <p:nvGraphicFramePr>
            <p:cNvPr id="294957" name="Object 45"/>
            <p:cNvGraphicFramePr>
              <a:graphicFrameLocks noChangeAspect="1"/>
            </p:cNvGraphicFramePr>
            <p:nvPr/>
          </p:nvGraphicFramePr>
          <p:xfrm>
            <a:off x="1999" y="3600"/>
            <a:ext cx="13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740" name="公式" r:id="rId3" imgW="939165" imgH="215900" progId="Equation.3">
                    <p:embed/>
                  </p:oleObj>
                </mc:Choice>
                <mc:Fallback>
                  <p:oleObj name="公式" r:id="rId3" imgW="939165" imgH="215900" progId="Equation.3">
                    <p:embed/>
                    <p:pic>
                      <p:nvPicPr>
                        <p:cNvPr id="0" name="图片 507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3600"/>
                          <a:ext cx="137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4958" name="Text Box 46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化简结果：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294960" name="Object 48"/>
          <p:cNvGraphicFramePr>
            <a:graphicFrameLocks noChangeAspect="1"/>
          </p:cNvGraphicFramePr>
          <p:nvPr/>
        </p:nvGraphicFramePr>
        <p:xfrm>
          <a:off x="582613" y="3505200"/>
          <a:ext cx="21780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1" name="公式" r:id="rId5" imgW="939165" imgH="241300" progId="Equation.3">
                  <p:embed/>
                </p:oleObj>
              </mc:Choice>
              <mc:Fallback>
                <p:oleObj name="公式" r:id="rId5" imgW="939165" imgH="241300" progId="Equation.3">
                  <p:embed/>
                  <p:pic>
                    <p:nvPicPr>
                      <p:cNvPr id="0" name="图片 50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3505200"/>
                        <a:ext cx="21780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2" name="Object 50"/>
          <p:cNvGraphicFramePr>
            <a:graphicFrameLocks noChangeAspect="1"/>
          </p:cNvGraphicFramePr>
          <p:nvPr/>
        </p:nvGraphicFramePr>
        <p:xfrm>
          <a:off x="993230" y="4038600"/>
          <a:ext cx="170656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2" name="公式" r:id="rId7" imgW="736600" imgH="241300" progId="Equation.3">
                  <p:embed/>
                </p:oleObj>
              </mc:Choice>
              <mc:Fallback>
                <p:oleObj name="公式" r:id="rId7" imgW="736600" imgH="241300" progId="Equation.3">
                  <p:embed/>
                  <p:pic>
                    <p:nvPicPr>
                      <p:cNvPr id="0" name="图片 50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230" y="4038600"/>
                        <a:ext cx="1706562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3" name="Object 51"/>
          <p:cNvGraphicFramePr>
            <a:graphicFrameLocks noChangeAspect="1"/>
          </p:cNvGraphicFramePr>
          <p:nvPr/>
        </p:nvGraphicFramePr>
        <p:xfrm>
          <a:off x="971600" y="4572000"/>
          <a:ext cx="31178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3" name="公式" r:id="rId9" imgW="1346200" imgH="241300" progId="Equation.3">
                  <p:embed/>
                </p:oleObj>
              </mc:Choice>
              <mc:Fallback>
                <p:oleObj name="公式" r:id="rId9" imgW="1346200" imgH="241300" progId="Equation.3">
                  <p:embed/>
                  <p:pic>
                    <p:nvPicPr>
                      <p:cNvPr id="0" name="图片 507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572000"/>
                        <a:ext cx="31178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4" name="Object 52"/>
          <p:cNvGraphicFramePr>
            <a:graphicFrameLocks noChangeAspect="1"/>
          </p:cNvGraphicFramePr>
          <p:nvPr/>
        </p:nvGraphicFramePr>
        <p:xfrm>
          <a:off x="971600" y="5105400"/>
          <a:ext cx="2736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4" name="公式" r:id="rId11" imgW="1180465" imgH="215900" progId="Equation.3">
                  <p:embed/>
                </p:oleObj>
              </mc:Choice>
              <mc:Fallback>
                <p:oleObj name="公式" r:id="rId11" imgW="1180465" imgH="215900" progId="Equation.3">
                  <p:embed/>
                  <p:pic>
                    <p:nvPicPr>
                      <p:cNvPr id="0" name="图片 507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105400"/>
                        <a:ext cx="27368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5" name="Object 53"/>
          <p:cNvGraphicFramePr>
            <a:graphicFrameLocks noChangeAspect="1"/>
          </p:cNvGraphicFramePr>
          <p:nvPr/>
        </p:nvGraphicFramePr>
        <p:xfrm>
          <a:off x="3707904" y="5162549"/>
          <a:ext cx="1778496" cy="505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5" name="Equation" r:id="rId13" imgW="18592800" imgH="5181600" progId="Equation.3">
                  <p:embed/>
                </p:oleObj>
              </mc:Choice>
              <mc:Fallback>
                <p:oleObj name="Equation" r:id="rId13" imgW="18592800" imgH="5181600" progId="Equation.3">
                  <p:embed/>
                  <p:pic>
                    <p:nvPicPr>
                      <p:cNvPr id="0" name="图片 507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162549"/>
                        <a:ext cx="1778496" cy="505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66" name="Rectangle 54"/>
          <p:cNvSpPr>
            <a:spLocks noChangeArrowheads="1"/>
          </p:cNvSpPr>
          <p:nvPr/>
        </p:nvSpPr>
        <p:spPr bwMode="auto">
          <a:xfrm>
            <a:off x="6096000" y="3733800"/>
            <a:ext cx="6858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4969" name="Group 57"/>
          <p:cNvGrpSpPr/>
          <p:nvPr/>
        </p:nvGrpSpPr>
        <p:grpSpPr bwMode="auto">
          <a:xfrm>
            <a:off x="5181600" y="3657600"/>
            <a:ext cx="3429000" cy="457200"/>
            <a:chOff x="3264" y="2304"/>
            <a:chExt cx="2160" cy="288"/>
          </a:xfrm>
        </p:grpSpPr>
        <p:sp>
          <p:nvSpPr>
            <p:cNvPr id="294967" name="Rectangle 55"/>
            <p:cNvSpPr>
              <a:spLocks noChangeArrowheads="1"/>
            </p:cNvSpPr>
            <p:nvPr/>
          </p:nvSpPr>
          <p:spPr bwMode="auto">
            <a:xfrm>
              <a:off x="3264" y="2304"/>
              <a:ext cx="384" cy="28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968" name="Rectangle 56"/>
            <p:cNvSpPr>
              <a:spLocks noChangeArrowheads="1"/>
            </p:cNvSpPr>
            <p:nvPr/>
          </p:nvSpPr>
          <p:spPr bwMode="auto">
            <a:xfrm>
              <a:off x="5040" y="2304"/>
              <a:ext cx="384" cy="28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4970" name="Line 58"/>
          <p:cNvSpPr>
            <a:spLocks noChangeShapeType="1"/>
          </p:cNvSpPr>
          <p:nvPr/>
        </p:nvSpPr>
        <p:spPr bwMode="auto">
          <a:xfrm flipV="1">
            <a:off x="6400800" y="2667000"/>
            <a:ext cx="3810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4974" name="Group 62"/>
          <p:cNvGrpSpPr/>
          <p:nvPr/>
        </p:nvGrpSpPr>
        <p:grpSpPr bwMode="auto">
          <a:xfrm>
            <a:off x="5486400" y="1905000"/>
            <a:ext cx="2743200" cy="1905000"/>
            <a:chOff x="3456" y="1200"/>
            <a:chExt cx="1728" cy="1200"/>
          </a:xfrm>
        </p:grpSpPr>
        <p:sp>
          <p:nvSpPr>
            <p:cNvPr id="294971" name="Line 59"/>
            <p:cNvSpPr>
              <a:spLocks noChangeShapeType="1"/>
            </p:cNvSpPr>
            <p:nvPr/>
          </p:nvSpPr>
          <p:spPr bwMode="auto">
            <a:xfrm flipV="1">
              <a:off x="3456" y="1200"/>
              <a:ext cx="768" cy="12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972" name="Line 60"/>
            <p:cNvSpPr>
              <a:spLocks noChangeShapeType="1"/>
            </p:cNvSpPr>
            <p:nvPr/>
          </p:nvSpPr>
          <p:spPr bwMode="auto">
            <a:xfrm flipH="1" flipV="1">
              <a:off x="4416" y="1248"/>
              <a:ext cx="768" cy="110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4973" name="Object 61"/>
          <p:cNvGraphicFramePr>
            <a:graphicFrameLocks noChangeAspect="1"/>
          </p:cNvGraphicFramePr>
          <p:nvPr/>
        </p:nvGraphicFramePr>
        <p:xfrm>
          <a:off x="6505575" y="2271713"/>
          <a:ext cx="5286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6" name="公式" r:id="rId15" imgW="228600" imgH="215900" progId="Equation.3">
                  <p:embed/>
                </p:oleObj>
              </mc:Choice>
              <mc:Fallback>
                <p:oleObj name="公式" r:id="rId15" imgW="228600" imgH="215900" progId="Equation.3">
                  <p:embed/>
                  <p:pic>
                    <p:nvPicPr>
                      <p:cNvPr id="0" name="图片 507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5575" y="2271713"/>
                        <a:ext cx="528638" cy="5032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75" name="Object 63"/>
          <p:cNvGraphicFramePr>
            <a:graphicFrameLocks noChangeAspect="1"/>
          </p:cNvGraphicFramePr>
          <p:nvPr/>
        </p:nvGraphicFramePr>
        <p:xfrm>
          <a:off x="6581775" y="1447800"/>
          <a:ext cx="5302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7" name="公式" r:id="rId17" imgW="228600" imgH="215900" progId="Equation.3">
                  <p:embed/>
                </p:oleObj>
              </mc:Choice>
              <mc:Fallback>
                <p:oleObj name="公式" r:id="rId17" imgW="228600" imgH="215900" progId="Equation.3">
                  <p:embed/>
                  <p:pic>
                    <p:nvPicPr>
                      <p:cNvPr id="0" name="图片 50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1447800"/>
                        <a:ext cx="530225" cy="5016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77" name="Object 65"/>
          <p:cNvGraphicFramePr>
            <a:graphicFrameLocks noChangeAspect="1"/>
          </p:cNvGraphicFramePr>
          <p:nvPr/>
        </p:nvGraphicFramePr>
        <p:xfrm>
          <a:off x="6283325" y="5181600"/>
          <a:ext cx="22367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8" name="公式" r:id="rId19" imgW="964565" imgH="215900" progId="Equation.3">
                  <p:embed/>
                </p:oleObj>
              </mc:Choice>
              <mc:Fallback>
                <p:oleObj name="公式" r:id="rId19" imgW="964565" imgH="215900" progId="Equation.3">
                  <p:embed/>
                  <p:pic>
                    <p:nvPicPr>
                      <p:cNvPr id="0" name="图片 50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25" y="5181600"/>
                        <a:ext cx="223678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78" name="Rectangle 66"/>
          <p:cNvSpPr>
            <a:spLocks noChangeArrowheads="1"/>
          </p:cNvSpPr>
          <p:nvPr/>
        </p:nvSpPr>
        <p:spPr bwMode="auto">
          <a:xfrm>
            <a:off x="762000" y="57912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卡诺图中根据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化简出的函数是原函数的反函数。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4979" name="Rectangle 67"/>
          <p:cNvSpPr>
            <a:spLocks noChangeArrowheads="1"/>
          </p:cNvSpPr>
          <p:nvPr/>
        </p:nvSpPr>
        <p:spPr bwMode="auto">
          <a:xfrm>
            <a:off x="838200" y="6248400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理论依据：</a:t>
            </a:r>
            <a:endParaRPr kumimoji="0"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94980" name="Object 68"/>
          <p:cNvGraphicFramePr>
            <a:graphicFrameLocks noChangeAspect="1"/>
          </p:cNvGraphicFramePr>
          <p:nvPr/>
        </p:nvGraphicFramePr>
        <p:xfrm>
          <a:off x="2276475" y="6157913"/>
          <a:ext cx="17367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749" name="公式" r:id="rId21" imgW="748665" imgH="215900" progId="Equation.3">
                  <p:embed/>
                </p:oleObj>
              </mc:Choice>
              <mc:Fallback>
                <p:oleObj name="公式" r:id="rId21" imgW="748665" imgH="215900" progId="Equation.3">
                  <p:embed/>
                  <p:pic>
                    <p:nvPicPr>
                      <p:cNvPr id="0" name="图片 507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6157913"/>
                        <a:ext cx="173672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9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294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9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29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9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9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9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66" grpId="0" animBg="1"/>
      <p:bldP spid="294970" grpId="0" animBg="1"/>
      <p:bldP spid="294978" grpId="0" autoUpdateAnimBg="0"/>
      <p:bldP spid="29497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596E5-FCA4-47DD-B179-46A35C11E002}" type="slidenum">
              <a:rPr lang="en-US" altLang="zh-CN"/>
            </a:fld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en-US" altLang="zh-CN"/>
              <a:t>5</a:t>
            </a:r>
            <a:r>
              <a:rPr lang="zh-CN" altLang="en-US"/>
              <a:t>变量函数的卡诺图化简</a:t>
            </a:r>
            <a:endParaRPr lang="zh-CN" altLang="en-US"/>
          </a:p>
          <a:p>
            <a:pPr lvl="1"/>
            <a:endParaRPr lang="en-US" altLang="zh-CN"/>
          </a:p>
        </p:txBody>
      </p:sp>
      <p:graphicFrame>
        <p:nvGraphicFramePr>
          <p:cNvPr id="262148" name="Object 4"/>
          <p:cNvGraphicFramePr>
            <a:graphicFrameLocks noChangeAspect="1"/>
          </p:cNvGraphicFramePr>
          <p:nvPr/>
        </p:nvGraphicFramePr>
        <p:xfrm>
          <a:off x="785813" y="2895600"/>
          <a:ext cx="7886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0" name="公式" r:id="rId1" imgW="3505200" imgH="215900" progId="Equation.3">
                  <p:embed/>
                </p:oleObj>
              </mc:Choice>
              <mc:Fallback>
                <p:oleObj name="公式" r:id="rId1" imgW="3505200" imgH="215900" progId="Equation.3">
                  <p:embed/>
                  <p:pic>
                    <p:nvPicPr>
                      <p:cNvPr id="0" name="图片 51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895600"/>
                        <a:ext cx="78867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2204" name="Group 60"/>
          <p:cNvGrpSpPr/>
          <p:nvPr/>
        </p:nvGrpSpPr>
        <p:grpSpPr bwMode="auto">
          <a:xfrm>
            <a:off x="228600" y="3048000"/>
            <a:ext cx="6858000" cy="3276600"/>
            <a:chOff x="144" y="1920"/>
            <a:chExt cx="4320" cy="2064"/>
          </a:xfrm>
        </p:grpSpPr>
        <p:sp>
          <p:nvSpPr>
            <p:cNvPr id="262164" name="Text Box 20"/>
            <p:cNvSpPr txBox="1">
              <a:spLocks noChangeArrowheads="1"/>
            </p:cNvSpPr>
            <p:nvPr/>
          </p:nvSpPr>
          <p:spPr bwMode="auto">
            <a:xfrm>
              <a:off x="192" y="19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C</a:t>
              </a:r>
              <a:endParaRPr lang="en-US" altLang="zh-CN"/>
            </a:p>
          </p:txBody>
        </p:sp>
        <p:grpSp>
          <p:nvGrpSpPr>
            <p:cNvPr id="262185" name="Group 41"/>
            <p:cNvGrpSpPr/>
            <p:nvPr/>
          </p:nvGrpSpPr>
          <p:grpSpPr bwMode="auto">
            <a:xfrm>
              <a:off x="144" y="2064"/>
              <a:ext cx="4320" cy="1920"/>
              <a:chOff x="144" y="2064"/>
              <a:chExt cx="4320" cy="1920"/>
            </a:xfrm>
          </p:grpSpPr>
          <p:sp>
            <p:nvSpPr>
              <p:cNvPr id="262150" name="Rectangle 6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3888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2151" name="Line 7"/>
              <p:cNvSpPr>
                <a:spLocks noChangeShapeType="1"/>
              </p:cNvSpPr>
              <p:nvPr/>
            </p:nvSpPr>
            <p:spPr bwMode="auto">
              <a:xfrm>
                <a:off x="576" y="288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2" name="Line 8"/>
              <p:cNvSpPr>
                <a:spLocks noChangeShapeType="1"/>
              </p:cNvSpPr>
              <p:nvPr/>
            </p:nvSpPr>
            <p:spPr bwMode="auto">
              <a:xfrm>
                <a:off x="576" y="3264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3" name="Line 9"/>
              <p:cNvSpPr>
                <a:spLocks noChangeShapeType="1"/>
              </p:cNvSpPr>
              <p:nvPr/>
            </p:nvSpPr>
            <p:spPr bwMode="auto">
              <a:xfrm flipV="1">
                <a:off x="576" y="360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6" name="Line 12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7" name="Line 13"/>
              <p:cNvSpPr>
                <a:spLocks noChangeShapeType="1"/>
              </p:cNvSpPr>
              <p:nvPr/>
            </p:nvSpPr>
            <p:spPr bwMode="auto">
              <a:xfrm>
                <a:off x="148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8" name="Line 14"/>
              <p:cNvSpPr>
                <a:spLocks noChangeShapeType="1"/>
              </p:cNvSpPr>
              <p:nvPr/>
            </p:nvSpPr>
            <p:spPr bwMode="auto">
              <a:xfrm>
                <a:off x="196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9" name="Line 15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0" name="Line 16"/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1" name="Line 17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2" name="Line 18"/>
              <p:cNvSpPr>
                <a:spLocks noChangeShapeType="1"/>
              </p:cNvSpPr>
              <p:nvPr/>
            </p:nvSpPr>
            <p:spPr bwMode="auto">
              <a:xfrm>
                <a:off x="393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3" name="Line 19"/>
              <p:cNvSpPr>
                <a:spLocks noChangeShapeType="1"/>
              </p:cNvSpPr>
              <p:nvPr/>
            </p:nvSpPr>
            <p:spPr bwMode="auto">
              <a:xfrm>
                <a:off x="144" y="206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5" name="Text Box 21"/>
              <p:cNvSpPr txBox="1">
                <a:spLocks noChangeArrowheads="1"/>
              </p:cNvSpPr>
              <p:nvPr/>
            </p:nvSpPr>
            <p:spPr bwMode="auto">
              <a:xfrm>
                <a:off x="336" y="20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endParaRPr lang="en-US" altLang="zh-CN"/>
              </a:p>
            </p:txBody>
          </p:sp>
          <p:sp>
            <p:nvSpPr>
              <p:cNvPr id="262166" name="Text Box 22"/>
              <p:cNvSpPr txBox="1">
                <a:spLocks noChangeArrowheads="1"/>
              </p:cNvSpPr>
              <p:nvPr/>
            </p:nvSpPr>
            <p:spPr bwMode="auto">
              <a:xfrm>
                <a:off x="480" y="220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endParaRPr lang="en-US" altLang="zh-CN"/>
              </a:p>
            </p:txBody>
          </p:sp>
          <p:sp>
            <p:nvSpPr>
              <p:cNvPr id="262168" name="Text Box 24"/>
              <p:cNvSpPr txBox="1">
                <a:spLocks noChangeArrowheads="1"/>
              </p:cNvSpPr>
              <p:nvPr/>
            </p:nvSpPr>
            <p:spPr bwMode="auto">
              <a:xfrm>
                <a:off x="144" y="22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E</a:t>
                </a:r>
                <a:endParaRPr lang="en-US" altLang="zh-CN"/>
              </a:p>
            </p:txBody>
          </p:sp>
          <p:sp>
            <p:nvSpPr>
              <p:cNvPr id="262169" name="Text Box 25"/>
              <p:cNvSpPr txBox="1">
                <a:spLocks noChangeArrowheads="1"/>
              </p:cNvSpPr>
              <p:nvPr/>
            </p:nvSpPr>
            <p:spPr bwMode="auto">
              <a:xfrm>
                <a:off x="288" y="240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D</a:t>
                </a:r>
                <a:endParaRPr lang="en-US" altLang="zh-CN"/>
              </a:p>
            </p:txBody>
          </p:sp>
        </p:grpSp>
      </p:grpSp>
      <p:grpSp>
        <p:nvGrpSpPr>
          <p:cNvPr id="262184" name="Group 40"/>
          <p:cNvGrpSpPr/>
          <p:nvPr/>
        </p:nvGrpSpPr>
        <p:grpSpPr bwMode="auto">
          <a:xfrm>
            <a:off x="1066800" y="3505200"/>
            <a:ext cx="5943600" cy="457200"/>
            <a:chOff x="672" y="2256"/>
            <a:chExt cx="3744" cy="288"/>
          </a:xfrm>
        </p:grpSpPr>
        <p:sp>
          <p:nvSpPr>
            <p:cNvPr id="262171" name="Text Box 27"/>
            <p:cNvSpPr txBox="1">
              <a:spLocks noChangeArrowheads="1"/>
            </p:cNvSpPr>
            <p:nvPr/>
          </p:nvSpPr>
          <p:spPr bwMode="auto">
            <a:xfrm>
              <a:off x="672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000</a:t>
              </a:r>
              <a:endParaRPr lang="en-US" altLang="zh-CN"/>
            </a:p>
          </p:txBody>
        </p:sp>
        <p:sp>
          <p:nvSpPr>
            <p:cNvPr id="262172" name="Text Box 28"/>
            <p:cNvSpPr txBox="1">
              <a:spLocks noChangeArrowheads="1"/>
            </p:cNvSpPr>
            <p:nvPr/>
          </p:nvSpPr>
          <p:spPr bwMode="auto">
            <a:xfrm>
              <a:off x="110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001</a:t>
              </a:r>
              <a:endParaRPr lang="en-US" altLang="zh-CN"/>
            </a:p>
          </p:txBody>
        </p:sp>
        <p:sp>
          <p:nvSpPr>
            <p:cNvPr id="262173" name="Text Box 29"/>
            <p:cNvSpPr txBox="1">
              <a:spLocks noChangeArrowheads="1"/>
            </p:cNvSpPr>
            <p:nvPr/>
          </p:nvSpPr>
          <p:spPr bwMode="auto">
            <a:xfrm>
              <a:off x="153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011</a:t>
              </a:r>
              <a:endParaRPr lang="en-US" altLang="zh-CN"/>
            </a:p>
          </p:txBody>
        </p:sp>
        <p:sp>
          <p:nvSpPr>
            <p:cNvPr id="262174" name="Text Box 30"/>
            <p:cNvSpPr txBox="1">
              <a:spLocks noChangeArrowheads="1"/>
            </p:cNvSpPr>
            <p:nvPr/>
          </p:nvSpPr>
          <p:spPr bwMode="auto">
            <a:xfrm>
              <a:off x="201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010</a:t>
              </a:r>
              <a:endParaRPr lang="en-US" altLang="zh-CN"/>
            </a:p>
          </p:txBody>
        </p:sp>
        <p:sp>
          <p:nvSpPr>
            <p:cNvPr id="262175" name="Text Box 31"/>
            <p:cNvSpPr txBox="1">
              <a:spLocks noChangeArrowheads="1"/>
            </p:cNvSpPr>
            <p:nvPr/>
          </p:nvSpPr>
          <p:spPr bwMode="auto">
            <a:xfrm>
              <a:off x="249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110</a:t>
              </a:r>
              <a:endParaRPr lang="en-US" altLang="zh-CN"/>
            </a:p>
          </p:txBody>
        </p:sp>
        <p:sp>
          <p:nvSpPr>
            <p:cNvPr id="262176" name="Text Box 32"/>
            <p:cNvSpPr txBox="1">
              <a:spLocks noChangeArrowheads="1"/>
            </p:cNvSpPr>
            <p:nvPr/>
          </p:nvSpPr>
          <p:spPr bwMode="auto">
            <a:xfrm>
              <a:off x="302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111</a:t>
              </a:r>
              <a:endParaRPr lang="en-US" altLang="zh-CN"/>
            </a:p>
          </p:txBody>
        </p:sp>
        <p:sp>
          <p:nvSpPr>
            <p:cNvPr id="262177" name="Text Box 33"/>
            <p:cNvSpPr txBox="1">
              <a:spLocks noChangeArrowheads="1"/>
            </p:cNvSpPr>
            <p:nvPr/>
          </p:nvSpPr>
          <p:spPr bwMode="auto">
            <a:xfrm>
              <a:off x="350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101</a:t>
              </a:r>
              <a:endParaRPr lang="en-US" altLang="zh-CN"/>
            </a:p>
          </p:txBody>
        </p:sp>
        <p:sp>
          <p:nvSpPr>
            <p:cNvPr id="262178" name="Text Box 34"/>
            <p:cNvSpPr txBox="1">
              <a:spLocks noChangeArrowheads="1"/>
            </p:cNvSpPr>
            <p:nvPr/>
          </p:nvSpPr>
          <p:spPr bwMode="auto">
            <a:xfrm>
              <a:off x="398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100</a:t>
              </a:r>
              <a:endParaRPr lang="en-US" altLang="zh-CN"/>
            </a:p>
          </p:txBody>
        </p:sp>
      </p:grpSp>
      <p:grpSp>
        <p:nvGrpSpPr>
          <p:cNvPr id="262183" name="Group 39"/>
          <p:cNvGrpSpPr/>
          <p:nvPr/>
        </p:nvGrpSpPr>
        <p:grpSpPr bwMode="auto">
          <a:xfrm>
            <a:off x="457200" y="4191000"/>
            <a:ext cx="685800" cy="2133600"/>
            <a:chOff x="192" y="2592"/>
            <a:chExt cx="432" cy="1344"/>
          </a:xfrm>
        </p:grpSpPr>
        <p:sp>
          <p:nvSpPr>
            <p:cNvPr id="262179" name="Text Box 35"/>
            <p:cNvSpPr txBox="1">
              <a:spLocks noChangeArrowheads="1"/>
            </p:cNvSpPr>
            <p:nvPr/>
          </p:nvSpPr>
          <p:spPr bwMode="auto">
            <a:xfrm>
              <a:off x="192" y="259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00</a:t>
              </a:r>
              <a:endParaRPr lang="en-US" altLang="zh-CN"/>
            </a:p>
          </p:txBody>
        </p:sp>
        <p:sp>
          <p:nvSpPr>
            <p:cNvPr id="262180" name="Text Box 36"/>
            <p:cNvSpPr txBox="1">
              <a:spLocks noChangeArrowheads="1"/>
            </p:cNvSpPr>
            <p:nvPr/>
          </p:nvSpPr>
          <p:spPr bwMode="auto">
            <a:xfrm>
              <a:off x="192" y="292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01</a:t>
              </a:r>
              <a:endParaRPr lang="en-US" altLang="zh-CN"/>
            </a:p>
          </p:txBody>
        </p:sp>
        <p:sp>
          <p:nvSpPr>
            <p:cNvPr id="262181" name="Text Box 37"/>
            <p:cNvSpPr txBox="1">
              <a:spLocks noChangeArrowheads="1"/>
            </p:cNvSpPr>
            <p:nvPr/>
          </p:nvSpPr>
          <p:spPr bwMode="auto">
            <a:xfrm>
              <a:off x="192" y="33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11</a:t>
              </a:r>
              <a:endParaRPr lang="en-US" altLang="zh-CN"/>
            </a:p>
          </p:txBody>
        </p:sp>
        <p:sp>
          <p:nvSpPr>
            <p:cNvPr id="262182" name="Text Box 38"/>
            <p:cNvSpPr txBox="1">
              <a:spLocks noChangeArrowheads="1"/>
            </p:cNvSpPr>
            <p:nvPr/>
          </p:nvSpPr>
          <p:spPr bwMode="auto">
            <a:xfrm>
              <a:off x="192" y="364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10</a:t>
              </a:r>
              <a:endParaRPr lang="en-US" altLang="zh-CN"/>
            </a:p>
          </p:txBody>
        </p:sp>
      </p:grpSp>
      <p:sp>
        <p:nvSpPr>
          <p:cNvPr id="262186" name="Text Box 42"/>
          <p:cNvSpPr txBox="1">
            <a:spLocks noChangeArrowheads="1"/>
          </p:cNvSpPr>
          <p:nvPr/>
        </p:nvSpPr>
        <p:spPr bwMode="auto">
          <a:xfrm>
            <a:off x="2590800" y="4038600"/>
            <a:ext cx="381000" cy="22669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2187" name="Line 43"/>
          <p:cNvSpPr>
            <a:spLocks noChangeShapeType="1"/>
          </p:cNvSpPr>
          <p:nvPr/>
        </p:nvSpPr>
        <p:spPr bwMode="auto">
          <a:xfrm>
            <a:off x="1905000" y="3276600"/>
            <a:ext cx="685800" cy="1143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88" name="Text Box 44"/>
          <p:cNvSpPr txBox="1">
            <a:spLocks noChangeArrowheads="1"/>
          </p:cNvSpPr>
          <p:nvPr/>
        </p:nvSpPr>
        <p:spPr bwMode="auto">
          <a:xfrm>
            <a:off x="3276600" y="4038600"/>
            <a:ext cx="381000" cy="22669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2189" name="Line 45"/>
          <p:cNvSpPr>
            <a:spLocks noChangeShapeType="1"/>
          </p:cNvSpPr>
          <p:nvPr/>
        </p:nvSpPr>
        <p:spPr bwMode="auto">
          <a:xfrm>
            <a:off x="2743200" y="3276600"/>
            <a:ext cx="533400" cy="1143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2193" name="Group 49"/>
          <p:cNvGrpSpPr/>
          <p:nvPr/>
        </p:nvGrpSpPr>
        <p:grpSpPr bwMode="auto">
          <a:xfrm>
            <a:off x="2590800" y="5181600"/>
            <a:ext cx="2743200" cy="1066800"/>
            <a:chOff x="1632" y="3264"/>
            <a:chExt cx="1728" cy="672"/>
          </a:xfrm>
        </p:grpSpPr>
        <p:sp>
          <p:nvSpPr>
            <p:cNvPr id="262190" name="Text Box 46"/>
            <p:cNvSpPr txBox="1">
              <a:spLocks noChangeArrowheads="1"/>
            </p:cNvSpPr>
            <p:nvPr/>
          </p:nvSpPr>
          <p:spPr bwMode="auto">
            <a:xfrm>
              <a:off x="3120" y="3268"/>
              <a:ext cx="240" cy="668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2192" name="Text Box 48"/>
            <p:cNvSpPr txBox="1">
              <a:spLocks noChangeArrowheads="1"/>
            </p:cNvSpPr>
            <p:nvPr/>
          </p:nvSpPr>
          <p:spPr bwMode="auto">
            <a:xfrm>
              <a:off x="1632" y="3264"/>
              <a:ext cx="240" cy="668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</p:grpSp>
      <p:grpSp>
        <p:nvGrpSpPr>
          <p:cNvPr id="262196" name="Group 52"/>
          <p:cNvGrpSpPr/>
          <p:nvPr/>
        </p:nvGrpSpPr>
        <p:grpSpPr bwMode="auto">
          <a:xfrm>
            <a:off x="2895600" y="3276600"/>
            <a:ext cx="2057400" cy="2362200"/>
            <a:chOff x="1824" y="2064"/>
            <a:chExt cx="1296" cy="1488"/>
          </a:xfrm>
        </p:grpSpPr>
        <p:sp>
          <p:nvSpPr>
            <p:cNvPr id="262194" name="Line 50"/>
            <p:cNvSpPr>
              <a:spLocks noChangeShapeType="1"/>
            </p:cNvSpPr>
            <p:nvPr/>
          </p:nvSpPr>
          <p:spPr bwMode="auto">
            <a:xfrm>
              <a:off x="2496" y="2064"/>
              <a:ext cx="624" cy="14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195" name="Line 51"/>
            <p:cNvSpPr>
              <a:spLocks noChangeShapeType="1"/>
            </p:cNvSpPr>
            <p:nvPr/>
          </p:nvSpPr>
          <p:spPr bwMode="auto">
            <a:xfrm flipH="1">
              <a:off x="1824" y="2064"/>
              <a:ext cx="624" cy="14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2198" name="Text Box 54"/>
          <p:cNvSpPr txBox="1">
            <a:spLocks noChangeArrowheads="1"/>
          </p:cNvSpPr>
          <p:nvPr/>
        </p:nvSpPr>
        <p:spPr bwMode="auto">
          <a:xfrm>
            <a:off x="1828800" y="4654550"/>
            <a:ext cx="381000" cy="1060450"/>
          </a:xfrm>
          <a:prstGeom prst="rect">
            <a:avLst/>
          </a:prstGeom>
          <a:solidFill>
            <a:srgbClr val="00FF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  <a:p>
            <a:pPr>
              <a:spcBef>
                <a:spcPct val="65000"/>
              </a:spcBef>
            </a:pP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2199" name="Line 55"/>
          <p:cNvSpPr>
            <a:spLocks noChangeShapeType="1"/>
          </p:cNvSpPr>
          <p:nvPr/>
        </p:nvSpPr>
        <p:spPr bwMode="auto">
          <a:xfrm flipH="1">
            <a:off x="2209800" y="3276600"/>
            <a:ext cx="27432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00" name="Text Box 56"/>
          <p:cNvSpPr txBox="1">
            <a:spLocks noChangeArrowheads="1"/>
          </p:cNvSpPr>
          <p:nvPr/>
        </p:nvSpPr>
        <p:spPr bwMode="auto">
          <a:xfrm>
            <a:off x="1143000" y="4648200"/>
            <a:ext cx="381000" cy="4572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2201" name="Line 57"/>
          <p:cNvSpPr>
            <a:spLocks noChangeShapeType="1"/>
          </p:cNvSpPr>
          <p:nvPr/>
        </p:nvSpPr>
        <p:spPr bwMode="auto">
          <a:xfrm flipH="1">
            <a:off x="1524000" y="3276600"/>
            <a:ext cx="4572000" cy="1600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02" name="Text Box 58"/>
          <p:cNvSpPr txBox="1">
            <a:spLocks noChangeArrowheads="1"/>
          </p:cNvSpPr>
          <p:nvPr/>
        </p:nvSpPr>
        <p:spPr bwMode="auto">
          <a:xfrm>
            <a:off x="5638800" y="4648200"/>
            <a:ext cx="533400" cy="457200"/>
          </a:xfrm>
          <a:prstGeom prst="rect">
            <a:avLst/>
          </a:prstGeom>
          <a:solidFill>
            <a:srgbClr val="CC00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2203" name="Line 59"/>
          <p:cNvSpPr>
            <a:spLocks noChangeShapeType="1"/>
          </p:cNvSpPr>
          <p:nvPr/>
        </p:nvSpPr>
        <p:spPr bwMode="auto">
          <a:xfrm flipH="1">
            <a:off x="6172200" y="3276600"/>
            <a:ext cx="1676400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6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62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6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62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26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262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62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26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262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262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86" grpId="0" animBg="1" autoUpdateAnimBg="0"/>
      <p:bldP spid="262187" grpId="0" animBg="1"/>
      <p:bldP spid="262188" grpId="0" animBg="1" autoUpdateAnimBg="0"/>
      <p:bldP spid="262189" grpId="0" animBg="1"/>
      <p:bldP spid="262198" grpId="0" animBg="1" autoUpdateAnimBg="0"/>
      <p:bldP spid="262199" grpId="0" animBg="1"/>
      <p:bldP spid="262200" grpId="0" animBg="1" autoUpdateAnimBg="0"/>
      <p:bldP spid="262201" grpId="0" animBg="1"/>
      <p:bldP spid="262202" grpId="0" animBg="1" autoUpdateAnimBg="0"/>
      <p:bldP spid="26220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2A15-69D2-4B9C-ACD8-F86BA11DE216}" type="slidenum">
              <a:rPr lang="en-US" altLang="zh-CN"/>
            </a:fld>
            <a:endParaRPr lang="en-US" altLang="zh-CN"/>
          </a:p>
        </p:txBody>
      </p:sp>
      <p:sp>
        <p:nvSpPr>
          <p:cNvPr id="263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zh-CN"/>
              <a:t>5</a:t>
            </a:r>
            <a:r>
              <a:rPr lang="zh-CN" altLang="en-US"/>
              <a:t>变量函数的卡诺图化简</a:t>
            </a:r>
            <a:endParaRPr lang="zh-CN" altLang="en-US"/>
          </a:p>
        </p:txBody>
      </p:sp>
      <p:grpSp>
        <p:nvGrpSpPr>
          <p:cNvPr id="263219" name="Group 51"/>
          <p:cNvGrpSpPr/>
          <p:nvPr/>
        </p:nvGrpSpPr>
        <p:grpSpPr bwMode="auto">
          <a:xfrm>
            <a:off x="533400" y="2209800"/>
            <a:ext cx="6858000" cy="3276600"/>
            <a:chOff x="144" y="1920"/>
            <a:chExt cx="4320" cy="2064"/>
          </a:xfrm>
        </p:grpSpPr>
        <p:sp>
          <p:nvSpPr>
            <p:cNvPr id="263172" name="Text Box 4"/>
            <p:cNvSpPr txBox="1">
              <a:spLocks noChangeArrowheads="1"/>
            </p:cNvSpPr>
            <p:nvPr/>
          </p:nvSpPr>
          <p:spPr bwMode="auto">
            <a:xfrm>
              <a:off x="192" y="19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C</a:t>
              </a:r>
              <a:endParaRPr lang="en-US" altLang="zh-CN"/>
            </a:p>
          </p:txBody>
        </p:sp>
        <p:grpSp>
          <p:nvGrpSpPr>
            <p:cNvPr id="263173" name="Group 5"/>
            <p:cNvGrpSpPr/>
            <p:nvPr/>
          </p:nvGrpSpPr>
          <p:grpSpPr bwMode="auto">
            <a:xfrm>
              <a:off x="144" y="2064"/>
              <a:ext cx="4320" cy="1920"/>
              <a:chOff x="144" y="2064"/>
              <a:chExt cx="4320" cy="1920"/>
            </a:xfrm>
          </p:grpSpPr>
          <p:sp>
            <p:nvSpPr>
              <p:cNvPr id="263174" name="Rectangle 6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3888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175" name="Line 7"/>
              <p:cNvSpPr>
                <a:spLocks noChangeShapeType="1"/>
              </p:cNvSpPr>
              <p:nvPr/>
            </p:nvSpPr>
            <p:spPr bwMode="auto">
              <a:xfrm>
                <a:off x="576" y="288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6" name="Line 8"/>
              <p:cNvSpPr>
                <a:spLocks noChangeShapeType="1"/>
              </p:cNvSpPr>
              <p:nvPr/>
            </p:nvSpPr>
            <p:spPr bwMode="auto">
              <a:xfrm>
                <a:off x="576" y="3264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7" name="Line 9"/>
              <p:cNvSpPr>
                <a:spLocks noChangeShapeType="1"/>
              </p:cNvSpPr>
              <p:nvPr/>
            </p:nvSpPr>
            <p:spPr bwMode="auto">
              <a:xfrm flipV="1">
                <a:off x="576" y="360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8" name="Line 10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9" name="Line 11"/>
              <p:cNvSpPr>
                <a:spLocks noChangeShapeType="1"/>
              </p:cNvSpPr>
              <p:nvPr/>
            </p:nvSpPr>
            <p:spPr bwMode="auto">
              <a:xfrm>
                <a:off x="148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0" name="Line 12"/>
              <p:cNvSpPr>
                <a:spLocks noChangeShapeType="1"/>
              </p:cNvSpPr>
              <p:nvPr/>
            </p:nvSpPr>
            <p:spPr bwMode="auto">
              <a:xfrm>
                <a:off x="196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1" name="Line 13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2" name="Line 14"/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3" name="Line 15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4" name="Line 16"/>
              <p:cNvSpPr>
                <a:spLocks noChangeShapeType="1"/>
              </p:cNvSpPr>
              <p:nvPr/>
            </p:nvSpPr>
            <p:spPr bwMode="auto">
              <a:xfrm>
                <a:off x="393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5" name="Line 17"/>
              <p:cNvSpPr>
                <a:spLocks noChangeShapeType="1"/>
              </p:cNvSpPr>
              <p:nvPr/>
            </p:nvSpPr>
            <p:spPr bwMode="auto">
              <a:xfrm>
                <a:off x="144" y="206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6" name="Text Box 18"/>
              <p:cNvSpPr txBox="1">
                <a:spLocks noChangeArrowheads="1"/>
              </p:cNvSpPr>
              <p:nvPr/>
            </p:nvSpPr>
            <p:spPr bwMode="auto">
              <a:xfrm>
                <a:off x="336" y="20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endParaRPr lang="en-US" altLang="zh-CN"/>
              </a:p>
            </p:txBody>
          </p:sp>
          <p:sp>
            <p:nvSpPr>
              <p:cNvPr id="263187" name="Text Box 19"/>
              <p:cNvSpPr txBox="1">
                <a:spLocks noChangeArrowheads="1"/>
              </p:cNvSpPr>
              <p:nvPr/>
            </p:nvSpPr>
            <p:spPr bwMode="auto">
              <a:xfrm>
                <a:off x="480" y="220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A</a:t>
                </a:r>
                <a:endParaRPr lang="en-US" altLang="zh-CN"/>
              </a:p>
            </p:txBody>
          </p:sp>
          <p:sp>
            <p:nvSpPr>
              <p:cNvPr id="263188" name="Text Box 20"/>
              <p:cNvSpPr txBox="1">
                <a:spLocks noChangeArrowheads="1"/>
              </p:cNvSpPr>
              <p:nvPr/>
            </p:nvSpPr>
            <p:spPr bwMode="auto">
              <a:xfrm>
                <a:off x="144" y="22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E</a:t>
                </a:r>
                <a:endParaRPr lang="en-US" altLang="zh-CN"/>
              </a:p>
            </p:txBody>
          </p:sp>
          <p:sp>
            <p:nvSpPr>
              <p:cNvPr id="263189" name="Text Box 21"/>
              <p:cNvSpPr txBox="1">
                <a:spLocks noChangeArrowheads="1"/>
              </p:cNvSpPr>
              <p:nvPr/>
            </p:nvSpPr>
            <p:spPr bwMode="auto">
              <a:xfrm>
                <a:off x="288" y="240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D</a:t>
                </a:r>
                <a:endParaRPr lang="en-US" altLang="zh-CN"/>
              </a:p>
            </p:txBody>
          </p:sp>
        </p:grpSp>
        <p:grpSp>
          <p:nvGrpSpPr>
            <p:cNvPr id="263190" name="Group 22"/>
            <p:cNvGrpSpPr/>
            <p:nvPr/>
          </p:nvGrpSpPr>
          <p:grpSpPr bwMode="auto">
            <a:xfrm>
              <a:off x="672" y="2208"/>
              <a:ext cx="3744" cy="288"/>
              <a:chOff x="672" y="2256"/>
              <a:chExt cx="3744" cy="288"/>
            </a:xfrm>
          </p:grpSpPr>
          <p:sp>
            <p:nvSpPr>
              <p:cNvPr id="263191" name="Text Box 23"/>
              <p:cNvSpPr txBox="1">
                <a:spLocks noChangeArrowheads="1"/>
              </p:cNvSpPr>
              <p:nvPr/>
            </p:nvSpPr>
            <p:spPr bwMode="auto">
              <a:xfrm>
                <a:off x="672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000</a:t>
                </a:r>
                <a:endParaRPr lang="en-US" altLang="zh-CN"/>
              </a:p>
            </p:txBody>
          </p:sp>
          <p:sp>
            <p:nvSpPr>
              <p:cNvPr id="263192" name="Text Box 24"/>
              <p:cNvSpPr txBox="1">
                <a:spLocks noChangeArrowheads="1"/>
              </p:cNvSpPr>
              <p:nvPr/>
            </p:nvSpPr>
            <p:spPr bwMode="auto">
              <a:xfrm>
                <a:off x="110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001</a:t>
                </a:r>
                <a:endParaRPr lang="en-US" altLang="zh-CN"/>
              </a:p>
            </p:txBody>
          </p:sp>
          <p:sp>
            <p:nvSpPr>
              <p:cNvPr id="263193" name="Text Box 25"/>
              <p:cNvSpPr txBox="1">
                <a:spLocks noChangeArrowheads="1"/>
              </p:cNvSpPr>
              <p:nvPr/>
            </p:nvSpPr>
            <p:spPr bwMode="auto">
              <a:xfrm>
                <a:off x="153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011</a:t>
                </a:r>
                <a:endParaRPr lang="en-US" altLang="zh-CN"/>
              </a:p>
            </p:txBody>
          </p:sp>
          <p:sp>
            <p:nvSpPr>
              <p:cNvPr id="263194" name="Text Box 26"/>
              <p:cNvSpPr txBox="1">
                <a:spLocks noChangeArrowheads="1"/>
              </p:cNvSpPr>
              <p:nvPr/>
            </p:nvSpPr>
            <p:spPr bwMode="auto">
              <a:xfrm>
                <a:off x="201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010</a:t>
                </a:r>
                <a:endParaRPr lang="en-US" altLang="zh-CN"/>
              </a:p>
            </p:txBody>
          </p:sp>
          <p:sp>
            <p:nvSpPr>
              <p:cNvPr id="263195" name="Text Box 27"/>
              <p:cNvSpPr txBox="1">
                <a:spLocks noChangeArrowheads="1"/>
              </p:cNvSpPr>
              <p:nvPr/>
            </p:nvSpPr>
            <p:spPr bwMode="auto">
              <a:xfrm>
                <a:off x="249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110</a:t>
                </a:r>
                <a:endParaRPr lang="en-US" altLang="zh-CN"/>
              </a:p>
            </p:txBody>
          </p:sp>
          <p:sp>
            <p:nvSpPr>
              <p:cNvPr id="263196" name="Text Box 28"/>
              <p:cNvSpPr txBox="1">
                <a:spLocks noChangeArrowheads="1"/>
              </p:cNvSpPr>
              <p:nvPr/>
            </p:nvSpPr>
            <p:spPr bwMode="auto">
              <a:xfrm>
                <a:off x="302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111</a:t>
                </a:r>
                <a:endParaRPr lang="en-US" altLang="zh-CN"/>
              </a:p>
            </p:txBody>
          </p:sp>
          <p:sp>
            <p:nvSpPr>
              <p:cNvPr id="263197" name="Text Box 29"/>
              <p:cNvSpPr txBox="1">
                <a:spLocks noChangeArrowheads="1"/>
              </p:cNvSpPr>
              <p:nvPr/>
            </p:nvSpPr>
            <p:spPr bwMode="auto">
              <a:xfrm>
                <a:off x="350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101</a:t>
                </a:r>
                <a:endParaRPr lang="en-US" altLang="zh-CN"/>
              </a:p>
            </p:txBody>
          </p:sp>
          <p:sp>
            <p:nvSpPr>
              <p:cNvPr id="263198" name="Text Box 30"/>
              <p:cNvSpPr txBox="1">
                <a:spLocks noChangeArrowheads="1"/>
              </p:cNvSpPr>
              <p:nvPr/>
            </p:nvSpPr>
            <p:spPr bwMode="auto">
              <a:xfrm>
                <a:off x="398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100</a:t>
                </a:r>
                <a:endParaRPr lang="en-US" altLang="zh-CN"/>
              </a:p>
            </p:txBody>
          </p:sp>
        </p:grpSp>
        <p:grpSp>
          <p:nvGrpSpPr>
            <p:cNvPr id="263199" name="Group 31"/>
            <p:cNvGrpSpPr/>
            <p:nvPr/>
          </p:nvGrpSpPr>
          <p:grpSpPr bwMode="auto">
            <a:xfrm>
              <a:off x="288" y="2640"/>
              <a:ext cx="432" cy="1344"/>
              <a:chOff x="192" y="2592"/>
              <a:chExt cx="432" cy="1344"/>
            </a:xfrm>
          </p:grpSpPr>
          <p:sp>
            <p:nvSpPr>
              <p:cNvPr id="263200" name="Text Box 32"/>
              <p:cNvSpPr txBox="1">
                <a:spLocks noChangeArrowheads="1"/>
              </p:cNvSpPr>
              <p:nvPr/>
            </p:nvSpPr>
            <p:spPr bwMode="auto">
              <a:xfrm>
                <a:off x="192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00</a:t>
                </a:r>
                <a:endParaRPr lang="en-US" altLang="zh-CN"/>
              </a:p>
            </p:txBody>
          </p:sp>
          <p:sp>
            <p:nvSpPr>
              <p:cNvPr id="263201" name="Text Box 33"/>
              <p:cNvSpPr txBox="1">
                <a:spLocks noChangeArrowheads="1"/>
              </p:cNvSpPr>
              <p:nvPr/>
            </p:nvSpPr>
            <p:spPr bwMode="auto">
              <a:xfrm>
                <a:off x="192" y="292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01</a:t>
                </a:r>
                <a:endParaRPr lang="en-US" altLang="zh-CN"/>
              </a:p>
            </p:txBody>
          </p:sp>
          <p:sp>
            <p:nvSpPr>
              <p:cNvPr id="263202" name="Text Box 34"/>
              <p:cNvSpPr txBox="1">
                <a:spLocks noChangeArrowheads="1"/>
              </p:cNvSpPr>
              <p:nvPr/>
            </p:nvSpPr>
            <p:spPr bwMode="auto">
              <a:xfrm>
                <a:off x="192" y="331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11</a:t>
                </a:r>
                <a:endParaRPr lang="en-US" altLang="zh-CN"/>
              </a:p>
            </p:txBody>
          </p:sp>
          <p:sp>
            <p:nvSpPr>
              <p:cNvPr id="263203" name="Text Box 35"/>
              <p:cNvSpPr txBox="1">
                <a:spLocks noChangeArrowheads="1"/>
              </p:cNvSpPr>
              <p:nvPr/>
            </p:nvSpPr>
            <p:spPr bwMode="auto">
              <a:xfrm>
                <a:off x="192" y="364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10</a:t>
                </a:r>
                <a:endParaRPr lang="en-US" altLang="zh-CN"/>
              </a:p>
            </p:txBody>
          </p:sp>
        </p:grpSp>
        <p:sp>
          <p:nvSpPr>
            <p:cNvPr id="263204" name="Text Box 36"/>
            <p:cNvSpPr txBox="1">
              <a:spLocks noChangeArrowheads="1"/>
            </p:cNvSpPr>
            <p:nvPr/>
          </p:nvSpPr>
          <p:spPr bwMode="auto">
            <a:xfrm>
              <a:off x="1632" y="2544"/>
              <a:ext cx="240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3206" name="Text Box 38"/>
            <p:cNvSpPr txBox="1">
              <a:spLocks noChangeArrowheads="1"/>
            </p:cNvSpPr>
            <p:nvPr/>
          </p:nvSpPr>
          <p:spPr bwMode="auto">
            <a:xfrm>
              <a:off x="2064" y="2544"/>
              <a:ext cx="240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3209" name="Text Box 41"/>
            <p:cNvSpPr txBox="1">
              <a:spLocks noChangeArrowheads="1"/>
            </p:cNvSpPr>
            <p:nvPr/>
          </p:nvSpPr>
          <p:spPr bwMode="auto">
            <a:xfrm>
              <a:off x="3120" y="3268"/>
              <a:ext cx="240" cy="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3214" name="Text Box 46"/>
            <p:cNvSpPr txBox="1">
              <a:spLocks noChangeArrowheads="1"/>
            </p:cNvSpPr>
            <p:nvPr/>
          </p:nvSpPr>
          <p:spPr bwMode="auto">
            <a:xfrm>
              <a:off x="1152" y="2932"/>
              <a:ext cx="240" cy="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  <a:p>
              <a:pPr>
                <a:spcBef>
                  <a:spcPct val="65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3216" name="Text Box 48"/>
            <p:cNvSpPr txBox="1">
              <a:spLocks noChangeArrowheads="1"/>
            </p:cNvSpPr>
            <p:nvPr/>
          </p:nvSpPr>
          <p:spPr bwMode="auto">
            <a:xfrm>
              <a:off x="720" y="29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63218" name="Text Box 50"/>
            <p:cNvSpPr txBox="1">
              <a:spLocks noChangeArrowheads="1"/>
            </p:cNvSpPr>
            <p:nvPr/>
          </p:nvSpPr>
          <p:spPr bwMode="auto">
            <a:xfrm>
              <a:off x="3552" y="29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00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/>
                <a:t>1</a:t>
              </a:r>
              <a:endParaRPr lang="en-US" altLang="zh-CN"/>
            </a:p>
          </p:txBody>
        </p:sp>
      </p:grpSp>
      <p:sp>
        <p:nvSpPr>
          <p:cNvPr id="263220" name="Rectangle 52"/>
          <p:cNvSpPr>
            <a:spLocks noChangeArrowheads="1"/>
          </p:cNvSpPr>
          <p:nvPr/>
        </p:nvSpPr>
        <p:spPr bwMode="auto">
          <a:xfrm>
            <a:off x="2895600" y="3200400"/>
            <a:ext cx="1066800" cy="2209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3221" name="Object 53"/>
          <p:cNvGraphicFramePr>
            <a:graphicFrameLocks noChangeAspect="1"/>
          </p:cNvGraphicFramePr>
          <p:nvPr/>
        </p:nvGraphicFramePr>
        <p:xfrm>
          <a:off x="4587875" y="1981200"/>
          <a:ext cx="6159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6" name="公式" r:id="rId1" imgW="241300" imgH="215900" progId="Equation.3">
                  <p:embed/>
                </p:oleObj>
              </mc:Choice>
              <mc:Fallback>
                <p:oleObj name="公式" r:id="rId1" imgW="241300" imgH="215900" progId="Equation.3">
                  <p:embed/>
                  <p:pic>
                    <p:nvPicPr>
                      <p:cNvPr id="0" name="图片 525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1981200"/>
                        <a:ext cx="615950" cy="4968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222" name="Line 54"/>
          <p:cNvSpPr>
            <a:spLocks noChangeShapeType="1"/>
          </p:cNvSpPr>
          <p:nvPr/>
        </p:nvSpPr>
        <p:spPr bwMode="auto">
          <a:xfrm flipV="1">
            <a:off x="3962400" y="2438400"/>
            <a:ext cx="914400" cy="1981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3225" name="Object 57"/>
          <p:cNvGraphicFramePr>
            <a:graphicFrameLocks noChangeAspect="1"/>
          </p:cNvGraphicFramePr>
          <p:nvPr/>
        </p:nvGraphicFramePr>
        <p:xfrm>
          <a:off x="2162175" y="2057400"/>
          <a:ext cx="771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7" name="公式" r:id="rId3" imgW="342900" imgH="215900" progId="Equation.3">
                  <p:embed/>
                </p:oleObj>
              </mc:Choice>
              <mc:Fallback>
                <p:oleObj name="公式" r:id="rId3" imgW="342900" imgH="215900" progId="Equation.3">
                  <p:embed/>
                  <p:pic>
                    <p:nvPicPr>
                      <p:cNvPr id="0" name="图片 52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2057400"/>
                        <a:ext cx="771525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226" name="Line 58"/>
          <p:cNvSpPr>
            <a:spLocks noChangeShapeType="1"/>
          </p:cNvSpPr>
          <p:nvPr/>
        </p:nvSpPr>
        <p:spPr bwMode="auto">
          <a:xfrm flipV="1">
            <a:off x="1752600" y="2438400"/>
            <a:ext cx="838200" cy="1371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227" name="Rectangle 59"/>
          <p:cNvSpPr>
            <a:spLocks noChangeArrowheads="1"/>
          </p:cNvSpPr>
          <p:nvPr/>
        </p:nvSpPr>
        <p:spPr bwMode="auto">
          <a:xfrm>
            <a:off x="2133600" y="3810000"/>
            <a:ext cx="1066800" cy="9906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4" name="Rectangle 56"/>
          <p:cNvSpPr>
            <a:spLocks noChangeArrowheads="1"/>
          </p:cNvSpPr>
          <p:nvPr/>
        </p:nvSpPr>
        <p:spPr bwMode="auto">
          <a:xfrm>
            <a:off x="1295400" y="3810000"/>
            <a:ext cx="2590800" cy="4572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8" name="Line 60"/>
          <p:cNvSpPr>
            <a:spLocks noChangeShapeType="1"/>
          </p:cNvSpPr>
          <p:nvPr/>
        </p:nvSpPr>
        <p:spPr bwMode="auto">
          <a:xfrm flipV="1">
            <a:off x="2819400" y="2438400"/>
            <a:ext cx="838200" cy="1524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3229" name="Object 61"/>
          <p:cNvGraphicFramePr>
            <a:graphicFrameLocks noChangeAspect="1"/>
          </p:cNvGraphicFramePr>
          <p:nvPr/>
        </p:nvGraphicFramePr>
        <p:xfrm>
          <a:off x="3486150" y="2057400"/>
          <a:ext cx="722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8" name="公式" r:id="rId5" imgW="316865" imgH="215900" progId="Equation.3">
                  <p:embed/>
                </p:oleObj>
              </mc:Choice>
              <mc:Fallback>
                <p:oleObj name="公式" r:id="rId5" imgW="316865" imgH="215900" progId="Equation.3">
                  <p:embed/>
                  <p:pic>
                    <p:nvPicPr>
                      <p:cNvPr id="0" name="图片 525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2057400"/>
                        <a:ext cx="722313" cy="4445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3235" name="Group 67"/>
          <p:cNvGrpSpPr/>
          <p:nvPr/>
        </p:nvGrpSpPr>
        <p:grpSpPr bwMode="auto">
          <a:xfrm>
            <a:off x="2819400" y="4419600"/>
            <a:ext cx="2819400" cy="914400"/>
            <a:chOff x="1776" y="2784"/>
            <a:chExt cx="1776" cy="576"/>
          </a:xfrm>
        </p:grpSpPr>
        <p:sp>
          <p:nvSpPr>
            <p:cNvPr id="263233" name="Rectangle 65"/>
            <p:cNvSpPr>
              <a:spLocks noChangeArrowheads="1"/>
            </p:cNvSpPr>
            <p:nvPr/>
          </p:nvSpPr>
          <p:spPr bwMode="auto">
            <a:xfrm>
              <a:off x="3264" y="2784"/>
              <a:ext cx="288" cy="576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34" name="Rectangle 66"/>
            <p:cNvSpPr>
              <a:spLocks noChangeArrowheads="1"/>
            </p:cNvSpPr>
            <p:nvPr/>
          </p:nvSpPr>
          <p:spPr bwMode="auto">
            <a:xfrm>
              <a:off x="1776" y="2784"/>
              <a:ext cx="288" cy="576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38" name="Group 70"/>
          <p:cNvGrpSpPr/>
          <p:nvPr/>
        </p:nvGrpSpPr>
        <p:grpSpPr bwMode="auto">
          <a:xfrm>
            <a:off x="2057400" y="3733800"/>
            <a:ext cx="4343400" cy="609600"/>
            <a:chOff x="1296" y="2352"/>
            <a:chExt cx="2736" cy="384"/>
          </a:xfrm>
        </p:grpSpPr>
        <p:sp>
          <p:nvSpPr>
            <p:cNvPr id="263236" name="Rectangle 68"/>
            <p:cNvSpPr>
              <a:spLocks noChangeArrowheads="1"/>
            </p:cNvSpPr>
            <p:nvPr/>
          </p:nvSpPr>
          <p:spPr bwMode="auto">
            <a:xfrm>
              <a:off x="3744" y="2352"/>
              <a:ext cx="288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37" name="Rectangle 69"/>
            <p:cNvSpPr>
              <a:spLocks noChangeArrowheads="1"/>
            </p:cNvSpPr>
            <p:nvPr/>
          </p:nvSpPr>
          <p:spPr bwMode="auto">
            <a:xfrm>
              <a:off x="1296" y="2400"/>
              <a:ext cx="288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44" name="Group 76"/>
          <p:cNvGrpSpPr/>
          <p:nvPr/>
        </p:nvGrpSpPr>
        <p:grpSpPr bwMode="auto">
          <a:xfrm>
            <a:off x="3352800" y="2438400"/>
            <a:ext cx="2362200" cy="2133600"/>
            <a:chOff x="2112" y="1536"/>
            <a:chExt cx="1488" cy="1344"/>
          </a:xfrm>
        </p:grpSpPr>
        <p:sp>
          <p:nvSpPr>
            <p:cNvPr id="263240" name="Line 72"/>
            <p:cNvSpPr>
              <a:spLocks noChangeShapeType="1"/>
            </p:cNvSpPr>
            <p:nvPr/>
          </p:nvSpPr>
          <p:spPr bwMode="auto">
            <a:xfrm flipV="1">
              <a:off x="3408" y="1584"/>
              <a:ext cx="192" cy="12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41" name="Line 73"/>
            <p:cNvSpPr>
              <a:spLocks noChangeShapeType="1"/>
            </p:cNvSpPr>
            <p:nvPr/>
          </p:nvSpPr>
          <p:spPr bwMode="auto">
            <a:xfrm flipV="1">
              <a:off x="2112" y="1536"/>
              <a:ext cx="1392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3243" name="Object 75"/>
          <p:cNvGraphicFramePr>
            <a:graphicFrameLocks noChangeAspect="1"/>
          </p:cNvGraphicFramePr>
          <p:nvPr/>
        </p:nvGraphicFramePr>
        <p:xfrm>
          <a:off x="5467350" y="2051050"/>
          <a:ext cx="6858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9" name="公式" r:id="rId7" imgW="304800" imgH="165100" progId="Equation.3">
                  <p:embed/>
                </p:oleObj>
              </mc:Choice>
              <mc:Fallback>
                <p:oleObj name="公式" r:id="rId7" imgW="304800" imgH="165100" progId="Equation.3">
                  <p:embed/>
                  <p:pic>
                    <p:nvPicPr>
                      <p:cNvPr id="0" name="图片 525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2051050"/>
                        <a:ext cx="685800" cy="3349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245" name="Object 77"/>
          <p:cNvGraphicFramePr>
            <a:graphicFrameLocks noChangeAspect="1"/>
          </p:cNvGraphicFramePr>
          <p:nvPr/>
        </p:nvGraphicFramePr>
        <p:xfrm>
          <a:off x="6224588" y="2006600"/>
          <a:ext cx="971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0" name="公式" r:id="rId9" imgW="431800" imgH="215900" progId="Equation.3">
                  <p:embed/>
                </p:oleObj>
              </mc:Choice>
              <mc:Fallback>
                <p:oleObj name="公式" r:id="rId9" imgW="431800" imgH="215900" progId="Equation.3">
                  <p:embed/>
                  <p:pic>
                    <p:nvPicPr>
                      <p:cNvPr id="0" name="图片 525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2006600"/>
                        <a:ext cx="9715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3248" name="Group 80"/>
          <p:cNvGrpSpPr/>
          <p:nvPr/>
        </p:nvGrpSpPr>
        <p:grpSpPr bwMode="auto">
          <a:xfrm>
            <a:off x="2590800" y="2438400"/>
            <a:ext cx="4038600" cy="1447800"/>
            <a:chOff x="1632" y="1536"/>
            <a:chExt cx="2544" cy="912"/>
          </a:xfrm>
        </p:grpSpPr>
        <p:sp>
          <p:nvSpPr>
            <p:cNvPr id="263246" name="Line 78"/>
            <p:cNvSpPr>
              <a:spLocks noChangeShapeType="1"/>
            </p:cNvSpPr>
            <p:nvPr/>
          </p:nvSpPr>
          <p:spPr bwMode="auto">
            <a:xfrm flipV="1">
              <a:off x="3888" y="1536"/>
              <a:ext cx="288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47" name="Line 79"/>
            <p:cNvSpPr>
              <a:spLocks noChangeShapeType="1"/>
            </p:cNvSpPr>
            <p:nvPr/>
          </p:nvSpPr>
          <p:spPr bwMode="auto">
            <a:xfrm flipV="1">
              <a:off x="1632" y="1536"/>
              <a:ext cx="2448" cy="91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3250" name="Object 82"/>
          <p:cNvGraphicFramePr>
            <a:graphicFrameLocks noChangeAspect="1"/>
          </p:cNvGraphicFramePr>
          <p:nvPr/>
        </p:nvGraphicFramePr>
        <p:xfrm>
          <a:off x="1571625" y="5715000"/>
          <a:ext cx="5857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1" name="公式" r:id="rId11" imgW="2603500" imgH="215900" progId="Equation.3">
                  <p:embed/>
                </p:oleObj>
              </mc:Choice>
              <mc:Fallback>
                <p:oleObj name="公式" r:id="rId11" imgW="2603500" imgH="215900" progId="Equation.3">
                  <p:embed/>
                  <p:pic>
                    <p:nvPicPr>
                      <p:cNvPr id="0" name="图片 52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715000"/>
                        <a:ext cx="58578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63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26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263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63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6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263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6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263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6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20" grpId="0" animBg="1"/>
      <p:bldP spid="263222" grpId="0" animBg="1"/>
      <p:bldP spid="263226" grpId="0" animBg="1"/>
      <p:bldP spid="263227" grpId="0" animBg="1"/>
      <p:bldP spid="263224" grpId="0" animBg="1"/>
      <p:bldP spid="2632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33F9-F374-4EB5-861B-CD42B12D8025}" type="slidenum">
              <a:rPr lang="en-US" altLang="zh-CN"/>
            </a:fld>
            <a:endParaRPr lang="en-US" altLang="zh-CN"/>
          </a:p>
        </p:txBody>
      </p:sp>
      <p:sp>
        <p:nvSpPr>
          <p:cNvPr id="292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zh-CN" altLang="en-US"/>
              <a:t>卡诺图化简法</a:t>
            </a:r>
            <a:endParaRPr lang="zh-CN" altLang="en-US"/>
          </a:p>
          <a:p>
            <a:pPr lvl="2">
              <a:spcBef>
                <a:spcPct val="50000"/>
              </a:spcBef>
            </a:pPr>
            <a:r>
              <a:rPr lang="zh-CN" altLang="en-US"/>
              <a:t>优点：直观明了，过程简单，可从图中直接求出最简表达式；</a:t>
            </a:r>
            <a:endParaRPr lang="zh-CN" altLang="en-US"/>
          </a:p>
          <a:p>
            <a:pPr lvl="2">
              <a:spcBef>
                <a:spcPct val="50000"/>
              </a:spcBef>
            </a:pPr>
            <a:r>
              <a:rPr lang="zh-CN" altLang="en-US"/>
              <a:t>缺点：函数变量不能太多，一般为</a:t>
            </a:r>
            <a:r>
              <a:rPr lang="en-US" altLang="zh-CN"/>
              <a:t>4</a:t>
            </a:r>
            <a:r>
              <a:rPr lang="zh-CN" altLang="en-US"/>
              <a:t>变量及</a:t>
            </a:r>
            <a:r>
              <a:rPr lang="en-US" altLang="zh-CN"/>
              <a:t>4</a:t>
            </a:r>
            <a:r>
              <a:rPr lang="zh-CN" altLang="en-US"/>
              <a:t>变量以下；</a:t>
            </a:r>
            <a:r>
              <a:rPr lang="en-US" altLang="zh-CN"/>
              <a:t>4</a:t>
            </a:r>
            <a:r>
              <a:rPr lang="zh-CN" altLang="en-US"/>
              <a:t>变量以上用卡诺图化简比较困难，容易出错。</a:t>
            </a:r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62DB2-21B6-4EA8-9088-C003C0083E59}" type="slidenum">
              <a:rPr lang="en-US" altLang="zh-CN"/>
            </a:fld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en-US"/>
              <a:t>图解法</a:t>
            </a:r>
            <a:r>
              <a:rPr lang="en-US" altLang="zh-CN"/>
              <a:t>(</a:t>
            </a:r>
            <a:r>
              <a:rPr lang="zh-CN" altLang="en-US"/>
              <a:t>卡诺图</a:t>
            </a:r>
            <a:r>
              <a:rPr lang="en-US" altLang="zh-CN"/>
              <a:t>)</a:t>
            </a:r>
            <a:r>
              <a:rPr lang="zh-CN" altLang="en-US"/>
              <a:t>化简逻辑函数</a:t>
            </a:r>
            <a:endParaRPr lang="zh-CN" altLang="en-US"/>
          </a:p>
          <a:p>
            <a:pPr lvl="1"/>
            <a:r>
              <a:rPr lang="zh-CN" altLang="en-US"/>
              <a:t>特殊形式的逻辑函数化简</a:t>
            </a:r>
            <a:endParaRPr lang="zh-CN" altLang="en-US"/>
          </a:p>
          <a:p>
            <a:pPr lvl="2"/>
            <a:r>
              <a:rPr lang="zh-CN" altLang="en-US"/>
              <a:t>逻辑函数的基本形式：</a:t>
            </a:r>
            <a:endParaRPr lang="zh-CN" altLang="en-US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/>
              <a:t>       单输出逻辑函数，</a:t>
            </a:r>
            <a:r>
              <a:rPr lang="en-US" altLang="zh-CN"/>
              <a:t>F</a:t>
            </a:r>
            <a:r>
              <a:rPr lang="zh-CN" altLang="en-US"/>
              <a:t>＝</a:t>
            </a:r>
            <a:r>
              <a:rPr lang="en-US" altLang="zh-CN"/>
              <a:t>f(A,B,C…)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304800" y="37211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特殊形式的逻辑函数：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1. 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多输出逻辑函数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    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2. 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包含无关项（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Don’t Care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）的逻辑函数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4BC2C-FDEF-4802-806A-A1F857CF0E60}" type="slidenum">
              <a:rPr lang="en-US" altLang="zh-CN"/>
            </a:fld>
            <a:endParaRPr lang="en-US" altLang="zh-CN"/>
          </a:p>
        </p:txBody>
      </p:sp>
      <p:sp>
        <p:nvSpPr>
          <p:cNvPr id="159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86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特殊形式的逻辑函数化简</a:t>
            </a:r>
            <a:endParaRPr lang="zh-CN" altLang="en-US" dirty="0"/>
          </a:p>
          <a:p>
            <a:pPr lvl="2"/>
            <a:r>
              <a:rPr lang="zh-CN" altLang="en-US" dirty="0"/>
              <a:t>多输出逻辑函数：同一组输入变量，有两个以上的输出。</a:t>
            </a:r>
            <a:endParaRPr lang="zh-CN" altLang="en-US" dirty="0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zh-CN" altLang="en-US" dirty="0"/>
              <a:t>＝ 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 (A,B,C…)</a:t>
            </a:r>
            <a:endParaRPr lang="en-US" altLang="zh-CN" dirty="0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dirty="0"/>
              <a:t>             F</a:t>
            </a:r>
            <a:r>
              <a:rPr lang="en-US" altLang="zh-CN" baseline="-25000" dirty="0"/>
              <a:t>2</a:t>
            </a:r>
            <a:r>
              <a:rPr lang="zh-CN" altLang="en-US" dirty="0"/>
              <a:t>＝ </a:t>
            </a:r>
            <a:r>
              <a:rPr lang="en-US" altLang="zh-CN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(A,B,C…)</a:t>
            </a:r>
            <a:endParaRPr lang="en-US" altLang="zh-CN" dirty="0"/>
          </a:p>
          <a:p>
            <a:pPr lvl="2"/>
            <a:r>
              <a:rPr lang="zh-CN" altLang="en-US" dirty="0"/>
              <a:t>多输出逻辑函数的化简：化简时，在“与或”表达式中要尽量寻找公共的“或”项，使公共项为多个函数共享，这时从单个输出看可能不是最简，但总体是最简。</a:t>
            </a:r>
            <a:endParaRPr lang="zh-CN" altLang="en-US" dirty="0"/>
          </a:p>
          <a:p>
            <a:pPr lvl="2"/>
            <a:r>
              <a:rPr lang="zh-CN" altLang="en-US" dirty="0"/>
              <a:t>多输出逻辑函数的化简（不作为基本要求，</a:t>
            </a:r>
            <a:r>
              <a:rPr lang="zh-CN" altLang="en-US" dirty="0">
                <a:solidFill>
                  <a:srgbClr val="FF0000"/>
                </a:solidFill>
              </a:rPr>
              <a:t>不考！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06279-8F1A-4FEE-AD78-2571E11DF861}" type="slidenum">
              <a:rPr lang="en-US" altLang="zh-CN"/>
            </a:fld>
            <a:endParaRPr lang="en-US" altLang="zh-CN"/>
          </a:p>
        </p:txBody>
      </p:sp>
      <p:sp>
        <p:nvSpPr>
          <p:cNvPr id="161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8392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 lvl="1"/>
            <a:r>
              <a:rPr lang="zh-CN" altLang="en-US" dirty="0"/>
              <a:t>特殊形式的逻辑函数化简</a:t>
            </a:r>
            <a:endParaRPr lang="zh-CN" altLang="en-US" dirty="0"/>
          </a:p>
          <a:p>
            <a:pPr lvl="2"/>
            <a:r>
              <a:rPr lang="zh-CN" altLang="en-US" dirty="0"/>
              <a:t>包含无关项（</a:t>
            </a:r>
            <a:r>
              <a:rPr lang="en-US" altLang="zh-CN" dirty="0"/>
              <a:t>Don’t Care</a:t>
            </a:r>
            <a:r>
              <a:rPr lang="zh-CN" altLang="en-US" dirty="0"/>
              <a:t>）的逻辑函数：函数</a:t>
            </a:r>
            <a:r>
              <a:rPr lang="en-US" altLang="zh-CN" dirty="0"/>
              <a:t>F</a:t>
            </a:r>
            <a:r>
              <a:rPr lang="zh-CN" altLang="en-US" dirty="0"/>
              <a:t>的取值只和一部分最小项有关，另一部分最小项既可以取“</a:t>
            </a:r>
            <a:r>
              <a:rPr lang="en-US" altLang="zh-CN" dirty="0"/>
              <a:t>0”</a:t>
            </a:r>
            <a:r>
              <a:rPr lang="zh-CN" altLang="en-US" dirty="0"/>
              <a:t>，也可以取“</a:t>
            </a:r>
            <a:r>
              <a:rPr lang="en-US" altLang="zh-CN" dirty="0"/>
              <a:t>1”</a:t>
            </a:r>
            <a:r>
              <a:rPr lang="zh-CN" altLang="en-US" dirty="0"/>
              <a:t>，这些最小项称“无关项”或“任意项”。</a:t>
            </a:r>
            <a:endParaRPr lang="zh-CN" altLang="en-US" dirty="0"/>
          </a:p>
          <a:p>
            <a:pPr lvl="2">
              <a:lnSpc>
                <a:spcPct val="90000"/>
              </a:lnSpc>
            </a:pP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“无关项”的两种情况：</a:t>
            </a:r>
            <a:endParaRPr lang="en-US" altLang="zh-CN" dirty="0"/>
          </a:p>
          <a:p>
            <a:pPr lvl="2">
              <a:lnSpc>
                <a:spcPct val="90000"/>
              </a:lnSpc>
            </a:pPr>
            <a:endParaRPr lang="zh-CN" altLang="en-US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1. </a:t>
            </a:r>
            <a:r>
              <a:rPr lang="zh-CN" altLang="en-US" sz="2000" dirty="0"/>
              <a:t>这些输入组合不可能出现。</a:t>
            </a:r>
            <a:endParaRPr lang="en-US" altLang="zh-CN" sz="2000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2. </a:t>
            </a:r>
            <a:r>
              <a:rPr lang="zh-CN" altLang="en-US" sz="2000" dirty="0"/>
              <a:t>输入组合虽能出现，但无需关心最小项是“</a:t>
            </a:r>
            <a:r>
              <a:rPr lang="en-US" altLang="zh-CN" sz="2000" dirty="0"/>
              <a:t>1”</a:t>
            </a:r>
            <a:r>
              <a:rPr lang="zh-CN" altLang="en-US" sz="2000" dirty="0"/>
              <a:t>还是“</a:t>
            </a:r>
            <a:r>
              <a:rPr lang="en-US" altLang="zh-CN" sz="2000" dirty="0"/>
              <a:t>0”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</p:spTree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E4F1-75EF-4513-A5CE-03A8A352FA8A}" type="slidenum">
              <a:rPr lang="en-US" altLang="zh-CN"/>
            </a:fld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980728"/>
            <a:ext cx="8610600" cy="4429472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例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：设计一位十进制数的数值范围判断器，当</a:t>
            </a:r>
            <a:r>
              <a:rPr lang="en-US" altLang="zh-CN" sz="2000" b="1" dirty="0"/>
              <a:t>x&gt;=5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F=1</a:t>
            </a:r>
            <a:r>
              <a:rPr lang="zh-CN" altLang="en-US" sz="2000" b="1" dirty="0"/>
              <a:t>；否则，</a:t>
            </a:r>
            <a:r>
              <a:rPr lang="en-US" altLang="zh-CN" sz="2000" b="1" dirty="0"/>
              <a:t>F=0</a:t>
            </a:r>
            <a:r>
              <a:rPr lang="zh-CN" altLang="en-US" sz="2000" b="1" dirty="0"/>
              <a:t>。</a:t>
            </a:r>
            <a:r>
              <a:rPr lang="en-US" altLang="zh-CN" sz="2000" b="1" dirty="0"/>
              <a:t>(ABCD</a:t>
            </a:r>
            <a:r>
              <a:rPr lang="zh-CN" altLang="en-US" sz="2000" b="1" dirty="0"/>
              <a:t>表示一位十进制数</a:t>
            </a:r>
            <a:r>
              <a:rPr lang="en-US" altLang="zh-CN" sz="2000" b="1" dirty="0"/>
              <a:t>,A</a:t>
            </a:r>
            <a:r>
              <a:rPr lang="zh-CN" altLang="en-US" sz="2000" b="1" dirty="0"/>
              <a:t>是低位</a:t>
            </a:r>
            <a:r>
              <a:rPr lang="en-US" altLang="zh-CN" sz="2000" b="1" dirty="0"/>
              <a:t>,D</a:t>
            </a:r>
            <a:r>
              <a:rPr lang="zh-CN" altLang="en-US" sz="2000" b="1" dirty="0"/>
              <a:t>是高位</a:t>
            </a:r>
            <a:r>
              <a:rPr lang="en-US" altLang="zh-CN" sz="2000" b="1" dirty="0"/>
              <a:t>)</a:t>
            </a:r>
            <a:endParaRPr lang="en-US" altLang="zh-CN" sz="2000" b="1" dirty="0"/>
          </a:p>
        </p:txBody>
      </p:sp>
      <p:graphicFrame>
        <p:nvGraphicFramePr>
          <p:cNvPr id="215231" name="Group 191"/>
          <p:cNvGraphicFramePr>
            <a:graphicFrameLocks noGrp="1"/>
          </p:cNvGraphicFramePr>
          <p:nvPr/>
        </p:nvGraphicFramePr>
        <p:xfrm>
          <a:off x="643136" y="1755224"/>
          <a:ext cx="3352800" cy="4770120"/>
        </p:xfrm>
        <a:graphic>
          <a:graphicData uri="http://schemas.openxmlformats.org/drawingml/2006/table">
            <a:tbl>
              <a:tblPr/>
              <a:tblGrid>
                <a:gridCol w="669925"/>
                <a:gridCol w="671513"/>
                <a:gridCol w="669925"/>
                <a:gridCol w="671512"/>
                <a:gridCol w="669925"/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212" name="Rectangle 172"/>
          <p:cNvSpPr>
            <a:spLocks noChangeArrowheads="1"/>
          </p:cNvSpPr>
          <p:nvPr/>
        </p:nvSpPr>
        <p:spPr bwMode="auto">
          <a:xfrm>
            <a:off x="4876800" y="4267200"/>
            <a:ext cx="22098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4" name="Rectangle 174"/>
          <p:cNvSpPr>
            <a:spLocks noChangeArrowheads="1"/>
          </p:cNvSpPr>
          <p:nvPr/>
        </p:nvSpPr>
        <p:spPr bwMode="auto">
          <a:xfrm>
            <a:off x="5410200" y="3581400"/>
            <a:ext cx="1143000" cy="11430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5" name="Rectangle 175"/>
          <p:cNvSpPr>
            <a:spLocks noChangeArrowheads="1"/>
          </p:cNvSpPr>
          <p:nvPr/>
        </p:nvSpPr>
        <p:spPr bwMode="auto">
          <a:xfrm>
            <a:off x="6096000" y="3581400"/>
            <a:ext cx="990600" cy="11430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210" name="Group 170"/>
          <p:cNvGrpSpPr/>
          <p:nvPr/>
        </p:nvGrpSpPr>
        <p:grpSpPr bwMode="auto">
          <a:xfrm>
            <a:off x="4038600" y="2133600"/>
            <a:ext cx="3200400" cy="3278188"/>
            <a:chOff x="2736" y="1344"/>
            <a:chExt cx="2016" cy="2065"/>
          </a:xfrm>
        </p:grpSpPr>
        <p:grpSp>
          <p:nvGrpSpPr>
            <p:cNvPr id="215164" name="Group 124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15165" name="Rectangle 12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66" name="Rectangle 12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67" name="Rectangle 12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15168" name="Rectangle 12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15169" name="Rectangle 12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70" name="Rectangle 13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71" name="Rectangle 13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72" name="Rectangle 13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15173" name="Rectangle 13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15174" name="Rectangle 13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15175" name="Rectangle 13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15176" name="Rectangle 13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15177" name="Rectangle 13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15178" name="Rectangle 13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15179" name="Rectangle 13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15180" name="Rectangle 14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15181" name="Line 14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2" name="Line 14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3" name="Line 14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4" name="Line 14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5" name="Line 14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6" name="Line 14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7" name="Line 14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8" name="Line 14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9" name="Line 14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90" name="Line 15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91" name="Line 15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192" name="Group 152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15193" name="Text Box 15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194" name="Text Box 15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195" name="Text Box 15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196" name="Text Box 15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15208" name="Group 168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15199" name="Text Box 15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0" name="Text Box 16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1" name="Text Box 16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2" name="Text Box 16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15209" name="Group 169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15204" name="Text Box 16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5" name="Text Box 16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6" name="Text Box 16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5207" name="Text Box 16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215230" name="Group 190"/>
          <p:cNvGrpSpPr/>
          <p:nvPr/>
        </p:nvGrpSpPr>
        <p:grpSpPr bwMode="auto">
          <a:xfrm>
            <a:off x="7162802" y="4267200"/>
            <a:ext cx="1655763" cy="587375"/>
            <a:chOff x="4512" y="2688"/>
            <a:chExt cx="1043" cy="370"/>
          </a:xfrm>
        </p:grpSpPr>
        <p:graphicFrame>
          <p:nvGraphicFramePr>
            <p:cNvPr id="215216" name="Object 176"/>
            <p:cNvGraphicFramePr>
              <a:graphicFrameLocks noChangeAspect="1"/>
            </p:cNvGraphicFramePr>
            <p:nvPr/>
          </p:nvGraphicFramePr>
          <p:xfrm>
            <a:off x="5245" y="2688"/>
            <a:ext cx="31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50" name="公式" r:id="rId1" imgW="152400" imgH="165100" progId="Equation.3">
                    <p:embed/>
                  </p:oleObj>
                </mc:Choice>
                <mc:Fallback>
                  <p:oleObj name="公式" r:id="rId1" imgW="152400" imgH="165100" progId="Equation.3">
                    <p:embed/>
                    <p:pic>
                      <p:nvPicPr>
                        <p:cNvPr id="0" name="图片 534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" y="2688"/>
                          <a:ext cx="310" cy="304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7" name="Line 177"/>
            <p:cNvSpPr>
              <a:spLocks noChangeShapeType="1"/>
            </p:cNvSpPr>
            <p:nvPr/>
          </p:nvSpPr>
          <p:spPr bwMode="auto">
            <a:xfrm flipH="1">
              <a:off x="4512" y="2866"/>
              <a:ext cx="816" cy="19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5234" name="Group 194"/>
          <p:cNvGrpSpPr/>
          <p:nvPr/>
        </p:nvGrpSpPr>
        <p:grpSpPr bwMode="auto">
          <a:xfrm>
            <a:off x="5791199" y="3522660"/>
            <a:ext cx="3082925" cy="581025"/>
            <a:chOff x="3648" y="2219"/>
            <a:chExt cx="1942" cy="366"/>
          </a:xfrm>
        </p:grpSpPr>
        <p:graphicFrame>
          <p:nvGraphicFramePr>
            <p:cNvPr id="215218" name="Object 178"/>
            <p:cNvGraphicFramePr>
              <a:graphicFrameLocks noChangeAspect="1"/>
            </p:cNvGraphicFramePr>
            <p:nvPr/>
          </p:nvGraphicFramePr>
          <p:xfrm>
            <a:off x="5128" y="2219"/>
            <a:ext cx="46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51" name="公式" r:id="rId3" imgW="228600" imgH="165100" progId="Equation.3">
                    <p:embed/>
                  </p:oleObj>
                </mc:Choice>
                <mc:Fallback>
                  <p:oleObj name="公式" r:id="rId3" imgW="228600" imgH="165100" progId="Equation.3">
                    <p:embed/>
                    <p:pic>
                      <p:nvPicPr>
                        <p:cNvPr id="0" name="图片 534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219"/>
                          <a:ext cx="462" cy="30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9" name="Line 179"/>
            <p:cNvSpPr>
              <a:spLocks noChangeShapeType="1"/>
            </p:cNvSpPr>
            <p:nvPr/>
          </p:nvSpPr>
          <p:spPr bwMode="auto">
            <a:xfrm flipH="1">
              <a:off x="3648" y="2345"/>
              <a:ext cx="1536" cy="2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5233" name="Group 193"/>
          <p:cNvGrpSpPr/>
          <p:nvPr/>
        </p:nvGrpSpPr>
        <p:grpSpPr bwMode="auto">
          <a:xfrm>
            <a:off x="6934200" y="2700339"/>
            <a:ext cx="2165350" cy="1033463"/>
            <a:chOff x="4368" y="1701"/>
            <a:chExt cx="1364" cy="651"/>
          </a:xfrm>
        </p:grpSpPr>
        <p:sp>
          <p:nvSpPr>
            <p:cNvPr id="215220" name="Line 180"/>
            <p:cNvSpPr>
              <a:spLocks noChangeShapeType="1"/>
            </p:cNvSpPr>
            <p:nvPr/>
          </p:nvSpPr>
          <p:spPr bwMode="auto">
            <a:xfrm flipH="1">
              <a:off x="4368" y="1872"/>
              <a:ext cx="960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21" name="Object 181"/>
            <p:cNvGraphicFramePr>
              <a:graphicFrameLocks noChangeAspect="1"/>
            </p:cNvGraphicFramePr>
            <p:nvPr/>
          </p:nvGraphicFramePr>
          <p:xfrm>
            <a:off x="5271" y="1701"/>
            <a:ext cx="46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52" name="公式" r:id="rId5" imgW="228600" imgH="165100" progId="Equation.3">
                    <p:embed/>
                  </p:oleObj>
                </mc:Choice>
                <mc:Fallback>
                  <p:oleObj name="公式" r:id="rId5" imgW="228600" imgH="165100" progId="Equation.3">
                    <p:embed/>
                    <p:pic>
                      <p:nvPicPr>
                        <p:cNvPr id="0" name="图片 534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1" y="1701"/>
                          <a:ext cx="461" cy="30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226" name="Object 186"/>
          <p:cNvGraphicFramePr>
            <a:graphicFrameLocks noChangeAspect="1"/>
          </p:cNvGraphicFramePr>
          <p:nvPr/>
        </p:nvGraphicFramePr>
        <p:xfrm>
          <a:off x="4292600" y="5808663"/>
          <a:ext cx="40306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3" name="公式" r:id="rId7" imgW="1256665" imgH="165100" progId="Equation.3">
                  <p:embed/>
                </p:oleObj>
              </mc:Choice>
              <mc:Fallback>
                <p:oleObj name="公式" r:id="rId7" imgW="1256665" imgH="165100" progId="Equation.3">
                  <p:embed/>
                  <p:pic>
                    <p:nvPicPr>
                      <p:cNvPr id="0" name="图片 53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5808663"/>
                        <a:ext cx="4030663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1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21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1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2" grpId="0" animBg="1"/>
      <p:bldP spid="215214" grpId="0" animBg="1"/>
      <p:bldP spid="2152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920F-8758-475F-A69C-0B6538C79469}" type="slidenum">
              <a:rPr lang="en-US" altLang="zh-CN"/>
            </a:fld>
            <a:endParaRPr lang="en-US" altLang="zh-CN"/>
          </a:p>
        </p:txBody>
      </p:sp>
      <p:sp>
        <p:nvSpPr>
          <p:cNvPr id="2938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：化简函数</a:t>
            </a:r>
            <a:endParaRPr lang="zh-CN" altLang="en-US"/>
          </a:p>
        </p:txBody>
      </p:sp>
      <p:graphicFrame>
        <p:nvGraphicFramePr>
          <p:cNvPr id="293892" name="Object 4"/>
          <p:cNvGraphicFramePr>
            <a:graphicFrameLocks noChangeAspect="1"/>
          </p:cNvGraphicFramePr>
          <p:nvPr/>
        </p:nvGraphicFramePr>
        <p:xfrm>
          <a:off x="1519238" y="2120900"/>
          <a:ext cx="64865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68" name="公式" r:id="rId1" imgW="2882900" imgH="266700" progId="Equation.3">
                  <p:embed/>
                </p:oleObj>
              </mc:Choice>
              <mc:Fallback>
                <p:oleObj name="公式" r:id="rId1" imgW="2882900" imgH="266700" progId="Equation.3">
                  <p:embed/>
                  <p:pic>
                    <p:nvPicPr>
                      <p:cNvPr id="0" name="图片 545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2120900"/>
                        <a:ext cx="6486525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3893" name="Group 5"/>
          <p:cNvGrpSpPr/>
          <p:nvPr/>
        </p:nvGrpSpPr>
        <p:grpSpPr bwMode="auto">
          <a:xfrm>
            <a:off x="1808659" y="2667000"/>
            <a:ext cx="3200400" cy="3278188"/>
            <a:chOff x="2736" y="1344"/>
            <a:chExt cx="2016" cy="2065"/>
          </a:xfrm>
        </p:grpSpPr>
        <p:grpSp>
          <p:nvGrpSpPr>
            <p:cNvPr id="293894" name="Group 6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93895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3896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897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3898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899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900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3901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3902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3903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3904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905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906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3907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3908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3909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910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3911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2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3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4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5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6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7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8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9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20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21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3922" name="Group 34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93923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24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25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26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3927" name="Group 39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93928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29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30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31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3932" name="Group 44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93933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34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35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3936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93937" name="Rectangle 49"/>
          <p:cNvSpPr>
            <a:spLocks noChangeArrowheads="1"/>
          </p:cNvSpPr>
          <p:nvPr/>
        </p:nvSpPr>
        <p:spPr bwMode="auto">
          <a:xfrm>
            <a:off x="3256459" y="3581400"/>
            <a:ext cx="10668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938" name="Rectangle 50"/>
          <p:cNvSpPr>
            <a:spLocks noChangeArrowheads="1"/>
          </p:cNvSpPr>
          <p:nvPr/>
        </p:nvSpPr>
        <p:spPr bwMode="auto">
          <a:xfrm>
            <a:off x="3789859" y="3505200"/>
            <a:ext cx="533400" cy="23622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3941" name="Group 53"/>
          <p:cNvGrpSpPr/>
          <p:nvPr/>
        </p:nvGrpSpPr>
        <p:grpSpPr bwMode="auto">
          <a:xfrm>
            <a:off x="2494459" y="3505200"/>
            <a:ext cx="1219200" cy="2438400"/>
            <a:chOff x="3600" y="2208"/>
            <a:chExt cx="768" cy="1536"/>
          </a:xfrm>
        </p:grpSpPr>
        <p:sp>
          <p:nvSpPr>
            <p:cNvPr id="293939" name="Rectangle 51"/>
            <p:cNvSpPr>
              <a:spLocks noChangeArrowheads="1"/>
            </p:cNvSpPr>
            <p:nvPr/>
          </p:nvSpPr>
          <p:spPr bwMode="auto">
            <a:xfrm>
              <a:off x="3600" y="3408"/>
              <a:ext cx="768" cy="33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940" name="Rectangle 52"/>
            <p:cNvSpPr>
              <a:spLocks noChangeArrowheads="1"/>
            </p:cNvSpPr>
            <p:nvPr/>
          </p:nvSpPr>
          <p:spPr bwMode="auto">
            <a:xfrm>
              <a:off x="3600" y="2208"/>
              <a:ext cx="768" cy="33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3942" name="Rectangle 54"/>
          <p:cNvSpPr>
            <a:spLocks noChangeArrowheads="1"/>
          </p:cNvSpPr>
          <p:nvPr/>
        </p:nvSpPr>
        <p:spPr bwMode="auto">
          <a:xfrm>
            <a:off x="3789859" y="4724400"/>
            <a:ext cx="1143000" cy="5334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3943" name="Object 55"/>
          <p:cNvGraphicFramePr>
            <a:graphicFrameLocks noChangeAspect="1"/>
          </p:cNvGraphicFramePr>
          <p:nvPr/>
        </p:nvGraphicFramePr>
        <p:xfrm>
          <a:off x="827584" y="3543300"/>
          <a:ext cx="514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69" name="公式" r:id="rId3" imgW="228600" imgH="215900" progId="Equation.3">
                  <p:embed/>
                </p:oleObj>
              </mc:Choice>
              <mc:Fallback>
                <p:oleObj name="公式" r:id="rId3" imgW="228600" imgH="215900" progId="Equation.3">
                  <p:embed/>
                  <p:pic>
                    <p:nvPicPr>
                      <p:cNvPr id="0" name="图片 545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43300"/>
                        <a:ext cx="5143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44" name="Line 56"/>
          <p:cNvSpPr>
            <a:spLocks noChangeShapeType="1"/>
          </p:cNvSpPr>
          <p:nvPr/>
        </p:nvSpPr>
        <p:spPr bwMode="auto">
          <a:xfrm flipH="1" flipV="1">
            <a:off x="1275259" y="3810000"/>
            <a:ext cx="19812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45" name="Object 57"/>
          <p:cNvGraphicFramePr>
            <a:graphicFrameLocks noChangeAspect="1"/>
          </p:cNvGraphicFramePr>
          <p:nvPr/>
        </p:nvGraphicFramePr>
        <p:xfrm>
          <a:off x="852984" y="4276725"/>
          <a:ext cx="6159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0" name="公式" r:id="rId5" imgW="228600" imgH="165100" progId="Equation.3">
                  <p:embed/>
                </p:oleObj>
              </mc:Choice>
              <mc:Fallback>
                <p:oleObj name="公式" r:id="rId5" imgW="228600" imgH="165100" progId="Equation.3">
                  <p:embed/>
                  <p:pic>
                    <p:nvPicPr>
                      <p:cNvPr id="0" name="图片 545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84" y="4276725"/>
                        <a:ext cx="615950" cy="4016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46" name="Line 58"/>
          <p:cNvSpPr>
            <a:spLocks noChangeShapeType="1"/>
          </p:cNvSpPr>
          <p:nvPr/>
        </p:nvSpPr>
        <p:spPr bwMode="auto">
          <a:xfrm flipH="1" flipV="1">
            <a:off x="1351459" y="4495800"/>
            <a:ext cx="26670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47" name="Object 59"/>
          <p:cNvGraphicFramePr>
            <a:graphicFrameLocks noChangeAspect="1"/>
          </p:cNvGraphicFramePr>
          <p:nvPr/>
        </p:nvGraphicFramePr>
        <p:xfrm>
          <a:off x="899592" y="5323812"/>
          <a:ext cx="586805" cy="47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1" name="公式" r:id="rId7" imgW="241300" imgH="215900" progId="Equation.3">
                  <p:embed/>
                </p:oleObj>
              </mc:Choice>
              <mc:Fallback>
                <p:oleObj name="公式" r:id="rId7" imgW="241300" imgH="215900" progId="Equation.3">
                  <p:embed/>
                  <p:pic>
                    <p:nvPicPr>
                      <p:cNvPr id="0" name="图片 545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323812"/>
                        <a:ext cx="586805" cy="473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3958" name="Group 70"/>
          <p:cNvGrpSpPr/>
          <p:nvPr/>
        </p:nvGrpSpPr>
        <p:grpSpPr bwMode="auto">
          <a:xfrm>
            <a:off x="1351459" y="3886200"/>
            <a:ext cx="1143000" cy="1828800"/>
            <a:chOff x="2880" y="2448"/>
            <a:chExt cx="720" cy="1152"/>
          </a:xfrm>
        </p:grpSpPr>
        <p:sp>
          <p:nvSpPr>
            <p:cNvPr id="293948" name="Line 60"/>
            <p:cNvSpPr>
              <a:spLocks noChangeShapeType="1"/>
            </p:cNvSpPr>
            <p:nvPr/>
          </p:nvSpPr>
          <p:spPr bwMode="auto">
            <a:xfrm flipH="1">
              <a:off x="2928" y="2448"/>
              <a:ext cx="672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949" name="Line 61"/>
            <p:cNvSpPr>
              <a:spLocks noChangeShapeType="1"/>
            </p:cNvSpPr>
            <p:nvPr/>
          </p:nvSpPr>
          <p:spPr bwMode="auto">
            <a:xfrm flipH="1" flipV="1">
              <a:off x="2880" y="3504"/>
              <a:ext cx="720" cy="9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3954" name="Object 66"/>
          <p:cNvGraphicFramePr>
            <a:graphicFrameLocks noChangeAspect="1"/>
          </p:cNvGraphicFramePr>
          <p:nvPr/>
        </p:nvGraphicFramePr>
        <p:xfrm>
          <a:off x="927597" y="6032500"/>
          <a:ext cx="685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2" name="公式" r:id="rId9" imgW="304800" imgH="165100" progId="Equation.3">
                  <p:embed/>
                </p:oleObj>
              </mc:Choice>
              <mc:Fallback>
                <p:oleObj name="公式" r:id="rId9" imgW="304800" imgH="165100" progId="Equation.3">
                  <p:embed/>
                  <p:pic>
                    <p:nvPicPr>
                      <p:cNvPr id="0" name="图片 545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597" y="6032500"/>
                        <a:ext cx="685800" cy="3365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55" name="Line 67"/>
          <p:cNvSpPr>
            <a:spLocks noChangeShapeType="1"/>
          </p:cNvSpPr>
          <p:nvPr/>
        </p:nvSpPr>
        <p:spPr bwMode="auto">
          <a:xfrm flipH="1">
            <a:off x="1580059" y="5029200"/>
            <a:ext cx="3124200" cy="1219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57" name="Object 69"/>
          <p:cNvGraphicFramePr>
            <a:graphicFrameLocks noChangeAspect="1"/>
          </p:cNvGraphicFramePr>
          <p:nvPr/>
        </p:nvGraphicFramePr>
        <p:xfrm>
          <a:off x="5652120" y="3904456"/>
          <a:ext cx="26860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73" name="Equation" r:id="rId11" imgW="28651200" imgH="12192000" progId="Equation.DSMT4">
                  <p:embed/>
                </p:oleObj>
              </mc:Choice>
              <mc:Fallback>
                <p:oleObj name="Equation" r:id="rId11" imgW="28651200" imgH="12192000" progId="Equation.DSMT4">
                  <p:embed/>
                  <p:pic>
                    <p:nvPicPr>
                      <p:cNvPr id="0" name="图片 545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904456"/>
                        <a:ext cx="2686050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293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29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6" dur="500"/>
                                        <p:tgtEl>
                                          <p:spTgt spid="293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9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93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9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9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293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37" grpId="0" animBg="1"/>
      <p:bldP spid="293938" grpId="0" animBg="1"/>
      <p:bldP spid="293942" grpId="0" animBg="1"/>
      <p:bldP spid="293944" grpId="0" animBg="1"/>
      <p:bldP spid="293946" grpId="0" animBg="1"/>
      <p:bldP spid="29395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8C5-4160-49BA-B843-CB490A68C585}" type="slidenum">
              <a:rPr lang="en-US" altLang="zh-CN"/>
            </a:fld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求例</a:t>
            </a:r>
            <a:r>
              <a:rPr lang="en-US" altLang="zh-CN"/>
              <a:t>2</a:t>
            </a:r>
            <a:r>
              <a:rPr lang="zh-CN" altLang="en-US"/>
              <a:t>的反函数</a:t>
            </a:r>
            <a:endParaRPr lang="zh-CN" altLang="en-US"/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/>
        </p:nvGraphicFramePr>
        <p:xfrm>
          <a:off x="447675" y="2362200"/>
          <a:ext cx="37719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1" name="公式" r:id="rId1" imgW="1675765" imgH="533400" progId="Equation.3">
                  <p:embed/>
                </p:oleObj>
              </mc:Choice>
              <mc:Fallback>
                <p:oleObj name="公式" r:id="rId1" imgW="1675765" imgH="533400" progId="Equation.3">
                  <p:embed/>
                  <p:pic>
                    <p:nvPicPr>
                      <p:cNvPr id="0" name="图片 556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2362200"/>
                        <a:ext cx="37719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085" name="Group 5"/>
          <p:cNvGrpSpPr/>
          <p:nvPr/>
        </p:nvGrpSpPr>
        <p:grpSpPr bwMode="auto">
          <a:xfrm>
            <a:off x="4419600" y="1751013"/>
            <a:ext cx="3200400" cy="3278187"/>
            <a:chOff x="2736" y="1344"/>
            <a:chExt cx="2016" cy="2065"/>
          </a:xfrm>
        </p:grpSpPr>
        <p:grpSp>
          <p:nvGrpSpPr>
            <p:cNvPr id="302086" name="Group 6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2087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2088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089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302090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091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092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302093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2094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302095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2096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097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098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2099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2100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302101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102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2103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4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5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6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7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8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9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0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1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2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3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2114" name="Group 34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2115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16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17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18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2119" name="Group 39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2120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1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2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3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02124" name="Group 44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2125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6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7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02128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302129" name="Rectangle 49"/>
          <p:cNvSpPr>
            <a:spLocks noChangeArrowheads="1"/>
          </p:cNvSpPr>
          <p:nvPr/>
        </p:nvSpPr>
        <p:spPr bwMode="auto">
          <a:xfrm>
            <a:off x="6477000" y="2589213"/>
            <a:ext cx="9906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2130" name="Rectangle 50"/>
          <p:cNvSpPr>
            <a:spLocks noChangeArrowheads="1"/>
          </p:cNvSpPr>
          <p:nvPr/>
        </p:nvSpPr>
        <p:spPr bwMode="auto">
          <a:xfrm>
            <a:off x="5791200" y="3884613"/>
            <a:ext cx="533400" cy="9906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2131" name="Group 51"/>
          <p:cNvGrpSpPr/>
          <p:nvPr/>
        </p:nvGrpSpPr>
        <p:grpSpPr bwMode="auto">
          <a:xfrm>
            <a:off x="5181600" y="3198813"/>
            <a:ext cx="2362200" cy="457200"/>
            <a:chOff x="3648" y="2592"/>
            <a:chExt cx="1488" cy="288"/>
          </a:xfrm>
        </p:grpSpPr>
        <p:sp>
          <p:nvSpPr>
            <p:cNvPr id="302132" name="Rectangle 52"/>
            <p:cNvSpPr>
              <a:spLocks noChangeArrowheads="1"/>
            </p:cNvSpPr>
            <p:nvPr/>
          </p:nvSpPr>
          <p:spPr bwMode="auto">
            <a:xfrm>
              <a:off x="48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133" name="Rectangle 53"/>
            <p:cNvSpPr>
              <a:spLocks noChangeArrowheads="1"/>
            </p:cNvSpPr>
            <p:nvPr/>
          </p:nvSpPr>
          <p:spPr bwMode="auto">
            <a:xfrm>
              <a:off x="36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2134" name="Group 54"/>
          <p:cNvGrpSpPr/>
          <p:nvPr/>
        </p:nvGrpSpPr>
        <p:grpSpPr bwMode="auto">
          <a:xfrm>
            <a:off x="7086600" y="2589213"/>
            <a:ext cx="533400" cy="2362200"/>
            <a:chOff x="4848" y="2208"/>
            <a:chExt cx="336" cy="1488"/>
          </a:xfrm>
        </p:grpSpPr>
        <p:sp>
          <p:nvSpPr>
            <p:cNvPr id="302135" name="Rectangle 55"/>
            <p:cNvSpPr>
              <a:spLocks noChangeArrowheads="1"/>
            </p:cNvSpPr>
            <p:nvPr/>
          </p:nvSpPr>
          <p:spPr bwMode="auto">
            <a:xfrm>
              <a:off x="4848" y="3360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136" name="Rectangle 56"/>
            <p:cNvSpPr>
              <a:spLocks noChangeArrowheads="1"/>
            </p:cNvSpPr>
            <p:nvPr/>
          </p:nvSpPr>
          <p:spPr bwMode="auto">
            <a:xfrm>
              <a:off x="4848" y="2208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02137" name="Object 57"/>
          <p:cNvGraphicFramePr>
            <a:graphicFrameLocks noChangeAspect="1"/>
          </p:cNvGraphicFramePr>
          <p:nvPr/>
        </p:nvGraphicFramePr>
        <p:xfrm>
          <a:off x="6824663" y="1598613"/>
          <a:ext cx="7715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2" name="公式" r:id="rId3" imgW="342900" imgH="215900" progId="Equation.3">
                  <p:embed/>
                </p:oleObj>
              </mc:Choice>
              <mc:Fallback>
                <p:oleObj name="公式" r:id="rId3" imgW="342900" imgH="215900" progId="Equation.3">
                  <p:embed/>
                  <p:pic>
                    <p:nvPicPr>
                      <p:cNvPr id="0" name="图片 556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663" y="1598613"/>
                        <a:ext cx="77152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38" name="Line 58"/>
          <p:cNvSpPr>
            <a:spLocks noChangeShapeType="1"/>
          </p:cNvSpPr>
          <p:nvPr/>
        </p:nvSpPr>
        <p:spPr bwMode="auto">
          <a:xfrm flipV="1">
            <a:off x="6858000" y="1903413"/>
            <a:ext cx="228600" cy="762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2139" name="Object 59"/>
          <p:cNvGraphicFramePr>
            <a:graphicFrameLocks noChangeAspect="1"/>
          </p:cNvGraphicFramePr>
          <p:nvPr/>
        </p:nvGraphicFramePr>
        <p:xfrm>
          <a:off x="3562350" y="41767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3" name="公式" r:id="rId5" imgW="316865" imgH="215900" progId="Equation.3">
                  <p:embed/>
                </p:oleObj>
              </mc:Choice>
              <mc:Fallback>
                <p:oleObj name="公式" r:id="rId5" imgW="316865" imgH="215900" progId="Equation.3">
                  <p:embed/>
                  <p:pic>
                    <p:nvPicPr>
                      <p:cNvPr id="0" name="图片 556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767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40" name="Line 60"/>
          <p:cNvSpPr>
            <a:spLocks noChangeShapeType="1"/>
          </p:cNvSpPr>
          <p:nvPr/>
        </p:nvSpPr>
        <p:spPr bwMode="auto">
          <a:xfrm flipH="1">
            <a:off x="4267200" y="4418013"/>
            <a:ext cx="1524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2141" name="Object 61"/>
          <p:cNvGraphicFramePr>
            <a:graphicFrameLocks noChangeAspect="1"/>
          </p:cNvGraphicFramePr>
          <p:nvPr/>
        </p:nvGraphicFramePr>
        <p:xfrm>
          <a:off x="5495925" y="1598613"/>
          <a:ext cx="6286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4" name="公式" r:id="rId7" imgW="6705600" imgH="5181600" progId="Equation.3">
                  <p:embed/>
                </p:oleObj>
              </mc:Choice>
              <mc:Fallback>
                <p:oleObj name="公式" r:id="rId7" imgW="6705600" imgH="5181600" progId="Equation.3">
                  <p:embed/>
                  <p:pic>
                    <p:nvPicPr>
                      <p:cNvPr id="0" name="图片 556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1598613"/>
                        <a:ext cx="628650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42" name="Group 62"/>
          <p:cNvGrpSpPr/>
          <p:nvPr/>
        </p:nvGrpSpPr>
        <p:grpSpPr bwMode="auto">
          <a:xfrm>
            <a:off x="5334000" y="2055813"/>
            <a:ext cx="1752600" cy="1371600"/>
            <a:chOff x="3360" y="1968"/>
            <a:chExt cx="1104" cy="864"/>
          </a:xfrm>
        </p:grpSpPr>
        <p:sp>
          <p:nvSpPr>
            <p:cNvPr id="302143" name="Line 63"/>
            <p:cNvSpPr>
              <a:spLocks noChangeShapeType="1"/>
            </p:cNvSpPr>
            <p:nvPr/>
          </p:nvSpPr>
          <p:spPr bwMode="auto">
            <a:xfrm flipV="1">
              <a:off x="3360" y="1968"/>
              <a:ext cx="288" cy="7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144" name="Line 64"/>
            <p:cNvSpPr>
              <a:spLocks noChangeShapeType="1"/>
            </p:cNvSpPr>
            <p:nvPr/>
          </p:nvSpPr>
          <p:spPr bwMode="auto">
            <a:xfrm flipH="1" flipV="1">
              <a:off x="3744" y="1968"/>
              <a:ext cx="720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2145" name="Object 65"/>
          <p:cNvGraphicFramePr>
            <a:graphicFrameLocks noChangeAspect="1"/>
          </p:cNvGraphicFramePr>
          <p:nvPr/>
        </p:nvGraphicFramePr>
        <p:xfrm>
          <a:off x="8386763" y="33512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5" name="公式" r:id="rId9" imgW="316865" imgH="215900" progId="Equation.3">
                  <p:embed/>
                </p:oleObj>
              </mc:Choice>
              <mc:Fallback>
                <p:oleObj name="公式" r:id="rId9" imgW="316865" imgH="215900" progId="Equation.3">
                  <p:embed/>
                  <p:pic>
                    <p:nvPicPr>
                      <p:cNvPr id="0" name="图片 556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763" y="33512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46" name="Group 66"/>
          <p:cNvGrpSpPr/>
          <p:nvPr/>
        </p:nvGrpSpPr>
        <p:grpSpPr bwMode="auto">
          <a:xfrm>
            <a:off x="7620000" y="2970213"/>
            <a:ext cx="762000" cy="1676400"/>
            <a:chOff x="4800" y="2544"/>
            <a:chExt cx="480" cy="1056"/>
          </a:xfrm>
        </p:grpSpPr>
        <p:sp>
          <p:nvSpPr>
            <p:cNvPr id="302147" name="Line 67"/>
            <p:cNvSpPr>
              <a:spLocks noChangeShapeType="1"/>
            </p:cNvSpPr>
            <p:nvPr/>
          </p:nvSpPr>
          <p:spPr bwMode="auto">
            <a:xfrm>
              <a:off x="4800" y="2544"/>
              <a:ext cx="480" cy="3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148" name="Line 68"/>
            <p:cNvSpPr>
              <a:spLocks noChangeShapeType="1"/>
            </p:cNvSpPr>
            <p:nvPr/>
          </p:nvSpPr>
          <p:spPr bwMode="auto">
            <a:xfrm flipV="1">
              <a:off x="4800" y="3072"/>
              <a:ext cx="432" cy="5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2149" name="Object 69"/>
          <p:cNvGraphicFramePr>
            <a:graphicFrameLocks noChangeAspect="1"/>
          </p:cNvGraphicFramePr>
          <p:nvPr/>
        </p:nvGraphicFramePr>
        <p:xfrm>
          <a:off x="1257300" y="5257800"/>
          <a:ext cx="4714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6" name="公式" r:id="rId11" imgW="50292000" imgH="5181600" progId="Equation.3">
                  <p:embed/>
                </p:oleObj>
              </mc:Choice>
              <mc:Fallback>
                <p:oleObj name="公式" r:id="rId11" imgW="50292000" imgH="5181600" progId="Equation.3">
                  <p:embed/>
                  <p:pic>
                    <p:nvPicPr>
                      <p:cNvPr id="0" name="图片 556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5257800"/>
                        <a:ext cx="47148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50" name="Text Box 70"/>
          <p:cNvSpPr txBox="1">
            <a:spLocks noChangeArrowheads="1"/>
          </p:cNvSpPr>
          <p:nvPr/>
        </p:nvSpPr>
        <p:spPr bwMode="auto">
          <a:xfrm>
            <a:off x="1385663" y="60198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有没有问题？</a:t>
            </a:r>
            <a:endParaRPr lang="zh-CN" altLang="en-US"/>
          </a:p>
        </p:txBody>
      </p:sp>
      <p:grpSp>
        <p:nvGrpSpPr>
          <p:cNvPr id="302151" name="Group 71"/>
          <p:cNvGrpSpPr/>
          <p:nvPr/>
        </p:nvGrpSpPr>
        <p:grpSpPr bwMode="auto">
          <a:xfrm>
            <a:off x="4095526" y="6019800"/>
            <a:ext cx="2852738" cy="457200"/>
            <a:chOff x="2091" y="3792"/>
            <a:chExt cx="1797" cy="288"/>
          </a:xfrm>
        </p:grpSpPr>
        <p:graphicFrame>
          <p:nvGraphicFramePr>
            <p:cNvPr id="302152" name="Object 72"/>
            <p:cNvGraphicFramePr>
              <a:graphicFrameLocks noChangeAspect="1"/>
            </p:cNvGraphicFramePr>
            <p:nvPr/>
          </p:nvGraphicFramePr>
          <p:xfrm>
            <a:off x="2091" y="3792"/>
            <a:ext cx="48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7" name="公式" r:id="rId13" imgW="342900" imgH="215900" progId="Equation.3">
                    <p:embed/>
                  </p:oleObj>
                </mc:Choice>
                <mc:Fallback>
                  <p:oleObj name="公式" r:id="rId13" imgW="342900" imgH="215900" progId="Equation.3">
                    <p:embed/>
                    <p:pic>
                      <p:nvPicPr>
                        <p:cNvPr id="0" name="图片 556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3792"/>
                          <a:ext cx="486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2153" name="Text Box 73"/>
            <p:cNvSpPr txBox="1">
              <a:spLocks noChangeArrowheads="1"/>
            </p:cNvSpPr>
            <p:nvPr/>
          </p:nvSpPr>
          <p:spPr bwMode="auto">
            <a:xfrm>
              <a:off x="2640" y="3792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冗余</a:t>
              </a:r>
              <a:r>
                <a:rPr lang="en-US" altLang="zh-CN"/>
                <a:t>!</a:t>
              </a:r>
              <a:endParaRPr lang="en-US" altLang="zh-CN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02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0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02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302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302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29" grpId="0" animBg="1"/>
      <p:bldP spid="302130" grpId="0" animBg="1"/>
      <p:bldP spid="302138" grpId="0" animBg="1"/>
      <p:bldP spid="302140" grpId="0" animBg="1"/>
      <p:bldP spid="30215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FF91-75C9-4AC9-A9A3-F3FF948FBB54}" type="slidenum">
              <a:rPr lang="en-US" altLang="zh-CN"/>
            </a:fld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求例</a:t>
            </a:r>
            <a:r>
              <a:rPr lang="en-US" altLang="zh-CN"/>
              <a:t>2</a:t>
            </a:r>
            <a:r>
              <a:rPr lang="zh-CN" altLang="en-US"/>
              <a:t>的反函数</a:t>
            </a:r>
            <a:endParaRPr lang="zh-CN" altLang="en-US"/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/>
        </p:nvGraphicFramePr>
        <p:xfrm>
          <a:off x="447675" y="2362200"/>
          <a:ext cx="37719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7" name="公式" r:id="rId1" imgW="1675765" imgH="533400" progId="Equation.3">
                  <p:embed/>
                </p:oleObj>
              </mc:Choice>
              <mc:Fallback>
                <p:oleObj name="公式" r:id="rId1" imgW="1675765" imgH="533400" progId="Equation.3">
                  <p:embed/>
                  <p:pic>
                    <p:nvPicPr>
                      <p:cNvPr id="0" name="图片 565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2362200"/>
                        <a:ext cx="37719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65" name="Group 5"/>
          <p:cNvGrpSpPr/>
          <p:nvPr/>
        </p:nvGrpSpPr>
        <p:grpSpPr bwMode="auto">
          <a:xfrm>
            <a:off x="4419600" y="1751013"/>
            <a:ext cx="3200400" cy="3278187"/>
            <a:chOff x="2736" y="1344"/>
            <a:chExt cx="2016" cy="2065"/>
          </a:xfrm>
        </p:grpSpPr>
        <p:grpSp>
          <p:nvGrpSpPr>
            <p:cNvPr id="296966" name="Group 6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96967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6968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69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6970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71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72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6973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6974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6975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6976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77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78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6979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296980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  <a:endParaRPr lang="en-US" altLang="zh-CN" sz="2800"/>
              </a:p>
            </p:txBody>
          </p:sp>
          <p:sp>
            <p:nvSpPr>
              <p:cNvPr id="296981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82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296983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4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5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6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7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8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9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0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1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2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3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6994" name="Group 34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96995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6996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6997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6998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6999" name="Group 39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97000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1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2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3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97004" name="Group 44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97005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6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7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97008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97010" name="Rectangle 50"/>
          <p:cNvSpPr>
            <a:spLocks noChangeArrowheads="1"/>
          </p:cNvSpPr>
          <p:nvPr/>
        </p:nvSpPr>
        <p:spPr bwMode="auto">
          <a:xfrm>
            <a:off x="5791200" y="3884613"/>
            <a:ext cx="533400" cy="9906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013" name="Group 53"/>
          <p:cNvGrpSpPr/>
          <p:nvPr/>
        </p:nvGrpSpPr>
        <p:grpSpPr bwMode="auto">
          <a:xfrm>
            <a:off x="5181600" y="3198813"/>
            <a:ext cx="2362200" cy="457200"/>
            <a:chOff x="3648" y="2592"/>
            <a:chExt cx="1488" cy="288"/>
          </a:xfrm>
        </p:grpSpPr>
        <p:sp>
          <p:nvSpPr>
            <p:cNvPr id="297011" name="Rectangle 51"/>
            <p:cNvSpPr>
              <a:spLocks noChangeArrowheads="1"/>
            </p:cNvSpPr>
            <p:nvPr/>
          </p:nvSpPr>
          <p:spPr bwMode="auto">
            <a:xfrm>
              <a:off x="48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12" name="Rectangle 52"/>
            <p:cNvSpPr>
              <a:spLocks noChangeArrowheads="1"/>
            </p:cNvSpPr>
            <p:nvPr/>
          </p:nvSpPr>
          <p:spPr bwMode="auto">
            <a:xfrm>
              <a:off x="36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16" name="Group 56"/>
          <p:cNvGrpSpPr/>
          <p:nvPr/>
        </p:nvGrpSpPr>
        <p:grpSpPr bwMode="auto">
          <a:xfrm>
            <a:off x="7086600" y="2589213"/>
            <a:ext cx="533400" cy="2362200"/>
            <a:chOff x="4848" y="2208"/>
            <a:chExt cx="336" cy="1488"/>
          </a:xfrm>
        </p:grpSpPr>
        <p:sp>
          <p:nvSpPr>
            <p:cNvPr id="297014" name="Rectangle 54"/>
            <p:cNvSpPr>
              <a:spLocks noChangeArrowheads="1"/>
            </p:cNvSpPr>
            <p:nvPr/>
          </p:nvSpPr>
          <p:spPr bwMode="auto">
            <a:xfrm>
              <a:off x="4848" y="3360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15" name="Rectangle 55"/>
            <p:cNvSpPr>
              <a:spLocks noChangeArrowheads="1"/>
            </p:cNvSpPr>
            <p:nvPr/>
          </p:nvSpPr>
          <p:spPr bwMode="auto">
            <a:xfrm>
              <a:off x="4848" y="2208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7019" name="Object 59"/>
          <p:cNvGraphicFramePr>
            <a:graphicFrameLocks noChangeAspect="1"/>
          </p:cNvGraphicFramePr>
          <p:nvPr/>
        </p:nvGraphicFramePr>
        <p:xfrm>
          <a:off x="3562350" y="41767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8" name="公式" r:id="rId3" imgW="316865" imgH="215900" progId="Equation.3">
                  <p:embed/>
                </p:oleObj>
              </mc:Choice>
              <mc:Fallback>
                <p:oleObj name="公式" r:id="rId3" imgW="316865" imgH="215900" progId="Equation.3">
                  <p:embed/>
                  <p:pic>
                    <p:nvPicPr>
                      <p:cNvPr id="0" name="图片 565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767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0" name="Line 60"/>
          <p:cNvSpPr>
            <a:spLocks noChangeShapeType="1"/>
          </p:cNvSpPr>
          <p:nvPr/>
        </p:nvSpPr>
        <p:spPr bwMode="auto">
          <a:xfrm flipH="1">
            <a:off x="4267200" y="4418013"/>
            <a:ext cx="1524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021" name="Object 61"/>
          <p:cNvGraphicFramePr>
            <a:graphicFrameLocks noChangeAspect="1"/>
          </p:cNvGraphicFramePr>
          <p:nvPr/>
        </p:nvGraphicFramePr>
        <p:xfrm>
          <a:off x="5453063" y="15986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69" name="公式" r:id="rId5" imgW="7620000" imgH="5181600" progId="Equation.3">
                  <p:embed/>
                </p:oleObj>
              </mc:Choice>
              <mc:Fallback>
                <p:oleObj name="公式" r:id="rId5" imgW="7620000" imgH="5181600" progId="Equation.3">
                  <p:embed/>
                  <p:pic>
                    <p:nvPicPr>
                      <p:cNvPr id="0" name="图片 565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15986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4" name="Group 64"/>
          <p:cNvGrpSpPr/>
          <p:nvPr/>
        </p:nvGrpSpPr>
        <p:grpSpPr bwMode="auto">
          <a:xfrm>
            <a:off x="5334000" y="2055813"/>
            <a:ext cx="1752600" cy="1371600"/>
            <a:chOff x="3360" y="1968"/>
            <a:chExt cx="1104" cy="864"/>
          </a:xfrm>
        </p:grpSpPr>
        <p:sp>
          <p:nvSpPr>
            <p:cNvPr id="297022" name="Line 62"/>
            <p:cNvSpPr>
              <a:spLocks noChangeShapeType="1"/>
            </p:cNvSpPr>
            <p:nvPr/>
          </p:nvSpPr>
          <p:spPr bwMode="auto">
            <a:xfrm flipV="1">
              <a:off x="3360" y="1968"/>
              <a:ext cx="288" cy="7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3" name="Line 63"/>
            <p:cNvSpPr>
              <a:spLocks noChangeShapeType="1"/>
            </p:cNvSpPr>
            <p:nvPr/>
          </p:nvSpPr>
          <p:spPr bwMode="auto">
            <a:xfrm flipH="1" flipV="1">
              <a:off x="3744" y="1968"/>
              <a:ext cx="720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5" name="Object 65"/>
          <p:cNvGraphicFramePr>
            <a:graphicFrameLocks noChangeAspect="1"/>
          </p:cNvGraphicFramePr>
          <p:nvPr/>
        </p:nvGraphicFramePr>
        <p:xfrm>
          <a:off x="8386763" y="33512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0" name="公式" r:id="rId7" imgW="316865" imgH="215900" progId="Equation.3">
                  <p:embed/>
                </p:oleObj>
              </mc:Choice>
              <mc:Fallback>
                <p:oleObj name="公式" r:id="rId7" imgW="316865" imgH="215900" progId="Equation.3">
                  <p:embed/>
                  <p:pic>
                    <p:nvPicPr>
                      <p:cNvPr id="0" name="图片 565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763" y="33512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8" name="Group 68"/>
          <p:cNvGrpSpPr/>
          <p:nvPr/>
        </p:nvGrpSpPr>
        <p:grpSpPr bwMode="auto">
          <a:xfrm>
            <a:off x="7620000" y="2970213"/>
            <a:ext cx="762000" cy="1676400"/>
            <a:chOff x="4800" y="2544"/>
            <a:chExt cx="480" cy="1056"/>
          </a:xfrm>
        </p:grpSpPr>
        <p:sp>
          <p:nvSpPr>
            <p:cNvPr id="297026" name="Line 66"/>
            <p:cNvSpPr>
              <a:spLocks noChangeShapeType="1"/>
            </p:cNvSpPr>
            <p:nvPr/>
          </p:nvSpPr>
          <p:spPr bwMode="auto">
            <a:xfrm>
              <a:off x="4800" y="2544"/>
              <a:ext cx="480" cy="3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7" name="Line 67"/>
            <p:cNvSpPr>
              <a:spLocks noChangeShapeType="1"/>
            </p:cNvSpPr>
            <p:nvPr/>
          </p:nvSpPr>
          <p:spPr bwMode="auto">
            <a:xfrm flipV="1">
              <a:off x="4800" y="3072"/>
              <a:ext cx="432" cy="5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9" name="Object 69"/>
          <p:cNvGraphicFramePr>
            <a:graphicFrameLocks noChangeAspect="1"/>
          </p:cNvGraphicFramePr>
          <p:nvPr/>
        </p:nvGraphicFramePr>
        <p:xfrm>
          <a:off x="1647825" y="5715000"/>
          <a:ext cx="36004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71" name="公式" r:id="rId9" imgW="38404800" imgH="5181600" progId="Equation.3">
                  <p:embed/>
                </p:oleObj>
              </mc:Choice>
              <mc:Fallback>
                <p:oleObj name="公式" r:id="rId9" imgW="38404800" imgH="5181600" progId="Equation.3">
                  <p:embed/>
                  <p:pic>
                    <p:nvPicPr>
                      <p:cNvPr id="0" name="图片 565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5715000"/>
                        <a:ext cx="36004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970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297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9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97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9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0" grpId="0" animBg="1"/>
      <p:bldP spid="2970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8737-4B62-4E88-ACF2-18B07A323E04}" type="slidenum">
              <a:rPr lang="en-US" altLang="zh-CN"/>
            </a:fld>
            <a:endParaRPr lang="en-US" altLang="zh-CN"/>
          </a:p>
        </p:txBody>
      </p:sp>
      <p:sp>
        <p:nvSpPr>
          <p:cNvPr id="300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4953000"/>
          </a:xfrm>
        </p:spPr>
        <p:txBody>
          <a:bodyPr>
            <a:normAutofit fontScale="92500"/>
          </a:bodyPr>
          <a:lstStyle/>
          <a:p>
            <a:pPr marL="609600" indent="-609600"/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r>
              <a:rPr lang="en-US" altLang="zh-CN" dirty="0"/>
              <a:t>——</a:t>
            </a:r>
            <a:r>
              <a:rPr lang="zh-CN" altLang="en-US" dirty="0"/>
              <a:t>小结</a:t>
            </a:r>
            <a:endParaRPr lang="zh-CN" altLang="en-US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公式法：</a:t>
            </a:r>
            <a:r>
              <a:rPr lang="zh-CN" altLang="en-US" sz="2400" b="0" dirty="0"/>
              <a:t>计算复杂，容易出错；难判断最简</a:t>
            </a:r>
            <a:endParaRPr lang="zh-CN" altLang="en-US" sz="2400" b="0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图解法：</a:t>
            </a:r>
            <a:r>
              <a:rPr lang="zh-CN" altLang="en-US" sz="2400" b="0" dirty="0"/>
              <a:t>直观明了，过程简单，易判断最简；变量数</a:t>
            </a:r>
            <a:r>
              <a:rPr lang="zh-CN" altLang="en-US" sz="2400" b="0" dirty="0">
                <a:sym typeface="Symbol" panose="05050102010706020507" pitchFamily="18" charset="2"/>
              </a:rPr>
              <a:t></a:t>
            </a:r>
            <a:r>
              <a:rPr lang="en-US" altLang="zh-CN" sz="2400" b="0" dirty="0"/>
              <a:t>4</a:t>
            </a:r>
            <a:endParaRPr lang="en-US" altLang="zh-CN" sz="2400" b="0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最小项、最大项：</a:t>
            </a:r>
            <a:r>
              <a:rPr lang="zh-CN" altLang="en-US" sz="2400" dirty="0"/>
              <a:t>性质，对函数的表示</a:t>
            </a:r>
            <a:endParaRPr lang="zh-CN" altLang="en-US" sz="2400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图解法化简逻辑函数的规则</a:t>
            </a:r>
            <a:endParaRPr lang="zh-CN" altLang="en-US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图解法求解反函数</a:t>
            </a:r>
            <a:endParaRPr lang="zh-CN" altLang="en-US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图解法化简包含无关项的逻辑函数</a:t>
            </a:r>
            <a:endParaRPr lang="zh-CN" altLang="en-US" dirty="0"/>
          </a:p>
          <a:p>
            <a:pPr marL="952500" lvl="1" indent="-495300"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图解法求解包含无关项的反函数</a:t>
            </a:r>
            <a:endParaRPr lang="zh-CN" altLang="en-US" dirty="0"/>
          </a:p>
          <a:p>
            <a:pPr marL="457200" lvl="1" indent="0">
              <a:spcBef>
                <a:spcPct val="2000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53E9-2D63-441D-8F8F-1FFDCC8990BB}" type="slidenum">
              <a:rPr lang="en-US" altLang="zh-CN"/>
            </a:fld>
            <a:endParaRPr lang="en-US" altLang="zh-CN"/>
          </a:p>
        </p:txBody>
      </p:sp>
      <p:sp>
        <p:nvSpPr>
          <p:cNvPr id="218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412776"/>
            <a:ext cx="8003232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2.4 </a:t>
            </a:r>
            <a:r>
              <a:rPr lang="zh-CN" altLang="en-US" dirty="0">
                <a:solidFill>
                  <a:srgbClr val="00B0F0"/>
                </a:solidFill>
              </a:rPr>
              <a:t>逻辑函数的表格法化简</a:t>
            </a:r>
            <a:r>
              <a:rPr lang="en-US" altLang="zh-CN" dirty="0">
                <a:solidFill>
                  <a:srgbClr val="00B0F0"/>
                </a:solidFill>
              </a:rPr>
              <a:t>(Q-M</a:t>
            </a:r>
            <a:r>
              <a:rPr lang="zh-CN" altLang="en-US" dirty="0">
                <a:solidFill>
                  <a:srgbClr val="00B0F0"/>
                </a:solidFill>
              </a:rPr>
              <a:t>法 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  <a:endParaRPr lang="en-US" altLang="zh-CN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9EA39-759E-44F2-8D9A-F5F9048E6112}" type="slidenum">
              <a:rPr lang="en-US" altLang="zh-CN"/>
            </a:fld>
            <a:endParaRPr lang="en-US" altLang="zh-CN"/>
          </a:p>
        </p:txBody>
      </p:sp>
      <p:sp>
        <p:nvSpPr>
          <p:cNvPr id="2160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609600" indent="-609600"/>
            <a:r>
              <a:rPr lang="en-US" altLang="zh-CN"/>
              <a:t>2.4 </a:t>
            </a:r>
            <a:r>
              <a:rPr lang="zh-CN" altLang="en-US"/>
              <a:t>逻辑函数的表格法化简</a:t>
            </a:r>
            <a:r>
              <a:rPr lang="en-US" altLang="zh-CN"/>
              <a:t>(Q-M</a:t>
            </a:r>
            <a:r>
              <a:rPr lang="zh-CN" altLang="en-US"/>
              <a:t>法</a:t>
            </a:r>
            <a:r>
              <a:rPr lang="en-US" altLang="zh-CN"/>
              <a:t>)</a:t>
            </a:r>
            <a:endParaRPr lang="en-US" altLang="zh-CN"/>
          </a:p>
          <a:p>
            <a:pPr marL="952500" lvl="1" indent="-495300">
              <a:spcBef>
                <a:spcPct val="20000"/>
              </a:spcBef>
            </a:pPr>
            <a:r>
              <a:rPr lang="zh-CN" altLang="en-US"/>
              <a:t>公式法：</a:t>
            </a:r>
            <a:endParaRPr lang="zh-CN" altLang="en-US"/>
          </a:p>
          <a:p>
            <a:pPr marL="1371600" lvl="2" indent="-457200"/>
            <a:r>
              <a:rPr lang="zh-CN" altLang="en-US" sz="2200" b="1"/>
              <a:t>计算复杂，容易出错；</a:t>
            </a:r>
            <a:endParaRPr lang="zh-CN" altLang="en-US" sz="2200" b="1"/>
          </a:p>
          <a:p>
            <a:pPr marL="1371600" lvl="2" indent="-457200"/>
            <a:r>
              <a:rPr lang="zh-CN" altLang="en-US" sz="2200" b="1"/>
              <a:t>难判断最简</a:t>
            </a:r>
            <a:endParaRPr lang="zh-CN" altLang="en-US" sz="2200" b="1"/>
          </a:p>
          <a:p>
            <a:pPr marL="952500" lvl="1" indent="-495300">
              <a:spcBef>
                <a:spcPct val="20000"/>
              </a:spcBef>
            </a:pPr>
            <a:r>
              <a:rPr lang="zh-CN" altLang="en-US"/>
              <a:t>图解法：</a:t>
            </a:r>
            <a:endParaRPr lang="zh-CN" altLang="en-US"/>
          </a:p>
          <a:p>
            <a:pPr marL="1371600" lvl="2" indent="-457200"/>
            <a:r>
              <a:rPr lang="zh-CN" altLang="en-US" sz="2200" b="1"/>
              <a:t>直观明了，过程简单</a:t>
            </a:r>
            <a:r>
              <a:rPr lang="en-US" altLang="zh-CN" sz="2200" b="1"/>
              <a:t>;</a:t>
            </a:r>
            <a:endParaRPr lang="en-US" altLang="zh-CN" sz="2200" b="1"/>
          </a:p>
          <a:p>
            <a:pPr marL="1371600" lvl="2" indent="-457200"/>
            <a:r>
              <a:rPr lang="zh-CN" altLang="en-US" sz="2200" b="1"/>
              <a:t>易判断最简；变量数</a:t>
            </a:r>
            <a:r>
              <a:rPr lang="zh-CN" altLang="en-US" sz="2200" b="1">
                <a:sym typeface="Symbol" panose="05050102010706020507" pitchFamily="18" charset="2"/>
              </a:rPr>
              <a:t></a:t>
            </a:r>
            <a:r>
              <a:rPr lang="en-US" altLang="zh-CN" sz="2200" b="1"/>
              <a:t>4</a:t>
            </a:r>
            <a:r>
              <a:rPr lang="en-US" altLang="zh-CN" b="1"/>
              <a:t> 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72AE-D3D5-4BC0-9530-6F1DAF5621E6}" type="slidenum">
              <a:rPr lang="en-US" altLang="zh-CN"/>
            </a:fld>
            <a:endParaRPr lang="en-US" altLang="zh-CN"/>
          </a:p>
        </p:txBody>
      </p:sp>
      <p:sp>
        <p:nvSpPr>
          <p:cNvPr id="306180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多变量函数（变量个数</a:t>
            </a:r>
            <a:r>
              <a:rPr lang="en-US" altLang="zh-CN">
                <a:cs typeface="Times New Roman" panose="02020603050405020304" pitchFamily="18" charset="0"/>
              </a:rPr>
              <a:t>&gt;=5</a:t>
            </a:r>
            <a:r>
              <a:rPr lang="zh-CN" altLang="en-US"/>
              <a:t>）如何化简？</a:t>
            </a:r>
            <a:endParaRPr lang="zh-CN" altLang="en-US"/>
          </a:p>
        </p:txBody>
      </p:sp>
      <p:sp>
        <p:nvSpPr>
          <p:cNvPr id="306182" name="Rectangle 6"/>
          <p:cNvSpPr>
            <a:spLocks noChangeArrowheads="1"/>
          </p:cNvSpPr>
          <p:nvPr/>
        </p:nvSpPr>
        <p:spPr bwMode="auto">
          <a:xfrm>
            <a:off x="286072" y="2780928"/>
            <a:ext cx="455295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用新的工具完成：计算机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6183" name="Rectangle 7"/>
          <p:cNvSpPr>
            <a:spLocks noChangeArrowheads="1"/>
          </p:cNvSpPr>
          <p:nvPr/>
        </p:nvSpPr>
        <p:spPr bwMode="auto">
          <a:xfrm>
            <a:off x="286072" y="3619128"/>
            <a:ext cx="8534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我们能否从公式法和图解法中得到某些启示呢？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2" grpId="0" autoUpdateAnimBg="0"/>
      <p:bldP spid="30618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1203-6278-4365-9A59-556C24BFFE71}" type="slidenum">
              <a:rPr lang="en-US" altLang="zh-CN"/>
            </a:fld>
            <a:endParaRPr lang="en-US" altLang="zh-CN"/>
          </a:p>
        </p:txBody>
      </p:sp>
      <p:sp>
        <p:nvSpPr>
          <p:cNvPr id="304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化简函数</a:t>
            </a:r>
            <a:endParaRPr lang="zh-CN" altLang="en-US"/>
          </a:p>
        </p:txBody>
      </p:sp>
      <p:graphicFrame>
        <p:nvGraphicFramePr>
          <p:cNvPr id="304132" name="Object 4"/>
          <p:cNvGraphicFramePr>
            <a:graphicFrameLocks noChangeAspect="1"/>
          </p:cNvGraphicFramePr>
          <p:nvPr/>
        </p:nvGraphicFramePr>
        <p:xfrm>
          <a:off x="844550" y="21193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8" name="公式" r:id="rId1" imgW="2057400" imgH="266700" progId="Equation.3">
                  <p:embed/>
                </p:oleObj>
              </mc:Choice>
              <mc:Fallback>
                <p:oleObj name="公式" r:id="rId1" imgW="2057400" imgH="266700" progId="Equation.3">
                  <p:embed/>
                  <p:pic>
                    <p:nvPicPr>
                      <p:cNvPr id="0" name="图片 576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1193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3" name="Object 5"/>
          <p:cNvGraphicFramePr>
            <a:graphicFrameLocks noChangeAspect="1"/>
          </p:cNvGraphicFramePr>
          <p:nvPr/>
        </p:nvGraphicFramePr>
        <p:xfrm>
          <a:off x="831850" y="2819400"/>
          <a:ext cx="674211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29" name="公式" r:id="rId3" imgW="3060700" imgH="508000" progId="Equation.3">
                  <p:embed/>
                </p:oleObj>
              </mc:Choice>
              <mc:Fallback>
                <p:oleObj name="公式" r:id="rId3" imgW="3060700" imgH="508000" progId="Equation.3">
                  <p:embed/>
                  <p:pic>
                    <p:nvPicPr>
                      <p:cNvPr id="0" name="图片 57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2819400"/>
                        <a:ext cx="674211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96" name="Rectangle 68"/>
          <p:cNvSpPr>
            <a:spLocks noChangeArrowheads="1"/>
          </p:cNvSpPr>
          <p:nvPr/>
        </p:nvSpPr>
        <p:spPr bwMode="auto">
          <a:xfrm>
            <a:off x="1447800" y="27432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97" name="Rectangle 69"/>
          <p:cNvSpPr>
            <a:spLocks noChangeArrowheads="1"/>
          </p:cNvSpPr>
          <p:nvPr/>
        </p:nvSpPr>
        <p:spPr bwMode="auto">
          <a:xfrm>
            <a:off x="1752600" y="33528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00" name="Rectangle 72"/>
          <p:cNvSpPr>
            <a:spLocks noChangeArrowheads="1"/>
          </p:cNvSpPr>
          <p:nvPr/>
        </p:nvSpPr>
        <p:spPr bwMode="auto">
          <a:xfrm>
            <a:off x="5181600" y="27432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01" name="Rectangle 73"/>
          <p:cNvSpPr>
            <a:spLocks noChangeArrowheads="1"/>
          </p:cNvSpPr>
          <p:nvPr/>
        </p:nvSpPr>
        <p:spPr bwMode="auto">
          <a:xfrm>
            <a:off x="6400800" y="27432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4204" name="Object 76"/>
          <p:cNvGraphicFramePr>
            <a:graphicFrameLocks noChangeAspect="1"/>
          </p:cNvGraphicFramePr>
          <p:nvPr/>
        </p:nvGraphicFramePr>
        <p:xfrm>
          <a:off x="2132013" y="4114800"/>
          <a:ext cx="4140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0" name="公式" r:id="rId5" imgW="1879600" imgH="215900" progId="Equation.3">
                  <p:embed/>
                </p:oleObj>
              </mc:Choice>
              <mc:Fallback>
                <p:oleObj name="公式" r:id="rId5" imgW="1879600" imgH="215900" progId="Equation.3">
                  <p:embed/>
                  <p:pic>
                    <p:nvPicPr>
                      <p:cNvPr id="0" name="图片 57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114800"/>
                        <a:ext cx="41402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213" name="Rectangle 85"/>
          <p:cNvSpPr>
            <a:spLocks noChangeArrowheads="1"/>
          </p:cNvSpPr>
          <p:nvPr/>
        </p:nvSpPr>
        <p:spPr bwMode="auto">
          <a:xfrm>
            <a:off x="2971800" y="33528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4" name="Rectangle 86"/>
          <p:cNvSpPr>
            <a:spLocks noChangeArrowheads="1"/>
          </p:cNvSpPr>
          <p:nvPr/>
        </p:nvSpPr>
        <p:spPr bwMode="auto">
          <a:xfrm>
            <a:off x="4191000" y="33528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6" name="Rectangle 88"/>
          <p:cNvSpPr>
            <a:spLocks noChangeArrowheads="1"/>
          </p:cNvSpPr>
          <p:nvPr/>
        </p:nvSpPr>
        <p:spPr bwMode="auto">
          <a:xfrm>
            <a:off x="2743200" y="2743200"/>
            <a:ext cx="10668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7" name="Rectangle 89"/>
          <p:cNvSpPr>
            <a:spLocks noChangeArrowheads="1"/>
          </p:cNvSpPr>
          <p:nvPr/>
        </p:nvSpPr>
        <p:spPr bwMode="auto">
          <a:xfrm>
            <a:off x="3962400" y="2743200"/>
            <a:ext cx="10668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9" name="Rectangle 91"/>
          <p:cNvSpPr>
            <a:spLocks noChangeArrowheads="1"/>
          </p:cNvSpPr>
          <p:nvPr/>
        </p:nvSpPr>
        <p:spPr bwMode="auto">
          <a:xfrm>
            <a:off x="4614664" y="4114800"/>
            <a:ext cx="5334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20" name="Rectangle 92"/>
          <p:cNvSpPr>
            <a:spLocks noChangeArrowheads="1"/>
          </p:cNvSpPr>
          <p:nvPr/>
        </p:nvSpPr>
        <p:spPr bwMode="auto">
          <a:xfrm>
            <a:off x="5364088" y="41148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4221" name="Object 93"/>
          <p:cNvGraphicFramePr>
            <a:graphicFrameLocks noChangeAspect="1"/>
          </p:cNvGraphicFramePr>
          <p:nvPr/>
        </p:nvGraphicFramePr>
        <p:xfrm>
          <a:off x="2124075" y="4752975"/>
          <a:ext cx="4222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1" name="公式" r:id="rId7" imgW="1917700" imgH="241300" progId="Equation.3">
                  <p:embed/>
                </p:oleObj>
              </mc:Choice>
              <mc:Fallback>
                <p:oleObj name="公式" r:id="rId7" imgW="1917700" imgH="241300" progId="Equation.3">
                  <p:embed/>
                  <p:pic>
                    <p:nvPicPr>
                      <p:cNvPr id="0" name="图片 576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52975"/>
                        <a:ext cx="4222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222" name="Object 94"/>
          <p:cNvGraphicFramePr>
            <a:graphicFrameLocks noChangeAspect="1"/>
          </p:cNvGraphicFramePr>
          <p:nvPr/>
        </p:nvGraphicFramePr>
        <p:xfrm>
          <a:off x="2123728" y="5334000"/>
          <a:ext cx="40560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2" name="公式" r:id="rId9" imgW="1841500" imgH="241300" progId="Equation.3">
                  <p:embed/>
                </p:oleObj>
              </mc:Choice>
              <mc:Fallback>
                <p:oleObj name="公式" r:id="rId9" imgW="1841500" imgH="241300" progId="Equation.3">
                  <p:embed/>
                  <p:pic>
                    <p:nvPicPr>
                      <p:cNvPr id="0" name="图片 576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5334000"/>
                        <a:ext cx="40560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223" name="Object 95"/>
          <p:cNvGraphicFramePr>
            <a:graphicFrameLocks noChangeAspect="1"/>
          </p:cNvGraphicFramePr>
          <p:nvPr/>
        </p:nvGraphicFramePr>
        <p:xfrm>
          <a:off x="2113830" y="5894388"/>
          <a:ext cx="39703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3" name="公式" r:id="rId11" imgW="1803400" imgH="215900" progId="Equation.3">
                  <p:embed/>
                </p:oleObj>
              </mc:Choice>
              <mc:Fallback>
                <p:oleObj name="公式" r:id="rId11" imgW="1803400" imgH="215900" progId="Equation.3">
                  <p:embed/>
                  <p:pic>
                    <p:nvPicPr>
                      <p:cNvPr id="0" name="图片 576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830" y="5894388"/>
                        <a:ext cx="397033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0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96" grpId="0" animBg="1"/>
      <p:bldP spid="304197" grpId="0" animBg="1"/>
      <p:bldP spid="304200" grpId="0" animBg="1"/>
      <p:bldP spid="304201" grpId="0" animBg="1"/>
      <p:bldP spid="304213" grpId="0" animBg="1"/>
      <p:bldP spid="304214" grpId="0" animBg="1"/>
      <p:bldP spid="304216" grpId="0" animBg="1"/>
      <p:bldP spid="304217" grpId="0" animBg="1"/>
      <p:bldP spid="304219" grpId="0" animBg="1"/>
      <p:bldP spid="3042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532F1-7A55-4FF9-8010-4D53DEA53D6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082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如何利用计算机进行函数化简？</a:t>
            </a:r>
            <a:endParaRPr lang="zh-CN" altLang="en-US"/>
          </a:p>
        </p:txBody>
      </p:sp>
      <p:sp>
        <p:nvSpPr>
          <p:cNvPr id="308228" name="Rectangle 4"/>
          <p:cNvSpPr>
            <a:spLocks noChangeArrowheads="1"/>
          </p:cNvSpPr>
          <p:nvPr/>
        </p:nvSpPr>
        <p:spPr bwMode="auto">
          <a:xfrm>
            <a:off x="847997" y="3352800"/>
            <a:ext cx="4957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能否从公式法有所发现？</a:t>
            </a:r>
            <a:endParaRPr lang="zh-CN" altLang="en-US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8229" name="Rectangle 5"/>
          <p:cNvSpPr>
            <a:spLocks noChangeArrowheads="1"/>
          </p:cNvSpPr>
          <p:nvPr/>
        </p:nvSpPr>
        <p:spPr bwMode="auto">
          <a:xfrm>
            <a:off x="533400" y="2135188"/>
            <a:ext cx="32146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>
                <a:latin typeface="华文新魏" panose="02010800040101010101" pitchFamily="2" charset="-122"/>
                <a:ea typeface="华文新魏" panose="02010800040101010101" pitchFamily="2" charset="-122"/>
              </a:rPr>
              <a:t>计算机的特点：</a:t>
            </a:r>
            <a:endParaRPr lang="zh-CN" altLang="en-US" sz="26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8230" name="Rectangle 6"/>
          <p:cNvSpPr>
            <a:spLocks noChangeArrowheads="1"/>
          </p:cNvSpPr>
          <p:nvPr/>
        </p:nvSpPr>
        <p:spPr bwMode="auto">
          <a:xfrm>
            <a:off x="838200" y="2667000"/>
            <a:ext cx="4843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适合做重复而又复杂的工作！</a:t>
            </a:r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08292" name="Object 68"/>
          <p:cNvGraphicFramePr>
            <a:graphicFrameLocks noChangeAspect="1"/>
          </p:cNvGraphicFramePr>
          <p:nvPr/>
        </p:nvGraphicFramePr>
        <p:xfrm>
          <a:off x="831850" y="4114800"/>
          <a:ext cx="674211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7" name="公式" r:id="rId1" imgW="3060700" imgH="508000" progId="Equation.3">
                  <p:embed/>
                </p:oleObj>
              </mc:Choice>
              <mc:Fallback>
                <p:oleObj name="公式" r:id="rId1" imgW="3060700" imgH="508000" progId="Equation.3">
                  <p:embed/>
                  <p:pic>
                    <p:nvPicPr>
                      <p:cNvPr id="0" name="图片 58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114800"/>
                        <a:ext cx="674211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93" name="Rectangle 69"/>
          <p:cNvSpPr>
            <a:spLocks noChangeArrowheads="1"/>
          </p:cNvSpPr>
          <p:nvPr/>
        </p:nvSpPr>
        <p:spPr bwMode="auto">
          <a:xfrm>
            <a:off x="1000397" y="5410200"/>
            <a:ext cx="7184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教给计算机学习公式，并识别合并项，不太容易！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8" grpId="0" autoUpdateAnimBg="0"/>
      <p:bldP spid="308229" grpId="0" autoUpdateAnimBg="0"/>
      <p:bldP spid="308230" grpId="0" autoUpdateAnimBg="0"/>
      <p:bldP spid="308293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8E2DE-21E4-4AC6-9F41-9BD142EEC872}" type="slidenum">
              <a:rPr lang="en-US" altLang="zh-CN"/>
            </a:fld>
            <a:endParaRPr lang="en-US" altLang="zh-CN"/>
          </a:p>
        </p:txBody>
      </p:sp>
      <p:graphicFrame>
        <p:nvGraphicFramePr>
          <p:cNvPr id="30720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295400" y="5729288"/>
          <a:ext cx="5238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88" name="公式" r:id="rId1" imgW="1981200" imgH="215900" progId="Equation.3">
                  <p:embed/>
                </p:oleObj>
              </mc:Choice>
              <mc:Fallback>
                <p:oleObj name="公式" r:id="rId1" imgW="1981200" imgH="215900" progId="Equation.3">
                  <p:embed/>
                  <p:pic>
                    <p:nvPicPr>
                      <p:cNvPr id="0" name="图片 596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729288"/>
                        <a:ext cx="5238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92" name="Group 92"/>
          <p:cNvGrpSpPr/>
          <p:nvPr/>
        </p:nvGrpSpPr>
        <p:grpSpPr bwMode="auto">
          <a:xfrm>
            <a:off x="3810000" y="1981200"/>
            <a:ext cx="3338513" cy="3448050"/>
            <a:chOff x="1584" y="1248"/>
            <a:chExt cx="2103" cy="2172"/>
          </a:xfrm>
        </p:grpSpPr>
        <p:sp>
          <p:nvSpPr>
            <p:cNvPr id="307237" name="Text Box 37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38" name="Text Box 38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39" name="Text Box 39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40" name="Text Box 40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42" name="Text Box 42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43" name="Text Box 43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44" name="Text Box 44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07245" name="Text Box 45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grpSp>
          <p:nvGrpSpPr>
            <p:cNvPr id="307291" name="Group 91"/>
            <p:cNvGrpSpPr/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07290" name="Group 90"/>
              <p:cNvGrpSpPr/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07206" name="Group 6"/>
                <p:cNvGrpSpPr/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07207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08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0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0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2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6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8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9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0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1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2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3" name="Line 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247" name="Rectangle 47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49" name="Rectangle 49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0" name="Rectangle 50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1" name="Rectangle 51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2" name="Rectangle 52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3" name="Rectangle 53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4" name="Rectangle 54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5" name="Rectangle 55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6" name="Rectangle 56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7" name="Rectangle 57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8" name="Rectangle 58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59" name="Rectangle 59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07260" name="Rectangle 60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61" name="Rectangle 61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7262" name="Rectangle 62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7263" name="Group 63"/>
              <p:cNvGrpSpPr/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07264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B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0726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A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07266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D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0726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C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</p:grpSp>
      </p:grpSp>
      <p:sp>
        <p:nvSpPr>
          <p:cNvPr id="307284" name="Rectangle 84"/>
          <p:cNvSpPr>
            <a:spLocks noChangeArrowheads="1"/>
          </p:cNvSpPr>
          <p:nvPr/>
        </p:nvSpPr>
        <p:spPr bwMode="auto">
          <a:xfrm>
            <a:off x="304800" y="990600"/>
            <a:ext cx="8610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化简函数：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kumimoji="0"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卡诺图</a:t>
            </a:r>
            <a:endParaRPr kumimoji="0"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07285" name="Object 85"/>
          <p:cNvGraphicFramePr>
            <a:graphicFrameLocks noChangeAspect="1"/>
          </p:cNvGraphicFramePr>
          <p:nvPr/>
        </p:nvGraphicFramePr>
        <p:xfrm>
          <a:off x="539750" y="15097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89" name="公式" r:id="rId3" imgW="2057400" imgH="266700" progId="Equation.3">
                  <p:embed/>
                </p:oleObj>
              </mc:Choice>
              <mc:Fallback>
                <p:oleObj name="公式" r:id="rId3" imgW="2057400" imgH="266700" progId="Equation.3">
                  <p:embed/>
                  <p:pic>
                    <p:nvPicPr>
                      <p:cNvPr id="0" name="图片 596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5097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3" name="Rectangle 93"/>
          <p:cNvSpPr>
            <a:spLocks noChangeArrowheads="1"/>
          </p:cNvSpPr>
          <p:nvPr/>
        </p:nvSpPr>
        <p:spPr bwMode="auto">
          <a:xfrm>
            <a:off x="4648200" y="4191000"/>
            <a:ext cx="1066800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4" name="Line 94"/>
          <p:cNvSpPr>
            <a:spLocks noChangeShapeType="1"/>
          </p:cNvSpPr>
          <p:nvPr/>
        </p:nvSpPr>
        <p:spPr bwMode="auto">
          <a:xfrm flipH="1" flipV="1">
            <a:off x="3200400" y="4495800"/>
            <a:ext cx="144780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295" name="Object 95"/>
          <p:cNvGraphicFramePr>
            <a:graphicFrameLocks noChangeAspect="1"/>
          </p:cNvGraphicFramePr>
          <p:nvPr/>
        </p:nvGraphicFramePr>
        <p:xfrm>
          <a:off x="2532063" y="4097338"/>
          <a:ext cx="673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90" name="公式" r:id="rId5" imgW="241300" imgH="215900" progId="Equation.3">
                  <p:embed/>
                </p:oleObj>
              </mc:Choice>
              <mc:Fallback>
                <p:oleObj name="公式" r:id="rId5" imgW="241300" imgH="215900" progId="Equation.3">
                  <p:embed/>
                  <p:pic>
                    <p:nvPicPr>
                      <p:cNvPr id="0" name="图片 596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4097338"/>
                        <a:ext cx="673100" cy="60166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98" name="Group 98"/>
          <p:cNvGrpSpPr/>
          <p:nvPr/>
        </p:nvGrpSpPr>
        <p:grpSpPr bwMode="auto">
          <a:xfrm>
            <a:off x="6629400" y="2895600"/>
            <a:ext cx="381000" cy="2438400"/>
            <a:chOff x="3360" y="1824"/>
            <a:chExt cx="240" cy="1536"/>
          </a:xfrm>
        </p:grpSpPr>
        <p:sp>
          <p:nvSpPr>
            <p:cNvPr id="307296" name="Rectangle 96"/>
            <p:cNvSpPr>
              <a:spLocks noChangeArrowheads="1"/>
            </p:cNvSpPr>
            <p:nvPr/>
          </p:nvSpPr>
          <p:spPr bwMode="auto">
            <a:xfrm>
              <a:off x="3360" y="1824"/>
              <a:ext cx="240" cy="3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97" name="Rectangle 97"/>
            <p:cNvSpPr>
              <a:spLocks noChangeArrowheads="1"/>
            </p:cNvSpPr>
            <p:nvPr/>
          </p:nvSpPr>
          <p:spPr bwMode="auto">
            <a:xfrm>
              <a:off x="3360" y="3024"/>
              <a:ext cx="240" cy="3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12" name="Group 112"/>
          <p:cNvGrpSpPr/>
          <p:nvPr/>
        </p:nvGrpSpPr>
        <p:grpSpPr bwMode="auto">
          <a:xfrm>
            <a:off x="7010400" y="3200400"/>
            <a:ext cx="1066800" cy="1905000"/>
            <a:chOff x="4416" y="2016"/>
            <a:chExt cx="672" cy="1200"/>
          </a:xfrm>
        </p:grpSpPr>
        <p:sp>
          <p:nvSpPr>
            <p:cNvPr id="307299" name="Line 99"/>
            <p:cNvSpPr>
              <a:spLocks noChangeShapeType="1"/>
            </p:cNvSpPr>
            <p:nvPr/>
          </p:nvSpPr>
          <p:spPr bwMode="auto">
            <a:xfrm>
              <a:off x="4416" y="2016"/>
              <a:ext cx="672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0" name="Line 100"/>
            <p:cNvSpPr>
              <a:spLocks noChangeShapeType="1"/>
            </p:cNvSpPr>
            <p:nvPr/>
          </p:nvSpPr>
          <p:spPr bwMode="auto">
            <a:xfrm flipV="1">
              <a:off x="4416" y="2592"/>
              <a:ext cx="624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7301" name="Object 101"/>
          <p:cNvGraphicFramePr>
            <a:graphicFrameLocks noChangeAspect="1"/>
          </p:cNvGraphicFramePr>
          <p:nvPr/>
        </p:nvGraphicFramePr>
        <p:xfrm>
          <a:off x="8053388" y="3733800"/>
          <a:ext cx="8842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91" name="公式" r:id="rId7" imgW="316865" imgH="215900" progId="Equation.3">
                  <p:embed/>
                </p:oleObj>
              </mc:Choice>
              <mc:Fallback>
                <p:oleObj name="公式" r:id="rId7" imgW="316865" imgH="215900" progId="Equation.3">
                  <p:embed/>
                  <p:pic>
                    <p:nvPicPr>
                      <p:cNvPr id="0" name="图片 596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3733800"/>
                        <a:ext cx="884237" cy="6016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04" name="Group 104"/>
          <p:cNvGrpSpPr/>
          <p:nvPr/>
        </p:nvGrpSpPr>
        <p:grpSpPr bwMode="auto">
          <a:xfrm>
            <a:off x="4572000" y="3581400"/>
            <a:ext cx="2514600" cy="457200"/>
            <a:chOff x="2064" y="2256"/>
            <a:chExt cx="1584" cy="288"/>
          </a:xfrm>
        </p:grpSpPr>
        <p:sp>
          <p:nvSpPr>
            <p:cNvPr id="307302" name="Rectangle 102"/>
            <p:cNvSpPr>
              <a:spLocks noChangeArrowheads="1"/>
            </p:cNvSpPr>
            <p:nvPr/>
          </p:nvSpPr>
          <p:spPr bwMode="auto">
            <a:xfrm>
              <a:off x="2064" y="2256"/>
              <a:ext cx="336" cy="28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03" name="Rectangle 103"/>
            <p:cNvSpPr>
              <a:spLocks noChangeArrowheads="1"/>
            </p:cNvSpPr>
            <p:nvPr/>
          </p:nvSpPr>
          <p:spPr bwMode="auto">
            <a:xfrm>
              <a:off x="3312" y="2256"/>
              <a:ext cx="336" cy="28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08" name="Group 108"/>
          <p:cNvGrpSpPr/>
          <p:nvPr/>
        </p:nvGrpSpPr>
        <p:grpSpPr bwMode="auto">
          <a:xfrm>
            <a:off x="4876800" y="2209800"/>
            <a:ext cx="1676400" cy="1371600"/>
            <a:chOff x="2256" y="1392"/>
            <a:chExt cx="1056" cy="864"/>
          </a:xfrm>
        </p:grpSpPr>
        <p:sp>
          <p:nvSpPr>
            <p:cNvPr id="307305" name="Line 105"/>
            <p:cNvSpPr>
              <a:spLocks noChangeShapeType="1"/>
            </p:cNvSpPr>
            <p:nvPr/>
          </p:nvSpPr>
          <p:spPr bwMode="auto">
            <a:xfrm flipV="1">
              <a:off x="2256" y="1440"/>
              <a:ext cx="480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6" name="Line 106"/>
            <p:cNvSpPr>
              <a:spLocks noChangeShapeType="1"/>
            </p:cNvSpPr>
            <p:nvPr/>
          </p:nvSpPr>
          <p:spPr bwMode="auto">
            <a:xfrm flipH="1" flipV="1">
              <a:off x="2880" y="1392"/>
              <a:ext cx="432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7307" name="Object 107"/>
          <p:cNvGraphicFramePr>
            <a:graphicFrameLocks noChangeAspect="1"/>
          </p:cNvGraphicFramePr>
          <p:nvPr/>
        </p:nvGraphicFramePr>
        <p:xfrm>
          <a:off x="5405438" y="1600200"/>
          <a:ext cx="8826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92" name="公式" r:id="rId9" imgW="316865" imgH="215900" progId="Equation.3">
                  <p:embed/>
                </p:oleObj>
              </mc:Choice>
              <mc:Fallback>
                <p:oleObj name="公式" r:id="rId9" imgW="316865" imgH="215900" progId="Equation.3">
                  <p:embed/>
                  <p:pic>
                    <p:nvPicPr>
                      <p:cNvPr id="0" name="图片 596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1600200"/>
                        <a:ext cx="882650" cy="6016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9" name="Rectangle 109"/>
          <p:cNvSpPr>
            <a:spLocks noChangeArrowheads="1"/>
          </p:cNvSpPr>
          <p:nvPr/>
        </p:nvSpPr>
        <p:spPr bwMode="auto">
          <a:xfrm>
            <a:off x="5334000" y="4267200"/>
            <a:ext cx="1066800" cy="457200"/>
          </a:xfrm>
          <a:prstGeom prst="rect">
            <a:avLst/>
          </a:prstGeom>
          <a:solidFill>
            <a:srgbClr val="993366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0" name="Line 110"/>
          <p:cNvSpPr>
            <a:spLocks noChangeShapeType="1"/>
          </p:cNvSpPr>
          <p:nvPr/>
        </p:nvSpPr>
        <p:spPr bwMode="auto">
          <a:xfrm flipH="1" flipV="1">
            <a:off x="3276600" y="3581400"/>
            <a:ext cx="20574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311" name="Object 111"/>
          <p:cNvGraphicFramePr>
            <a:graphicFrameLocks noChangeAspect="1"/>
          </p:cNvGraphicFramePr>
          <p:nvPr/>
        </p:nvGraphicFramePr>
        <p:xfrm>
          <a:off x="2679700" y="3141663"/>
          <a:ext cx="8493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93" name="公式" r:id="rId11" imgW="304800" imgH="165100" progId="Equation.3">
                  <p:embed/>
                </p:oleObj>
              </mc:Choice>
              <mc:Fallback>
                <p:oleObj name="公式" r:id="rId11" imgW="304800" imgH="165100" progId="Equation.3">
                  <p:embed/>
                  <p:pic>
                    <p:nvPicPr>
                      <p:cNvPr id="0" name="图片 596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3141663"/>
                        <a:ext cx="849313" cy="4603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30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30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30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0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30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3" dur="500"/>
                                        <p:tgtEl>
                                          <p:spTgt spid="30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0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3" grpId="0" animBg="1"/>
      <p:bldP spid="307294" grpId="0" animBg="1"/>
      <p:bldP spid="307309" grpId="0" animBg="1"/>
      <p:bldP spid="3073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40AC-DCE8-4CB4-912E-DB0998929B2B}" type="slidenum">
              <a:rPr lang="en-US" altLang="zh-CN"/>
            </a:fld>
            <a:endParaRPr lang="en-US" altLang="zh-CN"/>
          </a:p>
        </p:txBody>
      </p:sp>
      <p:sp>
        <p:nvSpPr>
          <p:cNvPr id="3102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如何利用计算机进行函数化简？</a:t>
            </a:r>
            <a:endParaRPr lang="zh-CN" altLang="en-US" dirty="0"/>
          </a:p>
        </p:txBody>
      </p:sp>
      <p:grpSp>
        <p:nvGrpSpPr>
          <p:cNvPr id="310276" name="Group 4"/>
          <p:cNvGrpSpPr/>
          <p:nvPr/>
        </p:nvGrpSpPr>
        <p:grpSpPr bwMode="auto">
          <a:xfrm>
            <a:off x="5486400" y="2590800"/>
            <a:ext cx="3338513" cy="3448050"/>
            <a:chOff x="1584" y="1248"/>
            <a:chExt cx="2103" cy="2172"/>
          </a:xfrm>
        </p:grpSpPr>
        <p:sp>
          <p:nvSpPr>
            <p:cNvPr id="310277" name="Text Box 5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78" name="Text Box 6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79" name="Text Box 7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80" name="Text Box 8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81" name="Text Box 9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82" name="Text Box 10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83" name="Text Box 11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0284" name="Text Box 12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grpSp>
          <p:nvGrpSpPr>
            <p:cNvPr id="310285" name="Group 13"/>
            <p:cNvGrpSpPr/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10286" name="Group 14"/>
              <p:cNvGrpSpPr/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10287" name="Group 15"/>
                <p:cNvGrpSpPr/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1028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8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8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9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9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1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2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4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0315" name="Rectangle 43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16" name="Rectangle 44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17" name="Rectangle 45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18" name="Rectangle 46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19" name="Rectangle 47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0" name="Rectangle 48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1" name="Rectangle 49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2" name="Rectangle 50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3" name="Rectangle 51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4" name="Rectangle 52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5" name="Rectangle 53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6" name="Rectangle 54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7" name="Rectangle 55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0328" name="Rectangle 56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29" name="Rectangle 57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0330" name="Rectangle 58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0331" name="Group 59"/>
              <p:cNvGrpSpPr/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1033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B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033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A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033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D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033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C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</p:grpSp>
      </p:grpSp>
      <p:sp>
        <p:nvSpPr>
          <p:cNvPr id="310336" name="Rectangle 64"/>
          <p:cNvSpPr>
            <a:spLocks noChangeArrowheads="1"/>
          </p:cNvSpPr>
          <p:nvPr/>
        </p:nvSpPr>
        <p:spPr bwMode="auto">
          <a:xfrm>
            <a:off x="0" y="2133600"/>
            <a:ext cx="2554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观察卡诺图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37" name="Rectangle 65"/>
          <p:cNvSpPr>
            <a:spLocks noChangeArrowheads="1"/>
          </p:cNvSpPr>
          <p:nvPr/>
        </p:nvSpPr>
        <p:spPr bwMode="auto">
          <a:xfrm>
            <a:off x="8305800" y="35814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38" name="Rectangle 66"/>
          <p:cNvSpPr>
            <a:spLocks noChangeArrowheads="1"/>
          </p:cNvSpPr>
          <p:nvPr/>
        </p:nvSpPr>
        <p:spPr bwMode="auto">
          <a:xfrm>
            <a:off x="6324600" y="41910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39" name="Rectangle 67"/>
          <p:cNvSpPr>
            <a:spLocks noChangeArrowheads="1"/>
          </p:cNvSpPr>
          <p:nvPr/>
        </p:nvSpPr>
        <p:spPr bwMode="auto">
          <a:xfrm>
            <a:off x="7010400" y="48768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0" name="Rectangle 68"/>
          <p:cNvSpPr>
            <a:spLocks noChangeArrowheads="1"/>
          </p:cNvSpPr>
          <p:nvPr/>
        </p:nvSpPr>
        <p:spPr bwMode="auto">
          <a:xfrm>
            <a:off x="6324600" y="4876800"/>
            <a:ext cx="381000" cy="10668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1" name="Rectangle 69"/>
          <p:cNvSpPr>
            <a:spLocks noChangeArrowheads="1"/>
          </p:cNvSpPr>
          <p:nvPr/>
        </p:nvSpPr>
        <p:spPr bwMode="auto">
          <a:xfrm>
            <a:off x="6248400" y="4876800"/>
            <a:ext cx="1143000" cy="4572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2" name="Rectangle 70"/>
          <p:cNvSpPr>
            <a:spLocks noChangeArrowheads="1"/>
          </p:cNvSpPr>
          <p:nvPr/>
        </p:nvSpPr>
        <p:spPr bwMode="auto">
          <a:xfrm>
            <a:off x="6248400" y="5486400"/>
            <a:ext cx="1219200" cy="457200"/>
          </a:xfrm>
          <a:prstGeom prst="rect">
            <a:avLst/>
          </a:prstGeom>
          <a:solidFill>
            <a:srgbClr val="80008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0346" name="Group 74"/>
          <p:cNvGrpSpPr/>
          <p:nvPr/>
        </p:nvGrpSpPr>
        <p:grpSpPr bwMode="auto">
          <a:xfrm>
            <a:off x="8229600" y="3505200"/>
            <a:ext cx="533400" cy="2438400"/>
            <a:chOff x="5184" y="2208"/>
            <a:chExt cx="336" cy="1536"/>
          </a:xfrm>
        </p:grpSpPr>
        <p:sp>
          <p:nvSpPr>
            <p:cNvPr id="310344" name="Rectangle 72"/>
            <p:cNvSpPr>
              <a:spLocks noChangeArrowheads="1"/>
            </p:cNvSpPr>
            <p:nvPr/>
          </p:nvSpPr>
          <p:spPr bwMode="auto">
            <a:xfrm>
              <a:off x="5184" y="3456"/>
              <a:ext cx="336" cy="28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345" name="Rectangle 73"/>
            <p:cNvSpPr>
              <a:spLocks noChangeArrowheads="1"/>
            </p:cNvSpPr>
            <p:nvPr/>
          </p:nvSpPr>
          <p:spPr bwMode="auto">
            <a:xfrm>
              <a:off x="5184" y="2208"/>
              <a:ext cx="336" cy="28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0348" name="Rectangle 76"/>
          <p:cNvSpPr>
            <a:spLocks noChangeArrowheads="1"/>
          </p:cNvSpPr>
          <p:nvPr/>
        </p:nvSpPr>
        <p:spPr bwMode="auto">
          <a:xfrm>
            <a:off x="152400" y="2667000"/>
            <a:ext cx="4075155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通过两个相邻的“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endParaRPr lang="en-US" altLang="zh-CN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合并减少一个变量。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49" name="Rectangle 77"/>
          <p:cNvSpPr>
            <a:spLocks noChangeArrowheads="1"/>
          </p:cNvSpPr>
          <p:nvPr/>
        </p:nvSpPr>
        <p:spPr bwMode="auto">
          <a:xfrm>
            <a:off x="152400" y="3581400"/>
            <a:ext cx="4862513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600">
                <a:latin typeface="华文新魏" panose="02010800040101010101" pitchFamily="2" charset="-122"/>
                <a:ea typeface="华文新魏" panose="02010800040101010101" pitchFamily="2" charset="-122"/>
              </a:rPr>
              <a:t>继续合并相邻项可再减少一</a:t>
            </a:r>
            <a:endParaRPr lang="zh-CN" altLang="en-US" sz="26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华文新魏" panose="02010800040101010101" pitchFamily="2" charset="-122"/>
                <a:ea typeface="华文新魏" panose="02010800040101010101" pitchFamily="2" charset="-122"/>
              </a:rPr>
              <a:t>  个变量。</a:t>
            </a:r>
            <a:endParaRPr lang="zh-CN" altLang="en-US" sz="26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50" name="Rectangle 78"/>
          <p:cNvSpPr>
            <a:spLocks noChangeArrowheads="1"/>
          </p:cNvSpPr>
          <p:nvPr/>
        </p:nvSpPr>
        <p:spPr bwMode="auto">
          <a:xfrm>
            <a:off x="0" y="4495800"/>
            <a:ext cx="50292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问题：相邻项通过组合方式合并，会产生重复！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51" name="Rectangle 79"/>
          <p:cNvSpPr>
            <a:spLocks noChangeArrowheads="1"/>
          </p:cNvSpPr>
          <p:nvPr/>
        </p:nvSpPr>
        <p:spPr bwMode="auto">
          <a:xfrm>
            <a:off x="0" y="5334000"/>
            <a:ext cx="5486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解决问题办法：设计一个较好的计算机算法，既可以合并，也可以消除重复挑出必要的项。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52" name="Rectangle 80"/>
          <p:cNvSpPr>
            <a:spLocks noChangeArrowheads="1"/>
          </p:cNvSpPr>
          <p:nvPr/>
        </p:nvSpPr>
        <p:spPr bwMode="auto">
          <a:xfrm>
            <a:off x="6967538" y="4800600"/>
            <a:ext cx="1109662" cy="5334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7" name="Rectangle 75"/>
          <p:cNvSpPr>
            <a:spLocks noChangeArrowheads="1"/>
          </p:cNvSpPr>
          <p:nvPr/>
        </p:nvSpPr>
        <p:spPr bwMode="auto">
          <a:xfrm>
            <a:off x="6248400" y="4800600"/>
            <a:ext cx="1219200" cy="1143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1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1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1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336" grpId="0" autoUpdateAnimBg="0"/>
      <p:bldP spid="310337" grpId="0" animBg="1"/>
      <p:bldP spid="310338" grpId="0" animBg="1"/>
      <p:bldP spid="310339" grpId="0" animBg="1"/>
      <p:bldP spid="310340" grpId="0" animBg="1"/>
      <p:bldP spid="310341" grpId="0" animBg="1"/>
      <p:bldP spid="310342" grpId="0" animBg="1"/>
      <p:bldP spid="310348" grpId="0" autoUpdateAnimBg="0"/>
      <p:bldP spid="310349" grpId="0" autoUpdateAnimBg="0"/>
      <p:bldP spid="310350" grpId="0" autoUpdateAnimBg="0"/>
      <p:bldP spid="310351" grpId="0" autoUpdateAnimBg="0"/>
      <p:bldP spid="310352" grpId="0" animBg="1"/>
      <p:bldP spid="31034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84D00-8FEA-479C-ADC8-9E6612E1E1AC}" type="slidenum">
              <a:rPr lang="en-US" altLang="zh-CN"/>
            </a:fld>
            <a:endParaRPr lang="en-US" altLang="zh-CN"/>
          </a:p>
        </p:txBody>
      </p:sp>
      <p:sp>
        <p:nvSpPr>
          <p:cNvPr id="2170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逻辑函数的表格法化简</a:t>
            </a:r>
            <a:r>
              <a:rPr lang="en-US" altLang="zh-CN"/>
              <a:t>(Q-M</a:t>
            </a:r>
            <a:r>
              <a:rPr lang="zh-CN" altLang="en-US"/>
              <a:t>法</a:t>
            </a:r>
            <a:r>
              <a:rPr lang="en-US" altLang="zh-CN"/>
              <a:t>) </a:t>
            </a:r>
            <a:endParaRPr lang="en-US" altLang="zh-CN"/>
          </a:p>
          <a:p>
            <a:pPr lvl="1"/>
            <a:r>
              <a:rPr lang="en-US" altLang="zh-CN" sz="2800"/>
              <a:t>Q-M</a:t>
            </a:r>
            <a:r>
              <a:rPr lang="zh-CN" altLang="en-US" sz="2800"/>
              <a:t>法是用分组表格法，基本思想是</a:t>
            </a:r>
            <a:r>
              <a:rPr lang="zh-CN" altLang="en-US" sz="2800">
                <a:solidFill>
                  <a:srgbClr val="FF0000"/>
                </a:solidFill>
              </a:rPr>
              <a:t>相邻</a:t>
            </a:r>
            <a:r>
              <a:rPr lang="zh-CN" altLang="en-US" sz="2800"/>
              <a:t>两个最小项中有一个变量互补，这两相邻与项合成为一新的与项，从而消去一变量。</a:t>
            </a:r>
            <a:endParaRPr lang="zh-CN" altLang="en-US" sz="2800"/>
          </a:p>
          <a:p>
            <a:pPr lvl="1"/>
            <a:r>
              <a:rPr lang="en-US" altLang="zh-CN" sz="2800"/>
              <a:t>Q-M(Quine-McCluskey) </a:t>
            </a:r>
            <a:r>
              <a:rPr lang="zh-CN" altLang="en-US" sz="2800"/>
              <a:t>法和卡诺图法的化简思路是一致的。 </a:t>
            </a:r>
            <a:endParaRPr lang="zh-CN" altLang="en-US" sz="2800"/>
          </a:p>
        </p:txBody>
      </p:sp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228600" y="4437112"/>
            <a:ext cx="8534400" cy="175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表格法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233805" lvl="2" indent="-31940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优点：适合于多变量的函数，化简过程规律性强，适用于计算机算法实现。</a:t>
            </a:r>
            <a:endParaRPr lang="zh-CN" altLang="en-US" sz="2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233805" lvl="2" indent="-319405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缺点：人工进行表格法化简很繁琐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2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C3E4B-E407-4686-8668-52462E1D9043}" type="slidenum">
              <a:rPr lang="en-US" altLang="zh-CN"/>
            </a:fld>
            <a:endParaRPr lang="en-US" altLang="zh-CN"/>
          </a:p>
        </p:txBody>
      </p:sp>
      <p:sp>
        <p:nvSpPr>
          <p:cNvPr id="219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zh-CN" altLang="en-US" sz="2400" dirty="0"/>
              <a:t>什么情况下会出现“相邻两个最小项中有一个变量互补”？从最小项的编号上看有什么规律？</a:t>
            </a:r>
            <a:endParaRPr lang="zh-CN" altLang="en-US" sz="2400" dirty="0"/>
          </a:p>
          <a:p>
            <a:pPr lvl="1"/>
            <a:r>
              <a:rPr lang="zh-CN" altLang="en-US" sz="2400" dirty="0"/>
              <a:t>观察：以</a:t>
            </a:r>
            <a:r>
              <a:rPr lang="en-US" altLang="zh-CN" sz="2400" dirty="0"/>
              <a:t>4</a:t>
            </a:r>
            <a:r>
              <a:rPr lang="zh-CN" altLang="en-US" sz="2400" dirty="0"/>
              <a:t>变量卡诺图为例：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ea typeface="幼圆" panose="02010509060101010101" pitchFamily="49" charset="-122"/>
              </a:rPr>
              <a:t> </a:t>
            </a:r>
            <a:endParaRPr lang="zh-CN" altLang="en-US" sz="2400" dirty="0">
              <a:ea typeface="幼圆" panose="02010509060101010101" pitchFamily="49" charset="-122"/>
            </a:endParaRPr>
          </a:p>
          <a:p>
            <a:pPr lvl="1"/>
            <a:endParaRPr lang="zh-CN" altLang="en-US" dirty="0"/>
          </a:p>
          <a:p>
            <a:endParaRPr lang="zh-CN" altLang="en-US" sz="2600" b="1" dirty="0"/>
          </a:p>
          <a:p>
            <a:endParaRPr lang="en-US" altLang="zh-CN" dirty="0"/>
          </a:p>
        </p:txBody>
      </p:sp>
      <p:grpSp>
        <p:nvGrpSpPr>
          <p:cNvPr id="219140" name="Group 4"/>
          <p:cNvGrpSpPr/>
          <p:nvPr/>
        </p:nvGrpSpPr>
        <p:grpSpPr bwMode="auto">
          <a:xfrm>
            <a:off x="5562600" y="2996952"/>
            <a:ext cx="3200400" cy="3278188"/>
            <a:chOff x="2736" y="1344"/>
            <a:chExt cx="2016" cy="2065"/>
          </a:xfrm>
        </p:grpSpPr>
        <p:grpSp>
          <p:nvGrpSpPr>
            <p:cNvPr id="219141" name="Group 5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19142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10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3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11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4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solidFill>
                      <a:srgbClr val="3819E4"/>
                    </a:solidFill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solidFill>
                      <a:srgbClr val="3819E4"/>
                    </a:solidFill>
                    <a:ea typeface="幼圆" panose="02010509060101010101" pitchFamily="49" charset="-122"/>
                  </a:rPr>
                  <a:t>9</a:t>
                </a:r>
                <a:endParaRPr kumimoji="0" lang="en-US" altLang="zh-CN" baseline="-30000">
                  <a:solidFill>
                    <a:srgbClr val="3819E4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19145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8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6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14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7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15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8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13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49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12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50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6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51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7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52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5</a:t>
                </a:r>
                <a:endParaRPr kumimoji="0" lang="en-US" altLang="zh-CN" baseline="-30000" dirty="0">
                  <a:solidFill>
                    <a:srgbClr val="3819E4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19153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4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54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>
                    <a:ea typeface="幼圆" panose="02010509060101010101" pitchFamily="49" charset="-122"/>
                  </a:rPr>
                  <a:t>2</a:t>
                </a:r>
                <a:endParaRPr kumimoji="0" lang="en-US" altLang="zh-CN" baseline="-30000">
                  <a:ea typeface="幼圆" panose="02010509060101010101" pitchFamily="49" charset="-122"/>
                </a:endParaRPr>
              </a:p>
            </p:txBody>
          </p:sp>
          <p:sp>
            <p:nvSpPr>
              <p:cNvPr id="219155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3</a:t>
                </a:r>
                <a:endParaRPr kumimoji="0" lang="en-US" altLang="zh-CN" baseline="-30000" dirty="0">
                  <a:solidFill>
                    <a:srgbClr val="3819E4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19156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 dirty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FF0000"/>
                    </a:solidFill>
                    <a:ea typeface="幼圆" panose="02010509060101010101" pitchFamily="49" charset="-122"/>
                  </a:rPr>
                  <a:t>1</a:t>
                </a:r>
                <a:endParaRPr kumimoji="0" lang="en-US" altLang="zh-CN" baseline="-30000" dirty="0">
                  <a:solidFill>
                    <a:srgbClr val="FF0000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19157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anose="02010509060101010101" pitchFamily="49" charset="-122"/>
                  </a:rPr>
                  <a:t>0</a:t>
                </a:r>
                <a:endParaRPr kumimoji="0" lang="en-US" altLang="zh-CN" baseline="-30000" dirty="0">
                  <a:solidFill>
                    <a:srgbClr val="3819E4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19158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59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0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1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2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3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4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5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6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7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8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9169" name="Group 33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19170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1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2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3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19174" name="Group 38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19175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6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7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78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19179" name="Group 43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19180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81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82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219183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19184" name="Rectangle 48"/>
          <p:cNvSpPr>
            <a:spLocks noChangeArrowheads="1"/>
          </p:cNvSpPr>
          <p:nvPr/>
        </p:nvSpPr>
        <p:spPr bwMode="auto">
          <a:xfrm>
            <a:off x="146564" y="3606552"/>
            <a:ext cx="537686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m1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同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m0,m3,m5,m9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相邻，下标编号：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0001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0000,0011,0101,1001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9185" name="Rectangle 49"/>
          <p:cNvSpPr>
            <a:spLocks noChangeArrowheads="1"/>
          </p:cNvSpPr>
          <p:nvPr/>
        </p:nvSpPr>
        <p:spPr bwMode="auto">
          <a:xfrm>
            <a:off x="140916" y="4838115"/>
            <a:ext cx="606765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m1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同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m4,m8,m10, m13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等不相邻，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下标编号为：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0001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0100,1000,1010,1101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84" grpId="0" autoUpdateAnimBg="0"/>
      <p:bldP spid="219185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DF6F-FBE2-4DD4-848E-D82B5617F09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201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zh-CN" altLang="en-US" dirty="0"/>
              <a:t>结论：</a:t>
            </a:r>
            <a:endParaRPr lang="zh-CN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endParaRPr lang="zh-CN" altLang="en-US" dirty="0"/>
          </a:p>
        </p:txBody>
      </p:sp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457200" y="2819400"/>
            <a:ext cx="8382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最小项编号中“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的个数差＝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，肯定不相邻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457200" y="3429000"/>
            <a:ext cx="7924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最小项编号中“</a:t>
            </a:r>
            <a:r>
              <a:rPr lang="en-US" altLang="zh-CN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的个数差</a:t>
            </a:r>
            <a:r>
              <a:rPr lang="en-US" altLang="zh-CN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&gt;</a:t>
            </a: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，肯定不相邻</a:t>
            </a:r>
            <a:endParaRPr lang="zh-CN" altLang="en-US" sz="26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0166" name="Rectangle 6"/>
          <p:cNvSpPr>
            <a:spLocks noChangeArrowheads="1"/>
          </p:cNvSpPr>
          <p:nvPr/>
        </p:nvSpPr>
        <p:spPr bwMode="auto">
          <a:xfrm>
            <a:off x="838200" y="4038600"/>
            <a:ext cx="7391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最小项编号中“</a:t>
            </a:r>
            <a:r>
              <a:rPr lang="en-US" altLang="zh-CN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的个数差＝</a:t>
            </a:r>
            <a:r>
              <a:rPr lang="en-US" altLang="zh-CN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600" b="1">
                <a:latin typeface="华文新魏" panose="02010800040101010101" pitchFamily="2" charset="-122"/>
                <a:ea typeface="华文新魏" panose="02010800040101010101" pitchFamily="2" charset="-122"/>
              </a:rPr>
              <a:t>，可能相邻！</a:t>
            </a:r>
            <a:endParaRPr kumimoji="0" lang="zh-CN" altLang="en-US" sz="1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0167" name="Rectangle 7"/>
          <p:cNvSpPr>
            <a:spLocks noChangeArrowheads="1"/>
          </p:cNvSpPr>
          <p:nvPr/>
        </p:nvSpPr>
        <p:spPr bwMode="auto">
          <a:xfrm>
            <a:off x="304800" y="4706938"/>
            <a:ext cx="81534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按照最小项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6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下标编号中二进制数“</a:t>
            </a:r>
            <a:r>
              <a:rPr lang="en-US" altLang="zh-CN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的个数进行分组比较，可以化简。</a:t>
            </a:r>
            <a:endParaRPr lang="zh-CN" altLang="en-US" sz="2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0" hangingPunct="0"/>
            <a:endParaRPr kumimoji="0"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 autoUpdateAnimBg="0"/>
      <p:bldP spid="220165" grpId="0" autoUpdateAnimBg="0"/>
      <p:bldP spid="220166" grpId="0" autoUpdateAnimBg="0"/>
      <p:bldP spid="220167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C31D6-5124-4616-9518-A651AA26617D}" type="slidenum">
              <a:rPr lang="en-US" altLang="zh-CN"/>
            </a:fld>
            <a:endParaRPr lang="en-US" altLang="zh-CN"/>
          </a:p>
        </p:txBody>
      </p:sp>
      <p:sp>
        <p:nvSpPr>
          <p:cNvPr id="2211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en-US"/>
              <a:t>逻辑函数的表格法化简</a:t>
            </a:r>
            <a:r>
              <a:rPr lang="en-US" altLang="zh-CN"/>
              <a:t>(Q-M</a:t>
            </a:r>
            <a:r>
              <a:rPr lang="zh-CN" altLang="en-US"/>
              <a:t>法</a:t>
            </a:r>
            <a:r>
              <a:rPr lang="en-US" altLang="zh-CN"/>
              <a:t>)</a:t>
            </a:r>
            <a:endParaRPr lang="en-US" altLang="zh-CN"/>
          </a:p>
          <a:p>
            <a:pPr lvl="1"/>
            <a:r>
              <a:rPr lang="zh-CN" altLang="en-US"/>
              <a:t>表格法化简按照步骤进行：</a:t>
            </a:r>
            <a:endParaRPr lang="zh-CN" altLang="en-US"/>
          </a:p>
          <a:p>
            <a:pPr lvl="2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）求出函数全部的质蕴涵项，</a:t>
            </a:r>
            <a:endParaRPr lang="zh-CN" altLang="en-US"/>
          </a:p>
          <a:p>
            <a:pPr lvl="2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）从质蕴涵项中选出必要的质蕴涵项。</a:t>
            </a:r>
            <a:endParaRPr lang="zh-CN" altLang="en-US"/>
          </a:p>
          <a:p>
            <a:pPr lvl="2"/>
            <a:endParaRPr lang="zh-CN" altLang="en-US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/>
              <a:t>蕴涵项：函数“与或”表达式中的每个“与”项称为蕴涵项。</a:t>
            </a:r>
            <a:endParaRPr lang="zh-CN" altLang="en-US"/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/>
              <a:t>质蕴涵项：不能通过相邻项合并的蕴涵项称为质蕴涵项。</a:t>
            </a:r>
            <a:endParaRPr lang="zh-CN" altLang="en-US"/>
          </a:p>
          <a:p>
            <a:pPr lvl="2"/>
            <a:endParaRPr lang="zh-CN" altLang="en-US"/>
          </a:p>
          <a:p>
            <a:pPr lvl="2"/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8E44-F009-454B-9B8D-9C44C63EF462}" type="slidenum">
              <a:rPr lang="en-US" altLang="zh-CN"/>
            </a:fld>
            <a:endParaRPr lang="en-US" altLang="zh-CN"/>
          </a:p>
        </p:txBody>
      </p:sp>
      <p:sp>
        <p:nvSpPr>
          <p:cNvPr id="222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举例：化简函数</a:t>
            </a:r>
            <a:endParaRPr lang="zh-CN" altLang="en-US" dirty="0"/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  <a:p>
            <a:pPr lvl="1"/>
            <a:r>
              <a:rPr lang="zh-CN" altLang="en-US" sz="2400" dirty="0"/>
              <a:t>第一步：</a:t>
            </a:r>
            <a:br>
              <a:rPr lang="en-US" altLang="zh-CN" sz="2400" dirty="0"/>
            </a:br>
            <a:r>
              <a:rPr lang="zh-CN" altLang="en-US" sz="2400" dirty="0"/>
              <a:t>求出函数全部的质蕴涵项</a:t>
            </a:r>
            <a:endParaRPr lang="zh-CN" altLang="en-US" sz="2400" dirty="0"/>
          </a:p>
        </p:txBody>
      </p:sp>
      <p:graphicFrame>
        <p:nvGraphicFramePr>
          <p:cNvPr id="222212" name="Object 4"/>
          <p:cNvGraphicFramePr>
            <a:graphicFrameLocks noChangeAspect="1"/>
          </p:cNvGraphicFramePr>
          <p:nvPr/>
        </p:nvGraphicFramePr>
        <p:xfrm>
          <a:off x="920750" y="27289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6" name="公式" r:id="rId1" imgW="2057400" imgH="266700" progId="Equation.3">
                  <p:embed/>
                </p:oleObj>
              </mc:Choice>
              <mc:Fallback>
                <p:oleObj name="公式" r:id="rId1" imgW="2057400" imgH="266700" progId="Equation.3">
                  <p:embed/>
                  <p:pic>
                    <p:nvPicPr>
                      <p:cNvPr id="0" name="图片 60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7289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97" name="Rectangle 89"/>
          <p:cNvSpPr>
            <a:spLocks noChangeArrowheads="1"/>
          </p:cNvSpPr>
          <p:nvPr/>
        </p:nvSpPr>
        <p:spPr bwMode="auto">
          <a:xfrm>
            <a:off x="1066800" y="4365104"/>
            <a:ext cx="434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）先把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中的各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3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，按下标</a:t>
            </a:r>
            <a:r>
              <a:rPr kumimoji="0"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中“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的个数，由少到多，分组排队列表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见表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I) 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。组号是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3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kumimoji="0"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所包含“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的个数。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22373" name="Group 165"/>
          <p:cNvGrpSpPr/>
          <p:nvPr/>
        </p:nvGrpSpPr>
        <p:grpSpPr bwMode="auto">
          <a:xfrm>
            <a:off x="5796136" y="2057400"/>
            <a:ext cx="2895600" cy="4489450"/>
            <a:chOff x="3840" y="1296"/>
            <a:chExt cx="1824" cy="2828"/>
          </a:xfrm>
        </p:grpSpPr>
        <p:grpSp>
          <p:nvGrpSpPr>
            <p:cNvPr id="222298" name="Group 90"/>
            <p:cNvGrpSpPr/>
            <p:nvPr/>
          </p:nvGrpSpPr>
          <p:grpSpPr bwMode="auto">
            <a:xfrm>
              <a:off x="3871" y="1296"/>
              <a:ext cx="1793" cy="2828"/>
              <a:chOff x="668" y="1056"/>
              <a:chExt cx="1985" cy="2828"/>
            </a:xfrm>
          </p:grpSpPr>
          <p:sp>
            <p:nvSpPr>
              <p:cNvPr id="222299" name="Rectangle 91"/>
              <p:cNvSpPr>
                <a:spLocks noChangeArrowheads="1"/>
              </p:cNvSpPr>
              <p:nvPr/>
            </p:nvSpPr>
            <p:spPr bwMode="auto">
              <a:xfrm>
                <a:off x="2427" y="3635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0" name="Rectangle 92"/>
              <p:cNvSpPr>
                <a:spLocks noChangeArrowheads="1"/>
              </p:cNvSpPr>
              <p:nvPr/>
            </p:nvSpPr>
            <p:spPr bwMode="auto">
              <a:xfrm>
                <a:off x="2200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1" name="Rectangle 93"/>
              <p:cNvSpPr>
                <a:spLocks noChangeArrowheads="1"/>
              </p:cNvSpPr>
              <p:nvPr/>
            </p:nvSpPr>
            <p:spPr bwMode="auto">
              <a:xfrm>
                <a:off x="1973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2" name="Rectangle 94"/>
              <p:cNvSpPr>
                <a:spLocks noChangeArrowheads="1"/>
              </p:cNvSpPr>
              <p:nvPr/>
            </p:nvSpPr>
            <p:spPr bwMode="auto">
              <a:xfrm>
                <a:off x="1746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3" name="Rectangle 95"/>
              <p:cNvSpPr>
                <a:spLocks noChangeArrowheads="1"/>
              </p:cNvSpPr>
              <p:nvPr/>
            </p:nvSpPr>
            <p:spPr bwMode="auto">
              <a:xfrm>
                <a:off x="1111" y="3635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15</a:t>
                </a:r>
                <a:endParaRPr lang="en-US" altLang="zh-CN" sz="2000"/>
              </a:p>
            </p:txBody>
          </p:sp>
          <p:sp>
            <p:nvSpPr>
              <p:cNvPr id="222304" name="Rectangle 96"/>
              <p:cNvSpPr>
                <a:spLocks noChangeArrowheads="1"/>
              </p:cNvSpPr>
              <p:nvPr/>
            </p:nvSpPr>
            <p:spPr bwMode="auto">
              <a:xfrm>
                <a:off x="2427" y="3386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5" name="Rectangle 97"/>
              <p:cNvSpPr>
                <a:spLocks noChangeArrowheads="1"/>
              </p:cNvSpPr>
              <p:nvPr/>
            </p:nvSpPr>
            <p:spPr bwMode="auto">
              <a:xfrm>
                <a:off x="2200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06" name="Rectangle 98"/>
              <p:cNvSpPr>
                <a:spLocks noChangeArrowheads="1"/>
              </p:cNvSpPr>
              <p:nvPr/>
            </p:nvSpPr>
            <p:spPr bwMode="auto">
              <a:xfrm>
                <a:off x="1973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7" name="Rectangle 99"/>
              <p:cNvSpPr>
                <a:spLocks noChangeArrowheads="1"/>
              </p:cNvSpPr>
              <p:nvPr/>
            </p:nvSpPr>
            <p:spPr bwMode="auto">
              <a:xfrm>
                <a:off x="1746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08" name="Rectangle 100"/>
              <p:cNvSpPr>
                <a:spLocks noChangeArrowheads="1"/>
              </p:cNvSpPr>
              <p:nvPr/>
            </p:nvSpPr>
            <p:spPr bwMode="auto">
              <a:xfrm>
                <a:off x="1111" y="3386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13</a:t>
                </a:r>
                <a:endParaRPr lang="en-US" altLang="zh-CN" sz="2000"/>
              </a:p>
            </p:txBody>
          </p:sp>
          <p:sp>
            <p:nvSpPr>
              <p:cNvPr id="222309" name="Rectangle 101"/>
              <p:cNvSpPr>
                <a:spLocks noChangeArrowheads="1"/>
              </p:cNvSpPr>
              <p:nvPr/>
            </p:nvSpPr>
            <p:spPr bwMode="auto">
              <a:xfrm>
                <a:off x="668" y="3386"/>
                <a:ext cx="443" cy="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3</a:t>
                </a:r>
                <a:endParaRPr lang="en-US" altLang="zh-CN" sz="200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4</a:t>
                </a:r>
                <a:endParaRPr lang="en-US" altLang="zh-CN" sz="2000"/>
              </a:p>
            </p:txBody>
          </p:sp>
          <p:sp>
            <p:nvSpPr>
              <p:cNvPr id="222310" name="Rectangle 102"/>
              <p:cNvSpPr>
                <a:spLocks noChangeArrowheads="1"/>
              </p:cNvSpPr>
              <p:nvPr/>
            </p:nvSpPr>
            <p:spPr bwMode="auto">
              <a:xfrm>
                <a:off x="2427" y="3137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11" name="Rectangle 103"/>
              <p:cNvSpPr>
                <a:spLocks noChangeArrowheads="1"/>
              </p:cNvSpPr>
              <p:nvPr/>
            </p:nvSpPr>
            <p:spPr bwMode="auto">
              <a:xfrm>
                <a:off x="2200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12" name="Rectangle 104"/>
              <p:cNvSpPr>
                <a:spLocks noChangeArrowheads="1"/>
              </p:cNvSpPr>
              <p:nvPr/>
            </p:nvSpPr>
            <p:spPr bwMode="auto">
              <a:xfrm>
                <a:off x="1973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13" name="Rectangle 105"/>
              <p:cNvSpPr>
                <a:spLocks noChangeArrowheads="1"/>
              </p:cNvSpPr>
              <p:nvPr/>
            </p:nvSpPr>
            <p:spPr bwMode="auto">
              <a:xfrm>
                <a:off x="1746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14" name="Rectangle 106"/>
              <p:cNvSpPr>
                <a:spLocks noChangeArrowheads="1"/>
              </p:cNvSpPr>
              <p:nvPr/>
            </p:nvSpPr>
            <p:spPr bwMode="auto">
              <a:xfrm>
                <a:off x="1111" y="3137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12</a:t>
                </a:r>
                <a:endParaRPr lang="en-US" altLang="zh-CN" sz="2000"/>
              </a:p>
            </p:txBody>
          </p:sp>
          <p:sp>
            <p:nvSpPr>
              <p:cNvPr id="222315" name="Rectangle 107"/>
              <p:cNvSpPr>
                <a:spLocks noChangeArrowheads="1"/>
              </p:cNvSpPr>
              <p:nvPr/>
            </p:nvSpPr>
            <p:spPr bwMode="auto">
              <a:xfrm>
                <a:off x="2427" y="2888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16" name="Rectangle 108"/>
              <p:cNvSpPr>
                <a:spLocks noChangeArrowheads="1"/>
              </p:cNvSpPr>
              <p:nvPr/>
            </p:nvSpPr>
            <p:spPr bwMode="auto">
              <a:xfrm>
                <a:off x="2200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17" name="Rectangle 109"/>
              <p:cNvSpPr>
                <a:spLocks noChangeArrowheads="1"/>
              </p:cNvSpPr>
              <p:nvPr/>
            </p:nvSpPr>
            <p:spPr bwMode="auto">
              <a:xfrm>
                <a:off x="1973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18" name="Rectangle 110"/>
              <p:cNvSpPr>
                <a:spLocks noChangeArrowheads="1"/>
              </p:cNvSpPr>
              <p:nvPr/>
            </p:nvSpPr>
            <p:spPr bwMode="auto">
              <a:xfrm>
                <a:off x="1746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19" name="Rectangle 111"/>
              <p:cNvSpPr>
                <a:spLocks noChangeArrowheads="1"/>
              </p:cNvSpPr>
              <p:nvPr/>
            </p:nvSpPr>
            <p:spPr bwMode="auto">
              <a:xfrm>
                <a:off x="1111" y="2888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10</a:t>
                </a:r>
                <a:endParaRPr lang="en-US" altLang="zh-CN" sz="2000"/>
              </a:p>
            </p:txBody>
          </p:sp>
          <p:sp>
            <p:nvSpPr>
              <p:cNvPr id="222320" name="Rectangle 112"/>
              <p:cNvSpPr>
                <a:spLocks noChangeArrowheads="1"/>
              </p:cNvSpPr>
              <p:nvPr/>
            </p:nvSpPr>
            <p:spPr bwMode="auto">
              <a:xfrm>
                <a:off x="2427" y="2639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21" name="Rectangle 113"/>
              <p:cNvSpPr>
                <a:spLocks noChangeArrowheads="1"/>
              </p:cNvSpPr>
              <p:nvPr/>
            </p:nvSpPr>
            <p:spPr bwMode="auto">
              <a:xfrm>
                <a:off x="2200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22" name="Rectangle 114"/>
              <p:cNvSpPr>
                <a:spLocks noChangeArrowheads="1"/>
              </p:cNvSpPr>
              <p:nvPr/>
            </p:nvSpPr>
            <p:spPr bwMode="auto">
              <a:xfrm>
                <a:off x="1973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23" name="Rectangle 115"/>
              <p:cNvSpPr>
                <a:spLocks noChangeArrowheads="1"/>
              </p:cNvSpPr>
              <p:nvPr/>
            </p:nvSpPr>
            <p:spPr bwMode="auto">
              <a:xfrm>
                <a:off x="1746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24" name="Rectangle 116"/>
              <p:cNvSpPr>
                <a:spLocks noChangeArrowheads="1"/>
              </p:cNvSpPr>
              <p:nvPr/>
            </p:nvSpPr>
            <p:spPr bwMode="auto">
              <a:xfrm>
                <a:off x="1111" y="2639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9</a:t>
                </a:r>
                <a:endParaRPr lang="en-US" altLang="zh-CN" sz="2000"/>
              </a:p>
            </p:txBody>
          </p:sp>
          <p:sp>
            <p:nvSpPr>
              <p:cNvPr id="222325" name="Rectangle 117"/>
              <p:cNvSpPr>
                <a:spLocks noChangeArrowheads="1"/>
              </p:cNvSpPr>
              <p:nvPr/>
            </p:nvSpPr>
            <p:spPr bwMode="auto">
              <a:xfrm>
                <a:off x="2427" y="2390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26" name="Rectangle 118"/>
              <p:cNvSpPr>
                <a:spLocks noChangeArrowheads="1"/>
              </p:cNvSpPr>
              <p:nvPr/>
            </p:nvSpPr>
            <p:spPr bwMode="auto">
              <a:xfrm>
                <a:off x="2200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27" name="Rectangle 119"/>
              <p:cNvSpPr>
                <a:spLocks noChangeArrowheads="1"/>
              </p:cNvSpPr>
              <p:nvPr/>
            </p:nvSpPr>
            <p:spPr bwMode="auto">
              <a:xfrm>
                <a:off x="1973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28" name="Rectangle 120"/>
              <p:cNvSpPr>
                <a:spLocks noChangeArrowheads="1"/>
              </p:cNvSpPr>
              <p:nvPr/>
            </p:nvSpPr>
            <p:spPr bwMode="auto">
              <a:xfrm>
                <a:off x="1746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29" name="Rectangle 121"/>
              <p:cNvSpPr>
                <a:spLocks noChangeArrowheads="1"/>
              </p:cNvSpPr>
              <p:nvPr/>
            </p:nvSpPr>
            <p:spPr bwMode="auto">
              <a:xfrm>
                <a:off x="1111" y="2390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6</a:t>
                </a:r>
                <a:endParaRPr lang="en-US" altLang="zh-CN" sz="2000"/>
              </a:p>
            </p:txBody>
          </p:sp>
          <p:sp>
            <p:nvSpPr>
              <p:cNvPr id="222330" name="Rectangle 122"/>
              <p:cNvSpPr>
                <a:spLocks noChangeArrowheads="1"/>
              </p:cNvSpPr>
              <p:nvPr/>
            </p:nvSpPr>
            <p:spPr bwMode="auto">
              <a:xfrm>
                <a:off x="668" y="2390"/>
                <a:ext cx="443" cy="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en-US" altLang="zh-CN" sz="200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en-US" altLang="zh-CN" sz="2000"/>
              </a:p>
            </p:txBody>
          </p:sp>
          <p:sp>
            <p:nvSpPr>
              <p:cNvPr id="222331" name="Rectangle 123"/>
              <p:cNvSpPr>
                <a:spLocks noChangeArrowheads="1"/>
              </p:cNvSpPr>
              <p:nvPr/>
            </p:nvSpPr>
            <p:spPr bwMode="auto">
              <a:xfrm>
                <a:off x="2427" y="2141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32" name="Rectangle 124"/>
              <p:cNvSpPr>
                <a:spLocks noChangeArrowheads="1"/>
              </p:cNvSpPr>
              <p:nvPr/>
            </p:nvSpPr>
            <p:spPr bwMode="auto">
              <a:xfrm>
                <a:off x="2200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33" name="Rectangle 125"/>
              <p:cNvSpPr>
                <a:spLocks noChangeArrowheads="1"/>
              </p:cNvSpPr>
              <p:nvPr/>
            </p:nvSpPr>
            <p:spPr bwMode="auto">
              <a:xfrm>
                <a:off x="1973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34" name="Rectangle 126"/>
              <p:cNvSpPr>
                <a:spLocks noChangeArrowheads="1"/>
              </p:cNvSpPr>
              <p:nvPr/>
            </p:nvSpPr>
            <p:spPr bwMode="auto">
              <a:xfrm>
                <a:off x="1746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35" name="Rectangle 127"/>
              <p:cNvSpPr>
                <a:spLocks noChangeArrowheads="1"/>
              </p:cNvSpPr>
              <p:nvPr/>
            </p:nvSpPr>
            <p:spPr bwMode="auto">
              <a:xfrm>
                <a:off x="1111" y="2141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8</a:t>
                </a:r>
                <a:endParaRPr lang="en-US" altLang="zh-CN" sz="2000"/>
              </a:p>
            </p:txBody>
          </p:sp>
          <p:sp>
            <p:nvSpPr>
              <p:cNvPr id="222336" name="Rectangle 128"/>
              <p:cNvSpPr>
                <a:spLocks noChangeArrowheads="1"/>
              </p:cNvSpPr>
              <p:nvPr/>
            </p:nvSpPr>
            <p:spPr bwMode="auto">
              <a:xfrm>
                <a:off x="2427" y="1892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37" name="Rectangle 129"/>
              <p:cNvSpPr>
                <a:spLocks noChangeArrowheads="1"/>
              </p:cNvSpPr>
              <p:nvPr/>
            </p:nvSpPr>
            <p:spPr bwMode="auto">
              <a:xfrm>
                <a:off x="2200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38" name="Rectangle 130"/>
              <p:cNvSpPr>
                <a:spLocks noChangeArrowheads="1"/>
              </p:cNvSpPr>
              <p:nvPr/>
            </p:nvSpPr>
            <p:spPr bwMode="auto">
              <a:xfrm>
                <a:off x="1973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39" name="Rectangle 131"/>
              <p:cNvSpPr>
                <a:spLocks noChangeArrowheads="1"/>
              </p:cNvSpPr>
              <p:nvPr/>
            </p:nvSpPr>
            <p:spPr bwMode="auto">
              <a:xfrm>
                <a:off x="1746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40" name="Rectangle 132"/>
              <p:cNvSpPr>
                <a:spLocks noChangeArrowheads="1"/>
              </p:cNvSpPr>
              <p:nvPr/>
            </p:nvSpPr>
            <p:spPr bwMode="auto">
              <a:xfrm>
                <a:off x="1111" y="1892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4</a:t>
                </a:r>
                <a:endParaRPr lang="en-US" altLang="zh-CN" sz="2000"/>
              </a:p>
            </p:txBody>
          </p:sp>
          <p:sp>
            <p:nvSpPr>
              <p:cNvPr id="222341" name="Rectangle 133"/>
              <p:cNvSpPr>
                <a:spLocks noChangeArrowheads="1"/>
              </p:cNvSpPr>
              <p:nvPr/>
            </p:nvSpPr>
            <p:spPr bwMode="auto">
              <a:xfrm>
                <a:off x="2427" y="1643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42" name="Rectangle 134"/>
              <p:cNvSpPr>
                <a:spLocks noChangeArrowheads="1"/>
              </p:cNvSpPr>
              <p:nvPr/>
            </p:nvSpPr>
            <p:spPr bwMode="auto">
              <a:xfrm>
                <a:off x="2200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43" name="Rectangle 135"/>
              <p:cNvSpPr>
                <a:spLocks noChangeArrowheads="1"/>
              </p:cNvSpPr>
              <p:nvPr/>
            </p:nvSpPr>
            <p:spPr bwMode="auto">
              <a:xfrm>
                <a:off x="1973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44" name="Rectangle 136"/>
              <p:cNvSpPr>
                <a:spLocks noChangeArrowheads="1"/>
              </p:cNvSpPr>
              <p:nvPr/>
            </p:nvSpPr>
            <p:spPr bwMode="auto">
              <a:xfrm>
                <a:off x="1746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222345" name="Rectangle 137"/>
              <p:cNvSpPr>
                <a:spLocks noChangeArrowheads="1"/>
              </p:cNvSpPr>
              <p:nvPr/>
            </p:nvSpPr>
            <p:spPr bwMode="auto">
              <a:xfrm>
                <a:off x="1111" y="1643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en-US" altLang="zh-CN" sz="2000"/>
              </a:p>
            </p:txBody>
          </p:sp>
          <p:sp>
            <p:nvSpPr>
              <p:cNvPr id="222346" name="Rectangle 138"/>
              <p:cNvSpPr>
                <a:spLocks noChangeArrowheads="1"/>
              </p:cNvSpPr>
              <p:nvPr/>
            </p:nvSpPr>
            <p:spPr bwMode="auto">
              <a:xfrm>
                <a:off x="668" y="1643"/>
                <a:ext cx="443" cy="7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en-US" altLang="zh-CN" sz="200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222347" name="Rectangle 139"/>
              <p:cNvSpPr>
                <a:spLocks noChangeArrowheads="1"/>
              </p:cNvSpPr>
              <p:nvPr/>
            </p:nvSpPr>
            <p:spPr bwMode="auto">
              <a:xfrm>
                <a:off x="2427" y="1344"/>
                <a:ext cx="226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A</a:t>
                </a:r>
                <a:endParaRPr lang="en-US" altLang="zh-CN" sz="2000"/>
              </a:p>
            </p:txBody>
          </p:sp>
          <p:sp>
            <p:nvSpPr>
              <p:cNvPr id="222348" name="Rectangle 140"/>
              <p:cNvSpPr>
                <a:spLocks noChangeArrowheads="1"/>
              </p:cNvSpPr>
              <p:nvPr/>
            </p:nvSpPr>
            <p:spPr bwMode="auto">
              <a:xfrm>
                <a:off x="2200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B</a:t>
                </a:r>
                <a:endParaRPr lang="en-US" altLang="zh-CN" sz="2000"/>
              </a:p>
            </p:txBody>
          </p:sp>
          <p:sp>
            <p:nvSpPr>
              <p:cNvPr id="222349" name="Rectangle 141"/>
              <p:cNvSpPr>
                <a:spLocks noChangeArrowheads="1"/>
              </p:cNvSpPr>
              <p:nvPr/>
            </p:nvSpPr>
            <p:spPr bwMode="auto">
              <a:xfrm>
                <a:off x="1973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C</a:t>
                </a:r>
                <a:endParaRPr lang="en-US" altLang="zh-CN" sz="2000"/>
              </a:p>
            </p:txBody>
          </p:sp>
          <p:sp>
            <p:nvSpPr>
              <p:cNvPr id="222350" name="Rectangle 142"/>
              <p:cNvSpPr>
                <a:spLocks noChangeArrowheads="1"/>
              </p:cNvSpPr>
              <p:nvPr/>
            </p:nvSpPr>
            <p:spPr bwMode="auto">
              <a:xfrm>
                <a:off x="1746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222351" name="Rectangle 143"/>
              <p:cNvSpPr>
                <a:spLocks noChangeArrowheads="1"/>
              </p:cNvSpPr>
              <p:nvPr/>
            </p:nvSpPr>
            <p:spPr bwMode="auto">
              <a:xfrm>
                <a:off x="1111" y="1344"/>
                <a:ext cx="635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最小项</a:t>
                </a:r>
                <a:endParaRPr lang="zh-CN" altLang="en-US" sz="2000"/>
              </a:p>
            </p:txBody>
          </p:sp>
          <p:sp>
            <p:nvSpPr>
              <p:cNvPr id="222352" name="Rectangle 144"/>
              <p:cNvSpPr>
                <a:spLocks noChangeArrowheads="1"/>
              </p:cNvSpPr>
              <p:nvPr/>
            </p:nvSpPr>
            <p:spPr bwMode="auto">
              <a:xfrm>
                <a:off x="668" y="1344"/>
                <a:ext cx="443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组号</a:t>
                </a:r>
                <a:endParaRPr lang="zh-CN" altLang="en-US" sz="2000"/>
              </a:p>
            </p:txBody>
          </p:sp>
          <p:sp>
            <p:nvSpPr>
              <p:cNvPr id="222353" name="Line 145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4" name="Line 146"/>
              <p:cNvSpPr>
                <a:spLocks noChangeShapeType="1"/>
              </p:cNvSpPr>
              <p:nvPr/>
            </p:nvSpPr>
            <p:spPr bwMode="auto">
              <a:xfrm>
                <a:off x="668" y="1643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5" name="Line 147"/>
              <p:cNvSpPr>
                <a:spLocks noChangeShapeType="1"/>
              </p:cNvSpPr>
              <p:nvPr/>
            </p:nvSpPr>
            <p:spPr bwMode="auto">
              <a:xfrm>
                <a:off x="668" y="2390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6" name="Line 148"/>
              <p:cNvSpPr>
                <a:spLocks noChangeShapeType="1"/>
              </p:cNvSpPr>
              <p:nvPr/>
            </p:nvSpPr>
            <p:spPr bwMode="auto">
              <a:xfrm>
                <a:off x="668" y="3386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7" name="Line 149"/>
              <p:cNvSpPr>
                <a:spLocks noChangeShapeType="1"/>
              </p:cNvSpPr>
              <p:nvPr/>
            </p:nvSpPr>
            <p:spPr bwMode="auto">
              <a:xfrm>
                <a:off x="668" y="388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8" name="Line 150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9" name="Line 151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0" name="Line 152"/>
              <p:cNvSpPr>
                <a:spLocks noChangeShapeType="1"/>
              </p:cNvSpPr>
              <p:nvPr/>
            </p:nvSpPr>
            <p:spPr bwMode="auto">
              <a:xfrm>
                <a:off x="1746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1" name="Line 153"/>
              <p:cNvSpPr>
                <a:spLocks noChangeShapeType="1"/>
              </p:cNvSpPr>
              <p:nvPr/>
            </p:nvSpPr>
            <p:spPr bwMode="auto">
              <a:xfrm>
                <a:off x="1973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2" name="Line 154"/>
              <p:cNvSpPr>
                <a:spLocks noChangeShapeType="1"/>
              </p:cNvSpPr>
              <p:nvPr/>
            </p:nvSpPr>
            <p:spPr bwMode="auto">
              <a:xfrm>
                <a:off x="2200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3" name="Line 155"/>
              <p:cNvSpPr>
                <a:spLocks noChangeShapeType="1"/>
              </p:cNvSpPr>
              <p:nvPr/>
            </p:nvSpPr>
            <p:spPr bwMode="auto">
              <a:xfrm>
                <a:off x="2427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4" name="Line 156"/>
              <p:cNvSpPr>
                <a:spLocks noChangeShapeType="1"/>
              </p:cNvSpPr>
              <p:nvPr/>
            </p:nvSpPr>
            <p:spPr bwMode="auto">
              <a:xfrm>
                <a:off x="2653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5" name="Line 157"/>
              <p:cNvSpPr>
                <a:spLocks noChangeShapeType="1"/>
              </p:cNvSpPr>
              <p:nvPr/>
            </p:nvSpPr>
            <p:spPr bwMode="auto">
              <a:xfrm>
                <a:off x="1111" y="1892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6" name="Line 158"/>
              <p:cNvSpPr>
                <a:spLocks noChangeShapeType="1"/>
              </p:cNvSpPr>
              <p:nvPr/>
            </p:nvSpPr>
            <p:spPr bwMode="auto">
              <a:xfrm>
                <a:off x="1111" y="2141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7" name="Line 159"/>
              <p:cNvSpPr>
                <a:spLocks noChangeShapeType="1"/>
              </p:cNvSpPr>
              <p:nvPr/>
            </p:nvSpPr>
            <p:spPr bwMode="auto">
              <a:xfrm>
                <a:off x="1111" y="2639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8" name="Line 160"/>
              <p:cNvSpPr>
                <a:spLocks noChangeShapeType="1"/>
              </p:cNvSpPr>
              <p:nvPr/>
            </p:nvSpPr>
            <p:spPr bwMode="auto">
              <a:xfrm>
                <a:off x="1111" y="2888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9" name="Line 161"/>
              <p:cNvSpPr>
                <a:spLocks noChangeShapeType="1"/>
              </p:cNvSpPr>
              <p:nvPr/>
            </p:nvSpPr>
            <p:spPr bwMode="auto">
              <a:xfrm>
                <a:off x="1111" y="3137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70" name="Line 162"/>
              <p:cNvSpPr>
                <a:spLocks noChangeShapeType="1"/>
              </p:cNvSpPr>
              <p:nvPr/>
            </p:nvSpPr>
            <p:spPr bwMode="auto">
              <a:xfrm>
                <a:off x="1111" y="3635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71" name="Rectangle 163"/>
              <p:cNvSpPr>
                <a:spLocks noChangeArrowheads="1"/>
              </p:cNvSpPr>
              <p:nvPr/>
            </p:nvSpPr>
            <p:spPr bwMode="auto">
              <a:xfrm>
                <a:off x="1429" y="1056"/>
                <a:ext cx="2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r>
                  <a:rPr kumimoji="0" lang="zh-CN" altLang="en-US">
                    <a:latin typeface="Tahoma" panose="020B0604030504040204" pitchFamily="34" charset="0"/>
                  </a:rPr>
                  <a:t>表</a:t>
                </a:r>
                <a:r>
                  <a:rPr kumimoji="0" lang="en-US" altLang="zh-CN">
                    <a:latin typeface="Tahoma" panose="020B0604030504040204" pitchFamily="34" charset="0"/>
                  </a:rPr>
                  <a:t>I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22372" name="Line 164"/>
            <p:cNvSpPr>
              <a:spLocks noChangeShapeType="1"/>
            </p:cNvSpPr>
            <p:nvPr/>
          </p:nvSpPr>
          <p:spPr bwMode="auto">
            <a:xfrm flipH="1">
              <a:off x="3840" y="38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97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FC02-63BC-4AF6-8CDC-760838BB153A}" type="slidenum">
              <a:rPr lang="en-US" altLang="zh-CN"/>
            </a:fld>
            <a:endParaRPr lang="en-US" altLang="zh-CN"/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914400" y="2423547"/>
            <a:ext cx="77406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）在表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的相邻组间进行逐项搜索，寻找相邻项，把可以合并的记在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hlinkClick r:id="rId1" action="ppaction://hlinksldjump"/>
              </a:rPr>
              <a:t>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hlinkClick r:id="rId1" action="ppaction://hlinksldjump"/>
              </a:rPr>
              <a:t>II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中，并在表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中相应的最小项旁作记号“√”。表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所列均是变量数为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的与项（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的变量数），它们同样按与项所含“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的个数由少到多，分组排列。 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）重复上述过程，直到不能合并为止。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304800" y="1524000"/>
            <a:ext cx="8610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2.4 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逻辑函数的表格法化简</a:t>
            </a:r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(Q-M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法</a:t>
            </a:r>
            <a:r>
              <a:rPr lang="en-US" altLang="zh-CN" sz="320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9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763000" cy="1431925"/>
          </a:xfrm>
        </p:spPr>
        <p:txBody>
          <a:bodyPr/>
          <a:lstStyle/>
          <a:p>
            <a:r>
              <a:rPr lang="en-US" altLang="zh-CN"/>
              <a:t>2.4</a:t>
            </a:r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 sz="3600"/>
          </a:p>
        </p:txBody>
      </p:sp>
      <p:sp>
        <p:nvSpPr>
          <p:cNvPr id="1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6E77-ED44-48E0-9C97-610FC5870392}" type="slidenum">
              <a:rPr lang="en-US" altLang="zh-CN"/>
            </a:fld>
            <a:endParaRPr lang="en-US" altLang="zh-CN"/>
          </a:p>
        </p:txBody>
      </p:sp>
      <p:grpSp>
        <p:nvGrpSpPr>
          <p:cNvPr id="176131" name="Group 3"/>
          <p:cNvGrpSpPr/>
          <p:nvPr/>
        </p:nvGrpSpPr>
        <p:grpSpPr bwMode="auto">
          <a:xfrm>
            <a:off x="5868988" y="4580912"/>
            <a:ext cx="2447925" cy="534989"/>
            <a:chOff x="3697" y="2868"/>
            <a:chExt cx="1542" cy="337"/>
          </a:xfrm>
        </p:grpSpPr>
        <p:sp>
          <p:nvSpPr>
            <p:cNvPr id="176132" name="Rectangle 4"/>
            <p:cNvSpPr>
              <a:spLocks noChangeArrowheads="1"/>
            </p:cNvSpPr>
            <p:nvPr/>
          </p:nvSpPr>
          <p:spPr bwMode="auto">
            <a:xfrm>
              <a:off x="5013" y="2956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33" name="Rectangle 5"/>
            <p:cNvSpPr>
              <a:spLocks noChangeArrowheads="1"/>
            </p:cNvSpPr>
            <p:nvPr/>
          </p:nvSpPr>
          <p:spPr bwMode="auto">
            <a:xfrm>
              <a:off x="4786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34" name="Rectangle 6"/>
            <p:cNvSpPr>
              <a:spLocks noChangeArrowheads="1"/>
            </p:cNvSpPr>
            <p:nvPr/>
          </p:nvSpPr>
          <p:spPr bwMode="auto">
            <a:xfrm>
              <a:off x="4559" y="286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35" name="Rectangle 7"/>
            <p:cNvSpPr>
              <a:spLocks noChangeArrowheads="1"/>
            </p:cNvSpPr>
            <p:nvPr/>
          </p:nvSpPr>
          <p:spPr bwMode="auto">
            <a:xfrm>
              <a:off x="4332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36" name="Rectangle 8"/>
            <p:cNvSpPr>
              <a:spLocks noChangeArrowheads="1"/>
            </p:cNvSpPr>
            <p:nvPr/>
          </p:nvSpPr>
          <p:spPr bwMode="auto">
            <a:xfrm>
              <a:off x="3697" y="2956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8,12</a:t>
              </a:r>
              <a:endParaRPr lang="en-US" altLang="zh-CN" sz="2000"/>
            </a:p>
          </p:txBody>
        </p:sp>
      </p:grpSp>
      <p:grpSp>
        <p:nvGrpSpPr>
          <p:cNvPr id="176137" name="Group 9"/>
          <p:cNvGrpSpPr/>
          <p:nvPr/>
        </p:nvGrpSpPr>
        <p:grpSpPr bwMode="auto">
          <a:xfrm>
            <a:off x="5868988" y="5804870"/>
            <a:ext cx="2447925" cy="496887"/>
            <a:chOff x="3697" y="3639"/>
            <a:chExt cx="1542" cy="313"/>
          </a:xfrm>
        </p:grpSpPr>
        <p:sp>
          <p:nvSpPr>
            <p:cNvPr id="176138" name="Rectangle 10"/>
            <p:cNvSpPr>
              <a:spLocks noChangeArrowheads="1"/>
            </p:cNvSpPr>
            <p:nvPr/>
          </p:nvSpPr>
          <p:spPr bwMode="auto">
            <a:xfrm>
              <a:off x="5013" y="3703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39" name="Rectangle 11"/>
            <p:cNvSpPr>
              <a:spLocks noChangeArrowheads="1"/>
            </p:cNvSpPr>
            <p:nvPr/>
          </p:nvSpPr>
          <p:spPr bwMode="auto">
            <a:xfrm>
              <a:off x="4786" y="363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40" name="Rectangle 12"/>
            <p:cNvSpPr>
              <a:spLocks noChangeArrowheads="1"/>
            </p:cNvSpPr>
            <p:nvPr/>
          </p:nvSpPr>
          <p:spPr bwMode="auto">
            <a:xfrm>
              <a:off x="4559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41" name="Rectangle 13"/>
            <p:cNvSpPr>
              <a:spLocks noChangeArrowheads="1"/>
            </p:cNvSpPr>
            <p:nvPr/>
          </p:nvSpPr>
          <p:spPr bwMode="auto">
            <a:xfrm>
              <a:off x="4332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42" name="Rectangle 14"/>
            <p:cNvSpPr>
              <a:spLocks noChangeArrowheads="1"/>
            </p:cNvSpPr>
            <p:nvPr/>
          </p:nvSpPr>
          <p:spPr bwMode="auto">
            <a:xfrm>
              <a:off x="3697" y="3703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13,15</a:t>
              </a:r>
              <a:endParaRPr lang="en-US" altLang="zh-CN" sz="2000"/>
            </a:p>
          </p:txBody>
        </p:sp>
      </p:grpSp>
      <p:grpSp>
        <p:nvGrpSpPr>
          <p:cNvPr id="176143" name="Group 15"/>
          <p:cNvGrpSpPr/>
          <p:nvPr/>
        </p:nvGrpSpPr>
        <p:grpSpPr bwMode="auto">
          <a:xfrm>
            <a:off x="5868988" y="5373071"/>
            <a:ext cx="2447925" cy="533401"/>
            <a:chOff x="3697" y="3367"/>
            <a:chExt cx="1542" cy="336"/>
          </a:xfrm>
        </p:grpSpPr>
        <p:sp>
          <p:nvSpPr>
            <p:cNvPr id="176144" name="Rectangle 16"/>
            <p:cNvSpPr>
              <a:spLocks noChangeArrowheads="1"/>
            </p:cNvSpPr>
            <p:nvPr/>
          </p:nvSpPr>
          <p:spPr bwMode="auto">
            <a:xfrm>
              <a:off x="5013" y="336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45" name="Rectangle 17"/>
            <p:cNvSpPr>
              <a:spLocks noChangeArrowheads="1"/>
            </p:cNvSpPr>
            <p:nvPr/>
          </p:nvSpPr>
          <p:spPr bwMode="auto">
            <a:xfrm>
              <a:off x="4786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46" name="Rectangle 18"/>
            <p:cNvSpPr>
              <a:spLocks noChangeArrowheads="1"/>
            </p:cNvSpPr>
            <p:nvPr/>
          </p:nvSpPr>
          <p:spPr bwMode="auto">
            <a:xfrm>
              <a:off x="4559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47" name="Rectangle 19"/>
            <p:cNvSpPr>
              <a:spLocks noChangeArrowheads="1"/>
            </p:cNvSpPr>
            <p:nvPr/>
          </p:nvSpPr>
          <p:spPr bwMode="auto">
            <a:xfrm>
              <a:off x="4332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48" name="Rectangle 20"/>
            <p:cNvSpPr>
              <a:spLocks noChangeArrowheads="1"/>
            </p:cNvSpPr>
            <p:nvPr/>
          </p:nvSpPr>
          <p:spPr bwMode="auto">
            <a:xfrm>
              <a:off x="3697" y="3454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12,13</a:t>
              </a:r>
              <a:endParaRPr lang="en-US" altLang="zh-CN" sz="2000"/>
            </a:p>
          </p:txBody>
        </p:sp>
      </p:grpSp>
      <p:grpSp>
        <p:nvGrpSpPr>
          <p:cNvPr id="176149" name="Group 21"/>
          <p:cNvGrpSpPr/>
          <p:nvPr/>
        </p:nvGrpSpPr>
        <p:grpSpPr bwMode="auto">
          <a:xfrm>
            <a:off x="5868988" y="5012702"/>
            <a:ext cx="2447925" cy="498474"/>
            <a:chOff x="3697" y="3140"/>
            <a:chExt cx="1542" cy="314"/>
          </a:xfrm>
        </p:grpSpPr>
        <p:sp>
          <p:nvSpPr>
            <p:cNvPr id="176150" name="Rectangle 22"/>
            <p:cNvSpPr>
              <a:spLocks noChangeArrowheads="1"/>
            </p:cNvSpPr>
            <p:nvPr/>
          </p:nvSpPr>
          <p:spPr bwMode="auto">
            <a:xfrm>
              <a:off x="5013" y="3205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51" name="Rectangle 23"/>
            <p:cNvSpPr>
              <a:spLocks noChangeArrowheads="1"/>
            </p:cNvSpPr>
            <p:nvPr/>
          </p:nvSpPr>
          <p:spPr bwMode="auto">
            <a:xfrm>
              <a:off x="4786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52" name="Rectangle 24"/>
            <p:cNvSpPr>
              <a:spLocks noChangeArrowheads="1"/>
            </p:cNvSpPr>
            <p:nvPr/>
          </p:nvSpPr>
          <p:spPr bwMode="auto">
            <a:xfrm>
              <a:off x="4559" y="314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53" name="Rectangle 25"/>
            <p:cNvSpPr>
              <a:spLocks noChangeArrowheads="1"/>
            </p:cNvSpPr>
            <p:nvPr/>
          </p:nvSpPr>
          <p:spPr bwMode="auto">
            <a:xfrm>
              <a:off x="4332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54" name="Rectangle 26"/>
            <p:cNvSpPr>
              <a:spLocks noChangeArrowheads="1"/>
            </p:cNvSpPr>
            <p:nvPr/>
          </p:nvSpPr>
          <p:spPr bwMode="auto">
            <a:xfrm>
              <a:off x="3697" y="3205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9,13</a:t>
              </a:r>
              <a:endParaRPr lang="en-US" altLang="zh-CN" sz="2000"/>
            </a:p>
          </p:txBody>
        </p:sp>
      </p:grpSp>
      <p:grpSp>
        <p:nvGrpSpPr>
          <p:cNvPr id="176155" name="Group 27"/>
          <p:cNvGrpSpPr/>
          <p:nvPr/>
        </p:nvGrpSpPr>
        <p:grpSpPr bwMode="auto">
          <a:xfrm>
            <a:off x="5868988" y="4220544"/>
            <a:ext cx="2447925" cy="500062"/>
            <a:chOff x="3697" y="2641"/>
            <a:chExt cx="1542" cy="315"/>
          </a:xfrm>
        </p:grpSpPr>
        <p:sp>
          <p:nvSpPr>
            <p:cNvPr id="176156" name="Rectangle 28"/>
            <p:cNvSpPr>
              <a:spLocks noChangeArrowheads="1"/>
            </p:cNvSpPr>
            <p:nvPr/>
          </p:nvSpPr>
          <p:spPr bwMode="auto">
            <a:xfrm>
              <a:off x="5013" y="270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57" name="Rectangle 29"/>
            <p:cNvSpPr>
              <a:spLocks noChangeArrowheads="1"/>
            </p:cNvSpPr>
            <p:nvPr/>
          </p:nvSpPr>
          <p:spPr bwMode="auto">
            <a:xfrm>
              <a:off x="4786" y="264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58" name="Rectangle 30"/>
            <p:cNvSpPr>
              <a:spLocks noChangeArrowheads="1"/>
            </p:cNvSpPr>
            <p:nvPr/>
          </p:nvSpPr>
          <p:spPr bwMode="auto">
            <a:xfrm>
              <a:off x="4559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59" name="Rectangle 31"/>
            <p:cNvSpPr>
              <a:spLocks noChangeArrowheads="1"/>
            </p:cNvSpPr>
            <p:nvPr/>
          </p:nvSpPr>
          <p:spPr bwMode="auto">
            <a:xfrm>
              <a:off x="4332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60" name="Rectangle 32"/>
            <p:cNvSpPr>
              <a:spLocks noChangeArrowheads="1"/>
            </p:cNvSpPr>
            <p:nvPr/>
          </p:nvSpPr>
          <p:spPr bwMode="auto">
            <a:xfrm>
              <a:off x="3697" y="2707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8,10</a:t>
              </a:r>
              <a:endParaRPr lang="en-US" altLang="zh-CN" sz="2000"/>
            </a:p>
          </p:txBody>
        </p:sp>
      </p:grpSp>
      <p:grpSp>
        <p:nvGrpSpPr>
          <p:cNvPr id="176161" name="Group 33"/>
          <p:cNvGrpSpPr/>
          <p:nvPr/>
        </p:nvGrpSpPr>
        <p:grpSpPr bwMode="auto">
          <a:xfrm>
            <a:off x="5868988" y="3788745"/>
            <a:ext cx="2447925" cy="536576"/>
            <a:chOff x="3697" y="2369"/>
            <a:chExt cx="1542" cy="338"/>
          </a:xfrm>
        </p:grpSpPr>
        <p:sp>
          <p:nvSpPr>
            <p:cNvPr id="176162" name="Rectangle 34"/>
            <p:cNvSpPr>
              <a:spLocks noChangeArrowheads="1"/>
            </p:cNvSpPr>
            <p:nvPr/>
          </p:nvSpPr>
          <p:spPr bwMode="auto">
            <a:xfrm>
              <a:off x="5013" y="236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63" name="Rectangle 35"/>
            <p:cNvSpPr>
              <a:spLocks noChangeArrowheads="1"/>
            </p:cNvSpPr>
            <p:nvPr/>
          </p:nvSpPr>
          <p:spPr bwMode="auto">
            <a:xfrm>
              <a:off x="4786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64" name="Rectangle 36"/>
            <p:cNvSpPr>
              <a:spLocks noChangeArrowheads="1"/>
            </p:cNvSpPr>
            <p:nvPr/>
          </p:nvSpPr>
          <p:spPr bwMode="auto">
            <a:xfrm>
              <a:off x="4559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65" name="Rectangle 37"/>
            <p:cNvSpPr>
              <a:spLocks noChangeArrowheads="1"/>
            </p:cNvSpPr>
            <p:nvPr/>
          </p:nvSpPr>
          <p:spPr bwMode="auto">
            <a:xfrm>
              <a:off x="4332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66" name="Rectangle 38"/>
            <p:cNvSpPr>
              <a:spLocks noChangeArrowheads="1"/>
            </p:cNvSpPr>
            <p:nvPr/>
          </p:nvSpPr>
          <p:spPr bwMode="auto">
            <a:xfrm>
              <a:off x="3697" y="2458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8,9</a:t>
              </a:r>
              <a:endParaRPr lang="en-US" altLang="zh-CN" sz="2000"/>
            </a:p>
          </p:txBody>
        </p:sp>
      </p:grpSp>
      <p:grpSp>
        <p:nvGrpSpPr>
          <p:cNvPr id="176167" name="Group 39"/>
          <p:cNvGrpSpPr/>
          <p:nvPr/>
        </p:nvGrpSpPr>
        <p:grpSpPr bwMode="auto">
          <a:xfrm>
            <a:off x="5868988" y="3428378"/>
            <a:ext cx="2447925" cy="501649"/>
            <a:chOff x="3697" y="2142"/>
            <a:chExt cx="1542" cy="316"/>
          </a:xfrm>
        </p:grpSpPr>
        <p:sp>
          <p:nvSpPr>
            <p:cNvPr id="176168" name="Rectangle 40"/>
            <p:cNvSpPr>
              <a:spLocks noChangeArrowheads="1"/>
            </p:cNvSpPr>
            <p:nvPr/>
          </p:nvSpPr>
          <p:spPr bwMode="auto">
            <a:xfrm>
              <a:off x="5013" y="220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69" name="Rectangle 41"/>
            <p:cNvSpPr>
              <a:spLocks noChangeArrowheads="1"/>
            </p:cNvSpPr>
            <p:nvPr/>
          </p:nvSpPr>
          <p:spPr bwMode="auto">
            <a:xfrm>
              <a:off x="4786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70" name="Rectangle 42"/>
            <p:cNvSpPr>
              <a:spLocks noChangeArrowheads="1"/>
            </p:cNvSpPr>
            <p:nvPr/>
          </p:nvSpPr>
          <p:spPr bwMode="auto">
            <a:xfrm>
              <a:off x="4559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71" name="Rectangle 43"/>
            <p:cNvSpPr>
              <a:spLocks noChangeArrowheads="1"/>
            </p:cNvSpPr>
            <p:nvPr/>
          </p:nvSpPr>
          <p:spPr bwMode="auto">
            <a:xfrm>
              <a:off x="4332" y="214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72" name="Rectangle 44"/>
            <p:cNvSpPr>
              <a:spLocks noChangeArrowheads="1"/>
            </p:cNvSpPr>
            <p:nvPr/>
          </p:nvSpPr>
          <p:spPr bwMode="auto">
            <a:xfrm>
              <a:off x="3697" y="2209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4,12</a:t>
              </a:r>
              <a:endParaRPr lang="en-US" altLang="zh-CN" sz="2000"/>
            </a:p>
          </p:txBody>
        </p:sp>
      </p:grpSp>
      <p:grpSp>
        <p:nvGrpSpPr>
          <p:cNvPr id="176173" name="Group 45"/>
          <p:cNvGrpSpPr/>
          <p:nvPr/>
        </p:nvGrpSpPr>
        <p:grpSpPr bwMode="auto">
          <a:xfrm>
            <a:off x="5868988" y="2996578"/>
            <a:ext cx="2447925" cy="538163"/>
            <a:chOff x="3697" y="1870"/>
            <a:chExt cx="1542" cy="339"/>
          </a:xfrm>
        </p:grpSpPr>
        <p:sp>
          <p:nvSpPr>
            <p:cNvPr id="176174" name="Rectangle 46"/>
            <p:cNvSpPr>
              <a:spLocks noChangeArrowheads="1"/>
            </p:cNvSpPr>
            <p:nvPr/>
          </p:nvSpPr>
          <p:spPr bwMode="auto">
            <a:xfrm>
              <a:off x="5013" y="1960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75" name="Rectangle 47"/>
            <p:cNvSpPr>
              <a:spLocks noChangeArrowheads="1"/>
            </p:cNvSpPr>
            <p:nvPr/>
          </p:nvSpPr>
          <p:spPr bwMode="auto">
            <a:xfrm>
              <a:off x="4786" y="187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76" name="Rectangle 48"/>
            <p:cNvSpPr>
              <a:spLocks noChangeArrowheads="1"/>
            </p:cNvSpPr>
            <p:nvPr/>
          </p:nvSpPr>
          <p:spPr bwMode="auto">
            <a:xfrm>
              <a:off x="4559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77" name="Rectangle 49"/>
            <p:cNvSpPr>
              <a:spLocks noChangeArrowheads="1"/>
            </p:cNvSpPr>
            <p:nvPr/>
          </p:nvSpPr>
          <p:spPr bwMode="auto">
            <a:xfrm>
              <a:off x="4332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78" name="Rectangle 50"/>
            <p:cNvSpPr>
              <a:spLocks noChangeArrowheads="1"/>
            </p:cNvSpPr>
            <p:nvPr/>
          </p:nvSpPr>
          <p:spPr bwMode="auto">
            <a:xfrm>
              <a:off x="3697" y="1960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4,6</a:t>
              </a:r>
              <a:endParaRPr lang="en-US" altLang="zh-CN" sz="2000"/>
            </a:p>
          </p:txBody>
        </p:sp>
      </p:grpSp>
      <p:grpSp>
        <p:nvGrpSpPr>
          <p:cNvPr id="176179" name="Group 51"/>
          <p:cNvGrpSpPr/>
          <p:nvPr/>
        </p:nvGrpSpPr>
        <p:grpSpPr bwMode="auto">
          <a:xfrm>
            <a:off x="5868988" y="2744168"/>
            <a:ext cx="2447925" cy="395287"/>
            <a:chOff x="3697" y="1711"/>
            <a:chExt cx="1542" cy="249"/>
          </a:xfrm>
        </p:grpSpPr>
        <p:sp>
          <p:nvSpPr>
            <p:cNvPr id="176180" name="Rectangle 52"/>
            <p:cNvSpPr>
              <a:spLocks noChangeArrowheads="1"/>
            </p:cNvSpPr>
            <p:nvPr/>
          </p:nvSpPr>
          <p:spPr bwMode="auto">
            <a:xfrm>
              <a:off x="5013" y="1711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81" name="Rectangle 53"/>
            <p:cNvSpPr>
              <a:spLocks noChangeArrowheads="1"/>
            </p:cNvSpPr>
            <p:nvPr/>
          </p:nvSpPr>
          <p:spPr bwMode="auto">
            <a:xfrm>
              <a:off x="4786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82" name="Rectangle 54"/>
            <p:cNvSpPr>
              <a:spLocks noChangeArrowheads="1"/>
            </p:cNvSpPr>
            <p:nvPr/>
          </p:nvSpPr>
          <p:spPr bwMode="auto">
            <a:xfrm>
              <a:off x="4559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83" name="Rectangle 55"/>
            <p:cNvSpPr>
              <a:spLocks noChangeArrowheads="1"/>
            </p:cNvSpPr>
            <p:nvPr/>
          </p:nvSpPr>
          <p:spPr bwMode="auto">
            <a:xfrm>
              <a:off x="4332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84" name="Rectangle 56"/>
            <p:cNvSpPr>
              <a:spLocks noChangeArrowheads="1"/>
            </p:cNvSpPr>
            <p:nvPr/>
          </p:nvSpPr>
          <p:spPr bwMode="auto">
            <a:xfrm>
              <a:off x="3697" y="1711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2,10</a:t>
              </a:r>
              <a:endParaRPr lang="en-US" altLang="zh-CN" sz="2000"/>
            </a:p>
          </p:txBody>
        </p:sp>
      </p:grpSp>
      <p:grpSp>
        <p:nvGrpSpPr>
          <p:cNvPr id="176185" name="Group 57"/>
          <p:cNvGrpSpPr/>
          <p:nvPr/>
        </p:nvGrpSpPr>
        <p:grpSpPr bwMode="auto">
          <a:xfrm>
            <a:off x="5868988" y="2204418"/>
            <a:ext cx="2447925" cy="539751"/>
            <a:chOff x="3697" y="1371"/>
            <a:chExt cx="1542" cy="340"/>
          </a:xfrm>
        </p:grpSpPr>
        <p:sp>
          <p:nvSpPr>
            <p:cNvPr id="176186" name="Rectangle 58"/>
            <p:cNvSpPr>
              <a:spLocks noChangeArrowheads="1"/>
            </p:cNvSpPr>
            <p:nvPr/>
          </p:nvSpPr>
          <p:spPr bwMode="auto">
            <a:xfrm>
              <a:off x="5013" y="1462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87" name="Rectangle 59"/>
            <p:cNvSpPr>
              <a:spLocks noChangeArrowheads="1"/>
            </p:cNvSpPr>
            <p:nvPr/>
          </p:nvSpPr>
          <p:spPr bwMode="auto">
            <a:xfrm>
              <a:off x="4786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188" name="Rectangle 60"/>
            <p:cNvSpPr>
              <a:spLocks noChangeArrowheads="1"/>
            </p:cNvSpPr>
            <p:nvPr/>
          </p:nvSpPr>
          <p:spPr bwMode="auto">
            <a:xfrm>
              <a:off x="4559" y="137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6189" name="Rectangle 61"/>
            <p:cNvSpPr>
              <a:spLocks noChangeArrowheads="1"/>
            </p:cNvSpPr>
            <p:nvPr/>
          </p:nvSpPr>
          <p:spPr bwMode="auto">
            <a:xfrm>
              <a:off x="4332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6190" name="Rectangle 62"/>
            <p:cNvSpPr>
              <a:spLocks noChangeArrowheads="1"/>
            </p:cNvSpPr>
            <p:nvPr/>
          </p:nvSpPr>
          <p:spPr bwMode="auto">
            <a:xfrm>
              <a:off x="3697" y="1462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2,6</a:t>
              </a:r>
              <a:endParaRPr lang="en-US" altLang="zh-CN" sz="2000"/>
            </a:p>
          </p:txBody>
        </p:sp>
      </p:grpSp>
      <p:grpSp>
        <p:nvGrpSpPr>
          <p:cNvPr id="176265" name="Group 137"/>
          <p:cNvGrpSpPr/>
          <p:nvPr/>
        </p:nvGrpSpPr>
        <p:grpSpPr bwMode="auto">
          <a:xfrm>
            <a:off x="5148263" y="1412875"/>
            <a:ext cx="3151187" cy="4932363"/>
            <a:chOff x="3254" y="845"/>
            <a:chExt cx="1985" cy="3107"/>
          </a:xfrm>
        </p:grpSpPr>
        <p:sp>
          <p:nvSpPr>
            <p:cNvPr id="176266" name="Rectangle 138"/>
            <p:cNvSpPr>
              <a:spLocks noChangeArrowheads="1"/>
            </p:cNvSpPr>
            <p:nvPr/>
          </p:nvSpPr>
          <p:spPr bwMode="auto">
            <a:xfrm>
              <a:off x="3254" y="3703"/>
              <a:ext cx="44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3</a:t>
              </a:r>
              <a:endParaRPr lang="en-US" altLang="zh-CN" sz="2000"/>
            </a:p>
          </p:txBody>
        </p:sp>
        <p:sp>
          <p:nvSpPr>
            <p:cNvPr id="176267" name="Rectangle 139"/>
            <p:cNvSpPr>
              <a:spLocks noChangeArrowheads="1"/>
            </p:cNvSpPr>
            <p:nvPr/>
          </p:nvSpPr>
          <p:spPr bwMode="auto">
            <a:xfrm>
              <a:off x="3254" y="3205"/>
              <a:ext cx="443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176268" name="Rectangle 140"/>
            <p:cNvSpPr>
              <a:spLocks noChangeArrowheads="1"/>
            </p:cNvSpPr>
            <p:nvPr/>
          </p:nvSpPr>
          <p:spPr bwMode="auto">
            <a:xfrm>
              <a:off x="3254" y="1462"/>
              <a:ext cx="443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6269" name="Rectangle 141"/>
            <p:cNvSpPr>
              <a:spLocks noChangeArrowheads="1"/>
            </p:cNvSpPr>
            <p:nvPr/>
          </p:nvSpPr>
          <p:spPr bwMode="auto">
            <a:xfrm>
              <a:off x="5013" y="1163"/>
              <a:ext cx="226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  <a:endParaRPr lang="en-US" altLang="zh-CN" sz="2000"/>
            </a:p>
          </p:txBody>
        </p:sp>
        <p:sp>
          <p:nvSpPr>
            <p:cNvPr id="176270" name="Rectangle 142"/>
            <p:cNvSpPr>
              <a:spLocks noChangeArrowheads="1"/>
            </p:cNvSpPr>
            <p:nvPr/>
          </p:nvSpPr>
          <p:spPr bwMode="auto">
            <a:xfrm>
              <a:off x="4786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  <a:endParaRPr lang="en-US" altLang="zh-CN" sz="2000"/>
            </a:p>
          </p:txBody>
        </p:sp>
        <p:sp>
          <p:nvSpPr>
            <p:cNvPr id="176271" name="Rectangle 143"/>
            <p:cNvSpPr>
              <a:spLocks noChangeArrowheads="1"/>
            </p:cNvSpPr>
            <p:nvPr/>
          </p:nvSpPr>
          <p:spPr bwMode="auto">
            <a:xfrm>
              <a:off x="4559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C</a:t>
              </a:r>
              <a:endParaRPr lang="en-US" altLang="zh-CN" sz="2000"/>
            </a:p>
          </p:txBody>
        </p:sp>
        <p:sp>
          <p:nvSpPr>
            <p:cNvPr id="176272" name="Rectangle 144"/>
            <p:cNvSpPr>
              <a:spLocks noChangeArrowheads="1"/>
            </p:cNvSpPr>
            <p:nvPr/>
          </p:nvSpPr>
          <p:spPr bwMode="auto">
            <a:xfrm>
              <a:off x="4332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D</a:t>
              </a:r>
              <a:endParaRPr lang="en-US" altLang="zh-CN" sz="2000"/>
            </a:p>
          </p:txBody>
        </p:sp>
        <p:sp>
          <p:nvSpPr>
            <p:cNvPr id="176273" name="Rectangle 145"/>
            <p:cNvSpPr>
              <a:spLocks noChangeArrowheads="1"/>
            </p:cNvSpPr>
            <p:nvPr/>
          </p:nvSpPr>
          <p:spPr bwMode="auto">
            <a:xfrm>
              <a:off x="3697" y="1163"/>
              <a:ext cx="63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m</a:t>
              </a:r>
              <a:endParaRPr lang="en-US" altLang="zh-CN" sz="2000"/>
            </a:p>
          </p:txBody>
        </p:sp>
        <p:sp>
          <p:nvSpPr>
            <p:cNvPr id="176274" name="Rectangle 146"/>
            <p:cNvSpPr>
              <a:spLocks noChangeArrowheads="1"/>
            </p:cNvSpPr>
            <p:nvPr/>
          </p:nvSpPr>
          <p:spPr bwMode="auto">
            <a:xfrm>
              <a:off x="3254" y="1163"/>
              <a:ext cx="44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组号</a:t>
              </a:r>
              <a:endParaRPr lang="zh-CN" altLang="en-US" sz="2000"/>
            </a:p>
          </p:txBody>
        </p:sp>
        <p:sp>
          <p:nvSpPr>
            <p:cNvPr id="176275" name="Line 147"/>
            <p:cNvSpPr>
              <a:spLocks noChangeShapeType="1"/>
            </p:cNvSpPr>
            <p:nvPr/>
          </p:nvSpPr>
          <p:spPr bwMode="auto">
            <a:xfrm>
              <a:off x="3254" y="1163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Line 148"/>
            <p:cNvSpPr>
              <a:spLocks noChangeShapeType="1"/>
            </p:cNvSpPr>
            <p:nvPr/>
          </p:nvSpPr>
          <p:spPr bwMode="auto">
            <a:xfrm>
              <a:off x="3254" y="1462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Line 149"/>
            <p:cNvSpPr>
              <a:spLocks noChangeShapeType="1"/>
            </p:cNvSpPr>
            <p:nvPr/>
          </p:nvSpPr>
          <p:spPr bwMode="auto">
            <a:xfrm>
              <a:off x="3254" y="3205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Line 150"/>
            <p:cNvSpPr>
              <a:spLocks noChangeShapeType="1"/>
            </p:cNvSpPr>
            <p:nvPr/>
          </p:nvSpPr>
          <p:spPr bwMode="auto">
            <a:xfrm>
              <a:off x="3254" y="3703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Line 151"/>
            <p:cNvSpPr>
              <a:spLocks noChangeShapeType="1"/>
            </p:cNvSpPr>
            <p:nvPr/>
          </p:nvSpPr>
          <p:spPr bwMode="auto">
            <a:xfrm>
              <a:off x="3254" y="3952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Line 152"/>
            <p:cNvSpPr>
              <a:spLocks noChangeShapeType="1"/>
            </p:cNvSpPr>
            <p:nvPr/>
          </p:nvSpPr>
          <p:spPr bwMode="auto">
            <a:xfrm>
              <a:off x="3254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Line 153"/>
            <p:cNvSpPr>
              <a:spLocks noChangeShapeType="1"/>
            </p:cNvSpPr>
            <p:nvPr/>
          </p:nvSpPr>
          <p:spPr bwMode="auto">
            <a:xfrm>
              <a:off x="3697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Line 154"/>
            <p:cNvSpPr>
              <a:spLocks noChangeShapeType="1"/>
            </p:cNvSpPr>
            <p:nvPr/>
          </p:nvSpPr>
          <p:spPr bwMode="auto">
            <a:xfrm>
              <a:off x="4332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Line 155"/>
            <p:cNvSpPr>
              <a:spLocks noChangeShapeType="1"/>
            </p:cNvSpPr>
            <p:nvPr/>
          </p:nvSpPr>
          <p:spPr bwMode="auto">
            <a:xfrm>
              <a:off x="4559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Line 156"/>
            <p:cNvSpPr>
              <a:spLocks noChangeShapeType="1"/>
            </p:cNvSpPr>
            <p:nvPr/>
          </p:nvSpPr>
          <p:spPr bwMode="auto">
            <a:xfrm>
              <a:off x="4786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Line 157"/>
            <p:cNvSpPr>
              <a:spLocks noChangeShapeType="1"/>
            </p:cNvSpPr>
            <p:nvPr/>
          </p:nvSpPr>
          <p:spPr bwMode="auto">
            <a:xfrm>
              <a:off x="5013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Line 158"/>
            <p:cNvSpPr>
              <a:spLocks noChangeShapeType="1"/>
            </p:cNvSpPr>
            <p:nvPr/>
          </p:nvSpPr>
          <p:spPr bwMode="auto">
            <a:xfrm>
              <a:off x="5239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Line 159"/>
            <p:cNvSpPr>
              <a:spLocks noChangeShapeType="1"/>
            </p:cNvSpPr>
            <p:nvPr/>
          </p:nvSpPr>
          <p:spPr bwMode="auto">
            <a:xfrm>
              <a:off x="3697" y="1711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Line 160"/>
            <p:cNvSpPr>
              <a:spLocks noChangeShapeType="1"/>
            </p:cNvSpPr>
            <p:nvPr/>
          </p:nvSpPr>
          <p:spPr bwMode="auto">
            <a:xfrm>
              <a:off x="3697" y="1960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Line 161"/>
            <p:cNvSpPr>
              <a:spLocks noChangeShapeType="1"/>
            </p:cNvSpPr>
            <p:nvPr/>
          </p:nvSpPr>
          <p:spPr bwMode="auto">
            <a:xfrm>
              <a:off x="3697" y="2209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Line 162"/>
            <p:cNvSpPr>
              <a:spLocks noChangeShapeType="1"/>
            </p:cNvSpPr>
            <p:nvPr/>
          </p:nvSpPr>
          <p:spPr bwMode="auto">
            <a:xfrm>
              <a:off x="3697" y="2458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1" name="Line 163"/>
            <p:cNvSpPr>
              <a:spLocks noChangeShapeType="1"/>
            </p:cNvSpPr>
            <p:nvPr/>
          </p:nvSpPr>
          <p:spPr bwMode="auto">
            <a:xfrm>
              <a:off x="3697" y="2707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2" name="Line 164"/>
            <p:cNvSpPr>
              <a:spLocks noChangeShapeType="1"/>
            </p:cNvSpPr>
            <p:nvPr/>
          </p:nvSpPr>
          <p:spPr bwMode="auto">
            <a:xfrm>
              <a:off x="3697" y="2956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3" name="Line 165"/>
            <p:cNvSpPr>
              <a:spLocks noChangeShapeType="1"/>
            </p:cNvSpPr>
            <p:nvPr/>
          </p:nvSpPr>
          <p:spPr bwMode="auto">
            <a:xfrm>
              <a:off x="3697" y="3454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4" name="Rectangle 166"/>
            <p:cNvSpPr>
              <a:spLocks noChangeArrowheads="1"/>
            </p:cNvSpPr>
            <p:nvPr/>
          </p:nvSpPr>
          <p:spPr bwMode="auto">
            <a:xfrm>
              <a:off x="4014" y="84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76295" name="Rectangle 167"/>
          <p:cNvSpPr>
            <a:spLocks noChangeArrowheads="1"/>
          </p:cNvSpPr>
          <p:nvPr/>
        </p:nvSpPr>
        <p:spPr bwMode="auto">
          <a:xfrm>
            <a:off x="4284786" y="304383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296" name="Rectangle 168"/>
          <p:cNvSpPr>
            <a:spLocks noChangeArrowheads="1"/>
          </p:cNvSpPr>
          <p:nvPr/>
        </p:nvSpPr>
        <p:spPr bwMode="auto">
          <a:xfrm>
            <a:off x="4299074" y="265965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297" name="Rectangle 169"/>
          <p:cNvSpPr>
            <a:spLocks noChangeArrowheads="1"/>
          </p:cNvSpPr>
          <p:nvPr/>
        </p:nvSpPr>
        <p:spPr bwMode="auto">
          <a:xfrm>
            <a:off x="4299074" y="347722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298" name="Rectangle 170"/>
          <p:cNvSpPr>
            <a:spLocks noChangeArrowheads="1"/>
          </p:cNvSpPr>
          <p:nvPr/>
        </p:nvSpPr>
        <p:spPr bwMode="auto">
          <a:xfrm>
            <a:off x="4284786" y="426938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299" name="Rectangle 171"/>
          <p:cNvSpPr>
            <a:spLocks noChangeArrowheads="1"/>
          </p:cNvSpPr>
          <p:nvPr/>
        </p:nvSpPr>
        <p:spPr bwMode="auto">
          <a:xfrm>
            <a:off x="4284786" y="383599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300" name="Rectangle 172"/>
          <p:cNvSpPr>
            <a:spLocks noChangeArrowheads="1"/>
          </p:cNvSpPr>
          <p:nvPr/>
        </p:nvSpPr>
        <p:spPr bwMode="auto">
          <a:xfrm>
            <a:off x="4284786" y="467578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301" name="Rectangle 173"/>
          <p:cNvSpPr>
            <a:spLocks noChangeArrowheads="1"/>
          </p:cNvSpPr>
          <p:nvPr/>
        </p:nvSpPr>
        <p:spPr bwMode="auto">
          <a:xfrm>
            <a:off x="4284786" y="546794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302" name="Rectangle 174"/>
          <p:cNvSpPr>
            <a:spLocks noChangeArrowheads="1"/>
          </p:cNvSpPr>
          <p:nvPr/>
        </p:nvSpPr>
        <p:spPr bwMode="auto">
          <a:xfrm>
            <a:off x="4299074" y="506154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sp>
        <p:nvSpPr>
          <p:cNvPr id="176303" name="Rectangle 175"/>
          <p:cNvSpPr>
            <a:spLocks noChangeArrowheads="1"/>
          </p:cNvSpPr>
          <p:nvPr/>
        </p:nvSpPr>
        <p:spPr bwMode="auto">
          <a:xfrm>
            <a:off x="4284786" y="582830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>
                <a:latin typeface="Tahoma" panose="020B0604030504040204" pitchFamily="34" charset="0"/>
              </a:rPr>
              <a:t>√</a:t>
            </a:r>
            <a:endParaRPr kumimoji="0" lang="en-US" altLang="zh-CN">
              <a:latin typeface="Tahoma" panose="020B0604030504040204" pitchFamily="34" charset="0"/>
            </a:endParaRPr>
          </a:p>
        </p:txBody>
      </p:sp>
      <p:graphicFrame>
        <p:nvGraphicFramePr>
          <p:cNvPr id="176304" name="Object 176"/>
          <p:cNvGraphicFramePr>
            <a:graphicFrameLocks noChangeAspect="1"/>
          </p:cNvGraphicFramePr>
          <p:nvPr/>
        </p:nvGraphicFramePr>
        <p:xfrm>
          <a:off x="914400" y="1457325"/>
          <a:ext cx="3946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0" name="Equation" r:id="rId1" imgW="56997600" imgH="6400800" progId="Equation.DSMT4">
                  <p:embed/>
                </p:oleObj>
              </mc:Choice>
              <mc:Fallback>
                <p:oleObj name="Equation" r:id="rId1" imgW="56997600" imgH="6400800" progId="Equation.DSMT4">
                  <p:embed/>
                  <p:pic>
                    <p:nvPicPr>
                      <p:cNvPr id="0" name="图片 614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57325"/>
                        <a:ext cx="3946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6306" name="Group 178"/>
          <p:cNvGrpSpPr/>
          <p:nvPr/>
        </p:nvGrpSpPr>
        <p:grpSpPr bwMode="auto">
          <a:xfrm>
            <a:off x="1260599" y="1819870"/>
            <a:ext cx="3151187" cy="4489450"/>
            <a:chOff x="703" y="1071"/>
            <a:chExt cx="1985" cy="2828"/>
          </a:xfrm>
        </p:grpSpPr>
        <p:grpSp>
          <p:nvGrpSpPr>
            <p:cNvPr id="176191" name="Group 63"/>
            <p:cNvGrpSpPr/>
            <p:nvPr/>
          </p:nvGrpSpPr>
          <p:grpSpPr bwMode="auto">
            <a:xfrm>
              <a:off x="703" y="1071"/>
              <a:ext cx="1985" cy="2828"/>
              <a:chOff x="668" y="1056"/>
              <a:chExt cx="1985" cy="2828"/>
            </a:xfrm>
          </p:grpSpPr>
          <p:sp>
            <p:nvSpPr>
              <p:cNvPr id="176192" name="Rectangle 64"/>
              <p:cNvSpPr>
                <a:spLocks noChangeArrowheads="1"/>
              </p:cNvSpPr>
              <p:nvPr/>
            </p:nvSpPr>
            <p:spPr bwMode="auto">
              <a:xfrm>
                <a:off x="2427" y="3635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193" name="Rectangle 65"/>
              <p:cNvSpPr>
                <a:spLocks noChangeArrowheads="1"/>
              </p:cNvSpPr>
              <p:nvPr/>
            </p:nvSpPr>
            <p:spPr bwMode="auto">
              <a:xfrm>
                <a:off x="2200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194" name="Rectangle 66"/>
              <p:cNvSpPr>
                <a:spLocks noChangeArrowheads="1"/>
              </p:cNvSpPr>
              <p:nvPr/>
            </p:nvSpPr>
            <p:spPr bwMode="auto">
              <a:xfrm>
                <a:off x="1973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195" name="Rectangle 67"/>
              <p:cNvSpPr>
                <a:spLocks noChangeArrowheads="1"/>
              </p:cNvSpPr>
              <p:nvPr/>
            </p:nvSpPr>
            <p:spPr bwMode="auto">
              <a:xfrm>
                <a:off x="1746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196" name="Rectangle 68"/>
              <p:cNvSpPr>
                <a:spLocks noChangeArrowheads="1"/>
              </p:cNvSpPr>
              <p:nvPr/>
            </p:nvSpPr>
            <p:spPr bwMode="auto">
              <a:xfrm>
                <a:off x="1111" y="3635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15</a:t>
                </a:r>
                <a:endParaRPr lang="en-US" altLang="zh-CN" sz="2000"/>
              </a:p>
            </p:txBody>
          </p:sp>
          <p:sp>
            <p:nvSpPr>
              <p:cNvPr id="176197" name="Rectangle 69"/>
              <p:cNvSpPr>
                <a:spLocks noChangeArrowheads="1"/>
              </p:cNvSpPr>
              <p:nvPr/>
            </p:nvSpPr>
            <p:spPr bwMode="auto">
              <a:xfrm>
                <a:off x="2427" y="3386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198" name="Rectangle 70"/>
              <p:cNvSpPr>
                <a:spLocks noChangeArrowheads="1"/>
              </p:cNvSpPr>
              <p:nvPr/>
            </p:nvSpPr>
            <p:spPr bwMode="auto">
              <a:xfrm>
                <a:off x="2200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199" name="Rectangle 71"/>
              <p:cNvSpPr>
                <a:spLocks noChangeArrowheads="1"/>
              </p:cNvSpPr>
              <p:nvPr/>
            </p:nvSpPr>
            <p:spPr bwMode="auto">
              <a:xfrm>
                <a:off x="1973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00" name="Rectangle 72"/>
              <p:cNvSpPr>
                <a:spLocks noChangeArrowheads="1"/>
              </p:cNvSpPr>
              <p:nvPr/>
            </p:nvSpPr>
            <p:spPr bwMode="auto">
              <a:xfrm>
                <a:off x="1746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01" name="Rectangle 73"/>
              <p:cNvSpPr>
                <a:spLocks noChangeArrowheads="1"/>
              </p:cNvSpPr>
              <p:nvPr/>
            </p:nvSpPr>
            <p:spPr bwMode="auto">
              <a:xfrm>
                <a:off x="1111" y="3386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13</a:t>
                </a:r>
                <a:endParaRPr lang="en-US" altLang="zh-CN" sz="2000"/>
              </a:p>
            </p:txBody>
          </p:sp>
          <p:sp>
            <p:nvSpPr>
              <p:cNvPr id="176202" name="Rectangle 74"/>
              <p:cNvSpPr>
                <a:spLocks noChangeArrowheads="1"/>
              </p:cNvSpPr>
              <p:nvPr/>
            </p:nvSpPr>
            <p:spPr bwMode="auto">
              <a:xfrm>
                <a:off x="668" y="3386"/>
                <a:ext cx="443" cy="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/>
                  <a:t>3</a:t>
                </a: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/>
                  <a:t>4</a:t>
                </a:r>
                <a:endParaRPr lang="en-US" altLang="zh-CN" sz="2000" dirty="0"/>
              </a:p>
            </p:txBody>
          </p:sp>
          <p:sp>
            <p:nvSpPr>
              <p:cNvPr id="176203" name="Rectangle 75"/>
              <p:cNvSpPr>
                <a:spLocks noChangeArrowheads="1"/>
              </p:cNvSpPr>
              <p:nvPr/>
            </p:nvSpPr>
            <p:spPr bwMode="auto">
              <a:xfrm>
                <a:off x="2427" y="3137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04" name="Rectangle 76"/>
              <p:cNvSpPr>
                <a:spLocks noChangeArrowheads="1"/>
              </p:cNvSpPr>
              <p:nvPr/>
            </p:nvSpPr>
            <p:spPr bwMode="auto">
              <a:xfrm>
                <a:off x="2200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05" name="Rectangle 77"/>
              <p:cNvSpPr>
                <a:spLocks noChangeArrowheads="1"/>
              </p:cNvSpPr>
              <p:nvPr/>
            </p:nvSpPr>
            <p:spPr bwMode="auto">
              <a:xfrm>
                <a:off x="1973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06" name="Rectangle 78"/>
              <p:cNvSpPr>
                <a:spLocks noChangeArrowheads="1"/>
              </p:cNvSpPr>
              <p:nvPr/>
            </p:nvSpPr>
            <p:spPr bwMode="auto">
              <a:xfrm>
                <a:off x="1746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07" name="Rectangle 79"/>
              <p:cNvSpPr>
                <a:spLocks noChangeArrowheads="1"/>
              </p:cNvSpPr>
              <p:nvPr/>
            </p:nvSpPr>
            <p:spPr bwMode="auto">
              <a:xfrm>
                <a:off x="1111" y="3137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12</a:t>
                </a:r>
                <a:endParaRPr lang="en-US" altLang="zh-CN" sz="2000"/>
              </a:p>
            </p:txBody>
          </p:sp>
          <p:sp>
            <p:nvSpPr>
              <p:cNvPr id="176208" name="Rectangle 80"/>
              <p:cNvSpPr>
                <a:spLocks noChangeArrowheads="1"/>
              </p:cNvSpPr>
              <p:nvPr/>
            </p:nvSpPr>
            <p:spPr bwMode="auto">
              <a:xfrm>
                <a:off x="2427" y="2888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09" name="Rectangle 81"/>
              <p:cNvSpPr>
                <a:spLocks noChangeArrowheads="1"/>
              </p:cNvSpPr>
              <p:nvPr/>
            </p:nvSpPr>
            <p:spPr bwMode="auto">
              <a:xfrm>
                <a:off x="2200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10" name="Rectangle 82"/>
              <p:cNvSpPr>
                <a:spLocks noChangeArrowheads="1"/>
              </p:cNvSpPr>
              <p:nvPr/>
            </p:nvSpPr>
            <p:spPr bwMode="auto">
              <a:xfrm>
                <a:off x="1973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11" name="Rectangle 83"/>
              <p:cNvSpPr>
                <a:spLocks noChangeArrowheads="1"/>
              </p:cNvSpPr>
              <p:nvPr/>
            </p:nvSpPr>
            <p:spPr bwMode="auto">
              <a:xfrm>
                <a:off x="1746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12" name="Rectangle 84"/>
              <p:cNvSpPr>
                <a:spLocks noChangeArrowheads="1"/>
              </p:cNvSpPr>
              <p:nvPr/>
            </p:nvSpPr>
            <p:spPr bwMode="auto">
              <a:xfrm>
                <a:off x="1111" y="2888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10</a:t>
                </a:r>
                <a:endParaRPr lang="en-US" altLang="zh-CN" sz="2000"/>
              </a:p>
            </p:txBody>
          </p:sp>
          <p:sp>
            <p:nvSpPr>
              <p:cNvPr id="176213" name="Rectangle 85"/>
              <p:cNvSpPr>
                <a:spLocks noChangeArrowheads="1"/>
              </p:cNvSpPr>
              <p:nvPr/>
            </p:nvSpPr>
            <p:spPr bwMode="auto">
              <a:xfrm>
                <a:off x="2427" y="2639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14" name="Rectangle 86"/>
              <p:cNvSpPr>
                <a:spLocks noChangeArrowheads="1"/>
              </p:cNvSpPr>
              <p:nvPr/>
            </p:nvSpPr>
            <p:spPr bwMode="auto">
              <a:xfrm>
                <a:off x="2200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15" name="Rectangle 87"/>
              <p:cNvSpPr>
                <a:spLocks noChangeArrowheads="1"/>
              </p:cNvSpPr>
              <p:nvPr/>
            </p:nvSpPr>
            <p:spPr bwMode="auto">
              <a:xfrm>
                <a:off x="1973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16" name="Rectangle 88"/>
              <p:cNvSpPr>
                <a:spLocks noChangeArrowheads="1"/>
              </p:cNvSpPr>
              <p:nvPr/>
            </p:nvSpPr>
            <p:spPr bwMode="auto">
              <a:xfrm>
                <a:off x="1746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17" name="Rectangle 89"/>
              <p:cNvSpPr>
                <a:spLocks noChangeArrowheads="1"/>
              </p:cNvSpPr>
              <p:nvPr/>
            </p:nvSpPr>
            <p:spPr bwMode="auto">
              <a:xfrm>
                <a:off x="1111" y="2639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9</a:t>
                </a:r>
                <a:endParaRPr lang="en-US" altLang="zh-CN" sz="2000"/>
              </a:p>
            </p:txBody>
          </p:sp>
          <p:sp>
            <p:nvSpPr>
              <p:cNvPr id="176218" name="Rectangle 90"/>
              <p:cNvSpPr>
                <a:spLocks noChangeArrowheads="1"/>
              </p:cNvSpPr>
              <p:nvPr/>
            </p:nvSpPr>
            <p:spPr bwMode="auto">
              <a:xfrm>
                <a:off x="2427" y="2390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19" name="Rectangle 91"/>
              <p:cNvSpPr>
                <a:spLocks noChangeArrowheads="1"/>
              </p:cNvSpPr>
              <p:nvPr/>
            </p:nvSpPr>
            <p:spPr bwMode="auto">
              <a:xfrm>
                <a:off x="2200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20" name="Rectangle 92"/>
              <p:cNvSpPr>
                <a:spLocks noChangeArrowheads="1"/>
              </p:cNvSpPr>
              <p:nvPr/>
            </p:nvSpPr>
            <p:spPr bwMode="auto">
              <a:xfrm>
                <a:off x="1973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21" name="Rectangle 93"/>
              <p:cNvSpPr>
                <a:spLocks noChangeArrowheads="1"/>
              </p:cNvSpPr>
              <p:nvPr/>
            </p:nvSpPr>
            <p:spPr bwMode="auto">
              <a:xfrm>
                <a:off x="1746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22" name="Rectangle 94"/>
              <p:cNvSpPr>
                <a:spLocks noChangeArrowheads="1"/>
              </p:cNvSpPr>
              <p:nvPr/>
            </p:nvSpPr>
            <p:spPr bwMode="auto">
              <a:xfrm>
                <a:off x="1111" y="2390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6</a:t>
                </a:r>
                <a:endParaRPr lang="en-US" altLang="zh-CN" sz="2000"/>
              </a:p>
            </p:txBody>
          </p:sp>
          <p:sp>
            <p:nvSpPr>
              <p:cNvPr id="176223" name="Rectangle 95"/>
              <p:cNvSpPr>
                <a:spLocks noChangeArrowheads="1"/>
              </p:cNvSpPr>
              <p:nvPr/>
            </p:nvSpPr>
            <p:spPr bwMode="auto">
              <a:xfrm>
                <a:off x="668" y="2390"/>
                <a:ext cx="443" cy="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/>
                  <a:t>2</a:t>
                </a:r>
                <a:endParaRPr lang="en-US" altLang="zh-CN" sz="2000" dirty="0"/>
              </a:p>
            </p:txBody>
          </p:sp>
          <p:sp>
            <p:nvSpPr>
              <p:cNvPr id="176224" name="Rectangle 96"/>
              <p:cNvSpPr>
                <a:spLocks noChangeArrowheads="1"/>
              </p:cNvSpPr>
              <p:nvPr/>
            </p:nvSpPr>
            <p:spPr bwMode="auto">
              <a:xfrm>
                <a:off x="2427" y="2141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25" name="Rectangle 97"/>
              <p:cNvSpPr>
                <a:spLocks noChangeArrowheads="1"/>
              </p:cNvSpPr>
              <p:nvPr/>
            </p:nvSpPr>
            <p:spPr bwMode="auto">
              <a:xfrm>
                <a:off x="2200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26" name="Rectangle 98"/>
              <p:cNvSpPr>
                <a:spLocks noChangeArrowheads="1"/>
              </p:cNvSpPr>
              <p:nvPr/>
            </p:nvSpPr>
            <p:spPr bwMode="auto">
              <a:xfrm>
                <a:off x="1973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27" name="Rectangle 99"/>
              <p:cNvSpPr>
                <a:spLocks noChangeArrowheads="1"/>
              </p:cNvSpPr>
              <p:nvPr/>
            </p:nvSpPr>
            <p:spPr bwMode="auto">
              <a:xfrm>
                <a:off x="1746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28" name="Rectangle 100"/>
              <p:cNvSpPr>
                <a:spLocks noChangeArrowheads="1"/>
              </p:cNvSpPr>
              <p:nvPr/>
            </p:nvSpPr>
            <p:spPr bwMode="auto">
              <a:xfrm>
                <a:off x="1111" y="2141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8</a:t>
                </a:r>
                <a:endParaRPr lang="en-US" altLang="zh-CN" sz="2000"/>
              </a:p>
            </p:txBody>
          </p:sp>
          <p:sp>
            <p:nvSpPr>
              <p:cNvPr id="176229" name="Rectangle 101"/>
              <p:cNvSpPr>
                <a:spLocks noChangeArrowheads="1"/>
              </p:cNvSpPr>
              <p:nvPr/>
            </p:nvSpPr>
            <p:spPr bwMode="auto">
              <a:xfrm>
                <a:off x="2427" y="1892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0" name="Rectangle 102"/>
              <p:cNvSpPr>
                <a:spLocks noChangeArrowheads="1"/>
              </p:cNvSpPr>
              <p:nvPr/>
            </p:nvSpPr>
            <p:spPr bwMode="auto">
              <a:xfrm>
                <a:off x="2200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1" name="Rectangle 103"/>
              <p:cNvSpPr>
                <a:spLocks noChangeArrowheads="1"/>
              </p:cNvSpPr>
              <p:nvPr/>
            </p:nvSpPr>
            <p:spPr bwMode="auto">
              <a:xfrm>
                <a:off x="1973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32" name="Rectangle 104"/>
              <p:cNvSpPr>
                <a:spLocks noChangeArrowheads="1"/>
              </p:cNvSpPr>
              <p:nvPr/>
            </p:nvSpPr>
            <p:spPr bwMode="auto">
              <a:xfrm>
                <a:off x="1746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3" name="Rectangle 105"/>
              <p:cNvSpPr>
                <a:spLocks noChangeArrowheads="1"/>
              </p:cNvSpPr>
              <p:nvPr/>
            </p:nvSpPr>
            <p:spPr bwMode="auto">
              <a:xfrm>
                <a:off x="1111" y="1892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4</a:t>
                </a:r>
                <a:endParaRPr lang="en-US" altLang="zh-CN" sz="2000"/>
              </a:p>
            </p:txBody>
          </p:sp>
          <p:sp>
            <p:nvSpPr>
              <p:cNvPr id="176234" name="Rectangle 106"/>
              <p:cNvSpPr>
                <a:spLocks noChangeArrowheads="1"/>
              </p:cNvSpPr>
              <p:nvPr/>
            </p:nvSpPr>
            <p:spPr bwMode="auto">
              <a:xfrm>
                <a:off x="2427" y="1643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5" name="Rectangle 107"/>
              <p:cNvSpPr>
                <a:spLocks noChangeArrowheads="1"/>
              </p:cNvSpPr>
              <p:nvPr/>
            </p:nvSpPr>
            <p:spPr bwMode="auto">
              <a:xfrm>
                <a:off x="2200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36" name="Rectangle 108"/>
              <p:cNvSpPr>
                <a:spLocks noChangeArrowheads="1"/>
              </p:cNvSpPr>
              <p:nvPr/>
            </p:nvSpPr>
            <p:spPr bwMode="auto">
              <a:xfrm>
                <a:off x="1973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7" name="Rectangle 109"/>
              <p:cNvSpPr>
                <a:spLocks noChangeArrowheads="1"/>
              </p:cNvSpPr>
              <p:nvPr/>
            </p:nvSpPr>
            <p:spPr bwMode="auto">
              <a:xfrm>
                <a:off x="1746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0</a:t>
                </a:r>
                <a:endParaRPr lang="en-US" altLang="zh-CN" sz="2000"/>
              </a:p>
            </p:txBody>
          </p:sp>
          <p:sp>
            <p:nvSpPr>
              <p:cNvPr id="176238" name="Rectangle 110"/>
              <p:cNvSpPr>
                <a:spLocks noChangeArrowheads="1"/>
              </p:cNvSpPr>
              <p:nvPr/>
            </p:nvSpPr>
            <p:spPr bwMode="auto">
              <a:xfrm>
                <a:off x="1111" y="1643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2</a:t>
                </a:r>
                <a:endParaRPr lang="en-US" altLang="zh-CN" sz="2000"/>
              </a:p>
            </p:txBody>
          </p:sp>
          <p:sp>
            <p:nvSpPr>
              <p:cNvPr id="176239" name="Rectangle 111"/>
              <p:cNvSpPr>
                <a:spLocks noChangeArrowheads="1"/>
              </p:cNvSpPr>
              <p:nvPr/>
            </p:nvSpPr>
            <p:spPr bwMode="auto">
              <a:xfrm>
                <a:off x="668" y="1643"/>
                <a:ext cx="443" cy="7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en-US" altLang="zh-CN" sz="200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6240" name="Rectangle 112"/>
              <p:cNvSpPr>
                <a:spLocks noChangeArrowheads="1"/>
              </p:cNvSpPr>
              <p:nvPr/>
            </p:nvSpPr>
            <p:spPr bwMode="auto">
              <a:xfrm>
                <a:off x="2427" y="1344"/>
                <a:ext cx="226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A</a:t>
                </a:r>
                <a:endParaRPr lang="en-US" altLang="zh-CN" sz="2000"/>
              </a:p>
            </p:txBody>
          </p:sp>
          <p:sp>
            <p:nvSpPr>
              <p:cNvPr id="176241" name="Rectangle 113"/>
              <p:cNvSpPr>
                <a:spLocks noChangeArrowheads="1"/>
              </p:cNvSpPr>
              <p:nvPr/>
            </p:nvSpPr>
            <p:spPr bwMode="auto">
              <a:xfrm>
                <a:off x="2200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B</a:t>
                </a:r>
                <a:endParaRPr lang="en-US" altLang="zh-CN" sz="2000"/>
              </a:p>
            </p:txBody>
          </p:sp>
          <p:sp>
            <p:nvSpPr>
              <p:cNvPr id="176242" name="Rectangle 114"/>
              <p:cNvSpPr>
                <a:spLocks noChangeArrowheads="1"/>
              </p:cNvSpPr>
              <p:nvPr/>
            </p:nvSpPr>
            <p:spPr bwMode="auto">
              <a:xfrm>
                <a:off x="1973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C</a:t>
                </a:r>
                <a:endParaRPr lang="en-US" altLang="zh-CN" sz="2000"/>
              </a:p>
            </p:txBody>
          </p:sp>
          <p:sp>
            <p:nvSpPr>
              <p:cNvPr id="176243" name="Rectangle 115"/>
              <p:cNvSpPr>
                <a:spLocks noChangeArrowheads="1"/>
              </p:cNvSpPr>
              <p:nvPr/>
            </p:nvSpPr>
            <p:spPr bwMode="auto">
              <a:xfrm>
                <a:off x="1746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D</a:t>
                </a:r>
                <a:endParaRPr lang="en-US" altLang="zh-CN" sz="2000"/>
              </a:p>
            </p:txBody>
          </p:sp>
          <p:sp>
            <p:nvSpPr>
              <p:cNvPr id="176244" name="Rectangle 116"/>
              <p:cNvSpPr>
                <a:spLocks noChangeArrowheads="1"/>
              </p:cNvSpPr>
              <p:nvPr/>
            </p:nvSpPr>
            <p:spPr bwMode="auto">
              <a:xfrm>
                <a:off x="1111" y="1344"/>
                <a:ext cx="635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最小项</a:t>
                </a:r>
                <a:endParaRPr lang="zh-CN" altLang="en-US" sz="2000"/>
              </a:p>
            </p:txBody>
          </p:sp>
          <p:sp>
            <p:nvSpPr>
              <p:cNvPr id="176245" name="Rectangle 117"/>
              <p:cNvSpPr>
                <a:spLocks noChangeArrowheads="1"/>
              </p:cNvSpPr>
              <p:nvPr/>
            </p:nvSpPr>
            <p:spPr bwMode="auto">
              <a:xfrm>
                <a:off x="668" y="1344"/>
                <a:ext cx="443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组号</a:t>
                </a:r>
                <a:endParaRPr lang="zh-CN" altLang="en-US" sz="2000"/>
              </a:p>
            </p:txBody>
          </p:sp>
          <p:sp>
            <p:nvSpPr>
              <p:cNvPr id="176246" name="Line 118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7" name="Line 119"/>
              <p:cNvSpPr>
                <a:spLocks noChangeShapeType="1"/>
              </p:cNvSpPr>
              <p:nvPr/>
            </p:nvSpPr>
            <p:spPr bwMode="auto">
              <a:xfrm>
                <a:off x="668" y="1643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8" name="Line 120"/>
              <p:cNvSpPr>
                <a:spLocks noChangeShapeType="1"/>
              </p:cNvSpPr>
              <p:nvPr/>
            </p:nvSpPr>
            <p:spPr bwMode="auto">
              <a:xfrm>
                <a:off x="668" y="2390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9" name="Line 121"/>
              <p:cNvSpPr>
                <a:spLocks noChangeShapeType="1"/>
              </p:cNvSpPr>
              <p:nvPr/>
            </p:nvSpPr>
            <p:spPr bwMode="auto">
              <a:xfrm>
                <a:off x="668" y="3386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0" name="Line 122"/>
              <p:cNvSpPr>
                <a:spLocks noChangeShapeType="1"/>
              </p:cNvSpPr>
              <p:nvPr/>
            </p:nvSpPr>
            <p:spPr bwMode="auto">
              <a:xfrm>
                <a:off x="668" y="388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1" name="Line 123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2" name="Line 124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3" name="Line 125"/>
              <p:cNvSpPr>
                <a:spLocks noChangeShapeType="1"/>
              </p:cNvSpPr>
              <p:nvPr/>
            </p:nvSpPr>
            <p:spPr bwMode="auto">
              <a:xfrm>
                <a:off x="1746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4" name="Line 126"/>
              <p:cNvSpPr>
                <a:spLocks noChangeShapeType="1"/>
              </p:cNvSpPr>
              <p:nvPr/>
            </p:nvSpPr>
            <p:spPr bwMode="auto">
              <a:xfrm>
                <a:off x="1973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5" name="Line 127"/>
              <p:cNvSpPr>
                <a:spLocks noChangeShapeType="1"/>
              </p:cNvSpPr>
              <p:nvPr/>
            </p:nvSpPr>
            <p:spPr bwMode="auto">
              <a:xfrm>
                <a:off x="2200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6" name="Line 128"/>
              <p:cNvSpPr>
                <a:spLocks noChangeShapeType="1"/>
              </p:cNvSpPr>
              <p:nvPr/>
            </p:nvSpPr>
            <p:spPr bwMode="auto">
              <a:xfrm>
                <a:off x="2427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7" name="Line 129"/>
              <p:cNvSpPr>
                <a:spLocks noChangeShapeType="1"/>
              </p:cNvSpPr>
              <p:nvPr/>
            </p:nvSpPr>
            <p:spPr bwMode="auto">
              <a:xfrm>
                <a:off x="2653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8" name="Line 130"/>
              <p:cNvSpPr>
                <a:spLocks noChangeShapeType="1"/>
              </p:cNvSpPr>
              <p:nvPr/>
            </p:nvSpPr>
            <p:spPr bwMode="auto">
              <a:xfrm>
                <a:off x="1111" y="1892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9" name="Line 131"/>
              <p:cNvSpPr>
                <a:spLocks noChangeShapeType="1"/>
              </p:cNvSpPr>
              <p:nvPr/>
            </p:nvSpPr>
            <p:spPr bwMode="auto">
              <a:xfrm>
                <a:off x="1111" y="2141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0" name="Line 132"/>
              <p:cNvSpPr>
                <a:spLocks noChangeShapeType="1"/>
              </p:cNvSpPr>
              <p:nvPr/>
            </p:nvSpPr>
            <p:spPr bwMode="auto">
              <a:xfrm>
                <a:off x="1111" y="2639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1" name="Line 133"/>
              <p:cNvSpPr>
                <a:spLocks noChangeShapeType="1"/>
              </p:cNvSpPr>
              <p:nvPr/>
            </p:nvSpPr>
            <p:spPr bwMode="auto">
              <a:xfrm>
                <a:off x="1111" y="2888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2" name="Line 134"/>
              <p:cNvSpPr>
                <a:spLocks noChangeShapeType="1"/>
              </p:cNvSpPr>
              <p:nvPr/>
            </p:nvSpPr>
            <p:spPr bwMode="auto">
              <a:xfrm>
                <a:off x="1111" y="3137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3" name="Line 135"/>
              <p:cNvSpPr>
                <a:spLocks noChangeShapeType="1"/>
              </p:cNvSpPr>
              <p:nvPr/>
            </p:nvSpPr>
            <p:spPr bwMode="auto">
              <a:xfrm>
                <a:off x="1111" y="3635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4" name="Rectangle 136"/>
              <p:cNvSpPr>
                <a:spLocks noChangeArrowheads="1"/>
              </p:cNvSpPr>
              <p:nvPr/>
            </p:nvSpPr>
            <p:spPr bwMode="auto">
              <a:xfrm>
                <a:off x="1429" y="1056"/>
                <a:ext cx="3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zh-CN" altLang="en-US">
                    <a:latin typeface="Tahoma" panose="020B0604030504040204" pitchFamily="34" charset="0"/>
                  </a:rPr>
                  <a:t>表</a:t>
                </a:r>
                <a:r>
                  <a:rPr kumimoji="0" lang="en-US" altLang="zh-CN">
                    <a:latin typeface="Tahoma" panose="020B0604030504040204" pitchFamily="34" charset="0"/>
                  </a:rPr>
                  <a:t>I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76305" name="Line 177"/>
            <p:cNvSpPr>
              <a:spLocks noChangeShapeType="1"/>
            </p:cNvSpPr>
            <p:nvPr/>
          </p:nvSpPr>
          <p:spPr bwMode="auto">
            <a:xfrm flipH="1">
              <a:off x="720" y="36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7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295" grpId="0" autoUpdateAnimBg="0"/>
      <p:bldP spid="176296" grpId="0" autoUpdateAnimBg="0"/>
      <p:bldP spid="176297" grpId="0" autoUpdateAnimBg="0"/>
      <p:bldP spid="176298" grpId="0" autoUpdateAnimBg="0"/>
      <p:bldP spid="176299" grpId="0" autoUpdateAnimBg="0"/>
      <p:bldP spid="176300" grpId="0" autoUpdateAnimBg="0"/>
      <p:bldP spid="176301" grpId="0" autoUpdateAnimBg="0"/>
      <p:bldP spid="176302" grpId="0" autoUpdateAnimBg="0"/>
      <p:bldP spid="176303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8077200" cy="934992"/>
          </a:xfrm>
        </p:spPr>
        <p:txBody>
          <a:bodyPr/>
          <a:lstStyle/>
          <a:p>
            <a:r>
              <a:rPr lang="zh-CN" altLang="en-US" dirty="0"/>
              <a:t>逻辑函数的</a:t>
            </a:r>
            <a:r>
              <a:rPr lang="en-US" altLang="zh-CN" dirty="0"/>
              <a:t>Q-M</a:t>
            </a:r>
            <a:r>
              <a:rPr lang="zh-CN" altLang="en-US" dirty="0"/>
              <a:t>法化简</a:t>
            </a:r>
            <a:endParaRPr lang="zh-CN" altLang="en-US" dirty="0"/>
          </a:p>
        </p:txBody>
      </p:sp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8995-05AA-4C61-AFA6-8FB5E17482A5}" type="slidenum">
              <a:rPr lang="en-US" altLang="zh-CN"/>
            </a:fld>
            <a:endParaRPr lang="en-US" altLang="zh-CN"/>
          </a:p>
        </p:txBody>
      </p:sp>
      <p:grpSp>
        <p:nvGrpSpPr>
          <p:cNvPr id="177155" name="Group 3"/>
          <p:cNvGrpSpPr/>
          <p:nvPr/>
        </p:nvGrpSpPr>
        <p:grpSpPr bwMode="auto">
          <a:xfrm>
            <a:off x="1312863" y="4646613"/>
            <a:ext cx="2447925" cy="395287"/>
            <a:chOff x="3697" y="2956"/>
            <a:chExt cx="1542" cy="249"/>
          </a:xfrm>
        </p:grpSpPr>
        <p:sp>
          <p:nvSpPr>
            <p:cNvPr id="177156" name="Rectangle 4"/>
            <p:cNvSpPr>
              <a:spLocks noChangeArrowheads="1"/>
            </p:cNvSpPr>
            <p:nvPr/>
          </p:nvSpPr>
          <p:spPr bwMode="auto">
            <a:xfrm>
              <a:off x="5013" y="2956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57" name="Rectangle 5"/>
            <p:cNvSpPr>
              <a:spLocks noChangeArrowheads="1"/>
            </p:cNvSpPr>
            <p:nvPr/>
          </p:nvSpPr>
          <p:spPr bwMode="auto">
            <a:xfrm>
              <a:off x="4786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58" name="Rectangle 6"/>
            <p:cNvSpPr>
              <a:spLocks noChangeArrowheads="1"/>
            </p:cNvSpPr>
            <p:nvPr/>
          </p:nvSpPr>
          <p:spPr bwMode="auto">
            <a:xfrm>
              <a:off x="4559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59" name="Rectangle 7"/>
            <p:cNvSpPr>
              <a:spLocks noChangeArrowheads="1"/>
            </p:cNvSpPr>
            <p:nvPr/>
          </p:nvSpPr>
          <p:spPr bwMode="auto">
            <a:xfrm>
              <a:off x="4332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60" name="Rectangle 8"/>
            <p:cNvSpPr>
              <a:spLocks noChangeArrowheads="1"/>
            </p:cNvSpPr>
            <p:nvPr/>
          </p:nvSpPr>
          <p:spPr bwMode="auto">
            <a:xfrm>
              <a:off x="3697" y="2956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8,12</a:t>
              </a:r>
              <a:endParaRPr lang="en-US" altLang="zh-CN" sz="2000"/>
            </a:p>
          </p:txBody>
        </p:sp>
      </p:grpSp>
      <p:grpSp>
        <p:nvGrpSpPr>
          <p:cNvPr id="177161" name="Group 9"/>
          <p:cNvGrpSpPr/>
          <p:nvPr/>
        </p:nvGrpSpPr>
        <p:grpSpPr bwMode="auto">
          <a:xfrm>
            <a:off x="1312863" y="5832475"/>
            <a:ext cx="2447925" cy="395288"/>
            <a:chOff x="3697" y="3703"/>
            <a:chExt cx="1542" cy="249"/>
          </a:xfrm>
        </p:grpSpPr>
        <p:sp>
          <p:nvSpPr>
            <p:cNvPr id="177162" name="Rectangle 10"/>
            <p:cNvSpPr>
              <a:spLocks noChangeArrowheads="1"/>
            </p:cNvSpPr>
            <p:nvPr/>
          </p:nvSpPr>
          <p:spPr bwMode="auto">
            <a:xfrm>
              <a:off x="5013" y="3703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63" name="Rectangle 11"/>
            <p:cNvSpPr>
              <a:spLocks noChangeArrowheads="1"/>
            </p:cNvSpPr>
            <p:nvPr/>
          </p:nvSpPr>
          <p:spPr bwMode="auto">
            <a:xfrm>
              <a:off x="4786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64" name="Rectangle 12"/>
            <p:cNvSpPr>
              <a:spLocks noChangeArrowheads="1"/>
            </p:cNvSpPr>
            <p:nvPr/>
          </p:nvSpPr>
          <p:spPr bwMode="auto">
            <a:xfrm>
              <a:off x="4559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65" name="Rectangle 13"/>
            <p:cNvSpPr>
              <a:spLocks noChangeArrowheads="1"/>
            </p:cNvSpPr>
            <p:nvPr/>
          </p:nvSpPr>
          <p:spPr bwMode="auto">
            <a:xfrm>
              <a:off x="4332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66" name="Rectangle 14"/>
            <p:cNvSpPr>
              <a:spLocks noChangeArrowheads="1"/>
            </p:cNvSpPr>
            <p:nvPr/>
          </p:nvSpPr>
          <p:spPr bwMode="auto">
            <a:xfrm>
              <a:off x="3697" y="3703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13,15</a:t>
              </a:r>
              <a:endParaRPr lang="en-US" altLang="zh-CN" sz="2000"/>
            </a:p>
          </p:txBody>
        </p:sp>
      </p:grpSp>
      <p:grpSp>
        <p:nvGrpSpPr>
          <p:cNvPr id="177167" name="Group 15"/>
          <p:cNvGrpSpPr/>
          <p:nvPr/>
        </p:nvGrpSpPr>
        <p:grpSpPr bwMode="auto">
          <a:xfrm>
            <a:off x="1312863" y="5437188"/>
            <a:ext cx="2447925" cy="395287"/>
            <a:chOff x="3697" y="3454"/>
            <a:chExt cx="1542" cy="249"/>
          </a:xfrm>
        </p:grpSpPr>
        <p:sp>
          <p:nvSpPr>
            <p:cNvPr id="177168" name="Rectangle 16"/>
            <p:cNvSpPr>
              <a:spLocks noChangeArrowheads="1"/>
            </p:cNvSpPr>
            <p:nvPr/>
          </p:nvSpPr>
          <p:spPr bwMode="auto">
            <a:xfrm>
              <a:off x="5013" y="3454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69" name="Rectangle 17"/>
            <p:cNvSpPr>
              <a:spLocks noChangeArrowheads="1"/>
            </p:cNvSpPr>
            <p:nvPr/>
          </p:nvSpPr>
          <p:spPr bwMode="auto">
            <a:xfrm>
              <a:off x="4786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70" name="Rectangle 18"/>
            <p:cNvSpPr>
              <a:spLocks noChangeArrowheads="1"/>
            </p:cNvSpPr>
            <p:nvPr/>
          </p:nvSpPr>
          <p:spPr bwMode="auto">
            <a:xfrm>
              <a:off x="4559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71" name="Rectangle 19"/>
            <p:cNvSpPr>
              <a:spLocks noChangeArrowheads="1"/>
            </p:cNvSpPr>
            <p:nvPr/>
          </p:nvSpPr>
          <p:spPr bwMode="auto">
            <a:xfrm>
              <a:off x="4332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72" name="Rectangle 20"/>
            <p:cNvSpPr>
              <a:spLocks noChangeArrowheads="1"/>
            </p:cNvSpPr>
            <p:nvPr/>
          </p:nvSpPr>
          <p:spPr bwMode="auto">
            <a:xfrm>
              <a:off x="3697" y="3454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12,13</a:t>
              </a:r>
              <a:endParaRPr lang="en-US" altLang="zh-CN" sz="2000"/>
            </a:p>
          </p:txBody>
        </p:sp>
      </p:grpSp>
      <p:grpSp>
        <p:nvGrpSpPr>
          <p:cNvPr id="177173" name="Group 21"/>
          <p:cNvGrpSpPr/>
          <p:nvPr/>
        </p:nvGrpSpPr>
        <p:grpSpPr bwMode="auto">
          <a:xfrm>
            <a:off x="1312863" y="5041900"/>
            <a:ext cx="2447925" cy="395288"/>
            <a:chOff x="3697" y="3205"/>
            <a:chExt cx="1542" cy="249"/>
          </a:xfrm>
        </p:grpSpPr>
        <p:sp>
          <p:nvSpPr>
            <p:cNvPr id="177174" name="Rectangle 22"/>
            <p:cNvSpPr>
              <a:spLocks noChangeArrowheads="1"/>
            </p:cNvSpPr>
            <p:nvPr/>
          </p:nvSpPr>
          <p:spPr bwMode="auto">
            <a:xfrm>
              <a:off x="5013" y="3205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75" name="Rectangle 23"/>
            <p:cNvSpPr>
              <a:spLocks noChangeArrowheads="1"/>
            </p:cNvSpPr>
            <p:nvPr/>
          </p:nvSpPr>
          <p:spPr bwMode="auto">
            <a:xfrm>
              <a:off x="4786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76" name="Rectangle 24"/>
            <p:cNvSpPr>
              <a:spLocks noChangeArrowheads="1"/>
            </p:cNvSpPr>
            <p:nvPr/>
          </p:nvSpPr>
          <p:spPr bwMode="auto">
            <a:xfrm>
              <a:off x="4559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77" name="Rectangle 25"/>
            <p:cNvSpPr>
              <a:spLocks noChangeArrowheads="1"/>
            </p:cNvSpPr>
            <p:nvPr/>
          </p:nvSpPr>
          <p:spPr bwMode="auto">
            <a:xfrm>
              <a:off x="4332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78" name="Rectangle 26"/>
            <p:cNvSpPr>
              <a:spLocks noChangeArrowheads="1"/>
            </p:cNvSpPr>
            <p:nvPr/>
          </p:nvSpPr>
          <p:spPr bwMode="auto">
            <a:xfrm>
              <a:off x="3697" y="3205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9,13</a:t>
              </a:r>
              <a:endParaRPr lang="en-US" altLang="zh-CN" sz="2000"/>
            </a:p>
          </p:txBody>
        </p:sp>
      </p:grpSp>
      <p:grpSp>
        <p:nvGrpSpPr>
          <p:cNvPr id="177179" name="Group 27"/>
          <p:cNvGrpSpPr/>
          <p:nvPr/>
        </p:nvGrpSpPr>
        <p:grpSpPr bwMode="auto">
          <a:xfrm>
            <a:off x="1312863" y="4251325"/>
            <a:ext cx="2447925" cy="395288"/>
            <a:chOff x="3697" y="2707"/>
            <a:chExt cx="1542" cy="249"/>
          </a:xfrm>
        </p:grpSpPr>
        <p:sp>
          <p:nvSpPr>
            <p:cNvPr id="177180" name="Rectangle 28"/>
            <p:cNvSpPr>
              <a:spLocks noChangeArrowheads="1"/>
            </p:cNvSpPr>
            <p:nvPr/>
          </p:nvSpPr>
          <p:spPr bwMode="auto">
            <a:xfrm>
              <a:off x="5013" y="270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81" name="Rectangle 29"/>
            <p:cNvSpPr>
              <a:spLocks noChangeArrowheads="1"/>
            </p:cNvSpPr>
            <p:nvPr/>
          </p:nvSpPr>
          <p:spPr bwMode="auto">
            <a:xfrm>
              <a:off x="4786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82" name="Rectangle 30"/>
            <p:cNvSpPr>
              <a:spLocks noChangeArrowheads="1"/>
            </p:cNvSpPr>
            <p:nvPr/>
          </p:nvSpPr>
          <p:spPr bwMode="auto">
            <a:xfrm>
              <a:off x="4559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83" name="Rectangle 31"/>
            <p:cNvSpPr>
              <a:spLocks noChangeArrowheads="1"/>
            </p:cNvSpPr>
            <p:nvPr/>
          </p:nvSpPr>
          <p:spPr bwMode="auto">
            <a:xfrm>
              <a:off x="4332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84" name="Rectangle 32"/>
            <p:cNvSpPr>
              <a:spLocks noChangeArrowheads="1"/>
            </p:cNvSpPr>
            <p:nvPr/>
          </p:nvSpPr>
          <p:spPr bwMode="auto">
            <a:xfrm>
              <a:off x="3697" y="2707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8,10</a:t>
              </a:r>
              <a:endParaRPr lang="en-US" altLang="zh-CN" sz="2000"/>
            </a:p>
          </p:txBody>
        </p:sp>
      </p:grpSp>
      <p:grpSp>
        <p:nvGrpSpPr>
          <p:cNvPr id="177185" name="Group 33"/>
          <p:cNvGrpSpPr/>
          <p:nvPr/>
        </p:nvGrpSpPr>
        <p:grpSpPr bwMode="auto">
          <a:xfrm>
            <a:off x="1312863" y="3856038"/>
            <a:ext cx="2447925" cy="395287"/>
            <a:chOff x="3697" y="2458"/>
            <a:chExt cx="1542" cy="249"/>
          </a:xfrm>
        </p:grpSpPr>
        <p:sp>
          <p:nvSpPr>
            <p:cNvPr id="177186" name="Rectangle 34"/>
            <p:cNvSpPr>
              <a:spLocks noChangeArrowheads="1"/>
            </p:cNvSpPr>
            <p:nvPr/>
          </p:nvSpPr>
          <p:spPr bwMode="auto">
            <a:xfrm>
              <a:off x="5013" y="2458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87" name="Rectangle 35"/>
            <p:cNvSpPr>
              <a:spLocks noChangeArrowheads="1"/>
            </p:cNvSpPr>
            <p:nvPr/>
          </p:nvSpPr>
          <p:spPr bwMode="auto">
            <a:xfrm>
              <a:off x="4786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88" name="Rectangle 36"/>
            <p:cNvSpPr>
              <a:spLocks noChangeArrowheads="1"/>
            </p:cNvSpPr>
            <p:nvPr/>
          </p:nvSpPr>
          <p:spPr bwMode="auto">
            <a:xfrm>
              <a:off x="4559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89" name="Rectangle 37"/>
            <p:cNvSpPr>
              <a:spLocks noChangeArrowheads="1"/>
            </p:cNvSpPr>
            <p:nvPr/>
          </p:nvSpPr>
          <p:spPr bwMode="auto">
            <a:xfrm>
              <a:off x="4332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90" name="Rectangle 38"/>
            <p:cNvSpPr>
              <a:spLocks noChangeArrowheads="1"/>
            </p:cNvSpPr>
            <p:nvPr/>
          </p:nvSpPr>
          <p:spPr bwMode="auto">
            <a:xfrm>
              <a:off x="3697" y="2458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8,9</a:t>
              </a:r>
              <a:endParaRPr lang="en-US" altLang="zh-CN" sz="2000"/>
            </a:p>
          </p:txBody>
        </p:sp>
      </p:grpSp>
      <p:grpSp>
        <p:nvGrpSpPr>
          <p:cNvPr id="177191" name="Group 39"/>
          <p:cNvGrpSpPr/>
          <p:nvPr/>
        </p:nvGrpSpPr>
        <p:grpSpPr bwMode="auto">
          <a:xfrm>
            <a:off x="1312863" y="3460750"/>
            <a:ext cx="2447925" cy="395288"/>
            <a:chOff x="3697" y="2209"/>
            <a:chExt cx="1542" cy="249"/>
          </a:xfrm>
        </p:grpSpPr>
        <p:sp>
          <p:nvSpPr>
            <p:cNvPr id="177192" name="Rectangle 40"/>
            <p:cNvSpPr>
              <a:spLocks noChangeArrowheads="1"/>
            </p:cNvSpPr>
            <p:nvPr/>
          </p:nvSpPr>
          <p:spPr bwMode="auto">
            <a:xfrm>
              <a:off x="5013" y="220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93" name="Rectangle 41"/>
            <p:cNvSpPr>
              <a:spLocks noChangeArrowheads="1"/>
            </p:cNvSpPr>
            <p:nvPr/>
          </p:nvSpPr>
          <p:spPr bwMode="auto">
            <a:xfrm>
              <a:off x="4786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94" name="Rectangle 42"/>
            <p:cNvSpPr>
              <a:spLocks noChangeArrowheads="1"/>
            </p:cNvSpPr>
            <p:nvPr/>
          </p:nvSpPr>
          <p:spPr bwMode="auto">
            <a:xfrm>
              <a:off x="4559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195" name="Rectangle 43"/>
            <p:cNvSpPr>
              <a:spLocks noChangeArrowheads="1"/>
            </p:cNvSpPr>
            <p:nvPr/>
          </p:nvSpPr>
          <p:spPr bwMode="auto">
            <a:xfrm>
              <a:off x="4332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196" name="Rectangle 44"/>
            <p:cNvSpPr>
              <a:spLocks noChangeArrowheads="1"/>
            </p:cNvSpPr>
            <p:nvPr/>
          </p:nvSpPr>
          <p:spPr bwMode="auto">
            <a:xfrm>
              <a:off x="3697" y="2209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4,12</a:t>
              </a:r>
              <a:endParaRPr lang="en-US" altLang="zh-CN" sz="2000"/>
            </a:p>
          </p:txBody>
        </p:sp>
      </p:grpSp>
      <p:grpSp>
        <p:nvGrpSpPr>
          <p:cNvPr id="177197" name="Group 45"/>
          <p:cNvGrpSpPr/>
          <p:nvPr/>
        </p:nvGrpSpPr>
        <p:grpSpPr bwMode="auto">
          <a:xfrm>
            <a:off x="1312863" y="3065463"/>
            <a:ext cx="2447925" cy="395287"/>
            <a:chOff x="3697" y="1960"/>
            <a:chExt cx="1542" cy="249"/>
          </a:xfrm>
        </p:grpSpPr>
        <p:sp>
          <p:nvSpPr>
            <p:cNvPr id="177198" name="Rectangle 46"/>
            <p:cNvSpPr>
              <a:spLocks noChangeArrowheads="1"/>
            </p:cNvSpPr>
            <p:nvPr/>
          </p:nvSpPr>
          <p:spPr bwMode="auto">
            <a:xfrm>
              <a:off x="5013" y="1960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199" name="Rectangle 47"/>
            <p:cNvSpPr>
              <a:spLocks noChangeArrowheads="1"/>
            </p:cNvSpPr>
            <p:nvPr/>
          </p:nvSpPr>
          <p:spPr bwMode="auto">
            <a:xfrm>
              <a:off x="4786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200" name="Rectangle 48"/>
            <p:cNvSpPr>
              <a:spLocks noChangeArrowheads="1"/>
            </p:cNvSpPr>
            <p:nvPr/>
          </p:nvSpPr>
          <p:spPr bwMode="auto">
            <a:xfrm>
              <a:off x="4559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201" name="Rectangle 49"/>
            <p:cNvSpPr>
              <a:spLocks noChangeArrowheads="1"/>
            </p:cNvSpPr>
            <p:nvPr/>
          </p:nvSpPr>
          <p:spPr bwMode="auto">
            <a:xfrm>
              <a:off x="4332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202" name="Rectangle 50"/>
            <p:cNvSpPr>
              <a:spLocks noChangeArrowheads="1"/>
            </p:cNvSpPr>
            <p:nvPr/>
          </p:nvSpPr>
          <p:spPr bwMode="auto">
            <a:xfrm>
              <a:off x="3697" y="1960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4,6</a:t>
              </a:r>
              <a:endParaRPr lang="en-US" altLang="zh-CN" sz="2000"/>
            </a:p>
          </p:txBody>
        </p:sp>
      </p:grpSp>
      <p:grpSp>
        <p:nvGrpSpPr>
          <p:cNvPr id="177203" name="Group 51"/>
          <p:cNvGrpSpPr/>
          <p:nvPr/>
        </p:nvGrpSpPr>
        <p:grpSpPr bwMode="auto">
          <a:xfrm>
            <a:off x="1312863" y="2670175"/>
            <a:ext cx="2447925" cy="395288"/>
            <a:chOff x="3697" y="1711"/>
            <a:chExt cx="1542" cy="249"/>
          </a:xfrm>
        </p:grpSpPr>
        <p:sp>
          <p:nvSpPr>
            <p:cNvPr id="177204" name="Rectangle 52"/>
            <p:cNvSpPr>
              <a:spLocks noChangeArrowheads="1"/>
            </p:cNvSpPr>
            <p:nvPr/>
          </p:nvSpPr>
          <p:spPr bwMode="auto">
            <a:xfrm>
              <a:off x="5013" y="1711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205" name="Rectangle 53"/>
            <p:cNvSpPr>
              <a:spLocks noChangeArrowheads="1"/>
            </p:cNvSpPr>
            <p:nvPr/>
          </p:nvSpPr>
          <p:spPr bwMode="auto">
            <a:xfrm>
              <a:off x="4786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206" name="Rectangle 54"/>
            <p:cNvSpPr>
              <a:spLocks noChangeArrowheads="1"/>
            </p:cNvSpPr>
            <p:nvPr/>
          </p:nvSpPr>
          <p:spPr bwMode="auto">
            <a:xfrm>
              <a:off x="4559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207" name="Rectangle 55"/>
            <p:cNvSpPr>
              <a:spLocks noChangeArrowheads="1"/>
            </p:cNvSpPr>
            <p:nvPr/>
          </p:nvSpPr>
          <p:spPr bwMode="auto">
            <a:xfrm>
              <a:off x="4332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208" name="Rectangle 56"/>
            <p:cNvSpPr>
              <a:spLocks noChangeArrowheads="1"/>
            </p:cNvSpPr>
            <p:nvPr/>
          </p:nvSpPr>
          <p:spPr bwMode="auto">
            <a:xfrm>
              <a:off x="3697" y="1711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2,10</a:t>
              </a:r>
              <a:endParaRPr lang="en-US" altLang="zh-CN" sz="2000"/>
            </a:p>
          </p:txBody>
        </p:sp>
      </p:grpSp>
      <p:grpSp>
        <p:nvGrpSpPr>
          <p:cNvPr id="177209" name="Group 57"/>
          <p:cNvGrpSpPr/>
          <p:nvPr/>
        </p:nvGrpSpPr>
        <p:grpSpPr bwMode="auto">
          <a:xfrm>
            <a:off x="1312863" y="2274888"/>
            <a:ext cx="2447925" cy="395287"/>
            <a:chOff x="3697" y="1462"/>
            <a:chExt cx="1542" cy="249"/>
          </a:xfrm>
        </p:grpSpPr>
        <p:sp>
          <p:nvSpPr>
            <p:cNvPr id="177210" name="Rectangle 58"/>
            <p:cNvSpPr>
              <a:spLocks noChangeArrowheads="1"/>
            </p:cNvSpPr>
            <p:nvPr/>
          </p:nvSpPr>
          <p:spPr bwMode="auto">
            <a:xfrm>
              <a:off x="5013" y="1462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211" name="Rectangle 59"/>
            <p:cNvSpPr>
              <a:spLocks noChangeArrowheads="1"/>
            </p:cNvSpPr>
            <p:nvPr/>
          </p:nvSpPr>
          <p:spPr bwMode="auto">
            <a:xfrm>
              <a:off x="4786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212" name="Rectangle 60"/>
            <p:cNvSpPr>
              <a:spLocks noChangeArrowheads="1"/>
            </p:cNvSpPr>
            <p:nvPr/>
          </p:nvSpPr>
          <p:spPr bwMode="auto">
            <a:xfrm>
              <a:off x="4559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_</a:t>
              </a:r>
              <a:endParaRPr lang="en-US" altLang="zh-CN" sz="2000"/>
            </a:p>
          </p:txBody>
        </p:sp>
        <p:sp>
          <p:nvSpPr>
            <p:cNvPr id="177213" name="Rectangle 61"/>
            <p:cNvSpPr>
              <a:spLocks noChangeArrowheads="1"/>
            </p:cNvSpPr>
            <p:nvPr/>
          </p:nvSpPr>
          <p:spPr bwMode="auto">
            <a:xfrm>
              <a:off x="4332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177214" name="Rectangle 62"/>
            <p:cNvSpPr>
              <a:spLocks noChangeArrowheads="1"/>
            </p:cNvSpPr>
            <p:nvPr/>
          </p:nvSpPr>
          <p:spPr bwMode="auto">
            <a:xfrm>
              <a:off x="3697" y="1462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2,6</a:t>
              </a:r>
              <a:endParaRPr lang="en-US" altLang="zh-CN" sz="2000"/>
            </a:p>
          </p:txBody>
        </p:sp>
      </p:grpSp>
      <p:grpSp>
        <p:nvGrpSpPr>
          <p:cNvPr id="177215" name="Group 63"/>
          <p:cNvGrpSpPr/>
          <p:nvPr/>
        </p:nvGrpSpPr>
        <p:grpSpPr bwMode="auto">
          <a:xfrm>
            <a:off x="609600" y="1295400"/>
            <a:ext cx="3151188" cy="4932363"/>
            <a:chOff x="3254" y="845"/>
            <a:chExt cx="1985" cy="3107"/>
          </a:xfrm>
        </p:grpSpPr>
        <p:sp>
          <p:nvSpPr>
            <p:cNvPr id="177216" name="Rectangle 64"/>
            <p:cNvSpPr>
              <a:spLocks noChangeArrowheads="1"/>
            </p:cNvSpPr>
            <p:nvPr/>
          </p:nvSpPr>
          <p:spPr bwMode="auto">
            <a:xfrm>
              <a:off x="3254" y="3703"/>
              <a:ext cx="44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3</a:t>
              </a:r>
              <a:endParaRPr lang="en-US" altLang="zh-CN" sz="2000"/>
            </a:p>
          </p:txBody>
        </p:sp>
        <p:sp>
          <p:nvSpPr>
            <p:cNvPr id="177217" name="Rectangle 65"/>
            <p:cNvSpPr>
              <a:spLocks noChangeArrowheads="1"/>
            </p:cNvSpPr>
            <p:nvPr/>
          </p:nvSpPr>
          <p:spPr bwMode="auto">
            <a:xfrm>
              <a:off x="3254" y="3205"/>
              <a:ext cx="443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177218" name="Rectangle 66"/>
            <p:cNvSpPr>
              <a:spLocks noChangeArrowheads="1"/>
            </p:cNvSpPr>
            <p:nvPr/>
          </p:nvSpPr>
          <p:spPr bwMode="auto">
            <a:xfrm>
              <a:off x="3254" y="1462"/>
              <a:ext cx="443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177219" name="Rectangle 67"/>
            <p:cNvSpPr>
              <a:spLocks noChangeArrowheads="1"/>
            </p:cNvSpPr>
            <p:nvPr/>
          </p:nvSpPr>
          <p:spPr bwMode="auto">
            <a:xfrm>
              <a:off x="5013" y="1163"/>
              <a:ext cx="226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  <a:endParaRPr lang="en-US" altLang="zh-CN" sz="2000"/>
            </a:p>
          </p:txBody>
        </p:sp>
        <p:sp>
          <p:nvSpPr>
            <p:cNvPr id="177220" name="Rectangle 68"/>
            <p:cNvSpPr>
              <a:spLocks noChangeArrowheads="1"/>
            </p:cNvSpPr>
            <p:nvPr/>
          </p:nvSpPr>
          <p:spPr bwMode="auto">
            <a:xfrm>
              <a:off x="4786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  <a:endParaRPr lang="en-US" altLang="zh-CN" sz="2000"/>
            </a:p>
          </p:txBody>
        </p:sp>
        <p:sp>
          <p:nvSpPr>
            <p:cNvPr id="177221" name="Rectangle 69"/>
            <p:cNvSpPr>
              <a:spLocks noChangeArrowheads="1"/>
            </p:cNvSpPr>
            <p:nvPr/>
          </p:nvSpPr>
          <p:spPr bwMode="auto">
            <a:xfrm>
              <a:off x="4559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C</a:t>
              </a:r>
              <a:endParaRPr lang="en-US" altLang="zh-CN" sz="2000"/>
            </a:p>
          </p:txBody>
        </p:sp>
        <p:sp>
          <p:nvSpPr>
            <p:cNvPr id="177222" name="Rectangle 70"/>
            <p:cNvSpPr>
              <a:spLocks noChangeArrowheads="1"/>
            </p:cNvSpPr>
            <p:nvPr/>
          </p:nvSpPr>
          <p:spPr bwMode="auto">
            <a:xfrm>
              <a:off x="4332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D</a:t>
              </a:r>
              <a:endParaRPr lang="en-US" altLang="zh-CN" sz="2000"/>
            </a:p>
          </p:txBody>
        </p:sp>
        <p:sp>
          <p:nvSpPr>
            <p:cNvPr id="177223" name="Rectangle 71"/>
            <p:cNvSpPr>
              <a:spLocks noChangeArrowheads="1"/>
            </p:cNvSpPr>
            <p:nvPr/>
          </p:nvSpPr>
          <p:spPr bwMode="auto">
            <a:xfrm>
              <a:off x="3697" y="1163"/>
              <a:ext cx="63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m</a:t>
              </a:r>
              <a:endParaRPr lang="en-US" altLang="zh-CN" sz="2000"/>
            </a:p>
          </p:txBody>
        </p:sp>
        <p:sp>
          <p:nvSpPr>
            <p:cNvPr id="177224" name="Rectangle 72"/>
            <p:cNvSpPr>
              <a:spLocks noChangeArrowheads="1"/>
            </p:cNvSpPr>
            <p:nvPr/>
          </p:nvSpPr>
          <p:spPr bwMode="auto">
            <a:xfrm>
              <a:off x="3254" y="1163"/>
              <a:ext cx="44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组号</a:t>
              </a:r>
              <a:endParaRPr lang="zh-CN" altLang="en-US" sz="2000"/>
            </a:p>
          </p:txBody>
        </p:sp>
        <p:sp>
          <p:nvSpPr>
            <p:cNvPr id="177225" name="Line 73"/>
            <p:cNvSpPr>
              <a:spLocks noChangeShapeType="1"/>
            </p:cNvSpPr>
            <p:nvPr/>
          </p:nvSpPr>
          <p:spPr bwMode="auto">
            <a:xfrm>
              <a:off x="3254" y="1163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6" name="Line 74"/>
            <p:cNvSpPr>
              <a:spLocks noChangeShapeType="1"/>
            </p:cNvSpPr>
            <p:nvPr/>
          </p:nvSpPr>
          <p:spPr bwMode="auto">
            <a:xfrm>
              <a:off x="3254" y="1462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7" name="Line 75"/>
            <p:cNvSpPr>
              <a:spLocks noChangeShapeType="1"/>
            </p:cNvSpPr>
            <p:nvPr/>
          </p:nvSpPr>
          <p:spPr bwMode="auto">
            <a:xfrm>
              <a:off x="3254" y="3205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8" name="Line 76"/>
            <p:cNvSpPr>
              <a:spLocks noChangeShapeType="1"/>
            </p:cNvSpPr>
            <p:nvPr/>
          </p:nvSpPr>
          <p:spPr bwMode="auto">
            <a:xfrm>
              <a:off x="3254" y="3703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9" name="Line 77"/>
            <p:cNvSpPr>
              <a:spLocks noChangeShapeType="1"/>
            </p:cNvSpPr>
            <p:nvPr/>
          </p:nvSpPr>
          <p:spPr bwMode="auto">
            <a:xfrm>
              <a:off x="3254" y="3952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0" name="Line 78"/>
            <p:cNvSpPr>
              <a:spLocks noChangeShapeType="1"/>
            </p:cNvSpPr>
            <p:nvPr/>
          </p:nvSpPr>
          <p:spPr bwMode="auto">
            <a:xfrm>
              <a:off x="3254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1" name="Line 79"/>
            <p:cNvSpPr>
              <a:spLocks noChangeShapeType="1"/>
            </p:cNvSpPr>
            <p:nvPr/>
          </p:nvSpPr>
          <p:spPr bwMode="auto">
            <a:xfrm>
              <a:off x="3697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2" name="Line 80"/>
            <p:cNvSpPr>
              <a:spLocks noChangeShapeType="1"/>
            </p:cNvSpPr>
            <p:nvPr/>
          </p:nvSpPr>
          <p:spPr bwMode="auto">
            <a:xfrm>
              <a:off x="4332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3" name="Line 81"/>
            <p:cNvSpPr>
              <a:spLocks noChangeShapeType="1"/>
            </p:cNvSpPr>
            <p:nvPr/>
          </p:nvSpPr>
          <p:spPr bwMode="auto">
            <a:xfrm>
              <a:off x="4559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4" name="Line 82"/>
            <p:cNvSpPr>
              <a:spLocks noChangeShapeType="1"/>
            </p:cNvSpPr>
            <p:nvPr/>
          </p:nvSpPr>
          <p:spPr bwMode="auto">
            <a:xfrm>
              <a:off x="4786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5" name="Line 83"/>
            <p:cNvSpPr>
              <a:spLocks noChangeShapeType="1"/>
            </p:cNvSpPr>
            <p:nvPr/>
          </p:nvSpPr>
          <p:spPr bwMode="auto">
            <a:xfrm>
              <a:off x="5013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6" name="Line 84"/>
            <p:cNvSpPr>
              <a:spLocks noChangeShapeType="1"/>
            </p:cNvSpPr>
            <p:nvPr/>
          </p:nvSpPr>
          <p:spPr bwMode="auto">
            <a:xfrm>
              <a:off x="5239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7" name="Line 85"/>
            <p:cNvSpPr>
              <a:spLocks noChangeShapeType="1"/>
            </p:cNvSpPr>
            <p:nvPr/>
          </p:nvSpPr>
          <p:spPr bwMode="auto">
            <a:xfrm>
              <a:off x="3697" y="1711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8" name="Line 86"/>
            <p:cNvSpPr>
              <a:spLocks noChangeShapeType="1"/>
            </p:cNvSpPr>
            <p:nvPr/>
          </p:nvSpPr>
          <p:spPr bwMode="auto">
            <a:xfrm>
              <a:off x="3697" y="1960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9" name="Line 87"/>
            <p:cNvSpPr>
              <a:spLocks noChangeShapeType="1"/>
            </p:cNvSpPr>
            <p:nvPr/>
          </p:nvSpPr>
          <p:spPr bwMode="auto">
            <a:xfrm>
              <a:off x="3697" y="2209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0" name="Line 88"/>
            <p:cNvSpPr>
              <a:spLocks noChangeShapeType="1"/>
            </p:cNvSpPr>
            <p:nvPr/>
          </p:nvSpPr>
          <p:spPr bwMode="auto">
            <a:xfrm>
              <a:off x="3697" y="2458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1" name="Line 89"/>
            <p:cNvSpPr>
              <a:spLocks noChangeShapeType="1"/>
            </p:cNvSpPr>
            <p:nvPr/>
          </p:nvSpPr>
          <p:spPr bwMode="auto">
            <a:xfrm>
              <a:off x="3697" y="2707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2" name="Line 90"/>
            <p:cNvSpPr>
              <a:spLocks noChangeShapeType="1"/>
            </p:cNvSpPr>
            <p:nvPr/>
          </p:nvSpPr>
          <p:spPr bwMode="auto">
            <a:xfrm>
              <a:off x="3697" y="2956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3" name="Line 91"/>
            <p:cNvSpPr>
              <a:spLocks noChangeShapeType="1"/>
            </p:cNvSpPr>
            <p:nvPr/>
          </p:nvSpPr>
          <p:spPr bwMode="auto">
            <a:xfrm>
              <a:off x="3697" y="3454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4" name="Rectangle 92"/>
            <p:cNvSpPr>
              <a:spLocks noChangeArrowheads="1"/>
            </p:cNvSpPr>
            <p:nvPr/>
          </p:nvSpPr>
          <p:spPr bwMode="auto">
            <a:xfrm>
              <a:off x="4014" y="84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7245" name="Group 93"/>
          <p:cNvGrpSpPr/>
          <p:nvPr/>
        </p:nvGrpSpPr>
        <p:grpSpPr bwMode="auto">
          <a:xfrm>
            <a:off x="3687763" y="3814763"/>
            <a:ext cx="488950" cy="2089150"/>
            <a:chOff x="2638" y="2568"/>
            <a:chExt cx="308" cy="1316"/>
          </a:xfrm>
        </p:grpSpPr>
        <p:sp>
          <p:nvSpPr>
            <p:cNvPr id="177246" name="Rectangle 94"/>
            <p:cNvSpPr>
              <a:spLocks noChangeArrowheads="1"/>
            </p:cNvSpPr>
            <p:nvPr/>
          </p:nvSpPr>
          <p:spPr bwMode="auto">
            <a:xfrm>
              <a:off x="2638" y="256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√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7247" name="Rectangle 95"/>
            <p:cNvSpPr>
              <a:spLocks noChangeArrowheads="1"/>
            </p:cNvSpPr>
            <p:nvPr/>
          </p:nvSpPr>
          <p:spPr bwMode="auto">
            <a:xfrm>
              <a:off x="2638" y="359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√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7248" name="Rectangle 96"/>
            <p:cNvSpPr>
              <a:spLocks noChangeArrowheads="1"/>
            </p:cNvSpPr>
            <p:nvPr/>
          </p:nvSpPr>
          <p:spPr bwMode="auto">
            <a:xfrm>
              <a:off x="2638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√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7249" name="Rectangle 97"/>
            <p:cNvSpPr>
              <a:spLocks noChangeArrowheads="1"/>
            </p:cNvSpPr>
            <p:nvPr/>
          </p:nvSpPr>
          <p:spPr bwMode="auto">
            <a:xfrm>
              <a:off x="2638" y="306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√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7250" name="Group 98"/>
          <p:cNvGrpSpPr/>
          <p:nvPr/>
        </p:nvGrpSpPr>
        <p:grpSpPr bwMode="auto">
          <a:xfrm>
            <a:off x="5054600" y="2806700"/>
            <a:ext cx="3122613" cy="431800"/>
            <a:chOff x="3612" y="1662"/>
            <a:chExt cx="1967" cy="272"/>
          </a:xfrm>
        </p:grpSpPr>
        <p:sp>
          <p:nvSpPr>
            <p:cNvPr id="177251" name="Rectangle 99"/>
            <p:cNvSpPr>
              <a:spLocks noChangeArrowheads="1"/>
            </p:cNvSpPr>
            <p:nvPr/>
          </p:nvSpPr>
          <p:spPr bwMode="auto">
            <a:xfrm>
              <a:off x="4423" y="1662"/>
              <a:ext cx="115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    _   0    _</a:t>
              </a:r>
              <a:endParaRPr lang="en-US" altLang="zh-CN" sz="2000"/>
            </a:p>
          </p:txBody>
        </p:sp>
        <p:sp>
          <p:nvSpPr>
            <p:cNvPr id="177252" name="Rectangle 100"/>
            <p:cNvSpPr>
              <a:spLocks noChangeArrowheads="1"/>
            </p:cNvSpPr>
            <p:nvPr/>
          </p:nvSpPr>
          <p:spPr bwMode="auto">
            <a:xfrm>
              <a:off x="3612" y="1662"/>
              <a:ext cx="81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8,9,12,13</a:t>
              </a:r>
              <a:endParaRPr lang="en-US" altLang="zh-CN" sz="2000"/>
            </a:p>
          </p:txBody>
        </p:sp>
      </p:grpSp>
      <p:grpSp>
        <p:nvGrpSpPr>
          <p:cNvPr id="177283" name="Group 131"/>
          <p:cNvGrpSpPr/>
          <p:nvPr/>
        </p:nvGrpSpPr>
        <p:grpSpPr bwMode="auto">
          <a:xfrm>
            <a:off x="3760788" y="2230438"/>
            <a:ext cx="4848225" cy="4032250"/>
            <a:chOff x="2369" y="1405"/>
            <a:chExt cx="3054" cy="2540"/>
          </a:xfrm>
        </p:grpSpPr>
        <p:sp>
          <p:nvSpPr>
            <p:cNvPr id="177254" name="Rectangle 102"/>
            <p:cNvSpPr>
              <a:spLocks noChangeArrowheads="1"/>
            </p:cNvSpPr>
            <p:nvPr/>
          </p:nvSpPr>
          <p:spPr bwMode="auto">
            <a:xfrm>
              <a:off x="2369" y="1405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1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55" name="Rectangle 103"/>
            <p:cNvSpPr>
              <a:spLocks noChangeArrowheads="1"/>
            </p:cNvSpPr>
            <p:nvPr/>
          </p:nvSpPr>
          <p:spPr bwMode="auto">
            <a:xfrm>
              <a:off x="2369" y="1632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2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56" name="Rectangle 104"/>
            <p:cNvSpPr>
              <a:spLocks noChangeArrowheads="1"/>
            </p:cNvSpPr>
            <p:nvPr/>
          </p:nvSpPr>
          <p:spPr bwMode="auto">
            <a:xfrm>
              <a:off x="2369" y="188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3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57" name="Rectangle 105"/>
            <p:cNvSpPr>
              <a:spLocks noChangeArrowheads="1"/>
            </p:cNvSpPr>
            <p:nvPr/>
          </p:nvSpPr>
          <p:spPr bwMode="auto">
            <a:xfrm>
              <a:off x="2369" y="213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4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58" name="Rectangle 106"/>
            <p:cNvSpPr>
              <a:spLocks noChangeArrowheads="1"/>
            </p:cNvSpPr>
            <p:nvPr/>
          </p:nvSpPr>
          <p:spPr bwMode="auto">
            <a:xfrm>
              <a:off x="2369" y="2659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5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59" name="Rectangle 107"/>
            <p:cNvSpPr>
              <a:spLocks noChangeArrowheads="1"/>
            </p:cNvSpPr>
            <p:nvPr/>
          </p:nvSpPr>
          <p:spPr bwMode="auto">
            <a:xfrm>
              <a:off x="2369" y="3657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6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  <p:sp>
          <p:nvSpPr>
            <p:cNvPr id="177260" name="Rectangle 108"/>
            <p:cNvSpPr>
              <a:spLocks noChangeArrowheads="1"/>
            </p:cNvSpPr>
            <p:nvPr/>
          </p:nvSpPr>
          <p:spPr bwMode="auto">
            <a:xfrm>
              <a:off x="5136" y="1776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cs typeface="Times New Roman" panose="02020603050405020304" pitchFamily="18" charset="0"/>
                </a:rPr>
                <a:t>P</a:t>
              </a:r>
              <a:r>
                <a:rPr kumimoji="0" lang="en-US" altLang="zh-CN" baseline="-30000">
                  <a:cs typeface="Times New Roman" panose="02020603050405020304" pitchFamily="18" charset="0"/>
                </a:rPr>
                <a:t>7</a:t>
              </a:r>
              <a:endParaRPr kumimoji="0" lang="en-US" altLang="zh-CN" baseline="-30000">
                <a:cs typeface="Times New Roman" panose="02020603050405020304" pitchFamily="18" charset="0"/>
              </a:endParaRPr>
            </a:p>
          </p:txBody>
        </p:sp>
      </p:grpSp>
      <p:sp>
        <p:nvSpPr>
          <p:cNvPr id="177261" name="Rectangle 109"/>
          <p:cNvSpPr>
            <a:spLocks noChangeArrowheads="1"/>
          </p:cNvSpPr>
          <p:nvPr/>
        </p:nvSpPr>
        <p:spPr bwMode="auto">
          <a:xfrm>
            <a:off x="4300538" y="3387121"/>
            <a:ext cx="40799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在表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III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中，未打“√”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的，标以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P1~P7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，称质蕴涵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项。全部质蕴涵项，完全覆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盖了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的各最小项。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77262" name="Group 110"/>
          <p:cNvGrpSpPr/>
          <p:nvPr/>
        </p:nvGrpSpPr>
        <p:grpSpPr bwMode="auto">
          <a:xfrm>
            <a:off x="4216400" y="1773238"/>
            <a:ext cx="3924300" cy="1465262"/>
            <a:chOff x="2971" y="1282"/>
            <a:chExt cx="2472" cy="923"/>
          </a:xfrm>
        </p:grpSpPr>
        <p:grpSp>
          <p:nvGrpSpPr>
            <p:cNvPr id="177263" name="Group 111"/>
            <p:cNvGrpSpPr/>
            <p:nvPr/>
          </p:nvGrpSpPr>
          <p:grpSpPr bwMode="auto">
            <a:xfrm>
              <a:off x="2971" y="1615"/>
              <a:ext cx="2472" cy="590"/>
              <a:chOff x="3107" y="1344"/>
              <a:chExt cx="2472" cy="590"/>
            </a:xfrm>
          </p:grpSpPr>
          <p:sp>
            <p:nvSpPr>
              <p:cNvPr id="177264" name="Rectangle 112"/>
              <p:cNvSpPr>
                <a:spLocks noChangeArrowheads="1"/>
              </p:cNvSpPr>
              <p:nvPr/>
            </p:nvSpPr>
            <p:spPr bwMode="auto">
              <a:xfrm>
                <a:off x="3107" y="1662"/>
                <a:ext cx="505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1</a:t>
                </a:r>
                <a:endParaRPr lang="en-US" altLang="zh-CN" sz="2000"/>
              </a:p>
            </p:txBody>
          </p:sp>
          <p:sp>
            <p:nvSpPr>
              <p:cNvPr id="177265" name="Rectangle 113"/>
              <p:cNvSpPr>
                <a:spLocks noChangeArrowheads="1"/>
              </p:cNvSpPr>
              <p:nvPr/>
            </p:nvSpPr>
            <p:spPr bwMode="auto">
              <a:xfrm>
                <a:off x="4423" y="1344"/>
                <a:ext cx="115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D   C   B   A</a:t>
                </a:r>
                <a:endParaRPr lang="en-US" altLang="zh-CN" sz="2000"/>
              </a:p>
            </p:txBody>
          </p:sp>
          <p:sp>
            <p:nvSpPr>
              <p:cNvPr id="177266" name="Rectangle 114"/>
              <p:cNvSpPr>
                <a:spLocks noChangeArrowheads="1"/>
              </p:cNvSpPr>
              <p:nvPr/>
            </p:nvSpPr>
            <p:spPr bwMode="auto">
              <a:xfrm>
                <a:off x="3612" y="1344"/>
                <a:ext cx="811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m</a:t>
                </a:r>
                <a:endParaRPr lang="en-US" altLang="zh-CN" sz="2000"/>
              </a:p>
            </p:txBody>
          </p:sp>
          <p:sp>
            <p:nvSpPr>
              <p:cNvPr id="177267" name="Rectangle 115"/>
              <p:cNvSpPr>
                <a:spLocks noChangeArrowheads="1"/>
              </p:cNvSpPr>
              <p:nvPr/>
            </p:nvSpPr>
            <p:spPr bwMode="auto">
              <a:xfrm>
                <a:off x="3107" y="1344"/>
                <a:ext cx="505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组号</a:t>
                </a:r>
                <a:endParaRPr lang="zh-CN" altLang="en-US" sz="2000"/>
              </a:p>
            </p:txBody>
          </p:sp>
          <p:sp>
            <p:nvSpPr>
              <p:cNvPr id="177268" name="Line 116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69" name="Line 117"/>
              <p:cNvSpPr>
                <a:spLocks noChangeShapeType="1"/>
              </p:cNvSpPr>
              <p:nvPr/>
            </p:nvSpPr>
            <p:spPr bwMode="auto">
              <a:xfrm>
                <a:off x="3107" y="1662"/>
                <a:ext cx="2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0" name="Line 118"/>
              <p:cNvSpPr>
                <a:spLocks noChangeShapeType="1"/>
              </p:cNvSpPr>
              <p:nvPr/>
            </p:nvSpPr>
            <p:spPr bwMode="auto">
              <a:xfrm>
                <a:off x="3107" y="193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1" name="Line 119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2" name="Line 120"/>
              <p:cNvSpPr>
                <a:spLocks noChangeShapeType="1"/>
              </p:cNvSpPr>
              <p:nvPr/>
            </p:nvSpPr>
            <p:spPr bwMode="auto">
              <a:xfrm>
                <a:off x="3612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3" name="Line 121"/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4" name="Line 122"/>
              <p:cNvSpPr>
                <a:spLocks noChangeShapeType="1"/>
              </p:cNvSpPr>
              <p:nvPr/>
            </p:nvSpPr>
            <p:spPr bwMode="auto">
              <a:xfrm>
                <a:off x="5579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7275" name="Rectangle 123"/>
            <p:cNvSpPr>
              <a:spLocks noChangeArrowheads="1"/>
            </p:cNvSpPr>
            <p:nvPr/>
          </p:nvSpPr>
          <p:spPr bwMode="auto">
            <a:xfrm>
              <a:off x="3969" y="1282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77276" name="Object 124"/>
          <p:cNvGraphicFramePr>
            <a:graphicFrameLocks noChangeAspect="1"/>
          </p:cNvGraphicFramePr>
          <p:nvPr/>
        </p:nvGraphicFramePr>
        <p:xfrm>
          <a:off x="4432300" y="5118100"/>
          <a:ext cx="1187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2" name="Equation" r:id="rId1" imgW="16459200" imgH="6096000" progId="Equation.3">
                  <p:embed/>
                </p:oleObj>
              </mc:Choice>
              <mc:Fallback>
                <p:oleObj name="Equation" r:id="rId1" imgW="16459200" imgH="6096000" progId="Equation.3">
                  <p:embed/>
                  <p:pic>
                    <p:nvPicPr>
                      <p:cNvPr id="0" name="图片 628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5118100"/>
                        <a:ext cx="118745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7" name="Object 125"/>
          <p:cNvGraphicFramePr>
            <a:graphicFrameLocks noChangeAspect="1"/>
          </p:cNvGraphicFramePr>
          <p:nvPr/>
        </p:nvGraphicFramePr>
        <p:xfrm>
          <a:off x="6043613" y="5118100"/>
          <a:ext cx="11922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3" name="Equation" r:id="rId3" imgW="16459200" imgH="6096000" progId="Equation.3">
                  <p:embed/>
                </p:oleObj>
              </mc:Choice>
              <mc:Fallback>
                <p:oleObj name="Equation" r:id="rId3" imgW="16459200" imgH="6096000" progId="Equation.3">
                  <p:embed/>
                  <p:pic>
                    <p:nvPicPr>
                      <p:cNvPr id="0" name="图片 628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5118100"/>
                        <a:ext cx="1192212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8" name="Object 126"/>
          <p:cNvGraphicFramePr>
            <a:graphicFrameLocks noChangeAspect="1"/>
          </p:cNvGraphicFramePr>
          <p:nvPr/>
        </p:nvGraphicFramePr>
        <p:xfrm>
          <a:off x="7610475" y="5095875"/>
          <a:ext cx="11922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4" name="Equation" r:id="rId5" imgW="16459200" imgH="6096000" progId="Equation.3">
                  <p:embed/>
                </p:oleObj>
              </mc:Choice>
              <mc:Fallback>
                <p:oleObj name="Equation" r:id="rId5" imgW="16459200" imgH="6096000" progId="Equation.3">
                  <p:embed/>
                  <p:pic>
                    <p:nvPicPr>
                      <p:cNvPr id="0" name="图片 628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475" y="5095875"/>
                        <a:ext cx="119221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9" name="Object 127"/>
          <p:cNvGraphicFramePr>
            <a:graphicFrameLocks noChangeAspect="1"/>
          </p:cNvGraphicFramePr>
          <p:nvPr/>
        </p:nvGraphicFramePr>
        <p:xfrm>
          <a:off x="4410075" y="5608638"/>
          <a:ext cx="11938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5" name="Equation" r:id="rId7" imgW="16459200" imgH="6096000" progId="Equation.3">
                  <p:embed/>
                </p:oleObj>
              </mc:Choice>
              <mc:Fallback>
                <p:oleObj name="Equation" r:id="rId7" imgW="16459200" imgH="6096000" progId="Equation.3">
                  <p:embed/>
                  <p:pic>
                    <p:nvPicPr>
                      <p:cNvPr id="0" name="图片 628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5608638"/>
                        <a:ext cx="1193800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0" name="Object 128"/>
          <p:cNvGraphicFramePr>
            <a:graphicFrameLocks noChangeAspect="1"/>
          </p:cNvGraphicFramePr>
          <p:nvPr/>
        </p:nvGraphicFramePr>
        <p:xfrm>
          <a:off x="6022975" y="5629275"/>
          <a:ext cx="11985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6" name="Equation" r:id="rId9" imgW="16459200" imgH="6096000" progId="Equation.3">
                  <p:embed/>
                </p:oleObj>
              </mc:Choice>
              <mc:Fallback>
                <p:oleObj name="Equation" r:id="rId9" imgW="16459200" imgH="6096000" progId="Equation.3">
                  <p:embed/>
                  <p:pic>
                    <p:nvPicPr>
                      <p:cNvPr id="0" name="图片 628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5629275"/>
                        <a:ext cx="1198563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1" name="Object 129"/>
          <p:cNvGraphicFramePr>
            <a:graphicFrameLocks noChangeAspect="1"/>
          </p:cNvGraphicFramePr>
          <p:nvPr/>
        </p:nvGraphicFramePr>
        <p:xfrm>
          <a:off x="7558088" y="5619750"/>
          <a:ext cx="11747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7" name="Equation" r:id="rId11" imgW="16154400" imgH="5486400" progId="Equation.3">
                  <p:embed/>
                </p:oleObj>
              </mc:Choice>
              <mc:Fallback>
                <p:oleObj name="Equation" r:id="rId11" imgW="16154400" imgH="5486400" progId="Equation.3">
                  <p:embed/>
                  <p:pic>
                    <p:nvPicPr>
                      <p:cNvPr id="0" name="图片 628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5619750"/>
                        <a:ext cx="11747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2" name="Object 130"/>
          <p:cNvGraphicFramePr>
            <a:graphicFrameLocks noChangeAspect="1"/>
          </p:cNvGraphicFramePr>
          <p:nvPr/>
        </p:nvGraphicFramePr>
        <p:xfrm>
          <a:off x="4356100" y="6113463"/>
          <a:ext cx="1069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8" name="Equation" r:id="rId13" imgW="14630400" imgH="6096000" progId="Equation.3">
                  <p:embed/>
                </p:oleObj>
              </mc:Choice>
              <mc:Fallback>
                <p:oleObj name="Equation" r:id="rId13" imgW="14630400" imgH="6096000" progId="Equation.3">
                  <p:embed/>
                  <p:pic>
                    <p:nvPicPr>
                      <p:cNvPr id="0" name="图片 628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113463"/>
                        <a:ext cx="106997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261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B55D-EDF7-41F0-9304-1439B625B4F4}" type="slidenum">
              <a:rPr lang="en-US" altLang="zh-CN"/>
            </a:fld>
            <a:endParaRPr lang="en-US" altLang="zh-CN"/>
          </a:p>
        </p:txBody>
      </p:sp>
      <p:grpSp>
        <p:nvGrpSpPr>
          <p:cNvPr id="178179" name="Group 3"/>
          <p:cNvGrpSpPr/>
          <p:nvPr/>
        </p:nvGrpSpPr>
        <p:grpSpPr bwMode="auto">
          <a:xfrm>
            <a:off x="373063" y="2820988"/>
            <a:ext cx="4032250" cy="3887787"/>
            <a:chOff x="1429" y="1389"/>
            <a:chExt cx="2540" cy="2449"/>
          </a:xfrm>
        </p:grpSpPr>
        <p:sp>
          <p:nvSpPr>
            <p:cNvPr id="178180" name="Rectangle 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2" name="Rectangle 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3" name="Rectangle 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5" name="Rectangle 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6" name="Rectangle 1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7" name="Rectangle 1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8" name="Rectangle 1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89" name="Rectangle 1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0" name="Rectangle 1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1" name="Rectangle 1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2" name="Rectangle 1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3" name="Rectangle 1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4" name="Rectangle 1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5" name="Rectangle 1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178196" name="Line 2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7" name="Line 2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8" name="Line 2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9" name="Line 2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0" name="Line 2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1" name="Line 2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2" name="Line 2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3" name="Line 2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4" name="Line 2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5" name="Line 2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6" name="Line 3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8207" name="Group 31"/>
          <p:cNvGrpSpPr/>
          <p:nvPr/>
        </p:nvGrpSpPr>
        <p:grpSpPr bwMode="auto">
          <a:xfrm>
            <a:off x="444500" y="2820988"/>
            <a:ext cx="3887788" cy="3671887"/>
            <a:chOff x="885" y="1571"/>
            <a:chExt cx="2449" cy="2313"/>
          </a:xfrm>
        </p:grpSpPr>
        <p:grpSp>
          <p:nvGrpSpPr>
            <p:cNvPr id="178208" name="Group 32"/>
            <p:cNvGrpSpPr/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178209" name="Text Box 33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0" name="Text Box 34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1" name="Text Box 35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2" name="Text Box 36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78213" name="Group 37"/>
            <p:cNvGrpSpPr/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178214" name="Text Box 38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5" name="Text Box 39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6" name="Text Box 40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178217" name="Text Box 41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178218" name="Group 42"/>
          <p:cNvGrpSpPr/>
          <p:nvPr/>
        </p:nvGrpSpPr>
        <p:grpSpPr bwMode="auto">
          <a:xfrm>
            <a:off x="1196975" y="3514725"/>
            <a:ext cx="3070225" cy="2978150"/>
            <a:chOff x="2019" y="2099"/>
            <a:chExt cx="1934" cy="1876"/>
          </a:xfrm>
        </p:grpSpPr>
        <p:sp>
          <p:nvSpPr>
            <p:cNvPr id="178219" name="Rectangle 43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0" name="Rectangle 44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1" name="Rectangle 45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2" name="Rectangle 46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3" name="Rectangle 47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4" name="Rectangle 48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5" name="Rectangle 49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6" name="Rectangle 50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7" name="Rectangle 51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8" name="Rectangle 52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29" name="Rectangle 53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30" name="Rectangle 54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31" name="Rectangle 55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8232" name="Rectangle 56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33" name="Rectangle 57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234" name="Rectangle 58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235" name="Group 59"/>
          <p:cNvGrpSpPr/>
          <p:nvPr/>
        </p:nvGrpSpPr>
        <p:grpSpPr bwMode="auto">
          <a:xfrm>
            <a:off x="228600" y="2433638"/>
            <a:ext cx="865188" cy="1177925"/>
            <a:chOff x="1337" y="1162"/>
            <a:chExt cx="545" cy="742"/>
          </a:xfrm>
        </p:grpSpPr>
        <p:sp>
          <p:nvSpPr>
            <p:cNvPr id="178236" name="Text Box 60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8237" name="Text Box 61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8238" name="Text Box 62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178239" name="Text Box 63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78240" name="Rectangle 64"/>
          <p:cNvSpPr>
            <a:spLocks noChangeArrowheads="1"/>
          </p:cNvSpPr>
          <p:nvPr/>
        </p:nvSpPr>
        <p:spPr bwMode="auto">
          <a:xfrm>
            <a:off x="533400" y="378768"/>
            <a:ext cx="39533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在卡诺图上看全部质蕴涵项 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78241" name="Group 65"/>
          <p:cNvGrpSpPr/>
          <p:nvPr/>
        </p:nvGrpSpPr>
        <p:grpSpPr bwMode="auto">
          <a:xfrm>
            <a:off x="3686175" y="3468688"/>
            <a:ext cx="576263" cy="1295400"/>
            <a:chOff x="3334" y="1979"/>
            <a:chExt cx="363" cy="816"/>
          </a:xfrm>
        </p:grpSpPr>
        <p:sp>
          <p:nvSpPr>
            <p:cNvPr id="178242" name="Rectangle 66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43" name="Text Box 67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8244" name="Group 68"/>
          <p:cNvGrpSpPr/>
          <p:nvPr/>
        </p:nvGrpSpPr>
        <p:grpSpPr bwMode="auto">
          <a:xfrm>
            <a:off x="3686175" y="3179763"/>
            <a:ext cx="792163" cy="3602037"/>
            <a:chOff x="3334" y="1797"/>
            <a:chExt cx="499" cy="2269"/>
          </a:xfrm>
        </p:grpSpPr>
        <p:grpSp>
          <p:nvGrpSpPr>
            <p:cNvPr id="178245" name="Group 69"/>
            <p:cNvGrpSpPr/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178246" name="Rectangle 70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47" name="Rectangle 71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8248" name="Text Box 72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P2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8249" name="Group 73"/>
          <p:cNvGrpSpPr/>
          <p:nvPr/>
        </p:nvGrpSpPr>
        <p:grpSpPr bwMode="auto">
          <a:xfrm>
            <a:off x="877888" y="4260850"/>
            <a:ext cx="3671887" cy="574675"/>
            <a:chOff x="1565" y="2478"/>
            <a:chExt cx="2313" cy="362"/>
          </a:xfrm>
        </p:grpSpPr>
        <p:grpSp>
          <p:nvGrpSpPr>
            <p:cNvPr id="178250" name="Group 74"/>
            <p:cNvGrpSpPr/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178251" name="Rectangle 75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52" name="Rectangle 76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8253" name="Text Box 77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P3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8254" name="Group 78"/>
          <p:cNvGrpSpPr/>
          <p:nvPr/>
        </p:nvGrpSpPr>
        <p:grpSpPr bwMode="auto">
          <a:xfrm>
            <a:off x="1165225" y="4403725"/>
            <a:ext cx="647700" cy="1296988"/>
            <a:chOff x="1746" y="2568"/>
            <a:chExt cx="408" cy="817"/>
          </a:xfrm>
        </p:grpSpPr>
        <p:sp>
          <p:nvSpPr>
            <p:cNvPr id="178255" name="Rectangle 79"/>
            <p:cNvSpPr>
              <a:spLocks noChangeArrowheads="1"/>
            </p:cNvSpPr>
            <p:nvPr/>
          </p:nvSpPr>
          <p:spPr bwMode="auto">
            <a:xfrm>
              <a:off x="1746" y="2568"/>
              <a:ext cx="318" cy="817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56" name="Text Box 80"/>
            <p:cNvSpPr txBox="1">
              <a:spLocks noChangeArrowheads="1"/>
            </p:cNvSpPr>
            <p:nvPr/>
          </p:nvSpPr>
          <p:spPr bwMode="auto">
            <a:xfrm>
              <a:off x="1746" y="279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P4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8257" name="Group 81"/>
          <p:cNvGrpSpPr/>
          <p:nvPr/>
        </p:nvGrpSpPr>
        <p:grpSpPr bwMode="auto">
          <a:xfrm>
            <a:off x="1957388" y="5195888"/>
            <a:ext cx="1439862" cy="576262"/>
            <a:chOff x="2245" y="3067"/>
            <a:chExt cx="907" cy="363"/>
          </a:xfrm>
        </p:grpSpPr>
        <p:sp>
          <p:nvSpPr>
            <p:cNvPr id="178258" name="Rectangle 82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59" name="Text Box 83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P6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8260" name="Group 84"/>
          <p:cNvGrpSpPr/>
          <p:nvPr/>
        </p:nvGrpSpPr>
        <p:grpSpPr bwMode="auto">
          <a:xfrm>
            <a:off x="1165225" y="5195888"/>
            <a:ext cx="1296988" cy="1296987"/>
            <a:chOff x="1746" y="3067"/>
            <a:chExt cx="817" cy="817"/>
          </a:xfrm>
        </p:grpSpPr>
        <p:sp>
          <p:nvSpPr>
            <p:cNvPr id="178261" name="Rectangle 85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2" name="Text Box 86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P7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78266" name="Object 90"/>
          <p:cNvGraphicFramePr>
            <a:graphicFrameLocks noChangeAspect="1"/>
          </p:cNvGraphicFramePr>
          <p:nvPr/>
        </p:nvGraphicFramePr>
        <p:xfrm>
          <a:off x="1238250" y="1814513"/>
          <a:ext cx="15668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4" name="公式" r:id="rId1" imgW="685800" imgH="254000" progId="Equation.3">
                  <p:embed/>
                </p:oleObj>
              </mc:Choice>
              <mc:Fallback>
                <p:oleObj name="公式" r:id="rId1" imgW="685800" imgH="254000" progId="Equation.3">
                  <p:embed/>
                  <p:pic>
                    <p:nvPicPr>
                      <p:cNvPr id="0" name="图片 638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1814513"/>
                        <a:ext cx="156686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7" name="Object 91"/>
          <p:cNvGraphicFramePr>
            <a:graphicFrameLocks noChangeAspect="1"/>
          </p:cNvGraphicFramePr>
          <p:nvPr/>
        </p:nvGraphicFramePr>
        <p:xfrm>
          <a:off x="2852738" y="18145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5" name="公式" r:id="rId3" imgW="685800" imgH="254000" progId="Equation.3">
                  <p:embed/>
                </p:oleObj>
              </mc:Choice>
              <mc:Fallback>
                <p:oleObj name="公式" r:id="rId3" imgW="685800" imgH="254000" progId="Equation.3">
                  <p:embed/>
                  <p:pic>
                    <p:nvPicPr>
                      <p:cNvPr id="0" name="图片 638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18145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8" name="Object 92"/>
          <p:cNvGraphicFramePr>
            <a:graphicFrameLocks noChangeAspect="1"/>
          </p:cNvGraphicFramePr>
          <p:nvPr/>
        </p:nvGraphicFramePr>
        <p:xfrm>
          <a:off x="4529138" y="1828800"/>
          <a:ext cx="15668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6" name="公式" r:id="rId5" imgW="685800" imgH="254000" progId="Equation.3">
                  <p:embed/>
                </p:oleObj>
              </mc:Choice>
              <mc:Fallback>
                <p:oleObj name="公式" r:id="rId5" imgW="685800" imgH="254000" progId="Equation.3">
                  <p:embed/>
                  <p:pic>
                    <p:nvPicPr>
                      <p:cNvPr id="0" name="图片 638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1828800"/>
                        <a:ext cx="1566862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9" name="Object 93"/>
          <p:cNvGraphicFramePr>
            <a:graphicFrameLocks noChangeAspect="1"/>
          </p:cNvGraphicFramePr>
          <p:nvPr/>
        </p:nvGraphicFramePr>
        <p:xfrm>
          <a:off x="6129338" y="18145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7" name="公式" r:id="rId7" imgW="685800" imgH="254000" progId="Equation.3">
                  <p:embed/>
                </p:oleObj>
              </mc:Choice>
              <mc:Fallback>
                <p:oleObj name="公式" r:id="rId7" imgW="685800" imgH="254000" progId="Equation.3">
                  <p:embed/>
                  <p:pic>
                    <p:nvPicPr>
                      <p:cNvPr id="0" name="图片 638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338" y="18145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0" name="Object 94"/>
          <p:cNvGraphicFramePr>
            <a:graphicFrameLocks noChangeAspect="1"/>
          </p:cNvGraphicFramePr>
          <p:nvPr/>
        </p:nvGraphicFramePr>
        <p:xfrm>
          <a:off x="3127375" y="2458789"/>
          <a:ext cx="144082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8" name="公式" r:id="rId9" imgW="16459200" imgH="6096000" progId="Equation.3">
                  <p:embed/>
                </p:oleObj>
              </mc:Choice>
              <mc:Fallback>
                <p:oleObj name="公式" r:id="rId9" imgW="16459200" imgH="6096000" progId="Equation.3">
                  <p:embed/>
                  <p:pic>
                    <p:nvPicPr>
                      <p:cNvPr id="0" name="图片 638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458789"/>
                        <a:ext cx="1440827" cy="538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1" name="Object 95"/>
          <p:cNvGraphicFramePr>
            <a:graphicFrameLocks noChangeAspect="1"/>
          </p:cNvGraphicFramePr>
          <p:nvPr/>
        </p:nvGraphicFramePr>
        <p:xfrm>
          <a:off x="4788024" y="2479675"/>
          <a:ext cx="1440160" cy="50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9" name="公式" r:id="rId11" imgW="16154400" imgH="5486400" progId="Equation.3">
                  <p:embed/>
                </p:oleObj>
              </mc:Choice>
              <mc:Fallback>
                <p:oleObj name="公式" r:id="rId11" imgW="16154400" imgH="5486400" progId="Equation.3">
                  <p:embed/>
                  <p:pic>
                    <p:nvPicPr>
                      <p:cNvPr id="0" name="图片 63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479675"/>
                        <a:ext cx="1440160" cy="503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2" name="Object 96"/>
          <p:cNvGraphicFramePr>
            <a:graphicFrameLocks noChangeAspect="1"/>
          </p:cNvGraphicFramePr>
          <p:nvPr/>
        </p:nvGraphicFramePr>
        <p:xfrm>
          <a:off x="6516215" y="2484776"/>
          <a:ext cx="1224137" cy="51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80" name="公式" r:id="rId13" imgW="14630400" imgH="6096000" progId="Equation.3">
                  <p:embed/>
                </p:oleObj>
              </mc:Choice>
              <mc:Fallback>
                <p:oleObj name="公式" r:id="rId13" imgW="14630400" imgH="6096000" progId="Equation.3">
                  <p:embed/>
                  <p:pic>
                    <p:nvPicPr>
                      <p:cNvPr id="0" name="图片 638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5" y="2484776"/>
                        <a:ext cx="1224137" cy="512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273" name="Rectangle 97"/>
          <p:cNvSpPr>
            <a:spLocks noChangeArrowheads="1"/>
          </p:cNvSpPr>
          <p:nvPr/>
        </p:nvSpPr>
        <p:spPr bwMode="auto">
          <a:xfrm>
            <a:off x="4953000" y="3200400"/>
            <a:ext cx="37338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由图可见，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~ 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覆盖了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的全部最小项；对每个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项，它们是不能再和其它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项或最小项合并了。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由图还可见，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~ 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中有不必要的质蕴涵项：例如，若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必须，则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就不必要。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8274" name="Object 98"/>
          <p:cNvGraphicFramePr>
            <a:graphicFrameLocks noChangeAspect="1"/>
          </p:cNvGraphicFramePr>
          <p:nvPr/>
        </p:nvGraphicFramePr>
        <p:xfrm>
          <a:off x="1225550" y="901700"/>
          <a:ext cx="45323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81" name="公式" r:id="rId15" imgW="2057400" imgH="266700" progId="Equation.3">
                  <p:embed/>
                </p:oleObj>
              </mc:Choice>
              <mc:Fallback>
                <p:oleObj name="公式" r:id="rId15" imgW="2057400" imgH="266700" progId="Equation.3">
                  <p:embed/>
                  <p:pic>
                    <p:nvPicPr>
                      <p:cNvPr id="0" name="图片 638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901700"/>
                        <a:ext cx="453231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277" name="Group 101"/>
          <p:cNvGrpSpPr/>
          <p:nvPr/>
        </p:nvGrpSpPr>
        <p:grpSpPr bwMode="auto">
          <a:xfrm>
            <a:off x="1066800" y="5943600"/>
            <a:ext cx="3327400" cy="719138"/>
            <a:chOff x="672" y="3744"/>
            <a:chExt cx="2096" cy="453"/>
          </a:xfrm>
        </p:grpSpPr>
        <p:sp>
          <p:nvSpPr>
            <p:cNvPr id="178264" name="Rectangle 88"/>
            <p:cNvSpPr>
              <a:spLocks noChangeArrowheads="1"/>
            </p:cNvSpPr>
            <p:nvPr/>
          </p:nvSpPr>
          <p:spPr bwMode="auto">
            <a:xfrm>
              <a:off x="672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5" name="Text Box 89"/>
            <p:cNvSpPr txBox="1">
              <a:spLocks noChangeArrowheads="1"/>
            </p:cNvSpPr>
            <p:nvPr/>
          </p:nvSpPr>
          <p:spPr bwMode="auto">
            <a:xfrm>
              <a:off x="672" y="379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anose="020B0604030504040204" pitchFamily="34" charset="0"/>
                </a:rPr>
                <a:t>P5</a:t>
              </a:r>
              <a:endParaRPr kumimoji="0"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178276" name="Rectangle 100"/>
            <p:cNvSpPr>
              <a:spLocks noChangeArrowheads="1"/>
            </p:cNvSpPr>
            <p:nvPr/>
          </p:nvSpPr>
          <p:spPr bwMode="auto">
            <a:xfrm>
              <a:off x="2304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40" grpId="0" autoUpdateAnimBg="0"/>
      <p:bldP spid="178273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77748-E235-4254-B3DF-6FA54C5FB3DE}" type="slidenum">
              <a:rPr lang="en-US" altLang="zh-CN"/>
            </a:fld>
            <a:endParaRPr lang="en-US" altLang="zh-CN"/>
          </a:p>
        </p:txBody>
      </p:sp>
      <p:sp>
        <p:nvSpPr>
          <p:cNvPr id="311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/>
              <a:t>如何挑选必要的质蕴涵项？</a:t>
            </a:r>
            <a:endParaRPr lang="zh-CN" altLang="en-US"/>
          </a:p>
        </p:txBody>
      </p:sp>
      <p:sp>
        <p:nvSpPr>
          <p:cNvPr id="311300" name="Rectangle 4"/>
          <p:cNvSpPr>
            <a:spLocks noChangeArrowheads="1"/>
          </p:cNvSpPr>
          <p:nvPr/>
        </p:nvSpPr>
        <p:spPr bwMode="auto">
          <a:xfrm>
            <a:off x="457200" y="1828800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从卡诺图上能否有所启发？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11372" name="Object 76"/>
          <p:cNvGraphicFramePr>
            <a:graphicFrameLocks noChangeAspect="1"/>
          </p:cNvGraphicFramePr>
          <p:nvPr/>
        </p:nvGraphicFramePr>
        <p:xfrm>
          <a:off x="552450" y="2728913"/>
          <a:ext cx="15668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8" name="公式" r:id="rId1" imgW="685800" imgH="254000" progId="Equation.3">
                  <p:embed/>
                </p:oleObj>
              </mc:Choice>
              <mc:Fallback>
                <p:oleObj name="公式" r:id="rId1" imgW="685800" imgH="254000" progId="Equation.3">
                  <p:embed/>
                  <p:pic>
                    <p:nvPicPr>
                      <p:cNvPr id="0" name="图片 64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728913"/>
                        <a:ext cx="156686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73" name="Object 77"/>
          <p:cNvGraphicFramePr>
            <a:graphicFrameLocks noChangeAspect="1"/>
          </p:cNvGraphicFramePr>
          <p:nvPr/>
        </p:nvGraphicFramePr>
        <p:xfrm>
          <a:off x="2166938" y="27289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59" name="公式" r:id="rId3" imgW="685800" imgH="254000" progId="Equation.3">
                  <p:embed/>
                </p:oleObj>
              </mc:Choice>
              <mc:Fallback>
                <p:oleObj name="公式" r:id="rId3" imgW="685800" imgH="254000" progId="Equation.3">
                  <p:embed/>
                  <p:pic>
                    <p:nvPicPr>
                      <p:cNvPr id="0" name="图片 64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27289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74" name="Object 78"/>
          <p:cNvGraphicFramePr>
            <a:graphicFrameLocks noChangeAspect="1"/>
          </p:cNvGraphicFramePr>
          <p:nvPr/>
        </p:nvGraphicFramePr>
        <p:xfrm>
          <a:off x="566738" y="3325813"/>
          <a:ext cx="15652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0" name="公式" r:id="rId5" imgW="685800" imgH="254000" progId="Equation.3">
                  <p:embed/>
                </p:oleObj>
              </mc:Choice>
              <mc:Fallback>
                <p:oleObj name="公式" r:id="rId5" imgW="685800" imgH="254000" progId="Equation.3">
                  <p:embed/>
                  <p:pic>
                    <p:nvPicPr>
                      <p:cNvPr id="0" name="图片 646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3325813"/>
                        <a:ext cx="1565275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1379" name="Group 83"/>
          <p:cNvGrpSpPr/>
          <p:nvPr/>
        </p:nvGrpSpPr>
        <p:grpSpPr bwMode="auto">
          <a:xfrm>
            <a:off x="4800600" y="2286000"/>
            <a:ext cx="4032250" cy="3887788"/>
            <a:chOff x="1429" y="1389"/>
            <a:chExt cx="2540" cy="2449"/>
          </a:xfrm>
        </p:grpSpPr>
        <p:sp>
          <p:nvSpPr>
            <p:cNvPr id="311380" name="Rectangle 8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1" name="Rectangle 8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2" name="Rectangle 8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3" name="Rectangle 8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4" name="Rectangle 8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5" name="Rectangle 8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6" name="Rectangle 9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7" name="Rectangle 9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8" name="Rectangle 9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89" name="Rectangle 9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0" name="Rectangle 9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1" name="Rectangle 9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2" name="Rectangle 9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3" name="Rectangle 9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4" name="Rectangle 9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5" name="Rectangle 9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1396" name="Line 10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7" name="Line 10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8" name="Line 10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9" name="Line 10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0" name="Line 10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1" name="Line 10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2" name="Line 10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3" name="Line 10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4" name="Line 10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5" name="Line 10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6" name="Line 11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1407" name="Group 111"/>
          <p:cNvGrpSpPr/>
          <p:nvPr/>
        </p:nvGrpSpPr>
        <p:grpSpPr bwMode="auto">
          <a:xfrm>
            <a:off x="4872038" y="2286000"/>
            <a:ext cx="3887787" cy="3671888"/>
            <a:chOff x="885" y="1571"/>
            <a:chExt cx="2449" cy="2313"/>
          </a:xfrm>
        </p:grpSpPr>
        <p:grpSp>
          <p:nvGrpSpPr>
            <p:cNvPr id="311408" name="Group 112"/>
            <p:cNvGrpSpPr/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1409" name="Text Box 113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0" name="Text Box 114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1" name="Text Box 115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2" name="Text Box 116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1413" name="Group 117"/>
            <p:cNvGrpSpPr/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1414" name="Text Box 118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5" name="Text Box 119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6" name="Text Box 120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1417" name="Text Box 121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11418" name="Group 122"/>
          <p:cNvGrpSpPr/>
          <p:nvPr/>
        </p:nvGrpSpPr>
        <p:grpSpPr bwMode="auto">
          <a:xfrm>
            <a:off x="5624513" y="2979739"/>
            <a:ext cx="3070225" cy="2979738"/>
            <a:chOff x="2019" y="2099"/>
            <a:chExt cx="1934" cy="1877"/>
          </a:xfrm>
        </p:grpSpPr>
        <p:sp>
          <p:nvSpPr>
            <p:cNvPr id="311419" name="Rectangle 123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0" name="Rectangle 124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1" name="Rectangle 125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2" name="Rectangle 126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3" name="Rectangle 127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4" name="Rectangle 128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5" name="Rectangle 129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6" name="Rectangle 130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7" name="Rectangle 131"/>
            <p:cNvSpPr>
              <a:spLocks noChangeArrowheads="1"/>
            </p:cNvSpPr>
            <p:nvPr/>
          </p:nvSpPr>
          <p:spPr bwMode="auto">
            <a:xfrm>
              <a:off x="2587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8" name="Rectangle 132"/>
            <p:cNvSpPr>
              <a:spLocks noChangeArrowheads="1"/>
            </p:cNvSpPr>
            <p:nvPr/>
          </p:nvSpPr>
          <p:spPr bwMode="auto">
            <a:xfrm>
              <a:off x="2043" y="3157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anose="020B0604030504040204" pitchFamily="34" charset="0"/>
                </a:rPr>
                <a:t>1</a:t>
              </a:r>
              <a:r>
                <a:rPr kumimoji="0" lang="en-US" altLang="zh-CN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29" name="Rectangle 133"/>
            <p:cNvSpPr>
              <a:spLocks noChangeArrowheads="1"/>
            </p:cNvSpPr>
            <p:nvPr/>
          </p:nvSpPr>
          <p:spPr bwMode="auto">
            <a:xfrm>
              <a:off x="3108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30" name="Rectangle 134"/>
            <p:cNvSpPr>
              <a:spLocks noChangeArrowheads="1"/>
            </p:cNvSpPr>
            <p:nvPr/>
          </p:nvSpPr>
          <p:spPr bwMode="auto">
            <a:xfrm>
              <a:off x="3652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r>
                <a:rPr kumimoji="0" lang="en-US" altLang="zh-CN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31" name="Rectangle 135"/>
            <p:cNvSpPr>
              <a:spLocks noChangeArrowheads="1"/>
            </p:cNvSpPr>
            <p:nvPr/>
          </p:nvSpPr>
          <p:spPr bwMode="auto">
            <a:xfrm>
              <a:off x="2609" y="3685"/>
              <a:ext cx="2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1432" name="Rectangle 136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33" name="Rectangle 137"/>
            <p:cNvSpPr>
              <a:spLocks noChangeArrowheads="1"/>
            </p:cNvSpPr>
            <p:nvPr/>
          </p:nvSpPr>
          <p:spPr bwMode="auto">
            <a:xfrm>
              <a:off x="3153" y="3685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r>
                <a:rPr kumimoji="0" lang="en-US" altLang="zh-CN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1434" name="Rectangle 138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anose="020B0604030504040204" pitchFamily="34" charset="0"/>
                </a:rPr>
                <a:t>1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1435" name="Group 139"/>
          <p:cNvGrpSpPr/>
          <p:nvPr/>
        </p:nvGrpSpPr>
        <p:grpSpPr bwMode="auto">
          <a:xfrm>
            <a:off x="4656138" y="1898650"/>
            <a:ext cx="865187" cy="1177925"/>
            <a:chOff x="1337" y="1162"/>
            <a:chExt cx="545" cy="742"/>
          </a:xfrm>
        </p:grpSpPr>
        <p:sp>
          <p:nvSpPr>
            <p:cNvPr id="311436" name="Text Box 140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1437" name="Text Box 141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1438" name="Text Box 142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1439" name="Text Box 143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1440" name="Group 144"/>
          <p:cNvGrpSpPr/>
          <p:nvPr/>
        </p:nvGrpSpPr>
        <p:grpSpPr bwMode="auto">
          <a:xfrm>
            <a:off x="8113713" y="2933700"/>
            <a:ext cx="576262" cy="1295400"/>
            <a:chOff x="3334" y="1979"/>
            <a:chExt cx="363" cy="816"/>
          </a:xfrm>
        </p:grpSpPr>
        <p:sp>
          <p:nvSpPr>
            <p:cNvPr id="311441" name="Rectangle 145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442" name="Text Box 146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1443" name="Group 147"/>
          <p:cNvGrpSpPr/>
          <p:nvPr/>
        </p:nvGrpSpPr>
        <p:grpSpPr bwMode="auto">
          <a:xfrm>
            <a:off x="8113713" y="2644775"/>
            <a:ext cx="827087" cy="3584576"/>
            <a:chOff x="3334" y="1797"/>
            <a:chExt cx="521" cy="2258"/>
          </a:xfrm>
        </p:grpSpPr>
        <p:grpSp>
          <p:nvGrpSpPr>
            <p:cNvPr id="311444" name="Group 148"/>
            <p:cNvGrpSpPr/>
            <p:nvPr/>
          </p:nvGrpSpPr>
          <p:grpSpPr bwMode="auto">
            <a:xfrm>
              <a:off x="3334" y="1797"/>
              <a:ext cx="373" cy="2258"/>
              <a:chOff x="3334" y="1797"/>
              <a:chExt cx="373" cy="2258"/>
            </a:xfrm>
          </p:grpSpPr>
          <p:sp>
            <p:nvSpPr>
              <p:cNvPr id="311445" name="Rectangle 149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446" name="Rectangle 150"/>
              <p:cNvSpPr>
                <a:spLocks noChangeArrowheads="1"/>
              </p:cNvSpPr>
              <p:nvPr/>
            </p:nvSpPr>
            <p:spPr bwMode="auto">
              <a:xfrm>
                <a:off x="3345" y="3601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1447" name="Text Box 151"/>
            <p:cNvSpPr txBox="1">
              <a:spLocks noChangeArrowheads="1"/>
            </p:cNvSpPr>
            <p:nvPr/>
          </p:nvSpPr>
          <p:spPr bwMode="auto">
            <a:xfrm>
              <a:off x="3401" y="3655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anose="020B0604030504040204" pitchFamily="34" charset="0"/>
                </a:rPr>
                <a:t>P2</a:t>
              </a:r>
              <a:endParaRPr kumimoji="0" lang="en-US" altLang="zh-CN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11448" name="Group 152"/>
          <p:cNvGrpSpPr/>
          <p:nvPr/>
        </p:nvGrpSpPr>
        <p:grpSpPr bwMode="auto">
          <a:xfrm>
            <a:off x="5305425" y="3725863"/>
            <a:ext cx="3671888" cy="574675"/>
            <a:chOff x="1565" y="2478"/>
            <a:chExt cx="2313" cy="362"/>
          </a:xfrm>
        </p:grpSpPr>
        <p:grpSp>
          <p:nvGrpSpPr>
            <p:cNvPr id="311449" name="Group 153"/>
            <p:cNvGrpSpPr/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1450" name="Rectangle 154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451" name="Rectangle 155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1452" name="Text Box 156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P3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11466" name="Rectangle 170"/>
          <p:cNvSpPr>
            <a:spLocks noChangeArrowheads="1"/>
          </p:cNvSpPr>
          <p:nvPr/>
        </p:nvSpPr>
        <p:spPr bwMode="auto">
          <a:xfrm>
            <a:off x="457200" y="2362200"/>
            <a:ext cx="271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先观察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1467" name="Rectangle 171"/>
          <p:cNvSpPr>
            <a:spLocks noChangeArrowheads="1"/>
          </p:cNvSpPr>
          <p:nvPr/>
        </p:nvSpPr>
        <p:spPr bwMode="auto">
          <a:xfrm>
            <a:off x="381000" y="3881864"/>
            <a:ext cx="42210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从卡诺图中可以看出：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可能是必要项，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是冗余项。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1468" name="Rectangle 172"/>
          <p:cNvSpPr>
            <a:spLocks noChangeArrowheads="1"/>
          </p:cNvSpPr>
          <p:nvPr/>
        </p:nvSpPr>
        <p:spPr bwMode="auto">
          <a:xfrm>
            <a:off x="331228" y="4674027"/>
            <a:ext cx="45288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原因：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包含的两个最小项被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endParaRPr kumimoji="0"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所包含。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1470" name="Rectangle 174"/>
          <p:cNvSpPr>
            <a:spLocks noChangeArrowheads="1"/>
          </p:cNvSpPr>
          <p:nvPr/>
        </p:nvSpPr>
        <p:spPr bwMode="auto">
          <a:xfrm>
            <a:off x="381000" y="5638800"/>
            <a:ext cx="2492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有没有什么启发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1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autoUpdateAnimBg="0"/>
      <p:bldP spid="311466" grpId="0" autoUpdateAnimBg="0"/>
      <p:bldP spid="311467" grpId="0" autoUpdateAnimBg="0"/>
      <p:bldP spid="311468" grpId="0" autoUpdateAnimBg="0"/>
      <p:bldP spid="311470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D3DE-54A2-409E-A03A-70B78EE42D84}" type="slidenum">
              <a:rPr lang="en-US" altLang="zh-CN"/>
            </a:fld>
            <a:endParaRPr lang="en-US" altLang="zh-CN"/>
          </a:p>
        </p:txBody>
      </p:sp>
      <p:sp>
        <p:nvSpPr>
          <p:cNvPr id="315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/>
              <a:t>如何挑选必要的质蕴涵项？</a:t>
            </a:r>
            <a:endParaRPr lang="zh-CN" altLang="en-US"/>
          </a:p>
        </p:txBody>
      </p:sp>
      <p:grpSp>
        <p:nvGrpSpPr>
          <p:cNvPr id="315474" name="Group 82"/>
          <p:cNvGrpSpPr/>
          <p:nvPr/>
        </p:nvGrpSpPr>
        <p:grpSpPr bwMode="auto">
          <a:xfrm>
            <a:off x="4656138" y="1898650"/>
            <a:ext cx="4321175" cy="4348163"/>
            <a:chOff x="2933" y="1196"/>
            <a:chExt cx="2722" cy="2739"/>
          </a:xfrm>
        </p:grpSpPr>
        <p:grpSp>
          <p:nvGrpSpPr>
            <p:cNvPr id="315396" name="Group 4"/>
            <p:cNvGrpSpPr/>
            <p:nvPr/>
          </p:nvGrpSpPr>
          <p:grpSpPr bwMode="auto">
            <a:xfrm>
              <a:off x="3024" y="1440"/>
              <a:ext cx="2540" cy="2449"/>
              <a:chOff x="1429" y="1389"/>
              <a:chExt cx="2540" cy="2449"/>
            </a:xfrm>
          </p:grpSpPr>
          <p:sp>
            <p:nvSpPr>
              <p:cNvPr id="315397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398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399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0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1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2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3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4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5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6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7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8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9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0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1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2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3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4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5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6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7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8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9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0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1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2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3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5424" name="Group 32"/>
            <p:cNvGrpSpPr/>
            <p:nvPr/>
          </p:nvGrpSpPr>
          <p:grpSpPr bwMode="auto">
            <a:xfrm>
              <a:off x="3069" y="1440"/>
              <a:ext cx="2449" cy="2313"/>
              <a:chOff x="885" y="1571"/>
              <a:chExt cx="2449" cy="2313"/>
            </a:xfrm>
          </p:grpSpPr>
          <p:grpSp>
            <p:nvGrpSpPr>
              <p:cNvPr id="315425" name="Group 33"/>
              <p:cNvGrpSpPr/>
              <p:nvPr/>
            </p:nvGrpSpPr>
            <p:grpSpPr bwMode="auto">
              <a:xfrm>
                <a:off x="1338" y="1571"/>
                <a:ext cx="1996" cy="288"/>
                <a:chOff x="1927" y="1389"/>
                <a:chExt cx="1996" cy="288"/>
              </a:xfrm>
            </p:grpSpPr>
            <p:sp>
              <p:nvSpPr>
                <p:cNvPr id="31542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927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00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2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016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2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472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01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2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560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315430" name="Group 38"/>
              <p:cNvGrpSpPr/>
              <p:nvPr/>
            </p:nvGrpSpPr>
            <p:grpSpPr bwMode="auto">
              <a:xfrm>
                <a:off x="885" y="2054"/>
                <a:ext cx="363" cy="1830"/>
                <a:chOff x="1474" y="1872"/>
                <a:chExt cx="363" cy="1830"/>
              </a:xfrm>
            </p:grpSpPr>
            <p:sp>
              <p:nvSpPr>
                <p:cNvPr id="31543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474" y="1872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00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3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474" y="2915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3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474" y="2371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01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543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474" y="3414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10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</p:grpSp>
        <p:grpSp>
          <p:nvGrpSpPr>
            <p:cNvPr id="315435" name="Group 43"/>
            <p:cNvGrpSpPr/>
            <p:nvPr/>
          </p:nvGrpSpPr>
          <p:grpSpPr bwMode="auto">
            <a:xfrm>
              <a:off x="3543" y="1877"/>
              <a:ext cx="1934" cy="1876"/>
              <a:chOff x="2019" y="2099"/>
              <a:chExt cx="1934" cy="1876"/>
            </a:xfrm>
          </p:grpSpPr>
          <p:sp>
            <p:nvSpPr>
              <p:cNvPr id="315436" name="Rectangle 44"/>
              <p:cNvSpPr>
                <a:spLocks noChangeArrowheads="1"/>
              </p:cNvSpPr>
              <p:nvPr/>
            </p:nvSpPr>
            <p:spPr bwMode="auto">
              <a:xfrm>
                <a:off x="2586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37" name="Rectangle 45"/>
              <p:cNvSpPr>
                <a:spLocks noChangeArrowheads="1"/>
              </p:cNvSpPr>
              <p:nvPr/>
            </p:nvSpPr>
            <p:spPr bwMode="auto">
              <a:xfrm>
                <a:off x="2019" y="210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0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38" name="Rectangle 46"/>
              <p:cNvSpPr>
                <a:spLocks noChangeArrowheads="1"/>
              </p:cNvSpPr>
              <p:nvPr/>
            </p:nvSpPr>
            <p:spPr bwMode="auto">
              <a:xfrm>
                <a:off x="3108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39" name="Rectangle 47"/>
              <p:cNvSpPr>
                <a:spLocks noChangeArrowheads="1"/>
              </p:cNvSpPr>
              <p:nvPr/>
            </p:nvSpPr>
            <p:spPr bwMode="auto">
              <a:xfrm>
                <a:off x="3652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0" name="Rectangle 48"/>
              <p:cNvSpPr>
                <a:spLocks noChangeArrowheads="1"/>
              </p:cNvSpPr>
              <p:nvPr/>
            </p:nvSpPr>
            <p:spPr bwMode="auto">
              <a:xfrm>
                <a:off x="2587" y="2598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1" name="Rectangle 49"/>
              <p:cNvSpPr>
                <a:spLocks noChangeArrowheads="1"/>
              </p:cNvSpPr>
              <p:nvPr/>
            </p:nvSpPr>
            <p:spPr bwMode="auto">
              <a:xfrm>
                <a:off x="2043" y="25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2" name="Rectangle 50"/>
              <p:cNvSpPr>
                <a:spLocks noChangeArrowheads="1"/>
              </p:cNvSpPr>
              <p:nvPr/>
            </p:nvSpPr>
            <p:spPr bwMode="auto">
              <a:xfrm>
                <a:off x="3131" y="2598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3" name="Rectangle 51"/>
              <p:cNvSpPr>
                <a:spLocks noChangeArrowheads="1"/>
              </p:cNvSpPr>
              <p:nvPr/>
            </p:nvSpPr>
            <p:spPr bwMode="auto">
              <a:xfrm>
                <a:off x="3676" y="2613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4" name="Rectangle 52"/>
              <p:cNvSpPr>
                <a:spLocks noChangeArrowheads="1"/>
              </p:cNvSpPr>
              <p:nvPr/>
            </p:nvSpPr>
            <p:spPr bwMode="auto">
              <a:xfrm>
                <a:off x="2587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5" name="Rectangle 53"/>
              <p:cNvSpPr>
                <a:spLocks noChangeArrowheads="1"/>
              </p:cNvSpPr>
              <p:nvPr/>
            </p:nvSpPr>
            <p:spPr bwMode="auto">
              <a:xfrm>
                <a:off x="2043" y="3158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anose="020B0604030504040204" pitchFamily="34" charset="0"/>
                  </a:rPr>
                  <a:t>1</a:t>
                </a:r>
                <a:r>
                  <a:rPr kumimoji="0" lang="en-US" altLang="zh-CN" b="1" dirty="0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6" name="Rectangle 54"/>
              <p:cNvSpPr>
                <a:spLocks noChangeArrowheads="1"/>
              </p:cNvSpPr>
              <p:nvPr/>
            </p:nvSpPr>
            <p:spPr bwMode="auto">
              <a:xfrm>
                <a:off x="3108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7" name="Rectangle 55"/>
              <p:cNvSpPr>
                <a:spLocks noChangeArrowheads="1"/>
              </p:cNvSpPr>
              <p:nvPr/>
            </p:nvSpPr>
            <p:spPr bwMode="auto">
              <a:xfrm>
                <a:off x="3652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48" name="Rectangle 56"/>
              <p:cNvSpPr>
                <a:spLocks noChangeArrowheads="1"/>
              </p:cNvSpPr>
              <p:nvPr/>
            </p:nvSpPr>
            <p:spPr bwMode="auto">
              <a:xfrm>
                <a:off x="2609" y="3686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5449" name="Rectangle 57"/>
              <p:cNvSpPr>
                <a:spLocks noChangeArrowheads="1"/>
              </p:cNvSpPr>
              <p:nvPr/>
            </p:nvSpPr>
            <p:spPr bwMode="auto">
              <a:xfrm>
                <a:off x="2043" y="3687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50" name="Rectangle 58"/>
              <p:cNvSpPr>
                <a:spLocks noChangeArrowheads="1"/>
              </p:cNvSpPr>
              <p:nvPr/>
            </p:nvSpPr>
            <p:spPr bwMode="auto">
              <a:xfrm>
                <a:off x="3153" y="3686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0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451" name="Rectangle 59"/>
              <p:cNvSpPr>
                <a:spLocks noChangeArrowheads="1"/>
              </p:cNvSpPr>
              <p:nvPr/>
            </p:nvSpPr>
            <p:spPr bwMode="auto">
              <a:xfrm>
                <a:off x="3676" y="3686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>
                    <a:latin typeface="Tahoma" panose="020B0604030504040204" pitchFamily="34" charset="0"/>
                  </a:rPr>
                  <a:t>1</a:t>
                </a:r>
                <a:r>
                  <a: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5452" name="Group 60"/>
            <p:cNvGrpSpPr/>
            <p:nvPr/>
          </p:nvGrpSpPr>
          <p:grpSpPr bwMode="auto">
            <a:xfrm>
              <a:off x="2933" y="1196"/>
              <a:ext cx="545" cy="742"/>
              <a:chOff x="1337" y="1162"/>
              <a:chExt cx="545" cy="742"/>
            </a:xfrm>
          </p:grpSpPr>
          <p:sp>
            <p:nvSpPr>
              <p:cNvPr id="315453" name="Text Box 61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B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5454" name="Text Box 62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A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5455" name="Text Box 63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D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5456" name="Text Box 64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C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5457" name="Group 65"/>
            <p:cNvGrpSpPr/>
            <p:nvPr/>
          </p:nvGrpSpPr>
          <p:grpSpPr bwMode="auto">
            <a:xfrm>
              <a:off x="5111" y="1848"/>
              <a:ext cx="363" cy="816"/>
              <a:chOff x="3334" y="1979"/>
              <a:chExt cx="363" cy="816"/>
            </a:xfrm>
          </p:grpSpPr>
          <p:sp>
            <p:nvSpPr>
              <p:cNvPr id="315458" name="Rectangle 66"/>
              <p:cNvSpPr>
                <a:spLocks noChangeArrowheads="1"/>
              </p:cNvSpPr>
              <p:nvPr/>
            </p:nvSpPr>
            <p:spPr bwMode="auto">
              <a:xfrm>
                <a:off x="3379" y="1979"/>
                <a:ext cx="272" cy="81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59" name="Text Box 67"/>
              <p:cNvSpPr txBox="1">
                <a:spLocks noChangeArrowheads="1"/>
              </p:cNvSpPr>
              <p:nvPr/>
            </p:nvSpPr>
            <p:spPr bwMode="auto">
              <a:xfrm>
                <a:off x="3334" y="223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P1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5460" name="Group 68"/>
            <p:cNvGrpSpPr/>
            <p:nvPr/>
          </p:nvGrpSpPr>
          <p:grpSpPr bwMode="auto">
            <a:xfrm>
              <a:off x="5111" y="1666"/>
              <a:ext cx="499" cy="2269"/>
              <a:chOff x="3334" y="1797"/>
              <a:chExt cx="499" cy="2269"/>
            </a:xfrm>
          </p:grpSpPr>
          <p:grpSp>
            <p:nvGrpSpPr>
              <p:cNvPr id="315461" name="Group 69"/>
              <p:cNvGrpSpPr/>
              <p:nvPr/>
            </p:nvGrpSpPr>
            <p:grpSpPr bwMode="auto">
              <a:xfrm>
                <a:off x="3334" y="1797"/>
                <a:ext cx="362" cy="2269"/>
                <a:chOff x="3334" y="1797"/>
                <a:chExt cx="362" cy="2269"/>
              </a:xfrm>
            </p:grpSpPr>
            <p:sp>
              <p:nvSpPr>
                <p:cNvPr id="315462" name="Rectangle 70"/>
                <p:cNvSpPr>
                  <a:spLocks noChangeArrowheads="1"/>
                </p:cNvSpPr>
                <p:nvPr/>
              </p:nvSpPr>
              <p:spPr bwMode="auto">
                <a:xfrm>
                  <a:off x="3334" y="1797"/>
                  <a:ext cx="362" cy="454"/>
                </a:xfrm>
                <a:prstGeom prst="rect">
                  <a:avLst/>
                </a:prstGeom>
                <a:solidFill>
                  <a:srgbClr val="FFCC99">
                    <a:alpha val="50000"/>
                  </a:srgb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5463" name="Rectangle 71"/>
                <p:cNvSpPr>
                  <a:spLocks noChangeArrowheads="1"/>
                </p:cNvSpPr>
                <p:nvPr/>
              </p:nvSpPr>
              <p:spPr bwMode="auto">
                <a:xfrm>
                  <a:off x="3334" y="3612"/>
                  <a:ext cx="362" cy="454"/>
                </a:xfrm>
                <a:prstGeom prst="rect">
                  <a:avLst/>
                </a:prstGeom>
                <a:solidFill>
                  <a:srgbClr val="FFCC99">
                    <a:alpha val="50000"/>
                  </a:srgb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5464" name="Text Box 72"/>
              <p:cNvSpPr txBox="1">
                <a:spLocks noChangeArrowheads="1"/>
              </p:cNvSpPr>
              <p:nvPr/>
            </p:nvSpPr>
            <p:spPr bwMode="auto">
              <a:xfrm>
                <a:off x="3379" y="3702"/>
                <a:ext cx="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P2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5465" name="Group 73"/>
            <p:cNvGrpSpPr/>
            <p:nvPr/>
          </p:nvGrpSpPr>
          <p:grpSpPr bwMode="auto">
            <a:xfrm>
              <a:off x="3342" y="2347"/>
              <a:ext cx="2313" cy="362"/>
              <a:chOff x="1565" y="2478"/>
              <a:chExt cx="2313" cy="362"/>
            </a:xfrm>
          </p:grpSpPr>
          <p:grpSp>
            <p:nvGrpSpPr>
              <p:cNvPr id="315466" name="Group 74"/>
              <p:cNvGrpSpPr/>
              <p:nvPr/>
            </p:nvGrpSpPr>
            <p:grpSpPr bwMode="auto">
              <a:xfrm>
                <a:off x="1565" y="2478"/>
                <a:ext cx="2313" cy="362"/>
                <a:chOff x="1565" y="2478"/>
                <a:chExt cx="2313" cy="362"/>
              </a:xfrm>
            </p:grpSpPr>
            <p:sp>
              <p:nvSpPr>
                <p:cNvPr id="315467" name="Rectangle 75"/>
                <p:cNvSpPr>
                  <a:spLocks noChangeArrowheads="1"/>
                </p:cNvSpPr>
                <p:nvPr/>
              </p:nvSpPr>
              <p:spPr bwMode="auto">
                <a:xfrm>
                  <a:off x="1565" y="2478"/>
                  <a:ext cx="499" cy="362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5468" name="Rectangle 76"/>
                <p:cNvSpPr>
                  <a:spLocks noChangeArrowheads="1"/>
                </p:cNvSpPr>
                <p:nvPr/>
              </p:nvSpPr>
              <p:spPr bwMode="auto">
                <a:xfrm>
                  <a:off x="3379" y="2478"/>
                  <a:ext cx="499" cy="362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5469" name="Text Box 77"/>
              <p:cNvSpPr txBox="1">
                <a:spLocks noChangeArrowheads="1"/>
              </p:cNvSpPr>
              <p:nvPr/>
            </p:nvSpPr>
            <p:spPr bwMode="auto">
              <a:xfrm>
                <a:off x="1565" y="2478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P3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315470" name="Rectangle 78"/>
          <p:cNvSpPr>
            <a:spLocks noChangeArrowheads="1"/>
          </p:cNvSpPr>
          <p:nvPr/>
        </p:nvSpPr>
        <p:spPr bwMode="auto">
          <a:xfrm>
            <a:off x="300608" y="2185406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如果一个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项中的最小项被其它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项全包含，则该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项是冗余项。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5471" name="Rectangle 79"/>
          <p:cNvSpPr>
            <a:spLocks noChangeArrowheads="1"/>
          </p:cNvSpPr>
          <p:nvPr/>
        </p:nvSpPr>
        <p:spPr bwMode="auto">
          <a:xfrm>
            <a:off x="300608" y="3023606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编写算法比较复杂，因为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是否为冗余项不确定！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5472" name="Rectangle 80"/>
          <p:cNvSpPr>
            <a:spLocks noChangeArrowheads="1"/>
          </p:cNvSpPr>
          <p:nvPr/>
        </p:nvSpPr>
        <p:spPr bwMode="auto">
          <a:xfrm>
            <a:off x="300608" y="3866142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反过来看，先挑选必要的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项！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5473" name="Rectangle 81"/>
          <p:cNvSpPr>
            <a:spLocks noChangeArrowheads="1"/>
          </p:cNvSpPr>
          <p:nvPr/>
        </p:nvSpPr>
        <p:spPr bwMode="auto">
          <a:xfrm>
            <a:off x="300608" y="4316903"/>
            <a:ext cx="434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如果只观察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，由于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1010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只被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0100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只被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为必需。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470" grpId="0" autoUpdateAnimBg="0"/>
      <p:bldP spid="315471" grpId="0" autoUpdateAnimBg="0"/>
      <p:bldP spid="315472" grpId="0" autoUpdateAnimBg="0"/>
      <p:bldP spid="31547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1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159E-E695-42BD-ABCF-8D363F662216}" type="slidenum">
              <a:rPr lang="en-US" altLang="zh-CN"/>
            </a:fld>
            <a:endParaRPr lang="en-US" altLang="zh-CN"/>
          </a:p>
        </p:txBody>
      </p:sp>
      <p:sp>
        <p:nvSpPr>
          <p:cNvPr id="3194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/>
              <a:t>如何挑选必要的质蕴涵项？</a:t>
            </a:r>
            <a:endParaRPr lang="zh-CN" altLang="en-US"/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304800" y="2087563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继续观察包含全部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项卡诺图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9493" name="Rectangle 5"/>
          <p:cNvSpPr>
            <a:spLocks noChangeArrowheads="1"/>
          </p:cNvSpPr>
          <p:nvPr/>
        </p:nvSpPr>
        <p:spPr bwMode="auto">
          <a:xfrm>
            <a:off x="304800" y="4221088"/>
            <a:ext cx="434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发现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为必须保留的项！原因是最小项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1111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只被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包含，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1001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只被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包含。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19494" name="Group 6"/>
          <p:cNvGrpSpPr/>
          <p:nvPr/>
        </p:nvGrpSpPr>
        <p:grpSpPr bwMode="auto">
          <a:xfrm>
            <a:off x="4800600" y="2286000"/>
            <a:ext cx="4032250" cy="3887788"/>
            <a:chOff x="1429" y="1389"/>
            <a:chExt cx="2540" cy="2449"/>
          </a:xfrm>
        </p:grpSpPr>
        <p:sp>
          <p:nvSpPr>
            <p:cNvPr id="319495" name="Rectangle 7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496" name="Rectangle 8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497" name="Rectangle 9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498" name="Rectangle 10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499" name="Rectangle 11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0" name="Rectangle 12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1" name="Rectangle 13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2" name="Rectangle 14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3" name="Rectangle 15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4" name="Rectangle 16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5" name="Rectangle 17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6" name="Rectangle 18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7" name="Rectangle 19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8" name="Rectangle 20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09" name="Rectangle 21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10" name="Rectangle 22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9511" name="Line 23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2" name="Line 24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3" name="Line 25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4" name="Line 26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5" name="Line 27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6" name="Line 28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7" name="Line 29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8" name="Line 30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9" name="Line 31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20" name="Line 32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21" name="Line 33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9522" name="Group 34"/>
          <p:cNvGrpSpPr/>
          <p:nvPr/>
        </p:nvGrpSpPr>
        <p:grpSpPr bwMode="auto">
          <a:xfrm>
            <a:off x="4872038" y="2286000"/>
            <a:ext cx="3887787" cy="3671888"/>
            <a:chOff x="885" y="1571"/>
            <a:chExt cx="2449" cy="2313"/>
          </a:xfrm>
        </p:grpSpPr>
        <p:grpSp>
          <p:nvGrpSpPr>
            <p:cNvPr id="319523" name="Group 35"/>
            <p:cNvGrpSpPr/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9524" name="Text Box 36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25" name="Text Box 37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26" name="Text Box 38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27" name="Text Box 39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9528" name="Group 40"/>
            <p:cNvGrpSpPr/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9529" name="Text Box 41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30" name="Text Box 42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31" name="Text Box 43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9532" name="Text Box 44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19533" name="Group 45"/>
          <p:cNvGrpSpPr/>
          <p:nvPr/>
        </p:nvGrpSpPr>
        <p:grpSpPr bwMode="auto">
          <a:xfrm>
            <a:off x="5624513" y="2979738"/>
            <a:ext cx="3070225" cy="2978150"/>
            <a:chOff x="2019" y="2099"/>
            <a:chExt cx="1934" cy="1876"/>
          </a:xfrm>
        </p:grpSpPr>
        <p:sp>
          <p:nvSpPr>
            <p:cNvPr id="319534" name="Rectangle 46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35" name="Rectangle 47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36" name="Rectangle 48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37" name="Rectangle 49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38" name="Rectangle 50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39" name="Rectangle 51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0" name="Rectangle 52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1" name="Rectangle 53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2" name="Rectangle 54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3" name="Rectangle 55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4" name="Rectangle 56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5" name="Rectangle 57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anose="020B0604030504040204" pitchFamily="34" charset="0"/>
                </a:rPr>
                <a:t>0</a:t>
              </a:r>
              <a:r>
                <a:rPr kumimoji="0" lang="en-US" altLang="zh-CN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 dirty="0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6" name="Rectangle 58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9547" name="Rectangle 59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8" name="Rectangle 60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9549" name="Rectangle 61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9550" name="Group 62"/>
          <p:cNvGrpSpPr/>
          <p:nvPr/>
        </p:nvGrpSpPr>
        <p:grpSpPr bwMode="auto">
          <a:xfrm>
            <a:off x="4656138" y="1898650"/>
            <a:ext cx="865187" cy="1177925"/>
            <a:chOff x="1337" y="1162"/>
            <a:chExt cx="545" cy="742"/>
          </a:xfrm>
        </p:grpSpPr>
        <p:sp>
          <p:nvSpPr>
            <p:cNvPr id="319551" name="Text Box 63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9552" name="Text Box 64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9553" name="Text Box 65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9554" name="Text Box 66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55" name="Group 67"/>
          <p:cNvGrpSpPr/>
          <p:nvPr/>
        </p:nvGrpSpPr>
        <p:grpSpPr bwMode="auto">
          <a:xfrm>
            <a:off x="8113713" y="2933700"/>
            <a:ext cx="576262" cy="1295400"/>
            <a:chOff x="3334" y="1979"/>
            <a:chExt cx="363" cy="816"/>
          </a:xfrm>
        </p:grpSpPr>
        <p:sp>
          <p:nvSpPr>
            <p:cNvPr id="319556" name="Rectangle 68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57" name="Text Box 69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58" name="Group 70"/>
          <p:cNvGrpSpPr/>
          <p:nvPr/>
        </p:nvGrpSpPr>
        <p:grpSpPr bwMode="auto">
          <a:xfrm>
            <a:off x="8113713" y="2644775"/>
            <a:ext cx="792162" cy="3602038"/>
            <a:chOff x="3334" y="1797"/>
            <a:chExt cx="499" cy="2269"/>
          </a:xfrm>
        </p:grpSpPr>
        <p:grpSp>
          <p:nvGrpSpPr>
            <p:cNvPr id="319559" name="Group 71"/>
            <p:cNvGrpSpPr/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319560" name="Rectangle 72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561" name="Rectangle 73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9562" name="Text Box 74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P2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63" name="Group 75"/>
          <p:cNvGrpSpPr/>
          <p:nvPr/>
        </p:nvGrpSpPr>
        <p:grpSpPr bwMode="auto">
          <a:xfrm>
            <a:off x="5305425" y="3725863"/>
            <a:ext cx="3671888" cy="574675"/>
            <a:chOff x="1565" y="2478"/>
            <a:chExt cx="2313" cy="362"/>
          </a:xfrm>
        </p:grpSpPr>
        <p:grpSp>
          <p:nvGrpSpPr>
            <p:cNvPr id="319564" name="Group 76"/>
            <p:cNvGrpSpPr/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9565" name="Rectangle 77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566" name="Rectangle 78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9567" name="Text Box 79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P3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68" name="Group 80"/>
          <p:cNvGrpSpPr/>
          <p:nvPr/>
        </p:nvGrpSpPr>
        <p:grpSpPr bwMode="auto">
          <a:xfrm>
            <a:off x="5592763" y="3868738"/>
            <a:ext cx="647700" cy="1296987"/>
            <a:chOff x="1746" y="2568"/>
            <a:chExt cx="408" cy="817"/>
          </a:xfrm>
        </p:grpSpPr>
        <p:sp>
          <p:nvSpPr>
            <p:cNvPr id="319569" name="Rectangle 81"/>
            <p:cNvSpPr>
              <a:spLocks noChangeArrowheads="1"/>
            </p:cNvSpPr>
            <p:nvPr/>
          </p:nvSpPr>
          <p:spPr bwMode="auto">
            <a:xfrm>
              <a:off x="1746" y="2568"/>
              <a:ext cx="318" cy="817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0" name="Text Box 82"/>
            <p:cNvSpPr txBox="1">
              <a:spLocks noChangeArrowheads="1"/>
            </p:cNvSpPr>
            <p:nvPr/>
          </p:nvSpPr>
          <p:spPr bwMode="auto">
            <a:xfrm>
              <a:off x="1746" y="279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P4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71" name="Group 83"/>
          <p:cNvGrpSpPr/>
          <p:nvPr/>
        </p:nvGrpSpPr>
        <p:grpSpPr bwMode="auto">
          <a:xfrm>
            <a:off x="6384925" y="4660900"/>
            <a:ext cx="1439863" cy="576263"/>
            <a:chOff x="2245" y="3067"/>
            <a:chExt cx="907" cy="363"/>
          </a:xfrm>
        </p:grpSpPr>
        <p:sp>
          <p:nvSpPr>
            <p:cNvPr id="319572" name="Rectangle 84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3" name="Text Box 85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P6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74" name="Group 86"/>
          <p:cNvGrpSpPr/>
          <p:nvPr/>
        </p:nvGrpSpPr>
        <p:grpSpPr bwMode="auto">
          <a:xfrm>
            <a:off x="5592763" y="4660900"/>
            <a:ext cx="1296987" cy="1296988"/>
            <a:chOff x="1746" y="3067"/>
            <a:chExt cx="817" cy="817"/>
          </a:xfrm>
        </p:grpSpPr>
        <p:sp>
          <p:nvSpPr>
            <p:cNvPr id="319575" name="Rectangle 87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6" name="Text Box 88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P7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9577" name="Group 89"/>
          <p:cNvGrpSpPr/>
          <p:nvPr/>
        </p:nvGrpSpPr>
        <p:grpSpPr bwMode="auto">
          <a:xfrm>
            <a:off x="5494338" y="5408613"/>
            <a:ext cx="3327400" cy="719137"/>
            <a:chOff x="672" y="3744"/>
            <a:chExt cx="2096" cy="453"/>
          </a:xfrm>
        </p:grpSpPr>
        <p:sp>
          <p:nvSpPr>
            <p:cNvPr id="319578" name="Rectangle 90"/>
            <p:cNvSpPr>
              <a:spLocks noChangeArrowheads="1"/>
            </p:cNvSpPr>
            <p:nvPr/>
          </p:nvSpPr>
          <p:spPr bwMode="auto">
            <a:xfrm>
              <a:off x="672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9" name="Text Box 91"/>
            <p:cNvSpPr txBox="1">
              <a:spLocks noChangeArrowheads="1"/>
            </p:cNvSpPr>
            <p:nvPr/>
          </p:nvSpPr>
          <p:spPr bwMode="auto">
            <a:xfrm>
              <a:off x="672" y="379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anose="020B0604030504040204" pitchFamily="34" charset="0"/>
                </a:rPr>
                <a:t>P5</a:t>
              </a:r>
              <a:endParaRPr kumimoji="0"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319580" name="Rectangle 92"/>
            <p:cNvSpPr>
              <a:spLocks noChangeArrowheads="1"/>
            </p:cNvSpPr>
            <p:nvPr/>
          </p:nvSpPr>
          <p:spPr bwMode="auto">
            <a:xfrm>
              <a:off x="2304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581" name="Rectangle 93"/>
          <p:cNvSpPr>
            <a:spLocks noChangeArrowheads="1"/>
          </p:cNvSpPr>
          <p:nvPr/>
        </p:nvSpPr>
        <p:spPr bwMode="auto">
          <a:xfrm>
            <a:off x="304800" y="5486841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既然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为必须保留的项，保留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19582" name="Object 94"/>
          <p:cNvGraphicFramePr>
            <a:graphicFrameLocks noChangeAspect="1"/>
          </p:cNvGraphicFramePr>
          <p:nvPr/>
        </p:nvGraphicFramePr>
        <p:xfrm>
          <a:off x="171450" y="2500313"/>
          <a:ext cx="15668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4" name="公式" r:id="rId1" imgW="685800" imgH="254000" progId="Equation.3">
                  <p:embed/>
                </p:oleObj>
              </mc:Choice>
              <mc:Fallback>
                <p:oleObj name="公式" r:id="rId1" imgW="685800" imgH="254000" progId="Equation.3">
                  <p:embed/>
                  <p:pic>
                    <p:nvPicPr>
                      <p:cNvPr id="0" name="图片 658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2500313"/>
                        <a:ext cx="156686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3" name="Object 95"/>
          <p:cNvGraphicFramePr>
            <a:graphicFrameLocks noChangeAspect="1"/>
          </p:cNvGraphicFramePr>
          <p:nvPr/>
        </p:nvGraphicFramePr>
        <p:xfrm>
          <a:off x="1709738" y="2500313"/>
          <a:ext cx="15668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5" name="公式" r:id="rId3" imgW="685800" imgH="254000" progId="Equation.3">
                  <p:embed/>
                </p:oleObj>
              </mc:Choice>
              <mc:Fallback>
                <p:oleObj name="公式" r:id="rId3" imgW="685800" imgH="254000" progId="Equation.3">
                  <p:embed/>
                  <p:pic>
                    <p:nvPicPr>
                      <p:cNvPr id="0" name="图片 658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500313"/>
                        <a:ext cx="1566862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4" name="Object 96"/>
          <p:cNvGraphicFramePr>
            <a:graphicFrameLocks noChangeAspect="1"/>
          </p:cNvGraphicFramePr>
          <p:nvPr/>
        </p:nvGraphicFramePr>
        <p:xfrm>
          <a:off x="109538" y="3048000"/>
          <a:ext cx="15652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6" name="公式" r:id="rId5" imgW="685800" imgH="254000" progId="Equation.3">
                  <p:embed/>
                </p:oleObj>
              </mc:Choice>
              <mc:Fallback>
                <p:oleObj name="公式" r:id="rId5" imgW="685800" imgH="254000" progId="Equation.3">
                  <p:embed/>
                  <p:pic>
                    <p:nvPicPr>
                      <p:cNvPr id="0" name="图片 658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3048000"/>
                        <a:ext cx="156527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5" name="Object 97"/>
          <p:cNvGraphicFramePr>
            <a:graphicFrameLocks noChangeAspect="1"/>
          </p:cNvGraphicFramePr>
          <p:nvPr/>
        </p:nvGraphicFramePr>
        <p:xfrm>
          <a:off x="1633538" y="30337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7" name="公式" r:id="rId7" imgW="685800" imgH="254000" progId="Equation.3">
                  <p:embed/>
                </p:oleObj>
              </mc:Choice>
              <mc:Fallback>
                <p:oleObj name="公式" r:id="rId7" imgW="685800" imgH="254000" progId="Equation.3">
                  <p:embed/>
                  <p:pic>
                    <p:nvPicPr>
                      <p:cNvPr id="0" name="图片 658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30337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6" name="Object 98"/>
          <p:cNvGraphicFramePr>
            <a:graphicFrameLocks noChangeAspect="1"/>
          </p:cNvGraphicFramePr>
          <p:nvPr/>
        </p:nvGraphicFramePr>
        <p:xfrm>
          <a:off x="3335288" y="3075517"/>
          <a:ext cx="1524744" cy="569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8" name="Equation" r:id="rId9" imgW="16459200" imgH="6096000" progId="Equation.3">
                  <p:embed/>
                </p:oleObj>
              </mc:Choice>
              <mc:Fallback>
                <p:oleObj name="Equation" r:id="rId9" imgW="16459200" imgH="6096000" progId="Equation.3">
                  <p:embed/>
                  <p:pic>
                    <p:nvPicPr>
                      <p:cNvPr id="0" name="图片 658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288" y="3075517"/>
                        <a:ext cx="1524744" cy="569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7" name="Object 99"/>
          <p:cNvGraphicFramePr>
            <a:graphicFrameLocks noChangeAspect="1"/>
          </p:cNvGraphicFramePr>
          <p:nvPr/>
        </p:nvGraphicFramePr>
        <p:xfrm>
          <a:off x="138113" y="3657600"/>
          <a:ext cx="15367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9" name="公式" r:id="rId11" imgW="673100" imgH="228600" progId="Equation.3">
                  <p:embed/>
                </p:oleObj>
              </mc:Choice>
              <mc:Fallback>
                <p:oleObj name="公式" r:id="rId11" imgW="673100" imgH="228600" progId="Equation.3">
                  <p:embed/>
                  <p:pic>
                    <p:nvPicPr>
                      <p:cNvPr id="0" name="图片 65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3657600"/>
                        <a:ext cx="15367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8" name="Object 100"/>
          <p:cNvGraphicFramePr>
            <a:graphicFrameLocks noChangeAspect="1"/>
          </p:cNvGraphicFramePr>
          <p:nvPr/>
        </p:nvGraphicFramePr>
        <p:xfrm>
          <a:off x="1679575" y="3581400"/>
          <a:ext cx="13938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80" name="公式" r:id="rId13" imgW="609600" imgH="254000" progId="Equation.3">
                  <p:embed/>
                </p:oleObj>
              </mc:Choice>
              <mc:Fallback>
                <p:oleObj name="公式" r:id="rId13" imgW="609600" imgH="254000" progId="Equation.3">
                  <p:embed/>
                  <p:pic>
                    <p:nvPicPr>
                      <p:cNvPr id="0" name="图片 658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581400"/>
                        <a:ext cx="139382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2" grpId="0" autoUpdateAnimBg="0"/>
      <p:bldP spid="319493" grpId="0" autoUpdateAnimBg="0"/>
      <p:bldP spid="319581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逻辑函数的</a:t>
            </a:r>
            <a:r>
              <a:rPr lang="en-US" altLang="zh-CN" dirty="0"/>
              <a:t>Q-M</a:t>
            </a:r>
            <a:r>
              <a:rPr lang="zh-CN" altLang="en-US" dirty="0"/>
              <a:t>法化简</a:t>
            </a:r>
            <a:endParaRPr lang="zh-CN" altLang="en-US" dirty="0"/>
          </a:p>
        </p:txBody>
      </p:sp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4984-6CA7-47B6-9E8E-DFA0C2751C81}" type="slidenum">
              <a:rPr lang="en-US" altLang="zh-CN"/>
            </a:fld>
            <a:endParaRPr lang="en-US" altLang="zh-CN"/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685800" y="1600200"/>
            <a:ext cx="77025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由于卡诺图不便用计算机处理，计算机处理表格比较方便，作出</a:t>
            </a:r>
            <a:r>
              <a:rPr lang="en-US" altLang="zh-CN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600" dirty="0">
                <a:latin typeface="华文新魏" panose="02010800040101010101" pitchFamily="2" charset="-122"/>
                <a:ea typeface="华文新魏" panose="02010800040101010101" pitchFamily="2" charset="-122"/>
              </a:rPr>
              <a:t>项和最小项的对应表</a:t>
            </a:r>
            <a:endParaRPr lang="zh-CN" altLang="en-US" sz="2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17532" name="Group 92"/>
          <p:cNvGrpSpPr/>
          <p:nvPr/>
        </p:nvGrpSpPr>
        <p:grpSpPr bwMode="auto">
          <a:xfrm>
            <a:off x="1295400" y="2667000"/>
            <a:ext cx="6600825" cy="3625850"/>
            <a:chOff x="748" y="1328"/>
            <a:chExt cx="4158" cy="2284"/>
          </a:xfrm>
        </p:grpSpPr>
        <p:grpSp>
          <p:nvGrpSpPr>
            <p:cNvPr id="317533" name="Group 93"/>
            <p:cNvGrpSpPr/>
            <p:nvPr/>
          </p:nvGrpSpPr>
          <p:grpSpPr bwMode="auto">
            <a:xfrm>
              <a:off x="748" y="1552"/>
              <a:ext cx="4158" cy="2060"/>
              <a:chOff x="748" y="1525"/>
              <a:chExt cx="4158" cy="2060"/>
            </a:xfrm>
          </p:grpSpPr>
          <p:grpSp>
            <p:nvGrpSpPr>
              <p:cNvPr id="317534" name="Group 94"/>
              <p:cNvGrpSpPr/>
              <p:nvPr/>
            </p:nvGrpSpPr>
            <p:grpSpPr bwMode="auto">
              <a:xfrm>
                <a:off x="1066" y="1842"/>
                <a:ext cx="3840" cy="1743"/>
                <a:chOff x="1066" y="1823"/>
                <a:chExt cx="3840" cy="1743"/>
              </a:xfrm>
            </p:grpSpPr>
            <p:sp>
              <p:nvSpPr>
                <p:cNvPr id="317535" name="Rectangle 95"/>
                <p:cNvSpPr>
                  <a:spLocks noChangeArrowheads="1"/>
                </p:cNvSpPr>
                <p:nvPr/>
              </p:nvSpPr>
              <p:spPr bwMode="auto">
                <a:xfrm>
                  <a:off x="447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6" name="Rectangle 96"/>
                <p:cNvSpPr>
                  <a:spLocks noChangeArrowheads="1"/>
                </p:cNvSpPr>
                <p:nvPr/>
              </p:nvSpPr>
              <p:spPr bwMode="auto">
                <a:xfrm>
                  <a:off x="405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7" name="Rectangle 97"/>
                <p:cNvSpPr>
                  <a:spLocks noChangeArrowheads="1"/>
                </p:cNvSpPr>
                <p:nvPr/>
              </p:nvSpPr>
              <p:spPr bwMode="auto">
                <a:xfrm>
                  <a:off x="362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8" name="Rectangle 98"/>
                <p:cNvSpPr>
                  <a:spLocks noChangeArrowheads="1"/>
                </p:cNvSpPr>
                <p:nvPr/>
              </p:nvSpPr>
              <p:spPr bwMode="auto">
                <a:xfrm>
                  <a:off x="319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9" name="Rectangle 99"/>
                <p:cNvSpPr>
                  <a:spLocks noChangeArrowheads="1"/>
                </p:cNvSpPr>
                <p:nvPr/>
              </p:nvSpPr>
              <p:spPr bwMode="auto">
                <a:xfrm>
                  <a:off x="277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0" name="Rectangle 100"/>
                <p:cNvSpPr>
                  <a:spLocks noChangeArrowheads="1"/>
                </p:cNvSpPr>
                <p:nvPr/>
              </p:nvSpPr>
              <p:spPr bwMode="auto">
                <a:xfrm>
                  <a:off x="234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1" name="Rectangle 101"/>
                <p:cNvSpPr>
                  <a:spLocks noChangeArrowheads="1"/>
                </p:cNvSpPr>
                <p:nvPr/>
              </p:nvSpPr>
              <p:spPr bwMode="auto">
                <a:xfrm>
                  <a:off x="191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2" name="Rectangle 102"/>
                <p:cNvSpPr>
                  <a:spLocks noChangeArrowheads="1"/>
                </p:cNvSpPr>
                <p:nvPr/>
              </p:nvSpPr>
              <p:spPr bwMode="auto">
                <a:xfrm>
                  <a:off x="149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3" name="Rectangle 103"/>
                <p:cNvSpPr>
                  <a:spLocks noChangeArrowheads="1"/>
                </p:cNvSpPr>
                <p:nvPr/>
              </p:nvSpPr>
              <p:spPr bwMode="auto">
                <a:xfrm>
                  <a:off x="106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4" name="Rectangle 104"/>
                <p:cNvSpPr>
                  <a:spLocks noChangeArrowheads="1"/>
                </p:cNvSpPr>
                <p:nvPr/>
              </p:nvSpPr>
              <p:spPr bwMode="auto">
                <a:xfrm>
                  <a:off x="447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5" name="Rectangle 105"/>
                <p:cNvSpPr>
                  <a:spLocks noChangeArrowheads="1"/>
                </p:cNvSpPr>
                <p:nvPr/>
              </p:nvSpPr>
              <p:spPr bwMode="auto">
                <a:xfrm>
                  <a:off x="405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6" name="Rectangle 106"/>
                <p:cNvSpPr>
                  <a:spLocks noChangeArrowheads="1"/>
                </p:cNvSpPr>
                <p:nvPr/>
              </p:nvSpPr>
              <p:spPr bwMode="auto">
                <a:xfrm>
                  <a:off x="362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7" name="Rectangle 107"/>
                <p:cNvSpPr>
                  <a:spLocks noChangeArrowheads="1"/>
                </p:cNvSpPr>
                <p:nvPr/>
              </p:nvSpPr>
              <p:spPr bwMode="auto">
                <a:xfrm>
                  <a:off x="319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8" name="Rectangle 108"/>
                <p:cNvSpPr>
                  <a:spLocks noChangeArrowheads="1"/>
                </p:cNvSpPr>
                <p:nvPr/>
              </p:nvSpPr>
              <p:spPr bwMode="auto">
                <a:xfrm>
                  <a:off x="277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9" name="Rectangle 109"/>
                <p:cNvSpPr>
                  <a:spLocks noChangeArrowheads="1"/>
                </p:cNvSpPr>
                <p:nvPr/>
              </p:nvSpPr>
              <p:spPr bwMode="auto">
                <a:xfrm>
                  <a:off x="234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0" name="Rectangle 110"/>
                <p:cNvSpPr>
                  <a:spLocks noChangeArrowheads="1"/>
                </p:cNvSpPr>
                <p:nvPr/>
              </p:nvSpPr>
              <p:spPr bwMode="auto">
                <a:xfrm>
                  <a:off x="191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1" name="Rectangle 111"/>
                <p:cNvSpPr>
                  <a:spLocks noChangeArrowheads="1"/>
                </p:cNvSpPr>
                <p:nvPr/>
              </p:nvSpPr>
              <p:spPr bwMode="auto">
                <a:xfrm>
                  <a:off x="149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2" name="Rectangle 112"/>
                <p:cNvSpPr>
                  <a:spLocks noChangeArrowheads="1"/>
                </p:cNvSpPr>
                <p:nvPr/>
              </p:nvSpPr>
              <p:spPr bwMode="auto">
                <a:xfrm>
                  <a:off x="106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3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7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4" name="Rectangle 114"/>
                <p:cNvSpPr>
                  <a:spLocks noChangeArrowheads="1"/>
                </p:cNvSpPr>
                <p:nvPr/>
              </p:nvSpPr>
              <p:spPr bwMode="auto">
                <a:xfrm>
                  <a:off x="405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5" name="Rectangle 115"/>
                <p:cNvSpPr>
                  <a:spLocks noChangeArrowheads="1"/>
                </p:cNvSpPr>
                <p:nvPr/>
              </p:nvSpPr>
              <p:spPr bwMode="auto">
                <a:xfrm>
                  <a:off x="362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6" name="Rectangle 116"/>
                <p:cNvSpPr>
                  <a:spLocks noChangeArrowheads="1"/>
                </p:cNvSpPr>
                <p:nvPr/>
              </p:nvSpPr>
              <p:spPr bwMode="auto">
                <a:xfrm>
                  <a:off x="319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7" name="Rectangle 117"/>
                <p:cNvSpPr>
                  <a:spLocks noChangeArrowheads="1"/>
                </p:cNvSpPr>
                <p:nvPr/>
              </p:nvSpPr>
              <p:spPr bwMode="auto">
                <a:xfrm>
                  <a:off x="277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8" name="Rectangle 118"/>
                <p:cNvSpPr>
                  <a:spLocks noChangeArrowheads="1"/>
                </p:cNvSpPr>
                <p:nvPr/>
              </p:nvSpPr>
              <p:spPr bwMode="auto">
                <a:xfrm>
                  <a:off x="234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9" name="Rectangle 119"/>
                <p:cNvSpPr>
                  <a:spLocks noChangeArrowheads="1"/>
                </p:cNvSpPr>
                <p:nvPr/>
              </p:nvSpPr>
              <p:spPr bwMode="auto">
                <a:xfrm>
                  <a:off x="191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0" name="Rectangle 120"/>
                <p:cNvSpPr>
                  <a:spLocks noChangeArrowheads="1"/>
                </p:cNvSpPr>
                <p:nvPr/>
              </p:nvSpPr>
              <p:spPr bwMode="auto">
                <a:xfrm>
                  <a:off x="149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1" name="Rectangle 121"/>
                <p:cNvSpPr>
                  <a:spLocks noChangeArrowheads="1"/>
                </p:cNvSpPr>
                <p:nvPr/>
              </p:nvSpPr>
              <p:spPr bwMode="auto">
                <a:xfrm>
                  <a:off x="106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2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7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3" name="Rectangle 123"/>
                <p:cNvSpPr>
                  <a:spLocks noChangeArrowheads="1"/>
                </p:cNvSpPr>
                <p:nvPr/>
              </p:nvSpPr>
              <p:spPr bwMode="auto">
                <a:xfrm>
                  <a:off x="405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4" name="Rectangle 124"/>
                <p:cNvSpPr>
                  <a:spLocks noChangeArrowheads="1"/>
                </p:cNvSpPr>
                <p:nvPr/>
              </p:nvSpPr>
              <p:spPr bwMode="auto">
                <a:xfrm>
                  <a:off x="362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5" name="Rectangle 125"/>
                <p:cNvSpPr>
                  <a:spLocks noChangeArrowheads="1"/>
                </p:cNvSpPr>
                <p:nvPr/>
              </p:nvSpPr>
              <p:spPr bwMode="auto">
                <a:xfrm>
                  <a:off x="319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6" name="Rectangle 126"/>
                <p:cNvSpPr>
                  <a:spLocks noChangeArrowheads="1"/>
                </p:cNvSpPr>
                <p:nvPr/>
              </p:nvSpPr>
              <p:spPr bwMode="auto">
                <a:xfrm>
                  <a:off x="277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7" name="Rectangle 127"/>
                <p:cNvSpPr>
                  <a:spLocks noChangeArrowheads="1"/>
                </p:cNvSpPr>
                <p:nvPr/>
              </p:nvSpPr>
              <p:spPr bwMode="auto">
                <a:xfrm>
                  <a:off x="234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8" name="Rectangle 128"/>
                <p:cNvSpPr>
                  <a:spLocks noChangeArrowheads="1"/>
                </p:cNvSpPr>
                <p:nvPr/>
              </p:nvSpPr>
              <p:spPr bwMode="auto">
                <a:xfrm>
                  <a:off x="191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9" name="Rectangle 129"/>
                <p:cNvSpPr>
                  <a:spLocks noChangeArrowheads="1"/>
                </p:cNvSpPr>
                <p:nvPr/>
              </p:nvSpPr>
              <p:spPr bwMode="auto">
                <a:xfrm>
                  <a:off x="149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0" name="Rectangle 130"/>
                <p:cNvSpPr>
                  <a:spLocks noChangeArrowheads="1"/>
                </p:cNvSpPr>
                <p:nvPr/>
              </p:nvSpPr>
              <p:spPr bwMode="auto">
                <a:xfrm>
                  <a:off x="106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1" name="Rectangle 131"/>
                <p:cNvSpPr>
                  <a:spLocks noChangeArrowheads="1"/>
                </p:cNvSpPr>
                <p:nvPr/>
              </p:nvSpPr>
              <p:spPr bwMode="auto">
                <a:xfrm>
                  <a:off x="447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2" name="Rectangle 132"/>
                <p:cNvSpPr>
                  <a:spLocks noChangeArrowheads="1"/>
                </p:cNvSpPr>
                <p:nvPr/>
              </p:nvSpPr>
              <p:spPr bwMode="auto">
                <a:xfrm>
                  <a:off x="405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3" name="Rectangle 133"/>
                <p:cNvSpPr>
                  <a:spLocks noChangeArrowheads="1"/>
                </p:cNvSpPr>
                <p:nvPr/>
              </p:nvSpPr>
              <p:spPr bwMode="auto">
                <a:xfrm>
                  <a:off x="362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4" name="Rectangle 134"/>
                <p:cNvSpPr>
                  <a:spLocks noChangeArrowheads="1"/>
                </p:cNvSpPr>
                <p:nvPr/>
              </p:nvSpPr>
              <p:spPr bwMode="auto">
                <a:xfrm>
                  <a:off x="319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5" name="Rectangle 135"/>
                <p:cNvSpPr>
                  <a:spLocks noChangeArrowheads="1"/>
                </p:cNvSpPr>
                <p:nvPr/>
              </p:nvSpPr>
              <p:spPr bwMode="auto">
                <a:xfrm>
                  <a:off x="277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6" name="Rectangle 136"/>
                <p:cNvSpPr>
                  <a:spLocks noChangeArrowheads="1"/>
                </p:cNvSpPr>
                <p:nvPr/>
              </p:nvSpPr>
              <p:spPr bwMode="auto">
                <a:xfrm>
                  <a:off x="234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7" name="Rectangle 137"/>
                <p:cNvSpPr>
                  <a:spLocks noChangeArrowheads="1"/>
                </p:cNvSpPr>
                <p:nvPr/>
              </p:nvSpPr>
              <p:spPr bwMode="auto">
                <a:xfrm>
                  <a:off x="191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8" name="Rectangle 138"/>
                <p:cNvSpPr>
                  <a:spLocks noChangeArrowheads="1"/>
                </p:cNvSpPr>
                <p:nvPr/>
              </p:nvSpPr>
              <p:spPr bwMode="auto">
                <a:xfrm>
                  <a:off x="149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9" name="Rectangle 139"/>
                <p:cNvSpPr>
                  <a:spLocks noChangeArrowheads="1"/>
                </p:cNvSpPr>
                <p:nvPr/>
              </p:nvSpPr>
              <p:spPr bwMode="auto">
                <a:xfrm>
                  <a:off x="106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0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7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1" name="Rectangle 141"/>
                <p:cNvSpPr>
                  <a:spLocks noChangeArrowheads="1"/>
                </p:cNvSpPr>
                <p:nvPr/>
              </p:nvSpPr>
              <p:spPr bwMode="auto">
                <a:xfrm>
                  <a:off x="405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2" name="Rectangle 142"/>
                <p:cNvSpPr>
                  <a:spLocks noChangeArrowheads="1"/>
                </p:cNvSpPr>
                <p:nvPr/>
              </p:nvSpPr>
              <p:spPr bwMode="auto">
                <a:xfrm>
                  <a:off x="362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3" name="Rectangle 143"/>
                <p:cNvSpPr>
                  <a:spLocks noChangeArrowheads="1"/>
                </p:cNvSpPr>
                <p:nvPr/>
              </p:nvSpPr>
              <p:spPr bwMode="auto">
                <a:xfrm>
                  <a:off x="319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4" name="Rectangle 144"/>
                <p:cNvSpPr>
                  <a:spLocks noChangeArrowheads="1"/>
                </p:cNvSpPr>
                <p:nvPr/>
              </p:nvSpPr>
              <p:spPr bwMode="auto">
                <a:xfrm>
                  <a:off x="277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5" name="Rectangle 145"/>
                <p:cNvSpPr>
                  <a:spLocks noChangeArrowheads="1"/>
                </p:cNvSpPr>
                <p:nvPr/>
              </p:nvSpPr>
              <p:spPr bwMode="auto">
                <a:xfrm>
                  <a:off x="234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6" name="Rectangle 146"/>
                <p:cNvSpPr>
                  <a:spLocks noChangeArrowheads="1"/>
                </p:cNvSpPr>
                <p:nvPr/>
              </p:nvSpPr>
              <p:spPr bwMode="auto">
                <a:xfrm>
                  <a:off x="191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7" name="Rectangle 147"/>
                <p:cNvSpPr>
                  <a:spLocks noChangeArrowheads="1"/>
                </p:cNvSpPr>
                <p:nvPr/>
              </p:nvSpPr>
              <p:spPr bwMode="auto">
                <a:xfrm>
                  <a:off x="149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8" name="Rectangle 148"/>
                <p:cNvSpPr>
                  <a:spLocks noChangeArrowheads="1"/>
                </p:cNvSpPr>
                <p:nvPr/>
              </p:nvSpPr>
              <p:spPr bwMode="auto">
                <a:xfrm>
                  <a:off x="106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9" name="Rectangle 149"/>
                <p:cNvSpPr>
                  <a:spLocks noChangeArrowheads="1"/>
                </p:cNvSpPr>
                <p:nvPr/>
              </p:nvSpPr>
              <p:spPr bwMode="auto">
                <a:xfrm>
                  <a:off x="447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0" name="Rectangle 150"/>
                <p:cNvSpPr>
                  <a:spLocks noChangeArrowheads="1"/>
                </p:cNvSpPr>
                <p:nvPr/>
              </p:nvSpPr>
              <p:spPr bwMode="auto">
                <a:xfrm>
                  <a:off x="405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1" name="Rectangle 151"/>
                <p:cNvSpPr>
                  <a:spLocks noChangeArrowheads="1"/>
                </p:cNvSpPr>
                <p:nvPr/>
              </p:nvSpPr>
              <p:spPr bwMode="auto">
                <a:xfrm>
                  <a:off x="362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2" name="Rectangle 152"/>
                <p:cNvSpPr>
                  <a:spLocks noChangeArrowheads="1"/>
                </p:cNvSpPr>
                <p:nvPr/>
              </p:nvSpPr>
              <p:spPr bwMode="auto">
                <a:xfrm>
                  <a:off x="319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3" name="Rectangle 153"/>
                <p:cNvSpPr>
                  <a:spLocks noChangeArrowheads="1"/>
                </p:cNvSpPr>
                <p:nvPr/>
              </p:nvSpPr>
              <p:spPr bwMode="auto">
                <a:xfrm>
                  <a:off x="277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4" name="Rectangle 154"/>
                <p:cNvSpPr>
                  <a:spLocks noChangeArrowheads="1"/>
                </p:cNvSpPr>
                <p:nvPr/>
              </p:nvSpPr>
              <p:spPr bwMode="auto">
                <a:xfrm>
                  <a:off x="234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5" name="Rectangle 155"/>
                <p:cNvSpPr>
                  <a:spLocks noChangeArrowheads="1"/>
                </p:cNvSpPr>
                <p:nvPr/>
              </p:nvSpPr>
              <p:spPr bwMode="auto">
                <a:xfrm>
                  <a:off x="191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6" name="Rectangle 156"/>
                <p:cNvSpPr>
                  <a:spLocks noChangeArrowheads="1"/>
                </p:cNvSpPr>
                <p:nvPr/>
              </p:nvSpPr>
              <p:spPr bwMode="auto">
                <a:xfrm>
                  <a:off x="149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7" name="Rectangle 157"/>
                <p:cNvSpPr>
                  <a:spLocks noChangeArrowheads="1"/>
                </p:cNvSpPr>
                <p:nvPr/>
              </p:nvSpPr>
              <p:spPr bwMode="auto">
                <a:xfrm>
                  <a:off x="106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8" name="Line 158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99" name="Line 159"/>
                <p:cNvSpPr>
                  <a:spLocks noChangeShapeType="1"/>
                </p:cNvSpPr>
                <p:nvPr/>
              </p:nvSpPr>
              <p:spPr bwMode="auto">
                <a:xfrm>
                  <a:off x="1066" y="2072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0" name="Line 160"/>
                <p:cNvSpPr>
                  <a:spLocks noChangeShapeType="1"/>
                </p:cNvSpPr>
                <p:nvPr/>
              </p:nvSpPr>
              <p:spPr bwMode="auto">
                <a:xfrm>
                  <a:off x="1066" y="2321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1" name="Line 161"/>
                <p:cNvSpPr>
                  <a:spLocks noChangeShapeType="1"/>
                </p:cNvSpPr>
                <p:nvPr/>
              </p:nvSpPr>
              <p:spPr bwMode="auto">
                <a:xfrm>
                  <a:off x="1066" y="2570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2" name="Line 162"/>
                <p:cNvSpPr>
                  <a:spLocks noChangeShapeType="1"/>
                </p:cNvSpPr>
                <p:nvPr/>
              </p:nvSpPr>
              <p:spPr bwMode="auto">
                <a:xfrm>
                  <a:off x="1066" y="2819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3" name="Line 163"/>
                <p:cNvSpPr>
                  <a:spLocks noChangeShapeType="1"/>
                </p:cNvSpPr>
                <p:nvPr/>
              </p:nvSpPr>
              <p:spPr bwMode="auto">
                <a:xfrm>
                  <a:off x="1066" y="3068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4" name="Line 164"/>
                <p:cNvSpPr>
                  <a:spLocks noChangeShapeType="1"/>
                </p:cNvSpPr>
                <p:nvPr/>
              </p:nvSpPr>
              <p:spPr bwMode="auto">
                <a:xfrm>
                  <a:off x="1066" y="3317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5" name="Line 165"/>
                <p:cNvSpPr>
                  <a:spLocks noChangeShapeType="1"/>
                </p:cNvSpPr>
                <p:nvPr/>
              </p:nvSpPr>
              <p:spPr bwMode="auto">
                <a:xfrm>
                  <a:off x="1066" y="3566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6" name="Line 166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7" name="Line 167"/>
                <p:cNvSpPr>
                  <a:spLocks noChangeShapeType="1"/>
                </p:cNvSpPr>
                <p:nvPr/>
              </p:nvSpPr>
              <p:spPr bwMode="auto">
                <a:xfrm>
                  <a:off x="149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8" name="Line 168"/>
                <p:cNvSpPr>
                  <a:spLocks noChangeShapeType="1"/>
                </p:cNvSpPr>
                <p:nvPr/>
              </p:nvSpPr>
              <p:spPr bwMode="auto">
                <a:xfrm>
                  <a:off x="191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9" name="Line 169"/>
                <p:cNvSpPr>
                  <a:spLocks noChangeShapeType="1"/>
                </p:cNvSpPr>
                <p:nvPr/>
              </p:nvSpPr>
              <p:spPr bwMode="auto">
                <a:xfrm>
                  <a:off x="234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0" name="Line 170"/>
                <p:cNvSpPr>
                  <a:spLocks noChangeShapeType="1"/>
                </p:cNvSpPr>
                <p:nvPr/>
              </p:nvSpPr>
              <p:spPr bwMode="auto">
                <a:xfrm>
                  <a:off x="277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1" name="Line 171"/>
                <p:cNvSpPr>
                  <a:spLocks noChangeShapeType="1"/>
                </p:cNvSpPr>
                <p:nvPr/>
              </p:nvSpPr>
              <p:spPr bwMode="auto">
                <a:xfrm>
                  <a:off x="319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2" name="Line 172"/>
                <p:cNvSpPr>
                  <a:spLocks noChangeShapeType="1"/>
                </p:cNvSpPr>
                <p:nvPr/>
              </p:nvSpPr>
              <p:spPr bwMode="auto">
                <a:xfrm>
                  <a:off x="362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3" name="Line 173"/>
                <p:cNvSpPr>
                  <a:spLocks noChangeShapeType="1"/>
                </p:cNvSpPr>
                <p:nvPr/>
              </p:nvSpPr>
              <p:spPr bwMode="auto">
                <a:xfrm>
                  <a:off x="405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4" name="Line 174"/>
                <p:cNvSpPr>
                  <a:spLocks noChangeShapeType="1"/>
                </p:cNvSpPr>
                <p:nvPr/>
              </p:nvSpPr>
              <p:spPr bwMode="auto">
                <a:xfrm>
                  <a:off x="447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5" name="Line 175"/>
                <p:cNvSpPr>
                  <a:spLocks noChangeShapeType="1"/>
                </p:cNvSpPr>
                <p:nvPr/>
              </p:nvSpPr>
              <p:spPr bwMode="auto">
                <a:xfrm>
                  <a:off x="490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16" name="Line 176"/>
              <p:cNvSpPr>
                <a:spLocks noChangeShapeType="1"/>
              </p:cNvSpPr>
              <p:nvPr/>
            </p:nvSpPr>
            <p:spPr bwMode="auto">
              <a:xfrm flipH="1" flipV="1">
                <a:off x="748" y="1525"/>
                <a:ext cx="318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617" name="Rectangle 177"/>
            <p:cNvSpPr>
              <a:spLocks noChangeArrowheads="1"/>
            </p:cNvSpPr>
            <p:nvPr/>
          </p:nvSpPr>
          <p:spPr bwMode="auto">
            <a:xfrm>
              <a:off x="2603" y="1328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0" lang="zh-CN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7618" name="Group 178"/>
          <p:cNvGrpSpPr/>
          <p:nvPr/>
        </p:nvGrpSpPr>
        <p:grpSpPr bwMode="auto">
          <a:xfrm>
            <a:off x="468313" y="2671764"/>
            <a:ext cx="2297113" cy="1403352"/>
            <a:chOff x="227" y="1331"/>
            <a:chExt cx="1447" cy="884"/>
          </a:xfrm>
        </p:grpSpPr>
        <p:sp>
          <p:nvSpPr>
            <p:cNvPr id="317619" name="Rectangle 179"/>
            <p:cNvSpPr>
              <a:spLocks noChangeArrowheads="1"/>
            </p:cNvSpPr>
            <p:nvPr/>
          </p:nvSpPr>
          <p:spPr bwMode="auto">
            <a:xfrm>
              <a:off x="227" y="1692"/>
              <a:ext cx="55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质蕴</a:t>
              </a:r>
              <a:endPara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涵项 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7620" name="Rectangle 180"/>
            <p:cNvSpPr>
              <a:spLocks noChangeArrowheads="1"/>
            </p:cNvSpPr>
            <p:nvPr/>
          </p:nvSpPr>
          <p:spPr bwMode="auto">
            <a:xfrm>
              <a:off x="922" y="1331"/>
              <a:ext cx="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最小项 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621" name="Group 181"/>
          <p:cNvGrpSpPr/>
          <p:nvPr/>
        </p:nvGrpSpPr>
        <p:grpSpPr bwMode="auto">
          <a:xfrm>
            <a:off x="1344613" y="3051175"/>
            <a:ext cx="6573837" cy="3246438"/>
            <a:chOff x="779" y="1570"/>
            <a:chExt cx="4141" cy="2045"/>
          </a:xfrm>
        </p:grpSpPr>
        <p:grpSp>
          <p:nvGrpSpPr>
            <p:cNvPr id="317622" name="Group 182"/>
            <p:cNvGrpSpPr/>
            <p:nvPr/>
          </p:nvGrpSpPr>
          <p:grpSpPr bwMode="auto">
            <a:xfrm>
              <a:off x="779" y="1827"/>
              <a:ext cx="313" cy="1788"/>
              <a:chOff x="779" y="1827"/>
              <a:chExt cx="313" cy="1788"/>
            </a:xfrm>
          </p:grpSpPr>
          <p:sp>
            <p:nvSpPr>
              <p:cNvPr id="317623" name="Rectangle 183"/>
              <p:cNvSpPr>
                <a:spLocks noChangeArrowheads="1"/>
              </p:cNvSpPr>
              <p:nvPr/>
            </p:nvSpPr>
            <p:spPr bwMode="auto">
              <a:xfrm>
                <a:off x="793" y="182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4" name="Rectangle 184"/>
              <p:cNvSpPr>
                <a:spLocks noChangeArrowheads="1"/>
              </p:cNvSpPr>
              <p:nvPr/>
            </p:nvSpPr>
            <p:spPr bwMode="auto">
              <a:xfrm>
                <a:off x="779" y="206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5" name="Rectangle 185"/>
              <p:cNvSpPr>
                <a:spLocks noChangeArrowheads="1"/>
              </p:cNvSpPr>
              <p:nvPr/>
            </p:nvSpPr>
            <p:spPr bwMode="auto">
              <a:xfrm>
                <a:off x="793" y="232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6" name="Rectangle 186"/>
              <p:cNvSpPr>
                <a:spLocks noChangeArrowheads="1"/>
              </p:cNvSpPr>
              <p:nvPr/>
            </p:nvSpPr>
            <p:spPr bwMode="auto">
              <a:xfrm>
                <a:off x="779" y="259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7" name="Rectangle 187"/>
              <p:cNvSpPr>
                <a:spLocks noChangeArrowheads="1"/>
              </p:cNvSpPr>
              <p:nvPr/>
            </p:nvSpPr>
            <p:spPr bwMode="auto">
              <a:xfrm>
                <a:off x="793" y="282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8" name="Rectangle 188"/>
              <p:cNvSpPr>
                <a:spLocks noChangeArrowheads="1"/>
              </p:cNvSpPr>
              <p:nvPr/>
            </p:nvSpPr>
            <p:spPr bwMode="auto">
              <a:xfrm>
                <a:off x="779" y="306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29" name="Rectangle 189"/>
              <p:cNvSpPr>
                <a:spLocks noChangeArrowheads="1"/>
              </p:cNvSpPr>
              <p:nvPr/>
            </p:nvSpPr>
            <p:spPr bwMode="auto">
              <a:xfrm>
                <a:off x="793" y="3324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7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7630" name="Group 190"/>
            <p:cNvGrpSpPr/>
            <p:nvPr/>
          </p:nvGrpSpPr>
          <p:grpSpPr bwMode="auto">
            <a:xfrm>
              <a:off x="1156" y="1570"/>
              <a:ext cx="3764" cy="291"/>
              <a:chOff x="1156" y="1570"/>
              <a:chExt cx="3764" cy="291"/>
            </a:xfrm>
          </p:grpSpPr>
          <p:sp>
            <p:nvSpPr>
              <p:cNvPr id="317631" name="Rectangle 191"/>
              <p:cNvSpPr>
                <a:spLocks noChangeArrowheads="1"/>
              </p:cNvSpPr>
              <p:nvPr/>
            </p:nvSpPr>
            <p:spPr bwMode="auto">
              <a:xfrm>
                <a:off x="1156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2" name="Rectangle 192"/>
              <p:cNvSpPr>
                <a:spLocks noChangeArrowheads="1"/>
              </p:cNvSpPr>
              <p:nvPr/>
            </p:nvSpPr>
            <p:spPr bwMode="auto">
              <a:xfrm>
                <a:off x="155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3" name="Rectangle 193"/>
              <p:cNvSpPr>
                <a:spLocks noChangeArrowheads="1"/>
              </p:cNvSpPr>
              <p:nvPr/>
            </p:nvSpPr>
            <p:spPr bwMode="auto">
              <a:xfrm>
                <a:off x="2415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8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4" name="Rectangle 194"/>
              <p:cNvSpPr>
                <a:spLocks noChangeArrowheads="1"/>
              </p:cNvSpPr>
              <p:nvPr/>
            </p:nvSpPr>
            <p:spPr bwMode="auto">
              <a:xfrm>
                <a:off x="2007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5" name="Rectangle 195"/>
              <p:cNvSpPr>
                <a:spLocks noChangeArrowheads="1"/>
              </p:cNvSpPr>
              <p:nvPr/>
            </p:nvSpPr>
            <p:spPr bwMode="auto">
              <a:xfrm>
                <a:off x="282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9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6" name="Rectangle 196"/>
              <p:cNvSpPr>
                <a:spLocks noChangeArrowheads="1"/>
              </p:cNvSpPr>
              <p:nvPr/>
            </p:nvSpPr>
            <p:spPr bwMode="auto">
              <a:xfrm>
                <a:off x="3685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7" name="Rectangle 197"/>
              <p:cNvSpPr>
                <a:spLocks noChangeArrowheads="1"/>
              </p:cNvSpPr>
              <p:nvPr/>
            </p:nvSpPr>
            <p:spPr bwMode="auto">
              <a:xfrm>
                <a:off x="3277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8" name="Rectangle 198"/>
              <p:cNvSpPr>
                <a:spLocks noChangeArrowheads="1"/>
              </p:cNvSpPr>
              <p:nvPr/>
            </p:nvSpPr>
            <p:spPr bwMode="auto">
              <a:xfrm>
                <a:off x="409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7639" name="Rectangle 199"/>
              <p:cNvSpPr>
                <a:spLocks noChangeArrowheads="1"/>
              </p:cNvSpPr>
              <p:nvPr/>
            </p:nvSpPr>
            <p:spPr bwMode="auto">
              <a:xfrm>
                <a:off x="451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7640" name="Group 200"/>
          <p:cNvGrpSpPr/>
          <p:nvPr/>
        </p:nvGrpSpPr>
        <p:grpSpPr bwMode="auto">
          <a:xfrm>
            <a:off x="2016125" y="3627438"/>
            <a:ext cx="5688013" cy="2592387"/>
            <a:chOff x="1202" y="1933"/>
            <a:chExt cx="3583" cy="1633"/>
          </a:xfrm>
        </p:grpSpPr>
        <p:sp>
          <p:nvSpPr>
            <p:cNvPr id="317641" name="AutoShape 201"/>
            <p:cNvSpPr>
              <a:spLocks noChangeArrowheads="1"/>
            </p:cNvSpPr>
            <p:nvPr/>
          </p:nvSpPr>
          <p:spPr bwMode="auto">
            <a:xfrm>
              <a:off x="1202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2" name="AutoShape 202"/>
            <p:cNvSpPr>
              <a:spLocks noChangeArrowheads="1"/>
            </p:cNvSpPr>
            <p:nvPr/>
          </p:nvSpPr>
          <p:spPr bwMode="auto">
            <a:xfrm>
              <a:off x="1202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3" name="AutoShape 203"/>
            <p:cNvSpPr>
              <a:spLocks noChangeArrowheads="1"/>
            </p:cNvSpPr>
            <p:nvPr/>
          </p:nvSpPr>
          <p:spPr bwMode="auto">
            <a:xfrm>
              <a:off x="1655" y="2704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4" name="AutoShape 204"/>
            <p:cNvSpPr>
              <a:spLocks noChangeArrowheads="1"/>
            </p:cNvSpPr>
            <p:nvPr/>
          </p:nvSpPr>
          <p:spPr bwMode="auto">
            <a:xfrm>
              <a:off x="1655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5" name="AutoShape 205"/>
            <p:cNvSpPr>
              <a:spLocks noChangeArrowheads="1"/>
            </p:cNvSpPr>
            <p:nvPr/>
          </p:nvSpPr>
          <p:spPr bwMode="auto">
            <a:xfrm>
              <a:off x="2064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6" name="AutoShape 206"/>
            <p:cNvSpPr>
              <a:spLocks noChangeArrowheads="1"/>
            </p:cNvSpPr>
            <p:nvPr/>
          </p:nvSpPr>
          <p:spPr bwMode="auto">
            <a:xfrm>
              <a:off x="2064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7" name="AutoShape 207"/>
            <p:cNvSpPr>
              <a:spLocks noChangeArrowheads="1"/>
            </p:cNvSpPr>
            <p:nvPr/>
          </p:nvSpPr>
          <p:spPr bwMode="auto">
            <a:xfrm>
              <a:off x="2472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8" name="AutoShape 208"/>
            <p:cNvSpPr>
              <a:spLocks noChangeArrowheads="1"/>
            </p:cNvSpPr>
            <p:nvPr/>
          </p:nvSpPr>
          <p:spPr bwMode="auto">
            <a:xfrm>
              <a:off x="2472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9" name="AutoShape 209"/>
            <p:cNvSpPr>
              <a:spLocks noChangeArrowheads="1"/>
            </p:cNvSpPr>
            <p:nvPr/>
          </p:nvSpPr>
          <p:spPr bwMode="auto">
            <a:xfrm>
              <a:off x="3334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0" name="AutoShape 210"/>
            <p:cNvSpPr>
              <a:spLocks noChangeArrowheads="1"/>
            </p:cNvSpPr>
            <p:nvPr/>
          </p:nvSpPr>
          <p:spPr bwMode="auto">
            <a:xfrm>
              <a:off x="292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1" name="AutoShape 211"/>
            <p:cNvSpPr>
              <a:spLocks noChangeArrowheads="1"/>
            </p:cNvSpPr>
            <p:nvPr/>
          </p:nvSpPr>
          <p:spPr bwMode="auto">
            <a:xfrm>
              <a:off x="3334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2" name="AutoShape 212"/>
            <p:cNvSpPr>
              <a:spLocks noChangeArrowheads="1"/>
            </p:cNvSpPr>
            <p:nvPr/>
          </p:nvSpPr>
          <p:spPr bwMode="auto">
            <a:xfrm>
              <a:off x="3787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3" name="AutoShape 213"/>
            <p:cNvSpPr>
              <a:spLocks noChangeArrowheads="1"/>
            </p:cNvSpPr>
            <p:nvPr/>
          </p:nvSpPr>
          <p:spPr bwMode="auto">
            <a:xfrm>
              <a:off x="3787" y="2659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4" name="AutoShape 214"/>
            <p:cNvSpPr>
              <a:spLocks noChangeArrowheads="1"/>
            </p:cNvSpPr>
            <p:nvPr/>
          </p:nvSpPr>
          <p:spPr bwMode="auto">
            <a:xfrm>
              <a:off x="419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5" name="AutoShape 215"/>
            <p:cNvSpPr>
              <a:spLocks noChangeArrowheads="1"/>
            </p:cNvSpPr>
            <p:nvPr/>
          </p:nvSpPr>
          <p:spPr bwMode="auto">
            <a:xfrm>
              <a:off x="4195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6" name="AutoShape 216"/>
            <p:cNvSpPr>
              <a:spLocks noChangeArrowheads="1"/>
            </p:cNvSpPr>
            <p:nvPr/>
          </p:nvSpPr>
          <p:spPr bwMode="auto">
            <a:xfrm>
              <a:off x="4649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57" name="Line 217"/>
          <p:cNvSpPr>
            <a:spLocks noChangeShapeType="1"/>
          </p:cNvSpPr>
          <p:nvPr/>
        </p:nvSpPr>
        <p:spPr bwMode="auto">
          <a:xfrm flipH="1">
            <a:off x="7620000" y="46482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8" name="Line 218"/>
          <p:cNvSpPr>
            <a:spLocks noChangeShapeType="1"/>
          </p:cNvSpPr>
          <p:nvPr/>
        </p:nvSpPr>
        <p:spPr bwMode="auto">
          <a:xfrm flipH="1">
            <a:off x="4800600" y="3962400"/>
            <a:ext cx="3733800" cy="2209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7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317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57" grpId="0" animBg="1"/>
      <p:bldP spid="31765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1"/>
            <a:ext cx="6025480" cy="1035968"/>
          </a:xfrm>
        </p:spPr>
        <p:txBody>
          <a:bodyPr anchor="ctr"/>
          <a:lstStyle/>
          <a:p>
            <a:r>
              <a:rPr lang="zh-CN" altLang="en-US" dirty="0"/>
              <a:t>逻辑函数的</a:t>
            </a:r>
            <a:r>
              <a:rPr lang="en-US" altLang="zh-CN" dirty="0"/>
              <a:t>Q-M</a:t>
            </a:r>
            <a:r>
              <a:rPr lang="zh-CN" altLang="en-US" dirty="0"/>
              <a:t>法化简</a:t>
            </a:r>
            <a:endParaRPr lang="zh-CN" altLang="en-US" dirty="0"/>
          </a:p>
        </p:txBody>
      </p:sp>
      <p:sp>
        <p:nvSpPr>
          <p:cNvPr id="1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957B-039E-4520-82A2-6496E94A37EB}" type="slidenum">
              <a:rPr lang="en-US" altLang="zh-CN"/>
            </a:fld>
            <a:endParaRPr lang="en-US" altLang="zh-CN"/>
          </a:p>
        </p:txBody>
      </p:sp>
      <p:sp>
        <p:nvSpPr>
          <p:cNvPr id="179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sz="2400" dirty="0"/>
              <a:t>第二步：从全部质蕴涵项中选出必要的质蕴涵项。</a:t>
            </a:r>
            <a:endParaRPr lang="zh-CN" altLang="en-US" sz="2200" dirty="0">
              <a:cs typeface="Times New Roman" panose="02020603050405020304" pitchFamily="18" charset="0"/>
            </a:endParaRPr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1344613" y="2564904"/>
            <a:ext cx="544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）先作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~ P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对应的表格（表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IV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79205" name="Group 5"/>
          <p:cNvGrpSpPr/>
          <p:nvPr/>
        </p:nvGrpSpPr>
        <p:grpSpPr bwMode="auto">
          <a:xfrm>
            <a:off x="1295400" y="3048000"/>
            <a:ext cx="6600825" cy="3625850"/>
            <a:chOff x="748" y="1328"/>
            <a:chExt cx="4158" cy="2284"/>
          </a:xfrm>
        </p:grpSpPr>
        <p:grpSp>
          <p:nvGrpSpPr>
            <p:cNvPr id="179206" name="Group 6"/>
            <p:cNvGrpSpPr/>
            <p:nvPr/>
          </p:nvGrpSpPr>
          <p:grpSpPr bwMode="auto">
            <a:xfrm>
              <a:off x="748" y="1552"/>
              <a:ext cx="4158" cy="2060"/>
              <a:chOff x="748" y="1525"/>
              <a:chExt cx="4158" cy="2060"/>
            </a:xfrm>
          </p:grpSpPr>
          <p:grpSp>
            <p:nvGrpSpPr>
              <p:cNvPr id="179207" name="Group 7"/>
              <p:cNvGrpSpPr/>
              <p:nvPr/>
            </p:nvGrpSpPr>
            <p:grpSpPr bwMode="auto">
              <a:xfrm>
                <a:off x="1066" y="1842"/>
                <a:ext cx="3840" cy="1743"/>
                <a:chOff x="1066" y="1823"/>
                <a:chExt cx="3840" cy="1743"/>
              </a:xfrm>
            </p:grpSpPr>
            <p:sp>
              <p:nvSpPr>
                <p:cNvPr id="179208" name="Rectangle 8"/>
                <p:cNvSpPr>
                  <a:spLocks noChangeArrowheads="1"/>
                </p:cNvSpPr>
                <p:nvPr/>
              </p:nvSpPr>
              <p:spPr bwMode="auto">
                <a:xfrm>
                  <a:off x="447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09" name="Rectangle 9"/>
                <p:cNvSpPr>
                  <a:spLocks noChangeArrowheads="1"/>
                </p:cNvSpPr>
                <p:nvPr/>
              </p:nvSpPr>
              <p:spPr bwMode="auto">
                <a:xfrm>
                  <a:off x="405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0" name="Rectangle 10"/>
                <p:cNvSpPr>
                  <a:spLocks noChangeArrowheads="1"/>
                </p:cNvSpPr>
                <p:nvPr/>
              </p:nvSpPr>
              <p:spPr bwMode="auto">
                <a:xfrm>
                  <a:off x="362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1" name="Rectangle 11"/>
                <p:cNvSpPr>
                  <a:spLocks noChangeArrowheads="1"/>
                </p:cNvSpPr>
                <p:nvPr/>
              </p:nvSpPr>
              <p:spPr bwMode="auto">
                <a:xfrm>
                  <a:off x="319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2" name="Rectangle 12"/>
                <p:cNvSpPr>
                  <a:spLocks noChangeArrowheads="1"/>
                </p:cNvSpPr>
                <p:nvPr/>
              </p:nvSpPr>
              <p:spPr bwMode="auto">
                <a:xfrm>
                  <a:off x="277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3" name="Rectangle 13"/>
                <p:cNvSpPr>
                  <a:spLocks noChangeArrowheads="1"/>
                </p:cNvSpPr>
                <p:nvPr/>
              </p:nvSpPr>
              <p:spPr bwMode="auto">
                <a:xfrm>
                  <a:off x="234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4" name="Rectangle 14"/>
                <p:cNvSpPr>
                  <a:spLocks noChangeArrowheads="1"/>
                </p:cNvSpPr>
                <p:nvPr/>
              </p:nvSpPr>
              <p:spPr bwMode="auto">
                <a:xfrm>
                  <a:off x="191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5" name="Rectangle 15"/>
                <p:cNvSpPr>
                  <a:spLocks noChangeArrowheads="1"/>
                </p:cNvSpPr>
                <p:nvPr/>
              </p:nvSpPr>
              <p:spPr bwMode="auto">
                <a:xfrm>
                  <a:off x="149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6" name="Rectangle 16"/>
                <p:cNvSpPr>
                  <a:spLocks noChangeArrowheads="1"/>
                </p:cNvSpPr>
                <p:nvPr/>
              </p:nvSpPr>
              <p:spPr bwMode="auto">
                <a:xfrm>
                  <a:off x="106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7" name="Rectangle 17"/>
                <p:cNvSpPr>
                  <a:spLocks noChangeArrowheads="1"/>
                </p:cNvSpPr>
                <p:nvPr/>
              </p:nvSpPr>
              <p:spPr bwMode="auto">
                <a:xfrm>
                  <a:off x="447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8" name="Rectangle 18"/>
                <p:cNvSpPr>
                  <a:spLocks noChangeArrowheads="1"/>
                </p:cNvSpPr>
                <p:nvPr/>
              </p:nvSpPr>
              <p:spPr bwMode="auto">
                <a:xfrm>
                  <a:off x="405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9" name="Rectangle 19"/>
                <p:cNvSpPr>
                  <a:spLocks noChangeArrowheads="1"/>
                </p:cNvSpPr>
                <p:nvPr/>
              </p:nvSpPr>
              <p:spPr bwMode="auto">
                <a:xfrm>
                  <a:off x="362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0" name="Rectangle 20"/>
                <p:cNvSpPr>
                  <a:spLocks noChangeArrowheads="1"/>
                </p:cNvSpPr>
                <p:nvPr/>
              </p:nvSpPr>
              <p:spPr bwMode="auto">
                <a:xfrm>
                  <a:off x="319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1" name="Rectangle 21"/>
                <p:cNvSpPr>
                  <a:spLocks noChangeArrowheads="1"/>
                </p:cNvSpPr>
                <p:nvPr/>
              </p:nvSpPr>
              <p:spPr bwMode="auto">
                <a:xfrm>
                  <a:off x="277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2" name="Rectangle 22"/>
                <p:cNvSpPr>
                  <a:spLocks noChangeArrowheads="1"/>
                </p:cNvSpPr>
                <p:nvPr/>
              </p:nvSpPr>
              <p:spPr bwMode="auto">
                <a:xfrm>
                  <a:off x="234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3" name="Rectangle 23"/>
                <p:cNvSpPr>
                  <a:spLocks noChangeArrowheads="1"/>
                </p:cNvSpPr>
                <p:nvPr/>
              </p:nvSpPr>
              <p:spPr bwMode="auto">
                <a:xfrm>
                  <a:off x="191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4" name="Rectangle 24"/>
                <p:cNvSpPr>
                  <a:spLocks noChangeArrowheads="1"/>
                </p:cNvSpPr>
                <p:nvPr/>
              </p:nvSpPr>
              <p:spPr bwMode="auto">
                <a:xfrm>
                  <a:off x="149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5" name="Rectangle 25"/>
                <p:cNvSpPr>
                  <a:spLocks noChangeArrowheads="1"/>
                </p:cNvSpPr>
                <p:nvPr/>
              </p:nvSpPr>
              <p:spPr bwMode="auto">
                <a:xfrm>
                  <a:off x="106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6" name="Rectangle 26"/>
                <p:cNvSpPr>
                  <a:spLocks noChangeArrowheads="1"/>
                </p:cNvSpPr>
                <p:nvPr/>
              </p:nvSpPr>
              <p:spPr bwMode="auto">
                <a:xfrm>
                  <a:off x="447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7" name="Rectangle 27"/>
                <p:cNvSpPr>
                  <a:spLocks noChangeArrowheads="1"/>
                </p:cNvSpPr>
                <p:nvPr/>
              </p:nvSpPr>
              <p:spPr bwMode="auto">
                <a:xfrm>
                  <a:off x="405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8" name="Rectangle 28"/>
                <p:cNvSpPr>
                  <a:spLocks noChangeArrowheads="1"/>
                </p:cNvSpPr>
                <p:nvPr/>
              </p:nvSpPr>
              <p:spPr bwMode="auto">
                <a:xfrm>
                  <a:off x="362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9" name="Rectangle 29"/>
                <p:cNvSpPr>
                  <a:spLocks noChangeArrowheads="1"/>
                </p:cNvSpPr>
                <p:nvPr/>
              </p:nvSpPr>
              <p:spPr bwMode="auto">
                <a:xfrm>
                  <a:off x="319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0" name="Rectangle 30"/>
                <p:cNvSpPr>
                  <a:spLocks noChangeArrowheads="1"/>
                </p:cNvSpPr>
                <p:nvPr/>
              </p:nvSpPr>
              <p:spPr bwMode="auto">
                <a:xfrm>
                  <a:off x="277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1" name="Rectangle 31"/>
                <p:cNvSpPr>
                  <a:spLocks noChangeArrowheads="1"/>
                </p:cNvSpPr>
                <p:nvPr/>
              </p:nvSpPr>
              <p:spPr bwMode="auto">
                <a:xfrm>
                  <a:off x="234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2" name="Rectangle 32"/>
                <p:cNvSpPr>
                  <a:spLocks noChangeArrowheads="1"/>
                </p:cNvSpPr>
                <p:nvPr/>
              </p:nvSpPr>
              <p:spPr bwMode="auto">
                <a:xfrm>
                  <a:off x="191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3" name="Rectangle 33"/>
                <p:cNvSpPr>
                  <a:spLocks noChangeArrowheads="1"/>
                </p:cNvSpPr>
                <p:nvPr/>
              </p:nvSpPr>
              <p:spPr bwMode="auto">
                <a:xfrm>
                  <a:off x="149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4" name="Rectangle 34"/>
                <p:cNvSpPr>
                  <a:spLocks noChangeArrowheads="1"/>
                </p:cNvSpPr>
                <p:nvPr/>
              </p:nvSpPr>
              <p:spPr bwMode="auto">
                <a:xfrm>
                  <a:off x="106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5" name="Rectangle 35"/>
                <p:cNvSpPr>
                  <a:spLocks noChangeArrowheads="1"/>
                </p:cNvSpPr>
                <p:nvPr/>
              </p:nvSpPr>
              <p:spPr bwMode="auto">
                <a:xfrm>
                  <a:off x="447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6" name="Rectangle 36"/>
                <p:cNvSpPr>
                  <a:spLocks noChangeArrowheads="1"/>
                </p:cNvSpPr>
                <p:nvPr/>
              </p:nvSpPr>
              <p:spPr bwMode="auto">
                <a:xfrm>
                  <a:off x="405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7" name="Rectangle 37"/>
                <p:cNvSpPr>
                  <a:spLocks noChangeArrowheads="1"/>
                </p:cNvSpPr>
                <p:nvPr/>
              </p:nvSpPr>
              <p:spPr bwMode="auto">
                <a:xfrm>
                  <a:off x="362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8" name="Rectangle 38"/>
                <p:cNvSpPr>
                  <a:spLocks noChangeArrowheads="1"/>
                </p:cNvSpPr>
                <p:nvPr/>
              </p:nvSpPr>
              <p:spPr bwMode="auto">
                <a:xfrm>
                  <a:off x="319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9" name="Rectangle 39"/>
                <p:cNvSpPr>
                  <a:spLocks noChangeArrowheads="1"/>
                </p:cNvSpPr>
                <p:nvPr/>
              </p:nvSpPr>
              <p:spPr bwMode="auto">
                <a:xfrm>
                  <a:off x="277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0" name="Rectangle 40"/>
                <p:cNvSpPr>
                  <a:spLocks noChangeArrowheads="1"/>
                </p:cNvSpPr>
                <p:nvPr/>
              </p:nvSpPr>
              <p:spPr bwMode="auto">
                <a:xfrm>
                  <a:off x="234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1" name="Rectangle 41"/>
                <p:cNvSpPr>
                  <a:spLocks noChangeArrowheads="1"/>
                </p:cNvSpPr>
                <p:nvPr/>
              </p:nvSpPr>
              <p:spPr bwMode="auto">
                <a:xfrm>
                  <a:off x="191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2" name="Rectangle 42"/>
                <p:cNvSpPr>
                  <a:spLocks noChangeArrowheads="1"/>
                </p:cNvSpPr>
                <p:nvPr/>
              </p:nvSpPr>
              <p:spPr bwMode="auto">
                <a:xfrm>
                  <a:off x="149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3" name="Rectangle 43"/>
                <p:cNvSpPr>
                  <a:spLocks noChangeArrowheads="1"/>
                </p:cNvSpPr>
                <p:nvPr/>
              </p:nvSpPr>
              <p:spPr bwMode="auto">
                <a:xfrm>
                  <a:off x="106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4" name="Rectangle 44"/>
                <p:cNvSpPr>
                  <a:spLocks noChangeArrowheads="1"/>
                </p:cNvSpPr>
                <p:nvPr/>
              </p:nvSpPr>
              <p:spPr bwMode="auto">
                <a:xfrm>
                  <a:off x="447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5" name="Rectangle 45"/>
                <p:cNvSpPr>
                  <a:spLocks noChangeArrowheads="1"/>
                </p:cNvSpPr>
                <p:nvPr/>
              </p:nvSpPr>
              <p:spPr bwMode="auto">
                <a:xfrm>
                  <a:off x="405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6" name="Rectangle 46"/>
                <p:cNvSpPr>
                  <a:spLocks noChangeArrowheads="1"/>
                </p:cNvSpPr>
                <p:nvPr/>
              </p:nvSpPr>
              <p:spPr bwMode="auto">
                <a:xfrm>
                  <a:off x="362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7" name="Rectangle 47"/>
                <p:cNvSpPr>
                  <a:spLocks noChangeArrowheads="1"/>
                </p:cNvSpPr>
                <p:nvPr/>
              </p:nvSpPr>
              <p:spPr bwMode="auto">
                <a:xfrm>
                  <a:off x="319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277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9" name="Rectangle 49"/>
                <p:cNvSpPr>
                  <a:spLocks noChangeArrowheads="1"/>
                </p:cNvSpPr>
                <p:nvPr/>
              </p:nvSpPr>
              <p:spPr bwMode="auto">
                <a:xfrm>
                  <a:off x="234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0" name="Rectangle 50"/>
                <p:cNvSpPr>
                  <a:spLocks noChangeArrowheads="1"/>
                </p:cNvSpPr>
                <p:nvPr/>
              </p:nvSpPr>
              <p:spPr bwMode="auto">
                <a:xfrm>
                  <a:off x="191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1" name="Rectangle 51"/>
                <p:cNvSpPr>
                  <a:spLocks noChangeArrowheads="1"/>
                </p:cNvSpPr>
                <p:nvPr/>
              </p:nvSpPr>
              <p:spPr bwMode="auto">
                <a:xfrm>
                  <a:off x="149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2" name="Rectangle 52"/>
                <p:cNvSpPr>
                  <a:spLocks noChangeArrowheads="1"/>
                </p:cNvSpPr>
                <p:nvPr/>
              </p:nvSpPr>
              <p:spPr bwMode="auto">
                <a:xfrm>
                  <a:off x="106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3" name="Rectangle 53"/>
                <p:cNvSpPr>
                  <a:spLocks noChangeArrowheads="1"/>
                </p:cNvSpPr>
                <p:nvPr/>
              </p:nvSpPr>
              <p:spPr bwMode="auto">
                <a:xfrm>
                  <a:off x="447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4" name="Rectangle 54"/>
                <p:cNvSpPr>
                  <a:spLocks noChangeArrowheads="1"/>
                </p:cNvSpPr>
                <p:nvPr/>
              </p:nvSpPr>
              <p:spPr bwMode="auto">
                <a:xfrm>
                  <a:off x="405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5" name="Rectangle 55"/>
                <p:cNvSpPr>
                  <a:spLocks noChangeArrowheads="1"/>
                </p:cNvSpPr>
                <p:nvPr/>
              </p:nvSpPr>
              <p:spPr bwMode="auto">
                <a:xfrm>
                  <a:off x="362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6" name="Rectangle 56"/>
                <p:cNvSpPr>
                  <a:spLocks noChangeArrowheads="1"/>
                </p:cNvSpPr>
                <p:nvPr/>
              </p:nvSpPr>
              <p:spPr bwMode="auto">
                <a:xfrm>
                  <a:off x="319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7" name="Rectangle 57"/>
                <p:cNvSpPr>
                  <a:spLocks noChangeArrowheads="1"/>
                </p:cNvSpPr>
                <p:nvPr/>
              </p:nvSpPr>
              <p:spPr bwMode="auto">
                <a:xfrm>
                  <a:off x="277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8" name="Rectangle 58"/>
                <p:cNvSpPr>
                  <a:spLocks noChangeArrowheads="1"/>
                </p:cNvSpPr>
                <p:nvPr/>
              </p:nvSpPr>
              <p:spPr bwMode="auto">
                <a:xfrm>
                  <a:off x="234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9" name="Rectangle 59"/>
                <p:cNvSpPr>
                  <a:spLocks noChangeArrowheads="1"/>
                </p:cNvSpPr>
                <p:nvPr/>
              </p:nvSpPr>
              <p:spPr bwMode="auto">
                <a:xfrm>
                  <a:off x="191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0" name="Rectangle 60"/>
                <p:cNvSpPr>
                  <a:spLocks noChangeArrowheads="1"/>
                </p:cNvSpPr>
                <p:nvPr/>
              </p:nvSpPr>
              <p:spPr bwMode="auto">
                <a:xfrm>
                  <a:off x="149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1" name="Rectangle 61"/>
                <p:cNvSpPr>
                  <a:spLocks noChangeArrowheads="1"/>
                </p:cNvSpPr>
                <p:nvPr/>
              </p:nvSpPr>
              <p:spPr bwMode="auto">
                <a:xfrm>
                  <a:off x="106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2" name="Rectangle 62"/>
                <p:cNvSpPr>
                  <a:spLocks noChangeArrowheads="1"/>
                </p:cNvSpPr>
                <p:nvPr/>
              </p:nvSpPr>
              <p:spPr bwMode="auto">
                <a:xfrm>
                  <a:off x="447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3" name="Rectangle 63"/>
                <p:cNvSpPr>
                  <a:spLocks noChangeArrowheads="1"/>
                </p:cNvSpPr>
                <p:nvPr/>
              </p:nvSpPr>
              <p:spPr bwMode="auto">
                <a:xfrm>
                  <a:off x="405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4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5" name="Rectangle 65"/>
                <p:cNvSpPr>
                  <a:spLocks noChangeArrowheads="1"/>
                </p:cNvSpPr>
                <p:nvPr/>
              </p:nvSpPr>
              <p:spPr bwMode="auto">
                <a:xfrm>
                  <a:off x="319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6" name="Rectangle 66"/>
                <p:cNvSpPr>
                  <a:spLocks noChangeArrowheads="1"/>
                </p:cNvSpPr>
                <p:nvPr/>
              </p:nvSpPr>
              <p:spPr bwMode="auto">
                <a:xfrm>
                  <a:off x="277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7" name="Rectangle 67"/>
                <p:cNvSpPr>
                  <a:spLocks noChangeArrowheads="1"/>
                </p:cNvSpPr>
                <p:nvPr/>
              </p:nvSpPr>
              <p:spPr bwMode="auto">
                <a:xfrm>
                  <a:off x="234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8" name="Rectangle 68"/>
                <p:cNvSpPr>
                  <a:spLocks noChangeArrowheads="1"/>
                </p:cNvSpPr>
                <p:nvPr/>
              </p:nvSpPr>
              <p:spPr bwMode="auto">
                <a:xfrm>
                  <a:off x="191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9" name="Rectangle 69"/>
                <p:cNvSpPr>
                  <a:spLocks noChangeArrowheads="1"/>
                </p:cNvSpPr>
                <p:nvPr/>
              </p:nvSpPr>
              <p:spPr bwMode="auto">
                <a:xfrm>
                  <a:off x="149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70" name="Rectangle 70"/>
                <p:cNvSpPr>
                  <a:spLocks noChangeArrowheads="1"/>
                </p:cNvSpPr>
                <p:nvPr/>
              </p:nvSpPr>
              <p:spPr bwMode="auto">
                <a:xfrm>
                  <a:off x="106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71" name="Line 71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2" name="Line 72"/>
                <p:cNvSpPr>
                  <a:spLocks noChangeShapeType="1"/>
                </p:cNvSpPr>
                <p:nvPr/>
              </p:nvSpPr>
              <p:spPr bwMode="auto">
                <a:xfrm>
                  <a:off x="1066" y="2072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3" name="Line 73"/>
                <p:cNvSpPr>
                  <a:spLocks noChangeShapeType="1"/>
                </p:cNvSpPr>
                <p:nvPr/>
              </p:nvSpPr>
              <p:spPr bwMode="auto">
                <a:xfrm>
                  <a:off x="1066" y="2321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4" name="Line 74"/>
                <p:cNvSpPr>
                  <a:spLocks noChangeShapeType="1"/>
                </p:cNvSpPr>
                <p:nvPr/>
              </p:nvSpPr>
              <p:spPr bwMode="auto">
                <a:xfrm>
                  <a:off x="1066" y="2570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5" name="Line 75"/>
                <p:cNvSpPr>
                  <a:spLocks noChangeShapeType="1"/>
                </p:cNvSpPr>
                <p:nvPr/>
              </p:nvSpPr>
              <p:spPr bwMode="auto">
                <a:xfrm>
                  <a:off x="1066" y="2819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6" name="Line 76"/>
                <p:cNvSpPr>
                  <a:spLocks noChangeShapeType="1"/>
                </p:cNvSpPr>
                <p:nvPr/>
              </p:nvSpPr>
              <p:spPr bwMode="auto">
                <a:xfrm>
                  <a:off x="1066" y="3068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7" name="Line 77"/>
                <p:cNvSpPr>
                  <a:spLocks noChangeShapeType="1"/>
                </p:cNvSpPr>
                <p:nvPr/>
              </p:nvSpPr>
              <p:spPr bwMode="auto">
                <a:xfrm>
                  <a:off x="1066" y="3317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8" name="Line 78"/>
                <p:cNvSpPr>
                  <a:spLocks noChangeShapeType="1"/>
                </p:cNvSpPr>
                <p:nvPr/>
              </p:nvSpPr>
              <p:spPr bwMode="auto">
                <a:xfrm>
                  <a:off x="1066" y="3566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9" name="Line 79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0" name="Line 80"/>
                <p:cNvSpPr>
                  <a:spLocks noChangeShapeType="1"/>
                </p:cNvSpPr>
                <p:nvPr/>
              </p:nvSpPr>
              <p:spPr bwMode="auto">
                <a:xfrm>
                  <a:off x="149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1" name="Line 81"/>
                <p:cNvSpPr>
                  <a:spLocks noChangeShapeType="1"/>
                </p:cNvSpPr>
                <p:nvPr/>
              </p:nvSpPr>
              <p:spPr bwMode="auto">
                <a:xfrm>
                  <a:off x="191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2" name="Line 82"/>
                <p:cNvSpPr>
                  <a:spLocks noChangeShapeType="1"/>
                </p:cNvSpPr>
                <p:nvPr/>
              </p:nvSpPr>
              <p:spPr bwMode="auto">
                <a:xfrm>
                  <a:off x="234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3" name="Line 83"/>
                <p:cNvSpPr>
                  <a:spLocks noChangeShapeType="1"/>
                </p:cNvSpPr>
                <p:nvPr/>
              </p:nvSpPr>
              <p:spPr bwMode="auto">
                <a:xfrm>
                  <a:off x="277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4" name="Line 84"/>
                <p:cNvSpPr>
                  <a:spLocks noChangeShapeType="1"/>
                </p:cNvSpPr>
                <p:nvPr/>
              </p:nvSpPr>
              <p:spPr bwMode="auto">
                <a:xfrm>
                  <a:off x="319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5" name="Line 85"/>
                <p:cNvSpPr>
                  <a:spLocks noChangeShapeType="1"/>
                </p:cNvSpPr>
                <p:nvPr/>
              </p:nvSpPr>
              <p:spPr bwMode="auto">
                <a:xfrm>
                  <a:off x="362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6" name="Line 86"/>
                <p:cNvSpPr>
                  <a:spLocks noChangeShapeType="1"/>
                </p:cNvSpPr>
                <p:nvPr/>
              </p:nvSpPr>
              <p:spPr bwMode="auto">
                <a:xfrm>
                  <a:off x="405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7" name="Line 87"/>
                <p:cNvSpPr>
                  <a:spLocks noChangeShapeType="1"/>
                </p:cNvSpPr>
                <p:nvPr/>
              </p:nvSpPr>
              <p:spPr bwMode="auto">
                <a:xfrm>
                  <a:off x="447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8" name="Line 88"/>
                <p:cNvSpPr>
                  <a:spLocks noChangeShapeType="1"/>
                </p:cNvSpPr>
                <p:nvPr/>
              </p:nvSpPr>
              <p:spPr bwMode="auto">
                <a:xfrm>
                  <a:off x="490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9289" name="Line 89"/>
              <p:cNvSpPr>
                <a:spLocks noChangeShapeType="1"/>
              </p:cNvSpPr>
              <p:nvPr/>
            </p:nvSpPr>
            <p:spPr bwMode="auto">
              <a:xfrm flipH="1" flipV="1">
                <a:off x="748" y="1525"/>
                <a:ext cx="318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9290" name="Rectangle 90"/>
            <p:cNvSpPr>
              <a:spLocks noChangeArrowheads="1"/>
            </p:cNvSpPr>
            <p:nvPr/>
          </p:nvSpPr>
          <p:spPr bwMode="auto">
            <a:xfrm>
              <a:off x="2603" y="1328"/>
              <a:ext cx="5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IV 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79291" name="Group 91"/>
          <p:cNvGrpSpPr/>
          <p:nvPr/>
        </p:nvGrpSpPr>
        <p:grpSpPr bwMode="auto">
          <a:xfrm>
            <a:off x="490538" y="3124201"/>
            <a:ext cx="2230438" cy="1298576"/>
            <a:chOff x="241" y="1376"/>
            <a:chExt cx="1405" cy="818"/>
          </a:xfrm>
        </p:grpSpPr>
        <p:sp>
          <p:nvSpPr>
            <p:cNvPr id="179292" name="Rectangle 92"/>
            <p:cNvSpPr>
              <a:spLocks noChangeArrowheads="1"/>
            </p:cNvSpPr>
            <p:nvPr/>
          </p:nvSpPr>
          <p:spPr bwMode="auto">
            <a:xfrm>
              <a:off x="241" y="1671"/>
              <a:ext cx="55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质蕴</a:t>
              </a:r>
              <a:endPara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涵项 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79293" name="Rectangle 93"/>
            <p:cNvSpPr>
              <a:spLocks noChangeArrowheads="1"/>
            </p:cNvSpPr>
            <p:nvPr/>
          </p:nvSpPr>
          <p:spPr bwMode="auto">
            <a:xfrm>
              <a:off x="894" y="1376"/>
              <a:ext cx="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最小项 </a:t>
              </a:r>
              <a:endPara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79294" name="Group 94"/>
          <p:cNvGrpSpPr/>
          <p:nvPr/>
        </p:nvGrpSpPr>
        <p:grpSpPr bwMode="auto">
          <a:xfrm>
            <a:off x="1344613" y="3432175"/>
            <a:ext cx="6573837" cy="3246438"/>
            <a:chOff x="779" y="1570"/>
            <a:chExt cx="4141" cy="2045"/>
          </a:xfrm>
        </p:grpSpPr>
        <p:grpSp>
          <p:nvGrpSpPr>
            <p:cNvPr id="179295" name="Group 95"/>
            <p:cNvGrpSpPr/>
            <p:nvPr/>
          </p:nvGrpSpPr>
          <p:grpSpPr bwMode="auto">
            <a:xfrm>
              <a:off x="779" y="1827"/>
              <a:ext cx="313" cy="1788"/>
              <a:chOff x="779" y="1827"/>
              <a:chExt cx="313" cy="1788"/>
            </a:xfrm>
          </p:grpSpPr>
          <p:sp>
            <p:nvSpPr>
              <p:cNvPr id="179296" name="Rectangle 96"/>
              <p:cNvSpPr>
                <a:spLocks noChangeArrowheads="1"/>
              </p:cNvSpPr>
              <p:nvPr/>
            </p:nvSpPr>
            <p:spPr bwMode="auto">
              <a:xfrm>
                <a:off x="793" y="182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297" name="Rectangle 97"/>
              <p:cNvSpPr>
                <a:spLocks noChangeArrowheads="1"/>
              </p:cNvSpPr>
              <p:nvPr/>
            </p:nvSpPr>
            <p:spPr bwMode="auto">
              <a:xfrm>
                <a:off x="779" y="206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298" name="Rectangle 98"/>
              <p:cNvSpPr>
                <a:spLocks noChangeArrowheads="1"/>
              </p:cNvSpPr>
              <p:nvPr/>
            </p:nvSpPr>
            <p:spPr bwMode="auto">
              <a:xfrm>
                <a:off x="793" y="232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299" name="Rectangle 99"/>
              <p:cNvSpPr>
                <a:spLocks noChangeArrowheads="1"/>
              </p:cNvSpPr>
              <p:nvPr/>
            </p:nvSpPr>
            <p:spPr bwMode="auto">
              <a:xfrm>
                <a:off x="779" y="259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0" name="Rectangle 100"/>
              <p:cNvSpPr>
                <a:spLocks noChangeArrowheads="1"/>
              </p:cNvSpPr>
              <p:nvPr/>
            </p:nvSpPr>
            <p:spPr bwMode="auto">
              <a:xfrm>
                <a:off x="793" y="282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1" name="Rectangle 101"/>
              <p:cNvSpPr>
                <a:spLocks noChangeArrowheads="1"/>
              </p:cNvSpPr>
              <p:nvPr/>
            </p:nvSpPr>
            <p:spPr bwMode="auto">
              <a:xfrm>
                <a:off x="779" y="306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2" name="Rectangle 102"/>
              <p:cNvSpPr>
                <a:spLocks noChangeArrowheads="1"/>
              </p:cNvSpPr>
              <p:nvPr/>
            </p:nvSpPr>
            <p:spPr bwMode="auto">
              <a:xfrm>
                <a:off x="793" y="3324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7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303" name="Group 103"/>
            <p:cNvGrpSpPr/>
            <p:nvPr/>
          </p:nvGrpSpPr>
          <p:grpSpPr bwMode="auto">
            <a:xfrm>
              <a:off x="1156" y="1570"/>
              <a:ext cx="3764" cy="291"/>
              <a:chOff x="1156" y="1570"/>
              <a:chExt cx="3764" cy="291"/>
            </a:xfrm>
          </p:grpSpPr>
          <p:sp>
            <p:nvSpPr>
              <p:cNvPr id="179304" name="Rectangle 104"/>
              <p:cNvSpPr>
                <a:spLocks noChangeArrowheads="1"/>
              </p:cNvSpPr>
              <p:nvPr/>
            </p:nvSpPr>
            <p:spPr bwMode="auto">
              <a:xfrm>
                <a:off x="1156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5" name="Rectangle 105"/>
              <p:cNvSpPr>
                <a:spLocks noChangeArrowheads="1"/>
              </p:cNvSpPr>
              <p:nvPr/>
            </p:nvSpPr>
            <p:spPr bwMode="auto">
              <a:xfrm>
                <a:off x="155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6" name="Rectangle 106"/>
              <p:cNvSpPr>
                <a:spLocks noChangeArrowheads="1"/>
              </p:cNvSpPr>
              <p:nvPr/>
            </p:nvSpPr>
            <p:spPr bwMode="auto">
              <a:xfrm>
                <a:off x="2415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8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7" name="Rectangle 107"/>
              <p:cNvSpPr>
                <a:spLocks noChangeArrowheads="1"/>
              </p:cNvSpPr>
              <p:nvPr/>
            </p:nvSpPr>
            <p:spPr bwMode="auto">
              <a:xfrm>
                <a:off x="2007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8" name="Rectangle 108"/>
              <p:cNvSpPr>
                <a:spLocks noChangeArrowheads="1"/>
              </p:cNvSpPr>
              <p:nvPr/>
            </p:nvSpPr>
            <p:spPr bwMode="auto">
              <a:xfrm>
                <a:off x="282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9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09" name="Rectangle 109"/>
              <p:cNvSpPr>
                <a:spLocks noChangeArrowheads="1"/>
              </p:cNvSpPr>
              <p:nvPr/>
            </p:nvSpPr>
            <p:spPr bwMode="auto">
              <a:xfrm>
                <a:off x="3685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10" name="Rectangle 110"/>
              <p:cNvSpPr>
                <a:spLocks noChangeArrowheads="1"/>
              </p:cNvSpPr>
              <p:nvPr/>
            </p:nvSpPr>
            <p:spPr bwMode="auto">
              <a:xfrm>
                <a:off x="3277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11" name="Rectangle 111"/>
              <p:cNvSpPr>
                <a:spLocks noChangeArrowheads="1"/>
              </p:cNvSpPr>
              <p:nvPr/>
            </p:nvSpPr>
            <p:spPr bwMode="auto">
              <a:xfrm>
                <a:off x="409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9312" name="Rectangle 112"/>
              <p:cNvSpPr>
                <a:spLocks noChangeArrowheads="1"/>
              </p:cNvSpPr>
              <p:nvPr/>
            </p:nvSpPr>
            <p:spPr bwMode="auto">
              <a:xfrm>
                <a:off x="451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79313" name="Group 113"/>
          <p:cNvGrpSpPr/>
          <p:nvPr/>
        </p:nvGrpSpPr>
        <p:grpSpPr bwMode="auto">
          <a:xfrm>
            <a:off x="2016125" y="4008438"/>
            <a:ext cx="5688013" cy="2592387"/>
            <a:chOff x="1202" y="1933"/>
            <a:chExt cx="3583" cy="1633"/>
          </a:xfrm>
        </p:grpSpPr>
        <p:sp>
          <p:nvSpPr>
            <p:cNvPr id="179314" name="AutoShape 114"/>
            <p:cNvSpPr>
              <a:spLocks noChangeArrowheads="1"/>
            </p:cNvSpPr>
            <p:nvPr/>
          </p:nvSpPr>
          <p:spPr bwMode="auto">
            <a:xfrm>
              <a:off x="1202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5" name="AutoShape 115"/>
            <p:cNvSpPr>
              <a:spLocks noChangeArrowheads="1"/>
            </p:cNvSpPr>
            <p:nvPr/>
          </p:nvSpPr>
          <p:spPr bwMode="auto">
            <a:xfrm>
              <a:off x="1202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6" name="AutoShape 116"/>
            <p:cNvSpPr>
              <a:spLocks noChangeArrowheads="1"/>
            </p:cNvSpPr>
            <p:nvPr/>
          </p:nvSpPr>
          <p:spPr bwMode="auto">
            <a:xfrm>
              <a:off x="1655" y="2704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7" name="AutoShape 117"/>
            <p:cNvSpPr>
              <a:spLocks noChangeArrowheads="1"/>
            </p:cNvSpPr>
            <p:nvPr/>
          </p:nvSpPr>
          <p:spPr bwMode="auto">
            <a:xfrm>
              <a:off x="1655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8" name="AutoShape 118"/>
            <p:cNvSpPr>
              <a:spLocks noChangeArrowheads="1"/>
            </p:cNvSpPr>
            <p:nvPr/>
          </p:nvSpPr>
          <p:spPr bwMode="auto">
            <a:xfrm>
              <a:off x="2064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9" name="AutoShape 119"/>
            <p:cNvSpPr>
              <a:spLocks noChangeArrowheads="1"/>
            </p:cNvSpPr>
            <p:nvPr/>
          </p:nvSpPr>
          <p:spPr bwMode="auto">
            <a:xfrm>
              <a:off x="2064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0" name="AutoShape 120"/>
            <p:cNvSpPr>
              <a:spLocks noChangeArrowheads="1"/>
            </p:cNvSpPr>
            <p:nvPr/>
          </p:nvSpPr>
          <p:spPr bwMode="auto">
            <a:xfrm>
              <a:off x="2472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1" name="AutoShape 121"/>
            <p:cNvSpPr>
              <a:spLocks noChangeArrowheads="1"/>
            </p:cNvSpPr>
            <p:nvPr/>
          </p:nvSpPr>
          <p:spPr bwMode="auto">
            <a:xfrm>
              <a:off x="2472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2" name="AutoShape 122"/>
            <p:cNvSpPr>
              <a:spLocks noChangeArrowheads="1"/>
            </p:cNvSpPr>
            <p:nvPr/>
          </p:nvSpPr>
          <p:spPr bwMode="auto">
            <a:xfrm>
              <a:off x="3334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3" name="AutoShape 123"/>
            <p:cNvSpPr>
              <a:spLocks noChangeArrowheads="1"/>
            </p:cNvSpPr>
            <p:nvPr/>
          </p:nvSpPr>
          <p:spPr bwMode="auto">
            <a:xfrm>
              <a:off x="292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4" name="AutoShape 124"/>
            <p:cNvSpPr>
              <a:spLocks noChangeArrowheads="1"/>
            </p:cNvSpPr>
            <p:nvPr/>
          </p:nvSpPr>
          <p:spPr bwMode="auto">
            <a:xfrm>
              <a:off x="3334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5" name="AutoShape 125"/>
            <p:cNvSpPr>
              <a:spLocks noChangeArrowheads="1"/>
            </p:cNvSpPr>
            <p:nvPr/>
          </p:nvSpPr>
          <p:spPr bwMode="auto">
            <a:xfrm>
              <a:off x="3787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6" name="AutoShape 126"/>
            <p:cNvSpPr>
              <a:spLocks noChangeArrowheads="1"/>
            </p:cNvSpPr>
            <p:nvPr/>
          </p:nvSpPr>
          <p:spPr bwMode="auto">
            <a:xfrm>
              <a:off x="3787" y="2659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7" name="AutoShape 127"/>
            <p:cNvSpPr>
              <a:spLocks noChangeArrowheads="1"/>
            </p:cNvSpPr>
            <p:nvPr/>
          </p:nvSpPr>
          <p:spPr bwMode="auto">
            <a:xfrm>
              <a:off x="419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8" name="AutoShape 128"/>
            <p:cNvSpPr>
              <a:spLocks noChangeArrowheads="1"/>
            </p:cNvSpPr>
            <p:nvPr/>
          </p:nvSpPr>
          <p:spPr bwMode="auto">
            <a:xfrm>
              <a:off x="4195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9" name="AutoShape 129"/>
            <p:cNvSpPr>
              <a:spLocks noChangeArrowheads="1"/>
            </p:cNvSpPr>
            <p:nvPr/>
          </p:nvSpPr>
          <p:spPr bwMode="auto">
            <a:xfrm>
              <a:off x="4649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autoUpdateAnimBg="0"/>
      <p:bldP spid="179204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8FF0-569B-4EEE-BABE-56521BB8356F}" type="slidenum">
              <a:rPr lang="en-US" altLang="zh-CN"/>
            </a:fld>
            <a:endParaRPr lang="en-US" altLang="zh-CN"/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76200" y="174864"/>
            <a:ext cx="89916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）进行“</a:t>
            </a:r>
            <a:r>
              <a:rPr kumimoji="0"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行列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消去”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检查所有的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对应的列，若在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列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中只有一个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，则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该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△所对应的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项为必要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；保留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并消去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对应的行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项为必要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包含的所有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对应的列（最小项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）均可消去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353" name="Rectangle 129"/>
          <p:cNvSpPr>
            <a:spLocks noChangeArrowheads="1"/>
          </p:cNvSpPr>
          <p:nvPr/>
        </p:nvSpPr>
        <p:spPr bwMode="auto">
          <a:xfrm>
            <a:off x="533400" y="1828800"/>
            <a:ext cx="8458200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列只有一个△，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所以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为必要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个△，分别对应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所蕴涵的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均可从表中删去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同理，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也为必要，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所蕴涵的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13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m</a:t>
            </a:r>
            <a:r>
              <a: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可以从表中删去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0478" name="Line 254"/>
          <p:cNvSpPr>
            <a:spLocks noChangeShapeType="1"/>
          </p:cNvSpPr>
          <p:nvPr/>
        </p:nvSpPr>
        <p:spPr bwMode="auto">
          <a:xfrm>
            <a:off x="6732588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79" name="Line 255"/>
          <p:cNvSpPr>
            <a:spLocks noChangeShapeType="1"/>
          </p:cNvSpPr>
          <p:nvPr/>
        </p:nvSpPr>
        <p:spPr bwMode="auto">
          <a:xfrm>
            <a:off x="745172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1" name="Line 257"/>
          <p:cNvSpPr>
            <a:spLocks noChangeShapeType="1"/>
          </p:cNvSpPr>
          <p:nvPr/>
        </p:nvSpPr>
        <p:spPr bwMode="auto">
          <a:xfrm>
            <a:off x="406717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2" name="Line 258"/>
          <p:cNvSpPr>
            <a:spLocks noChangeShapeType="1"/>
          </p:cNvSpPr>
          <p:nvPr/>
        </p:nvSpPr>
        <p:spPr bwMode="auto">
          <a:xfrm>
            <a:off x="471487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4" name="Line 260"/>
          <p:cNvSpPr>
            <a:spLocks noChangeShapeType="1"/>
          </p:cNvSpPr>
          <p:nvPr/>
        </p:nvSpPr>
        <p:spPr bwMode="auto">
          <a:xfrm>
            <a:off x="1116013" y="6075363"/>
            <a:ext cx="7343775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5" name="Line 261"/>
          <p:cNvSpPr>
            <a:spLocks noChangeShapeType="1"/>
          </p:cNvSpPr>
          <p:nvPr/>
        </p:nvSpPr>
        <p:spPr bwMode="auto">
          <a:xfrm>
            <a:off x="1116013" y="6507163"/>
            <a:ext cx="7343775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0495" name="Group 271"/>
          <p:cNvGrpSpPr/>
          <p:nvPr/>
        </p:nvGrpSpPr>
        <p:grpSpPr bwMode="auto">
          <a:xfrm>
            <a:off x="382588" y="3051175"/>
            <a:ext cx="7427913" cy="3625850"/>
            <a:chOff x="241" y="1922"/>
            <a:chExt cx="4679" cy="2284"/>
          </a:xfrm>
        </p:grpSpPr>
        <p:grpSp>
          <p:nvGrpSpPr>
            <p:cNvPr id="180355" name="Group 131"/>
            <p:cNvGrpSpPr/>
            <p:nvPr/>
          </p:nvGrpSpPr>
          <p:grpSpPr bwMode="auto">
            <a:xfrm>
              <a:off x="748" y="1922"/>
              <a:ext cx="4158" cy="2284"/>
              <a:chOff x="748" y="1328"/>
              <a:chExt cx="4158" cy="2284"/>
            </a:xfrm>
          </p:grpSpPr>
          <p:grpSp>
            <p:nvGrpSpPr>
              <p:cNvPr id="180356" name="Group 132"/>
              <p:cNvGrpSpPr/>
              <p:nvPr/>
            </p:nvGrpSpPr>
            <p:grpSpPr bwMode="auto">
              <a:xfrm>
                <a:off x="748" y="1552"/>
                <a:ext cx="4158" cy="2060"/>
                <a:chOff x="748" y="1525"/>
                <a:chExt cx="4158" cy="2060"/>
              </a:xfrm>
            </p:grpSpPr>
            <p:grpSp>
              <p:nvGrpSpPr>
                <p:cNvPr id="180357" name="Group 133"/>
                <p:cNvGrpSpPr/>
                <p:nvPr/>
              </p:nvGrpSpPr>
              <p:grpSpPr bwMode="auto">
                <a:xfrm>
                  <a:off x="1066" y="1842"/>
                  <a:ext cx="3840" cy="1743"/>
                  <a:chOff x="1066" y="1823"/>
                  <a:chExt cx="3840" cy="1743"/>
                </a:xfrm>
              </p:grpSpPr>
              <p:sp>
                <p:nvSpPr>
                  <p:cNvPr id="180358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59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0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1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3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4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5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6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7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8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9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0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1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2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3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4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6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7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8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9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0" name="Rectangle 156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1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2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3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4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5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6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7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8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9" name="Rectangle 165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0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1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2" name="Rectangle 168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3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4" name="Rectangle 170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5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6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7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8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9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1" name="Rectangle 177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2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3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4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5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6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7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8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9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0" name="Rectangle 186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1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2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3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4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5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6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7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8" name="Rectangle 194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9" name="Rectangle 195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20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21" name="Line 197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1823"/>
                    <a:ext cx="384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2" name="Line 198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072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3" name="Line 199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321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4" name="Line 200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570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5" name="Line 201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819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6" name="Line 202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068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7" name="Line 203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317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8" name="Line 204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566"/>
                    <a:ext cx="384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9" name="Line 205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1823"/>
                    <a:ext cx="0" cy="1743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0" name="Line 206"/>
                  <p:cNvSpPr>
                    <a:spLocks noChangeShapeType="1"/>
                  </p:cNvSpPr>
                  <p:nvPr/>
                </p:nvSpPr>
                <p:spPr bwMode="auto">
                  <a:xfrm>
                    <a:off x="149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1" name="Line 207"/>
                  <p:cNvSpPr>
                    <a:spLocks noChangeShapeType="1"/>
                  </p:cNvSpPr>
                  <p:nvPr/>
                </p:nvSpPr>
                <p:spPr bwMode="auto">
                  <a:xfrm>
                    <a:off x="191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2" name="Line 208"/>
                  <p:cNvSpPr>
                    <a:spLocks noChangeShapeType="1"/>
                  </p:cNvSpPr>
                  <p:nvPr/>
                </p:nvSpPr>
                <p:spPr bwMode="auto">
                  <a:xfrm>
                    <a:off x="2346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3" name="Line 209"/>
                  <p:cNvSpPr>
                    <a:spLocks noChangeShapeType="1"/>
                  </p:cNvSpPr>
                  <p:nvPr/>
                </p:nvSpPr>
                <p:spPr bwMode="auto">
                  <a:xfrm>
                    <a:off x="277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4" name="Line 210"/>
                  <p:cNvSpPr>
                    <a:spLocks noChangeShapeType="1"/>
                  </p:cNvSpPr>
                  <p:nvPr/>
                </p:nvSpPr>
                <p:spPr bwMode="auto">
                  <a:xfrm>
                    <a:off x="319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5" name="Line 211"/>
                  <p:cNvSpPr>
                    <a:spLocks noChangeShapeType="1"/>
                  </p:cNvSpPr>
                  <p:nvPr/>
                </p:nvSpPr>
                <p:spPr bwMode="auto">
                  <a:xfrm>
                    <a:off x="3626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6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405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7" name="Line 213"/>
                  <p:cNvSpPr>
                    <a:spLocks noChangeShapeType="1"/>
                  </p:cNvSpPr>
                  <p:nvPr/>
                </p:nvSpPr>
                <p:spPr bwMode="auto">
                  <a:xfrm>
                    <a:off x="447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8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4906" y="1823"/>
                    <a:ext cx="0" cy="1743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0439" name="Line 215"/>
                <p:cNvSpPr>
                  <a:spLocks noChangeShapeType="1"/>
                </p:cNvSpPr>
                <p:nvPr/>
              </p:nvSpPr>
              <p:spPr bwMode="auto">
                <a:xfrm flipH="1" flipV="1">
                  <a:off x="748" y="1525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0440" name="Rectangle 216"/>
              <p:cNvSpPr>
                <a:spLocks noChangeArrowheads="1"/>
              </p:cNvSpPr>
              <p:nvPr/>
            </p:nvSpPr>
            <p:spPr bwMode="auto">
              <a:xfrm>
                <a:off x="2603" y="1328"/>
                <a:ext cx="5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Tahoma" panose="020B0604030504040204" pitchFamily="34" charset="0"/>
                  </a:rPr>
                  <a:t>表</a:t>
                </a:r>
                <a:r>
                  <a:rPr kumimoji="0" lang="en-US" altLang="zh-CN">
                    <a:latin typeface="Tahoma" panose="020B0604030504040204" pitchFamily="34" charset="0"/>
                  </a:rPr>
                  <a:t>IV 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80441" name="Group 217"/>
            <p:cNvGrpSpPr/>
            <p:nvPr/>
          </p:nvGrpSpPr>
          <p:grpSpPr bwMode="auto">
            <a:xfrm>
              <a:off x="779" y="2148"/>
              <a:ext cx="4141" cy="2045"/>
              <a:chOff x="779" y="1570"/>
              <a:chExt cx="4141" cy="2045"/>
            </a:xfrm>
          </p:grpSpPr>
          <p:grpSp>
            <p:nvGrpSpPr>
              <p:cNvPr id="180442" name="Group 218"/>
              <p:cNvGrpSpPr/>
              <p:nvPr/>
            </p:nvGrpSpPr>
            <p:grpSpPr bwMode="auto">
              <a:xfrm>
                <a:off x="779" y="1827"/>
                <a:ext cx="313" cy="1788"/>
                <a:chOff x="779" y="1827"/>
                <a:chExt cx="313" cy="1788"/>
              </a:xfrm>
            </p:grpSpPr>
            <p:sp>
              <p:nvSpPr>
                <p:cNvPr id="180443" name="Rectangle 219"/>
                <p:cNvSpPr>
                  <a:spLocks noChangeArrowheads="1"/>
                </p:cNvSpPr>
                <p:nvPr/>
              </p:nvSpPr>
              <p:spPr bwMode="auto">
                <a:xfrm>
                  <a:off x="793" y="1827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4" name="Rectangle 220"/>
                <p:cNvSpPr>
                  <a:spLocks noChangeArrowheads="1"/>
                </p:cNvSpPr>
                <p:nvPr/>
              </p:nvSpPr>
              <p:spPr bwMode="auto">
                <a:xfrm>
                  <a:off x="779" y="206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5" name="Rectangle 221"/>
                <p:cNvSpPr>
                  <a:spLocks noChangeArrowheads="1"/>
                </p:cNvSpPr>
                <p:nvPr/>
              </p:nvSpPr>
              <p:spPr bwMode="auto">
                <a:xfrm>
                  <a:off x="793" y="2326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3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6" name="Rectangle 222"/>
                <p:cNvSpPr>
                  <a:spLocks noChangeArrowheads="1"/>
                </p:cNvSpPr>
                <p:nvPr/>
              </p:nvSpPr>
              <p:spPr bwMode="auto">
                <a:xfrm>
                  <a:off x="779" y="259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7" name="Rectangle 223"/>
                <p:cNvSpPr>
                  <a:spLocks noChangeArrowheads="1"/>
                </p:cNvSpPr>
                <p:nvPr/>
              </p:nvSpPr>
              <p:spPr bwMode="auto">
                <a:xfrm>
                  <a:off x="793" y="2825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5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8" name="Rectangle 224"/>
                <p:cNvSpPr>
                  <a:spLocks noChangeArrowheads="1"/>
                </p:cNvSpPr>
                <p:nvPr/>
              </p:nvSpPr>
              <p:spPr bwMode="auto">
                <a:xfrm>
                  <a:off x="779" y="3067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6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49" name="Rectangle 225"/>
                <p:cNvSpPr>
                  <a:spLocks noChangeArrowheads="1"/>
                </p:cNvSpPr>
                <p:nvPr/>
              </p:nvSpPr>
              <p:spPr bwMode="auto">
                <a:xfrm>
                  <a:off x="793" y="332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7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0450" name="Group 226"/>
              <p:cNvGrpSpPr/>
              <p:nvPr/>
            </p:nvGrpSpPr>
            <p:grpSpPr bwMode="auto">
              <a:xfrm>
                <a:off x="1156" y="1570"/>
                <a:ext cx="3764" cy="291"/>
                <a:chOff x="1156" y="1570"/>
                <a:chExt cx="3764" cy="291"/>
              </a:xfrm>
            </p:grpSpPr>
            <p:sp>
              <p:nvSpPr>
                <p:cNvPr id="180451" name="Rectangle 227"/>
                <p:cNvSpPr>
                  <a:spLocks noChangeArrowheads="1"/>
                </p:cNvSpPr>
                <p:nvPr/>
              </p:nvSpPr>
              <p:spPr bwMode="auto">
                <a:xfrm>
                  <a:off x="1156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2" name="Rectangle 228"/>
                <p:cNvSpPr>
                  <a:spLocks noChangeArrowheads="1"/>
                </p:cNvSpPr>
                <p:nvPr/>
              </p:nvSpPr>
              <p:spPr bwMode="auto">
                <a:xfrm>
                  <a:off x="1553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3" name="Rectangle 229"/>
                <p:cNvSpPr>
                  <a:spLocks noChangeArrowheads="1"/>
                </p:cNvSpPr>
                <p:nvPr/>
              </p:nvSpPr>
              <p:spPr bwMode="auto">
                <a:xfrm>
                  <a:off x="2415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8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4" name="Rectangle 230"/>
                <p:cNvSpPr>
                  <a:spLocks noChangeArrowheads="1"/>
                </p:cNvSpPr>
                <p:nvPr/>
              </p:nvSpPr>
              <p:spPr bwMode="auto">
                <a:xfrm>
                  <a:off x="2007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6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5" name="Rectangle 231"/>
                <p:cNvSpPr>
                  <a:spLocks noChangeArrowheads="1"/>
                </p:cNvSpPr>
                <p:nvPr/>
              </p:nvSpPr>
              <p:spPr bwMode="auto">
                <a:xfrm>
                  <a:off x="2823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9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6" name="Rectangle 232"/>
                <p:cNvSpPr>
                  <a:spLocks noChangeArrowheads="1"/>
                </p:cNvSpPr>
                <p:nvPr/>
              </p:nvSpPr>
              <p:spPr bwMode="auto">
                <a:xfrm>
                  <a:off x="3685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7" name="Rectangle 233"/>
                <p:cNvSpPr>
                  <a:spLocks noChangeArrowheads="1"/>
                </p:cNvSpPr>
                <p:nvPr/>
              </p:nvSpPr>
              <p:spPr bwMode="auto">
                <a:xfrm>
                  <a:off x="3277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10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8" name="Rectangle 234"/>
                <p:cNvSpPr>
                  <a:spLocks noChangeArrowheads="1"/>
                </p:cNvSpPr>
                <p:nvPr/>
              </p:nvSpPr>
              <p:spPr bwMode="auto">
                <a:xfrm>
                  <a:off x="4093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13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459" name="Rectangle 235"/>
                <p:cNvSpPr>
                  <a:spLocks noChangeArrowheads="1"/>
                </p:cNvSpPr>
                <p:nvPr/>
              </p:nvSpPr>
              <p:spPr bwMode="auto">
                <a:xfrm>
                  <a:off x="4513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15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80460" name="Group 236"/>
            <p:cNvGrpSpPr/>
            <p:nvPr/>
          </p:nvGrpSpPr>
          <p:grpSpPr bwMode="auto">
            <a:xfrm>
              <a:off x="1202" y="2511"/>
              <a:ext cx="3583" cy="1633"/>
              <a:chOff x="1202" y="1933"/>
              <a:chExt cx="3583" cy="1633"/>
            </a:xfrm>
          </p:grpSpPr>
          <p:sp>
            <p:nvSpPr>
              <p:cNvPr id="180461" name="AutoShape 237"/>
              <p:cNvSpPr>
                <a:spLocks noChangeArrowheads="1"/>
              </p:cNvSpPr>
              <p:nvPr/>
            </p:nvSpPr>
            <p:spPr bwMode="auto">
              <a:xfrm>
                <a:off x="1202" y="1933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2" name="AutoShape 238"/>
              <p:cNvSpPr>
                <a:spLocks noChangeArrowheads="1"/>
              </p:cNvSpPr>
              <p:nvPr/>
            </p:nvSpPr>
            <p:spPr bwMode="auto">
              <a:xfrm>
                <a:off x="1202" y="216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3" name="AutoShape 239"/>
              <p:cNvSpPr>
                <a:spLocks noChangeArrowheads="1"/>
              </p:cNvSpPr>
              <p:nvPr/>
            </p:nvSpPr>
            <p:spPr bwMode="auto">
              <a:xfrm>
                <a:off x="1655" y="270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4" name="AutoShape 240"/>
              <p:cNvSpPr>
                <a:spLocks noChangeArrowheads="1"/>
              </p:cNvSpPr>
              <p:nvPr/>
            </p:nvSpPr>
            <p:spPr bwMode="auto">
              <a:xfrm>
                <a:off x="1655" y="24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5" name="AutoShape 241"/>
              <p:cNvSpPr>
                <a:spLocks noChangeArrowheads="1"/>
              </p:cNvSpPr>
              <p:nvPr/>
            </p:nvSpPr>
            <p:spPr bwMode="auto">
              <a:xfrm>
                <a:off x="2064" y="24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6" name="AutoShape 242"/>
              <p:cNvSpPr>
                <a:spLocks noChangeArrowheads="1"/>
              </p:cNvSpPr>
              <p:nvPr/>
            </p:nvSpPr>
            <p:spPr bwMode="auto">
              <a:xfrm>
                <a:off x="2064" y="1933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7" name="AutoShape 243"/>
              <p:cNvSpPr>
                <a:spLocks noChangeArrowheads="1"/>
              </p:cNvSpPr>
              <p:nvPr/>
            </p:nvSpPr>
            <p:spPr bwMode="auto">
              <a:xfrm>
                <a:off x="2472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8" name="AutoShape 244"/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9" name="AutoShape 245"/>
              <p:cNvSpPr>
                <a:spLocks noChangeArrowheads="1"/>
              </p:cNvSpPr>
              <p:nvPr/>
            </p:nvSpPr>
            <p:spPr bwMode="auto">
              <a:xfrm>
                <a:off x="3334" y="293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0" name="AutoShape 246"/>
              <p:cNvSpPr>
                <a:spLocks noChangeArrowheads="1"/>
              </p:cNvSpPr>
              <p:nvPr/>
            </p:nvSpPr>
            <p:spPr bwMode="auto">
              <a:xfrm>
                <a:off x="2925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1" name="AutoShape 247"/>
              <p:cNvSpPr>
                <a:spLocks noChangeArrowheads="1"/>
              </p:cNvSpPr>
              <p:nvPr/>
            </p:nvSpPr>
            <p:spPr bwMode="auto">
              <a:xfrm>
                <a:off x="3334" y="216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2" name="AutoShape 248"/>
              <p:cNvSpPr>
                <a:spLocks noChangeArrowheads="1"/>
              </p:cNvSpPr>
              <p:nvPr/>
            </p:nvSpPr>
            <p:spPr bwMode="auto">
              <a:xfrm>
                <a:off x="3787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3" name="AutoShape 249"/>
              <p:cNvSpPr>
                <a:spLocks noChangeArrowheads="1"/>
              </p:cNvSpPr>
              <p:nvPr/>
            </p:nvSpPr>
            <p:spPr bwMode="auto">
              <a:xfrm>
                <a:off x="3787" y="265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4" name="AutoShape 250"/>
              <p:cNvSpPr>
                <a:spLocks noChangeArrowheads="1"/>
              </p:cNvSpPr>
              <p:nvPr/>
            </p:nvSpPr>
            <p:spPr bwMode="auto">
              <a:xfrm>
                <a:off x="4195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5" name="AutoShape 251"/>
              <p:cNvSpPr>
                <a:spLocks noChangeArrowheads="1"/>
              </p:cNvSpPr>
              <p:nvPr/>
            </p:nvSpPr>
            <p:spPr bwMode="auto">
              <a:xfrm>
                <a:off x="4195" y="315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6" name="AutoShape 252"/>
              <p:cNvSpPr>
                <a:spLocks noChangeArrowheads="1"/>
              </p:cNvSpPr>
              <p:nvPr/>
            </p:nvSpPr>
            <p:spPr bwMode="auto">
              <a:xfrm>
                <a:off x="4649" y="315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0488" name="Group 264"/>
            <p:cNvGrpSpPr/>
            <p:nvPr/>
          </p:nvGrpSpPr>
          <p:grpSpPr bwMode="auto">
            <a:xfrm>
              <a:off x="241" y="1942"/>
              <a:ext cx="1434" cy="907"/>
              <a:chOff x="241" y="1364"/>
              <a:chExt cx="1434" cy="907"/>
            </a:xfrm>
          </p:grpSpPr>
          <p:sp>
            <p:nvSpPr>
              <p:cNvPr id="180489" name="Rectangle 265"/>
              <p:cNvSpPr>
                <a:spLocks noChangeArrowheads="1"/>
              </p:cNvSpPr>
              <p:nvPr/>
            </p:nvSpPr>
            <p:spPr bwMode="auto">
              <a:xfrm>
                <a:off x="241" y="1748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质蕴</a:t>
                </a:r>
                <a:endParaRPr kumimoji="0" lang="en-US" altLang="zh-CN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涵项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0490" name="Rectangle 266"/>
              <p:cNvSpPr>
                <a:spLocks noChangeArrowheads="1"/>
              </p:cNvSpPr>
              <p:nvPr/>
            </p:nvSpPr>
            <p:spPr bwMode="auto">
              <a:xfrm>
                <a:off x="923" y="136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最小项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180492" name="Line 268"/>
          <p:cNvSpPr>
            <a:spLocks noChangeShapeType="1"/>
          </p:cNvSpPr>
          <p:nvPr/>
        </p:nvSpPr>
        <p:spPr bwMode="auto">
          <a:xfrm>
            <a:off x="6096000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93" name="Line 269"/>
          <p:cNvSpPr>
            <a:spLocks noChangeShapeType="1"/>
          </p:cNvSpPr>
          <p:nvPr/>
        </p:nvSpPr>
        <p:spPr bwMode="auto">
          <a:xfrm flipH="1">
            <a:off x="7620000" y="48768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94" name="Line 270"/>
          <p:cNvSpPr>
            <a:spLocks noChangeShapeType="1"/>
          </p:cNvSpPr>
          <p:nvPr/>
        </p:nvSpPr>
        <p:spPr bwMode="auto">
          <a:xfrm flipH="1">
            <a:off x="4800600" y="4191000"/>
            <a:ext cx="3733800" cy="2209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80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80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8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8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8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8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8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8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8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53" grpId="0" autoUpdateAnimBg="0"/>
      <p:bldP spid="180478" grpId="0" animBg="1"/>
      <p:bldP spid="180479" grpId="0" animBg="1"/>
      <p:bldP spid="180481" grpId="0" animBg="1"/>
      <p:bldP spid="180482" grpId="0" animBg="1"/>
      <p:bldP spid="180484" grpId="0" animBg="1"/>
      <p:bldP spid="180485" grpId="0" animBg="1"/>
      <p:bldP spid="180492" grpId="0" animBg="1"/>
      <p:bldP spid="180493" grpId="0" animBg="1"/>
      <p:bldP spid="18049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7E984-9D1A-4855-9B3E-4C984E0184F9}" type="slidenum">
              <a:rPr lang="en-US" altLang="zh-CN"/>
            </a:fld>
            <a:endParaRPr lang="en-US" altLang="zh-CN"/>
          </a:p>
        </p:txBody>
      </p:sp>
      <p:sp>
        <p:nvSpPr>
          <p:cNvPr id="316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143000"/>
            <a:ext cx="8610600" cy="4572000"/>
          </a:xfrm>
        </p:spPr>
        <p:txBody>
          <a:bodyPr/>
          <a:lstStyle/>
          <a:p>
            <a:r>
              <a:rPr lang="zh-CN" altLang="en-US"/>
              <a:t>观察一下剩余</a:t>
            </a:r>
            <a:r>
              <a:rPr lang="en-US" altLang="zh-CN"/>
              <a:t>P</a:t>
            </a:r>
            <a:r>
              <a:rPr lang="zh-CN" altLang="en-US"/>
              <a:t>项和卡诺图的关系</a:t>
            </a:r>
            <a:endParaRPr lang="zh-CN" altLang="en-US"/>
          </a:p>
        </p:txBody>
      </p:sp>
      <p:grpSp>
        <p:nvGrpSpPr>
          <p:cNvPr id="316420" name="Group 4"/>
          <p:cNvGrpSpPr/>
          <p:nvPr/>
        </p:nvGrpSpPr>
        <p:grpSpPr bwMode="auto">
          <a:xfrm>
            <a:off x="4814888" y="2363788"/>
            <a:ext cx="4032250" cy="3887787"/>
            <a:chOff x="1429" y="1389"/>
            <a:chExt cx="2540" cy="2449"/>
          </a:xfrm>
        </p:grpSpPr>
        <p:sp>
          <p:nvSpPr>
            <p:cNvPr id="316421" name="Rectangle 5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2" name="Rectangle 6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3" name="Rectangle 7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4" name="Rectangle 8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5" name="Rectangle 9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6" name="Rectangle 10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7" name="Rectangle 11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8" name="Rectangle 12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29" name="Rectangle 13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0" name="Rectangle 14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1" name="Rectangle 15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2" name="Rectangle 16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3" name="Rectangle 17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4" name="Rectangle 18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5" name="Rectangle 19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6" name="Rectangle 20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zh-CN" altLang="zh-CN" sz="2800"/>
            </a:p>
          </p:txBody>
        </p:sp>
        <p:sp>
          <p:nvSpPr>
            <p:cNvPr id="316437" name="Line 21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38" name="Line 22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39" name="Line 23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0" name="Line 24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1" name="Line 25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2" name="Line 26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3" name="Line 27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4" name="Line 28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5" name="Line 29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6" name="Line 30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7" name="Line 31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6448" name="Group 32"/>
          <p:cNvGrpSpPr/>
          <p:nvPr/>
        </p:nvGrpSpPr>
        <p:grpSpPr bwMode="auto">
          <a:xfrm>
            <a:off x="4886325" y="2363788"/>
            <a:ext cx="3887788" cy="3671887"/>
            <a:chOff x="885" y="1571"/>
            <a:chExt cx="2449" cy="2313"/>
          </a:xfrm>
        </p:grpSpPr>
        <p:grpSp>
          <p:nvGrpSpPr>
            <p:cNvPr id="316449" name="Group 33"/>
            <p:cNvGrpSpPr/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6450" name="Text Box 34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1" name="Text Box 35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2" name="Text Box 36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3" name="Text Box 37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6454" name="Group 38"/>
            <p:cNvGrpSpPr/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6455" name="Text Box 39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6" name="Text Box 40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7" name="Text Box 41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01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  <p:sp>
            <p:nvSpPr>
              <p:cNvPr id="316458" name="Text Box 42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>
                    <a:latin typeface="Tahoma" panose="020B0604030504040204" pitchFamily="34" charset="0"/>
                  </a:rPr>
                  <a:t>10</a:t>
                </a:r>
                <a:endParaRPr kumimoji="0" lang="en-US" altLang="zh-CN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16459" name="Group 43"/>
          <p:cNvGrpSpPr/>
          <p:nvPr/>
        </p:nvGrpSpPr>
        <p:grpSpPr bwMode="auto">
          <a:xfrm>
            <a:off x="5638800" y="3057525"/>
            <a:ext cx="3070225" cy="2978150"/>
            <a:chOff x="2019" y="2099"/>
            <a:chExt cx="1934" cy="1876"/>
          </a:xfrm>
        </p:grpSpPr>
        <p:sp>
          <p:nvSpPr>
            <p:cNvPr id="316460" name="Rectangle 44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1" name="Rectangle 45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2" name="Rectangle 46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3" name="Rectangle 47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4" name="Rectangle 48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5" name="Rectangle 49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6" name="Rectangle 50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7" name="Rectangle 51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8" name="Rectangle 52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69" name="Rectangle 53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70" name="Rectangle 54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71" name="Rectangle 55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72" name="Rectangle 56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endParaRPr kumimoji="0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endParaRPr>
            </a:p>
          </p:txBody>
        </p:sp>
        <p:sp>
          <p:nvSpPr>
            <p:cNvPr id="316473" name="Rectangle 57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74" name="Rectangle 58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0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6475" name="Rectangle 59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</a:rPr>
                <a:t>1</a:t>
              </a:r>
              <a:r>
                <a:rPr kumimoji="0" lang="en-US" altLang="zh-CN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n-US" altLang="zh-CN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6476" name="Group 60"/>
          <p:cNvGrpSpPr/>
          <p:nvPr/>
        </p:nvGrpSpPr>
        <p:grpSpPr bwMode="auto">
          <a:xfrm>
            <a:off x="4670425" y="1976438"/>
            <a:ext cx="865188" cy="1177925"/>
            <a:chOff x="1337" y="1162"/>
            <a:chExt cx="545" cy="742"/>
          </a:xfrm>
        </p:grpSpPr>
        <p:sp>
          <p:nvSpPr>
            <p:cNvPr id="316477" name="Text Box 61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B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6478" name="Text Box 62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A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6479" name="Text Box 63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D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16480" name="Text Box 64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C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6481" name="Group 65"/>
          <p:cNvGrpSpPr/>
          <p:nvPr/>
        </p:nvGrpSpPr>
        <p:grpSpPr bwMode="auto">
          <a:xfrm>
            <a:off x="8128000" y="3011488"/>
            <a:ext cx="576263" cy="1295400"/>
            <a:chOff x="3334" y="1979"/>
            <a:chExt cx="363" cy="816"/>
          </a:xfrm>
        </p:grpSpPr>
        <p:sp>
          <p:nvSpPr>
            <p:cNvPr id="316482" name="Rectangle 66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483" name="Text Box 67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6484" name="Group 68"/>
          <p:cNvGrpSpPr/>
          <p:nvPr/>
        </p:nvGrpSpPr>
        <p:grpSpPr bwMode="auto">
          <a:xfrm>
            <a:off x="8128000" y="2722563"/>
            <a:ext cx="792163" cy="3602037"/>
            <a:chOff x="3334" y="1797"/>
            <a:chExt cx="499" cy="2269"/>
          </a:xfrm>
        </p:grpSpPr>
        <p:grpSp>
          <p:nvGrpSpPr>
            <p:cNvPr id="316485" name="Group 69"/>
            <p:cNvGrpSpPr/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316486" name="Rectangle 70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487" name="Rectangle 71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6488" name="Text Box 72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P2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6489" name="Group 73"/>
          <p:cNvGrpSpPr/>
          <p:nvPr/>
        </p:nvGrpSpPr>
        <p:grpSpPr bwMode="auto">
          <a:xfrm>
            <a:off x="5319713" y="3803650"/>
            <a:ext cx="3671887" cy="574675"/>
            <a:chOff x="1565" y="2478"/>
            <a:chExt cx="2313" cy="362"/>
          </a:xfrm>
        </p:grpSpPr>
        <p:grpSp>
          <p:nvGrpSpPr>
            <p:cNvPr id="316490" name="Group 74"/>
            <p:cNvGrpSpPr/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6491" name="Rectangle 75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492" name="Rectangle 76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6493" name="Text Box 77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P3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6700" name="Group 284"/>
          <p:cNvGrpSpPr/>
          <p:nvPr/>
        </p:nvGrpSpPr>
        <p:grpSpPr bwMode="auto">
          <a:xfrm>
            <a:off x="5562600" y="3963988"/>
            <a:ext cx="647700" cy="608012"/>
            <a:chOff x="3504" y="2497"/>
            <a:chExt cx="408" cy="383"/>
          </a:xfrm>
        </p:grpSpPr>
        <p:sp>
          <p:nvSpPr>
            <p:cNvPr id="316495" name="Rectangle 79"/>
            <p:cNvSpPr>
              <a:spLocks noChangeArrowheads="1"/>
            </p:cNvSpPr>
            <p:nvPr/>
          </p:nvSpPr>
          <p:spPr bwMode="auto">
            <a:xfrm>
              <a:off x="3513" y="2497"/>
              <a:ext cx="318" cy="383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496" name="Text Box 80"/>
            <p:cNvSpPr txBox="1">
              <a:spLocks noChangeArrowheads="1"/>
            </p:cNvSpPr>
            <p:nvPr/>
          </p:nvSpPr>
          <p:spPr bwMode="auto">
            <a:xfrm>
              <a:off x="3504" y="2544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P4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16699" name="Group 283"/>
          <p:cNvGrpSpPr/>
          <p:nvPr/>
        </p:nvGrpSpPr>
        <p:grpSpPr bwMode="auto">
          <a:xfrm>
            <a:off x="8001000" y="5410200"/>
            <a:ext cx="936625" cy="719138"/>
            <a:chOff x="4176" y="3696"/>
            <a:chExt cx="590" cy="453"/>
          </a:xfrm>
        </p:grpSpPr>
        <p:sp>
          <p:nvSpPr>
            <p:cNvPr id="316505" name="Text Box 89"/>
            <p:cNvSpPr txBox="1">
              <a:spLocks noChangeArrowheads="1"/>
            </p:cNvSpPr>
            <p:nvPr/>
          </p:nvSpPr>
          <p:spPr bwMode="auto">
            <a:xfrm>
              <a:off x="4176" y="3744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>
                  <a:latin typeface="Tahoma" panose="020B0604030504040204" pitchFamily="34" charset="0"/>
                </a:rPr>
                <a:t>P5</a:t>
              </a:r>
              <a:endParaRPr kumimoji="0" lang="en-US" altLang="zh-CN" sz="2800">
                <a:latin typeface="Tahoma" panose="020B0604030504040204" pitchFamily="34" charset="0"/>
              </a:endParaRPr>
            </a:p>
          </p:txBody>
        </p:sp>
        <p:sp>
          <p:nvSpPr>
            <p:cNvPr id="316506" name="Rectangle 90"/>
            <p:cNvSpPr>
              <a:spLocks noChangeArrowheads="1"/>
            </p:cNvSpPr>
            <p:nvPr/>
          </p:nvSpPr>
          <p:spPr bwMode="auto">
            <a:xfrm>
              <a:off x="4176" y="3696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6640" name="Rectangle 224"/>
          <p:cNvSpPr>
            <a:spLocks noChangeArrowheads="1"/>
          </p:cNvSpPr>
          <p:nvPr/>
        </p:nvSpPr>
        <p:spPr bwMode="auto">
          <a:xfrm>
            <a:off x="381000" y="4583539"/>
            <a:ext cx="4623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删除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，对应于卡诺图是将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P6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P7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包含的最小项改为“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！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16642" name="Group 226"/>
          <p:cNvGrpSpPr/>
          <p:nvPr/>
        </p:nvGrpSpPr>
        <p:grpSpPr bwMode="auto">
          <a:xfrm>
            <a:off x="304800" y="1600200"/>
            <a:ext cx="4000500" cy="2971800"/>
            <a:chOff x="888" y="2352"/>
            <a:chExt cx="2520" cy="1872"/>
          </a:xfrm>
        </p:grpSpPr>
        <p:grpSp>
          <p:nvGrpSpPr>
            <p:cNvPr id="316643" name="Group 227"/>
            <p:cNvGrpSpPr/>
            <p:nvPr/>
          </p:nvGrpSpPr>
          <p:grpSpPr bwMode="auto">
            <a:xfrm>
              <a:off x="1322" y="2636"/>
              <a:ext cx="2085" cy="1546"/>
              <a:chOff x="567" y="1661"/>
              <a:chExt cx="2085" cy="1546"/>
            </a:xfrm>
          </p:grpSpPr>
          <p:sp>
            <p:nvSpPr>
              <p:cNvPr id="316644" name="Rectangle 228"/>
              <p:cNvSpPr>
                <a:spLocks noChangeArrowheads="1"/>
              </p:cNvSpPr>
              <p:nvPr/>
            </p:nvSpPr>
            <p:spPr bwMode="auto">
              <a:xfrm>
                <a:off x="581" y="191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45" name="Rectangle 229"/>
              <p:cNvSpPr>
                <a:spLocks noChangeArrowheads="1"/>
              </p:cNvSpPr>
              <p:nvPr/>
            </p:nvSpPr>
            <p:spPr bwMode="auto">
              <a:xfrm>
                <a:off x="567" y="2160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46" name="Rectangle 230"/>
              <p:cNvSpPr>
                <a:spLocks noChangeArrowheads="1"/>
              </p:cNvSpPr>
              <p:nvPr/>
            </p:nvSpPr>
            <p:spPr bwMode="auto">
              <a:xfrm>
                <a:off x="581" y="241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47" name="Rectangle 231"/>
              <p:cNvSpPr>
                <a:spLocks noChangeArrowheads="1"/>
              </p:cNvSpPr>
              <p:nvPr/>
            </p:nvSpPr>
            <p:spPr bwMode="auto">
              <a:xfrm>
                <a:off x="567" y="26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48" name="Rectangle 232"/>
              <p:cNvSpPr>
                <a:spLocks noChangeArrowheads="1"/>
              </p:cNvSpPr>
              <p:nvPr/>
            </p:nvSpPr>
            <p:spPr bwMode="auto">
              <a:xfrm>
                <a:off x="581" y="291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49" name="Rectangle 233"/>
              <p:cNvSpPr>
                <a:spLocks noChangeArrowheads="1"/>
              </p:cNvSpPr>
              <p:nvPr/>
            </p:nvSpPr>
            <p:spPr bwMode="auto">
              <a:xfrm>
                <a:off x="944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50" name="Rectangle 234"/>
              <p:cNvSpPr>
                <a:spLocks noChangeArrowheads="1"/>
              </p:cNvSpPr>
              <p:nvPr/>
            </p:nvSpPr>
            <p:spPr bwMode="auto">
              <a:xfrm>
                <a:off x="134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51" name="Rectangle 235"/>
              <p:cNvSpPr>
                <a:spLocks noChangeArrowheads="1"/>
              </p:cNvSpPr>
              <p:nvPr/>
            </p:nvSpPr>
            <p:spPr bwMode="auto">
              <a:xfrm>
                <a:off x="1795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316652" name="Rectangle 236"/>
              <p:cNvSpPr>
                <a:spLocks noChangeArrowheads="1"/>
              </p:cNvSpPr>
              <p:nvPr/>
            </p:nvSpPr>
            <p:spPr bwMode="auto">
              <a:xfrm>
                <a:off x="2245" y="1706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6653" name="Group 237"/>
            <p:cNvGrpSpPr/>
            <p:nvPr/>
          </p:nvGrpSpPr>
          <p:grpSpPr bwMode="auto">
            <a:xfrm>
              <a:off x="1775" y="3044"/>
              <a:ext cx="1452" cy="1134"/>
              <a:chOff x="1020" y="2069"/>
              <a:chExt cx="1452" cy="1134"/>
            </a:xfrm>
          </p:grpSpPr>
          <p:sp>
            <p:nvSpPr>
              <p:cNvPr id="316654" name="AutoShape 238"/>
              <p:cNvSpPr>
                <a:spLocks noChangeArrowheads="1"/>
              </p:cNvSpPr>
              <p:nvPr/>
            </p:nvSpPr>
            <p:spPr bwMode="auto">
              <a:xfrm>
                <a:off x="102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5" name="AutoShape 239"/>
              <p:cNvSpPr>
                <a:spLocks noChangeArrowheads="1"/>
              </p:cNvSpPr>
              <p:nvPr/>
            </p:nvSpPr>
            <p:spPr bwMode="auto">
              <a:xfrm>
                <a:off x="1020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6" name="AutoShape 240"/>
              <p:cNvSpPr>
                <a:spLocks noChangeArrowheads="1"/>
              </p:cNvSpPr>
              <p:nvPr/>
            </p:nvSpPr>
            <p:spPr bwMode="auto">
              <a:xfrm>
                <a:off x="1473" y="284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7" name="AutoShape 241"/>
              <p:cNvSpPr>
                <a:spLocks noChangeArrowheads="1"/>
              </p:cNvSpPr>
              <p:nvPr/>
            </p:nvSpPr>
            <p:spPr bwMode="auto">
              <a:xfrm>
                <a:off x="1473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8" name="AutoShape 242"/>
              <p:cNvSpPr>
                <a:spLocks noChangeArrowheads="1"/>
              </p:cNvSpPr>
              <p:nvPr/>
            </p:nvSpPr>
            <p:spPr bwMode="auto">
              <a:xfrm>
                <a:off x="1882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9" name="AutoShape 243"/>
              <p:cNvSpPr>
                <a:spLocks noChangeArrowheads="1"/>
              </p:cNvSpPr>
              <p:nvPr/>
            </p:nvSpPr>
            <p:spPr bwMode="auto">
              <a:xfrm>
                <a:off x="1882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60" name="AutoShape 244"/>
              <p:cNvSpPr>
                <a:spLocks noChangeArrowheads="1"/>
              </p:cNvSpPr>
              <p:nvPr/>
            </p:nvSpPr>
            <p:spPr bwMode="auto">
              <a:xfrm>
                <a:off x="2336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61" name="AutoShape 245"/>
              <p:cNvSpPr>
                <a:spLocks noChangeArrowheads="1"/>
              </p:cNvSpPr>
              <p:nvPr/>
            </p:nvSpPr>
            <p:spPr bwMode="auto">
              <a:xfrm>
                <a:off x="2336" y="3067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6662" name="Group 246"/>
            <p:cNvGrpSpPr/>
            <p:nvPr/>
          </p:nvGrpSpPr>
          <p:grpSpPr bwMode="auto">
            <a:xfrm>
              <a:off x="1322" y="2591"/>
              <a:ext cx="2086" cy="1633"/>
              <a:chOff x="567" y="1616"/>
              <a:chExt cx="2086" cy="1633"/>
            </a:xfrm>
          </p:grpSpPr>
          <p:sp>
            <p:nvSpPr>
              <p:cNvPr id="316663" name="Rectangle 247"/>
              <p:cNvSpPr>
                <a:spLocks noChangeArrowheads="1"/>
              </p:cNvSpPr>
              <p:nvPr/>
            </p:nvSpPr>
            <p:spPr bwMode="auto">
              <a:xfrm>
                <a:off x="2211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4" name="Rectangle 248"/>
              <p:cNvSpPr>
                <a:spLocks noChangeArrowheads="1"/>
              </p:cNvSpPr>
              <p:nvPr/>
            </p:nvSpPr>
            <p:spPr bwMode="auto">
              <a:xfrm>
                <a:off x="1769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5" name="Rectangle 249"/>
              <p:cNvSpPr>
                <a:spLocks noChangeArrowheads="1"/>
              </p:cNvSpPr>
              <p:nvPr/>
            </p:nvSpPr>
            <p:spPr bwMode="auto">
              <a:xfrm>
                <a:off x="1326" y="2995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6" name="Rectangle 250"/>
              <p:cNvSpPr>
                <a:spLocks noChangeArrowheads="1"/>
              </p:cNvSpPr>
              <p:nvPr/>
            </p:nvSpPr>
            <p:spPr bwMode="auto">
              <a:xfrm>
                <a:off x="884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7" name="Rectangle 251"/>
              <p:cNvSpPr>
                <a:spLocks noChangeArrowheads="1"/>
              </p:cNvSpPr>
              <p:nvPr/>
            </p:nvSpPr>
            <p:spPr bwMode="auto">
              <a:xfrm>
                <a:off x="2211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8" name="Rectangle 252"/>
              <p:cNvSpPr>
                <a:spLocks noChangeArrowheads="1"/>
              </p:cNvSpPr>
              <p:nvPr/>
            </p:nvSpPr>
            <p:spPr bwMode="auto">
              <a:xfrm>
                <a:off x="1769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9" name="Rectangle 253"/>
              <p:cNvSpPr>
                <a:spLocks noChangeArrowheads="1"/>
              </p:cNvSpPr>
              <p:nvPr/>
            </p:nvSpPr>
            <p:spPr bwMode="auto">
              <a:xfrm>
                <a:off x="1326" y="2741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0" name="Rectangle 254"/>
              <p:cNvSpPr>
                <a:spLocks noChangeArrowheads="1"/>
              </p:cNvSpPr>
              <p:nvPr/>
            </p:nvSpPr>
            <p:spPr bwMode="auto">
              <a:xfrm>
                <a:off x="884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1" name="Rectangle 255"/>
              <p:cNvSpPr>
                <a:spLocks noChangeArrowheads="1"/>
              </p:cNvSpPr>
              <p:nvPr/>
            </p:nvSpPr>
            <p:spPr bwMode="auto">
              <a:xfrm>
                <a:off x="2211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2" name="Rectangle 256"/>
              <p:cNvSpPr>
                <a:spLocks noChangeArrowheads="1"/>
              </p:cNvSpPr>
              <p:nvPr/>
            </p:nvSpPr>
            <p:spPr bwMode="auto">
              <a:xfrm>
                <a:off x="1769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3" name="Rectangle 257"/>
              <p:cNvSpPr>
                <a:spLocks noChangeArrowheads="1"/>
              </p:cNvSpPr>
              <p:nvPr/>
            </p:nvSpPr>
            <p:spPr bwMode="auto">
              <a:xfrm>
                <a:off x="1326" y="2487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4" name="Rectangle 258"/>
              <p:cNvSpPr>
                <a:spLocks noChangeArrowheads="1"/>
              </p:cNvSpPr>
              <p:nvPr/>
            </p:nvSpPr>
            <p:spPr bwMode="auto">
              <a:xfrm>
                <a:off x="884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5" name="Rectangle 259"/>
              <p:cNvSpPr>
                <a:spLocks noChangeArrowheads="1"/>
              </p:cNvSpPr>
              <p:nvPr/>
            </p:nvSpPr>
            <p:spPr bwMode="auto">
              <a:xfrm>
                <a:off x="2211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6" name="Rectangle 260"/>
              <p:cNvSpPr>
                <a:spLocks noChangeArrowheads="1"/>
              </p:cNvSpPr>
              <p:nvPr/>
            </p:nvSpPr>
            <p:spPr bwMode="auto">
              <a:xfrm>
                <a:off x="1769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7" name="Rectangle 261"/>
              <p:cNvSpPr>
                <a:spLocks noChangeArrowheads="1"/>
              </p:cNvSpPr>
              <p:nvPr/>
            </p:nvSpPr>
            <p:spPr bwMode="auto">
              <a:xfrm>
                <a:off x="1326" y="2233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8" name="Rectangle 262"/>
              <p:cNvSpPr>
                <a:spLocks noChangeArrowheads="1"/>
              </p:cNvSpPr>
              <p:nvPr/>
            </p:nvSpPr>
            <p:spPr bwMode="auto">
              <a:xfrm>
                <a:off x="884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9" name="Rectangle 263"/>
              <p:cNvSpPr>
                <a:spLocks noChangeArrowheads="1"/>
              </p:cNvSpPr>
              <p:nvPr/>
            </p:nvSpPr>
            <p:spPr bwMode="auto">
              <a:xfrm>
                <a:off x="2211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0" name="Rectangle 264"/>
              <p:cNvSpPr>
                <a:spLocks noChangeArrowheads="1"/>
              </p:cNvSpPr>
              <p:nvPr/>
            </p:nvSpPr>
            <p:spPr bwMode="auto">
              <a:xfrm>
                <a:off x="1769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1" name="Rectangle 265"/>
              <p:cNvSpPr>
                <a:spLocks noChangeArrowheads="1"/>
              </p:cNvSpPr>
              <p:nvPr/>
            </p:nvSpPr>
            <p:spPr bwMode="auto">
              <a:xfrm>
                <a:off x="1326" y="1979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2" name="Rectangle 266"/>
              <p:cNvSpPr>
                <a:spLocks noChangeArrowheads="1"/>
              </p:cNvSpPr>
              <p:nvPr/>
            </p:nvSpPr>
            <p:spPr bwMode="auto">
              <a:xfrm>
                <a:off x="884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3" name="Line 267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4" name="Line 268"/>
              <p:cNvSpPr>
                <a:spLocks noChangeShapeType="1"/>
              </p:cNvSpPr>
              <p:nvPr/>
            </p:nvSpPr>
            <p:spPr bwMode="auto">
              <a:xfrm>
                <a:off x="884" y="2233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5" name="Line 269"/>
              <p:cNvSpPr>
                <a:spLocks noChangeShapeType="1"/>
              </p:cNvSpPr>
              <p:nvPr/>
            </p:nvSpPr>
            <p:spPr bwMode="auto">
              <a:xfrm>
                <a:off x="884" y="2487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6" name="Line 270"/>
              <p:cNvSpPr>
                <a:spLocks noChangeShapeType="1"/>
              </p:cNvSpPr>
              <p:nvPr/>
            </p:nvSpPr>
            <p:spPr bwMode="auto">
              <a:xfrm>
                <a:off x="884" y="2741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7" name="Line 271"/>
              <p:cNvSpPr>
                <a:spLocks noChangeShapeType="1"/>
              </p:cNvSpPr>
              <p:nvPr/>
            </p:nvSpPr>
            <p:spPr bwMode="auto">
              <a:xfrm>
                <a:off x="884" y="2995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8" name="Line 272"/>
              <p:cNvSpPr>
                <a:spLocks noChangeShapeType="1"/>
              </p:cNvSpPr>
              <p:nvPr/>
            </p:nvSpPr>
            <p:spPr bwMode="auto">
              <a:xfrm>
                <a:off x="884" y="324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9" name="Line 273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0" name="Line 274"/>
              <p:cNvSpPr>
                <a:spLocks noChangeShapeType="1"/>
              </p:cNvSpPr>
              <p:nvPr/>
            </p:nvSpPr>
            <p:spPr bwMode="auto">
              <a:xfrm>
                <a:off x="1326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1" name="Line 275"/>
              <p:cNvSpPr>
                <a:spLocks noChangeShapeType="1"/>
              </p:cNvSpPr>
              <p:nvPr/>
            </p:nvSpPr>
            <p:spPr bwMode="auto">
              <a:xfrm>
                <a:off x="1769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2" name="Line 276"/>
              <p:cNvSpPr>
                <a:spLocks noChangeShapeType="1"/>
              </p:cNvSpPr>
              <p:nvPr/>
            </p:nvSpPr>
            <p:spPr bwMode="auto">
              <a:xfrm>
                <a:off x="2211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3" name="Line 277"/>
              <p:cNvSpPr>
                <a:spLocks noChangeShapeType="1"/>
              </p:cNvSpPr>
              <p:nvPr/>
            </p:nvSpPr>
            <p:spPr bwMode="auto">
              <a:xfrm>
                <a:off x="2653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4" name="Line 278"/>
              <p:cNvSpPr>
                <a:spLocks noChangeShapeType="1"/>
              </p:cNvSpPr>
              <p:nvPr/>
            </p:nvSpPr>
            <p:spPr bwMode="auto">
              <a:xfrm flipH="1" flipV="1">
                <a:off x="56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6695" name="Group 279"/>
            <p:cNvGrpSpPr/>
            <p:nvPr/>
          </p:nvGrpSpPr>
          <p:grpSpPr bwMode="auto">
            <a:xfrm>
              <a:off x="888" y="2409"/>
              <a:ext cx="1276" cy="632"/>
              <a:chOff x="133" y="1434"/>
              <a:chExt cx="1276" cy="632"/>
            </a:xfrm>
          </p:grpSpPr>
          <p:sp>
            <p:nvSpPr>
              <p:cNvPr id="316696" name="Rectangle 280"/>
              <p:cNvSpPr>
                <a:spLocks noChangeArrowheads="1"/>
              </p:cNvSpPr>
              <p:nvPr/>
            </p:nvSpPr>
            <p:spPr bwMode="auto">
              <a:xfrm>
                <a:off x="133" y="1543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质蕴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涵项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16697" name="Rectangle 281"/>
              <p:cNvSpPr>
                <a:spLocks noChangeArrowheads="1"/>
              </p:cNvSpPr>
              <p:nvPr/>
            </p:nvSpPr>
            <p:spPr bwMode="auto">
              <a:xfrm>
                <a:off x="657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最小项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316698" name="Text Box 282"/>
            <p:cNvSpPr txBox="1">
              <a:spLocks noChangeArrowheads="1"/>
            </p:cNvSpPr>
            <p:nvPr/>
          </p:nvSpPr>
          <p:spPr bwMode="auto">
            <a:xfrm>
              <a:off x="2256" y="2352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zh-CN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16701" name="Rectangle 285"/>
          <p:cNvSpPr>
            <a:spLocks noChangeArrowheads="1"/>
          </p:cNvSpPr>
          <p:nvPr/>
        </p:nvSpPr>
        <p:spPr bwMode="auto">
          <a:xfrm>
            <a:off x="380999" y="5435511"/>
            <a:ext cx="51546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观察卡诺图，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P4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P5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是冗余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项，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对应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于表中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P4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行只有一个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P5</a:t>
            </a:r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只有一个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P5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行可以删除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640" grpId="0" autoUpdateAnimBg="0"/>
      <p:bldP spid="316701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E60BA-F0F9-4569-A97C-B7B49ED896D6}" type="slidenum">
              <a:rPr lang="en-US" altLang="zh-CN"/>
            </a:fld>
            <a:endParaRPr lang="en-US" altLang="zh-CN"/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228600" y="295741"/>
            <a:ext cx="8839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）进行“行消去”：检查所有的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对应的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，若在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对应的行中只有一个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再检查该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△所对应的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列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还有其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它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的△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，则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项为非必要质蕴涵项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F(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因为其它的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中已经包含了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消去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对应的行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83358" name="Group 62"/>
          <p:cNvGrpSpPr/>
          <p:nvPr/>
        </p:nvGrpSpPr>
        <p:grpSpPr bwMode="auto">
          <a:xfrm>
            <a:off x="457200" y="3429000"/>
            <a:ext cx="4000500" cy="2971800"/>
            <a:chOff x="888" y="2352"/>
            <a:chExt cx="2520" cy="1872"/>
          </a:xfrm>
        </p:grpSpPr>
        <p:grpSp>
          <p:nvGrpSpPr>
            <p:cNvPr id="183302" name="Group 6"/>
            <p:cNvGrpSpPr/>
            <p:nvPr/>
          </p:nvGrpSpPr>
          <p:grpSpPr bwMode="auto">
            <a:xfrm>
              <a:off x="1322" y="2636"/>
              <a:ext cx="2085" cy="1546"/>
              <a:chOff x="567" y="1661"/>
              <a:chExt cx="2085" cy="1546"/>
            </a:xfrm>
          </p:grpSpPr>
          <p:sp>
            <p:nvSpPr>
              <p:cNvPr id="183303" name="Rectangle 7"/>
              <p:cNvSpPr>
                <a:spLocks noChangeArrowheads="1"/>
              </p:cNvSpPr>
              <p:nvPr/>
            </p:nvSpPr>
            <p:spPr bwMode="auto">
              <a:xfrm>
                <a:off x="567" y="191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4" name="Rectangle 8"/>
              <p:cNvSpPr>
                <a:spLocks noChangeArrowheads="1"/>
              </p:cNvSpPr>
              <p:nvPr/>
            </p:nvSpPr>
            <p:spPr bwMode="auto">
              <a:xfrm>
                <a:off x="567" y="2160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5" name="Rectangle 9"/>
              <p:cNvSpPr>
                <a:spLocks noChangeArrowheads="1"/>
              </p:cNvSpPr>
              <p:nvPr/>
            </p:nvSpPr>
            <p:spPr bwMode="auto">
              <a:xfrm>
                <a:off x="567" y="241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3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6" name="Rectangle 10"/>
              <p:cNvSpPr>
                <a:spLocks noChangeArrowheads="1"/>
              </p:cNvSpPr>
              <p:nvPr/>
            </p:nvSpPr>
            <p:spPr bwMode="auto">
              <a:xfrm>
                <a:off x="567" y="26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7" name="Rectangle 11"/>
              <p:cNvSpPr>
                <a:spLocks noChangeArrowheads="1"/>
              </p:cNvSpPr>
              <p:nvPr/>
            </p:nvSpPr>
            <p:spPr bwMode="auto">
              <a:xfrm>
                <a:off x="567" y="291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P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5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8" name="Rectangle 12"/>
              <p:cNvSpPr>
                <a:spLocks noChangeArrowheads="1"/>
              </p:cNvSpPr>
              <p:nvPr/>
            </p:nvSpPr>
            <p:spPr bwMode="auto">
              <a:xfrm>
                <a:off x="944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09" name="Rectangle 13"/>
              <p:cNvSpPr>
                <a:spLocks noChangeArrowheads="1"/>
              </p:cNvSpPr>
              <p:nvPr/>
            </p:nvSpPr>
            <p:spPr bwMode="auto">
              <a:xfrm>
                <a:off x="134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10" name="Rectangle 14"/>
              <p:cNvSpPr>
                <a:spLocks noChangeArrowheads="1"/>
              </p:cNvSpPr>
              <p:nvPr/>
            </p:nvSpPr>
            <p:spPr bwMode="auto">
              <a:xfrm>
                <a:off x="1795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311" name="Rectangle 15"/>
              <p:cNvSpPr>
                <a:spLocks noChangeArrowheads="1"/>
              </p:cNvSpPr>
              <p:nvPr/>
            </p:nvSpPr>
            <p:spPr bwMode="auto">
              <a:xfrm>
                <a:off x="2245" y="1661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3312" name="Group 16"/>
            <p:cNvGrpSpPr/>
            <p:nvPr/>
          </p:nvGrpSpPr>
          <p:grpSpPr bwMode="auto">
            <a:xfrm>
              <a:off x="1775" y="3044"/>
              <a:ext cx="1452" cy="1134"/>
              <a:chOff x="1020" y="2069"/>
              <a:chExt cx="1452" cy="1134"/>
            </a:xfrm>
          </p:grpSpPr>
          <p:sp>
            <p:nvSpPr>
              <p:cNvPr id="183313" name="AutoShape 17"/>
              <p:cNvSpPr>
                <a:spLocks noChangeArrowheads="1"/>
              </p:cNvSpPr>
              <p:nvPr/>
            </p:nvSpPr>
            <p:spPr bwMode="auto">
              <a:xfrm>
                <a:off x="102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4" name="AutoShape 18"/>
              <p:cNvSpPr>
                <a:spLocks noChangeArrowheads="1"/>
              </p:cNvSpPr>
              <p:nvPr/>
            </p:nvSpPr>
            <p:spPr bwMode="auto">
              <a:xfrm>
                <a:off x="1020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5" name="AutoShape 19"/>
              <p:cNvSpPr>
                <a:spLocks noChangeArrowheads="1"/>
              </p:cNvSpPr>
              <p:nvPr/>
            </p:nvSpPr>
            <p:spPr bwMode="auto">
              <a:xfrm>
                <a:off x="1473" y="284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6" name="AutoShape 20"/>
              <p:cNvSpPr>
                <a:spLocks noChangeArrowheads="1"/>
              </p:cNvSpPr>
              <p:nvPr/>
            </p:nvSpPr>
            <p:spPr bwMode="auto">
              <a:xfrm>
                <a:off x="1473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7" name="AutoShape 21"/>
              <p:cNvSpPr>
                <a:spLocks noChangeArrowheads="1"/>
              </p:cNvSpPr>
              <p:nvPr/>
            </p:nvSpPr>
            <p:spPr bwMode="auto">
              <a:xfrm>
                <a:off x="1882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8" name="AutoShape 22"/>
              <p:cNvSpPr>
                <a:spLocks noChangeArrowheads="1"/>
              </p:cNvSpPr>
              <p:nvPr/>
            </p:nvSpPr>
            <p:spPr bwMode="auto">
              <a:xfrm>
                <a:off x="1882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9" name="AutoShape 23"/>
              <p:cNvSpPr>
                <a:spLocks noChangeArrowheads="1"/>
              </p:cNvSpPr>
              <p:nvPr/>
            </p:nvSpPr>
            <p:spPr bwMode="auto">
              <a:xfrm>
                <a:off x="2336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20" name="AutoShape 24"/>
              <p:cNvSpPr>
                <a:spLocks noChangeArrowheads="1"/>
              </p:cNvSpPr>
              <p:nvPr/>
            </p:nvSpPr>
            <p:spPr bwMode="auto">
              <a:xfrm>
                <a:off x="2336" y="3067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3321" name="Group 25"/>
            <p:cNvGrpSpPr/>
            <p:nvPr/>
          </p:nvGrpSpPr>
          <p:grpSpPr bwMode="auto">
            <a:xfrm>
              <a:off x="1322" y="2591"/>
              <a:ext cx="2086" cy="1633"/>
              <a:chOff x="567" y="1616"/>
              <a:chExt cx="2086" cy="1633"/>
            </a:xfrm>
          </p:grpSpPr>
          <p:sp>
            <p:nvSpPr>
              <p:cNvPr id="183322" name="Rectangle 26"/>
              <p:cNvSpPr>
                <a:spLocks noChangeArrowheads="1"/>
              </p:cNvSpPr>
              <p:nvPr/>
            </p:nvSpPr>
            <p:spPr bwMode="auto">
              <a:xfrm>
                <a:off x="2211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3" name="Rectangle 27"/>
              <p:cNvSpPr>
                <a:spLocks noChangeArrowheads="1"/>
              </p:cNvSpPr>
              <p:nvPr/>
            </p:nvSpPr>
            <p:spPr bwMode="auto">
              <a:xfrm>
                <a:off x="1769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4" name="Rectangle 28"/>
              <p:cNvSpPr>
                <a:spLocks noChangeArrowheads="1"/>
              </p:cNvSpPr>
              <p:nvPr/>
            </p:nvSpPr>
            <p:spPr bwMode="auto">
              <a:xfrm>
                <a:off x="1326" y="2995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5" name="Rectangle 29"/>
              <p:cNvSpPr>
                <a:spLocks noChangeArrowheads="1"/>
              </p:cNvSpPr>
              <p:nvPr/>
            </p:nvSpPr>
            <p:spPr bwMode="auto">
              <a:xfrm>
                <a:off x="884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6" name="Rectangle 30"/>
              <p:cNvSpPr>
                <a:spLocks noChangeArrowheads="1"/>
              </p:cNvSpPr>
              <p:nvPr/>
            </p:nvSpPr>
            <p:spPr bwMode="auto">
              <a:xfrm>
                <a:off x="2211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7" name="Rectangle 31"/>
              <p:cNvSpPr>
                <a:spLocks noChangeArrowheads="1"/>
              </p:cNvSpPr>
              <p:nvPr/>
            </p:nvSpPr>
            <p:spPr bwMode="auto">
              <a:xfrm>
                <a:off x="1769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8" name="Rectangle 32"/>
              <p:cNvSpPr>
                <a:spLocks noChangeArrowheads="1"/>
              </p:cNvSpPr>
              <p:nvPr/>
            </p:nvSpPr>
            <p:spPr bwMode="auto">
              <a:xfrm>
                <a:off x="1326" y="2741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9" name="Rectangle 33"/>
              <p:cNvSpPr>
                <a:spLocks noChangeArrowheads="1"/>
              </p:cNvSpPr>
              <p:nvPr/>
            </p:nvSpPr>
            <p:spPr bwMode="auto">
              <a:xfrm>
                <a:off x="884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0" name="Rectangle 34"/>
              <p:cNvSpPr>
                <a:spLocks noChangeArrowheads="1"/>
              </p:cNvSpPr>
              <p:nvPr/>
            </p:nvSpPr>
            <p:spPr bwMode="auto">
              <a:xfrm>
                <a:off x="2211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1" name="Rectangle 35"/>
              <p:cNvSpPr>
                <a:spLocks noChangeArrowheads="1"/>
              </p:cNvSpPr>
              <p:nvPr/>
            </p:nvSpPr>
            <p:spPr bwMode="auto">
              <a:xfrm>
                <a:off x="1769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2" name="Rectangle 36"/>
              <p:cNvSpPr>
                <a:spLocks noChangeArrowheads="1"/>
              </p:cNvSpPr>
              <p:nvPr/>
            </p:nvSpPr>
            <p:spPr bwMode="auto">
              <a:xfrm>
                <a:off x="1326" y="2487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3" name="Rectangle 37"/>
              <p:cNvSpPr>
                <a:spLocks noChangeArrowheads="1"/>
              </p:cNvSpPr>
              <p:nvPr/>
            </p:nvSpPr>
            <p:spPr bwMode="auto">
              <a:xfrm>
                <a:off x="884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4" name="Rectangle 38"/>
              <p:cNvSpPr>
                <a:spLocks noChangeArrowheads="1"/>
              </p:cNvSpPr>
              <p:nvPr/>
            </p:nvSpPr>
            <p:spPr bwMode="auto">
              <a:xfrm>
                <a:off x="2211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5" name="Rectangle 39"/>
              <p:cNvSpPr>
                <a:spLocks noChangeArrowheads="1"/>
              </p:cNvSpPr>
              <p:nvPr/>
            </p:nvSpPr>
            <p:spPr bwMode="auto">
              <a:xfrm>
                <a:off x="1769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6" name="Rectangle 40"/>
              <p:cNvSpPr>
                <a:spLocks noChangeArrowheads="1"/>
              </p:cNvSpPr>
              <p:nvPr/>
            </p:nvSpPr>
            <p:spPr bwMode="auto">
              <a:xfrm>
                <a:off x="1326" y="2233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7" name="Rectangle 41"/>
              <p:cNvSpPr>
                <a:spLocks noChangeArrowheads="1"/>
              </p:cNvSpPr>
              <p:nvPr/>
            </p:nvSpPr>
            <p:spPr bwMode="auto">
              <a:xfrm>
                <a:off x="884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8" name="Rectangle 42"/>
              <p:cNvSpPr>
                <a:spLocks noChangeArrowheads="1"/>
              </p:cNvSpPr>
              <p:nvPr/>
            </p:nvSpPr>
            <p:spPr bwMode="auto">
              <a:xfrm>
                <a:off x="2211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9" name="Rectangle 43"/>
              <p:cNvSpPr>
                <a:spLocks noChangeArrowheads="1"/>
              </p:cNvSpPr>
              <p:nvPr/>
            </p:nvSpPr>
            <p:spPr bwMode="auto">
              <a:xfrm>
                <a:off x="1769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0" name="Rectangle 44"/>
              <p:cNvSpPr>
                <a:spLocks noChangeArrowheads="1"/>
              </p:cNvSpPr>
              <p:nvPr/>
            </p:nvSpPr>
            <p:spPr bwMode="auto">
              <a:xfrm>
                <a:off x="1326" y="1979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1" name="Rectangle 45"/>
              <p:cNvSpPr>
                <a:spLocks noChangeArrowheads="1"/>
              </p:cNvSpPr>
              <p:nvPr/>
            </p:nvSpPr>
            <p:spPr bwMode="auto">
              <a:xfrm>
                <a:off x="884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2" name="Line 46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3" name="Line 47"/>
              <p:cNvSpPr>
                <a:spLocks noChangeShapeType="1"/>
              </p:cNvSpPr>
              <p:nvPr/>
            </p:nvSpPr>
            <p:spPr bwMode="auto">
              <a:xfrm>
                <a:off x="884" y="2233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4" name="Line 48"/>
              <p:cNvSpPr>
                <a:spLocks noChangeShapeType="1"/>
              </p:cNvSpPr>
              <p:nvPr/>
            </p:nvSpPr>
            <p:spPr bwMode="auto">
              <a:xfrm>
                <a:off x="884" y="2487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5" name="Line 49"/>
              <p:cNvSpPr>
                <a:spLocks noChangeShapeType="1"/>
              </p:cNvSpPr>
              <p:nvPr/>
            </p:nvSpPr>
            <p:spPr bwMode="auto">
              <a:xfrm>
                <a:off x="884" y="2741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6" name="Line 50"/>
              <p:cNvSpPr>
                <a:spLocks noChangeShapeType="1"/>
              </p:cNvSpPr>
              <p:nvPr/>
            </p:nvSpPr>
            <p:spPr bwMode="auto">
              <a:xfrm>
                <a:off x="884" y="2995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7" name="Line 51"/>
              <p:cNvSpPr>
                <a:spLocks noChangeShapeType="1"/>
              </p:cNvSpPr>
              <p:nvPr/>
            </p:nvSpPr>
            <p:spPr bwMode="auto">
              <a:xfrm>
                <a:off x="884" y="324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8" name="Line 52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9" name="Line 53"/>
              <p:cNvSpPr>
                <a:spLocks noChangeShapeType="1"/>
              </p:cNvSpPr>
              <p:nvPr/>
            </p:nvSpPr>
            <p:spPr bwMode="auto">
              <a:xfrm>
                <a:off x="1326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0" name="Line 54"/>
              <p:cNvSpPr>
                <a:spLocks noChangeShapeType="1"/>
              </p:cNvSpPr>
              <p:nvPr/>
            </p:nvSpPr>
            <p:spPr bwMode="auto">
              <a:xfrm>
                <a:off x="1769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1" name="Line 55"/>
              <p:cNvSpPr>
                <a:spLocks noChangeShapeType="1"/>
              </p:cNvSpPr>
              <p:nvPr/>
            </p:nvSpPr>
            <p:spPr bwMode="auto">
              <a:xfrm>
                <a:off x="2211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2" name="Line 56"/>
              <p:cNvSpPr>
                <a:spLocks noChangeShapeType="1"/>
              </p:cNvSpPr>
              <p:nvPr/>
            </p:nvSpPr>
            <p:spPr bwMode="auto">
              <a:xfrm>
                <a:off x="2653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3" name="Line 57"/>
              <p:cNvSpPr>
                <a:spLocks noChangeShapeType="1"/>
              </p:cNvSpPr>
              <p:nvPr/>
            </p:nvSpPr>
            <p:spPr bwMode="auto">
              <a:xfrm flipH="1" flipV="1">
                <a:off x="56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3354" name="Group 58"/>
            <p:cNvGrpSpPr/>
            <p:nvPr/>
          </p:nvGrpSpPr>
          <p:grpSpPr bwMode="auto">
            <a:xfrm>
              <a:off x="888" y="2409"/>
              <a:ext cx="1276" cy="632"/>
              <a:chOff x="133" y="1434"/>
              <a:chExt cx="1276" cy="632"/>
            </a:xfrm>
          </p:grpSpPr>
          <p:sp>
            <p:nvSpPr>
              <p:cNvPr id="183355" name="Rectangle 59"/>
              <p:cNvSpPr>
                <a:spLocks noChangeArrowheads="1"/>
              </p:cNvSpPr>
              <p:nvPr/>
            </p:nvSpPr>
            <p:spPr bwMode="auto">
              <a:xfrm>
                <a:off x="133" y="1543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质蕴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涵项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3356" name="Rectangle 60"/>
              <p:cNvSpPr>
                <a:spLocks noChangeArrowheads="1"/>
              </p:cNvSpPr>
              <p:nvPr/>
            </p:nvSpPr>
            <p:spPr bwMode="auto">
              <a:xfrm>
                <a:off x="657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最小项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183357" name="Text Box 61"/>
            <p:cNvSpPr txBox="1">
              <a:spLocks noChangeArrowheads="1"/>
            </p:cNvSpPr>
            <p:nvPr/>
          </p:nvSpPr>
          <p:spPr bwMode="auto">
            <a:xfrm>
              <a:off x="2256" y="2352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V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83360" name="Line 64"/>
          <p:cNvSpPr>
            <a:spLocks noChangeShapeType="1"/>
          </p:cNvSpPr>
          <p:nvPr/>
        </p:nvSpPr>
        <p:spPr bwMode="auto">
          <a:xfrm>
            <a:off x="838200" y="5867400"/>
            <a:ext cx="41148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1" name="Line 65"/>
          <p:cNvSpPr>
            <a:spLocks noChangeShapeType="1"/>
          </p:cNvSpPr>
          <p:nvPr/>
        </p:nvSpPr>
        <p:spPr bwMode="auto">
          <a:xfrm>
            <a:off x="838200" y="6248400"/>
            <a:ext cx="41148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2" name="Line 66"/>
          <p:cNvSpPr>
            <a:spLocks noChangeShapeType="1"/>
          </p:cNvSpPr>
          <p:nvPr/>
        </p:nvSpPr>
        <p:spPr bwMode="auto">
          <a:xfrm flipH="1">
            <a:off x="4191000" y="51054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3" name="Line 67"/>
          <p:cNvSpPr>
            <a:spLocks noChangeShapeType="1"/>
          </p:cNvSpPr>
          <p:nvPr/>
        </p:nvSpPr>
        <p:spPr bwMode="auto">
          <a:xfrm flipH="1">
            <a:off x="2743200" y="4876800"/>
            <a:ext cx="23622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6" name="Rectangle 70"/>
          <p:cNvSpPr>
            <a:spLocks noChangeArrowheads="1"/>
          </p:cNvSpPr>
          <p:nvPr/>
        </p:nvSpPr>
        <p:spPr bwMode="auto">
          <a:xfrm>
            <a:off x="457200" y="2570163"/>
            <a:ext cx="84582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只有一个△，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该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对应的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列中还有其它的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△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行）；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为非必要，消去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，同理消去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320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32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3411" name="Group 115"/>
          <p:cNvGrpSpPr/>
          <p:nvPr/>
        </p:nvGrpSpPr>
        <p:grpSpPr bwMode="auto">
          <a:xfrm>
            <a:off x="5321300" y="4038600"/>
            <a:ext cx="3692525" cy="2303463"/>
            <a:chOff x="3264" y="2208"/>
            <a:chExt cx="2326" cy="1451"/>
          </a:xfrm>
        </p:grpSpPr>
        <p:grpSp>
          <p:nvGrpSpPr>
            <p:cNvPr id="183367" name="Group 71"/>
            <p:cNvGrpSpPr/>
            <p:nvPr/>
          </p:nvGrpSpPr>
          <p:grpSpPr bwMode="auto">
            <a:xfrm>
              <a:off x="4060" y="2933"/>
              <a:ext cx="1316" cy="681"/>
              <a:chOff x="3560" y="2069"/>
              <a:chExt cx="1316" cy="681"/>
            </a:xfrm>
          </p:grpSpPr>
          <p:sp>
            <p:nvSpPr>
              <p:cNvPr id="183368" name="AutoShape 72"/>
              <p:cNvSpPr>
                <a:spLocks noChangeArrowheads="1"/>
              </p:cNvSpPr>
              <p:nvPr/>
            </p:nvSpPr>
            <p:spPr bwMode="auto">
              <a:xfrm>
                <a:off x="3969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69" name="AutoShape 73"/>
              <p:cNvSpPr>
                <a:spLocks noChangeArrowheads="1"/>
              </p:cNvSpPr>
              <p:nvPr/>
            </p:nvSpPr>
            <p:spPr bwMode="auto">
              <a:xfrm>
                <a:off x="4377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0" name="AutoShape 74"/>
              <p:cNvSpPr>
                <a:spLocks noChangeArrowheads="1"/>
              </p:cNvSpPr>
              <p:nvPr/>
            </p:nvSpPr>
            <p:spPr bwMode="auto">
              <a:xfrm>
                <a:off x="356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1" name="AutoShape 75"/>
              <p:cNvSpPr>
                <a:spLocks noChangeArrowheads="1"/>
              </p:cNvSpPr>
              <p:nvPr/>
            </p:nvSpPr>
            <p:spPr bwMode="auto">
              <a:xfrm>
                <a:off x="474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2" name="AutoShape 76"/>
              <p:cNvSpPr>
                <a:spLocks noChangeArrowheads="1"/>
              </p:cNvSpPr>
              <p:nvPr/>
            </p:nvSpPr>
            <p:spPr bwMode="auto">
              <a:xfrm>
                <a:off x="356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3" name="AutoShape 77"/>
              <p:cNvSpPr>
                <a:spLocks noChangeArrowheads="1"/>
              </p:cNvSpPr>
              <p:nvPr/>
            </p:nvSpPr>
            <p:spPr bwMode="auto">
              <a:xfrm>
                <a:off x="4377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3374" name="Group 78"/>
            <p:cNvGrpSpPr/>
            <p:nvPr/>
          </p:nvGrpSpPr>
          <p:grpSpPr bwMode="auto">
            <a:xfrm>
              <a:off x="3607" y="2480"/>
              <a:ext cx="1950" cy="1179"/>
              <a:chOff x="3107" y="1616"/>
              <a:chExt cx="1950" cy="1179"/>
            </a:xfrm>
          </p:grpSpPr>
          <p:sp>
            <p:nvSpPr>
              <p:cNvPr id="183375" name="Rectangle 79"/>
              <p:cNvSpPr>
                <a:spLocks noChangeArrowheads="1"/>
              </p:cNvSpPr>
              <p:nvPr/>
            </p:nvSpPr>
            <p:spPr bwMode="auto">
              <a:xfrm>
                <a:off x="4649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6" name="Rectangle 80"/>
              <p:cNvSpPr>
                <a:spLocks noChangeArrowheads="1"/>
              </p:cNvSpPr>
              <p:nvPr/>
            </p:nvSpPr>
            <p:spPr bwMode="auto">
              <a:xfrm>
                <a:off x="4241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7" name="Rectangle 81"/>
              <p:cNvSpPr>
                <a:spLocks noChangeArrowheads="1"/>
              </p:cNvSpPr>
              <p:nvPr/>
            </p:nvSpPr>
            <p:spPr bwMode="auto">
              <a:xfrm>
                <a:off x="3832" y="2535"/>
                <a:ext cx="409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8" name="Rectangle 82"/>
              <p:cNvSpPr>
                <a:spLocks noChangeArrowheads="1"/>
              </p:cNvSpPr>
              <p:nvPr/>
            </p:nvSpPr>
            <p:spPr bwMode="auto">
              <a:xfrm>
                <a:off x="3424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9" name="Rectangle 83"/>
              <p:cNvSpPr>
                <a:spLocks noChangeArrowheads="1"/>
              </p:cNvSpPr>
              <p:nvPr/>
            </p:nvSpPr>
            <p:spPr bwMode="auto">
              <a:xfrm>
                <a:off x="4649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0" name="Rectangle 84"/>
              <p:cNvSpPr>
                <a:spLocks noChangeArrowheads="1"/>
              </p:cNvSpPr>
              <p:nvPr/>
            </p:nvSpPr>
            <p:spPr bwMode="auto">
              <a:xfrm>
                <a:off x="4241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1" name="Rectangle 85"/>
              <p:cNvSpPr>
                <a:spLocks noChangeArrowheads="1"/>
              </p:cNvSpPr>
              <p:nvPr/>
            </p:nvSpPr>
            <p:spPr bwMode="auto">
              <a:xfrm>
                <a:off x="3832" y="2251"/>
                <a:ext cx="409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2" name="Rectangle 86"/>
              <p:cNvSpPr>
                <a:spLocks noChangeArrowheads="1"/>
              </p:cNvSpPr>
              <p:nvPr/>
            </p:nvSpPr>
            <p:spPr bwMode="auto">
              <a:xfrm>
                <a:off x="3424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3" name="Rectangle 87"/>
              <p:cNvSpPr>
                <a:spLocks noChangeArrowheads="1"/>
              </p:cNvSpPr>
              <p:nvPr/>
            </p:nvSpPr>
            <p:spPr bwMode="auto">
              <a:xfrm>
                <a:off x="4649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4" name="Rectangle 88"/>
              <p:cNvSpPr>
                <a:spLocks noChangeArrowheads="1"/>
              </p:cNvSpPr>
              <p:nvPr/>
            </p:nvSpPr>
            <p:spPr bwMode="auto">
              <a:xfrm>
                <a:off x="4241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5" name="Rectangle 89"/>
              <p:cNvSpPr>
                <a:spLocks noChangeArrowheads="1"/>
              </p:cNvSpPr>
              <p:nvPr/>
            </p:nvSpPr>
            <p:spPr bwMode="auto">
              <a:xfrm>
                <a:off x="3832" y="1979"/>
                <a:ext cx="40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6" name="Rectangle 90"/>
              <p:cNvSpPr>
                <a:spLocks noChangeArrowheads="1"/>
              </p:cNvSpPr>
              <p:nvPr/>
            </p:nvSpPr>
            <p:spPr bwMode="auto">
              <a:xfrm>
                <a:off x="3424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7" name="Line 91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88" name="Line 92"/>
              <p:cNvSpPr>
                <a:spLocks noChangeShapeType="1"/>
              </p:cNvSpPr>
              <p:nvPr/>
            </p:nvSpPr>
            <p:spPr bwMode="auto">
              <a:xfrm>
                <a:off x="3424" y="2251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89" name="Line 93"/>
              <p:cNvSpPr>
                <a:spLocks noChangeShapeType="1"/>
              </p:cNvSpPr>
              <p:nvPr/>
            </p:nvSpPr>
            <p:spPr bwMode="auto">
              <a:xfrm>
                <a:off x="3424" y="2535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0" name="Line 94"/>
              <p:cNvSpPr>
                <a:spLocks noChangeShapeType="1"/>
              </p:cNvSpPr>
              <p:nvPr/>
            </p:nvSpPr>
            <p:spPr bwMode="auto">
              <a:xfrm>
                <a:off x="3424" y="2795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1" name="Line 95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2" name="Line 96"/>
              <p:cNvSpPr>
                <a:spLocks noChangeShapeType="1"/>
              </p:cNvSpPr>
              <p:nvPr/>
            </p:nvSpPr>
            <p:spPr bwMode="auto">
              <a:xfrm>
                <a:off x="3832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3" name="Line 97"/>
              <p:cNvSpPr>
                <a:spLocks noChangeShapeType="1"/>
              </p:cNvSpPr>
              <p:nvPr/>
            </p:nvSpPr>
            <p:spPr bwMode="auto">
              <a:xfrm>
                <a:off x="4241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4" name="Line 98"/>
              <p:cNvSpPr>
                <a:spLocks noChangeShapeType="1"/>
              </p:cNvSpPr>
              <p:nvPr/>
            </p:nvSpPr>
            <p:spPr bwMode="auto">
              <a:xfrm>
                <a:off x="4649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5" name="Line 99"/>
              <p:cNvSpPr>
                <a:spLocks noChangeShapeType="1"/>
              </p:cNvSpPr>
              <p:nvPr/>
            </p:nvSpPr>
            <p:spPr bwMode="auto">
              <a:xfrm>
                <a:off x="5057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6" name="Line 100"/>
              <p:cNvSpPr>
                <a:spLocks noChangeShapeType="1"/>
              </p:cNvSpPr>
              <p:nvPr/>
            </p:nvSpPr>
            <p:spPr bwMode="auto">
              <a:xfrm flipH="1" flipV="1">
                <a:off x="310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3397" name="Group 101"/>
            <p:cNvGrpSpPr/>
            <p:nvPr/>
          </p:nvGrpSpPr>
          <p:grpSpPr bwMode="auto">
            <a:xfrm>
              <a:off x="3264" y="2298"/>
              <a:ext cx="1140" cy="768"/>
              <a:chOff x="2764" y="1434"/>
              <a:chExt cx="1140" cy="768"/>
            </a:xfrm>
          </p:grpSpPr>
          <p:sp>
            <p:nvSpPr>
              <p:cNvPr id="183398" name="Rectangle 102"/>
              <p:cNvSpPr>
                <a:spLocks noChangeArrowheads="1"/>
              </p:cNvSpPr>
              <p:nvPr/>
            </p:nvSpPr>
            <p:spPr bwMode="auto">
              <a:xfrm>
                <a:off x="2764" y="1679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质蕴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涵项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3399" name="Rectangle 103"/>
              <p:cNvSpPr>
                <a:spLocks noChangeArrowheads="1"/>
              </p:cNvSpPr>
              <p:nvPr/>
            </p:nvSpPr>
            <p:spPr bwMode="auto">
              <a:xfrm>
                <a:off x="3152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最小项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3400" name="Group 104"/>
            <p:cNvGrpSpPr/>
            <p:nvPr/>
          </p:nvGrpSpPr>
          <p:grpSpPr bwMode="auto">
            <a:xfrm>
              <a:off x="3669" y="2525"/>
              <a:ext cx="1921" cy="1108"/>
              <a:chOff x="3169" y="1661"/>
              <a:chExt cx="1921" cy="1108"/>
            </a:xfrm>
          </p:grpSpPr>
          <p:sp>
            <p:nvSpPr>
              <p:cNvPr id="183401" name="Rectangle 105"/>
              <p:cNvSpPr>
                <a:spLocks noChangeArrowheads="1"/>
              </p:cNvSpPr>
              <p:nvPr/>
            </p:nvSpPr>
            <p:spPr bwMode="auto">
              <a:xfrm>
                <a:off x="3473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402" name="Rectangle 106"/>
              <p:cNvSpPr>
                <a:spLocks noChangeArrowheads="1"/>
              </p:cNvSpPr>
              <p:nvPr/>
            </p:nvSpPr>
            <p:spPr bwMode="auto">
              <a:xfrm>
                <a:off x="388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3403" name="Rectangle 107"/>
              <p:cNvSpPr>
                <a:spLocks noChangeArrowheads="1"/>
              </p:cNvSpPr>
              <p:nvPr/>
            </p:nvSpPr>
            <p:spPr bwMode="auto">
              <a:xfrm>
                <a:off x="430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3404" name="Group 108"/>
              <p:cNvGrpSpPr/>
              <p:nvPr/>
            </p:nvGrpSpPr>
            <p:grpSpPr bwMode="auto">
              <a:xfrm>
                <a:off x="3169" y="1979"/>
                <a:ext cx="299" cy="790"/>
                <a:chOff x="3214" y="1933"/>
                <a:chExt cx="299" cy="790"/>
              </a:xfrm>
            </p:grpSpPr>
            <p:sp>
              <p:nvSpPr>
                <p:cNvPr id="183405" name="Rectangle 109"/>
                <p:cNvSpPr>
                  <a:spLocks noChangeArrowheads="1"/>
                </p:cNvSpPr>
                <p:nvPr/>
              </p:nvSpPr>
              <p:spPr bwMode="auto">
                <a:xfrm>
                  <a:off x="3214" y="1933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3406" name="Rectangle 110"/>
                <p:cNvSpPr>
                  <a:spLocks noChangeArrowheads="1"/>
                </p:cNvSpPr>
                <p:nvPr/>
              </p:nvSpPr>
              <p:spPr bwMode="auto">
                <a:xfrm>
                  <a:off x="3214" y="2175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340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214" y="2432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3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3408" name="Rectangle 112"/>
              <p:cNvSpPr>
                <a:spLocks noChangeArrowheads="1"/>
              </p:cNvSpPr>
              <p:nvPr/>
            </p:nvSpPr>
            <p:spPr bwMode="auto">
              <a:xfrm>
                <a:off x="4683" y="1661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3409" name="Text Box 113"/>
            <p:cNvSpPr txBox="1">
              <a:spLocks noChangeArrowheads="1"/>
            </p:cNvSpPr>
            <p:nvPr/>
          </p:nvSpPr>
          <p:spPr bwMode="auto">
            <a:xfrm>
              <a:off x="4416" y="220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VI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183413" name="AutoShape 117"/>
          <p:cNvSpPr>
            <a:spLocks noChangeArrowheads="1"/>
          </p:cNvSpPr>
          <p:nvPr/>
        </p:nvSpPr>
        <p:spPr bwMode="auto">
          <a:xfrm>
            <a:off x="4724400" y="5486400"/>
            <a:ext cx="1274763" cy="309563"/>
          </a:xfrm>
          <a:prstGeom prst="rightArrow">
            <a:avLst>
              <a:gd name="adj1" fmla="val 50000"/>
              <a:gd name="adj2" fmla="val 102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83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83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8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8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8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1" grpId="0" autoUpdateAnimBg="0"/>
      <p:bldP spid="183360" grpId="0" animBg="1"/>
      <p:bldP spid="183361" grpId="0" animBg="1"/>
      <p:bldP spid="183362" grpId="0" animBg="1"/>
      <p:bldP spid="183363" grpId="0" animBg="1"/>
      <p:bldP spid="183366" grpId="0" autoUpdateAnimBg="0"/>
      <p:bldP spid="1834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AF61-88E3-4203-A0F7-6E0B4117E68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84428" name="Rectangle 108"/>
          <p:cNvSpPr>
            <a:spLocks noChangeArrowheads="1"/>
          </p:cNvSpPr>
          <p:nvPr/>
        </p:nvSpPr>
        <p:spPr bwMode="auto">
          <a:xfrm>
            <a:off x="304800" y="833864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）重复进行“行列消去”和“行消去”，直到消去全部的质蕴涵项为止。</a:t>
            </a:r>
            <a:endParaRPr lang="zh-CN" altLang="en-US" sz="320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18" name="Line 198"/>
          <p:cNvSpPr>
            <a:spLocks noChangeShapeType="1"/>
          </p:cNvSpPr>
          <p:nvPr/>
        </p:nvSpPr>
        <p:spPr bwMode="auto">
          <a:xfrm>
            <a:off x="1600200" y="5181600"/>
            <a:ext cx="28194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19" name="Line 199"/>
          <p:cNvSpPr>
            <a:spLocks noChangeShapeType="1"/>
          </p:cNvSpPr>
          <p:nvPr/>
        </p:nvSpPr>
        <p:spPr bwMode="auto">
          <a:xfrm>
            <a:off x="1676400" y="4724400"/>
            <a:ext cx="28194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0" name="Line 200"/>
          <p:cNvSpPr>
            <a:spLocks noChangeShapeType="1"/>
          </p:cNvSpPr>
          <p:nvPr/>
        </p:nvSpPr>
        <p:spPr bwMode="auto">
          <a:xfrm flipH="1">
            <a:off x="4038600" y="3886200"/>
            <a:ext cx="1524000" cy="762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1" name="Line 201"/>
          <p:cNvSpPr>
            <a:spLocks noChangeShapeType="1"/>
          </p:cNvSpPr>
          <p:nvPr/>
        </p:nvSpPr>
        <p:spPr bwMode="auto">
          <a:xfrm flipH="1">
            <a:off x="2667000" y="3429000"/>
            <a:ext cx="2590800" cy="1600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2" name="Line 202"/>
          <p:cNvSpPr>
            <a:spLocks noChangeShapeType="1"/>
          </p:cNvSpPr>
          <p:nvPr/>
        </p:nvSpPr>
        <p:spPr bwMode="auto">
          <a:xfrm>
            <a:off x="26670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3" name="Line 203"/>
          <p:cNvSpPr>
            <a:spLocks noChangeShapeType="1"/>
          </p:cNvSpPr>
          <p:nvPr/>
        </p:nvSpPr>
        <p:spPr bwMode="auto">
          <a:xfrm>
            <a:off x="38862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4" name="Line 204"/>
          <p:cNvSpPr>
            <a:spLocks noChangeShapeType="1"/>
          </p:cNvSpPr>
          <p:nvPr/>
        </p:nvSpPr>
        <p:spPr bwMode="auto">
          <a:xfrm>
            <a:off x="19812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5" name="Line 205"/>
          <p:cNvSpPr>
            <a:spLocks noChangeShapeType="1"/>
          </p:cNvSpPr>
          <p:nvPr/>
        </p:nvSpPr>
        <p:spPr bwMode="auto">
          <a:xfrm>
            <a:off x="32766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6" name="Rectangle 206"/>
          <p:cNvSpPr>
            <a:spLocks noChangeArrowheads="1"/>
          </p:cNvSpPr>
          <p:nvPr/>
        </p:nvSpPr>
        <p:spPr bwMode="auto">
          <a:xfrm>
            <a:off x="762000" y="1794302"/>
            <a:ext cx="6921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,P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为必要质蕴涵项，保留并消去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,P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列。算法结束。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527" name="Rectangle 207"/>
          <p:cNvSpPr>
            <a:spLocks noChangeArrowheads="1"/>
          </p:cNvSpPr>
          <p:nvPr/>
        </p:nvSpPr>
        <p:spPr bwMode="auto">
          <a:xfrm>
            <a:off x="5257800" y="3123596"/>
            <a:ext cx="36464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直观来看：因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,P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蕴涵了表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VI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中所列全部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zh-CN" altLang="en-US" sz="2000">
                <a:latin typeface="华文新魏" panose="02010800040101010101" pitchFamily="2" charset="-122"/>
                <a:ea typeface="华文新魏" panose="02010800040101010101" pitchFamily="2" charset="-122"/>
              </a:rPr>
              <a:t>项（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kumimoji="0" lang="en-US" altLang="zh-CN" sz="2000">
                <a:latin typeface="华文新魏" panose="02010800040101010101" pitchFamily="2" charset="-122"/>
                <a:ea typeface="华文新魏" panose="02010800040101010101" pitchFamily="2" charset="-122"/>
              </a:rPr>
              <a:t>, m</a:t>
            </a:r>
            <a:r>
              <a:rPr kumimoji="0" lang="en-US" altLang="zh-CN" sz="2000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，故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为非必要质蕴涵项 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4531" name="Group 211"/>
          <p:cNvGrpSpPr/>
          <p:nvPr/>
        </p:nvGrpSpPr>
        <p:grpSpPr bwMode="auto">
          <a:xfrm>
            <a:off x="608743" y="5867395"/>
            <a:ext cx="8295545" cy="542925"/>
            <a:chOff x="368" y="3696"/>
            <a:chExt cx="4864" cy="342"/>
          </a:xfrm>
        </p:grpSpPr>
        <p:sp>
          <p:nvSpPr>
            <p:cNvPr id="184529" name="Rectangle 209"/>
            <p:cNvSpPr>
              <a:spLocks noChangeArrowheads="1"/>
            </p:cNvSpPr>
            <p:nvPr/>
          </p:nvSpPr>
          <p:spPr bwMode="auto">
            <a:xfrm>
              <a:off x="368" y="3696"/>
              <a:ext cx="11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kumimoji="0"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化简结果为：</a:t>
              </a:r>
              <a:endPara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84530" name="Object 210"/>
            <p:cNvGraphicFramePr>
              <a:graphicFrameLocks noChangeAspect="1"/>
            </p:cNvGraphicFramePr>
            <p:nvPr/>
          </p:nvGraphicFramePr>
          <p:xfrm>
            <a:off x="1428" y="3732"/>
            <a:ext cx="380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09" name="Equation" r:id="rId1" imgW="80162400" imgH="6400800" progId="Equation.DSMT4">
                    <p:embed/>
                  </p:oleObj>
                </mc:Choice>
                <mc:Fallback>
                  <p:oleObj name="Equation" r:id="rId1" imgW="80162400" imgH="6400800" progId="Equation.DSMT4">
                    <p:embed/>
                    <p:pic>
                      <p:nvPicPr>
                        <p:cNvPr id="0" name="图片 666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3732"/>
                          <a:ext cx="3804" cy="30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74" name="Group 154"/>
          <p:cNvGrpSpPr/>
          <p:nvPr/>
        </p:nvGrpSpPr>
        <p:grpSpPr bwMode="auto">
          <a:xfrm>
            <a:off x="609601" y="3048000"/>
            <a:ext cx="3640138" cy="2303463"/>
            <a:chOff x="3264" y="2208"/>
            <a:chExt cx="2293" cy="1451"/>
          </a:xfrm>
        </p:grpSpPr>
        <p:grpSp>
          <p:nvGrpSpPr>
            <p:cNvPr id="184475" name="Group 155"/>
            <p:cNvGrpSpPr/>
            <p:nvPr/>
          </p:nvGrpSpPr>
          <p:grpSpPr bwMode="auto">
            <a:xfrm>
              <a:off x="4060" y="2933"/>
              <a:ext cx="1316" cy="681"/>
              <a:chOff x="3560" y="2069"/>
              <a:chExt cx="1316" cy="681"/>
            </a:xfrm>
          </p:grpSpPr>
          <p:sp>
            <p:nvSpPr>
              <p:cNvPr id="184476" name="AutoShape 156"/>
              <p:cNvSpPr>
                <a:spLocks noChangeArrowheads="1"/>
              </p:cNvSpPr>
              <p:nvPr/>
            </p:nvSpPr>
            <p:spPr bwMode="auto">
              <a:xfrm>
                <a:off x="3969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7" name="AutoShape 157"/>
              <p:cNvSpPr>
                <a:spLocks noChangeArrowheads="1"/>
              </p:cNvSpPr>
              <p:nvPr/>
            </p:nvSpPr>
            <p:spPr bwMode="auto">
              <a:xfrm>
                <a:off x="4377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8" name="AutoShape 158"/>
              <p:cNvSpPr>
                <a:spLocks noChangeArrowheads="1"/>
              </p:cNvSpPr>
              <p:nvPr/>
            </p:nvSpPr>
            <p:spPr bwMode="auto">
              <a:xfrm>
                <a:off x="356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9" name="AutoShape 159"/>
              <p:cNvSpPr>
                <a:spLocks noChangeArrowheads="1"/>
              </p:cNvSpPr>
              <p:nvPr/>
            </p:nvSpPr>
            <p:spPr bwMode="auto">
              <a:xfrm>
                <a:off x="474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80" name="AutoShape 160"/>
              <p:cNvSpPr>
                <a:spLocks noChangeArrowheads="1"/>
              </p:cNvSpPr>
              <p:nvPr/>
            </p:nvSpPr>
            <p:spPr bwMode="auto">
              <a:xfrm>
                <a:off x="356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81" name="AutoShape 161"/>
              <p:cNvSpPr>
                <a:spLocks noChangeArrowheads="1"/>
              </p:cNvSpPr>
              <p:nvPr/>
            </p:nvSpPr>
            <p:spPr bwMode="auto">
              <a:xfrm>
                <a:off x="4377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4482" name="Group 162"/>
            <p:cNvGrpSpPr/>
            <p:nvPr/>
          </p:nvGrpSpPr>
          <p:grpSpPr bwMode="auto">
            <a:xfrm>
              <a:off x="3607" y="2480"/>
              <a:ext cx="1950" cy="1179"/>
              <a:chOff x="3107" y="1616"/>
              <a:chExt cx="1950" cy="1179"/>
            </a:xfrm>
          </p:grpSpPr>
          <p:sp>
            <p:nvSpPr>
              <p:cNvPr id="184483" name="Rectangle 163"/>
              <p:cNvSpPr>
                <a:spLocks noChangeArrowheads="1"/>
              </p:cNvSpPr>
              <p:nvPr/>
            </p:nvSpPr>
            <p:spPr bwMode="auto">
              <a:xfrm>
                <a:off x="4649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4" name="Rectangle 164"/>
              <p:cNvSpPr>
                <a:spLocks noChangeArrowheads="1"/>
              </p:cNvSpPr>
              <p:nvPr/>
            </p:nvSpPr>
            <p:spPr bwMode="auto">
              <a:xfrm>
                <a:off x="4241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5" name="Rectangle 165"/>
              <p:cNvSpPr>
                <a:spLocks noChangeArrowheads="1"/>
              </p:cNvSpPr>
              <p:nvPr/>
            </p:nvSpPr>
            <p:spPr bwMode="auto">
              <a:xfrm>
                <a:off x="3832" y="2535"/>
                <a:ext cx="409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6" name="Rectangle 166"/>
              <p:cNvSpPr>
                <a:spLocks noChangeArrowheads="1"/>
              </p:cNvSpPr>
              <p:nvPr/>
            </p:nvSpPr>
            <p:spPr bwMode="auto">
              <a:xfrm>
                <a:off x="3424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7" name="Rectangle 167"/>
              <p:cNvSpPr>
                <a:spLocks noChangeArrowheads="1"/>
              </p:cNvSpPr>
              <p:nvPr/>
            </p:nvSpPr>
            <p:spPr bwMode="auto">
              <a:xfrm>
                <a:off x="4649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8" name="Rectangle 168"/>
              <p:cNvSpPr>
                <a:spLocks noChangeArrowheads="1"/>
              </p:cNvSpPr>
              <p:nvPr/>
            </p:nvSpPr>
            <p:spPr bwMode="auto">
              <a:xfrm>
                <a:off x="4241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9" name="Rectangle 169"/>
              <p:cNvSpPr>
                <a:spLocks noChangeArrowheads="1"/>
              </p:cNvSpPr>
              <p:nvPr/>
            </p:nvSpPr>
            <p:spPr bwMode="auto">
              <a:xfrm>
                <a:off x="3832" y="2251"/>
                <a:ext cx="409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0" name="Rectangle 170"/>
              <p:cNvSpPr>
                <a:spLocks noChangeArrowheads="1"/>
              </p:cNvSpPr>
              <p:nvPr/>
            </p:nvSpPr>
            <p:spPr bwMode="auto">
              <a:xfrm>
                <a:off x="3424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1" name="Rectangle 171"/>
              <p:cNvSpPr>
                <a:spLocks noChangeArrowheads="1"/>
              </p:cNvSpPr>
              <p:nvPr/>
            </p:nvSpPr>
            <p:spPr bwMode="auto">
              <a:xfrm>
                <a:off x="4649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2" name="Rectangle 172"/>
              <p:cNvSpPr>
                <a:spLocks noChangeArrowheads="1"/>
              </p:cNvSpPr>
              <p:nvPr/>
            </p:nvSpPr>
            <p:spPr bwMode="auto">
              <a:xfrm>
                <a:off x="4241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3" name="Rectangle 173"/>
              <p:cNvSpPr>
                <a:spLocks noChangeArrowheads="1"/>
              </p:cNvSpPr>
              <p:nvPr/>
            </p:nvSpPr>
            <p:spPr bwMode="auto">
              <a:xfrm>
                <a:off x="3832" y="1979"/>
                <a:ext cx="40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4" name="Rectangle 174"/>
              <p:cNvSpPr>
                <a:spLocks noChangeArrowheads="1"/>
              </p:cNvSpPr>
              <p:nvPr/>
            </p:nvSpPr>
            <p:spPr bwMode="auto">
              <a:xfrm>
                <a:off x="3424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5" name="Line 175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6" name="Line 176"/>
              <p:cNvSpPr>
                <a:spLocks noChangeShapeType="1"/>
              </p:cNvSpPr>
              <p:nvPr/>
            </p:nvSpPr>
            <p:spPr bwMode="auto">
              <a:xfrm>
                <a:off x="3424" y="2251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7" name="Line 177"/>
              <p:cNvSpPr>
                <a:spLocks noChangeShapeType="1"/>
              </p:cNvSpPr>
              <p:nvPr/>
            </p:nvSpPr>
            <p:spPr bwMode="auto">
              <a:xfrm>
                <a:off x="3424" y="2535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8" name="Line 178"/>
              <p:cNvSpPr>
                <a:spLocks noChangeShapeType="1"/>
              </p:cNvSpPr>
              <p:nvPr/>
            </p:nvSpPr>
            <p:spPr bwMode="auto">
              <a:xfrm>
                <a:off x="3424" y="2795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9" name="Line 179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0" name="Line 180"/>
              <p:cNvSpPr>
                <a:spLocks noChangeShapeType="1"/>
              </p:cNvSpPr>
              <p:nvPr/>
            </p:nvSpPr>
            <p:spPr bwMode="auto">
              <a:xfrm>
                <a:off x="3832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1" name="Line 181"/>
              <p:cNvSpPr>
                <a:spLocks noChangeShapeType="1"/>
              </p:cNvSpPr>
              <p:nvPr/>
            </p:nvSpPr>
            <p:spPr bwMode="auto">
              <a:xfrm>
                <a:off x="4241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2" name="Line 182"/>
              <p:cNvSpPr>
                <a:spLocks noChangeShapeType="1"/>
              </p:cNvSpPr>
              <p:nvPr/>
            </p:nvSpPr>
            <p:spPr bwMode="auto">
              <a:xfrm>
                <a:off x="4649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3" name="Line 183"/>
              <p:cNvSpPr>
                <a:spLocks noChangeShapeType="1"/>
              </p:cNvSpPr>
              <p:nvPr/>
            </p:nvSpPr>
            <p:spPr bwMode="auto">
              <a:xfrm>
                <a:off x="5057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4" name="Line 184"/>
              <p:cNvSpPr>
                <a:spLocks noChangeShapeType="1"/>
              </p:cNvSpPr>
              <p:nvPr/>
            </p:nvSpPr>
            <p:spPr bwMode="auto">
              <a:xfrm flipH="1" flipV="1">
                <a:off x="310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4505" name="Group 185"/>
            <p:cNvGrpSpPr/>
            <p:nvPr/>
          </p:nvGrpSpPr>
          <p:grpSpPr bwMode="auto">
            <a:xfrm>
              <a:off x="3264" y="2298"/>
              <a:ext cx="1140" cy="768"/>
              <a:chOff x="2764" y="1434"/>
              <a:chExt cx="1140" cy="768"/>
            </a:xfrm>
          </p:grpSpPr>
          <p:sp>
            <p:nvSpPr>
              <p:cNvPr id="184506" name="Rectangle 186"/>
              <p:cNvSpPr>
                <a:spLocks noChangeArrowheads="1"/>
              </p:cNvSpPr>
              <p:nvPr/>
            </p:nvSpPr>
            <p:spPr bwMode="auto">
              <a:xfrm>
                <a:off x="2764" y="1679"/>
                <a:ext cx="553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质蕴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涵项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507" name="Rectangle 187"/>
              <p:cNvSpPr>
                <a:spLocks noChangeArrowheads="1"/>
              </p:cNvSpPr>
              <p:nvPr/>
            </p:nvSpPr>
            <p:spPr bwMode="auto">
              <a:xfrm>
                <a:off x="3152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最小项 </a:t>
                </a:r>
                <a:endParaRPr kumimoji="0"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184508" name="Group 188"/>
            <p:cNvGrpSpPr/>
            <p:nvPr/>
          </p:nvGrpSpPr>
          <p:grpSpPr bwMode="auto">
            <a:xfrm>
              <a:off x="3669" y="2525"/>
              <a:ext cx="1857" cy="1105"/>
              <a:chOff x="3169" y="1661"/>
              <a:chExt cx="1857" cy="1105"/>
            </a:xfrm>
          </p:grpSpPr>
          <p:sp>
            <p:nvSpPr>
              <p:cNvPr id="184509" name="Rectangle 189"/>
              <p:cNvSpPr>
                <a:spLocks noChangeArrowheads="1"/>
              </p:cNvSpPr>
              <p:nvPr/>
            </p:nvSpPr>
            <p:spPr bwMode="auto">
              <a:xfrm>
                <a:off x="3473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latin typeface="+mn-ea"/>
                    <a:ea typeface="+mn-ea"/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kumimoji="0" lang="en-US" altLang="zh-CN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510" name="Rectangle 190"/>
              <p:cNvSpPr>
                <a:spLocks noChangeArrowheads="1"/>
              </p:cNvSpPr>
              <p:nvPr/>
            </p:nvSpPr>
            <p:spPr bwMode="auto">
              <a:xfrm>
                <a:off x="3881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latin typeface="+mn-ea"/>
                    <a:ea typeface="+mn-ea"/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4</a:t>
                </a:r>
                <a:endParaRPr kumimoji="0" lang="en-US" altLang="zh-CN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511" name="Rectangle 191"/>
              <p:cNvSpPr>
                <a:spLocks noChangeArrowheads="1"/>
              </p:cNvSpPr>
              <p:nvPr/>
            </p:nvSpPr>
            <p:spPr bwMode="auto">
              <a:xfrm>
                <a:off x="4301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latin typeface="+mn-ea"/>
                    <a:ea typeface="+mn-ea"/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6</a:t>
                </a:r>
                <a:endParaRPr kumimoji="0" lang="en-US" altLang="zh-CN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4512" name="Group 192"/>
              <p:cNvGrpSpPr/>
              <p:nvPr/>
            </p:nvGrpSpPr>
            <p:grpSpPr bwMode="auto">
              <a:xfrm>
                <a:off x="3169" y="1979"/>
                <a:ext cx="287" cy="787"/>
                <a:chOff x="3214" y="1933"/>
                <a:chExt cx="287" cy="787"/>
              </a:xfrm>
            </p:grpSpPr>
            <p:sp>
              <p:nvSpPr>
                <p:cNvPr id="184513" name="Rectangle 193"/>
                <p:cNvSpPr>
                  <a:spLocks noChangeArrowheads="1"/>
                </p:cNvSpPr>
                <p:nvPr/>
              </p:nvSpPr>
              <p:spPr bwMode="auto">
                <a:xfrm>
                  <a:off x="3214" y="1933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latin typeface="+mn-ea"/>
                      <a:ea typeface="+mn-ea"/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endPara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514" name="Rectangle 194"/>
                <p:cNvSpPr>
                  <a:spLocks noChangeArrowheads="1"/>
                </p:cNvSpPr>
                <p:nvPr/>
              </p:nvSpPr>
              <p:spPr bwMode="auto">
                <a:xfrm>
                  <a:off x="3214" y="2175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latin typeface="+mn-ea"/>
                      <a:ea typeface="+mn-ea"/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515" name="Rectangle 195"/>
                <p:cNvSpPr>
                  <a:spLocks noChangeArrowheads="1"/>
                </p:cNvSpPr>
                <p:nvPr/>
              </p:nvSpPr>
              <p:spPr bwMode="auto">
                <a:xfrm>
                  <a:off x="3214" y="2432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latin typeface="+mn-ea"/>
                      <a:ea typeface="+mn-ea"/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3</a:t>
                  </a:r>
                  <a:endPara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4516" name="Rectangle 196"/>
              <p:cNvSpPr>
                <a:spLocks noChangeArrowheads="1"/>
              </p:cNvSpPr>
              <p:nvPr/>
            </p:nvSpPr>
            <p:spPr bwMode="auto">
              <a:xfrm>
                <a:off x="4683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>
                    <a:latin typeface="+mn-ea"/>
                    <a:ea typeface="+mn-ea"/>
                    <a:cs typeface="Times New Roman" panose="02020603050405020304" pitchFamily="18" charset="0"/>
                  </a:rPr>
                  <a:t>m</a:t>
                </a:r>
                <a:r>
                  <a:rPr kumimoji="0" lang="en-US" altLang="zh-CN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10</a:t>
                </a:r>
                <a:endParaRPr kumimoji="0" lang="en-US" altLang="zh-CN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4517" name="Text Box 197"/>
            <p:cNvSpPr txBox="1">
              <a:spLocks noChangeArrowheads="1"/>
            </p:cNvSpPr>
            <p:nvPr/>
          </p:nvSpPr>
          <p:spPr bwMode="auto">
            <a:xfrm>
              <a:off x="4416" y="220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latin typeface="+mn-ea"/>
                  <a:ea typeface="+mn-ea"/>
                </a:rPr>
                <a:t>表</a:t>
              </a:r>
              <a:r>
                <a:rPr kumimoji="0" lang="en-US" altLang="zh-CN">
                  <a:latin typeface="+mn-ea"/>
                  <a:ea typeface="+mn-ea"/>
                </a:rPr>
                <a:t>VI</a:t>
              </a:r>
              <a:endParaRPr kumimoji="0" lang="en-US" altLang="zh-CN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8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84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8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8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8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8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8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8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8" grpId="0" autoUpdateAnimBg="0"/>
      <p:bldP spid="184518" grpId="0" animBg="1"/>
      <p:bldP spid="184519" grpId="0" animBg="1"/>
      <p:bldP spid="184520" grpId="0" animBg="1"/>
      <p:bldP spid="184521" grpId="0" animBg="1"/>
      <p:bldP spid="184522" grpId="0" animBg="1"/>
      <p:bldP spid="184523" grpId="0" animBg="1"/>
      <p:bldP spid="184524" grpId="0" animBg="1"/>
      <p:bldP spid="184525" grpId="0" animBg="1"/>
      <p:bldP spid="184526" grpId="0" autoUpdateAnimBg="0"/>
      <p:bldP spid="184527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19CD-824F-4BBD-98C0-740D8BC28417}" type="slidenum">
              <a:rPr lang="en-US" altLang="zh-CN"/>
            </a:fld>
            <a:endParaRPr lang="en-US" altLang="zh-CN"/>
          </a:p>
        </p:txBody>
      </p:sp>
      <p:graphicFrame>
        <p:nvGraphicFramePr>
          <p:cNvPr id="186450" name="Object 8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00200" y="1871663"/>
          <a:ext cx="6781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4" name="公式" r:id="rId1" imgW="3352800" imgH="254000" progId="Equation.3">
                  <p:embed/>
                </p:oleObj>
              </mc:Choice>
              <mc:Fallback>
                <p:oleObj name="公式" r:id="rId1" imgW="3352800" imgH="254000" progId="Equation.3">
                  <p:embed/>
                  <p:pic>
                    <p:nvPicPr>
                      <p:cNvPr id="0" name="图片 676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71663"/>
                        <a:ext cx="67818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49" name="Rectangle 81"/>
          <p:cNvSpPr>
            <a:spLocks noChangeArrowheads="1"/>
          </p:cNvSpPr>
          <p:nvPr/>
        </p:nvSpPr>
        <p:spPr bwMode="auto">
          <a:xfrm>
            <a:off x="228600" y="1371600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用卡诺图直观观察：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6539" name="Group 171"/>
          <p:cNvGrpSpPr/>
          <p:nvPr/>
        </p:nvGrpSpPr>
        <p:grpSpPr bwMode="auto">
          <a:xfrm>
            <a:off x="1698625" y="2281238"/>
            <a:ext cx="4176713" cy="4275137"/>
            <a:chOff x="1070" y="1437"/>
            <a:chExt cx="2631" cy="2693"/>
          </a:xfrm>
        </p:grpSpPr>
        <p:grpSp>
          <p:nvGrpSpPr>
            <p:cNvPr id="186451" name="Group 83"/>
            <p:cNvGrpSpPr/>
            <p:nvPr/>
          </p:nvGrpSpPr>
          <p:grpSpPr bwMode="auto">
            <a:xfrm>
              <a:off x="1161" y="1681"/>
              <a:ext cx="2540" cy="2449"/>
              <a:chOff x="1429" y="1389"/>
              <a:chExt cx="2540" cy="2449"/>
            </a:xfrm>
          </p:grpSpPr>
          <p:sp>
            <p:nvSpPr>
              <p:cNvPr id="186452" name="Rectangle 84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3" name="Rectangle 85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4" name="Rectangle 86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5" name="Rectangle 87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6" name="Rectangle 88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7" name="Rectangle 89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8" name="Rectangle 90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9" name="Rectangle 91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0" name="Rectangle 92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1" name="Rectangle 93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2" name="Rectangle 94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3" name="Rectangle 95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4" name="Rectangle 96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5" name="Rectangle 97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6" name="Rectangle 98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7" name="Rectangle 99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8" name="Line 10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69" name="Line 101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0" name="Line 102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1" name="Line 103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2" name="Line 104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3" name="Line 10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4" name="Line 106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5" name="Line 107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6" name="Line 108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7" name="Line 109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8" name="Line 110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6538" name="Group 170"/>
            <p:cNvGrpSpPr/>
            <p:nvPr/>
          </p:nvGrpSpPr>
          <p:grpSpPr bwMode="auto">
            <a:xfrm>
              <a:off x="1070" y="1437"/>
              <a:ext cx="2585" cy="2557"/>
              <a:chOff x="1070" y="1437"/>
              <a:chExt cx="2585" cy="2557"/>
            </a:xfrm>
          </p:grpSpPr>
          <p:grpSp>
            <p:nvGrpSpPr>
              <p:cNvPr id="186479" name="Group 111"/>
              <p:cNvGrpSpPr/>
              <p:nvPr/>
            </p:nvGrpSpPr>
            <p:grpSpPr bwMode="auto">
              <a:xfrm>
                <a:off x="1206" y="1681"/>
                <a:ext cx="2449" cy="2313"/>
                <a:chOff x="885" y="1571"/>
                <a:chExt cx="2449" cy="2313"/>
              </a:xfrm>
            </p:grpSpPr>
            <p:grpSp>
              <p:nvGrpSpPr>
                <p:cNvPr id="186480" name="Group 112"/>
                <p:cNvGrpSpPr/>
                <p:nvPr/>
              </p:nvGrpSpPr>
              <p:grpSpPr bwMode="auto">
                <a:xfrm>
                  <a:off x="1338" y="1571"/>
                  <a:ext cx="1996" cy="288"/>
                  <a:chOff x="1927" y="1389"/>
                  <a:chExt cx="1996" cy="288"/>
                </a:xfrm>
              </p:grpSpPr>
              <p:sp>
                <p:nvSpPr>
                  <p:cNvPr id="186481" name="Text Box 1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7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00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2" name="Text Box 1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6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11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3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72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01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4" name="Text Box 1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0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10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186485" name="Group 117"/>
                <p:cNvGrpSpPr/>
                <p:nvPr/>
              </p:nvGrpSpPr>
              <p:grpSpPr bwMode="auto">
                <a:xfrm>
                  <a:off x="885" y="2054"/>
                  <a:ext cx="363" cy="1830"/>
                  <a:chOff x="1474" y="1872"/>
                  <a:chExt cx="363" cy="1830"/>
                </a:xfrm>
              </p:grpSpPr>
              <p:sp>
                <p:nvSpPr>
                  <p:cNvPr id="186486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1872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00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7" name="Text Box 1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915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11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8" name="Text Box 1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371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01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186489" name="Text Box 1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3414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>
                        <a:latin typeface="Tahoma" panose="020B0604030504040204" pitchFamily="34" charset="0"/>
                      </a:rPr>
                      <a:t>10</a:t>
                    </a:r>
                    <a:endParaRPr kumimoji="0" lang="en-US" altLang="zh-CN">
                      <a:latin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186490" name="Group 122"/>
              <p:cNvGrpSpPr/>
              <p:nvPr/>
            </p:nvGrpSpPr>
            <p:grpSpPr bwMode="auto">
              <a:xfrm>
                <a:off x="1680" y="2118"/>
                <a:ext cx="1934" cy="1876"/>
                <a:chOff x="2019" y="2099"/>
                <a:chExt cx="1934" cy="1876"/>
              </a:xfrm>
            </p:grpSpPr>
            <p:sp>
              <p:nvSpPr>
                <p:cNvPr id="186491" name="Rectangle 123"/>
                <p:cNvSpPr>
                  <a:spLocks noChangeArrowheads="1"/>
                </p:cNvSpPr>
                <p:nvPr/>
              </p:nvSpPr>
              <p:spPr bwMode="auto">
                <a:xfrm>
                  <a:off x="2586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2" name="Rectangle 124"/>
                <p:cNvSpPr>
                  <a:spLocks noChangeArrowheads="1"/>
                </p:cNvSpPr>
                <p:nvPr/>
              </p:nvSpPr>
              <p:spPr bwMode="auto">
                <a:xfrm>
                  <a:off x="2019" y="210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3" name="Rectangle 125"/>
                <p:cNvSpPr>
                  <a:spLocks noChangeArrowheads="1"/>
                </p:cNvSpPr>
                <p:nvPr/>
              </p:nvSpPr>
              <p:spPr bwMode="auto">
                <a:xfrm>
                  <a:off x="3108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4" name="Rectangle 126"/>
                <p:cNvSpPr>
                  <a:spLocks noChangeArrowheads="1"/>
                </p:cNvSpPr>
                <p:nvPr/>
              </p:nvSpPr>
              <p:spPr bwMode="auto">
                <a:xfrm>
                  <a:off x="3652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5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87" y="259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6" name="Rectangle 128"/>
                <p:cNvSpPr>
                  <a:spLocks noChangeArrowheads="1"/>
                </p:cNvSpPr>
                <p:nvPr/>
              </p:nvSpPr>
              <p:spPr bwMode="auto">
                <a:xfrm>
                  <a:off x="2043" y="25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7" name="Rectangle 129"/>
                <p:cNvSpPr>
                  <a:spLocks noChangeArrowheads="1"/>
                </p:cNvSpPr>
                <p:nvPr/>
              </p:nvSpPr>
              <p:spPr bwMode="auto">
                <a:xfrm>
                  <a:off x="3131" y="259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8" name="Rectangle 130"/>
                <p:cNvSpPr>
                  <a:spLocks noChangeArrowheads="1"/>
                </p:cNvSpPr>
                <p:nvPr/>
              </p:nvSpPr>
              <p:spPr bwMode="auto">
                <a:xfrm>
                  <a:off x="3676" y="2613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499" name="Rectangle 131"/>
                <p:cNvSpPr>
                  <a:spLocks noChangeArrowheads="1"/>
                </p:cNvSpPr>
                <p:nvPr/>
              </p:nvSpPr>
              <p:spPr bwMode="auto">
                <a:xfrm>
                  <a:off x="2587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0" name="Rectangle 132"/>
                <p:cNvSpPr>
                  <a:spLocks noChangeArrowheads="1"/>
                </p:cNvSpPr>
                <p:nvPr/>
              </p:nvSpPr>
              <p:spPr bwMode="auto">
                <a:xfrm>
                  <a:off x="2043" y="3158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1" name="Rectangle 133"/>
                <p:cNvSpPr>
                  <a:spLocks noChangeArrowheads="1"/>
                </p:cNvSpPr>
                <p:nvPr/>
              </p:nvSpPr>
              <p:spPr bwMode="auto">
                <a:xfrm>
                  <a:off x="3108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2" name="Rectangle 134"/>
                <p:cNvSpPr>
                  <a:spLocks noChangeArrowheads="1"/>
                </p:cNvSpPr>
                <p:nvPr/>
              </p:nvSpPr>
              <p:spPr bwMode="auto">
                <a:xfrm>
                  <a:off x="3652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3" name="Rectangle 135"/>
                <p:cNvSpPr>
                  <a:spLocks noChangeArrowheads="1"/>
                </p:cNvSpPr>
                <p:nvPr/>
              </p:nvSpPr>
              <p:spPr bwMode="auto">
                <a:xfrm>
                  <a:off x="2609" y="368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86504" name="Rectangle 136"/>
                <p:cNvSpPr>
                  <a:spLocks noChangeArrowheads="1"/>
                </p:cNvSpPr>
                <p:nvPr/>
              </p:nvSpPr>
              <p:spPr bwMode="auto">
                <a:xfrm>
                  <a:off x="2043" y="3687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5" name="Rectangle 137"/>
                <p:cNvSpPr>
                  <a:spLocks noChangeArrowheads="1"/>
                </p:cNvSpPr>
                <p:nvPr/>
              </p:nvSpPr>
              <p:spPr bwMode="auto">
                <a:xfrm>
                  <a:off x="3153" y="368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6506" name="Rectangle 138"/>
                <p:cNvSpPr>
                  <a:spLocks noChangeArrowheads="1"/>
                </p:cNvSpPr>
                <p:nvPr/>
              </p:nvSpPr>
              <p:spPr bwMode="auto">
                <a:xfrm>
                  <a:off x="3676" y="368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6507" name="Group 139"/>
              <p:cNvGrpSpPr/>
              <p:nvPr/>
            </p:nvGrpSpPr>
            <p:grpSpPr bwMode="auto">
              <a:xfrm>
                <a:off x="1070" y="1437"/>
                <a:ext cx="545" cy="742"/>
                <a:chOff x="1337" y="1162"/>
                <a:chExt cx="545" cy="742"/>
              </a:xfrm>
            </p:grpSpPr>
            <p:sp>
              <p:nvSpPr>
                <p:cNvPr id="18650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B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86509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A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86510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D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86511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C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</p:grpSp>
      </p:grpSp>
      <p:grpSp>
        <p:nvGrpSpPr>
          <p:cNvPr id="186515" name="Group 147"/>
          <p:cNvGrpSpPr/>
          <p:nvPr/>
        </p:nvGrpSpPr>
        <p:grpSpPr bwMode="auto">
          <a:xfrm>
            <a:off x="5105400" y="2971800"/>
            <a:ext cx="792163" cy="3602038"/>
            <a:chOff x="3334" y="1797"/>
            <a:chExt cx="499" cy="2269"/>
          </a:xfrm>
        </p:grpSpPr>
        <p:grpSp>
          <p:nvGrpSpPr>
            <p:cNvPr id="186516" name="Group 148"/>
            <p:cNvGrpSpPr/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186517" name="Rectangle 149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518" name="Rectangle 150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519" name="Text Box 151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P2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86520" name="Group 152"/>
          <p:cNvGrpSpPr/>
          <p:nvPr/>
        </p:nvGrpSpPr>
        <p:grpSpPr bwMode="auto">
          <a:xfrm>
            <a:off x="2347913" y="4108450"/>
            <a:ext cx="3671887" cy="574675"/>
            <a:chOff x="1565" y="2478"/>
            <a:chExt cx="2313" cy="362"/>
          </a:xfrm>
        </p:grpSpPr>
        <p:grpSp>
          <p:nvGrpSpPr>
            <p:cNvPr id="186521" name="Group 153"/>
            <p:cNvGrpSpPr/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186522" name="Rectangle 154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523" name="Rectangle 155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524" name="Text Box 156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P3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86528" name="Group 160"/>
          <p:cNvGrpSpPr/>
          <p:nvPr/>
        </p:nvGrpSpPr>
        <p:grpSpPr bwMode="auto">
          <a:xfrm>
            <a:off x="3427413" y="5043488"/>
            <a:ext cx="1439862" cy="576262"/>
            <a:chOff x="2245" y="3067"/>
            <a:chExt cx="907" cy="363"/>
          </a:xfrm>
        </p:grpSpPr>
        <p:sp>
          <p:nvSpPr>
            <p:cNvPr id="186529" name="Rectangle 161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530" name="Text Box 162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P6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186531" name="Group 163"/>
          <p:cNvGrpSpPr/>
          <p:nvPr/>
        </p:nvGrpSpPr>
        <p:grpSpPr bwMode="auto">
          <a:xfrm>
            <a:off x="2635250" y="5043488"/>
            <a:ext cx="1296988" cy="1296987"/>
            <a:chOff x="1746" y="3067"/>
            <a:chExt cx="817" cy="817"/>
          </a:xfrm>
        </p:grpSpPr>
        <p:sp>
          <p:nvSpPr>
            <p:cNvPr id="186532" name="Rectangle 164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533" name="Text Box 165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P7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7A0-A205-42F6-9242-F7669125335B}" type="slidenum">
              <a:rPr lang="en-US" altLang="zh-CN"/>
            </a:fld>
            <a:endParaRPr lang="en-US" altLang="zh-CN"/>
          </a:p>
        </p:txBody>
      </p:sp>
      <p:sp>
        <p:nvSpPr>
          <p:cNvPr id="320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为了便于同学们直观理解，举例化简如下函数（该函数为最简）</a:t>
            </a:r>
            <a:endParaRPr lang="zh-CN" altLang="en-US" dirty="0"/>
          </a:p>
        </p:txBody>
      </p:sp>
      <p:graphicFrame>
        <p:nvGraphicFramePr>
          <p:cNvPr id="320516" name="Object 4"/>
          <p:cNvGraphicFramePr>
            <a:graphicFrameLocks noChangeAspect="1"/>
          </p:cNvGraphicFramePr>
          <p:nvPr/>
        </p:nvGraphicFramePr>
        <p:xfrm>
          <a:off x="144463" y="3033713"/>
          <a:ext cx="2909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6" name="公式" r:id="rId1" imgW="1320165" imgH="266700" progId="Equation.3">
                  <p:embed/>
                </p:oleObj>
              </mc:Choice>
              <mc:Fallback>
                <p:oleObj name="公式" r:id="rId1" imgW="1320165" imgH="266700" progId="Equation.3">
                  <p:embed/>
                  <p:pic>
                    <p:nvPicPr>
                      <p:cNvPr id="0" name="图片 687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3033713"/>
                        <a:ext cx="29098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0517" name="Group 5"/>
          <p:cNvGrpSpPr/>
          <p:nvPr/>
        </p:nvGrpSpPr>
        <p:grpSpPr bwMode="auto">
          <a:xfrm>
            <a:off x="5486400" y="2590800"/>
            <a:ext cx="3338513" cy="3448050"/>
            <a:chOff x="1584" y="1248"/>
            <a:chExt cx="2103" cy="2172"/>
          </a:xfrm>
        </p:grpSpPr>
        <p:sp>
          <p:nvSpPr>
            <p:cNvPr id="320518" name="Text Box 6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19" name="Text Box 7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0" name="Text Box 8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1" name="Text Box 9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2" name="Text Box 10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3" name="Text Box 11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4" name="Text Box 12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01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sp>
          <p:nvSpPr>
            <p:cNvPr id="320525" name="Text Box 13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latin typeface="Tahoma" panose="020B0604030504040204" pitchFamily="34" charset="0"/>
                </a:rPr>
                <a:t>10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  <p:grpSp>
          <p:nvGrpSpPr>
            <p:cNvPr id="320526" name="Group 14"/>
            <p:cNvGrpSpPr/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20527" name="Group 15"/>
              <p:cNvGrpSpPr/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20528" name="Group 16"/>
                <p:cNvGrpSpPr/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2052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8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9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4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anose="05000000000000000000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9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1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2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5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0556" name="Rectangle 44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57" name="Rectangle 45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58" name="Rectangle 46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59" name="Rectangle 47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0" name="Rectangle 48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1" name="Rectangle 49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3" name="Rectangle 51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4" name="Rectangle 52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5" name="Rectangle 53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6" name="Rectangle 54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7" name="Rectangle 55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68" name="Rectangle 56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569" name="Rectangle 57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1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70" name="Rectangle 58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0571" name="Rectangle 59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>
                      <a:latin typeface="Tahoma" panose="020B0604030504040204" pitchFamily="34" charset="0"/>
                    </a:rPr>
                    <a:t>0</a:t>
                  </a:r>
                  <a:r>
                    <a:rPr kumimoji="0" lang="en-US" altLang="zh-CN" b="1">
                      <a:latin typeface="Tahoma" panose="020B0604030504040204" pitchFamily="34" charset="0"/>
                      <a:ea typeface="幼圆" panose="02010509060101010101" pitchFamily="49" charset="-122"/>
                      <a:cs typeface="Times New Roman" panose="02020603050405020304" pitchFamily="18" charset="0"/>
                    </a:rPr>
                    <a:t> </a:t>
                  </a:r>
                  <a:endParaRPr kumimoji="0" lang="en-US" altLang="zh-CN" b="1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20572" name="Group 60"/>
              <p:cNvGrpSpPr/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2057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B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57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A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57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D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57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>
                      <a:latin typeface="Tahoma" panose="020B0604030504040204" pitchFamily="34" charset="0"/>
                    </a:rPr>
                    <a:t>C</a:t>
                  </a:r>
                  <a:endParaRPr kumimoji="0" lang="en-US" altLang="zh-CN">
                    <a:latin typeface="Tahoma" panose="020B0604030504040204" pitchFamily="34" charset="0"/>
                  </a:endParaRPr>
                </a:p>
              </p:txBody>
            </p:sp>
          </p:grpSp>
        </p:grpSp>
      </p:grpSp>
      <p:graphicFrame>
        <p:nvGraphicFramePr>
          <p:cNvPr id="320577" name="Object 65"/>
          <p:cNvGraphicFramePr>
            <a:graphicFrameLocks noChangeAspect="1"/>
          </p:cNvGraphicFramePr>
          <p:nvPr/>
        </p:nvGraphicFramePr>
        <p:xfrm>
          <a:off x="533400" y="3733800"/>
          <a:ext cx="49799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7" name="公式" r:id="rId3" imgW="2260600" imgH="215900" progId="Equation.3">
                  <p:embed/>
                </p:oleObj>
              </mc:Choice>
              <mc:Fallback>
                <p:oleObj name="公式" r:id="rId3" imgW="2260600" imgH="215900" progId="Equation.3">
                  <p:embed/>
                  <p:pic>
                    <p:nvPicPr>
                      <p:cNvPr id="0" name="图片 687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733800"/>
                        <a:ext cx="497998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78" name="Rectangle 66"/>
          <p:cNvSpPr>
            <a:spLocks noChangeArrowheads="1"/>
          </p:cNvSpPr>
          <p:nvPr/>
        </p:nvSpPr>
        <p:spPr bwMode="auto">
          <a:xfrm>
            <a:off x="381000" y="4495800"/>
            <a:ext cx="4800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>
                <a:latin typeface="华文新魏" panose="02010800040101010101" pitchFamily="2" charset="-122"/>
                <a:ea typeface="华文新魏" panose="02010800040101010101" pitchFamily="2" charset="-122"/>
              </a:rPr>
              <a:t>用表格法化简过程如何？</a:t>
            </a:r>
            <a:endParaRPr lang="zh-CN" altLang="en-US" sz="26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7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199E-7B38-4B78-A5A7-23B29ABC5C18}" type="slidenum">
              <a:rPr lang="en-US" altLang="zh-CN"/>
            </a:fld>
            <a:endParaRPr lang="en-US" altLang="zh-CN"/>
          </a:p>
        </p:txBody>
      </p:sp>
      <p:sp>
        <p:nvSpPr>
          <p:cNvPr id="3215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第一步：求出函数全部的质蕴涵项</a:t>
            </a:r>
            <a:endParaRPr lang="zh-CN" altLang="en-US"/>
          </a:p>
        </p:txBody>
      </p:sp>
      <p:graphicFrame>
        <p:nvGraphicFramePr>
          <p:cNvPr id="321540" name="Object 4"/>
          <p:cNvGraphicFramePr>
            <a:graphicFrameLocks noChangeAspect="1"/>
          </p:cNvGraphicFramePr>
          <p:nvPr/>
        </p:nvGraphicFramePr>
        <p:xfrm>
          <a:off x="601663" y="2347913"/>
          <a:ext cx="2909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1" name="公式" r:id="rId1" imgW="1320165" imgH="266700" progId="Equation.3">
                  <p:embed/>
                </p:oleObj>
              </mc:Choice>
              <mc:Fallback>
                <p:oleObj name="公式" r:id="rId1" imgW="1320165" imgH="266700" progId="Equation.3">
                  <p:embed/>
                  <p:pic>
                    <p:nvPicPr>
                      <p:cNvPr id="0" name="图片 696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2347913"/>
                        <a:ext cx="29098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Rectangle 5"/>
          <p:cNvSpPr>
            <a:spLocks noChangeArrowheads="1"/>
          </p:cNvSpPr>
          <p:nvPr/>
        </p:nvSpPr>
        <p:spPr bwMode="auto">
          <a:xfrm>
            <a:off x="609600" y="3268058"/>
            <a:ext cx="403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）先把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中的各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32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，按下标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中“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的个数，由少到多，分组排队列表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见表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I) 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。组号是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sz="3200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中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所包含“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的个数。</a:t>
            </a:r>
            <a:endParaRPr kumimoji="0"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21618" name="Group 82"/>
          <p:cNvGrpSpPr/>
          <p:nvPr/>
        </p:nvGrpSpPr>
        <p:grpSpPr bwMode="auto">
          <a:xfrm>
            <a:off x="5459413" y="2667000"/>
            <a:ext cx="2873375" cy="2743200"/>
            <a:chOff x="3439" y="1296"/>
            <a:chExt cx="1810" cy="1728"/>
          </a:xfrm>
        </p:grpSpPr>
        <p:sp>
          <p:nvSpPr>
            <p:cNvPr id="321544" name="Rectangle 8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45" name="Rectangle 9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46" name="Rectangle 10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47" name="Rectangle 11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48" name="Rectangle 12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15</a:t>
              </a:r>
              <a:endParaRPr lang="en-US" altLang="zh-CN" sz="2000"/>
            </a:p>
          </p:txBody>
        </p:sp>
        <p:sp>
          <p:nvSpPr>
            <p:cNvPr id="321554" name="Rectangle 18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1576" name="Rectangle 40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77" name="Rectangle 41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78" name="Rectangle 42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79" name="Rectangle 43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80" name="Rectangle 44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</a:t>
              </a:r>
              <a:endParaRPr lang="en-US" altLang="zh-CN" sz="2000"/>
            </a:p>
          </p:txBody>
        </p:sp>
        <p:sp>
          <p:nvSpPr>
            <p:cNvPr id="321581" name="Rectangle 45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82" name="Rectangle 46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83" name="Rectangle 47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84" name="Rectangle 48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85" name="Rectangle 49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1586" name="Rectangle 50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87" name="Rectangle 51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88" name="Rectangle 52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89" name="Rectangle 53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1590" name="Rectangle 54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321591" name="Rectangle 55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1592" name="Rectangle 56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  <a:endParaRPr lang="en-US" altLang="zh-CN" sz="2000"/>
            </a:p>
          </p:txBody>
        </p:sp>
        <p:sp>
          <p:nvSpPr>
            <p:cNvPr id="321593" name="Rectangle 57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  <a:endParaRPr lang="en-US" altLang="zh-CN" sz="2000"/>
            </a:p>
          </p:txBody>
        </p:sp>
        <p:sp>
          <p:nvSpPr>
            <p:cNvPr id="321594" name="Rectangle 58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C</a:t>
              </a:r>
              <a:endParaRPr lang="en-US" altLang="zh-CN" sz="2000"/>
            </a:p>
          </p:txBody>
        </p:sp>
        <p:sp>
          <p:nvSpPr>
            <p:cNvPr id="321595" name="Rectangle 59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D</a:t>
              </a:r>
              <a:endParaRPr lang="en-US" altLang="zh-CN" sz="2000"/>
            </a:p>
          </p:txBody>
        </p:sp>
        <p:sp>
          <p:nvSpPr>
            <p:cNvPr id="321596" name="Rectangle 60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最小项</a:t>
              </a:r>
              <a:endParaRPr lang="zh-CN" altLang="en-US" sz="2000"/>
            </a:p>
          </p:txBody>
        </p:sp>
        <p:sp>
          <p:nvSpPr>
            <p:cNvPr id="321597" name="Rectangle 61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组号</a:t>
              </a:r>
              <a:endParaRPr lang="zh-CN" altLang="en-US" sz="2000"/>
            </a:p>
          </p:txBody>
        </p:sp>
        <p:sp>
          <p:nvSpPr>
            <p:cNvPr id="321598" name="Line 62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599" name="Line 63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0" name="Line 64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2" name="Line 66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3" name="Line 67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4" name="Line 68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5" name="Line 69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6" name="Line 70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7" name="Line 71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8" name="Line 72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9" name="Line 73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0" name="Line 74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1" name="Line 75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6" name="Rectangle 80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821-2F23-4979-A4DD-942FF0F8377B}" type="slidenum">
              <a:rPr lang="en-US" altLang="zh-CN"/>
            </a:fld>
            <a:endParaRPr lang="en-US" altLang="zh-CN"/>
          </a:p>
        </p:txBody>
      </p:sp>
      <p:sp>
        <p:nvSpPr>
          <p:cNvPr id="322564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ahoma" panose="020B0604030504040204" pitchFamily="34" charset="0"/>
              </a:rPr>
              <a:t>2</a:t>
            </a:r>
            <a:r>
              <a:rPr kumimoji="0" lang="zh-CN" altLang="en-US" sz="2400">
                <a:latin typeface="Tahoma" panose="020B0604030504040204" pitchFamily="34" charset="0"/>
              </a:rPr>
              <a:t>）在表</a:t>
            </a:r>
            <a:r>
              <a:rPr kumimoji="0" lang="en-US" altLang="zh-CN" sz="2400">
                <a:latin typeface="Tahoma" panose="020B0604030504040204" pitchFamily="34" charset="0"/>
              </a:rPr>
              <a:t>I</a:t>
            </a:r>
            <a:r>
              <a:rPr kumimoji="0" lang="zh-CN" altLang="en-US" sz="2400">
                <a:latin typeface="Tahoma" panose="020B0604030504040204" pitchFamily="34" charset="0"/>
              </a:rPr>
              <a:t>的相邻组间进行逐项搜索，寻找相邻项，把可以合并的记在</a:t>
            </a:r>
            <a:r>
              <a:rPr kumimoji="0" lang="zh-CN" altLang="en-US" sz="2400">
                <a:latin typeface="Tahoma" panose="020B0604030504040204" pitchFamily="34" charset="0"/>
                <a:hlinkClick r:id="rId1" action="ppaction://hlinksldjump"/>
              </a:rPr>
              <a:t>表</a:t>
            </a:r>
            <a:r>
              <a:rPr kumimoji="0" lang="en-US" altLang="zh-CN" sz="2400">
                <a:latin typeface="Tahoma" panose="020B0604030504040204" pitchFamily="34" charset="0"/>
                <a:hlinkClick r:id="rId1" action="ppaction://hlinksldjump"/>
              </a:rPr>
              <a:t>II</a:t>
            </a:r>
            <a:r>
              <a:rPr kumimoji="0" lang="zh-CN" altLang="en-US" sz="2400">
                <a:latin typeface="Tahoma" panose="020B0604030504040204" pitchFamily="34" charset="0"/>
              </a:rPr>
              <a:t>中，并在表</a:t>
            </a:r>
            <a:r>
              <a:rPr kumimoji="0" lang="en-US" altLang="zh-CN" sz="2400">
                <a:latin typeface="Tahoma" panose="020B0604030504040204" pitchFamily="34" charset="0"/>
              </a:rPr>
              <a:t>I</a:t>
            </a:r>
            <a:r>
              <a:rPr kumimoji="0" lang="zh-CN" altLang="en-US" sz="2400">
                <a:latin typeface="Tahoma" panose="020B0604030504040204" pitchFamily="34" charset="0"/>
              </a:rPr>
              <a:t>中相应的最小项旁作记号</a:t>
            </a:r>
            <a:r>
              <a:rPr kumimoji="0" lang="zh-CN" altLang="en-US" sz="2400">
                <a:latin typeface="Arial" panose="020B0604020202020204"/>
              </a:rPr>
              <a:t>“</a:t>
            </a:r>
            <a:r>
              <a:rPr kumimoji="0" lang="zh-CN" altLang="en-US" sz="2400">
                <a:latin typeface="Tahoma" panose="020B0604030504040204" pitchFamily="34" charset="0"/>
              </a:rPr>
              <a:t>√</a:t>
            </a:r>
            <a:r>
              <a:rPr kumimoji="0" lang="zh-CN" altLang="en-US" sz="2400">
                <a:latin typeface="Arial" panose="020B0604020202020204"/>
              </a:rPr>
              <a:t>”</a:t>
            </a:r>
            <a:r>
              <a:rPr kumimoji="0" lang="zh-CN" altLang="en-US" sz="2400">
                <a:latin typeface="Tahoma" panose="020B0604030504040204" pitchFamily="34" charset="0"/>
              </a:rPr>
              <a:t>。表</a:t>
            </a:r>
            <a:r>
              <a:rPr kumimoji="0" lang="en-US" altLang="zh-CN" sz="2400">
                <a:latin typeface="Tahoma" panose="020B0604030504040204" pitchFamily="34" charset="0"/>
              </a:rPr>
              <a:t>II</a:t>
            </a:r>
            <a:r>
              <a:rPr kumimoji="0" lang="zh-CN" altLang="en-US" sz="2400">
                <a:latin typeface="Tahoma" panose="020B0604030504040204" pitchFamily="34" charset="0"/>
              </a:rPr>
              <a:t>所列均是变量数为</a:t>
            </a:r>
            <a:r>
              <a:rPr kumimoji="0" lang="en-US" altLang="zh-CN" sz="2400">
                <a:latin typeface="Tahoma" panose="020B0604030504040204" pitchFamily="34" charset="0"/>
              </a:rPr>
              <a:t>n-1</a:t>
            </a:r>
            <a:r>
              <a:rPr kumimoji="0" lang="zh-CN" altLang="en-US" sz="2400">
                <a:latin typeface="Tahoma" panose="020B0604030504040204" pitchFamily="34" charset="0"/>
              </a:rPr>
              <a:t>的与项（</a:t>
            </a:r>
            <a:r>
              <a:rPr kumimoji="0" lang="en-US" altLang="zh-CN" sz="2400">
                <a:latin typeface="Tahoma" panose="020B0604030504040204" pitchFamily="34" charset="0"/>
              </a:rPr>
              <a:t>n</a:t>
            </a:r>
            <a:r>
              <a:rPr kumimoji="0" lang="zh-CN" altLang="en-US" sz="2400">
                <a:latin typeface="Tahoma" panose="020B0604030504040204" pitchFamily="34" charset="0"/>
              </a:rPr>
              <a:t>是</a:t>
            </a:r>
            <a:r>
              <a:rPr kumimoji="0" lang="en-US" altLang="zh-CN" sz="2400">
                <a:latin typeface="Tahoma" panose="020B0604030504040204" pitchFamily="34" charset="0"/>
              </a:rPr>
              <a:t>F</a:t>
            </a:r>
            <a:r>
              <a:rPr kumimoji="0" lang="zh-CN" altLang="en-US" sz="2400">
                <a:latin typeface="Tahoma" panose="020B0604030504040204" pitchFamily="34" charset="0"/>
              </a:rPr>
              <a:t>的变量数），它们同样按与项所含</a:t>
            </a:r>
            <a:r>
              <a:rPr kumimoji="0" lang="zh-CN" altLang="en-US" sz="2400">
                <a:latin typeface="Arial" panose="020B0604020202020204"/>
              </a:rPr>
              <a:t>“</a:t>
            </a:r>
            <a:r>
              <a:rPr kumimoji="0" lang="en-US" altLang="zh-CN" sz="2400">
                <a:latin typeface="Tahoma" panose="020B0604030504040204" pitchFamily="34" charset="0"/>
              </a:rPr>
              <a:t>1</a:t>
            </a:r>
            <a:r>
              <a:rPr kumimoji="0" lang="en-US" altLang="zh-CN" sz="2400">
                <a:latin typeface="Arial" panose="020B0604020202020204"/>
              </a:rPr>
              <a:t>”</a:t>
            </a:r>
            <a:r>
              <a:rPr kumimoji="0" lang="zh-CN" altLang="en-US" sz="2400">
                <a:latin typeface="Tahoma" panose="020B0604030504040204" pitchFamily="34" charset="0"/>
              </a:rPr>
              <a:t>的个数由少到多，分组排列。 </a:t>
            </a:r>
            <a:endParaRPr kumimoji="0" lang="zh-CN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>
                <a:latin typeface="Tahoma" panose="020B0604030504040204" pitchFamily="34" charset="0"/>
              </a:rPr>
              <a:t>3</a:t>
            </a:r>
            <a:r>
              <a:rPr kumimoji="0" lang="zh-CN" altLang="en-US" sz="2400">
                <a:latin typeface="Tahoma" panose="020B0604030504040204" pitchFamily="34" charset="0"/>
              </a:rPr>
              <a:t>）重复上述过程，直到不能合并为止。</a:t>
            </a:r>
            <a:endParaRPr kumimoji="0"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322565" name="Group 5"/>
          <p:cNvGrpSpPr/>
          <p:nvPr/>
        </p:nvGrpSpPr>
        <p:grpSpPr bwMode="auto">
          <a:xfrm>
            <a:off x="762000" y="3810000"/>
            <a:ext cx="2873375" cy="2743200"/>
            <a:chOff x="3439" y="1296"/>
            <a:chExt cx="1810" cy="1728"/>
          </a:xfrm>
        </p:grpSpPr>
        <p:sp>
          <p:nvSpPr>
            <p:cNvPr id="322566" name="Rectangle 6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67" name="Rectangle 7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68" name="Rectangle 8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69" name="Rectangle 9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70" name="Rectangle 10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15</a:t>
              </a:r>
              <a:endParaRPr lang="en-US" altLang="zh-CN" sz="2000"/>
            </a:p>
          </p:txBody>
        </p:sp>
        <p:sp>
          <p:nvSpPr>
            <p:cNvPr id="322571" name="Rectangle 11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2572" name="Rectangle 12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73" name="Rectangle 13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74" name="Rectangle 14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75" name="Rectangle 15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76" name="Rectangle 16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</a:t>
              </a:r>
              <a:endParaRPr lang="en-US" altLang="zh-CN" sz="2000"/>
            </a:p>
          </p:txBody>
        </p:sp>
        <p:sp>
          <p:nvSpPr>
            <p:cNvPr id="322577" name="Rectangle 17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78" name="Rectangle 18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79" name="Rectangle 19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80" name="Rectangle 20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81" name="Rectangle 21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2582" name="Rectangle 22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83" name="Rectangle 23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84" name="Rectangle 24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85" name="Rectangle 25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2586" name="Rectangle 26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322587" name="Rectangle 27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2588" name="Rectangle 28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  <a:endParaRPr lang="en-US" altLang="zh-CN" sz="2000"/>
            </a:p>
          </p:txBody>
        </p:sp>
        <p:sp>
          <p:nvSpPr>
            <p:cNvPr id="322589" name="Rectangle 29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  <a:endParaRPr lang="en-US" altLang="zh-CN" sz="2000"/>
            </a:p>
          </p:txBody>
        </p:sp>
        <p:sp>
          <p:nvSpPr>
            <p:cNvPr id="322590" name="Rectangle 30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C</a:t>
              </a:r>
              <a:endParaRPr lang="en-US" altLang="zh-CN" sz="2000"/>
            </a:p>
          </p:txBody>
        </p:sp>
        <p:sp>
          <p:nvSpPr>
            <p:cNvPr id="322591" name="Rectangle 31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D</a:t>
              </a:r>
              <a:endParaRPr lang="en-US" altLang="zh-CN" sz="2000"/>
            </a:p>
          </p:txBody>
        </p:sp>
        <p:sp>
          <p:nvSpPr>
            <p:cNvPr id="322592" name="Rectangle 32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最小项</a:t>
              </a:r>
              <a:endParaRPr lang="zh-CN" altLang="en-US" sz="2000"/>
            </a:p>
          </p:txBody>
        </p:sp>
        <p:sp>
          <p:nvSpPr>
            <p:cNvPr id="322593" name="Rectangle 33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组号</a:t>
              </a:r>
              <a:endParaRPr lang="zh-CN" altLang="en-US" sz="2000"/>
            </a:p>
          </p:txBody>
        </p:sp>
        <p:sp>
          <p:nvSpPr>
            <p:cNvPr id="322594" name="Line 34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5" name="Line 35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6" name="Line 36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7" name="Line 37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8" name="Line 38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9" name="Line 39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0" name="Line 40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1" name="Line 41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2" name="Line 42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3" name="Line 43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4" name="Line 44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5" name="Line 45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6" name="Line 46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7" name="Rectangle 47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grpSp>
        <p:nvGrpSpPr>
          <p:cNvPr id="322608" name="Group 48"/>
          <p:cNvGrpSpPr/>
          <p:nvPr/>
        </p:nvGrpSpPr>
        <p:grpSpPr bwMode="auto">
          <a:xfrm>
            <a:off x="4343400" y="3733800"/>
            <a:ext cx="3924300" cy="1465263"/>
            <a:chOff x="2971" y="1282"/>
            <a:chExt cx="2472" cy="923"/>
          </a:xfrm>
        </p:grpSpPr>
        <p:grpSp>
          <p:nvGrpSpPr>
            <p:cNvPr id="322609" name="Group 49"/>
            <p:cNvGrpSpPr/>
            <p:nvPr/>
          </p:nvGrpSpPr>
          <p:grpSpPr bwMode="auto">
            <a:xfrm>
              <a:off x="2971" y="1615"/>
              <a:ext cx="2472" cy="590"/>
              <a:chOff x="3107" y="1344"/>
              <a:chExt cx="2472" cy="590"/>
            </a:xfrm>
          </p:grpSpPr>
          <p:sp>
            <p:nvSpPr>
              <p:cNvPr id="322610" name="Rectangle 50"/>
              <p:cNvSpPr>
                <a:spLocks noChangeArrowheads="1"/>
              </p:cNvSpPr>
              <p:nvPr/>
            </p:nvSpPr>
            <p:spPr bwMode="auto">
              <a:xfrm>
                <a:off x="3107" y="1662"/>
                <a:ext cx="505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 dirty="0"/>
                  <a:t>1</a:t>
                </a:r>
                <a:endParaRPr lang="en-US" altLang="zh-CN" sz="2000" dirty="0"/>
              </a:p>
            </p:txBody>
          </p:sp>
          <p:sp>
            <p:nvSpPr>
              <p:cNvPr id="322611" name="Rectangle 51"/>
              <p:cNvSpPr>
                <a:spLocks noChangeArrowheads="1"/>
              </p:cNvSpPr>
              <p:nvPr/>
            </p:nvSpPr>
            <p:spPr bwMode="auto">
              <a:xfrm>
                <a:off x="4423" y="1344"/>
                <a:ext cx="115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D   C   B   A</a:t>
                </a:r>
                <a:endParaRPr lang="en-US" altLang="zh-CN" sz="2000"/>
              </a:p>
            </p:txBody>
          </p:sp>
          <p:sp>
            <p:nvSpPr>
              <p:cNvPr id="322612" name="Rectangle 52"/>
              <p:cNvSpPr>
                <a:spLocks noChangeArrowheads="1"/>
              </p:cNvSpPr>
              <p:nvPr/>
            </p:nvSpPr>
            <p:spPr bwMode="auto">
              <a:xfrm>
                <a:off x="3612" y="1344"/>
                <a:ext cx="811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zh-CN" sz="2000"/>
                  <a:t>m</a:t>
                </a:r>
                <a:endParaRPr lang="en-US" altLang="zh-CN" sz="2000"/>
              </a:p>
            </p:txBody>
          </p:sp>
          <p:sp>
            <p:nvSpPr>
              <p:cNvPr id="322613" name="Rectangle 53"/>
              <p:cNvSpPr>
                <a:spLocks noChangeArrowheads="1"/>
              </p:cNvSpPr>
              <p:nvPr/>
            </p:nvSpPr>
            <p:spPr bwMode="auto">
              <a:xfrm>
                <a:off x="3107" y="1344"/>
                <a:ext cx="505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zh-CN" altLang="en-US" sz="2000"/>
                  <a:t>组号</a:t>
                </a:r>
                <a:endParaRPr lang="zh-CN" altLang="en-US" sz="2000"/>
              </a:p>
            </p:txBody>
          </p:sp>
          <p:sp>
            <p:nvSpPr>
              <p:cNvPr id="322614" name="Line 54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5" name="Line 55"/>
              <p:cNvSpPr>
                <a:spLocks noChangeShapeType="1"/>
              </p:cNvSpPr>
              <p:nvPr/>
            </p:nvSpPr>
            <p:spPr bwMode="auto">
              <a:xfrm>
                <a:off x="3107" y="1662"/>
                <a:ext cx="2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6" name="Line 56"/>
              <p:cNvSpPr>
                <a:spLocks noChangeShapeType="1"/>
              </p:cNvSpPr>
              <p:nvPr/>
            </p:nvSpPr>
            <p:spPr bwMode="auto">
              <a:xfrm>
                <a:off x="3107" y="193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7" name="Line 57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8" name="Line 58"/>
              <p:cNvSpPr>
                <a:spLocks noChangeShapeType="1"/>
              </p:cNvSpPr>
              <p:nvPr/>
            </p:nvSpPr>
            <p:spPr bwMode="auto">
              <a:xfrm>
                <a:off x="3612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9" name="Line 59"/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20" name="Line 60"/>
              <p:cNvSpPr>
                <a:spLocks noChangeShapeType="1"/>
              </p:cNvSpPr>
              <p:nvPr/>
            </p:nvSpPr>
            <p:spPr bwMode="auto">
              <a:xfrm>
                <a:off x="5579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2621" name="Rectangle 61"/>
            <p:cNvSpPr>
              <a:spLocks noChangeArrowheads="1"/>
            </p:cNvSpPr>
            <p:nvPr/>
          </p:nvSpPr>
          <p:spPr bwMode="auto">
            <a:xfrm>
              <a:off x="3969" y="1282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22622" name="Rectangle 62"/>
          <p:cNvSpPr>
            <a:spLocks noChangeArrowheads="1"/>
          </p:cNvSpPr>
          <p:nvPr/>
        </p:nvSpPr>
        <p:spPr bwMode="auto">
          <a:xfrm>
            <a:off x="4419600" y="5638800"/>
            <a:ext cx="41128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未打“√”的，标以</a:t>
            </a:r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P1~P4</a:t>
            </a:r>
            <a:endParaRPr kumimoji="0"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2624" name="Text Box 64"/>
          <p:cNvSpPr txBox="1">
            <a:spLocks noChangeArrowheads="1"/>
          </p:cNvSpPr>
          <p:nvPr/>
        </p:nvSpPr>
        <p:spPr bwMode="auto">
          <a:xfrm>
            <a:off x="3657600" y="4724400"/>
            <a:ext cx="53340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P1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P2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P3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P4</a:t>
            </a:r>
            <a:endParaRPr lang="en-US" altLang="zh-CN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 animBg="1" autoUpdateAnimBg="0"/>
      <p:bldP spid="322622" grpId="0" autoUpdateAnimBg="0"/>
      <p:bldP spid="322624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4AF06-40AE-44E8-9E89-B5667D9B02B6}" type="slidenum">
              <a:rPr lang="en-US" altLang="zh-CN"/>
            </a:fld>
            <a:endParaRPr lang="en-US" altLang="zh-CN"/>
          </a:p>
        </p:txBody>
      </p:sp>
      <p:sp>
        <p:nvSpPr>
          <p:cNvPr id="3235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第二步：从全部质蕴涵项中选出必要的质蕴涵项。</a:t>
            </a:r>
            <a:endParaRPr lang="zh-CN" altLang="en-US"/>
          </a:p>
        </p:txBody>
      </p:sp>
      <p:sp>
        <p:nvSpPr>
          <p:cNvPr id="323696" name="Rectangle 112"/>
          <p:cNvSpPr>
            <a:spLocks noChangeArrowheads="1"/>
          </p:cNvSpPr>
          <p:nvPr/>
        </p:nvSpPr>
        <p:spPr bwMode="auto">
          <a:xfrm>
            <a:off x="914400" y="2708920"/>
            <a:ext cx="549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）先作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~ P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0"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对应的表格（表</a:t>
            </a:r>
            <a:r>
              <a:rPr kumimoji="0"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III</a:t>
            </a:r>
            <a:r>
              <a:rPr kumimoji="0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kumimoji="0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23715" name="Group 131"/>
          <p:cNvGrpSpPr/>
          <p:nvPr/>
        </p:nvGrpSpPr>
        <p:grpSpPr bwMode="auto">
          <a:xfrm>
            <a:off x="457200" y="3352800"/>
            <a:ext cx="2873375" cy="2743200"/>
            <a:chOff x="3439" y="1296"/>
            <a:chExt cx="1810" cy="1728"/>
          </a:xfrm>
        </p:grpSpPr>
        <p:sp>
          <p:nvSpPr>
            <p:cNvPr id="323716" name="Rectangle 132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17" name="Rectangle 133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18" name="Rectangle 134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19" name="Rectangle 135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20" name="Rectangle 136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15</a:t>
              </a:r>
              <a:endParaRPr lang="en-US" altLang="zh-CN" sz="2000"/>
            </a:p>
          </p:txBody>
        </p:sp>
        <p:sp>
          <p:nvSpPr>
            <p:cNvPr id="323721" name="Rectangle 137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3722" name="Rectangle 138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23" name="Rectangle 139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24" name="Rectangle 140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25" name="Rectangle 141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26" name="Rectangle 142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8</a:t>
              </a:r>
              <a:endParaRPr lang="en-US" altLang="zh-CN" sz="2000"/>
            </a:p>
          </p:txBody>
        </p:sp>
        <p:sp>
          <p:nvSpPr>
            <p:cNvPr id="323727" name="Rectangle 143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28" name="Rectangle 144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29" name="Rectangle 145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30" name="Rectangle 146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31" name="Rectangle 147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4</a:t>
              </a:r>
              <a:endParaRPr lang="en-US" altLang="zh-CN" sz="2000"/>
            </a:p>
          </p:txBody>
        </p:sp>
        <p:sp>
          <p:nvSpPr>
            <p:cNvPr id="323732" name="Rectangle 148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33" name="Rectangle 149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34" name="Rectangle 150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35" name="Rectangle 151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0</a:t>
              </a:r>
              <a:endParaRPr lang="en-US" altLang="zh-CN" sz="2000"/>
            </a:p>
          </p:txBody>
        </p:sp>
        <p:sp>
          <p:nvSpPr>
            <p:cNvPr id="323736" name="Rectangle 152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323737" name="Rectangle 153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endParaRPr lang="en-US" altLang="zh-CN" sz="200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1</a:t>
              </a:r>
              <a:endParaRPr lang="en-US" altLang="zh-CN" sz="2000"/>
            </a:p>
          </p:txBody>
        </p:sp>
        <p:sp>
          <p:nvSpPr>
            <p:cNvPr id="323738" name="Rectangle 154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  <a:endParaRPr lang="en-US" altLang="zh-CN" sz="2000"/>
            </a:p>
          </p:txBody>
        </p:sp>
        <p:sp>
          <p:nvSpPr>
            <p:cNvPr id="323739" name="Rectangle 155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  <a:endParaRPr lang="en-US" altLang="zh-CN" sz="2000"/>
            </a:p>
          </p:txBody>
        </p:sp>
        <p:sp>
          <p:nvSpPr>
            <p:cNvPr id="323740" name="Rectangle 156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C</a:t>
              </a:r>
              <a:endParaRPr lang="en-US" altLang="zh-CN" sz="2000"/>
            </a:p>
          </p:txBody>
        </p:sp>
        <p:sp>
          <p:nvSpPr>
            <p:cNvPr id="323741" name="Rectangle 157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en-US" altLang="zh-CN" sz="2000"/>
                <a:t>D</a:t>
              </a:r>
              <a:endParaRPr lang="en-US" altLang="zh-CN" sz="2000"/>
            </a:p>
          </p:txBody>
        </p:sp>
        <p:sp>
          <p:nvSpPr>
            <p:cNvPr id="323742" name="Rectangle 158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最小项</a:t>
              </a:r>
              <a:endParaRPr lang="zh-CN" altLang="en-US" sz="2000"/>
            </a:p>
          </p:txBody>
        </p:sp>
        <p:sp>
          <p:nvSpPr>
            <p:cNvPr id="323743" name="Rectangle 159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None/>
              </a:pPr>
              <a:r>
                <a:rPr lang="zh-CN" altLang="en-US" sz="2000"/>
                <a:t>组号</a:t>
              </a:r>
              <a:endParaRPr lang="zh-CN" altLang="en-US" sz="2000"/>
            </a:p>
          </p:txBody>
        </p:sp>
        <p:sp>
          <p:nvSpPr>
            <p:cNvPr id="323744" name="Line 160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5" name="Line 161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6" name="Line 162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7" name="Line 163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8" name="Line 164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9" name="Line 165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0" name="Line 166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1" name="Line 167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2" name="Line 168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3" name="Line 169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4" name="Line 170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5" name="Line 171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6" name="Line 172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7" name="Rectangle 173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>
                  <a:latin typeface="Tahoma" panose="020B0604030504040204" pitchFamily="34" charset="0"/>
                </a:rPr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23758" name="Text Box 174"/>
          <p:cNvSpPr txBox="1">
            <a:spLocks noChangeArrowheads="1"/>
          </p:cNvSpPr>
          <p:nvPr/>
        </p:nvSpPr>
        <p:spPr bwMode="auto">
          <a:xfrm>
            <a:off x="3352800" y="4267200"/>
            <a:ext cx="53340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P1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P2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P3</a:t>
            </a:r>
            <a:endParaRPr lang="en-US" altLang="zh-CN"/>
          </a:p>
          <a:p>
            <a:pPr>
              <a:spcBef>
                <a:spcPct val="20000"/>
              </a:spcBef>
            </a:pPr>
            <a:r>
              <a:rPr lang="en-US" altLang="zh-CN"/>
              <a:t>P4</a:t>
            </a:r>
            <a:endParaRPr lang="en-US" altLang="zh-CN"/>
          </a:p>
        </p:txBody>
      </p:sp>
      <p:sp>
        <p:nvSpPr>
          <p:cNvPr id="323759" name="AutoShape 175"/>
          <p:cNvSpPr>
            <a:spLocks noChangeArrowheads="1"/>
          </p:cNvSpPr>
          <p:nvPr/>
        </p:nvSpPr>
        <p:spPr bwMode="auto">
          <a:xfrm>
            <a:off x="3886200" y="5029200"/>
            <a:ext cx="1143000" cy="309563"/>
          </a:xfrm>
          <a:prstGeom prst="rightArrow">
            <a:avLst>
              <a:gd name="adj1" fmla="val 50000"/>
              <a:gd name="adj2" fmla="val 92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3762" name="Group 178"/>
          <p:cNvGrpSpPr/>
          <p:nvPr/>
        </p:nvGrpSpPr>
        <p:grpSpPr bwMode="auto">
          <a:xfrm>
            <a:off x="4251326" y="3276600"/>
            <a:ext cx="4816475" cy="2743200"/>
            <a:chOff x="2678" y="2064"/>
            <a:chExt cx="3034" cy="1728"/>
          </a:xfrm>
        </p:grpSpPr>
        <p:grpSp>
          <p:nvGrpSpPr>
            <p:cNvPr id="323760" name="Group 176"/>
            <p:cNvGrpSpPr/>
            <p:nvPr/>
          </p:nvGrpSpPr>
          <p:grpSpPr bwMode="auto">
            <a:xfrm>
              <a:off x="2678" y="2112"/>
              <a:ext cx="3034" cy="1680"/>
              <a:chOff x="2678" y="2112"/>
              <a:chExt cx="3034" cy="1680"/>
            </a:xfrm>
          </p:grpSpPr>
          <p:grpSp>
            <p:nvGrpSpPr>
              <p:cNvPr id="323697" name="Group 113"/>
              <p:cNvGrpSpPr/>
              <p:nvPr/>
            </p:nvGrpSpPr>
            <p:grpSpPr bwMode="auto">
              <a:xfrm>
                <a:off x="2678" y="2112"/>
                <a:ext cx="3034" cy="1680"/>
                <a:chOff x="203" y="1824"/>
                <a:chExt cx="3034" cy="1680"/>
              </a:xfrm>
            </p:grpSpPr>
            <p:sp>
              <p:nvSpPr>
                <p:cNvPr id="323623" name="Rectangle 39"/>
                <p:cNvSpPr>
                  <a:spLocks noChangeArrowheads="1"/>
                </p:cNvSpPr>
                <p:nvPr/>
              </p:nvSpPr>
              <p:spPr bwMode="auto">
                <a:xfrm>
                  <a:off x="238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4" name="Rectangle 40"/>
                <p:cNvSpPr>
                  <a:spLocks noChangeArrowheads="1"/>
                </p:cNvSpPr>
                <p:nvPr/>
              </p:nvSpPr>
              <p:spPr bwMode="auto">
                <a:xfrm>
                  <a:off x="1957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5" name="Rectangle 41"/>
                <p:cNvSpPr>
                  <a:spLocks noChangeArrowheads="1"/>
                </p:cNvSpPr>
                <p:nvPr/>
              </p:nvSpPr>
              <p:spPr bwMode="auto">
                <a:xfrm>
                  <a:off x="1531" y="309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6" name="Rectangle 42"/>
                <p:cNvSpPr>
                  <a:spLocks noChangeArrowheads="1"/>
                </p:cNvSpPr>
                <p:nvPr/>
              </p:nvSpPr>
              <p:spPr bwMode="auto">
                <a:xfrm>
                  <a:off x="110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1" name="Rectangle 47"/>
                <p:cNvSpPr>
                  <a:spLocks noChangeArrowheads="1"/>
                </p:cNvSpPr>
                <p:nvPr/>
              </p:nvSpPr>
              <p:spPr bwMode="auto">
                <a:xfrm>
                  <a:off x="281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2" name="Rectangle 48"/>
                <p:cNvSpPr>
                  <a:spLocks noChangeArrowheads="1"/>
                </p:cNvSpPr>
                <p:nvPr/>
              </p:nvSpPr>
              <p:spPr bwMode="auto">
                <a:xfrm>
                  <a:off x="238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3" name="Rectangle 49"/>
                <p:cNvSpPr>
                  <a:spLocks noChangeArrowheads="1"/>
                </p:cNvSpPr>
                <p:nvPr/>
              </p:nvSpPr>
              <p:spPr bwMode="auto">
                <a:xfrm>
                  <a:off x="1957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4" name="Rectangle 50"/>
                <p:cNvSpPr>
                  <a:spLocks noChangeArrowheads="1"/>
                </p:cNvSpPr>
                <p:nvPr/>
              </p:nvSpPr>
              <p:spPr bwMode="auto">
                <a:xfrm>
                  <a:off x="153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5" name="Rectangle 51"/>
                <p:cNvSpPr>
                  <a:spLocks noChangeArrowheads="1"/>
                </p:cNvSpPr>
                <p:nvPr/>
              </p:nvSpPr>
              <p:spPr bwMode="auto">
                <a:xfrm>
                  <a:off x="110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1" name="Rectangle 57"/>
                <p:cNvSpPr>
                  <a:spLocks noChangeArrowheads="1"/>
                </p:cNvSpPr>
                <p:nvPr/>
              </p:nvSpPr>
              <p:spPr bwMode="auto">
                <a:xfrm>
                  <a:off x="238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2" name="Rectangle 58"/>
                <p:cNvSpPr>
                  <a:spLocks noChangeArrowheads="1"/>
                </p:cNvSpPr>
                <p:nvPr/>
              </p:nvSpPr>
              <p:spPr bwMode="auto">
                <a:xfrm>
                  <a:off x="1957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3" name="Rectangle 59"/>
                <p:cNvSpPr>
                  <a:spLocks noChangeArrowheads="1"/>
                </p:cNvSpPr>
                <p:nvPr/>
              </p:nvSpPr>
              <p:spPr bwMode="auto">
                <a:xfrm>
                  <a:off x="1531" y="260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4" name="Rectangle 60"/>
                <p:cNvSpPr>
                  <a:spLocks noChangeArrowheads="1"/>
                </p:cNvSpPr>
                <p:nvPr/>
              </p:nvSpPr>
              <p:spPr bwMode="auto">
                <a:xfrm>
                  <a:off x="110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0" name="Rectangle 66"/>
                <p:cNvSpPr>
                  <a:spLocks noChangeArrowheads="1"/>
                </p:cNvSpPr>
                <p:nvPr/>
              </p:nvSpPr>
              <p:spPr bwMode="auto">
                <a:xfrm>
                  <a:off x="238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1" name="Rectangle 67"/>
                <p:cNvSpPr>
                  <a:spLocks noChangeArrowheads="1"/>
                </p:cNvSpPr>
                <p:nvPr/>
              </p:nvSpPr>
              <p:spPr bwMode="auto">
                <a:xfrm>
                  <a:off x="1957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2" name="Rectangle 68"/>
                <p:cNvSpPr>
                  <a:spLocks noChangeArrowheads="1"/>
                </p:cNvSpPr>
                <p:nvPr/>
              </p:nvSpPr>
              <p:spPr bwMode="auto">
                <a:xfrm>
                  <a:off x="1531" y="235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3" name="Rectangle 69"/>
                <p:cNvSpPr>
                  <a:spLocks noChangeArrowheads="1"/>
                </p:cNvSpPr>
                <p:nvPr/>
              </p:nvSpPr>
              <p:spPr bwMode="auto">
                <a:xfrm>
                  <a:off x="110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4" name="Line 70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7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1104" y="2640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8" name="Line 74"/>
                <p:cNvSpPr>
                  <a:spLocks noChangeShapeType="1"/>
                </p:cNvSpPr>
                <p:nvPr/>
              </p:nvSpPr>
              <p:spPr bwMode="auto">
                <a:xfrm>
                  <a:off x="1104" y="2928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9" name="Line 75"/>
                <p:cNvSpPr>
                  <a:spLocks noChangeShapeType="1"/>
                </p:cNvSpPr>
                <p:nvPr/>
              </p:nvSpPr>
              <p:spPr bwMode="auto">
                <a:xfrm>
                  <a:off x="1104" y="3216"/>
                  <a:ext cx="1680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1" name="Line 77"/>
                <p:cNvSpPr>
                  <a:spLocks noChangeShapeType="1"/>
                </p:cNvSpPr>
                <p:nvPr/>
              </p:nvSpPr>
              <p:spPr bwMode="auto">
                <a:xfrm>
                  <a:off x="1104" y="3504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2" name="Line 78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0" cy="11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3" name="Line 79"/>
                <p:cNvSpPr>
                  <a:spLocks noChangeShapeType="1"/>
                </p:cNvSpPr>
                <p:nvPr/>
              </p:nvSpPr>
              <p:spPr bwMode="auto">
                <a:xfrm>
                  <a:off x="1536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4" name="Line 80"/>
                <p:cNvSpPr>
                  <a:spLocks noChangeShapeType="1"/>
                </p:cNvSpPr>
                <p:nvPr/>
              </p:nvSpPr>
              <p:spPr bwMode="auto">
                <a:xfrm>
                  <a:off x="1968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5" name="Line 81"/>
                <p:cNvSpPr>
                  <a:spLocks noChangeShapeType="1"/>
                </p:cNvSpPr>
                <p:nvPr/>
              </p:nvSpPr>
              <p:spPr bwMode="auto">
                <a:xfrm>
                  <a:off x="2352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6" name="Line 82"/>
                <p:cNvSpPr>
                  <a:spLocks noChangeShapeType="1"/>
                </p:cNvSpPr>
                <p:nvPr/>
              </p:nvSpPr>
              <p:spPr bwMode="auto">
                <a:xfrm>
                  <a:off x="2784" y="2352"/>
                  <a:ext cx="0" cy="11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72" name="Line 8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2048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3674" name="Group 90"/>
                <p:cNvGrpSpPr/>
                <p:nvPr/>
              </p:nvGrpSpPr>
              <p:grpSpPr bwMode="auto">
                <a:xfrm>
                  <a:off x="203" y="1824"/>
                  <a:ext cx="1365" cy="760"/>
                  <a:chOff x="271" y="1434"/>
                  <a:chExt cx="1365" cy="760"/>
                </a:xfrm>
              </p:grpSpPr>
              <p:sp>
                <p:nvSpPr>
                  <p:cNvPr id="32367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271" y="1671"/>
                    <a:ext cx="565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质蕴</a:t>
                    </a:r>
                    <a:endParaRPr kumimoji="0" lang="en-US" altLang="zh-CN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涵项 </a:t>
                    </a:r>
                    <a:endParaRPr kumimoji="0"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23676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884" y="1434"/>
                    <a:ext cx="75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最小项 </a:t>
                    </a:r>
                    <a:endParaRPr kumimoji="0"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323679" name="Rectangle 95"/>
                <p:cNvSpPr>
                  <a:spLocks noChangeArrowheads="1"/>
                </p:cNvSpPr>
                <p:nvPr/>
              </p:nvSpPr>
              <p:spPr bwMode="auto">
                <a:xfrm>
                  <a:off x="768" y="234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0" name="Rectangle 96"/>
                <p:cNvSpPr>
                  <a:spLocks noChangeArrowheads="1"/>
                </p:cNvSpPr>
                <p:nvPr/>
              </p:nvSpPr>
              <p:spPr bwMode="auto">
                <a:xfrm>
                  <a:off x="768" y="2591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1" name="Rectangle 97"/>
                <p:cNvSpPr>
                  <a:spLocks noChangeArrowheads="1"/>
                </p:cNvSpPr>
                <p:nvPr/>
              </p:nvSpPr>
              <p:spPr bwMode="auto">
                <a:xfrm>
                  <a:off x="768" y="284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3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2" name="Rectangle 98"/>
                <p:cNvSpPr>
                  <a:spLocks noChangeArrowheads="1"/>
                </p:cNvSpPr>
                <p:nvPr/>
              </p:nvSpPr>
              <p:spPr bwMode="auto">
                <a:xfrm>
                  <a:off x="768" y="3120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7" name="Rectangle 103"/>
                <p:cNvSpPr>
                  <a:spLocks noChangeArrowheads="1"/>
                </p:cNvSpPr>
                <p:nvPr/>
              </p:nvSpPr>
              <p:spPr bwMode="auto">
                <a:xfrm>
                  <a:off x="1200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1597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89" name="Rectangle 105"/>
                <p:cNvSpPr>
                  <a:spLocks noChangeArrowheads="1"/>
                </p:cNvSpPr>
                <p:nvPr/>
              </p:nvSpPr>
              <p:spPr bwMode="auto">
                <a:xfrm>
                  <a:off x="1975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8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3695" name="Rectangle 111"/>
                <p:cNvSpPr>
                  <a:spLocks noChangeArrowheads="1"/>
                </p:cNvSpPr>
                <p:nvPr/>
              </p:nvSpPr>
              <p:spPr bwMode="auto">
                <a:xfrm>
                  <a:off x="2359" y="2064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15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3709" name="AutoShape 125"/>
              <p:cNvSpPr>
                <a:spLocks noChangeArrowheads="1"/>
              </p:cNvSpPr>
              <p:nvPr/>
            </p:nvSpPr>
            <p:spPr bwMode="auto">
              <a:xfrm>
                <a:off x="3696" y="273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1" name="AutoShape 127"/>
              <p:cNvSpPr>
                <a:spLocks noChangeArrowheads="1"/>
              </p:cNvSpPr>
              <p:nvPr/>
            </p:nvSpPr>
            <p:spPr bwMode="auto">
              <a:xfrm>
                <a:off x="4184" y="30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3" name="AutoShape 129"/>
              <p:cNvSpPr>
                <a:spLocks noChangeArrowheads="1"/>
              </p:cNvSpPr>
              <p:nvPr/>
            </p:nvSpPr>
            <p:spPr bwMode="auto">
              <a:xfrm>
                <a:off x="4560" y="331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4" name="AutoShape 130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3761" name="Rectangle 177"/>
            <p:cNvSpPr>
              <a:spLocks noChangeArrowheads="1"/>
            </p:cNvSpPr>
            <p:nvPr/>
          </p:nvSpPr>
          <p:spPr bwMode="auto">
            <a:xfrm>
              <a:off x="4080" y="2064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/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2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96" grpId="0" autoUpdateAnimBg="0"/>
      <p:bldP spid="323758" grpId="0" autoUpdateAnimBg="0"/>
      <p:bldP spid="32375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逻辑函数的</a:t>
            </a:r>
            <a:r>
              <a:rPr lang="en-US" altLang="zh-CN"/>
              <a:t>Q-M</a:t>
            </a:r>
            <a:r>
              <a:rPr lang="zh-CN" altLang="en-US"/>
              <a:t>法化简</a:t>
            </a:r>
            <a:endParaRPr lang="zh-CN" altLang="en-US"/>
          </a:p>
        </p:txBody>
      </p:sp>
      <p:sp>
        <p:nvSpPr>
          <p:cNvPr id="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F010-E28F-4048-BF96-4D2892558755}" type="slidenum">
              <a:rPr lang="en-US" altLang="zh-CN"/>
            </a:fld>
            <a:endParaRPr lang="en-US" altLang="zh-CN"/>
          </a:p>
        </p:txBody>
      </p:sp>
      <p:sp>
        <p:nvSpPr>
          <p:cNvPr id="324613" name="Rectangle 5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/>
              <a:t>2</a:t>
            </a:r>
            <a:r>
              <a:rPr kumimoji="0" lang="zh-CN" altLang="en-US" sz="2000"/>
              <a:t>）进行“</a:t>
            </a:r>
            <a:r>
              <a:rPr kumimoji="0" lang="zh-CN" altLang="en-US" sz="2000">
                <a:solidFill>
                  <a:srgbClr val="FF0000"/>
                </a:solidFill>
              </a:rPr>
              <a:t>行列</a:t>
            </a:r>
            <a:r>
              <a:rPr kumimoji="0" lang="zh-CN" altLang="en-US" sz="2000"/>
              <a:t>消去”</a:t>
            </a:r>
            <a:r>
              <a:rPr kumimoji="0" lang="en-US" altLang="zh-CN" sz="2000"/>
              <a:t>:</a:t>
            </a:r>
            <a:r>
              <a:rPr kumimoji="0" lang="zh-CN" altLang="en-US" sz="2000"/>
              <a:t>检查所有的</a:t>
            </a:r>
            <a:r>
              <a:rPr lang="en-US" altLang="zh-CN" sz="2000">
                <a:cs typeface="Times New Roman" panose="02020603050405020304" pitchFamily="18" charset="0"/>
              </a:rPr>
              <a:t>m</a:t>
            </a:r>
            <a:r>
              <a:rPr lang="en-US" altLang="zh-CN" sz="3200" baseline="-30000">
                <a:cs typeface="Times New Roman" panose="02020603050405020304" pitchFamily="18" charset="0"/>
              </a:rPr>
              <a:t>i</a:t>
            </a:r>
            <a:r>
              <a:rPr lang="zh-CN" altLang="en-US" sz="2000">
                <a:cs typeface="Times New Roman" panose="02020603050405020304" pitchFamily="18" charset="0"/>
              </a:rPr>
              <a:t>对应的列，若在</a:t>
            </a:r>
            <a:r>
              <a:rPr lang="en-US" altLang="zh-CN" sz="2000">
                <a:cs typeface="Times New Roman" panose="02020603050405020304" pitchFamily="18" charset="0"/>
              </a:rPr>
              <a:t>m</a:t>
            </a:r>
            <a:r>
              <a:rPr lang="en-US" altLang="zh-CN" sz="3200" baseline="-30000">
                <a:cs typeface="Times New Roman" panose="02020603050405020304" pitchFamily="18" charset="0"/>
              </a:rPr>
              <a:t>i</a:t>
            </a:r>
            <a:r>
              <a:rPr lang="zh-CN" altLang="en-US" sz="2000"/>
              <a:t>对应</a:t>
            </a:r>
            <a:r>
              <a:rPr lang="zh-CN" altLang="en-US" sz="2000">
                <a:cs typeface="Times New Roman" panose="02020603050405020304" pitchFamily="18" charset="0"/>
              </a:rPr>
              <a:t>列</a:t>
            </a:r>
            <a:r>
              <a:rPr lang="zh-CN" altLang="en-US" sz="2000"/>
              <a:t>中只有一个</a:t>
            </a:r>
            <a:r>
              <a:rPr lang="zh-CN" altLang="en-US" sz="2000">
                <a:cs typeface="Times New Roman" panose="02020603050405020304" pitchFamily="18" charset="0"/>
              </a:rPr>
              <a:t>△</a:t>
            </a:r>
            <a:r>
              <a:rPr lang="zh-CN" altLang="en-US" sz="2000"/>
              <a:t> </a:t>
            </a:r>
            <a:r>
              <a:rPr lang="zh-CN" altLang="en-US" sz="2000">
                <a:cs typeface="Times New Roman" panose="02020603050405020304" pitchFamily="18" charset="0"/>
              </a:rPr>
              <a:t>，则</a:t>
            </a:r>
            <a:r>
              <a:rPr lang="zh-CN" altLang="en-US" sz="2000"/>
              <a:t>该</a:t>
            </a:r>
            <a:r>
              <a:rPr lang="zh-CN" altLang="en-US" sz="2000">
                <a:cs typeface="Times New Roman" panose="02020603050405020304" pitchFamily="18" charset="0"/>
              </a:rPr>
              <a:t>△所对应的</a:t>
            </a:r>
            <a:r>
              <a:rPr lang="en-US" altLang="zh-CN" sz="2000">
                <a:cs typeface="Times New Roman" panose="02020603050405020304" pitchFamily="18" charset="0"/>
              </a:rPr>
              <a:t>P</a:t>
            </a:r>
            <a:r>
              <a:rPr lang="en-US" altLang="zh-CN" sz="3200" baseline="-25000"/>
              <a:t>j</a:t>
            </a:r>
            <a:r>
              <a:rPr lang="zh-CN" altLang="en-US" sz="2000">
                <a:cs typeface="Times New Roman" panose="02020603050405020304" pitchFamily="18" charset="0"/>
              </a:rPr>
              <a:t>项为必要</a:t>
            </a:r>
            <a:r>
              <a:rPr lang="zh-CN" altLang="en-US" sz="2000"/>
              <a:t>；保留</a:t>
            </a:r>
            <a:r>
              <a:rPr lang="en-US" altLang="zh-CN" sz="2000">
                <a:cs typeface="Times New Roman" panose="02020603050405020304" pitchFamily="18" charset="0"/>
              </a:rPr>
              <a:t>P</a:t>
            </a:r>
            <a:r>
              <a:rPr lang="en-US" altLang="zh-CN" sz="3200" baseline="-25000"/>
              <a:t>j</a:t>
            </a:r>
            <a:r>
              <a:rPr lang="zh-CN" altLang="en-US" sz="2000"/>
              <a:t>并消去</a:t>
            </a:r>
            <a:r>
              <a:rPr lang="en-US" altLang="zh-CN" sz="2000">
                <a:cs typeface="Times New Roman" panose="02020603050405020304" pitchFamily="18" charset="0"/>
              </a:rPr>
              <a:t>P</a:t>
            </a:r>
            <a:r>
              <a:rPr lang="en-US" altLang="zh-CN" sz="3200" baseline="-25000"/>
              <a:t>j</a:t>
            </a:r>
            <a:r>
              <a:rPr lang="zh-CN" altLang="en-US" sz="2000"/>
              <a:t>对应的行</a:t>
            </a:r>
            <a:r>
              <a:rPr lang="zh-CN" altLang="en-US" sz="3200">
                <a:cs typeface="Times New Roman" panose="02020603050405020304" pitchFamily="18" charset="0"/>
              </a:rPr>
              <a:t>。</a:t>
            </a:r>
            <a:r>
              <a:rPr lang="zh-CN" altLang="en-US" sz="2000"/>
              <a:t>由于</a:t>
            </a:r>
            <a:r>
              <a:rPr lang="en-US" altLang="zh-CN" sz="2000">
                <a:cs typeface="Times New Roman" panose="02020603050405020304" pitchFamily="18" charset="0"/>
              </a:rPr>
              <a:t>P</a:t>
            </a:r>
            <a:r>
              <a:rPr lang="en-US" altLang="zh-CN" sz="3200" baseline="-25000"/>
              <a:t>j</a:t>
            </a:r>
            <a:r>
              <a:rPr lang="zh-CN" altLang="en-US" sz="2000">
                <a:cs typeface="Times New Roman" panose="02020603050405020304" pitchFamily="18" charset="0"/>
              </a:rPr>
              <a:t>项为必要</a:t>
            </a:r>
            <a:r>
              <a:rPr lang="zh-CN" altLang="en-US" sz="2000"/>
              <a:t>，</a:t>
            </a:r>
            <a:r>
              <a:rPr lang="en-US" altLang="zh-CN" sz="2000">
                <a:cs typeface="Times New Roman" panose="02020603050405020304" pitchFamily="18" charset="0"/>
              </a:rPr>
              <a:t>P</a:t>
            </a:r>
            <a:r>
              <a:rPr lang="en-US" altLang="zh-CN" sz="3200" baseline="-25000"/>
              <a:t>j</a:t>
            </a:r>
            <a:r>
              <a:rPr lang="en-US" altLang="zh-CN" sz="2000"/>
              <a:t> </a:t>
            </a:r>
            <a:r>
              <a:rPr lang="zh-CN" altLang="en-US" sz="2000"/>
              <a:t>包含的所有</a:t>
            </a:r>
            <a:r>
              <a:rPr lang="zh-CN" altLang="en-US" sz="2000">
                <a:cs typeface="Times New Roman" panose="02020603050405020304" pitchFamily="18" charset="0"/>
              </a:rPr>
              <a:t>△</a:t>
            </a:r>
            <a:r>
              <a:rPr lang="zh-CN" altLang="en-US" sz="2000"/>
              <a:t>对应的列（最小项</a:t>
            </a:r>
            <a:r>
              <a:rPr lang="en-US" altLang="zh-CN" sz="2000"/>
              <a:t>m</a:t>
            </a:r>
            <a:r>
              <a:rPr lang="zh-CN" altLang="en-US" sz="2000"/>
              <a:t>）均可消去</a:t>
            </a:r>
            <a:r>
              <a:rPr lang="zh-CN" altLang="en-US" sz="3200">
                <a:cs typeface="Times New Roman" panose="02020603050405020304" pitchFamily="18" charset="0"/>
              </a:rPr>
              <a:t>。</a:t>
            </a:r>
            <a:endParaRPr lang="zh-CN" altLang="en-US" sz="3200">
              <a:cs typeface="Times New Roman" panose="02020603050405020304" pitchFamily="18" charset="0"/>
            </a:endParaRPr>
          </a:p>
        </p:txBody>
      </p:sp>
      <p:grpSp>
        <p:nvGrpSpPr>
          <p:cNvPr id="324614" name="Group 6"/>
          <p:cNvGrpSpPr/>
          <p:nvPr/>
        </p:nvGrpSpPr>
        <p:grpSpPr bwMode="auto">
          <a:xfrm>
            <a:off x="4271963" y="2819400"/>
            <a:ext cx="4795837" cy="2743200"/>
            <a:chOff x="2691" y="2064"/>
            <a:chExt cx="3021" cy="1728"/>
          </a:xfrm>
        </p:grpSpPr>
        <p:grpSp>
          <p:nvGrpSpPr>
            <p:cNvPr id="324615" name="Group 7"/>
            <p:cNvGrpSpPr/>
            <p:nvPr/>
          </p:nvGrpSpPr>
          <p:grpSpPr bwMode="auto">
            <a:xfrm>
              <a:off x="2691" y="2112"/>
              <a:ext cx="3021" cy="1680"/>
              <a:chOff x="2691" y="2112"/>
              <a:chExt cx="3021" cy="1680"/>
            </a:xfrm>
          </p:grpSpPr>
          <p:grpSp>
            <p:nvGrpSpPr>
              <p:cNvPr id="324616" name="Group 8"/>
              <p:cNvGrpSpPr/>
              <p:nvPr/>
            </p:nvGrpSpPr>
            <p:grpSpPr bwMode="auto">
              <a:xfrm>
                <a:off x="2691" y="2112"/>
                <a:ext cx="3021" cy="1680"/>
                <a:chOff x="216" y="1824"/>
                <a:chExt cx="3021" cy="1680"/>
              </a:xfrm>
            </p:grpSpPr>
            <p:sp>
              <p:nvSpPr>
                <p:cNvPr id="324617" name="Rectangle 9"/>
                <p:cNvSpPr>
                  <a:spLocks noChangeArrowheads="1"/>
                </p:cNvSpPr>
                <p:nvPr/>
              </p:nvSpPr>
              <p:spPr bwMode="auto">
                <a:xfrm>
                  <a:off x="238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18" name="Rectangle 10"/>
                <p:cNvSpPr>
                  <a:spLocks noChangeArrowheads="1"/>
                </p:cNvSpPr>
                <p:nvPr/>
              </p:nvSpPr>
              <p:spPr bwMode="auto">
                <a:xfrm>
                  <a:off x="1957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19" name="Rectangle 11"/>
                <p:cNvSpPr>
                  <a:spLocks noChangeArrowheads="1"/>
                </p:cNvSpPr>
                <p:nvPr/>
              </p:nvSpPr>
              <p:spPr bwMode="auto">
                <a:xfrm>
                  <a:off x="1531" y="309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0" name="Rectangle 12"/>
                <p:cNvSpPr>
                  <a:spLocks noChangeArrowheads="1"/>
                </p:cNvSpPr>
                <p:nvPr/>
              </p:nvSpPr>
              <p:spPr bwMode="auto">
                <a:xfrm>
                  <a:off x="110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1" name="Rectangle 13"/>
                <p:cNvSpPr>
                  <a:spLocks noChangeArrowheads="1"/>
                </p:cNvSpPr>
                <p:nvPr/>
              </p:nvSpPr>
              <p:spPr bwMode="auto">
                <a:xfrm>
                  <a:off x="281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2" name="Rectangle 14"/>
                <p:cNvSpPr>
                  <a:spLocks noChangeArrowheads="1"/>
                </p:cNvSpPr>
                <p:nvPr/>
              </p:nvSpPr>
              <p:spPr bwMode="auto">
                <a:xfrm>
                  <a:off x="238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3" name="Rectangle 15"/>
                <p:cNvSpPr>
                  <a:spLocks noChangeArrowheads="1"/>
                </p:cNvSpPr>
                <p:nvPr/>
              </p:nvSpPr>
              <p:spPr bwMode="auto">
                <a:xfrm>
                  <a:off x="1957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4" name="Rectangle 16"/>
                <p:cNvSpPr>
                  <a:spLocks noChangeArrowheads="1"/>
                </p:cNvSpPr>
                <p:nvPr/>
              </p:nvSpPr>
              <p:spPr bwMode="auto">
                <a:xfrm>
                  <a:off x="153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5" name="Rectangle 17"/>
                <p:cNvSpPr>
                  <a:spLocks noChangeArrowheads="1"/>
                </p:cNvSpPr>
                <p:nvPr/>
              </p:nvSpPr>
              <p:spPr bwMode="auto">
                <a:xfrm>
                  <a:off x="110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6" name="Rectangle 18"/>
                <p:cNvSpPr>
                  <a:spLocks noChangeArrowheads="1"/>
                </p:cNvSpPr>
                <p:nvPr/>
              </p:nvSpPr>
              <p:spPr bwMode="auto">
                <a:xfrm>
                  <a:off x="238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7" name="Rectangle 19"/>
                <p:cNvSpPr>
                  <a:spLocks noChangeArrowheads="1"/>
                </p:cNvSpPr>
                <p:nvPr/>
              </p:nvSpPr>
              <p:spPr bwMode="auto">
                <a:xfrm>
                  <a:off x="1957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8" name="Rectangle 20"/>
                <p:cNvSpPr>
                  <a:spLocks noChangeArrowheads="1"/>
                </p:cNvSpPr>
                <p:nvPr/>
              </p:nvSpPr>
              <p:spPr bwMode="auto">
                <a:xfrm>
                  <a:off x="1531" y="260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9" name="Rectangle 21"/>
                <p:cNvSpPr>
                  <a:spLocks noChangeArrowheads="1"/>
                </p:cNvSpPr>
                <p:nvPr/>
              </p:nvSpPr>
              <p:spPr bwMode="auto">
                <a:xfrm>
                  <a:off x="110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0" name="Rectangle 22"/>
                <p:cNvSpPr>
                  <a:spLocks noChangeArrowheads="1"/>
                </p:cNvSpPr>
                <p:nvPr/>
              </p:nvSpPr>
              <p:spPr bwMode="auto">
                <a:xfrm>
                  <a:off x="238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1" name="Rectangle 23"/>
                <p:cNvSpPr>
                  <a:spLocks noChangeArrowheads="1"/>
                </p:cNvSpPr>
                <p:nvPr/>
              </p:nvSpPr>
              <p:spPr bwMode="auto">
                <a:xfrm>
                  <a:off x="1957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2" name="Rectangle 24"/>
                <p:cNvSpPr>
                  <a:spLocks noChangeArrowheads="1"/>
                </p:cNvSpPr>
                <p:nvPr/>
              </p:nvSpPr>
              <p:spPr bwMode="auto">
                <a:xfrm>
                  <a:off x="1531" y="235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3" name="Rectangle 25"/>
                <p:cNvSpPr>
                  <a:spLocks noChangeArrowheads="1"/>
                </p:cNvSpPr>
                <p:nvPr/>
              </p:nvSpPr>
              <p:spPr bwMode="auto">
                <a:xfrm>
                  <a:off x="110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anose="05000000000000000000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4" name="Line 26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5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104" y="2640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6" name="Line 28"/>
                <p:cNvSpPr>
                  <a:spLocks noChangeShapeType="1"/>
                </p:cNvSpPr>
                <p:nvPr/>
              </p:nvSpPr>
              <p:spPr bwMode="auto">
                <a:xfrm>
                  <a:off x="1104" y="2928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7" name="Line 29"/>
                <p:cNvSpPr>
                  <a:spLocks noChangeShapeType="1"/>
                </p:cNvSpPr>
                <p:nvPr/>
              </p:nvSpPr>
              <p:spPr bwMode="auto">
                <a:xfrm>
                  <a:off x="1104" y="3216"/>
                  <a:ext cx="1680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8" name="Line 30"/>
                <p:cNvSpPr>
                  <a:spLocks noChangeShapeType="1"/>
                </p:cNvSpPr>
                <p:nvPr/>
              </p:nvSpPr>
              <p:spPr bwMode="auto">
                <a:xfrm>
                  <a:off x="1104" y="3504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9" name="Line 31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0" cy="11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0" name="Line 32"/>
                <p:cNvSpPr>
                  <a:spLocks noChangeShapeType="1"/>
                </p:cNvSpPr>
                <p:nvPr/>
              </p:nvSpPr>
              <p:spPr bwMode="auto">
                <a:xfrm>
                  <a:off x="1536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1" name="Line 33"/>
                <p:cNvSpPr>
                  <a:spLocks noChangeShapeType="1"/>
                </p:cNvSpPr>
                <p:nvPr/>
              </p:nvSpPr>
              <p:spPr bwMode="auto">
                <a:xfrm>
                  <a:off x="1968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2" name="Line 34"/>
                <p:cNvSpPr>
                  <a:spLocks noChangeShapeType="1"/>
                </p:cNvSpPr>
                <p:nvPr/>
              </p:nvSpPr>
              <p:spPr bwMode="auto">
                <a:xfrm>
                  <a:off x="2352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3" name="Line 35"/>
                <p:cNvSpPr>
                  <a:spLocks noChangeShapeType="1"/>
                </p:cNvSpPr>
                <p:nvPr/>
              </p:nvSpPr>
              <p:spPr bwMode="auto">
                <a:xfrm>
                  <a:off x="2784" y="2352"/>
                  <a:ext cx="0" cy="11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4" name="Line 3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2048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4645" name="Group 37"/>
                <p:cNvGrpSpPr/>
                <p:nvPr/>
              </p:nvGrpSpPr>
              <p:grpSpPr bwMode="auto">
                <a:xfrm>
                  <a:off x="216" y="1824"/>
                  <a:ext cx="1352" cy="837"/>
                  <a:chOff x="284" y="1434"/>
                  <a:chExt cx="1352" cy="837"/>
                </a:xfrm>
              </p:grpSpPr>
              <p:sp>
                <p:nvSpPr>
                  <p:cNvPr id="32464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84" y="1748"/>
                    <a:ext cx="552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质蕴</a:t>
                    </a:r>
                    <a:endParaRPr kumimoji="0" lang="en-US" altLang="zh-CN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涵项 </a:t>
                    </a:r>
                    <a:endParaRPr kumimoji="0"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2464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884" y="1434"/>
                    <a:ext cx="75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最小项 </a:t>
                    </a:r>
                    <a:endParaRPr kumimoji="0"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324648" name="Rectangle 40"/>
                <p:cNvSpPr>
                  <a:spLocks noChangeArrowheads="1"/>
                </p:cNvSpPr>
                <p:nvPr/>
              </p:nvSpPr>
              <p:spPr bwMode="auto">
                <a:xfrm>
                  <a:off x="723" y="234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49" name="Rectangle 41"/>
                <p:cNvSpPr>
                  <a:spLocks noChangeArrowheads="1"/>
                </p:cNvSpPr>
                <p:nvPr/>
              </p:nvSpPr>
              <p:spPr bwMode="auto">
                <a:xfrm>
                  <a:off x="723" y="2591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0" name="Rectangle 42"/>
                <p:cNvSpPr>
                  <a:spLocks noChangeArrowheads="1"/>
                </p:cNvSpPr>
                <p:nvPr/>
              </p:nvSpPr>
              <p:spPr bwMode="auto">
                <a:xfrm>
                  <a:off x="723" y="284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3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1" name="Rectangle 43"/>
                <p:cNvSpPr>
                  <a:spLocks noChangeArrowheads="1"/>
                </p:cNvSpPr>
                <p:nvPr/>
              </p:nvSpPr>
              <p:spPr bwMode="auto">
                <a:xfrm>
                  <a:off x="723" y="3120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P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2" name="Rectangle 44"/>
                <p:cNvSpPr>
                  <a:spLocks noChangeArrowheads="1"/>
                </p:cNvSpPr>
                <p:nvPr/>
              </p:nvSpPr>
              <p:spPr bwMode="auto">
                <a:xfrm>
                  <a:off x="1200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2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3" name="Rectangle 45"/>
                <p:cNvSpPr>
                  <a:spLocks noChangeArrowheads="1"/>
                </p:cNvSpPr>
                <p:nvPr/>
              </p:nvSpPr>
              <p:spPr bwMode="auto">
                <a:xfrm>
                  <a:off x="1597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4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4" name="Rectangle 46"/>
                <p:cNvSpPr>
                  <a:spLocks noChangeArrowheads="1"/>
                </p:cNvSpPr>
                <p:nvPr/>
              </p:nvSpPr>
              <p:spPr bwMode="auto">
                <a:xfrm>
                  <a:off x="1975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8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4655" name="Rectangle 47"/>
                <p:cNvSpPr>
                  <a:spLocks noChangeArrowheads="1"/>
                </p:cNvSpPr>
                <p:nvPr/>
              </p:nvSpPr>
              <p:spPr bwMode="auto">
                <a:xfrm>
                  <a:off x="2359" y="1979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>
                      <a:cs typeface="Times New Roman" panose="02020603050405020304" pitchFamily="18" charset="0"/>
                    </a:rPr>
                    <a:t>m</a:t>
                  </a:r>
                  <a:r>
                    <a:rPr kumimoji="0" lang="en-US" altLang="zh-CN" b="1" baseline="-30000">
                      <a:cs typeface="Times New Roman" panose="02020603050405020304" pitchFamily="18" charset="0"/>
                    </a:rPr>
                    <a:t>15</a:t>
                  </a:r>
                  <a:endParaRPr kumimoji="0" lang="en-US" altLang="zh-CN" b="1" baseline="-30000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4656" name="AutoShape 48"/>
              <p:cNvSpPr>
                <a:spLocks noChangeArrowheads="1"/>
              </p:cNvSpPr>
              <p:nvPr/>
            </p:nvSpPr>
            <p:spPr bwMode="auto">
              <a:xfrm>
                <a:off x="3696" y="273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7" name="AutoShape 49"/>
              <p:cNvSpPr>
                <a:spLocks noChangeArrowheads="1"/>
              </p:cNvSpPr>
              <p:nvPr/>
            </p:nvSpPr>
            <p:spPr bwMode="auto">
              <a:xfrm>
                <a:off x="4184" y="30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8" name="AutoShape 50"/>
              <p:cNvSpPr>
                <a:spLocks noChangeArrowheads="1"/>
              </p:cNvSpPr>
              <p:nvPr/>
            </p:nvSpPr>
            <p:spPr bwMode="auto">
              <a:xfrm>
                <a:off x="4560" y="331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9" name="AutoShape 51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4660" name="Rectangle 52"/>
            <p:cNvSpPr>
              <a:spLocks noChangeArrowheads="1"/>
            </p:cNvSpPr>
            <p:nvPr/>
          </p:nvSpPr>
          <p:spPr bwMode="auto">
            <a:xfrm>
              <a:off x="4080" y="2064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/>
                <a:t>表</a:t>
              </a:r>
              <a:r>
                <a:rPr kumimoji="0" lang="en-US" altLang="zh-CN">
                  <a:latin typeface="Tahoma" panose="020B0604030504040204" pitchFamily="34" charset="0"/>
                </a:rPr>
                <a:t>III</a:t>
              </a:r>
              <a:endParaRPr kumimoji="0" lang="en-US" altLang="zh-CN">
                <a:latin typeface="Tahoma" panose="020B0604030504040204" pitchFamily="34" charset="0"/>
              </a:endParaRPr>
            </a:p>
          </p:txBody>
        </p:sp>
      </p:grpSp>
      <p:sp>
        <p:nvSpPr>
          <p:cNvPr id="324661" name="Line 53"/>
          <p:cNvSpPr>
            <a:spLocks noChangeShapeType="1"/>
          </p:cNvSpPr>
          <p:nvPr/>
        </p:nvSpPr>
        <p:spPr bwMode="auto">
          <a:xfrm flipV="1">
            <a:off x="5410200" y="40386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3" name="Line 55"/>
          <p:cNvSpPr>
            <a:spLocks noChangeShapeType="1"/>
          </p:cNvSpPr>
          <p:nvPr/>
        </p:nvSpPr>
        <p:spPr bwMode="auto">
          <a:xfrm flipV="1">
            <a:off x="5486400" y="44196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4" name="Line 56"/>
          <p:cNvSpPr>
            <a:spLocks noChangeShapeType="1"/>
          </p:cNvSpPr>
          <p:nvPr/>
        </p:nvSpPr>
        <p:spPr bwMode="auto">
          <a:xfrm flipV="1">
            <a:off x="5486400" y="48768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5" name="Line 57"/>
          <p:cNvSpPr>
            <a:spLocks noChangeShapeType="1"/>
          </p:cNvSpPr>
          <p:nvPr/>
        </p:nvSpPr>
        <p:spPr bwMode="auto">
          <a:xfrm flipV="1">
            <a:off x="5486400" y="54102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7" name="Line 59"/>
          <p:cNvSpPr>
            <a:spLocks noChangeShapeType="1"/>
          </p:cNvSpPr>
          <p:nvPr/>
        </p:nvSpPr>
        <p:spPr bwMode="auto">
          <a:xfrm>
            <a:off x="60960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8" name="Line 60"/>
          <p:cNvSpPr>
            <a:spLocks noChangeShapeType="1"/>
          </p:cNvSpPr>
          <p:nvPr/>
        </p:nvSpPr>
        <p:spPr bwMode="auto">
          <a:xfrm>
            <a:off x="67818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9" name="Line 61"/>
          <p:cNvSpPr>
            <a:spLocks noChangeShapeType="1"/>
          </p:cNvSpPr>
          <p:nvPr/>
        </p:nvSpPr>
        <p:spPr bwMode="auto">
          <a:xfrm>
            <a:off x="73914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70" name="Line 62"/>
          <p:cNvSpPr>
            <a:spLocks noChangeShapeType="1"/>
          </p:cNvSpPr>
          <p:nvPr/>
        </p:nvSpPr>
        <p:spPr bwMode="auto">
          <a:xfrm>
            <a:off x="8001000" y="36576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71" name="Text Box 63"/>
          <p:cNvSpPr txBox="1">
            <a:spLocks noChangeArrowheads="1"/>
          </p:cNvSpPr>
          <p:nvPr/>
        </p:nvSpPr>
        <p:spPr bwMode="auto">
          <a:xfrm>
            <a:off x="533400" y="3352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保留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P2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P3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P4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4672" name="Rectangle 64"/>
          <p:cNvSpPr>
            <a:spLocks noChangeArrowheads="1"/>
          </p:cNvSpPr>
          <p:nvPr/>
        </p:nvSpPr>
        <p:spPr bwMode="auto">
          <a:xfrm>
            <a:off x="228600" y="4413161"/>
            <a:ext cx="472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）重复进行“行列消去”和“行消去”，直到消去全部的质蕴涵项为止。</a:t>
            </a:r>
            <a:endParaRPr lang="zh-CN" altLang="en-US" sz="320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73" name="Rectangle 65"/>
          <p:cNvSpPr>
            <a:spLocks noChangeArrowheads="1"/>
          </p:cNvSpPr>
          <p:nvPr/>
        </p:nvSpPr>
        <p:spPr bwMode="auto">
          <a:xfrm>
            <a:off x="304800" y="38862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0"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）进行“行消去”</a:t>
            </a:r>
            <a:endParaRPr lang="zh-CN" altLang="en-US" sz="3200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4674" name="Object 66"/>
          <p:cNvGraphicFramePr>
            <a:graphicFrameLocks noChangeAspect="1"/>
          </p:cNvGraphicFramePr>
          <p:nvPr/>
        </p:nvGraphicFramePr>
        <p:xfrm>
          <a:off x="1042441" y="5700713"/>
          <a:ext cx="62658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2" name="公式" r:id="rId1" imgW="2844800" imgH="266700" progId="Equation.3">
                  <p:embed/>
                </p:oleObj>
              </mc:Choice>
              <mc:Fallback>
                <p:oleObj name="公式" r:id="rId1" imgW="2844800" imgH="266700" progId="Equation.3">
                  <p:embed/>
                  <p:pic>
                    <p:nvPicPr>
                      <p:cNvPr id="0" name="图片 707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41" y="5700713"/>
                        <a:ext cx="62658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75" name="Object 67"/>
          <p:cNvGraphicFramePr>
            <a:graphicFrameLocks noChangeAspect="1"/>
          </p:cNvGraphicFramePr>
          <p:nvPr/>
        </p:nvGraphicFramePr>
        <p:xfrm>
          <a:off x="1737766" y="6248400"/>
          <a:ext cx="49799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公式" r:id="rId3" imgW="2260600" imgH="215900" progId="Equation.3">
                  <p:embed/>
                </p:oleObj>
              </mc:Choice>
              <mc:Fallback>
                <p:oleObj name="公式" r:id="rId3" imgW="2260600" imgH="215900" progId="Equation.3">
                  <p:embed/>
                  <p:pic>
                    <p:nvPicPr>
                      <p:cNvPr id="0" name="图片 707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766" y="6248400"/>
                        <a:ext cx="497998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2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3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32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24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2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2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61" grpId="0" animBg="1"/>
      <p:bldP spid="324663" grpId="0" animBg="1"/>
      <p:bldP spid="324664" grpId="0" animBg="1"/>
      <p:bldP spid="324665" grpId="0" animBg="1"/>
      <p:bldP spid="324667" grpId="0" animBg="1"/>
      <p:bldP spid="324668" grpId="0" animBg="1"/>
      <p:bldP spid="324669" grpId="0" animBg="1"/>
      <p:bldP spid="324670" grpId="0" animBg="1"/>
      <p:bldP spid="324671" grpId="0" autoUpdateAnimBg="0"/>
      <p:bldP spid="324672" grpId="0" autoUpdateAnimBg="0"/>
      <p:bldP spid="324673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4C330-F756-40C0-9723-3F6A7D6F3B07}" type="slidenum">
              <a:rPr lang="en-US" altLang="zh-CN"/>
            </a:fld>
            <a:endParaRPr lang="en-US" altLang="zh-CN"/>
          </a:p>
        </p:txBody>
      </p:sp>
      <p:sp>
        <p:nvSpPr>
          <p:cNvPr id="2263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总结：表格法化简步骤：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）求出函数全部的质蕴涵项，</a:t>
            </a:r>
            <a:endParaRPr lang="zh-CN" altLang="en-US" sz="2400" b="1" dirty="0"/>
          </a:p>
          <a:p>
            <a:pPr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kumimoji="0" lang="zh-CN" altLang="en-US" sz="2400" dirty="0">
                <a:latin typeface="Tahoma" panose="020B0604030504040204" pitchFamily="34" charset="0"/>
              </a:rPr>
              <a:t>         </a:t>
            </a:r>
            <a:r>
              <a:rPr kumimoji="0" lang="en-US" altLang="zh-CN" sz="2400" dirty="0">
                <a:latin typeface="Tahoma" panose="020B0604030504040204" pitchFamily="34" charset="0"/>
              </a:rPr>
              <a:t>1</a:t>
            </a:r>
            <a:r>
              <a:rPr kumimoji="0" lang="zh-CN" altLang="en-US" sz="2400" dirty="0">
                <a:latin typeface="Tahoma" panose="020B0604030504040204" pitchFamily="34" charset="0"/>
              </a:rPr>
              <a:t>）把</a:t>
            </a:r>
            <a:r>
              <a:rPr kumimoji="0" lang="en-US" altLang="zh-CN" sz="2400" dirty="0">
                <a:latin typeface="Tahoma" panose="020B0604030504040204" pitchFamily="34" charset="0"/>
              </a:rPr>
              <a:t>F</a:t>
            </a:r>
            <a:r>
              <a:rPr kumimoji="0" lang="zh-CN" altLang="en-US" sz="2400" dirty="0">
                <a:latin typeface="Tahoma" panose="020B0604030504040204" pitchFamily="34" charset="0"/>
              </a:rPr>
              <a:t>中的各</a:t>
            </a:r>
            <a:r>
              <a:rPr kumimoji="0" lang="en-US" altLang="zh-CN" sz="2400" dirty="0">
                <a:latin typeface="Tahoma" panose="020B0604030504040204" pitchFamily="34" charset="0"/>
              </a:rPr>
              <a:t>m</a:t>
            </a:r>
            <a:r>
              <a:rPr kumimoji="0" lang="en-US" altLang="zh-CN" sz="2400" baseline="-25000" dirty="0">
                <a:latin typeface="Tahoma" panose="020B0604030504040204" pitchFamily="34" charset="0"/>
              </a:rPr>
              <a:t>i</a:t>
            </a:r>
            <a:r>
              <a:rPr kumimoji="0" lang="en-US" altLang="zh-CN" sz="2400" dirty="0">
                <a:latin typeface="Tahoma" panose="020B0604030504040204" pitchFamily="34" charset="0"/>
              </a:rPr>
              <a:t>,</a:t>
            </a:r>
            <a:r>
              <a:rPr kumimoji="0" lang="zh-CN" altLang="en-US" sz="2400" dirty="0">
                <a:latin typeface="Tahoma" panose="020B0604030504040204" pitchFamily="34" charset="0"/>
              </a:rPr>
              <a:t>按下标</a:t>
            </a:r>
            <a:r>
              <a:rPr kumimoji="0" lang="en-US" altLang="zh-CN" sz="2400" dirty="0" err="1">
                <a:latin typeface="Tahoma" panose="020B0604030504040204" pitchFamily="34" charset="0"/>
              </a:rPr>
              <a:t>i</a:t>
            </a:r>
            <a:r>
              <a:rPr kumimoji="0" lang="zh-CN" altLang="en-US" sz="2400" dirty="0">
                <a:latin typeface="Tahoma" panose="020B0604030504040204" pitchFamily="34" charset="0"/>
              </a:rPr>
              <a:t>中</a:t>
            </a:r>
            <a:r>
              <a:rPr kumimoji="0" lang="zh-CN" altLang="en-US" sz="2400" dirty="0">
                <a:latin typeface="Arial" panose="020B0604020202020204"/>
              </a:rPr>
              <a:t>“</a:t>
            </a:r>
            <a:r>
              <a:rPr kumimoji="0" lang="en-US" altLang="zh-CN" sz="2400" dirty="0">
                <a:latin typeface="Tahoma" panose="020B0604030504040204" pitchFamily="34" charset="0"/>
              </a:rPr>
              <a:t>1</a:t>
            </a:r>
            <a:r>
              <a:rPr kumimoji="0" lang="en-US" altLang="zh-CN" sz="2400" dirty="0">
                <a:latin typeface="Arial" panose="020B0604020202020204"/>
              </a:rPr>
              <a:t>”</a:t>
            </a:r>
            <a:r>
              <a:rPr kumimoji="0" lang="zh-CN" altLang="en-US" sz="2400" dirty="0">
                <a:latin typeface="Tahoma" panose="020B0604030504040204" pitchFamily="34" charset="0"/>
              </a:rPr>
              <a:t>的个数</a:t>
            </a:r>
            <a:r>
              <a:rPr kumimoji="0" lang="en-US" altLang="zh-CN" sz="2400" dirty="0">
                <a:latin typeface="Tahoma" panose="020B0604030504040204" pitchFamily="34" charset="0"/>
              </a:rPr>
              <a:t>,</a:t>
            </a:r>
            <a:r>
              <a:rPr kumimoji="0" lang="zh-CN" altLang="en-US" sz="2400" dirty="0">
                <a:latin typeface="Tahoma" panose="020B0604030504040204" pitchFamily="34" charset="0"/>
              </a:rPr>
              <a:t>分组排队列表。</a:t>
            </a:r>
            <a:endParaRPr kumimoji="0" lang="zh-CN" altLang="en-US" sz="2400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>
                <a:latin typeface="Tahoma" panose="020B0604030504040204" pitchFamily="34" charset="0"/>
              </a:rPr>
              <a:t>         </a:t>
            </a:r>
            <a:r>
              <a:rPr kumimoji="0" lang="en-US" altLang="zh-CN" sz="2400" dirty="0">
                <a:latin typeface="Tahoma" panose="020B0604030504040204" pitchFamily="34" charset="0"/>
              </a:rPr>
              <a:t>2</a:t>
            </a:r>
            <a:r>
              <a:rPr kumimoji="0" lang="zh-CN" altLang="en-US" sz="2400" dirty="0">
                <a:latin typeface="Tahoma" panose="020B0604030504040204" pitchFamily="34" charset="0"/>
              </a:rPr>
              <a:t>）在列表逐项寻找相邻项并合并，并重新分组排列表。 </a:t>
            </a:r>
            <a:endParaRPr kumimoji="0" lang="zh-CN" altLang="en-US" sz="2400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>
                <a:latin typeface="Tahoma" panose="020B0604030504040204" pitchFamily="34" charset="0"/>
              </a:rPr>
              <a:t>         </a:t>
            </a:r>
            <a:r>
              <a:rPr kumimoji="0" lang="en-US" altLang="zh-CN" sz="2400" dirty="0">
                <a:latin typeface="Tahoma" panose="020B0604030504040204" pitchFamily="34" charset="0"/>
              </a:rPr>
              <a:t>3</a:t>
            </a:r>
            <a:r>
              <a:rPr kumimoji="0" lang="zh-CN" altLang="en-US" sz="2400" dirty="0">
                <a:latin typeface="Tahoma" panose="020B0604030504040204" pitchFamily="34" charset="0"/>
              </a:rPr>
              <a:t>）重复上述过程，直到不能合并为止。</a:t>
            </a:r>
            <a:endParaRPr kumimoji="0" lang="zh-CN" altLang="en-US" sz="2400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）从质蕴涵项中选出必要的质蕴涵项。</a:t>
            </a:r>
            <a:endParaRPr lang="zh-CN" altLang="en-US" sz="2400" b="1" dirty="0"/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en-US" altLang="zh-CN" sz="2400" dirty="0"/>
              <a:t>     1</a:t>
            </a:r>
            <a:r>
              <a:rPr kumimoji="0" lang="zh-CN" altLang="en-US" sz="2400" dirty="0"/>
              <a:t>）先作</a:t>
            </a:r>
            <a:r>
              <a:rPr kumimoji="0" lang="en-US" altLang="zh-CN" sz="2400" dirty="0">
                <a:latin typeface="Tahoma" panose="020B0604030504040204" pitchFamily="34" charset="0"/>
              </a:rPr>
              <a:t>P</a:t>
            </a:r>
            <a:r>
              <a:rPr kumimoji="0" lang="zh-CN" altLang="en-US" sz="2400" dirty="0"/>
              <a:t>和</a:t>
            </a:r>
            <a:r>
              <a:rPr kumimoji="0" lang="en-US" altLang="zh-CN" sz="2400" dirty="0">
                <a:latin typeface="Tahoma" panose="020B0604030504040204" pitchFamily="34" charset="0"/>
              </a:rPr>
              <a:t>m</a:t>
            </a:r>
            <a:r>
              <a:rPr kumimoji="0" lang="zh-CN" altLang="en-US" sz="2400" dirty="0"/>
              <a:t>对应的表格</a:t>
            </a:r>
            <a:endParaRPr kumimoji="0" lang="zh-CN" altLang="en-US" sz="2400" dirty="0"/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en-US" altLang="zh-CN" sz="2400" dirty="0"/>
              <a:t>     2</a:t>
            </a:r>
            <a:r>
              <a:rPr kumimoji="0" lang="zh-CN" altLang="en-US" sz="2400" dirty="0"/>
              <a:t>）进行“</a:t>
            </a:r>
            <a:r>
              <a:rPr kumimoji="0" lang="zh-CN" altLang="en-US" sz="2400" dirty="0">
                <a:solidFill>
                  <a:srgbClr val="FF0000"/>
                </a:solidFill>
              </a:rPr>
              <a:t>行列</a:t>
            </a:r>
            <a:r>
              <a:rPr kumimoji="0" lang="zh-CN" altLang="en-US" sz="2400" dirty="0"/>
              <a:t>消去”</a:t>
            </a:r>
            <a:endParaRPr kumimoji="0" lang="zh-CN" altLang="en-US" sz="2400" dirty="0"/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/>
              <a:t>     </a:t>
            </a:r>
            <a:r>
              <a:rPr kumimoji="0" lang="en-US" altLang="zh-CN" sz="2400" dirty="0"/>
              <a:t>3</a:t>
            </a:r>
            <a:r>
              <a:rPr kumimoji="0" lang="zh-CN" altLang="en-US" sz="2400" dirty="0"/>
              <a:t>）进行“</a:t>
            </a:r>
            <a:r>
              <a:rPr kumimoji="0" lang="zh-CN" altLang="en-US" sz="2400" dirty="0">
                <a:solidFill>
                  <a:srgbClr val="FF0000"/>
                </a:solidFill>
              </a:rPr>
              <a:t>行</a:t>
            </a:r>
            <a:r>
              <a:rPr kumimoji="0" lang="zh-CN" altLang="en-US" sz="2400" dirty="0"/>
              <a:t>消去”</a:t>
            </a:r>
            <a:endParaRPr kumimoji="0" lang="zh-CN" altLang="en-US" sz="2400" dirty="0"/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/>
              <a:t>     </a:t>
            </a:r>
            <a:r>
              <a:rPr kumimoji="0" lang="en-US" altLang="zh-CN" sz="2400" dirty="0"/>
              <a:t>4</a:t>
            </a:r>
            <a:r>
              <a:rPr kumimoji="0" lang="zh-CN" altLang="en-US" sz="2400" dirty="0"/>
              <a:t>）重复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）和</a:t>
            </a:r>
            <a:r>
              <a:rPr kumimoji="0" lang="en-US" altLang="zh-CN" sz="2400" dirty="0"/>
              <a:t>3</a:t>
            </a:r>
            <a:r>
              <a:rPr kumimoji="0" lang="zh-CN" altLang="en-US" sz="2400" dirty="0"/>
              <a:t>），直到消去全部的质蕴涵项为止。</a:t>
            </a:r>
            <a:endParaRPr kumimoji="0" lang="zh-CN" altLang="en-US" sz="2400" dirty="0"/>
          </a:p>
        </p:txBody>
      </p:sp>
    </p:spTree>
  </p:cSld>
  <p:clrMapOvr>
    <a:masterClrMapping/>
  </p:clrMapOvr>
  <p:transition spd="slow">
    <p:pull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逻辑代数（</a:t>
            </a:r>
            <a:r>
              <a:rPr lang="en-US" altLang="zh-CN" dirty="0"/>
              <a:t>83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080F6-F6DB-490E-A562-34545CA85AD6}" type="slidenum">
              <a:rPr lang="en-US" altLang="zh-CN"/>
            </a:fld>
            <a:endParaRPr lang="en-US" altLang="zh-CN"/>
          </a:p>
        </p:txBody>
      </p:sp>
      <p:sp>
        <p:nvSpPr>
          <p:cNvPr id="2242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表格法很繁琐，适合于编制计算机程序，如果人工使用表格法，容易出错。</a:t>
            </a:r>
            <a:endParaRPr lang="en-US" altLang="zh-CN" dirty="0"/>
          </a:p>
          <a:p>
            <a:pPr lvl="1"/>
            <a:r>
              <a:rPr lang="en-US" altLang="zh-CN" dirty="0"/>
              <a:t>Q-M</a:t>
            </a:r>
            <a:r>
              <a:rPr lang="zh-CN" altLang="en-US" dirty="0"/>
              <a:t>法的介绍拓展同学们的思路，不在考试范围。</a:t>
            </a:r>
            <a:endParaRPr lang="en-US" altLang="zh-CN" dirty="0"/>
          </a:p>
          <a:p>
            <a:pPr lvl="1"/>
            <a:r>
              <a:rPr lang="zh-CN" altLang="en-US" dirty="0"/>
              <a:t>课程给出了</a:t>
            </a:r>
            <a:r>
              <a:rPr lang="en-US" altLang="zh-CN" dirty="0"/>
              <a:t>Q-M</a:t>
            </a:r>
            <a:r>
              <a:rPr lang="zh-CN" altLang="en-US" dirty="0"/>
              <a:t>法的主要思路，实际算法实现还需要考虑边界条件等问题。</a:t>
            </a:r>
            <a:endParaRPr lang="zh-CN" altLang="en-US" dirty="0"/>
          </a:p>
          <a:p>
            <a:pPr lvl="1"/>
            <a:r>
              <a:rPr lang="zh-CN" altLang="en-US" dirty="0"/>
              <a:t>计算机辅助逻辑化简的其他方法，在高年级选修课程和研究生课程中还会学到。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第二章 逻辑代数</a:t>
            </a:r>
            <a:r>
              <a:rPr lang="en-US" altLang="zh-CN" dirty="0">
                <a:latin typeface="Times New Roman" panose="02020603050405020304"/>
              </a:rPr>
              <a:t>——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6892-E4E8-41AD-B246-AC353DA37E16}" type="slidenum">
              <a:rPr lang="en-US" altLang="zh-CN"/>
            </a:fld>
            <a:endParaRPr lang="en-US" altLang="zh-CN"/>
          </a:p>
        </p:txBody>
      </p:sp>
      <p:sp>
        <p:nvSpPr>
          <p:cNvPr id="227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412776"/>
            <a:ext cx="8003232" cy="4607024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	2.1  </a:t>
            </a:r>
            <a:r>
              <a:rPr lang="zh-CN" altLang="en-US" dirty="0"/>
              <a:t>逻辑代数的基本运算与公式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2.4 </a:t>
            </a:r>
            <a:r>
              <a:rPr lang="zh-CN" altLang="en-US" dirty="0"/>
              <a:t>逻辑函数的表格法化简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</a:fld>
            <a:endParaRPr lang="en-US" altLang="zh-CN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4190355"/>
            <a:ext cx="3736953" cy="226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92270"/>
            <a:ext cx="3886200" cy="279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5013176"/>
            <a:ext cx="3714097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14400" y="274638"/>
            <a:ext cx="7772400" cy="98573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r>
              <a:rPr lang="zh-CN" altLang="en-US"/>
              <a:t>作业</a:t>
            </a:r>
            <a:endParaRPr lang="zh-CN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91208" y="3735984"/>
            <a:ext cx="3528392" cy="454372"/>
          </a:xfrm>
          <a:prstGeom prst="rect">
            <a:avLst/>
          </a:prstGeom>
        </p:spPr>
        <p:txBody>
          <a:bodyPr>
            <a:normAutofit/>
          </a:bodyPr>
          <a:lstStyle>
            <a:lvl1pPr marL="360045" indent="-360045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12140" indent="-360045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864235" indent="-360045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anose="05000000000000000000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 panose="05020102010507070707"/>
              <a:buChar char=""/>
              <a:defRPr kumimoji="0" sz="24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2.11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800600" y="1043227"/>
            <a:ext cx="3528392" cy="481610"/>
          </a:xfrm>
          <a:prstGeom prst="rect">
            <a:avLst/>
          </a:prstGeom>
        </p:spPr>
        <p:txBody>
          <a:bodyPr>
            <a:normAutofit/>
          </a:bodyPr>
          <a:lstStyle>
            <a:lvl1pPr marL="360045" indent="-360045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12140" indent="-360045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864235" indent="-360045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anose="05000000000000000000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 panose="05020102010507070707"/>
              <a:buChar char=""/>
              <a:defRPr kumimoji="0" sz="24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2.12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800600" y="4546158"/>
            <a:ext cx="3528392" cy="486420"/>
          </a:xfrm>
          <a:prstGeom prst="rect">
            <a:avLst/>
          </a:prstGeom>
        </p:spPr>
        <p:txBody>
          <a:bodyPr>
            <a:normAutofit/>
          </a:bodyPr>
          <a:lstStyle>
            <a:lvl1pPr marL="360045" indent="-360045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12140" indent="-360045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864235" indent="-360045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anose="05000000000000000000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 panose="05020102010507070707"/>
              <a:buChar char=""/>
              <a:defRPr kumimoji="0" sz="24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2.13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414255"/>
            <a:ext cx="24669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03504" y="958282"/>
            <a:ext cx="2917025" cy="6480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0045" indent="-360045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12140" indent="-360045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Ø"/>
              <a:defRPr kumimoji="0" sz="32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864235" indent="-360045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anose="05000000000000000000" pitchFamily="2" charset="2"/>
              <a:buChar char="ü"/>
              <a:defRPr kumimoji="0" sz="2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 panose="05020102010507070707"/>
              <a:buChar char=""/>
              <a:defRPr kumimoji="0" sz="24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2.7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10745</Words>
  <Application>WPS 演示</Application>
  <PresentationFormat>全屏显示(4:3)</PresentationFormat>
  <Paragraphs>3678</Paragraphs>
  <Slides>83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197</vt:i4>
      </vt:variant>
      <vt:variant>
        <vt:lpstr>幻灯片标题</vt:lpstr>
      </vt:variant>
      <vt:variant>
        <vt:i4>83</vt:i4>
      </vt:variant>
    </vt:vector>
  </HeadingPairs>
  <TitlesOfParts>
    <vt:vector size="302" baseType="lpstr">
      <vt:lpstr>Arial</vt:lpstr>
      <vt:lpstr>宋体</vt:lpstr>
      <vt:lpstr>Wingdings</vt:lpstr>
      <vt:lpstr>Times New Roman</vt:lpstr>
      <vt:lpstr>华文新魏</vt:lpstr>
      <vt:lpstr>Wingdings 2</vt:lpstr>
      <vt:lpstr>华文楷体</vt:lpstr>
      <vt:lpstr>Cambria Math</vt:lpstr>
      <vt:lpstr>MS Mincho</vt:lpstr>
      <vt:lpstr>微软雅黑</vt:lpstr>
      <vt:lpstr>方正姚体</vt:lpstr>
      <vt:lpstr>Perpetua</vt:lpstr>
      <vt:lpstr>Arial Unicode MS</vt:lpstr>
      <vt:lpstr>Franklin Gothic Book</vt:lpstr>
      <vt:lpstr>幼圆</vt:lpstr>
      <vt:lpstr>Cambria Math</vt:lpstr>
      <vt:lpstr>Arial</vt:lpstr>
      <vt:lpstr>Tahoma</vt:lpstr>
      <vt:lpstr>Symbol</vt:lpstr>
      <vt:lpstr>Times New Roman</vt:lpstr>
      <vt:lpstr>Segoe Print</vt:lpstr>
      <vt:lpstr>平衡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数字逻辑电路</vt:lpstr>
      <vt:lpstr>课程基本情况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公式法化简（不唯一、不好判断）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逻辑代数（50）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第二章 逻辑代数</vt:lpstr>
      <vt:lpstr>2.4逻辑函数的Q-M法化简</vt:lpstr>
      <vt:lpstr>逻辑函数的Q-M法化简</vt:lpstr>
      <vt:lpstr>PowerPoint 演示文稿</vt:lpstr>
      <vt:lpstr>逻辑函数的Q-M法化简</vt:lpstr>
      <vt:lpstr>逻辑函数的Q-M法化简</vt:lpstr>
      <vt:lpstr>逻辑函数的Q-M法化简</vt:lpstr>
      <vt:lpstr>逻辑函数的Q-M法化简</vt:lpstr>
      <vt:lpstr>逻辑函数的Q-M法化简</vt:lpstr>
      <vt:lpstr>PowerPoint 演示文稿</vt:lpstr>
      <vt:lpstr>逻辑函数的Q-M法化简</vt:lpstr>
      <vt:lpstr>PowerPoint 演示文稿</vt:lpstr>
      <vt:lpstr>PowerPoint 演示文稿</vt:lpstr>
      <vt:lpstr>逻辑函数的Q-M法化简</vt:lpstr>
      <vt:lpstr>逻辑函数的Q-M法化简</vt:lpstr>
      <vt:lpstr>逻辑函数的Q-M法化简</vt:lpstr>
      <vt:lpstr>逻辑函数的Q-M法化简</vt:lpstr>
      <vt:lpstr>逻辑函数的Q-M法化简</vt:lpstr>
      <vt:lpstr>逻辑函数的Q-M法化简</vt:lpstr>
      <vt:lpstr>第二章 逻辑代数</vt:lpstr>
      <vt:lpstr>第二章 逻辑代数（83）</vt:lpstr>
      <vt:lpstr>第二章 逻辑代数——小结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264</cp:revision>
  <dcterms:created xsi:type="dcterms:W3CDTF">2002-01-07T08:53:00Z</dcterms:created>
  <dcterms:modified xsi:type="dcterms:W3CDTF">2026-06-15T16:21:25Z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2C59D8893DA446E8863694257F27954F_12</vt:lpwstr>
  </property>
  <property fmtid="{D5CDD505-2E9C-101B-9397-08002B2CF9AE}" pid="3" name="KSOProductBuildVer">
    <vt:lpwstr>2052-12.1.0.26375</vt:lpwstr>
  </property>
</Properties>
</file>