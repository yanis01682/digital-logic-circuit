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00" r:id="rId3"/>
    <p:sldId id="848" r:id="rId5"/>
    <p:sldId id="771" r:id="rId6"/>
    <p:sldId id="809" r:id="rId7"/>
    <p:sldId id="805" r:id="rId8"/>
    <p:sldId id="660" r:id="rId9"/>
    <p:sldId id="806" r:id="rId10"/>
    <p:sldId id="807" r:id="rId11"/>
    <p:sldId id="808" r:id="rId12"/>
    <p:sldId id="810" r:id="rId13"/>
    <p:sldId id="843" r:id="rId14"/>
    <p:sldId id="846" r:id="rId15"/>
    <p:sldId id="845" r:id="rId16"/>
    <p:sldId id="811" r:id="rId17"/>
    <p:sldId id="727" r:id="rId18"/>
    <p:sldId id="716" r:id="rId19"/>
    <p:sldId id="666" r:id="rId20"/>
    <p:sldId id="667" r:id="rId21"/>
    <p:sldId id="813" r:id="rId22"/>
    <p:sldId id="814" r:id="rId23"/>
    <p:sldId id="815" r:id="rId24"/>
    <p:sldId id="816" r:id="rId25"/>
    <p:sldId id="817" r:id="rId26"/>
    <p:sldId id="844" r:id="rId27"/>
    <p:sldId id="819" r:id="rId28"/>
    <p:sldId id="820" r:id="rId29"/>
    <p:sldId id="821" r:id="rId30"/>
    <p:sldId id="822" r:id="rId31"/>
    <p:sldId id="825" r:id="rId32"/>
    <p:sldId id="842" r:id="rId33"/>
    <p:sldId id="827" r:id="rId34"/>
    <p:sldId id="828" r:id="rId35"/>
    <p:sldId id="829" r:id="rId36"/>
    <p:sldId id="830" r:id="rId37"/>
    <p:sldId id="831" r:id="rId38"/>
    <p:sldId id="832" r:id="rId39"/>
    <p:sldId id="756" r:id="rId40"/>
    <p:sldId id="679" r:id="rId41"/>
    <p:sldId id="840" r:id="rId42"/>
    <p:sldId id="680" r:id="rId43"/>
    <p:sldId id="838" r:id="rId44"/>
    <p:sldId id="681" r:id="rId45"/>
    <p:sldId id="682" r:id="rId46"/>
    <p:sldId id="739" r:id="rId47"/>
    <p:sldId id="722" r:id="rId48"/>
    <p:sldId id="693" r:id="rId49"/>
    <p:sldId id="834" r:id="rId50"/>
    <p:sldId id="695" r:id="rId51"/>
    <p:sldId id="696" r:id="rId52"/>
    <p:sldId id="697" r:id="rId53"/>
    <p:sldId id="773" r:id="rId54"/>
    <p:sldId id="774" r:id="rId55"/>
    <p:sldId id="775" r:id="rId56"/>
    <p:sldId id="776" r:id="rId57"/>
    <p:sldId id="777" r:id="rId58"/>
    <p:sldId id="778" r:id="rId59"/>
    <p:sldId id="779" r:id="rId60"/>
    <p:sldId id="780" r:id="rId61"/>
    <p:sldId id="781" r:id="rId62"/>
    <p:sldId id="782" r:id="rId63"/>
    <p:sldId id="783" r:id="rId64"/>
    <p:sldId id="784" r:id="rId65"/>
    <p:sldId id="801" r:id="rId6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FF00"/>
    <a:srgbClr val="FF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6900" autoAdjust="0"/>
  </p:normalViewPr>
  <p:slideViewPr>
    <p:cSldViewPr showGuides="1">
      <p:cViewPr varScale="1">
        <p:scale>
          <a:sx n="87" d="100"/>
          <a:sy n="87" d="100"/>
        </p:scale>
        <p:origin x="600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21.xml"/><Relationship Id="rId8" Type="http://schemas.openxmlformats.org/officeDocument/2006/relationships/slide" Target="slides/slide20.xml"/><Relationship Id="rId7" Type="http://schemas.openxmlformats.org/officeDocument/2006/relationships/slide" Target="slides/slide19.xml"/><Relationship Id="rId6" Type="http://schemas.openxmlformats.org/officeDocument/2006/relationships/slide" Target="slides/slide18.xml"/><Relationship Id="rId5" Type="http://schemas.openxmlformats.org/officeDocument/2006/relationships/slide" Target="slides/slide17.xml"/><Relationship Id="rId41" Type="http://schemas.openxmlformats.org/officeDocument/2006/relationships/slide" Target="slides/slide63.xml"/><Relationship Id="rId40" Type="http://schemas.openxmlformats.org/officeDocument/2006/relationships/slide" Target="slides/slide61.xml"/><Relationship Id="rId4" Type="http://schemas.openxmlformats.org/officeDocument/2006/relationships/slide" Target="slides/slide16.xml"/><Relationship Id="rId39" Type="http://schemas.openxmlformats.org/officeDocument/2006/relationships/slide" Target="slides/slide60.xml"/><Relationship Id="rId38" Type="http://schemas.openxmlformats.org/officeDocument/2006/relationships/slide" Target="slides/slide58.xml"/><Relationship Id="rId37" Type="http://schemas.openxmlformats.org/officeDocument/2006/relationships/slide" Target="slides/slide57.xml"/><Relationship Id="rId36" Type="http://schemas.openxmlformats.org/officeDocument/2006/relationships/slide" Target="slides/slide56.xml"/><Relationship Id="rId35" Type="http://schemas.openxmlformats.org/officeDocument/2006/relationships/slide" Target="slides/slide55.xml"/><Relationship Id="rId34" Type="http://schemas.openxmlformats.org/officeDocument/2006/relationships/slide" Target="slides/slide54.xml"/><Relationship Id="rId33" Type="http://schemas.openxmlformats.org/officeDocument/2006/relationships/slide" Target="slides/slide53.xml"/><Relationship Id="rId32" Type="http://schemas.openxmlformats.org/officeDocument/2006/relationships/slide" Target="slides/slide52.xml"/><Relationship Id="rId31" Type="http://schemas.openxmlformats.org/officeDocument/2006/relationships/slide" Target="slides/slide50.xml"/><Relationship Id="rId30" Type="http://schemas.openxmlformats.org/officeDocument/2006/relationships/slide" Target="slides/slide49.xml"/><Relationship Id="rId3" Type="http://schemas.openxmlformats.org/officeDocument/2006/relationships/slide" Target="slides/slide15.xml"/><Relationship Id="rId29" Type="http://schemas.openxmlformats.org/officeDocument/2006/relationships/slide" Target="slides/slide48.xml"/><Relationship Id="rId28" Type="http://schemas.openxmlformats.org/officeDocument/2006/relationships/slide" Target="slides/slide47.xml"/><Relationship Id="rId27" Type="http://schemas.openxmlformats.org/officeDocument/2006/relationships/slide" Target="slides/slide46.xml"/><Relationship Id="rId26" Type="http://schemas.openxmlformats.org/officeDocument/2006/relationships/slide" Target="slides/slide45.xml"/><Relationship Id="rId25" Type="http://schemas.openxmlformats.org/officeDocument/2006/relationships/slide" Target="slides/slide44.xml"/><Relationship Id="rId24" Type="http://schemas.openxmlformats.org/officeDocument/2006/relationships/slide" Target="slides/slide43.xml"/><Relationship Id="rId23" Type="http://schemas.openxmlformats.org/officeDocument/2006/relationships/slide" Target="slides/slide42.xml"/><Relationship Id="rId22" Type="http://schemas.openxmlformats.org/officeDocument/2006/relationships/slide" Target="slides/slide41.xml"/><Relationship Id="rId21" Type="http://schemas.openxmlformats.org/officeDocument/2006/relationships/slide" Target="slides/slide40.xml"/><Relationship Id="rId20" Type="http://schemas.openxmlformats.org/officeDocument/2006/relationships/slide" Target="slides/slide39.xml"/><Relationship Id="rId2" Type="http://schemas.openxmlformats.org/officeDocument/2006/relationships/slide" Target="slides/slide6.xml"/><Relationship Id="rId19" Type="http://schemas.openxmlformats.org/officeDocument/2006/relationships/slide" Target="slides/slide38.xml"/><Relationship Id="rId18" Type="http://schemas.openxmlformats.org/officeDocument/2006/relationships/slide" Target="slides/slide37.xml"/><Relationship Id="rId17" Type="http://schemas.openxmlformats.org/officeDocument/2006/relationships/slide" Target="slides/slide36.xml"/><Relationship Id="rId16" Type="http://schemas.openxmlformats.org/officeDocument/2006/relationships/slide" Target="slides/slide35.xml"/><Relationship Id="rId15" Type="http://schemas.openxmlformats.org/officeDocument/2006/relationships/slide" Target="slides/slide34.xml"/><Relationship Id="rId14" Type="http://schemas.openxmlformats.org/officeDocument/2006/relationships/slide" Target="slides/slide33.xml"/><Relationship Id="rId13" Type="http://schemas.openxmlformats.org/officeDocument/2006/relationships/slide" Target="slides/slide32.xml"/><Relationship Id="rId12" Type="http://schemas.openxmlformats.org/officeDocument/2006/relationships/slide" Target="slides/slide25.xml"/><Relationship Id="rId11" Type="http://schemas.openxmlformats.org/officeDocument/2006/relationships/slide" Target="slides/slide23.xml"/><Relationship Id="rId10" Type="http://schemas.openxmlformats.org/officeDocument/2006/relationships/slide" Target="slides/slide22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emf"/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642BF3-9FE1-4F1B-A3F9-F753FFB5D90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642BF3-9FE1-4F1B-A3F9-F753FFB5D90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085665-CE47-4C95-B1C3-68B1A175031B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zh-CN"/>
              <a:t>JK</a:t>
            </a:r>
            <a:r>
              <a:rPr lang="zh-CN" altLang="en-US"/>
              <a:t>的输入与时钟的配合关系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4431B9-7B54-442D-83AC-47C6DE04A181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同步时序电路的概念：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71F8773-4B22-4EC3-8A8D-BAC73DCE0FED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同步时序电路的概念：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642BF3-9FE1-4F1B-A3F9-F753FFB5D90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6" name="Freeform 4"/>
              <p:cNvSpPr/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428 w 5184"/>
                  <a:gd name="T3" fmla="*/ 3159 h 3159"/>
                  <a:gd name="T4" fmla="*/ 5428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86 w 556"/>
                  <a:gd name="T5" fmla="*/ 3159 h 3159"/>
                  <a:gd name="T6" fmla="*/ 58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Freeform 7"/>
            <p:cNvSpPr/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66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66 w 251"/>
                <a:gd name="T7" fmla="*/ 12 h 12"/>
                <a:gd name="T8" fmla="*/ 266 w 251"/>
                <a:gd name="T9" fmla="*/ 0 h 12"/>
                <a:gd name="T10" fmla="*/ 266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8"/>
            <p:cNvSpPr/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38430 w 251"/>
                <a:gd name="T5" fmla="*/ 12 h 12"/>
                <a:gd name="T6" fmla="*/ 38430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9"/>
            <p:cNvGrpSpPr/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0" name="Freeform 10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809AF-7EAB-4233-99CC-54667B0842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C378C-1576-432F-8291-B4F02C31EC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C8258-5F20-48D5-B0C4-F5EA79B5E4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FDABB-77D1-4BF5-A988-0D0B03CF27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EA89B-ADDE-407C-A217-CB36F7EFBE2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6B295-2549-43B4-8BDF-0E53080D38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1FD6F-4D96-4DC3-AA54-970898C62A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7AE40-7E65-41F4-ADDE-E11ABC90DD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7989F-7D3F-420A-9A9B-6C463452EC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F1852-91BB-43EE-A592-E689C9C704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22894-E9CD-49E0-9978-73F64A1B29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7FAD4-B091-4BD0-B5AE-5209F607D6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9BD29-5506-44D4-9A93-CB86AE5A8B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/>
            <p:cNvSpPr/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428 w 5184"/>
                <a:gd name="T3" fmla="*/ 3159 h 3159"/>
                <a:gd name="T4" fmla="*/ 5428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/>
            <p:cNvSpPr/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86 w 556"/>
                <a:gd name="T5" fmla="*/ 3159 h 3159"/>
                <a:gd name="T6" fmla="*/ 58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/>
            <p:cNvGrpSpPr/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38430 w 251"/>
                  <a:gd name="T5" fmla="*/ 12 h 12"/>
                  <a:gd name="T6" fmla="*/ 38430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66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66 w 251"/>
                  <a:gd name="T7" fmla="*/ 12 h 12"/>
                  <a:gd name="T8" fmla="*/ 266 w 251"/>
                  <a:gd name="T9" fmla="*/ 0 h 12"/>
                  <a:gd name="T10" fmla="*/ 266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sp>
        <p:nvSpPr>
          <p:cNvPr id="82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20887997-3F13-4186-9579-3E0880E5A2FE}" type="slidenum">
              <a:rPr lang="en-US" altLang="zh-CN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0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8.e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e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9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6.emf"/><Relationship Id="rId15" Type="http://schemas.openxmlformats.org/officeDocument/2006/relationships/vmlDrawing" Target="../drawings/vmlDrawing4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2.emf"/><Relationship Id="rId12" Type="http://schemas.openxmlformats.org/officeDocument/2006/relationships/image" Target="../media/image21.e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20.emf"/><Relationship Id="rId1" Type="http://schemas.openxmlformats.org/officeDocument/2006/relationships/oleObject" Target="../embeddings/oleObject8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oleObject" Target="../embeddings/oleObject14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FC449-F76F-4390-B34D-C32E797804D8}" type="slidenum">
              <a:rPr lang="en-US" altLang="zh-CN"/>
            </a:fld>
            <a:endParaRPr lang="en-US" altLang="zh-CN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3360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>
                <a:latin typeface="华文行楷" panose="02010800040101010101" pitchFamily="2" charset="-122"/>
                <a:ea typeface="华文行楷" panose="02010800040101010101" pitchFamily="2" charset="-122"/>
              </a:rPr>
              <a:t>第四章 同步时序电路</a:t>
            </a:r>
            <a:endParaRPr lang="zh-CN" altLang="en-US" sz="48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787C2-736D-46F9-B3B4-64B281F44624}" type="slidenum">
              <a:rPr lang="en-US" altLang="zh-CN" sz="1000" smtClean="0"/>
            </a:fld>
            <a:endParaRPr lang="en-US" altLang="zh-CN" sz="1000"/>
          </a:p>
        </p:txBody>
      </p:sp>
      <p:sp>
        <p:nvSpPr>
          <p:cNvPr id="151" name="文本框 150"/>
          <p:cNvSpPr txBox="1">
            <a:spLocks noChangeArrowheads="1"/>
          </p:cNvSpPr>
          <p:nvPr/>
        </p:nvSpPr>
        <p:spPr bwMode="auto">
          <a:xfrm>
            <a:off x="695090" y="4861558"/>
            <a:ext cx="42974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Georgia" panose="02040502050405020303" pitchFamily="18" charset="0"/>
              </a:rPr>
              <a:t>系统工作最快时钟频率</a:t>
            </a:r>
            <a:r>
              <a:rPr lang="en-US" altLang="zh-CN" sz="2000" dirty="0">
                <a:latin typeface="Georgia" panose="02040502050405020303" pitchFamily="18" charset="0"/>
              </a:rPr>
              <a:t>:</a:t>
            </a:r>
            <a:endParaRPr lang="zh-CN" altLang="en-US" sz="2000" dirty="0">
              <a:latin typeface="Georgia" panose="02040502050405020303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2283453" y="5254405"/>
            <a:ext cx="3893131" cy="861774"/>
            <a:chOff x="1331638" y="2342625"/>
            <a:chExt cx="6916961" cy="862118"/>
          </a:xfrm>
        </p:grpSpPr>
        <p:sp>
          <p:nvSpPr>
            <p:cNvPr id="67592" name="文本框 2"/>
            <p:cNvSpPr txBox="1">
              <a:spLocks noChangeArrowheads="1"/>
            </p:cNvSpPr>
            <p:nvPr/>
          </p:nvSpPr>
          <p:spPr bwMode="auto">
            <a:xfrm>
              <a:off x="1331638" y="2342625"/>
              <a:ext cx="6916961" cy="862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                                   1</a:t>
              </a:r>
              <a:endParaRPr lang="en-US" altLang="zh-CN" sz="20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err="1">
                  <a:latin typeface="Georgia" panose="02040502050405020303" pitchFamily="18" charset="0"/>
                </a:rPr>
                <a:t>f</a:t>
              </a:r>
              <a:r>
                <a:rPr lang="en-US" altLang="zh-CN" sz="2000" baseline="-25000" dirty="0" err="1">
                  <a:latin typeface="Georgia" panose="02040502050405020303" pitchFamily="18" charset="0"/>
                </a:rPr>
                <a:t>cp</a:t>
              </a:r>
              <a:r>
                <a:rPr lang="en-US" altLang="zh-CN" sz="2000" baseline="-25000" dirty="0">
                  <a:latin typeface="Georgia" panose="02040502050405020303" pitchFamily="18" charset="0"/>
                </a:rPr>
                <a:t> max</a:t>
              </a:r>
              <a:r>
                <a:rPr lang="en-US" altLang="zh-CN" sz="2000" dirty="0">
                  <a:latin typeface="Georgia" panose="02040502050405020303" pitchFamily="18" charset="0"/>
                </a:rPr>
                <a:t>=  </a:t>
              </a:r>
              <a:endParaRPr lang="en-US" altLang="zh-CN" sz="20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              max( T1</a:t>
              </a:r>
              <a:r>
                <a:rPr lang="zh-CN" altLang="en-US" sz="2000" dirty="0">
                  <a:latin typeface="Georgia" panose="02040502050405020303" pitchFamily="18" charset="0"/>
                </a:rPr>
                <a:t>，</a:t>
              </a:r>
              <a:r>
                <a:rPr lang="en-US" altLang="zh-CN" sz="2000" dirty="0">
                  <a:latin typeface="Georgia" panose="02040502050405020303" pitchFamily="18" charset="0"/>
                </a:rPr>
                <a:t>T2</a:t>
              </a:r>
              <a:r>
                <a:rPr lang="zh-CN" altLang="en-US" sz="2000" dirty="0">
                  <a:latin typeface="Georgia" panose="02040502050405020303" pitchFamily="18" charset="0"/>
                </a:rPr>
                <a:t>，</a:t>
              </a:r>
              <a:r>
                <a:rPr lang="en-US" altLang="zh-CN" sz="2000" dirty="0">
                  <a:latin typeface="Georgia" panose="02040502050405020303" pitchFamily="18" charset="0"/>
                </a:rPr>
                <a:t>……  Tn)</a:t>
              </a:r>
              <a:endParaRPr lang="zh-CN" altLang="en-US" sz="2000" dirty="0">
                <a:latin typeface="Georgia" panose="02040502050405020303" pitchFamily="18" charset="0"/>
              </a:endParaRPr>
            </a:p>
          </p:txBody>
        </p:sp>
        <p:cxnSp>
          <p:nvCxnSpPr>
            <p:cNvPr id="5" name="直接连接符 4"/>
            <p:cNvCxnSpPr>
              <a:endCxn id="67592" idx="3"/>
            </p:cNvCxnSpPr>
            <p:nvPr/>
          </p:nvCxnSpPr>
          <p:spPr>
            <a:xfrm flipV="1">
              <a:off x="2989507" y="2773684"/>
              <a:ext cx="5259092" cy="72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695090" y="2377173"/>
            <a:ext cx="2890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Georgia" panose="02040502050405020303" pitchFamily="18" charset="0"/>
              </a:rPr>
              <a:t>假设</a:t>
            </a:r>
            <a:r>
              <a:rPr lang="en-US" altLang="zh-CN" sz="2400" dirty="0" err="1">
                <a:latin typeface="Georgia" panose="02040502050405020303" pitchFamily="18" charset="0"/>
              </a:rPr>
              <a:t>t</a:t>
            </a:r>
            <a:r>
              <a:rPr lang="en-US" altLang="zh-CN" sz="2400" baseline="-25000" dirty="0" err="1">
                <a:latin typeface="Georgia" panose="02040502050405020303" pitchFamily="18" charset="0"/>
              </a:rPr>
              <a:t>h</a:t>
            </a:r>
            <a:r>
              <a:rPr lang="en-US" altLang="zh-CN" sz="2400" dirty="0">
                <a:latin typeface="Georgia" panose="02040502050405020303" pitchFamily="18" charset="0"/>
              </a:rPr>
              <a:t>&lt; </a:t>
            </a:r>
            <a:r>
              <a:rPr lang="en-US" altLang="zh-CN" sz="2400" dirty="0" err="1">
                <a:latin typeface="Georgia" panose="02040502050405020303" pitchFamily="18" charset="0"/>
              </a:rPr>
              <a:t>t</a:t>
            </a:r>
            <a:r>
              <a:rPr lang="en-US" altLang="zh-CN" sz="2400" baseline="-10000" dirty="0" err="1">
                <a:latin typeface="Georgia" panose="02040502050405020303" pitchFamily="18" charset="0"/>
              </a:rPr>
              <a:t>pdcp</a:t>
            </a:r>
            <a:r>
              <a:rPr lang="en-US" altLang="zh-CN" sz="2400" baseline="-10000" dirty="0" err="1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aseline="-10000" dirty="0" err="1">
                <a:latin typeface="Georgia" panose="02040502050405020303" pitchFamily="18" charset="0"/>
              </a:rPr>
              <a:t>Q</a:t>
            </a:r>
            <a:r>
              <a:rPr lang="en-US" altLang="zh-CN" sz="2400" dirty="0" err="1">
                <a:latin typeface="Georgia" panose="02040502050405020303" pitchFamily="18" charset="0"/>
              </a:rPr>
              <a:t>+t</a:t>
            </a:r>
            <a:r>
              <a:rPr lang="en-US" altLang="zh-CN" sz="2400" baseline="-25000" dirty="0" err="1">
                <a:latin typeface="Georgia" panose="02040502050405020303" pitchFamily="18" charset="0"/>
              </a:rPr>
              <a:t>pdG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 bwMode="auto">
          <a:xfrm>
            <a:off x="1151814" y="2890832"/>
            <a:ext cx="3060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T1=</a:t>
            </a:r>
            <a:r>
              <a:rPr lang="en-US" altLang="zh-CN" dirty="0">
                <a:latin typeface="Georgia" panose="02040502050405020303" pitchFamily="18" charset="0"/>
              </a:rPr>
              <a:t> t</a:t>
            </a:r>
            <a:r>
              <a:rPr lang="en-US" altLang="zh-CN" baseline="-10000" dirty="0">
                <a:latin typeface="Georgia" panose="02040502050405020303" pitchFamily="18" charset="0"/>
              </a:rPr>
              <a:t>pdcp</a:t>
            </a:r>
            <a:r>
              <a:rPr lang="en-US" altLang="zh-CN" baseline="-10000" dirty="0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baseline="-10000" dirty="0">
                <a:latin typeface="Georgia" panose="02040502050405020303" pitchFamily="18" charset="0"/>
              </a:rPr>
              <a:t>Q1 </a:t>
            </a:r>
            <a:r>
              <a:rPr lang="en-US" altLang="zh-CN" dirty="0">
                <a:latin typeface="Georgia" panose="02040502050405020303" pitchFamily="18" charset="0"/>
              </a:rPr>
              <a:t>+</a:t>
            </a:r>
            <a:r>
              <a:rPr lang="en-US" altLang="zh-CN" sz="2000" dirty="0">
                <a:latin typeface="Georgia" panose="02040502050405020303" pitchFamily="18" charset="0"/>
              </a:rPr>
              <a:t>t</a:t>
            </a:r>
            <a:r>
              <a:rPr lang="en-US" altLang="zh-CN" sz="2000" baseline="-25000" dirty="0">
                <a:latin typeface="Georgia" panose="02040502050405020303" pitchFamily="18" charset="0"/>
              </a:rPr>
              <a:t>pdG1</a:t>
            </a:r>
            <a:r>
              <a:rPr lang="en-US" altLang="zh-CN" dirty="0">
                <a:latin typeface="Georgia" panose="02040502050405020303" pitchFamily="18" charset="0"/>
              </a:rPr>
              <a:t>+t</a:t>
            </a:r>
            <a:r>
              <a:rPr lang="en-US" altLang="zh-CN" baseline="-25000" dirty="0">
                <a:latin typeface="Georgia" panose="02040502050405020303" pitchFamily="18" charset="0"/>
              </a:rPr>
              <a:t>su2</a:t>
            </a:r>
            <a:r>
              <a:rPr lang="en-US" altLang="zh-CN" dirty="0">
                <a:latin typeface="Georgia" panose="02040502050405020303" pitchFamily="18" charset="0"/>
              </a:rPr>
              <a:t> 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 bwMode="auto">
          <a:xfrm>
            <a:off x="1166352" y="3390225"/>
            <a:ext cx="31710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T2=</a:t>
            </a:r>
            <a:r>
              <a:rPr lang="en-US" altLang="zh-CN" dirty="0">
                <a:latin typeface="Georgia" panose="02040502050405020303" pitchFamily="18" charset="0"/>
              </a:rPr>
              <a:t>t</a:t>
            </a:r>
            <a:r>
              <a:rPr lang="en-US" altLang="zh-CN" baseline="-10000" dirty="0">
                <a:latin typeface="Georgia" panose="02040502050405020303" pitchFamily="18" charset="0"/>
              </a:rPr>
              <a:t>pdcp</a:t>
            </a:r>
            <a:r>
              <a:rPr lang="en-US" altLang="zh-CN" baseline="-10000" dirty="0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baseline="-10000" dirty="0">
                <a:latin typeface="Georgia" panose="02040502050405020303" pitchFamily="18" charset="0"/>
              </a:rPr>
              <a:t>Q2</a:t>
            </a:r>
            <a:r>
              <a:rPr lang="en-US" altLang="zh-CN" dirty="0">
                <a:latin typeface="Georgia" panose="02040502050405020303" pitchFamily="18" charset="0"/>
              </a:rPr>
              <a:t>+t</a:t>
            </a:r>
            <a:r>
              <a:rPr lang="en-US" altLang="zh-CN" baseline="-25000" dirty="0">
                <a:latin typeface="Georgia" panose="02040502050405020303" pitchFamily="18" charset="0"/>
              </a:rPr>
              <a:t>pdG2 </a:t>
            </a:r>
            <a:r>
              <a:rPr lang="en-US" altLang="zh-CN" dirty="0">
                <a:latin typeface="Georgia" panose="02040502050405020303" pitchFamily="18" charset="0"/>
              </a:rPr>
              <a:t>+</a:t>
            </a:r>
            <a:r>
              <a:rPr lang="en-US" altLang="zh-CN" sz="2000" dirty="0">
                <a:latin typeface="Georgia" panose="02040502050405020303" pitchFamily="18" charset="0"/>
              </a:rPr>
              <a:t>t</a:t>
            </a:r>
            <a:r>
              <a:rPr lang="en-US" altLang="zh-CN" sz="2000" baseline="-25000" dirty="0">
                <a:latin typeface="Georgia" panose="02040502050405020303" pitchFamily="18" charset="0"/>
              </a:rPr>
              <a:t>su3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 bwMode="auto">
          <a:xfrm>
            <a:off x="1243019" y="3771215"/>
            <a:ext cx="4572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…… </a:t>
            </a:r>
            <a:endParaRPr lang="zh-CN" altLang="en-US" dirty="0"/>
          </a:p>
        </p:txBody>
      </p:sp>
      <p:sp>
        <p:nvSpPr>
          <p:cNvPr id="37" name="椭圆 36"/>
          <p:cNvSpPr/>
          <p:nvPr/>
        </p:nvSpPr>
        <p:spPr>
          <a:xfrm>
            <a:off x="3308578" y="1775013"/>
            <a:ext cx="95147" cy="9832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937344" y="1775013"/>
            <a:ext cx="95147" cy="9832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dirty="0">
              <a:latin typeface="Georgia" panose="02040502050405020303" pitchFamily="18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81262" y="105685"/>
            <a:ext cx="8338795" cy="1783917"/>
            <a:chOff x="381262" y="105685"/>
            <a:chExt cx="8338795" cy="1783917"/>
          </a:xfrm>
        </p:grpSpPr>
        <p:sp>
          <p:nvSpPr>
            <p:cNvPr id="33" name="文本框 32"/>
            <p:cNvSpPr txBox="1"/>
            <p:nvPr/>
          </p:nvSpPr>
          <p:spPr bwMode="auto">
            <a:xfrm>
              <a:off x="7607351" y="802304"/>
              <a:ext cx="111270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latin typeface="Georgia" panose="02040502050405020303" pitchFamily="18" charset="0"/>
                </a:rPr>
                <a:t>…… </a:t>
              </a:r>
              <a:endParaRPr lang="zh-CN" altLang="en-US" sz="3600" dirty="0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381262" y="105685"/>
              <a:ext cx="7016613" cy="1783917"/>
              <a:chOff x="381262" y="105685"/>
              <a:chExt cx="7016613" cy="1783917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381262" y="105685"/>
                <a:ext cx="7016613" cy="1783917"/>
                <a:chOff x="879612" y="3335320"/>
                <a:chExt cx="7016613" cy="1816535"/>
              </a:xfrm>
            </p:grpSpPr>
            <p:sp>
              <p:nvSpPr>
                <p:cNvPr id="67648" name="Rectangle 5"/>
                <p:cNvSpPr>
                  <a:spLocks noChangeArrowheads="1"/>
                </p:cNvSpPr>
                <p:nvPr/>
              </p:nvSpPr>
              <p:spPr bwMode="auto">
                <a:xfrm>
                  <a:off x="1750177" y="3799151"/>
                  <a:ext cx="877607" cy="116803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7649" name="Rectangle 6"/>
                <p:cNvSpPr>
                  <a:spLocks noChangeArrowheads="1"/>
                </p:cNvSpPr>
                <p:nvPr/>
              </p:nvSpPr>
              <p:spPr bwMode="auto">
                <a:xfrm>
                  <a:off x="1826701" y="3902974"/>
                  <a:ext cx="767839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D1    Q1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7650" name="Rectangle 7"/>
                <p:cNvSpPr>
                  <a:spLocks noChangeArrowheads="1"/>
                </p:cNvSpPr>
                <p:nvPr/>
              </p:nvSpPr>
              <p:spPr bwMode="auto">
                <a:xfrm>
                  <a:off x="1784680" y="4619223"/>
                  <a:ext cx="288541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CP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7651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627784" y="4077072"/>
                  <a:ext cx="348786" cy="0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52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1495333" y="4758829"/>
                  <a:ext cx="248322" cy="3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54" name="Line 17"/>
                <p:cNvSpPr>
                  <a:spLocks noChangeShapeType="1"/>
                </p:cNvSpPr>
                <p:nvPr/>
              </p:nvSpPr>
              <p:spPr bwMode="auto">
                <a:xfrm>
                  <a:off x="7411154" y="4041473"/>
                  <a:ext cx="485071" cy="67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62" name="Line 25"/>
                <p:cNvSpPr>
                  <a:spLocks noChangeShapeType="1"/>
                </p:cNvSpPr>
                <p:nvPr/>
              </p:nvSpPr>
              <p:spPr bwMode="auto">
                <a:xfrm>
                  <a:off x="1066771" y="4042143"/>
                  <a:ext cx="68340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63" name="Line 26"/>
                <p:cNvSpPr>
                  <a:spLocks noChangeShapeType="1"/>
                </p:cNvSpPr>
                <p:nvPr/>
              </p:nvSpPr>
              <p:spPr bwMode="auto">
                <a:xfrm>
                  <a:off x="903136" y="5085235"/>
                  <a:ext cx="5324312" cy="239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67664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495332" y="4750472"/>
                  <a:ext cx="0" cy="3467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66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903136" y="3641316"/>
                  <a:ext cx="457176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D1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7667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879612" y="4782523"/>
                  <a:ext cx="473206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CP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767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847594" y="3335320"/>
                  <a:ext cx="802041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FF1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7673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259607" y="3380321"/>
                  <a:ext cx="802041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FF2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3" name="Rectangle 5"/>
                <p:cNvSpPr>
                  <a:spLocks noChangeArrowheads="1"/>
                </p:cNvSpPr>
                <p:nvPr/>
              </p:nvSpPr>
              <p:spPr bwMode="auto">
                <a:xfrm>
                  <a:off x="2976568" y="3815619"/>
                  <a:ext cx="652832" cy="611936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" name="Rectangle 6"/>
                <p:cNvSpPr>
                  <a:spLocks noChangeArrowheads="1"/>
                </p:cNvSpPr>
                <p:nvPr/>
              </p:nvSpPr>
              <p:spPr bwMode="auto">
                <a:xfrm>
                  <a:off x="3095549" y="3983087"/>
                  <a:ext cx="47590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G1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" name="Rectangle 5"/>
                <p:cNvSpPr>
                  <a:spLocks noChangeArrowheads="1"/>
                </p:cNvSpPr>
                <p:nvPr/>
              </p:nvSpPr>
              <p:spPr bwMode="auto">
                <a:xfrm>
                  <a:off x="4126035" y="3799151"/>
                  <a:ext cx="877607" cy="116803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8" name="Rectangle 6"/>
                <p:cNvSpPr>
                  <a:spLocks noChangeArrowheads="1"/>
                </p:cNvSpPr>
                <p:nvPr/>
              </p:nvSpPr>
              <p:spPr bwMode="auto">
                <a:xfrm>
                  <a:off x="4202559" y="3902974"/>
                  <a:ext cx="769441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D2   Q2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" name="Rectangle 7"/>
                <p:cNvSpPr>
                  <a:spLocks noChangeArrowheads="1"/>
                </p:cNvSpPr>
                <p:nvPr/>
              </p:nvSpPr>
              <p:spPr bwMode="auto">
                <a:xfrm>
                  <a:off x="4164461" y="4579724"/>
                  <a:ext cx="288541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CP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0" name="Rectangle 5"/>
                <p:cNvSpPr>
                  <a:spLocks noChangeArrowheads="1"/>
                </p:cNvSpPr>
                <p:nvPr/>
              </p:nvSpPr>
              <p:spPr bwMode="auto">
                <a:xfrm>
                  <a:off x="5445135" y="3831891"/>
                  <a:ext cx="652832" cy="611936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1" name="Rectangle 6"/>
                <p:cNvSpPr>
                  <a:spLocks noChangeArrowheads="1"/>
                </p:cNvSpPr>
                <p:nvPr/>
              </p:nvSpPr>
              <p:spPr bwMode="auto">
                <a:xfrm>
                  <a:off x="5564116" y="3999359"/>
                  <a:ext cx="47590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G2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2" name="Rectangle 5"/>
                <p:cNvSpPr>
                  <a:spLocks noChangeArrowheads="1"/>
                </p:cNvSpPr>
                <p:nvPr/>
              </p:nvSpPr>
              <p:spPr bwMode="auto">
                <a:xfrm>
                  <a:off x="6533547" y="3781404"/>
                  <a:ext cx="877607" cy="116803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" name="Rectangle 6"/>
                <p:cNvSpPr>
                  <a:spLocks noChangeArrowheads="1"/>
                </p:cNvSpPr>
                <p:nvPr/>
              </p:nvSpPr>
              <p:spPr bwMode="auto">
                <a:xfrm>
                  <a:off x="6610071" y="3885227"/>
                  <a:ext cx="766235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D3   Q3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4" name="Rectangle 7"/>
                <p:cNvSpPr>
                  <a:spLocks noChangeArrowheads="1"/>
                </p:cNvSpPr>
                <p:nvPr/>
              </p:nvSpPr>
              <p:spPr bwMode="auto">
                <a:xfrm>
                  <a:off x="6583321" y="4580836"/>
                  <a:ext cx="288541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CP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5003641" y="4077072"/>
                  <a:ext cx="441493" cy="0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8"/>
                <p:cNvSpPr>
                  <a:spLocks noChangeShapeType="1"/>
                </p:cNvSpPr>
                <p:nvPr/>
              </p:nvSpPr>
              <p:spPr bwMode="auto">
                <a:xfrm>
                  <a:off x="3629400" y="4067052"/>
                  <a:ext cx="475903" cy="1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6090294" y="4077072"/>
                  <a:ext cx="441493" cy="0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9"/>
                <p:cNvSpPr>
                  <a:spLocks noChangeShapeType="1"/>
                </p:cNvSpPr>
                <p:nvPr/>
              </p:nvSpPr>
              <p:spPr bwMode="auto">
                <a:xfrm>
                  <a:off x="3847988" y="4735581"/>
                  <a:ext cx="266699" cy="231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851593" y="4724264"/>
                  <a:ext cx="5819" cy="3467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Line 9"/>
                <p:cNvSpPr>
                  <a:spLocks noChangeShapeType="1"/>
                </p:cNvSpPr>
                <p:nvPr/>
              </p:nvSpPr>
              <p:spPr bwMode="auto">
                <a:xfrm>
                  <a:off x="6238030" y="4736359"/>
                  <a:ext cx="302436" cy="1226"/>
                </a:xfrm>
                <a:prstGeom prst="lin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6236349" y="4744134"/>
                  <a:ext cx="3267" cy="36382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Text Box 43"/>
              <p:cNvSpPr txBox="1">
                <a:spLocks noChangeArrowheads="1"/>
              </p:cNvSpPr>
              <p:nvPr/>
            </p:nvSpPr>
            <p:spPr bwMode="auto">
              <a:xfrm>
                <a:off x="6173270" y="144128"/>
                <a:ext cx="80204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Georgia" panose="02040502050405020303" pitchFamily="18" charset="0"/>
                  </a:rPr>
                  <a:t>FF3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</p:grpSp>
      </p:grpSp>
      <p:sp>
        <p:nvSpPr>
          <p:cNvPr id="40" name="文本框 39"/>
          <p:cNvSpPr txBox="1"/>
          <p:nvPr/>
        </p:nvSpPr>
        <p:spPr bwMode="auto">
          <a:xfrm>
            <a:off x="1166352" y="4152205"/>
            <a:ext cx="31710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Tn=</a:t>
            </a: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10000" dirty="0" err="1">
                <a:latin typeface="Georgia" panose="02040502050405020303" pitchFamily="18" charset="0"/>
              </a:rPr>
              <a:t>pdcp</a:t>
            </a:r>
            <a:r>
              <a:rPr lang="en-US" altLang="zh-CN" baseline="-10000" dirty="0" err="1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baseline="-10000" dirty="0" err="1">
                <a:latin typeface="Georgia" panose="02040502050405020303" pitchFamily="18" charset="0"/>
              </a:rPr>
              <a:t>Q</a:t>
            </a:r>
            <a:r>
              <a:rPr lang="en-US" altLang="zh-CN" baseline="-10000" dirty="0">
                <a:latin typeface="Georgia" panose="02040502050405020303" pitchFamily="18" charset="0"/>
              </a:rPr>
              <a:t> </a:t>
            </a:r>
            <a:r>
              <a:rPr lang="en-US" altLang="zh-CN" baseline="-10000" dirty="0" err="1">
                <a:latin typeface="Georgia" panose="02040502050405020303" pitchFamily="18" charset="0"/>
              </a:rPr>
              <a:t>n</a:t>
            </a:r>
            <a:r>
              <a:rPr lang="en-US" altLang="zh-CN" sz="2000" dirty="0" err="1">
                <a:latin typeface="Georgia" panose="02040502050405020303" pitchFamily="18" charset="0"/>
              </a:rPr>
              <a:t>+t</a:t>
            </a:r>
            <a:r>
              <a:rPr lang="en-US" altLang="zh-CN" sz="2000" baseline="-25000" dirty="0" err="1">
                <a:latin typeface="Georgia" panose="02040502050405020303" pitchFamily="18" charset="0"/>
              </a:rPr>
              <a:t>pdG</a:t>
            </a:r>
            <a:r>
              <a:rPr lang="en-US" altLang="zh-CN" sz="2000" baseline="-25000" dirty="0">
                <a:latin typeface="Georgia" panose="02040502050405020303" pitchFamily="18" charset="0"/>
              </a:rPr>
              <a:t> n </a:t>
            </a:r>
            <a:r>
              <a:rPr lang="en-US" altLang="zh-CN" sz="2000" dirty="0">
                <a:latin typeface="Georgia" panose="02040502050405020303" pitchFamily="18" charset="0"/>
              </a:rPr>
              <a:t>+</a:t>
            </a: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25000" dirty="0" err="1">
                <a:latin typeface="Georgia" panose="02040502050405020303" pitchFamily="18" charset="0"/>
              </a:rPr>
              <a:t>su</a:t>
            </a:r>
            <a:r>
              <a:rPr lang="en-US" altLang="zh-CN" baseline="-25000" dirty="0">
                <a:latin typeface="Georgia" panose="02040502050405020303" pitchFamily="18" charset="0"/>
              </a:rPr>
              <a:t> n+1</a:t>
            </a:r>
            <a:r>
              <a:rPr lang="en-US" altLang="zh-CN" dirty="0">
                <a:latin typeface="Georgia" panose="02040502050405020303" pitchFamily="18" charset="0"/>
              </a:rPr>
              <a:t> </a:t>
            </a:r>
            <a:endParaRPr lang="zh-CN" altLang="en-US" dirty="0"/>
          </a:p>
        </p:txBody>
      </p:sp>
      <p:grpSp>
        <p:nvGrpSpPr>
          <p:cNvPr id="48" name="组合 47"/>
          <p:cNvGrpSpPr/>
          <p:nvPr/>
        </p:nvGrpSpPr>
        <p:grpSpPr>
          <a:xfrm>
            <a:off x="2069679" y="1881489"/>
            <a:ext cx="1515524" cy="585258"/>
            <a:chOff x="2069679" y="1881489"/>
            <a:chExt cx="1515524" cy="585258"/>
          </a:xfrm>
        </p:grpSpPr>
        <p:sp>
          <p:nvSpPr>
            <p:cNvPr id="41" name="AutoShape 31"/>
            <p:cNvSpPr/>
            <p:nvPr/>
          </p:nvSpPr>
          <p:spPr bwMode="auto">
            <a:xfrm rot="16200000">
              <a:off x="2716520" y="1234648"/>
              <a:ext cx="221841" cy="1515524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42" name="Text Box 32"/>
            <p:cNvSpPr txBox="1">
              <a:spLocks noChangeArrowheads="1"/>
            </p:cNvSpPr>
            <p:nvPr/>
          </p:nvSpPr>
          <p:spPr bwMode="auto">
            <a:xfrm>
              <a:off x="2632899" y="2097415"/>
              <a:ext cx="42672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Georgia" panose="02040502050405020303" pitchFamily="18" charset="0"/>
                </a:rPr>
                <a:t>T1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504555" y="1899500"/>
            <a:ext cx="1515524" cy="516817"/>
            <a:chOff x="4504555" y="1899500"/>
            <a:chExt cx="1515524" cy="516817"/>
          </a:xfrm>
        </p:grpSpPr>
        <p:sp>
          <p:nvSpPr>
            <p:cNvPr id="43" name="AutoShape 31"/>
            <p:cNvSpPr/>
            <p:nvPr/>
          </p:nvSpPr>
          <p:spPr bwMode="auto">
            <a:xfrm rot="16200000">
              <a:off x="5151396" y="1252659"/>
              <a:ext cx="221841" cy="1515524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44" name="Text Box 32"/>
            <p:cNvSpPr txBox="1">
              <a:spLocks noChangeArrowheads="1"/>
            </p:cNvSpPr>
            <p:nvPr/>
          </p:nvSpPr>
          <p:spPr bwMode="auto">
            <a:xfrm>
              <a:off x="5065029" y="2046985"/>
              <a:ext cx="45557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Georgia" panose="02040502050405020303" pitchFamily="18" charset="0"/>
                </a:rPr>
                <a:t>T2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381278" y="1870228"/>
            <a:ext cx="1515524" cy="793816"/>
            <a:chOff x="7381278" y="1870228"/>
            <a:chExt cx="1515524" cy="793816"/>
          </a:xfrm>
        </p:grpSpPr>
        <p:sp>
          <p:nvSpPr>
            <p:cNvPr id="45" name="AutoShape 31"/>
            <p:cNvSpPr/>
            <p:nvPr/>
          </p:nvSpPr>
          <p:spPr bwMode="auto">
            <a:xfrm rot="16200000">
              <a:off x="8028119" y="1223387"/>
              <a:ext cx="221841" cy="1515524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46" name="Text Box 32"/>
            <p:cNvSpPr txBox="1">
              <a:spLocks noChangeArrowheads="1"/>
            </p:cNvSpPr>
            <p:nvPr/>
          </p:nvSpPr>
          <p:spPr bwMode="auto">
            <a:xfrm>
              <a:off x="7941752" y="2017713"/>
              <a:ext cx="463588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Georgia" panose="02040502050405020303" pitchFamily="18" charset="0"/>
                </a:rPr>
                <a:t>Tn</a:t>
              </a:r>
              <a:endParaRPr lang="en-US" altLang="zh-CN" sz="18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8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1" grpId="1"/>
      <p:bldP spid="23" grpId="0"/>
      <p:bldP spid="25" grpId="0"/>
      <p:bldP spid="27" grpId="0"/>
      <p:bldP spid="35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89D007-925A-45D0-8309-9997C36F9214}" type="slidenum">
              <a:rPr lang="en-US" altLang="zh-CN"/>
            </a:fld>
            <a:endParaRPr lang="en-US" altLang="zh-CN"/>
          </a:p>
        </p:txBody>
      </p:sp>
      <p:sp>
        <p:nvSpPr>
          <p:cNvPr id="57856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578563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基本</a:t>
            </a:r>
            <a:r>
              <a:rPr lang="en-US" altLang="zh-CN"/>
              <a:t>R-S</a:t>
            </a: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电位触发方式的触发器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>
                <a:solidFill>
                  <a:srgbClr val="FFFF00"/>
                </a:solidFill>
              </a:rPr>
              <a:t>边沿触发方式的触发器（负边沿</a:t>
            </a:r>
            <a:r>
              <a:rPr lang="en-US" altLang="zh-CN">
                <a:solidFill>
                  <a:srgbClr val="FFFF00"/>
                </a:solidFill>
              </a:rPr>
              <a:t>JK</a:t>
            </a:r>
            <a:r>
              <a:rPr lang="zh-CN" altLang="en-US">
                <a:solidFill>
                  <a:srgbClr val="FFFF00"/>
                </a:solidFill>
              </a:rPr>
              <a:t>触发器）</a:t>
            </a:r>
            <a:endParaRPr lang="zh-CN" altLang="en-US">
              <a:solidFill>
                <a:srgbClr val="FFFF00"/>
              </a:solidFill>
            </a:endParaRPr>
          </a:p>
          <a:p>
            <a:pPr lvl="1" eaLnBrk="1" hangingPunct="1">
              <a:defRPr/>
            </a:pPr>
            <a:r>
              <a:rPr lang="zh-CN" altLang="en-US"/>
              <a:t>主－从触发器方式的触发器</a:t>
            </a:r>
            <a:endParaRPr lang="zh-CN" altLang="en-US"/>
          </a:p>
        </p:txBody>
      </p:sp>
      <p:sp>
        <p:nvSpPr>
          <p:cNvPr id="578564" name="Rectangle 2052"/>
          <p:cNvSpPr>
            <a:spLocks noChangeArrowheads="1"/>
          </p:cNvSpPr>
          <p:nvPr/>
        </p:nvSpPr>
        <p:spPr bwMode="auto">
          <a:xfrm>
            <a:off x="457200" y="28194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9694A3-7C8D-4E1D-9E03-CE8501278B2F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65"/>
          <p:cNvSpPr txBox="1">
            <a:spLocks noChangeArrowheads="1"/>
          </p:cNvSpPr>
          <p:nvPr/>
        </p:nvSpPr>
        <p:spPr bwMode="auto">
          <a:xfrm>
            <a:off x="3387725" y="2268538"/>
            <a:ext cx="87153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异步清</a:t>
            </a:r>
            <a:r>
              <a:rPr lang="zh-CN" altLang="en-US" sz="2000">
                <a:latin typeface="Arial" panose="020B0604020202020204" pitchFamily="34" charset="0"/>
              </a:rPr>
              <a:t>“</a:t>
            </a:r>
            <a:r>
              <a:rPr lang="en-US" altLang="zh-CN" sz="2000"/>
              <a:t>0</a:t>
            </a:r>
            <a:r>
              <a:rPr lang="en-US" altLang="zh-CN" sz="2000">
                <a:latin typeface="Arial" panose="020B0604020202020204" pitchFamily="34" charset="0"/>
              </a:rPr>
              <a:t>”</a:t>
            </a:r>
            <a:endParaRPr lang="en-US" altLang="zh-CN" sz="2000"/>
          </a:p>
        </p:txBody>
      </p:sp>
      <p:sp>
        <p:nvSpPr>
          <p:cNvPr id="6" name="Text Box 66"/>
          <p:cNvSpPr txBox="1">
            <a:spLocks noChangeArrowheads="1"/>
          </p:cNvSpPr>
          <p:nvPr/>
        </p:nvSpPr>
        <p:spPr bwMode="auto">
          <a:xfrm>
            <a:off x="3352800" y="3022600"/>
            <a:ext cx="8794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异步置</a:t>
            </a:r>
            <a:r>
              <a:rPr lang="zh-CN" altLang="en-US" sz="2000">
                <a:latin typeface="Arial" panose="020B0604020202020204" pitchFamily="34" charset="0"/>
              </a:rPr>
              <a:t>“</a:t>
            </a:r>
            <a:r>
              <a:rPr lang="en-US" altLang="zh-CN" sz="2000"/>
              <a:t>1</a:t>
            </a:r>
            <a:r>
              <a:rPr lang="en-US" altLang="zh-CN" sz="2000">
                <a:latin typeface="Arial" panose="020B0604020202020204" pitchFamily="34" charset="0"/>
              </a:rPr>
              <a:t>”</a:t>
            </a:r>
            <a:endParaRPr lang="en-US" altLang="zh-CN" sz="2000"/>
          </a:p>
        </p:txBody>
      </p:sp>
      <p:sp>
        <p:nvSpPr>
          <p:cNvPr id="7" name="Text Box 67"/>
          <p:cNvSpPr txBox="1">
            <a:spLocks noChangeArrowheads="1"/>
          </p:cNvSpPr>
          <p:nvPr/>
        </p:nvSpPr>
        <p:spPr bwMode="auto">
          <a:xfrm>
            <a:off x="3327400" y="3870325"/>
            <a:ext cx="1030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置</a:t>
            </a:r>
            <a:r>
              <a:rPr lang="zh-CN" altLang="en-US" sz="2000">
                <a:latin typeface="Arial" panose="020B0604020202020204" pitchFamily="34" charset="0"/>
              </a:rPr>
              <a:t>“</a:t>
            </a:r>
            <a:r>
              <a:rPr lang="en-US" altLang="zh-CN" sz="2000"/>
              <a:t>0</a:t>
            </a:r>
            <a:r>
              <a:rPr lang="en-US" altLang="zh-CN" sz="2000">
                <a:latin typeface="Arial" panose="020B0604020202020204" pitchFamily="34" charset="0"/>
              </a:rPr>
              <a:t>”</a:t>
            </a:r>
            <a:endParaRPr lang="en-US" altLang="zh-CN" sz="2000"/>
          </a:p>
        </p:txBody>
      </p:sp>
      <p:sp>
        <p:nvSpPr>
          <p:cNvPr id="8" name="Text Box 68"/>
          <p:cNvSpPr txBox="1">
            <a:spLocks noChangeArrowheads="1"/>
          </p:cNvSpPr>
          <p:nvPr/>
        </p:nvSpPr>
        <p:spPr bwMode="auto">
          <a:xfrm>
            <a:off x="3336925" y="4475163"/>
            <a:ext cx="1014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置</a:t>
            </a:r>
            <a:r>
              <a:rPr lang="zh-CN" altLang="en-US" sz="2000">
                <a:latin typeface="Arial" panose="020B0604020202020204" pitchFamily="34" charset="0"/>
              </a:rPr>
              <a:t>“</a:t>
            </a:r>
            <a:r>
              <a:rPr lang="en-US" altLang="zh-CN" sz="2000"/>
              <a:t>1</a:t>
            </a:r>
            <a:r>
              <a:rPr lang="en-US" altLang="zh-CN" sz="2000">
                <a:latin typeface="Arial" panose="020B0604020202020204" pitchFamily="34" charset="0"/>
              </a:rPr>
              <a:t>”</a:t>
            </a:r>
            <a:endParaRPr lang="en-US" altLang="zh-CN" sz="2000"/>
          </a:p>
        </p:txBody>
      </p:sp>
      <p:sp>
        <p:nvSpPr>
          <p:cNvPr id="9" name="Text Box 69"/>
          <p:cNvSpPr txBox="1">
            <a:spLocks noChangeArrowheads="1"/>
          </p:cNvSpPr>
          <p:nvPr/>
        </p:nvSpPr>
        <p:spPr bwMode="auto">
          <a:xfrm>
            <a:off x="3349625" y="4995863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保持</a:t>
            </a:r>
            <a:endParaRPr lang="zh-CN" altLang="en-US" sz="2000"/>
          </a:p>
        </p:txBody>
      </p:sp>
      <p:sp>
        <p:nvSpPr>
          <p:cNvPr id="10" name="Text Box 70"/>
          <p:cNvSpPr txBox="1">
            <a:spLocks noChangeArrowheads="1"/>
          </p:cNvSpPr>
          <p:nvPr/>
        </p:nvSpPr>
        <p:spPr bwMode="auto">
          <a:xfrm>
            <a:off x="3373438" y="5540375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翻转</a:t>
            </a:r>
            <a:endParaRPr lang="zh-CN" altLang="en-US" sz="2000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50838" y="2547938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387600" y="1989138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0" name="文本框 14"/>
          <p:cNvSpPr txBox="1">
            <a:spLocks noChangeArrowheads="1"/>
          </p:cNvSpPr>
          <p:nvPr/>
        </p:nvSpPr>
        <p:spPr bwMode="auto">
          <a:xfrm>
            <a:off x="350838" y="26082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0    1    X   </a:t>
            </a:r>
            <a:r>
              <a:rPr lang="en-US" altLang="zh-CN" sz="2000" dirty="0" err="1"/>
              <a:t>X</a:t>
            </a:r>
            <a:r>
              <a:rPr lang="en-US" altLang="zh-CN" sz="2000" dirty="0"/>
              <a:t>   </a:t>
            </a:r>
            <a:r>
              <a:rPr lang="en-US" altLang="zh-CN" sz="2000" dirty="0" err="1"/>
              <a:t>X</a:t>
            </a:r>
            <a:r>
              <a:rPr lang="en-US" altLang="zh-CN" sz="2000" dirty="0"/>
              <a:t>    0    1</a:t>
            </a:r>
            <a:endParaRPr lang="zh-CN" altLang="en-US" sz="2000" dirty="0"/>
          </a:p>
        </p:txBody>
      </p:sp>
      <p:sp>
        <p:nvSpPr>
          <p:cNvPr id="7181" name="文本框 334"/>
          <p:cNvSpPr txBox="1">
            <a:spLocks noChangeArrowheads="1"/>
          </p:cNvSpPr>
          <p:nvPr/>
        </p:nvSpPr>
        <p:spPr bwMode="auto">
          <a:xfrm>
            <a:off x="355600" y="31543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7182" name="组合 14"/>
          <p:cNvGrpSpPr/>
          <p:nvPr/>
        </p:nvGrpSpPr>
        <p:grpSpPr bwMode="auto">
          <a:xfrm>
            <a:off x="323850" y="1989138"/>
            <a:ext cx="3062288" cy="3984625"/>
            <a:chOff x="204788" y="2720975"/>
            <a:chExt cx="3062287" cy="3984625"/>
          </a:xfrm>
        </p:grpSpPr>
        <p:sp>
          <p:nvSpPr>
            <p:cNvPr id="16" name="矩形 15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7199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7211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204221" y="2276484"/>
                <a:ext cx="3411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00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7209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>
                <a:off x="204220" y="2276484"/>
                <a:ext cx="325530" cy="54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01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7202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7203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7204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grpSp>
          <p:nvGrpSpPr>
            <p:cNvPr id="7205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7207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Q</a:t>
                </a:r>
                <a:endParaRPr lang="en-US" altLang="zh-CN" sz="2400" baseline="-25000" dirty="0"/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2820682" y="2858685"/>
                <a:ext cx="29364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23"/>
            <p:cNvCxnSpPr/>
            <p:nvPr/>
          </p:nvCxnSpPr>
          <p:spPr>
            <a:xfrm flipV="1">
              <a:off x="227013" y="4346575"/>
              <a:ext cx="3016249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83" name="文本框 338"/>
          <p:cNvSpPr txBox="1">
            <a:spLocks noChangeArrowheads="1"/>
          </p:cNvSpPr>
          <p:nvPr/>
        </p:nvSpPr>
        <p:spPr bwMode="auto">
          <a:xfrm>
            <a:off x="328613" y="38623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1    1    </a:t>
            </a:r>
            <a:r>
              <a:rPr lang="en-US" altLang="zh-CN" sz="2000" dirty="0">
                <a:sym typeface="Symbol" panose="05050102010706020507" pitchFamily="18" charset="2"/>
              </a:rPr>
              <a:t></a:t>
            </a:r>
            <a:r>
              <a:rPr lang="en-US" altLang="zh-CN" sz="2000" dirty="0"/>
              <a:t>   0   1    0    1</a:t>
            </a:r>
            <a:endParaRPr lang="zh-CN" altLang="en-US" sz="2000" dirty="0"/>
          </a:p>
        </p:txBody>
      </p:sp>
      <p:sp>
        <p:nvSpPr>
          <p:cNvPr id="7184" name="文本框 339"/>
          <p:cNvSpPr txBox="1">
            <a:spLocks noChangeArrowheads="1"/>
          </p:cNvSpPr>
          <p:nvPr/>
        </p:nvSpPr>
        <p:spPr bwMode="auto">
          <a:xfrm>
            <a:off x="328613" y="4425950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1    1    </a:t>
            </a:r>
            <a:r>
              <a:rPr lang="en-US" altLang="zh-CN" sz="2000" dirty="0">
                <a:sym typeface="Symbol" panose="05050102010706020507" pitchFamily="18" charset="2"/>
              </a:rPr>
              <a:t></a:t>
            </a:r>
            <a:r>
              <a:rPr lang="en-US" altLang="zh-CN" sz="2000" dirty="0"/>
              <a:t>   1   0    1    0</a:t>
            </a:r>
            <a:endParaRPr lang="zh-CN" altLang="en-US" sz="2000" dirty="0"/>
          </a:p>
        </p:txBody>
      </p:sp>
      <p:sp>
        <p:nvSpPr>
          <p:cNvPr id="7185" name="文本框 341"/>
          <p:cNvSpPr txBox="1">
            <a:spLocks noChangeArrowheads="1"/>
          </p:cNvSpPr>
          <p:nvPr/>
        </p:nvSpPr>
        <p:spPr bwMode="auto">
          <a:xfrm>
            <a:off x="2446338" y="4918075"/>
            <a:ext cx="51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7186" name="组合 17"/>
          <p:cNvGrpSpPr/>
          <p:nvPr/>
        </p:nvGrpSpPr>
        <p:grpSpPr bwMode="auto">
          <a:xfrm>
            <a:off x="331788" y="4913313"/>
            <a:ext cx="3049587" cy="460375"/>
            <a:chOff x="213489" y="5644643"/>
            <a:chExt cx="3048294" cy="461665"/>
          </a:xfrm>
        </p:grpSpPr>
        <p:sp>
          <p:nvSpPr>
            <p:cNvPr id="7194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1    1    </a:t>
              </a:r>
              <a:r>
                <a:rPr lang="en-US" altLang="zh-CN" sz="2000" dirty="0">
                  <a:sym typeface="Symbol" panose="05050102010706020507" pitchFamily="18" charset="2"/>
                </a:rPr>
                <a:t></a:t>
              </a:r>
              <a:r>
                <a:rPr lang="en-US" altLang="zh-CN" sz="2000" dirty="0"/>
                <a:t>   0   0            </a:t>
              </a:r>
              <a:endParaRPr lang="zh-CN" altLang="en-US" sz="2000" dirty="0"/>
            </a:p>
          </p:txBody>
        </p:sp>
        <p:grpSp>
          <p:nvGrpSpPr>
            <p:cNvPr id="7195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7196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 flipV="1">
                <a:off x="2820801" y="2847843"/>
                <a:ext cx="298324" cy="111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87" name="组合 18"/>
          <p:cNvGrpSpPr/>
          <p:nvPr/>
        </p:nvGrpSpPr>
        <p:grpSpPr bwMode="auto">
          <a:xfrm>
            <a:off x="328613" y="5449888"/>
            <a:ext cx="3068637" cy="471487"/>
            <a:chOff x="209946" y="6181259"/>
            <a:chExt cx="3068766" cy="471449"/>
          </a:xfrm>
        </p:grpSpPr>
        <p:sp>
          <p:nvSpPr>
            <p:cNvPr id="7189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1    1    </a:t>
              </a:r>
              <a:r>
                <a:rPr lang="en-US" altLang="zh-CN" sz="2000" dirty="0">
                  <a:sym typeface="Symbol" panose="05050102010706020507" pitchFamily="18" charset="2"/>
                </a:rPr>
                <a:t></a:t>
              </a:r>
              <a:r>
                <a:rPr lang="en-US" altLang="zh-CN" sz="2000" dirty="0"/>
                <a:t>   1   1            </a:t>
              </a:r>
              <a:endParaRPr lang="zh-CN" altLang="en-US" sz="2000" dirty="0"/>
            </a:p>
          </p:txBody>
        </p:sp>
        <p:sp>
          <p:nvSpPr>
            <p:cNvPr id="7190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7191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7192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44" name="直接连接符 43"/>
              <p:cNvCxnSpPr/>
              <p:nvPr/>
            </p:nvCxnSpPr>
            <p:spPr>
              <a:xfrm flipV="1">
                <a:off x="2820592" y="2847363"/>
                <a:ext cx="298463" cy="111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ctangle 3"/>
          <p:cNvSpPr txBox="1">
            <a:spLocks noChangeArrowheads="1"/>
          </p:cNvSpPr>
          <p:nvPr/>
        </p:nvSpPr>
        <p:spPr bwMode="auto">
          <a:xfrm>
            <a:off x="280988" y="949325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负边沿触发的</a:t>
            </a:r>
            <a:r>
              <a:rPr lang="en-US" altLang="zh-CN"/>
              <a:t>J-K</a:t>
            </a:r>
            <a:r>
              <a:rPr lang="zh-CN" altLang="en-US"/>
              <a:t>触发器原理</a:t>
            </a:r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5218112" y="2140347"/>
            <a:ext cx="2376264" cy="3459956"/>
            <a:chOff x="5868144" y="2075657"/>
            <a:chExt cx="2376264" cy="3459956"/>
          </a:xfrm>
        </p:grpSpPr>
        <p:sp>
          <p:nvSpPr>
            <p:cNvPr id="3" name="矩形 2"/>
            <p:cNvSpPr/>
            <p:nvPr/>
          </p:nvSpPr>
          <p:spPr>
            <a:xfrm>
              <a:off x="6372200" y="2636912"/>
              <a:ext cx="1368152" cy="235260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5868144" y="306896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5868144" y="450912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372200" y="3556000"/>
              <a:ext cx="150813" cy="184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6370613" y="3740972"/>
              <a:ext cx="152400" cy="2246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5868144" y="3750089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V="1">
              <a:off x="7056276" y="2075657"/>
              <a:ext cx="0" cy="5468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7056276" y="4988720"/>
              <a:ext cx="0" cy="5468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740352" y="306896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7740352" y="450912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308"/>
            <p:cNvSpPr txBox="1">
              <a:spLocks noChangeArrowheads="1"/>
            </p:cNvSpPr>
            <p:nvPr/>
          </p:nvSpPr>
          <p:spPr bwMode="auto">
            <a:xfrm>
              <a:off x="6876256" y="4541912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R</a:t>
              </a:r>
              <a:r>
                <a:rPr lang="en-US" altLang="zh-CN" sz="2400" baseline="-25000" dirty="0"/>
                <a:t>d</a:t>
              </a:r>
              <a:endParaRPr lang="en-US" altLang="zh-CN" sz="2400" baseline="-25000" dirty="0"/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 flipV="1">
              <a:off x="6911182" y="4595887"/>
              <a:ext cx="298450" cy="111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314"/>
            <p:cNvSpPr txBox="1">
              <a:spLocks noChangeArrowheads="1"/>
            </p:cNvSpPr>
            <p:nvPr/>
          </p:nvSpPr>
          <p:spPr bwMode="auto">
            <a:xfrm>
              <a:off x="6872126" y="2681976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 err="1"/>
                <a:t>S</a:t>
              </a:r>
              <a:r>
                <a:rPr lang="en-US" altLang="zh-CN" sz="2400" baseline="-25000" dirty="0" err="1"/>
                <a:t>d</a:t>
              </a:r>
              <a:endParaRPr lang="en-US" altLang="zh-CN" sz="2400" baseline="-25000" dirty="0"/>
            </a:p>
          </p:txBody>
        </p:sp>
        <p:cxnSp>
          <p:nvCxnSpPr>
            <p:cNvPr id="67" name="直接连接符 66"/>
            <p:cNvCxnSpPr/>
            <p:nvPr/>
          </p:nvCxnSpPr>
          <p:spPr bwMode="auto">
            <a:xfrm flipV="1">
              <a:off x="6907051" y="2735951"/>
              <a:ext cx="298450" cy="111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327"/>
            <p:cNvSpPr txBox="1">
              <a:spLocks noChangeArrowheads="1"/>
            </p:cNvSpPr>
            <p:nvPr/>
          </p:nvSpPr>
          <p:spPr bwMode="auto">
            <a:xfrm>
              <a:off x="7308895" y="2894268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69" name="文本框 330"/>
            <p:cNvSpPr txBox="1">
              <a:spLocks noChangeArrowheads="1"/>
            </p:cNvSpPr>
            <p:nvPr/>
          </p:nvSpPr>
          <p:spPr bwMode="auto">
            <a:xfrm>
              <a:off x="7332143" y="4226174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70" name="直接连接符 69"/>
            <p:cNvCxnSpPr/>
            <p:nvPr/>
          </p:nvCxnSpPr>
          <p:spPr bwMode="auto">
            <a:xfrm flipV="1">
              <a:off x="7400405" y="4302374"/>
              <a:ext cx="298450" cy="111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322"/>
            <p:cNvSpPr txBox="1">
              <a:spLocks noChangeArrowheads="1"/>
            </p:cNvSpPr>
            <p:nvPr/>
          </p:nvSpPr>
          <p:spPr bwMode="auto">
            <a:xfrm>
              <a:off x="6523013" y="3509990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72" name="文本框 317"/>
            <p:cNvSpPr txBox="1">
              <a:spLocks noChangeArrowheads="1"/>
            </p:cNvSpPr>
            <p:nvPr/>
          </p:nvSpPr>
          <p:spPr bwMode="auto">
            <a:xfrm>
              <a:off x="6413560" y="287433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73" name="文本框 320"/>
            <p:cNvSpPr txBox="1">
              <a:spLocks noChangeArrowheads="1"/>
            </p:cNvSpPr>
            <p:nvPr/>
          </p:nvSpPr>
          <p:spPr bwMode="auto">
            <a:xfrm>
              <a:off x="6372200" y="426243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4"/>
          <p:cNvGrpSpPr/>
          <p:nvPr/>
        </p:nvGrpSpPr>
        <p:grpSpPr bwMode="auto">
          <a:xfrm>
            <a:off x="4308475" y="1461665"/>
            <a:ext cx="4584700" cy="4919663"/>
            <a:chOff x="4030868" y="1463339"/>
            <a:chExt cx="4584665" cy="4920396"/>
          </a:xfrm>
        </p:grpSpPr>
        <p:grpSp>
          <p:nvGrpSpPr>
            <p:cNvPr id="135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203" name="矩形 202"/>
              <p:cNvSpPr/>
              <p:nvPr/>
            </p:nvSpPr>
            <p:spPr>
              <a:xfrm>
                <a:off x="2441511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04" name="直接连接符 203"/>
              <p:cNvCxnSpPr>
                <a:stCxn id="203" idx="1"/>
                <a:endCxn id="203" idx="3"/>
              </p:cNvCxnSpPr>
              <p:nvPr/>
            </p:nvCxnSpPr>
            <p:spPr>
              <a:xfrm>
                <a:off x="2441511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>
                <a:endCxn id="203" idx="2"/>
              </p:cNvCxnSpPr>
              <p:nvPr/>
            </p:nvCxnSpPr>
            <p:spPr>
              <a:xfrm>
                <a:off x="3327329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6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207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208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209" name="椭圆 208"/>
              <p:cNvSpPr/>
              <p:nvPr/>
            </p:nvSpPr>
            <p:spPr>
              <a:xfrm>
                <a:off x="3228905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36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196" name="矩形 195"/>
              <p:cNvSpPr/>
              <p:nvPr/>
            </p:nvSpPr>
            <p:spPr>
              <a:xfrm>
                <a:off x="2441753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97" name="直接连接符 196"/>
              <p:cNvCxnSpPr>
                <a:stCxn id="196" idx="1"/>
                <a:endCxn id="196" idx="3"/>
              </p:cNvCxnSpPr>
              <p:nvPr/>
            </p:nvCxnSpPr>
            <p:spPr>
              <a:xfrm>
                <a:off x="2441753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>
                <a:endCxn id="196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/>
                  <a:t>+</a:t>
                </a:r>
                <a:endParaRPr lang="zh-CN" altLang="en-US" sz="3600" dirty="0"/>
              </a:p>
            </p:txBody>
          </p:sp>
          <p:sp>
            <p:nvSpPr>
              <p:cNvPr id="200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201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202" name="椭圆 201"/>
              <p:cNvSpPr/>
              <p:nvPr/>
            </p:nvSpPr>
            <p:spPr>
              <a:xfrm>
                <a:off x="3229147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37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192" name="矩形 191"/>
              <p:cNvSpPr/>
              <p:nvPr/>
            </p:nvSpPr>
            <p:spPr>
              <a:xfrm>
                <a:off x="3348210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3" name="椭圆 192"/>
              <p:cNvSpPr/>
              <p:nvPr/>
            </p:nvSpPr>
            <p:spPr>
              <a:xfrm>
                <a:off x="3737144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5411944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5" name="椭圆 194"/>
              <p:cNvSpPr/>
              <p:nvPr/>
            </p:nvSpPr>
            <p:spPr>
              <a:xfrm>
                <a:off x="5800878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38" name="直接连接符 137"/>
            <p:cNvCxnSpPr>
              <a:endCxn id="193" idx="0"/>
            </p:cNvCxnSpPr>
            <p:nvPr/>
          </p:nvCxnSpPr>
          <p:spPr>
            <a:xfrm>
              <a:off x="5267522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7340781" y="3098708"/>
              <a:ext cx="7937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42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182" name="直接连接符 181"/>
              <p:cNvCxnSpPr/>
              <p:nvPr/>
            </p:nvCxnSpPr>
            <p:spPr>
              <a:xfrm>
                <a:off x="6293108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5112017" y="960729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flipH="1">
                <a:off x="4597671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flipH="1">
                <a:off x="3294343" y="2283315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flipH="1">
                <a:off x="4172224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椭圆 187"/>
              <p:cNvSpPr/>
              <p:nvPr/>
            </p:nvSpPr>
            <p:spPr>
              <a:xfrm>
                <a:off x="4070625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89" name="直接连接符 188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flipV="1">
                <a:off x="4188099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flipH="1">
                <a:off x="4207149" y="3925034"/>
                <a:ext cx="1587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172" name="直接连接符 171"/>
              <p:cNvCxnSpPr>
                <a:endCxn id="202" idx="0"/>
              </p:cNvCxnSpPr>
              <p:nvPr/>
            </p:nvCxnSpPr>
            <p:spPr>
              <a:xfrm>
                <a:off x="3486929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3486929" y="941980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4691832" y="940391"/>
                <a:ext cx="436560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5142678" y="2672612"/>
                <a:ext cx="1385878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flipH="1">
                <a:off x="6504743" y="2286792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flipH="1">
                <a:off x="5590350" y="2280441"/>
                <a:ext cx="4763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椭圆 177"/>
              <p:cNvSpPr/>
              <p:nvPr/>
            </p:nvSpPr>
            <p:spPr>
              <a:xfrm>
                <a:off x="5493514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79" name="直接连接符 178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5104579" y="4139681"/>
                <a:ext cx="373060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>
                <a:off x="5464939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163" name="直接连接符 162"/>
              <p:cNvCxnSpPr/>
              <p:nvPr/>
            </p:nvCxnSpPr>
            <p:spPr>
              <a:xfrm>
                <a:off x="3064050" y="3131122"/>
                <a:ext cx="369726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 flipH="1">
                <a:off x="6761310" y="2268982"/>
                <a:ext cx="1587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4849974" y="3121596"/>
                <a:ext cx="14287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椭圆 166"/>
              <p:cNvSpPr/>
              <p:nvPr/>
            </p:nvSpPr>
            <p:spPr>
              <a:xfrm>
                <a:off x="4757900" y="3029507"/>
                <a:ext cx="195261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68" name="直接连接符 167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flipH="1">
                <a:off x="3962568" y="3975798"/>
                <a:ext cx="7938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 flipH="1">
                <a:off x="5686580" y="3951983"/>
                <a:ext cx="4763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45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156" name="直接连接符 155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>
                <a:stCxn id="159" idx="2"/>
              </p:cNvCxnSpPr>
              <p:nvPr/>
            </p:nvCxnSpPr>
            <p:spPr>
              <a:xfrm>
                <a:off x="2622728" y="2886611"/>
                <a:ext cx="969956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椭圆 158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60" name="直接连接符 159"/>
              <p:cNvCxnSpPr>
                <a:stCxn id="161" idx="6"/>
              </p:cNvCxnSpPr>
              <p:nvPr/>
            </p:nvCxnSpPr>
            <p:spPr>
              <a:xfrm>
                <a:off x="2827514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椭圆 160"/>
              <p:cNvSpPr/>
              <p:nvPr/>
            </p:nvSpPr>
            <p:spPr>
              <a:xfrm>
                <a:off x="2633841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62" name="直接连接符 161"/>
              <p:cNvCxnSpPr/>
              <p:nvPr/>
            </p:nvCxnSpPr>
            <p:spPr>
              <a:xfrm flipH="1">
                <a:off x="6000902" y="3953570"/>
                <a:ext cx="20638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直接连接符 145"/>
            <p:cNvCxnSpPr/>
            <p:nvPr/>
          </p:nvCxnSpPr>
          <p:spPr>
            <a:xfrm flipH="1">
              <a:off x="4870650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H="1">
              <a:off x="7729715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149" name="直接连接符 148"/>
              <p:cNvCxnSpPr/>
              <p:nvPr/>
            </p:nvCxnSpPr>
            <p:spPr>
              <a:xfrm>
                <a:off x="7075632" y="2286447"/>
                <a:ext cx="4762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6145364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椭圆 151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53" name="直接连接符 152"/>
              <p:cNvCxnSpPr/>
              <p:nvPr/>
            </p:nvCxnSpPr>
            <p:spPr>
              <a:xfrm>
                <a:off x="3753019" y="4806185"/>
                <a:ext cx="3328963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椭圆 153"/>
              <p:cNvSpPr/>
              <p:nvPr/>
            </p:nvSpPr>
            <p:spPr>
              <a:xfrm>
                <a:off x="6970857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55" name="直接连接符 154"/>
              <p:cNvCxnSpPr/>
              <p:nvPr/>
            </p:nvCxnSpPr>
            <p:spPr>
              <a:xfrm>
                <a:off x="3729207" y="3939281"/>
                <a:ext cx="17462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EA65B-8E5A-4219-9EE2-95E28C5A1487}" type="slidenum">
              <a:rPr lang="en-US" altLang="zh-CN" smtClean="0"/>
            </a:fld>
            <a:endParaRPr lang="en-US" altLang="zh-CN"/>
          </a:p>
        </p:txBody>
      </p:sp>
      <p:cxnSp>
        <p:nvCxnSpPr>
          <p:cNvPr id="9" name="直接连接符 8"/>
          <p:cNvCxnSpPr>
            <a:endCxn id="64" idx="0"/>
          </p:cNvCxnSpPr>
          <p:nvPr/>
        </p:nvCxnSpPr>
        <p:spPr bwMode="auto">
          <a:xfrm>
            <a:off x="5545138" y="3085678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5004048" y="1475662"/>
            <a:ext cx="3018957" cy="3466598"/>
            <a:chOff x="6198143" y="4157692"/>
            <a:chExt cx="3018957" cy="3466598"/>
          </a:xfrm>
        </p:grpSpPr>
        <p:sp>
          <p:nvSpPr>
            <p:cNvPr id="11" name="椭圆 10"/>
            <p:cNvSpPr/>
            <p:nvPr/>
          </p:nvSpPr>
          <p:spPr bwMode="auto">
            <a:xfrm>
              <a:off x="7405626" y="6028723"/>
              <a:ext cx="193675" cy="20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9268" name="组合 12"/>
            <p:cNvGrpSpPr/>
            <p:nvPr/>
          </p:nvGrpSpPr>
          <p:grpSpPr bwMode="auto">
            <a:xfrm>
              <a:off x="6198143" y="4157692"/>
              <a:ext cx="3018957" cy="3466598"/>
              <a:chOff x="3282248" y="657009"/>
              <a:chExt cx="3018934" cy="3467115"/>
            </a:xfrm>
            <a:solidFill>
              <a:srgbClr val="FF0000"/>
            </a:solidFill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8" y="657472"/>
                <a:ext cx="0" cy="600164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7" y="960729"/>
                <a:ext cx="1189028" cy="15877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1" y="968668"/>
                <a:ext cx="514346" cy="1689352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3" cy="37470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4" y="2280139"/>
                <a:ext cx="6350" cy="37470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5" y="2548466"/>
                <a:ext cx="193674" cy="203230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9" y="4117150"/>
                <a:ext cx="406397" cy="6351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9" y="3925034"/>
                <a:ext cx="1587" cy="19211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69" name="组合 13"/>
          <p:cNvGrpSpPr/>
          <p:nvPr/>
        </p:nvGrpSpPr>
        <p:grpSpPr bwMode="auto">
          <a:xfrm>
            <a:off x="5206991" y="1460433"/>
            <a:ext cx="3041668" cy="3505746"/>
            <a:chOff x="3486323" y="641897"/>
            <a:chExt cx="3041645" cy="3506268"/>
          </a:xfrm>
          <a:solidFill>
            <a:srgbClr val="FFFF00"/>
          </a:solidFill>
        </p:grpSpPr>
        <p:cxnSp>
          <p:nvCxnSpPr>
            <p:cNvPr id="43" name="直接连接符 42"/>
            <p:cNvCxnSpPr>
              <a:endCxn id="73" idx="0"/>
            </p:cNvCxnSpPr>
            <p:nvPr/>
          </p:nvCxnSpPr>
          <p:spPr>
            <a:xfrm>
              <a:off x="3486929" y="641897"/>
              <a:ext cx="0" cy="60016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3486929" y="941980"/>
              <a:ext cx="1189028" cy="1587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4691832" y="940391"/>
              <a:ext cx="436560" cy="173857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5142678" y="2672612"/>
              <a:ext cx="1385878" cy="635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6504743" y="2286792"/>
              <a:ext cx="4763" cy="37470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5590350" y="2280441"/>
              <a:ext cx="4763" cy="37629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/>
            <p:cNvSpPr/>
            <p:nvPr/>
          </p:nvSpPr>
          <p:spPr>
            <a:xfrm>
              <a:off x="5493514" y="2570997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 flipH="1">
              <a:off x="5117279" y="2678963"/>
              <a:ext cx="9525" cy="146071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104579" y="4139681"/>
              <a:ext cx="373060" cy="79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5464939" y="3939626"/>
              <a:ext cx="3175" cy="19052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71" name="组合 15"/>
          <p:cNvGrpSpPr/>
          <p:nvPr/>
        </p:nvGrpSpPr>
        <p:grpSpPr bwMode="auto">
          <a:xfrm>
            <a:off x="4336456" y="3103444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27" name="直接连接符 26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30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1" name="直接连接符 30"/>
            <p:cNvCxnSpPr>
              <a:stCxn id="32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3" name="直接连接符 32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74" name="组合 18"/>
          <p:cNvGrpSpPr/>
          <p:nvPr/>
        </p:nvGrpSpPr>
        <p:grpSpPr bwMode="auto">
          <a:xfrm>
            <a:off x="5442784" y="3102940"/>
            <a:ext cx="3436623" cy="3278388"/>
            <a:chOff x="3728453" y="2286247"/>
            <a:chExt cx="3436597" cy="3278876"/>
          </a:xfrm>
          <a:solidFill>
            <a:srgbClr val="FFFF00"/>
          </a:solidFill>
        </p:grpSpPr>
        <p:cxnSp>
          <p:nvCxnSpPr>
            <p:cNvPr id="20" name="直接连接符 19"/>
            <p:cNvCxnSpPr/>
            <p:nvPr/>
          </p:nvCxnSpPr>
          <p:spPr>
            <a:xfrm>
              <a:off x="7075632" y="2286447"/>
              <a:ext cx="4762" cy="3278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127901" y="2899313"/>
              <a:ext cx="920743" cy="31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145364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6962920" y="2816751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3753019" y="4806185"/>
              <a:ext cx="3328963" cy="635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6970857" y="472362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3729207" y="3939281"/>
              <a:ext cx="17462" cy="88595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3159125" y="2840038"/>
            <a:ext cx="1030288" cy="3668712"/>
            <a:chOff x="3159125" y="2840038"/>
            <a:chExt cx="1030288" cy="3668712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19450" y="2840038"/>
              <a:ext cx="871538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异步清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184525" y="3594100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159125" y="4441825"/>
              <a:ext cx="10302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168650" y="5046663"/>
              <a:ext cx="10144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181350" y="556736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05163" y="6111875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182563" y="3119438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19325" y="2560638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9" name="文本框 14"/>
          <p:cNvSpPr txBox="1">
            <a:spLocks noChangeArrowheads="1"/>
          </p:cNvSpPr>
          <p:nvPr/>
        </p:nvSpPr>
        <p:spPr bwMode="auto">
          <a:xfrm>
            <a:off x="182563" y="31797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9933"/>
                </a:solidFill>
              </a:rPr>
              <a:t>0    1    X   </a:t>
            </a:r>
            <a:r>
              <a:rPr lang="en-US" altLang="zh-CN" sz="2000" dirty="0" err="1">
                <a:solidFill>
                  <a:srgbClr val="FF9933"/>
                </a:solidFill>
              </a:rPr>
              <a:t>X</a:t>
            </a:r>
            <a:r>
              <a:rPr lang="en-US" altLang="zh-CN" sz="2000" dirty="0">
                <a:solidFill>
                  <a:srgbClr val="FF9933"/>
                </a:solidFill>
              </a:rPr>
              <a:t>   </a:t>
            </a:r>
            <a:r>
              <a:rPr lang="en-US" altLang="zh-CN" sz="2000" dirty="0" err="1">
                <a:solidFill>
                  <a:srgbClr val="FF9933"/>
                </a:solidFill>
              </a:rPr>
              <a:t>X</a:t>
            </a:r>
            <a:r>
              <a:rPr lang="en-US" altLang="zh-CN" sz="2000" dirty="0">
                <a:solidFill>
                  <a:srgbClr val="FF9933"/>
                </a:solidFill>
              </a:rPr>
              <a:t>    0    1</a:t>
            </a:r>
            <a:endParaRPr lang="zh-CN" altLang="en-US" sz="2000" dirty="0">
              <a:solidFill>
                <a:srgbClr val="FF9933"/>
              </a:solidFill>
            </a:endParaRPr>
          </a:p>
        </p:txBody>
      </p:sp>
      <p:sp>
        <p:nvSpPr>
          <p:cNvPr id="9230" name="文本框 334"/>
          <p:cNvSpPr txBox="1">
            <a:spLocks noChangeArrowheads="1"/>
          </p:cNvSpPr>
          <p:nvPr/>
        </p:nvSpPr>
        <p:spPr bwMode="auto">
          <a:xfrm>
            <a:off x="187325" y="37258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9231" name="组合 90"/>
          <p:cNvGrpSpPr/>
          <p:nvPr/>
        </p:nvGrpSpPr>
        <p:grpSpPr bwMode="auto">
          <a:xfrm>
            <a:off x="155575" y="2560638"/>
            <a:ext cx="3062288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9247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9259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1" y="2265379"/>
                <a:ext cx="298402" cy="111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48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9257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49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 baseline="-25000"/>
            </a:p>
          </p:txBody>
        </p:sp>
        <p:sp>
          <p:nvSpPr>
            <p:cNvPr id="9250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 baseline="-25000"/>
            </a:p>
          </p:txBody>
        </p:sp>
        <p:sp>
          <p:nvSpPr>
            <p:cNvPr id="9251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CP</a:t>
              </a:r>
              <a:endParaRPr lang="en-US" altLang="zh-CN" sz="2400" baseline="-25000"/>
            </a:p>
          </p:txBody>
        </p:sp>
        <p:sp>
          <p:nvSpPr>
            <p:cNvPr id="9252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9253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9255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Q</a:t>
                </a:r>
                <a:endParaRPr lang="en-US" altLang="zh-CN" sz="2400" baseline="-25000" dirty="0"/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2" y="2847580"/>
                <a:ext cx="298402" cy="111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49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32" name="文本框 338"/>
          <p:cNvSpPr txBox="1">
            <a:spLocks noChangeArrowheads="1"/>
          </p:cNvSpPr>
          <p:nvPr/>
        </p:nvSpPr>
        <p:spPr bwMode="auto">
          <a:xfrm>
            <a:off x="160338" y="44338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0   1    0    1</a:t>
            </a:r>
            <a:endParaRPr lang="zh-CN" altLang="en-US" sz="2000"/>
          </a:p>
        </p:txBody>
      </p:sp>
      <p:sp>
        <p:nvSpPr>
          <p:cNvPr id="9233" name="文本框 339"/>
          <p:cNvSpPr txBox="1">
            <a:spLocks noChangeArrowheads="1"/>
          </p:cNvSpPr>
          <p:nvPr/>
        </p:nvSpPr>
        <p:spPr bwMode="auto">
          <a:xfrm>
            <a:off x="160338" y="4997450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1   0    1    0</a:t>
            </a:r>
            <a:endParaRPr lang="zh-CN" altLang="en-US" sz="2000"/>
          </a:p>
        </p:txBody>
      </p:sp>
      <p:sp>
        <p:nvSpPr>
          <p:cNvPr id="9234" name="文本框 341"/>
          <p:cNvSpPr txBox="1">
            <a:spLocks noChangeArrowheads="1"/>
          </p:cNvSpPr>
          <p:nvPr/>
        </p:nvSpPr>
        <p:spPr bwMode="auto">
          <a:xfrm>
            <a:off x="2278063" y="5489575"/>
            <a:ext cx="51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9235" name="组合 17"/>
          <p:cNvGrpSpPr/>
          <p:nvPr/>
        </p:nvGrpSpPr>
        <p:grpSpPr bwMode="auto">
          <a:xfrm>
            <a:off x="163513" y="5484813"/>
            <a:ext cx="3049587" cy="460375"/>
            <a:chOff x="213489" y="5644643"/>
            <a:chExt cx="3048294" cy="461665"/>
          </a:xfrm>
        </p:grpSpPr>
        <p:sp>
          <p:nvSpPr>
            <p:cNvPr id="9242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0   0            </a:t>
              </a:r>
              <a:endParaRPr lang="zh-CN" altLang="en-US" sz="2000"/>
            </a:p>
          </p:txBody>
        </p:sp>
        <p:grpSp>
          <p:nvGrpSpPr>
            <p:cNvPr id="9243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9244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Q</a:t>
                </a:r>
                <a:endParaRPr lang="en-US" altLang="zh-CN" sz="2400" baseline="-25000" dirty="0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1" y="2847843"/>
                <a:ext cx="298324" cy="111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36" name="组合 18"/>
          <p:cNvGrpSpPr/>
          <p:nvPr/>
        </p:nvGrpSpPr>
        <p:grpSpPr bwMode="auto">
          <a:xfrm>
            <a:off x="160338" y="6021388"/>
            <a:ext cx="3068637" cy="471487"/>
            <a:chOff x="209946" y="6181259"/>
            <a:chExt cx="3068766" cy="471449"/>
          </a:xfrm>
        </p:grpSpPr>
        <p:sp>
          <p:nvSpPr>
            <p:cNvPr id="9237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1   1            </a:t>
              </a:r>
              <a:endParaRPr lang="zh-CN" altLang="en-US" sz="2000"/>
            </a:p>
          </p:txBody>
        </p:sp>
        <p:sp>
          <p:nvSpPr>
            <p:cNvPr id="9238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9239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9240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2" y="2847363"/>
                <a:ext cx="298463" cy="111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" name="Rectangle 3"/>
          <p:cNvSpPr txBox="1">
            <a:spLocks noChangeArrowheads="1"/>
          </p:cNvSpPr>
          <p:nvPr/>
        </p:nvSpPr>
        <p:spPr bwMode="auto">
          <a:xfrm>
            <a:off x="252307" y="835541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defRPr/>
            </a:pPr>
            <a:r>
              <a:rPr lang="zh-CN" altLang="en-US" dirty="0"/>
              <a:t>该结构的基本要求：</a:t>
            </a:r>
            <a:r>
              <a:rPr lang="en-US" altLang="zh-CN" dirty="0"/>
              <a:t>t</a:t>
            </a:r>
            <a:r>
              <a:rPr lang="en-US" altLang="zh-CN" baseline="-25000" dirty="0"/>
              <a:t>pd</a:t>
            </a:r>
            <a:r>
              <a:rPr lang="zh-CN" altLang="en-US" baseline="-25000" dirty="0"/>
              <a:t>与非门</a:t>
            </a:r>
            <a:r>
              <a:rPr lang="en-US" altLang="zh-CN" dirty="0"/>
              <a:t>&gt;</a:t>
            </a:r>
            <a:r>
              <a:rPr lang="en-US" altLang="zh-CN" dirty="0">
                <a:solidFill>
                  <a:srgbClr val="FFC000"/>
                </a:solidFill>
              </a:rPr>
              <a:t>2*</a:t>
            </a:r>
            <a:r>
              <a:rPr lang="en-US" altLang="zh-CN" dirty="0"/>
              <a:t>t</a:t>
            </a:r>
            <a:r>
              <a:rPr lang="en-US" altLang="zh-CN" baseline="-25000" dirty="0"/>
              <a:t>pd</a:t>
            </a:r>
            <a:r>
              <a:rPr lang="zh-CN" altLang="en-US" baseline="-25000" dirty="0"/>
              <a:t>与或非门</a:t>
            </a:r>
            <a:endParaRPr lang="zh-CN" altLang="en-US" dirty="0"/>
          </a:p>
        </p:txBody>
      </p:sp>
      <p:sp>
        <p:nvSpPr>
          <p:cNvPr id="211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负边沿</a:t>
            </a:r>
            <a:r>
              <a:rPr lang="en-US" altLang="zh-CN" sz="2400">
                <a:latin typeface="Times New Roman" panose="02020603050405020304" pitchFamily="18" charset="0"/>
              </a:rPr>
              <a:t>J-K</a:t>
            </a:r>
            <a:r>
              <a:rPr lang="zh-CN" altLang="en-US" sz="2400">
                <a:latin typeface="Times New Roman" panose="02020603050405020304" pitchFamily="18" charset="0"/>
              </a:rPr>
              <a:t>触发器真值表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25371" y="253860"/>
            <a:ext cx="838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负边沿触发的</a:t>
            </a:r>
            <a:r>
              <a:rPr lang="en-US" altLang="zh-CN" dirty="0"/>
              <a:t>J-K</a:t>
            </a:r>
            <a:r>
              <a:rPr lang="zh-CN" altLang="en-US" dirty="0"/>
              <a:t>触发器原理</a:t>
            </a:r>
            <a:endParaRPr lang="zh-CN" altLang="en-US" dirty="0"/>
          </a:p>
        </p:txBody>
      </p:sp>
      <p:cxnSp>
        <p:nvCxnSpPr>
          <p:cNvPr id="2" name="直接连接符 1"/>
          <p:cNvCxnSpPr/>
          <p:nvPr/>
        </p:nvCxnSpPr>
        <p:spPr bwMode="auto">
          <a:xfrm>
            <a:off x="7609879" y="3098550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4"/>
          <p:cNvGrpSpPr/>
          <p:nvPr/>
        </p:nvGrpSpPr>
        <p:grpSpPr bwMode="auto">
          <a:xfrm>
            <a:off x="4308475" y="1628800"/>
            <a:ext cx="4584700" cy="4919663"/>
            <a:chOff x="4030868" y="1463339"/>
            <a:chExt cx="4584665" cy="4920396"/>
          </a:xfrm>
        </p:grpSpPr>
        <p:grpSp>
          <p:nvGrpSpPr>
            <p:cNvPr id="138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207" name="矩形 206"/>
              <p:cNvSpPr/>
              <p:nvPr/>
            </p:nvSpPr>
            <p:spPr>
              <a:xfrm>
                <a:off x="2441511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08" name="直接连接符 207"/>
              <p:cNvCxnSpPr>
                <a:stCxn id="207" idx="1"/>
                <a:endCxn id="207" idx="3"/>
              </p:cNvCxnSpPr>
              <p:nvPr/>
            </p:nvCxnSpPr>
            <p:spPr>
              <a:xfrm>
                <a:off x="2441511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>
                <a:endCxn id="207" idx="2"/>
              </p:cNvCxnSpPr>
              <p:nvPr/>
            </p:nvCxnSpPr>
            <p:spPr>
              <a:xfrm>
                <a:off x="3327329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211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212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3228905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39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200" name="矩形 199"/>
              <p:cNvSpPr/>
              <p:nvPr/>
            </p:nvSpPr>
            <p:spPr>
              <a:xfrm>
                <a:off x="2441753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01" name="直接连接符 200"/>
              <p:cNvCxnSpPr>
                <a:stCxn id="200" idx="1"/>
                <a:endCxn id="200" idx="3"/>
              </p:cNvCxnSpPr>
              <p:nvPr/>
            </p:nvCxnSpPr>
            <p:spPr>
              <a:xfrm>
                <a:off x="2441753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>
                <a:endCxn id="200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204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205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206" name="椭圆 205"/>
              <p:cNvSpPr/>
              <p:nvPr/>
            </p:nvSpPr>
            <p:spPr>
              <a:xfrm>
                <a:off x="3229147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40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196" name="矩形 195"/>
              <p:cNvSpPr/>
              <p:nvPr/>
            </p:nvSpPr>
            <p:spPr>
              <a:xfrm>
                <a:off x="3348210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7" name="椭圆 196"/>
              <p:cNvSpPr/>
              <p:nvPr/>
            </p:nvSpPr>
            <p:spPr>
              <a:xfrm>
                <a:off x="3737144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5411944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9" name="椭圆 198"/>
              <p:cNvSpPr/>
              <p:nvPr/>
            </p:nvSpPr>
            <p:spPr>
              <a:xfrm>
                <a:off x="5800878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41" name="直接连接符 140"/>
            <p:cNvCxnSpPr>
              <a:endCxn id="197" idx="0"/>
            </p:cNvCxnSpPr>
            <p:nvPr/>
          </p:nvCxnSpPr>
          <p:spPr>
            <a:xfrm>
              <a:off x="5267522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7340781" y="3098708"/>
              <a:ext cx="7937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椭圆 142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45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186" name="直接连接符 185"/>
              <p:cNvCxnSpPr/>
              <p:nvPr/>
            </p:nvCxnSpPr>
            <p:spPr>
              <a:xfrm>
                <a:off x="6293108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5112017" y="960729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flipH="1">
                <a:off x="4597671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flipH="1">
                <a:off x="3294343" y="2283315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flipH="1">
                <a:off x="4172224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椭圆 191"/>
              <p:cNvSpPr/>
              <p:nvPr/>
            </p:nvSpPr>
            <p:spPr>
              <a:xfrm>
                <a:off x="4070625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93" name="直接连接符 192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 flipV="1">
                <a:off x="4188099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 flipH="1">
                <a:off x="4207149" y="3925034"/>
                <a:ext cx="1587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176" name="直接连接符 175"/>
              <p:cNvCxnSpPr>
                <a:endCxn id="206" idx="0"/>
              </p:cNvCxnSpPr>
              <p:nvPr/>
            </p:nvCxnSpPr>
            <p:spPr>
              <a:xfrm>
                <a:off x="3486929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3486929" y="941980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>
                <a:off x="4691832" y="940391"/>
                <a:ext cx="436560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5142678" y="2672612"/>
                <a:ext cx="1385878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flipH="1">
                <a:off x="6504743" y="2286792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>
                <a:off x="5590350" y="2280441"/>
                <a:ext cx="4763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椭圆 181"/>
              <p:cNvSpPr/>
              <p:nvPr/>
            </p:nvSpPr>
            <p:spPr>
              <a:xfrm>
                <a:off x="5493514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83" name="直接连接符 182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>
                <a:off x="5104579" y="4139681"/>
                <a:ext cx="373060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flipH="1">
                <a:off x="5464939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167" name="直接连接符 166"/>
              <p:cNvCxnSpPr/>
              <p:nvPr/>
            </p:nvCxnSpPr>
            <p:spPr>
              <a:xfrm>
                <a:off x="3064050" y="3131122"/>
                <a:ext cx="369726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flipH="1">
                <a:off x="6761310" y="2268982"/>
                <a:ext cx="1587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>
                <a:off x="4849974" y="3121596"/>
                <a:ext cx="14287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/>
              <p:cNvSpPr/>
              <p:nvPr/>
            </p:nvSpPr>
            <p:spPr>
              <a:xfrm>
                <a:off x="4757900" y="3029507"/>
                <a:ext cx="195261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72" name="直接连接符 171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flipH="1">
                <a:off x="3962568" y="3975798"/>
                <a:ext cx="7938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flipH="1">
                <a:off x="5686580" y="3951983"/>
                <a:ext cx="4763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椭圆 174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49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160" name="直接连接符 159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>
                <a:stCxn id="163" idx="2"/>
              </p:cNvCxnSpPr>
              <p:nvPr/>
            </p:nvCxnSpPr>
            <p:spPr>
              <a:xfrm>
                <a:off x="2622728" y="2886611"/>
                <a:ext cx="969956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椭圆 162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64" name="直接连接符 163"/>
              <p:cNvCxnSpPr>
                <a:stCxn id="165" idx="6"/>
              </p:cNvCxnSpPr>
              <p:nvPr/>
            </p:nvCxnSpPr>
            <p:spPr>
              <a:xfrm>
                <a:off x="2827514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椭圆 164"/>
              <p:cNvSpPr/>
              <p:nvPr/>
            </p:nvSpPr>
            <p:spPr>
              <a:xfrm>
                <a:off x="2633841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66" name="直接连接符 165"/>
              <p:cNvCxnSpPr/>
              <p:nvPr/>
            </p:nvCxnSpPr>
            <p:spPr>
              <a:xfrm flipH="1">
                <a:off x="6000902" y="3953570"/>
                <a:ext cx="20638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0" name="直接连接符 149"/>
            <p:cNvCxnSpPr/>
            <p:nvPr/>
          </p:nvCxnSpPr>
          <p:spPr>
            <a:xfrm flipH="1">
              <a:off x="4870650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flipH="1">
              <a:off x="7729715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153" name="直接连接符 152"/>
              <p:cNvCxnSpPr/>
              <p:nvPr/>
            </p:nvCxnSpPr>
            <p:spPr>
              <a:xfrm>
                <a:off x="7075632" y="2286447"/>
                <a:ext cx="4762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6145364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椭圆 155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57" name="直接连接符 156"/>
              <p:cNvCxnSpPr/>
              <p:nvPr/>
            </p:nvCxnSpPr>
            <p:spPr>
              <a:xfrm>
                <a:off x="3753019" y="4806185"/>
                <a:ext cx="3328963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椭圆 157"/>
              <p:cNvSpPr/>
              <p:nvPr/>
            </p:nvSpPr>
            <p:spPr>
              <a:xfrm>
                <a:off x="6970857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159" name="直接连接符 158"/>
              <p:cNvCxnSpPr/>
              <p:nvPr/>
            </p:nvCxnSpPr>
            <p:spPr>
              <a:xfrm>
                <a:off x="3729207" y="3939281"/>
                <a:ext cx="17462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/>
          <p:cNvGrpSpPr/>
          <p:nvPr/>
        </p:nvGrpSpPr>
        <p:grpSpPr>
          <a:xfrm>
            <a:off x="4495242" y="1510161"/>
            <a:ext cx="4351283" cy="5108517"/>
            <a:chOff x="4506913" y="1560843"/>
            <a:chExt cx="4351283" cy="5108517"/>
          </a:xfrm>
        </p:grpSpPr>
        <p:grpSp>
          <p:nvGrpSpPr>
            <p:cNvPr id="2" name="组合 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2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23" name="直接连接符 12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24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25" name="直接连接符 124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9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30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31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32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33" name="直接连接符 132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949325"/>
            <a:ext cx="7924800" cy="825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负边沿触发的</a:t>
            </a:r>
            <a:r>
              <a:rPr lang="en-US" altLang="zh-CN" dirty="0"/>
              <a:t>J-K</a:t>
            </a:r>
            <a:r>
              <a:rPr lang="zh-CN" altLang="en-US" dirty="0"/>
              <a:t>触发器原理</a:t>
            </a:r>
            <a:endParaRPr lang="zh-CN" altLang="en-US" dirty="0"/>
          </a:p>
        </p:txBody>
      </p:sp>
      <p:sp>
        <p:nvSpPr>
          <p:cNvPr id="8197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负边沿</a:t>
            </a:r>
            <a:r>
              <a:rPr lang="en-US" altLang="zh-CN" sz="2400">
                <a:latin typeface="Times New Roman" panose="02020603050405020304" pitchFamily="18" charset="0"/>
              </a:rPr>
              <a:t>J-K</a:t>
            </a:r>
            <a:r>
              <a:rPr lang="zh-CN" altLang="en-US" sz="2400">
                <a:latin typeface="Times New Roman" panose="02020603050405020304" pitchFamily="18" charset="0"/>
              </a:rPr>
              <a:t>触发器真值表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217" name="直接连接符 216"/>
          <p:cNvCxnSpPr/>
          <p:nvPr/>
        </p:nvCxnSpPr>
        <p:spPr bwMode="auto">
          <a:xfrm>
            <a:off x="7620000" y="326231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椭圆 217"/>
          <p:cNvSpPr/>
          <p:nvPr/>
        </p:nvSpPr>
        <p:spPr bwMode="auto">
          <a:xfrm>
            <a:off x="6227763" y="3522663"/>
            <a:ext cx="193675" cy="203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8246" name="组合 219"/>
          <p:cNvGrpSpPr/>
          <p:nvPr/>
        </p:nvGrpSpPr>
        <p:grpSpPr bwMode="auto">
          <a:xfrm>
            <a:off x="5002818" y="1634665"/>
            <a:ext cx="3018957" cy="3467717"/>
            <a:chOff x="3282248" y="657009"/>
            <a:chExt cx="3018934" cy="3467115"/>
          </a:xfrm>
          <a:solidFill>
            <a:srgbClr val="FFFF00"/>
          </a:solidFill>
        </p:grpSpPr>
        <p:cxnSp>
          <p:nvCxnSpPr>
            <p:cNvPr id="260" name="直接连接符 259"/>
            <p:cNvCxnSpPr/>
            <p:nvPr/>
          </p:nvCxnSpPr>
          <p:spPr>
            <a:xfrm>
              <a:off x="6293107" y="657469"/>
              <a:ext cx="0" cy="59997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>
              <a:off x="5112016" y="960629"/>
              <a:ext cx="1189029" cy="1587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flipH="1">
              <a:off x="4597670" y="968565"/>
              <a:ext cx="514346" cy="169039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>
              <a:off x="3281643" y="2641499"/>
              <a:ext cx="134301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flipH="1">
              <a:off x="3294343" y="2282787"/>
              <a:ext cx="4762" cy="37617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flipH="1">
              <a:off x="4172223" y="2279612"/>
              <a:ext cx="6350" cy="37617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椭圆 265"/>
            <p:cNvSpPr/>
            <p:nvPr/>
          </p:nvSpPr>
          <p:spPr>
            <a:xfrm>
              <a:off x="4070624" y="2547854"/>
              <a:ext cx="193674" cy="203165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67" name="直接连接符 266"/>
            <p:cNvCxnSpPr/>
            <p:nvPr/>
          </p:nvCxnSpPr>
          <p:spPr>
            <a:xfrm flipH="1">
              <a:off x="4596083" y="2657372"/>
              <a:ext cx="9525" cy="146024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flipV="1">
              <a:off x="4188098" y="4117618"/>
              <a:ext cx="406397" cy="6349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flipH="1">
              <a:off x="4207148" y="3925564"/>
              <a:ext cx="1588" cy="19205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5209570" y="1627188"/>
            <a:ext cx="3041668" cy="3506877"/>
            <a:chOff x="5209570" y="1627188"/>
            <a:chExt cx="3041668" cy="3506877"/>
          </a:xfrm>
          <a:solidFill>
            <a:srgbClr val="FF6600"/>
          </a:solidFill>
        </p:grpSpPr>
        <p:sp>
          <p:nvSpPr>
            <p:cNvPr id="219" name="椭圆 218"/>
            <p:cNvSpPr/>
            <p:nvPr/>
          </p:nvSpPr>
          <p:spPr bwMode="auto">
            <a:xfrm>
              <a:off x="6748463" y="3546475"/>
              <a:ext cx="193675" cy="201613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8247" name="组合 220"/>
            <p:cNvGrpSpPr/>
            <p:nvPr/>
          </p:nvGrpSpPr>
          <p:grpSpPr bwMode="auto">
            <a:xfrm>
              <a:off x="5209570" y="1627188"/>
              <a:ext cx="3041668" cy="3506877"/>
              <a:chOff x="3486323" y="641897"/>
              <a:chExt cx="3041645" cy="3506268"/>
            </a:xfrm>
            <a:grpFill/>
          </p:grpSpPr>
          <p:cxnSp>
            <p:nvCxnSpPr>
              <p:cNvPr id="250" name="直接连接符 249"/>
              <p:cNvCxnSpPr>
                <a:endCxn id="280" idx="0"/>
              </p:cNvCxnSpPr>
              <p:nvPr/>
            </p:nvCxnSpPr>
            <p:spPr>
              <a:xfrm>
                <a:off x="3486928" y="641897"/>
                <a:ext cx="0" cy="599971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>
                <a:off x="3486928" y="941882"/>
                <a:ext cx="1189029" cy="15872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>
                <a:off x="4691832" y="941882"/>
                <a:ext cx="436559" cy="1738011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>
                <a:off x="5142678" y="2671956"/>
                <a:ext cx="1385877" cy="7937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flipH="1">
                <a:off x="6504743" y="2286261"/>
                <a:ext cx="4762" cy="376172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 flipH="1">
                <a:off x="5590350" y="2281499"/>
                <a:ext cx="4762" cy="374585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椭圆 255"/>
              <p:cNvSpPr/>
              <p:nvPr/>
            </p:nvSpPr>
            <p:spPr>
              <a:xfrm>
                <a:off x="5493513" y="2570374"/>
                <a:ext cx="193674" cy="203165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57" name="直接连接符 256"/>
              <p:cNvCxnSpPr/>
              <p:nvPr/>
            </p:nvCxnSpPr>
            <p:spPr>
              <a:xfrm flipH="1">
                <a:off x="5117279" y="2679893"/>
                <a:ext cx="9525" cy="146024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>
                <a:off x="5104579" y="4140139"/>
                <a:ext cx="373059" cy="793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 flipH="1">
                <a:off x="5464938" y="3938561"/>
                <a:ext cx="3175" cy="192055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49" name="组合 222"/>
          <p:cNvGrpSpPr/>
          <p:nvPr/>
        </p:nvGrpSpPr>
        <p:grpSpPr bwMode="auto">
          <a:xfrm>
            <a:off x="4338638" y="3270250"/>
            <a:ext cx="3398837" cy="3278188"/>
            <a:chOff x="2622728" y="2287504"/>
            <a:chExt cx="3398811" cy="3277619"/>
          </a:xfrm>
          <a:solidFill>
            <a:srgbClr val="FFFF00"/>
          </a:solidFill>
        </p:grpSpPr>
        <p:cxnSp>
          <p:nvCxnSpPr>
            <p:cNvPr id="234" name="直接连接符 233"/>
            <p:cNvCxnSpPr/>
            <p:nvPr/>
          </p:nvCxnSpPr>
          <p:spPr>
            <a:xfrm>
              <a:off x="2730677" y="2287504"/>
              <a:ext cx="3175" cy="3277619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>
              <a:stCxn id="237" idx="2"/>
            </p:cNvCxnSpPr>
            <p:nvPr/>
          </p:nvCxnSpPr>
          <p:spPr>
            <a:xfrm>
              <a:off x="2622728" y="2887475"/>
              <a:ext cx="969955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>
              <a:off x="3565696" y="2287504"/>
              <a:ext cx="3175" cy="59997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椭圆 236"/>
            <p:cNvSpPr/>
            <p:nvPr/>
          </p:nvSpPr>
          <p:spPr>
            <a:xfrm>
              <a:off x="2622728" y="2785892"/>
              <a:ext cx="193674" cy="203165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8" name="直接连接符 237"/>
            <p:cNvCxnSpPr>
              <a:stCxn id="239" idx="6"/>
            </p:cNvCxnSpPr>
            <p:nvPr/>
          </p:nvCxnSpPr>
          <p:spPr>
            <a:xfrm>
              <a:off x="2827513" y="4563584"/>
              <a:ext cx="3178151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椭圆 238"/>
            <p:cNvSpPr/>
            <p:nvPr/>
          </p:nvSpPr>
          <p:spPr>
            <a:xfrm>
              <a:off x="2633840" y="4462001"/>
              <a:ext cx="193674" cy="203165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40" name="直接连接符 239"/>
            <p:cNvCxnSpPr/>
            <p:nvPr/>
          </p:nvCxnSpPr>
          <p:spPr>
            <a:xfrm flipH="1">
              <a:off x="6000902" y="3954090"/>
              <a:ext cx="20637" cy="60949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52" name="组合 225"/>
          <p:cNvGrpSpPr/>
          <p:nvPr/>
        </p:nvGrpSpPr>
        <p:grpSpPr bwMode="auto">
          <a:xfrm>
            <a:off x="5444372" y="3268993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227" name="直接连接符 226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椭圆 229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1" name="直接连接符 230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椭圆 231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3" name="直接连接符 232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300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异步清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301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302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303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304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305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04788" y="2720975"/>
            <a:ext cx="3086100" cy="3984625"/>
            <a:chOff x="204788" y="2720975"/>
            <a:chExt cx="3086100" cy="3984625"/>
          </a:xfrm>
        </p:grpSpPr>
        <p:cxnSp>
          <p:nvCxnSpPr>
            <p:cNvPr id="5" name="直接连接符 4"/>
            <p:cNvCxnSpPr/>
            <p:nvPr/>
          </p:nvCxnSpPr>
          <p:spPr>
            <a:xfrm flipV="1">
              <a:off x="231775" y="32797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268538" y="2720975"/>
              <a:ext cx="0" cy="3984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07" name="文本框 14"/>
            <p:cNvSpPr txBox="1">
              <a:spLocks noChangeArrowheads="1"/>
            </p:cNvSpPr>
            <p:nvPr/>
          </p:nvSpPr>
          <p:spPr bwMode="auto">
            <a:xfrm>
              <a:off x="252413" y="3931115"/>
              <a:ext cx="3038475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9933"/>
                  </a:solidFill>
                </a:rPr>
                <a:t>1    0    X   </a:t>
              </a:r>
              <a:r>
                <a:rPr lang="en-US" altLang="zh-CN" sz="2000" dirty="0" err="1">
                  <a:solidFill>
                    <a:srgbClr val="FF9933"/>
                  </a:solidFill>
                </a:rPr>
                <a:t>X</a:t>
              </a:r>
              <a:r>
                <a:rPr lang="en-US" altLang="zh-CN" sz="2000" dirty="0">
                  <a:solidFill>
                    <a:srgbClr val="FF9933"/>
                  </a:solidFill>
                </a:rPr>
                <a:t>   </a:t>
              </a:r>
              <a:r>
                <a:rPr lang="en-US" altLang="zh-CN" sz="2000" dirty="0" err="1">
                  <a:solidFill>
                    <a:srgbClr val="FF9933"/>
                  </a:solidFill>
                </a:rPr>
                <a:t>X</a:t>
              </a:r>
              <a:r>
                <a:rPr lang="en-US" altLang="zh-CN" sz="2000" dirty="0">
                  <a:solidFill>
                    <a:srgbClr val="FF9933"/>
                  </a:solidFill>
                </a:rPr>
                <a:t>    1    0</a:t>
              </a:r>
              <a:endParaRPr lang="zh-CN" altLang="en-US" sz="2000" dirty="0">
                <a:solidFill>
                  <a:srgbClr val="FF9933"/>
                </a:solidFill>
              </a:endParaRPr>
            </a:p>
          </p:txBody>
        </p:sp>
        <p:sp>
          <p:nvSpPr>
            <p:cNvPr id="8208" name="文本框 334"/>
            <p:cNvSpPr txBox="1">
              <a:spLocks noChangeArrowheads="1"/>
            </p:cNvSpPr>
            <p:nvPr/>
          </p:nvSpPr>
          <p:spPr bwMode="auto">
            <a:xfrm>
              <a:off x="224873" y="3370263"/>
              <a:ext cx="3038475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0    1    X   </a:t>
              </a:r>
              <a:r>
                <a:rPr lang="en-US" altLang="zh-CN" sz="2000" dirty="0" err="1"/>
                <a:t>X</a:t>
              </a:r>
              <a:r>
                <a:rPr lang="en-US" altLang="zh-CN" sz="2000" dirty="0"/>
                <a:t>   </a:t>
              </a:r>
              <a:r>
                <a:rPr lang="en-US" altLang="zh-CN" sz="2000" dirty="0" err="1"/>
                <a:t>X</a:t>
              </a:r>
              <a:r>
                <a:rPr lang="en-US" altLang="zh-CN" sz="2000" dirty="0"/>
                <a:t>    0    1</a:t>
              </a:r>
              <a:endParaRPr lang="zh-CN" altLang="en-US" sz="2000" dirty="0"/>
            </a:p>
          </p:txBody>
        </p:sp>
        <p:grpSp>
          <p:nvGrpSpPr>
            <p:cNvPr id="8209" name="组合 1"/>
            <p:cNvGrpSpPr/>
            <p:nvPr/>
          </p:nvGrpSpPr>
          <p:grpSpPr bwMode="auto">
            <a:xfrm>
              <a:off x="204788" y="2720975"/>
              <a:ext cx="3062287" cy="3984625"/>
              <a:chOff x="204788" y="2720975"/>
              <a:chExt cx="3062287" cy="3984625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204788" y="2720975"/>
                <a:ext cx="3055937" cy="398462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8225" name="组合 8"/>
              <p:cNvGrpSpPr/>
              <p:nvPr/>
            </p:nvGrpSpPr>
            <p:grpSpPr bwMode="auto">
              <a:xfrm>
                <a:off x="260350" y="2832100"/>
                <a:ext cx="514350" cy="461963"/>
                <a:chOff x="169301" y="2211439"/>
                <a:chExt cx="514268" cy="461665"/>
              </a:xfrm>
            </p:grpSpPr>
            <p:sp>
              <p:nvSpPr>
                <p:cNvPr id="8237" name="文本框 308"/>
                <p:cNvSpPr txBox="1">
                  <a:spLocks noChangeArrowheads="1"/>
                </p:cNvSpPr>
                <p:nvPr/>
              </p:nvSpPr>
              <p:spPr bwMode="auto">
                <a:xfrm>
                  <a:off x="169301" y="221143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/>
                    <a:t>R</a:t>
                  </a:r>
                  <a:r>
                    <a:rPr lang="en-US" altLang="zh-CN" sz="2400" baseline="-25000" dirty="0"/>
                    <a:t>d</a:t>
                  </a:r>
                  <a:endParaRPr lang="en-US" altLang="zh-CN" sz="2400" baseline="-25000" dirty="0"/>
                </a:p>
              </p:txBody>
            </p:sp>
            <p:cxnSp>
              <p:nvCxnSpPr>
                <p:cNvPr id="7" name="直接连接符 6"/>
                <p:cNvCxnSpPr/>
                <p:nvPr/>
              </p:nvCxnSpPr>
              <p:spPr>
                <a:xfrm flipV="1">
                  <a:off x="204220" y="2265379"/>
                  <a:ext cx="298402" cy="1110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26" name="组合 313"/>
              <p:cNvGrpSpPr/>
              <p:nvPr/>
            </p:nvGrpSpPr>
            <p:grpSpPr bwMode="auto">
              <a:xfrm>
                <a:off x="684213" y="2822575"/>
                <a:ext cx="514350" cy="461963"/>
                <a:chOff x="169301" y="2211439"/>
                <a:chExt cx="514268" cy="461665"/>
              </a:xfrm>
            </p:grpSpPr>
            <p:sp>
              <p:nvSpPr>
                <p:cNvPr id="8235" name="文本框 314"/>
                <p:cNvSpPr txBox="1">
                  <a:spLocks noChangeArrowheads="1"/>
                </p:cNvSpPr>
                <p:nvPr/>
              </p:nvSpPr>
              <p:spPr bwMode="auto">
                <a:xfrm>
                  <a:off x="169301" y="221143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 err="1"/>
                    <a:t>S</a:t>
                  </a:r>
                  <a:r>
                    <a:rPr lang="en-US" altLang="zh-CN" sz="2400" baseline="-25000" dirty="0" err="1"/>
                    <a:t>d</a:t>
                  </a:r>
                  <a:endParaRPr lang="en-US" altLang="zh-CN" sz="2400" baseline="-25000" dirty="0"/>
                </a:p>
              </p:txBody>
            </p:sp>
            <p:cxnSp>
              <p:nvCxnSpPr>
                <p:cNvPr id="316" name="直接连接符 315"/>
                <p:cNvCxnSpPr/>
                <p:nvPr/>
              </p:nvCxnSpPr>
              <p:spPr>
                <a:xfrm flipV="1">
                  <a:off x="204220" y="2265379"/>
                  <a:ext cx="298402" cy="1110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27" name="文本框 317"/>
              <p:cNvSpPr txBox="1">
                <a:spLocks noChangeArrowheads="1"/>
              </p:cNvSpPr>
              <p:nvPr/>
            </p:nvSpPr>
            <p:spPr bwMode="auto">
              <a:xfrm>
                <a:off x="1547813" y="2828925"/>
                <a:ext cx="352425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J</a:t>
                </a:r>
                <a:endParaRPr lang="en-US" altLang="zh-CN" sz="2400" baseline="-25000" dirty="0"/>
              </a:p>
            </p:txBody>
          </p:sp>
          <p:sp>
            <p:nvSpPr>
              <p:cNvPr id="8228" name="文本框 320"/>
              <p:cNvSpPr txBox="1">
                <a:spLocks noChangeArrowheads="1"/>
              </p:cNvSpPr>
              <p:nvPr/>
            </p:nvSpPr>
            <p:spPr bwMode="auto">
              <a:xfrm>
                <a:off x="1844675" y="282257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K</a:t>
                </a:r>
                <a:endParaRPr lang="en-US" altLang="zh-CN" sz="2400" baseline="-25000" dirty="0"/>
              </a:p>
            </p:txBody>
          </p:sp>
          <p:sp>
            <p:nvSpPr>
              <p:cNvPr id="8229" name="文本框 322"/>
              <p:cNvSpPr txBox="1">
                <a:spLocks noChangeArrowheads="1"/>
              </p:cNvSpPr>
              <p:nvPr/>
            </p:nvSpPr>
            <p:spPr bwMode="auto">
              <a:xfrm>
                <a:off x="1077913" y="2828925"/>
                <a:ext cx="59848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CP</a:t>
                </a:r>
                <a:endParaRPr lang="en-US" altLang="zh-CN" sz="2400" baseline="-25000" dirty="0"/>
              </a:p>
            </p:txBody>
          </p:sp>
          <p:sp>
            <p:nvSpPr>
              <p:cNvPr id="8230" name="文本框 327"/>
              <p:cNvSpPr txBox="1">
                <a:spLocks noChangeArrowheads="1"/>
              </p:cNvSpPr>
              <p:nvPr/>
            </p:nvSpPr>
            <p:spPr bwMode="auto">
              <a:xfrm>
                <a:off x="2332038" y="2786063"/>
                <a:ext cx="514350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Q</a:t>
                </a:r>
                <a:endParaRPr lang="en-US" altLang="zh-CN" sz="2400" baseline="-25000" dirty="0"/>
              </a:p>
            </p:txBody>
          </p:sp>
          <p:grpSp>
            <p:nvGrpSpPr>
              <p:cNvPr id="8231" name="组合 12"/>
              <p:cNvGrpSpPr/>
              <p:nvPr/>
            </p:nvGrpSpPr>
            <p:grpSpPr bwMode="auto">
              <a:xfrm>
                <a:off x="2752725" y="2781300"/>
                <a:ext cx="514350" cy="461963"/>
                <a:chOff x="2752431" y="2771429"/>
                <a:chExt cx="514268" cy="461665"/>
              </a:xfrm>
            </p:grpSpPr>
            <p:sp>
              <p:nvSpPr>
                <p:cNvPr id="8233" name="文本框 330"/>
                <p:cNvSpPr txBox="1">
                  <a:spLocks noChangeArrowheads="1"/>
                </p:cNvSpPr>
                <p:nvPr/>
              </p:nvSpPr>
              <p:spPr bwMode="auto">
                <a:xfrm>
                  <a:off x="2752431" y="277142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/>
                    <a:t>Q</a:t>
                  </a:r>
                  <a:endParaRPr lang="en-US" altLang="zh-CN" sz="2400" baseline="-25000" dirty="0"/>
                </a:p>
              </p:txBody>
            </p:sp>
            <p:cxnSp>
              <p:nvCxnSpPr>
                <p:cNvPr id="329" name="直接连接符 328"/>
                <p:cNvCxnSpPr/>
                <p:nvPr/>
              </p:nvCxnSpPr>
              <p:spPr>
                <a:xfrm flipV="1">
                  <a:off x="2820683" y="2847580"/>
                  <a:ext cx="298402" cy="1110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8" name="直接连接符 337"/>
              <p:cNvCxnSpPr/>
              <p:nvPr/>
            </p:nvCxnSpPr>
            <p:spPr>
              <a:xfrm flipV="1">
                <a:off x="221456" y="4479090"/>
                <a:ext cx="3016250" cy="9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10" name="文本框 338"/>
            <p:cNvSpPr txBox="1">
              <a:spLocks noChangeArrowheads="1"/>
            </p:cNvSpPr>
            <p:nvPr/>
          </p:nvSpPr>
          <p:spPr bwMode="auto">
            <a:xfrm>
              <a:off x="209550" y="4594225"/>
              <a:ext cx="30384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1    1    </a:t>
              </a:r>
              <a:r>
                <a:rPr lang="en-US" altLang="zh-CN" sz="2000" dirty="0">
                  <a:sym typeface="Symbol" panose="05050102010706020507" pitchFamily="18" charset="2"/>
                </a:rPr>
                <a:t></a:t>
              </a:r>
              <a:r>
                <a:rPr lang="en-US" altLang="zh-CN" sz="2000" dirty="0"/>
                <a:t>   0   1    0    1</a:t>
              </a:r>
              <a:endParaRPr lang="zh-CN" altLang="en-US" sz="2000" dirty="0"/>
            </a:p>
          </p:txBody>
        </p:sp>
        <p:sp>
          <p:nvSpPr>
            <p:cNvPr id="8211" name="文本框 339"/>
            <p:cNvSpPr txBox="1">
              <a:spLocks noChangeArrowheads="1"/>
            </p:cNvSpPr>
            <p:nvPr/>
          </p:nvSpPr>
          <p:spPr bwMode="auto">
            <a:xfrm>
              <a:off x="209550" y="5157788"/>
              <a:ext cx="30384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1   0    1    0</a:t>
              </a:r>
              <a:endParaRPr lang="zh-CN" altLang="en-US" sz="2000"/>
            </a:p>
          </p:txBody>
        </p:sp>
        <p:sp>
          <p:nvSpPr>
            <p:cNvPr id="8212" name="文本框 341"/>
            <p:cNvSpPr txBox="1">
              <a:spLocks noChangeArrowheads="1"/>
            </p:cNvSpPr>
            <p:nvPr/>
          </p:nvSpPr>
          <p:spPr bwMode="auto">
            <a:xfrm>
              <a:off x="2327275" y="564991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8213" name="组合 17"/>
            <p:cNvGrpSpPr/>
            <p:nvPr/>
          </p:nvGrpSpPr>
          <p:grpSpPr bwMode="auto">
            <a:xfrm>
              <a:off x="212725" y="5645150"/>
              <a:ext cx="3049588" cy="460375"/>
              <a:chOff x="213489" y="5644643"/>
              <a:chExt cx="3048294" cy="461665"/>
            </a:xfrm>
          </p:grpSpPr>
          <p:sp>
            <p:nvSpPr>
              <p:cNvPr id="8220" name="文本框 340"/>
              <p:cNvSpPr txBox="1">
                <a:spLocks noChangeArrowheads="1"/>
              </p:cNvSpPr>
              <p:nvPr/>
            </p:nvSpPr>
            <p:spPr bwMode="auto">
              <a:xfrm>
                <a:off x="213489" y="5702259"/>
                <a:ext cx="303864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1    1    </a:t>
                </a:r>
                <a:r>
                  <a:rPr lang="en-US" altLang="zh-CN" sz="2000">
                    <a:sym typeface="Symbol" panose="05050102010706020507" pitchFamily="18" charset="2"/>
                  </a:rPr>
                  <a:t></a:t>
                </a:r>
                <a:r>
                  <a:rPr lang="en-US" altLang="zh-CN" sz="2000"/>
                  <a:t>   0   0            </a:t>
                </a:r>
                <a:endParaRPr lang="zh-CN" altLang="en-US" sz="2000"/>
              </a:p>
            </p:txBody>
          </p:sp>
          <p:grpSp>
            <p:nvGrpSpPr>
              <p:cNvPr id="8221" name="组合 342"/>
              <p:cNvGrpSpPr/>
              <p:nvPr/>
            </p:nvGrpSpPr>
            <p:grpSpPr bwMode="auto">
              <a:xfrm>
                <a:off x="2747515" y="5644643"/>
                <a:ext cx="514268" cy="461665"/>
                <a:chOff x="2752431" y="2771429"/>
                <a:chExt cx="514268" cy="461665"/>
              </a:xfrm>
            </p:grpSpPr>
            <p:sp>
              <p:nvSpPr>
                <p:cNvPr id="8222" name="文本框 343"/>
                <p:cNvSpPr txBox="1">
                  <a:spLocks noChangeArrowheads="1"/>
                </p:cNvSpPr>
                <p:nvPr/>
              </p:nvSpPr>
              <p:spPr bwMode="auto">
                <a:xfrm>
                  <a:off x="2752431" y="277142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/>
                    <a:t>Q</a:t>
                  </a:r>
                  <a:endParaRPr lang="en-US" altLang="zh-CN" sz="2400" baseline="-25000"/>
                </a:p>
              </p:txBody>
            </p:sp>
            <p:cxnSp>
              <p:nvCxnSpPr>
                <p:cNvPr id="345" name="直接连接符 344"/>
                <p:cNvCxnSpPr/>
                <p:nvPr/>
              </p:nvCxnSpPr>
              <p:spPr>
                <a:xfrm flipV="1">
                  <a:off x="2820800" y="2847843"/>
                  <a:ext cx="298324" cy="1114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14" name="组合 18"/>
            <p:cNvGrpSpPr/>
            <p:nvPr/>
          </p:nvGrpSpPr>
          <p:grpSpPr bwMode="auto">
            <a:xfrm>
              <a:off x="209550" y="6181725"/>
              <a:ext cx="3068638" cy="471488"/>
              <a:chOff x="209946" y="6181259"/>
              <a:chExt cx="3068766" cy="471449"/>
            </a:xfrm>
          </p:grpSpPr>
          <p:sp>
            <p:nvSpPr>
              <p:cNvPr id="8215" name="文本框 345"/>
              <p:cNvSpPr txBox="1">
                <a:spLocks noChangeArrowheads="1"/>
              </p:cNvSpPr>
              <p:nvPr/>
            </p:nvSpPr>
            <p:spPr bwMode="auto">
              <a:xfrm>
                <a:off x="209946" y="6205844"/>
                <a:ext cx="303864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1    1    </a:t>
                </a:r>
                <a:r>
                  <a:rPr lang="en-US" altLang="zh-CN" sz="2000">
                    <a:sym typeface="Symbol" panose="05050102010706020507" pitchFamily="18" charset="2"/>
                  </a:rPr>
                  <a:t></a:t>
                </a:r>
                <a:r>
                  <a:rPr lang="en-US" altLang="zh-CN" sz="2000"/>
                  <a:t>   1   1            </a:t>
                </a:r>
                <a:endParaRPr lang="zh-CN" altLang="en-US" sz="2000"/>
              </a:p>
            </p:txBody>
          </p:sp>
          <p:sp>
            <p:nvSpPr>
              <p:cNvPr id="8216" name="文本框 346"/>
              <p:cNvSpPr txBox="1">
                <a:spLocks noChangeArrowheads="1"/>
              </p:cNvSpPr>
              <p:nvPr/>
            </p:nvSpPr>
            <p:spPr bwMode="auto">
              <a:xfrm>
                <a:off x="2764444" y="618125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grpSp>
            <p:nvGrpSpPr>
              <p:cNvPr id="8217" name="组合 347"/>
              <p:cNvGrpSpPr/>
              <p:nvPr/>
            </p:nvGrpSpPr>
            <p:grpSpPr bwMode="auto">
              <a:xfrm>
                <a:off x="2323102" y="6191043"/>
                <a:ext cx="514268" cy="461665"/>
                <a:chOff x="2752431" y="2771429"/>
                <a:chExt cx="514268" cy="461665"/>
              </a:xfrm>
            </p:grpSpPr>
            <p:sp>
              <p:nvSpPr>
                <p:cNvPr id="8218" name="文本框 348"/>
                <p:cNvSpPr txBox="1">
                  <a:spLocks noChangeArrowheads="1"/>
                </p:cNvSpPr>
                <p:nvPr/>
              </p:nvSpPr>
              <p:spPr bwMode="auto">
                <a:xfrm>
                  <a:off x="2752431" y="277142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/>
                    <a:t>Q</a:t>
                  </a:r>
                  <a:endParaRPr lang="en-US" altLang="zh-CN" sz="2400" baseline="-25000"/>
                </a:p>
              </p:txBody>
            </p:sp>
            <p:cxnSp>
              <p:nvCxnSpPr>
                <p:cNvPr id="350" name="直接连接符 349"/>
                <p:cNvCxnSpPr/>
                <p:nvPr/>
              </p:nvCxnSpPr>
              <p:spPr>
                <a:xfrm flipV="1">
                  <a:off x="2820591" y="2847363"/>
                  <a:ext cx="298462" cy="1111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0" name="直接连接符 9"/>
          <p:cNvCxnSpPr/>
          <p:nvPr/>
        </p:nvCxnSpPr>
        <p:spPr bwMode="auto">
          <a:xfrm>
            <a:off x="5553869" y="3273450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CC5AA4-4F7D-42B6-B039-017FB2DE2FDA}" type="slidenum">
              <a:rPr lang="en-US" altLang="zh-CN" smtClean="0"/>
            </a:fld>
            <a:endParaRPr lang="en-US" altLang="zh-CN"/>
          </a:p>
        </p:txBody>
      </p:sp>
      <p:grpSp>
        <p:nvGrpSpPr>
          <p:cNvPr id="10244" name="组合 4"/>
          <p:cNvGrpSpPr/>
          <p:nvPr/>
        </p:nvGrpSpPr>
        <p:grpSpPr bwMode="auto">
          <a:xfrm>
            <a:off x="4318000" y="1530288"/>
            <a:ext cx="4584700" cy="4919663"/>
            <a:chOff x="4030868" y="1463339"/>
            <a:chExt cx="4584665" cy="4920396"/>
          </a:xfrm>
        </p:grpSpPr>
        <p:grpSp>
          <p:nvGrpSpPr>
            <p:cNvPr id="10285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5" name="直接连接符 74"/>
              <p:cNvCxnSpPr>
                <a:stCxn id="74" idx="1"/>
                <a:endCxn id="74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>
                <a:endCxn id="74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56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10357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10358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0286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8" name="直接连接符 67"/>
              <p:cNvCxnSpPr>
                <a:stCxn id="67" idx="1"/>
                <a:endCxn id="67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>
                <a:endCxn id="67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49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10350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10351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0287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9" name="直接连接符 8"/>
            <p:cNvCxnSpPr>
              <a:endCxn id="64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0292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93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3" name="直接连接符 42"/>
              <p:cNvCxnSpPr>
                <a:endCxn id="73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椭圆 48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94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0295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30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1" name="直接连接符 30"/>
              <p:cNvCxnSpPr>
                <a:stCxn id="32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98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异步清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3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0    1    X   X   X    0    1</a:t>
            </a:r>
            <a:endParaRPr lang="zh-CN" altLang="en-US" sz="2000"/>
          </a:p>
        </p:txBody>
      </p:sp>
      <p:sp>
        <p:nvSpPr>
          <p:cNvPr id="10254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10255" name="组合 90"/>
          <p:cNvGrpSpPr/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0271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0283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72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0281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73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 baseline="-25000"/>
            </a:p>
          </p:txBody>
        </p:sp>
        <p:sp>
          <p:nvSpPr>
            <p:cNvPr id="10274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 baseline="-25000"/>
            </a:p>
          </p:txBody>
        </p:sp>
        <p:sp>
          <p:nvSpPr>
            <p:cNvPr id="10275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CP</a:t>
              </a:r>
              <a:endParaRPr lang="en-US" altLang="zh-CN" sz="2400" baseline="-25000"/>
            </a:p>
          </p:txBody>
        </p:sp>
        <p:sp>
          <p:nvSpPr>
            <p:cNvPr id="10276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grpSp>
          <p:nvGrpSpPr>
            <p:cNvPr id="10277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0279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3" y="28475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6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9933"/>
                </a:solidFill>
              </a:rPr>
              <a:t>1    1    </a:t>
            </a:r>
            <a:r>
              <a:rPr lang="en-US" altLang="zh-CN" sz="2000" dirty="0">
                <a:solidFill>
                  <a:srgbClr val="FF9933"/>
                </a:solidFill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solidFill>
                  <a:srgbClr val="FF9933"/>
                </a:solidFill>
              </a:rPr>
              <a:t>   0   1    0    1</a:t>
            </a:r>
            <a:endParaRPr lang="zh-CN" altLang="en-US" sz="2000" dirty="0">
              <a:solidFill>
                <a:srgbClr val="FF9933"/>
              </a:solidFill>
            </a:endParaRPr>
          </a:p>
        </p:txBody>
      </p:sp>
      <p:sp>
        <p:nvSpPr>
          <p:cNvPr id="10257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1   0    1    0</a:t>
            </a:r>
            <a:endParaRPr lang="zh-CN" altLang="en-US" sz="2000"/>
          </a:p>
        </p:txBody>
      </p:sp>
      <p:sp>
        <p:nvSpPr>
          <p:cNvPr id="10258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10259" name="组合 17"/>
          <p:cNvGrpSpPr/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0266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0   0            </a:t>
              </a:r>
              <a:endParaRPr lang="zh-CN" altLang="en-US" sz="2000"/>
            </a:p>
          </p:txBody>
        </p:sp>
        <p:grpSp>
          <p:nvGrpSpPr>
            <p:cNvPr id="10267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0268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60" name="组合 18"/>
          <p:cNvGrpSpPr/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0261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1   1            </a:t>
              </a:r>
              <a:endParaRPr lang="zh-CN" altLang="en-US" sz="2000"/>
            </a:p>
          </p:txBody>
        </p:sp>
        <p:sp>
          <p:nvSpPr>
            <p:cNvPr id="10262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0263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0264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5"/>
          <p:cNvGrpSpPr/>
          <p:nvPr/>
        </p:nvGrpSpPr>
        <p:grpSpPr bwMode="auto">
          <a:xfrm>
            <a:off x="4340483" y="3175452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5" name="直接连接符 134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38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39" name="直接连接符 138"/>
            <p:cNvCxnSpPr>
              <a:stCxn id="140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1" name="直接连接符 140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225"/>
          <p:cNvGrpSpPr/>
          <p:nvPr/>
        </p:nvGrpSpPr>
        <p:grpSpPr bwMode="auto">
          <a:xfrm>
            <a:off x="5454650" y="3173891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3" name="直接连接符 142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7" name="直接连接符 146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直接连接符 149"/>
          <p:cNvCxnSpPr/>
          <p:nvPr/>
        </p:nvCxnSpPr>
        <p:spPr bwMode="auto">
          <a:xfrm flipH="1">
            <a:off x="5148064" y="4869160"/>
            <a:ext cx="4762" cy="16129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 bwMode="auto">
          <a:xfrm flipH="1">
            <a:off x="8023621" y="4823162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 bwMode="auto">
          <a:xfrm>
            <a:off x="5550820" y="3154091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4"/>
          <p:cNvGrpSpPr/>
          <p:nvPr/>
        </p:nvGrpSpPr>
        <p:grpSpPr bwMode="auto">
          <a:xfrm>
            <a:off x="4778289" y="3146680"/>
            <a:ext cx="3710907" cy="3295139"/>
            <a:chOff x="3051494" y="2269493"/>
            <a:chExt cx="3710879" cy="3295630"/>
          </a:xfrm>
          <a:solidFill>
            <a:srgbClr val="FF0000"/>
          </a:solidFill>
        </p:grpSpPr>
        <p:cxnSp>
          <p:nvCxnSpPr>
            <p:cNvPr id="154" name="直接连接符 153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椭圆 157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9" name="直接连接符 158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椭圆 161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98718" y="3045998"/>
            <a:ext cx="923091" cy="1026229"/>
            <a:chOff x="6878638" y="3084251"/>
            <a:chExt cx="923091" cy="1026229"/>
          </a:xfrm>
        </p:grpSpPr>
        <p:sp>
          <p:nvSpPr>
            <p:cNvPr id="163" name="文本框 327"/>
            <p:cNvSpPr txBox="1">
              <a:spLocks noChangeArrowheads="1"/>
            </p:cNvSpPr>
            <p:nvPr/>
          </p:nvSpPr>
          <p:spPr bwMode="auto">
            <a:xfrm>
              <a:off x="6878638" y="3084251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287379" y="3648517"/>
              <a:ext cx="514350" cy="461963"/>
              <a:chOff x="2589213" y="1304580"/>
              <a:chExt cx="514350" cy="461963"/>
            </a:xfrm>
          </p:grpSpPr>
          <p:sp>
            <p:nvSpPr>
              <p:cNvPr id="164" name="文本框 330"/>
              <p:cNvSpPr txBox="1">
                <a:spLocks noChangeArrowheads="1"/>
              </p:cNvSpPr>
              <p:nvPr/>
            </p:nvSpPr>
            <p:spPr bwMode="auto">
              <a:xfrm>
                <a:off x="2589213" y="1304580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</a:endParaRPr>
              </a:p>
            </p:txBody>
          </p:sp>
          <p:cxnSp>
            <p:nvCxnSpPr>
              <p:cNvPr id="165" name="直接连接符 164"/>
              <p:cNvCxnSpPr/>
              <p:nvPr/>
            </p:nvCxnSpPr>
            <p:spPr bwMode="auto">
              <a:xfrm flipV="1">
                <a:off x="2657476" y="138077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直接连接符 168"/>
          <p:cNvCxnSpPr/>
          <p:nvPr/>
        </p:nvCxnSpPr>
        <p:spPr bwMode="auto">
          <a:xfrm flipV="1">
            <a:off x="6115001" y="3130001"/>
            <a:ext cx="298450" cy="11113"/>
          </a:xfrm>
          <a:prstGeom prst="line">
            <a:avLst/>
          </a:prstGeom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组合 14"/>
          <p:cNvGrpSpPr/>
          <p:nvPr/>
        </p:nvGrpSpPr>
        <p:grpSpPr bwMode="auto">
          <a:xfrm>
            <a:off x="4770292" y="3143239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72" name="直接连接符 171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椭圆 175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77" name="直接连接符 176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椭圆 179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5004048" y="1547664"/>
            <a:ext cx="3019425" cy="3465512"/>
            <a:chOff x="315843" y="6503"/>
            <a:chExt cx="3019425" cy="3465512"/>
          </a:xfrm>
          <a:solidFill>
            <a:srgbClr val="FF0000"/>
          </a:solidFill>
        </p:grpSpPr>
        <p:sp>
          <p:nvSpPr>
            <p:cNvPr id="193" name="椭圆 192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94" name="直接连接符 193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椭圆 199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01" name="直接连接符 200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/>
          <p:cNvGrpSpPr/>
          <p:nvPr/>
        </p:nvGrpSpPr>
        <p:grpSpPr>
          <a:xfrm>
            <a:off x="5219283" y="1507976"/>
            <a:ext cx="3041650" cy="3505200"/>
            <a:chOff x="567735" y="2373805"/>
            <a:chExt cx="3041650" cy="3505200"/>
          </a:xfrm>
          <a:solidFill>
            <a:srgbClr val="FFFF00"/>
          </a:solidFill>
        </p:grpSpPr>
        <p:sp>
          <p:nvSpPr>
            <p:cNvPr id="205" name="椭圆 204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06" name="直接连接符 205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椭圆 211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13" name="直接连接符 212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Rectangle 3"/>
          <p:cNvSpPr txBox="1">
            <a:spLocks noChangeArrowheads="1"/>
          </p:cNvSpPr>
          <p:nvPr/>
        </p:nvSpPr>
        <p:spPr bwMode="auto">
          <a:xfrm>
            <a:off x="308889" y="922276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负边沿触发的</a:t>
            </a:r>
            <a:r>
              <a:rPr lang="en-US" altLang="zh-CN"/>
              <a:t>J-K</a:t>
            </a:r>
            <a:r>
              <a:rPr lang="zh-CN" altLang="en-US"/>
              <a:t>触发器原理</a:t>
            </a:r>
            <a:endParaRPr lang="zh-CN" altLang="en-US" dirty="0"/>
          </a:p>
        </p:txBody>
      </p:sp>
      <p:sp>
        <p:nvSpPr>
          <p:cNvPr id="217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负边沿</a:t>
            </a:r>
            <a:r>
              <a:rPr lang="en-US" altLang="zh-CN" sz="2400">
                <a:latin typeface="Times New Roman" panose="02020603050405020304" pitchFamily="18" charset="0"/>
              </a:rPr>
              <a:t>J-K</a:t>
            </a:r>
            <a:r>
              <a:rPr lang="zh-CN" altLang="en-US" sz="2400">
                <a:latin typeface="Times New Roman" panose="02020603050405020304" pitchFamily="18" charset="0"/>
              </a:rPr>
              <a:t>触发器真值表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0305" name="组合 10304"/>
          <p:cNvGrpSpPr/>
          <p:nvPr/>
        </p:nvGrpSpPr>
        <p:grpSpPr>
          <a:xfrm>
            <a:off x="5902340" y="3149926"/>
            <a:ext cx="514350" cy="461963"/>
            <a:chOff x="6875462" y="1273112"/>
            <a:chExt cx="514350" cy="461963"/>
          </a:xfrm>
        </p:grpSpPr>
        <p:sp>
          <p:nvSpPr>
            <p:cNvPr id="218" name="文本框 330"/>
            <p:cNvSpPr txBox="1">
              <a:spLocks noChangeArrowheads="1"/>
            </p:cNvSpPr>
            <p:nvPr/>
          </p:nvSpPr>
          <p:spPr bwMode="auto">
            <a:xfrm>
              <a:off x="6875462" y="1273112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6916669" y="1335026"/>
              <a:ext cx="292168" cy="0"/>
            </a:xfrm>
            <a:prstGeom prst="line">
              <a:avLst/>
            </a:prstGeom>
            <a:ln w="25400">
              <a:solidFill>
                <a:srgbClr val="FF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 bwMode="auto">
          <a:xfrm>
            <a:off x="7622380" y="3165351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3"/>
          <p:cNvSpPr txBox="1">
            <a:spLocks noChangeArrowheads="1"/>
          </p:cNvSpPr>
          <p:nvPr/>
        </p:nvSpPr>
        <p:spPr bwMode="auto">
          <a:xfrm>
            <a:off x="280988" y="949325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负边沿触发的</a:t>
            </a:r>
            <a:r>
              <a:rPr lang="en-US" altLang="zh-CN"/>
              <a:t>J-K</a:t>
            </a:r>
            <a:r>
              <a:rPr lang="zh-CN" altLang="en-US"/>
              <a:t>触发器原理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4116" y="185161"/>
            <a:ext cx="8382000" cy="762000"/>
          </a:xfrm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45F681-1D57-4580-980F-6037C607211B}" type="slidenum">
              <a:rPr lang="en-US" altLang="zh-CN" smtClean="0"/>
            </a:fld>
            <a:endParaRPr lang="en-US" altLang="zh-CN"/>
          </a:p>
        </p:txBody>
      </p:sp>
      <p:grpSp>
        <p:nvGrpSpPr>
          <p:cNvPr id="11268" name="组合 4"/>
          <p:cNvGrpSpPr/>
          <p:nvPr/>
        </p:nvGrpSpPr>
        <p:grpSpPr bwMode="auto">
          <a:xfrm>
            <a:off x="4332289" y="1550987"/>
            <a:ext cx="4584700" cy="4919663"/>
            <a:chOff x="4030868" y="1463339"/>
            <a:chExt cx="4584665" cy="4920396"/>
          </a:xfrm>
        </p:grpSpPr>
        <p:grpSp>
          <p:nvGrpSpPr>
            <p:cNvPr id="11309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5" name="直接连接符 74"/>
              <p:cNvCxnSpPr>
                <a:stCxn id="74" idx="1"/>
                <a:endCxn id="74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>
                <a:endCxn id="74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80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11381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11382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1310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8" name="直接连接符 67"/>
              <p:cNvCxnSpPr>
                <a:stCxn id="67" idx="1"/>
                <a:endCxn id="67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>
                <a:endCxn id="67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73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11374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11375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1311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9" name="直接连接符 8"/>
            <p:cNvCxnSpPr>
              <a:endCxn id="64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1316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17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3" name="直接连接符 42"/>
              <p:cNvCxnSpPr>
                <a:endCxn id="73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椭圆 48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18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1319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30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1" name="直接连接符 30"/>
              <p:cNvCxnSpPr>
                <a:stCxn id="32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22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异步清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7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0    1    X   X   X    0    1</a:t>
            </a:r>
            <a:endParaRPr lang="zh-CN" altLang="en-US" sz="2000"/>
          </a:p>
        </p:txBody>
      </p:sp>
      <p:sp>
        <p:nvSpPr>
          <p:cNvPr id="11278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11279" name="组合 90"/>
          <p:cNvGrpSpPr/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1295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1307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96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1305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97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 baseline="-25000"/>
            </a:p>
          </p:txBody>
        </p:sp>
        <p:sp>
          <p:nvSpPr>
            <p:cNvPr id="11298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 baseline="-25000"/>
            </a:p>
          </p:txBody>
        </p:sp>
        <p:sp>
          <p:nvSpPr>
            <p:cNvPr id="11299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CP</a:t>
              </a:r>
              <a:endParaRPr lang="en-US" altLang="zh-CN" sz="2400" baseline="-25000"/>
            </a:p>
          </p:txBody>
        </p:sp>
        <p:sp>
          <p:nvSpPr>
            <p:cNvPr id="11300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1301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1303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80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0   1    0    1</a:t>
            </a:r>
            <a:endParaRPr lang="zh-CN" altLang="en-US" sz="2000"/>
          </a:p>
        </p:txBody>
      </p:sp>
      <p:sp>
        <p:nvSpPr>
          <p:cNvPr id="11281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9933"/>
                </a:solidFill>
              </a:rPr>
              <a:t>1    1    </a:t>
            </a:r>
            <a:r>
              <a:rPr lang="en-US" altLang="zh-CN" sz="2000" dirty="0">
                <a:solidFill>
                  <a:srgbClr val="FF9933"/>
                </a:solidFill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solidFill>
                  <a:srgbClr val="FF9933"/>
                </a:solidFill>
              </a:rPr>
              <a:t>   1   0    1    0</a:t>
            </a:r>
            <a:endParaRPr lang="zh-CN" altLang="en-US" sz="2000" dirty="0">
              <a:solidFill>
                <a:srgbClr val="FF9933"/>
              </a:solidFill>
            </a:endParaRPr>
          </a:p>
        </p:txBody>
      </p:sp>
      <p:sp>
        <p:nvSpPr>
          <p:cNvPr id="11282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11283" name="组合 17"/>
          <p:cNvGrpSpPr/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1290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0   0            </a:t>
              </a:r>
              <a:endParaRPr lang="zh-CN" altLang="en-US" sz="2000"/>
            </a:p>
          </p:txBody>
        </p:sp>
        <p:grpSp>
          <p:nvGrpSpPr>
            <p:cNvPr id="11291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1292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84" name="组合 18"/>
          <p:cNvGrpSpPr/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1285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1   1            </a:t>
              </a:r>
              <a:endParaRPr lang="zh-CN" altLang="en-US" sz="2000"/>
            </a:p>
          </p:txBody>
        </p:sp>
        <p:sp>
          <p:nvSpPr>
            <p:cNvPr id="11286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1287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1288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5"/>
          <p:cNvGrpSpPr/>
          <p:nvPr/>
        </p:nvGrpSpPr>
        <p:grpSpPr bwMode="auto">
          <a:xfrm>
            <a:off x="4355894" y="3195955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5" name="直接连接符 134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38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39" name="直接连接符 138"/>
            <p:cNvCxnSpPr>
              <a:stCxn id="140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1" name="直接连接符 140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225"/>
          <p:cNvGrpSpPr/>
          <p:nvPr/>
        </p:nvGrpSpPr>
        <p:grpSpPr bwMode="auto">
          <a:xfrm>
            <a:off x="5470061" y="3194394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3" name="直接连接符 142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7" name="直接连接符 146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直接连接符 149"/>
          <p:cNvCxnSpPr/>
          <p:nvPr/>
        </p:nvCxnSpPr>
        <p:spPr bwMode="auto">
          <a:xfrm flipH="1">
            <a:off x="8029963" y="4879975"/>
            <a:ext cx="4762" cy="16129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 bwMode="auto">
          <a:xfrm flipH="1">
            <a:off x="5175032" y="4869238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4"/>
          <p:cNvGrpSpPr/>
          <p:nvPr/>
        </p:nvGrpSpPr>
        <p:grpSpPr bwMode="auto">
          <a:xfrm>
            <a:off x="4791076" y="3175000"/>
            <a:ext cx="3710907" cy="3295139"/>
            <a:chOff x="3051494" y="2269493"/>
            <a:chExt cx="3710879" cy="3295630"/>
          </a:xfrm>
          <a:solidFill>
            <a:srgbClr val="FF0000"/>
          </a:solidFill>
        </p:grpSpPr>
        <p:cxnSp>
          <p:nvCxnSpPr>
            <p:cNvPr id="154" name="直接连接符 153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椭圆 157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9" name="直接连接符 158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椭圆 161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cxnSp>
        <p:nvCxnSpPr>
          <p:cNvPr id="163" name="直接连接符 162"/>
          <p:cNvCxnSpPr/>
          <p:nvPr/>
        </p:nvCxnSpPr>
        <p:spPr bwMode="auto">
          <a:xfrm>
            <a:off x="7637879" y="3200992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组合 163"/>
          <p:cNvGrpSpPr/>
          <p:nvPr/>
        </p:nvGrpSpPr>
        <p:grpSpPr>
          <a:xfrm>
            <a:off x="5530850" y="3132782"/>
            <a:ext cx="911565" cy="933525"/>
            <a:chOff x="6910343" y="3334383"/>
            <a:chExt cx="911565" cy="933525"/>
          </a:xfrm>
        </p:grpSpPr>
        <p:sp>
          <p:nvSpPr>
            <p:cNvPr id="165" name="文本框 327"/>
            <p:cNvSpPr txBox="1">
              <a:spLocks noChangeArrowheads="1"/>
            </p:cNvSpPr>
            <p:nvPr/>
          </p:nvSpPr>
          <p:spPr bwMode="auto">
            <a:xfrm>
              <a:off x="6910343" y="3805946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</a:endParaRPr>
            </a:p>
          </p:txBody>
        </p:sp>
        <p:grpSp>
          <p:nvGrpSpPr>
            <p:cNvPr id="166" name="组合 165"/>
            <p:cNvGrpSpPr/>
            <p:nvPr/>
          </p:nvGrpSpPr>
          <p:grpSpPr>
            <a:xfrm>
              <a:off x="7307558" y="3334383"/>
              <a:ext cx="514350" cy="461963"/>
              <a:chOff x="2609392" y="990446"/>
              <a:chExt cx="514350" cy="461963"/>
            </a:xfrm>
          </p:grpSpPr>
          <p:sp>
            <p:nvSpPr>
              <p:cNvPr id="167" name="文本框 330"/>
              <p:cNvSpPr txBox="1">
                <a:spLocks noChangeArrowheads="1"/>
              </p:cNvSpPr>
              <p:nvPr/>
            </p:nvSpPr>
            <p:spPr bwMode="auto">
              <a:xfrm>
                <a:off x="2609392" y="990446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</a:endParaRPr>
              </a:p>
            </p:txBody>
          </p:sp>
          <p:cxnSp>
            <p:nvCxnSpPr>
              <p:cNvPr id="168" name="直接连接符 167"/>
              <p:cNvCxnSpPr/>
              <p:nvPr/>
            </p:nvCxnSpPr>
            <p:spPr bwMode="auto">
              <a:xfrm flipV="1">
                <a:off x="2658705" y="108582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9" name="组合 14"/>
          <p:cNvGrpSpPr/>
          <p:nvPr/>
        </p:nvGrpSpPr>
        <p:grpSpPr bwMode="auto">
          <a:xfrm>
            <a:off x="4789776" y="3183986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70" name="直接连接符 169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椭圆 173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75" name="直接连接符 174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79" name="组合 178"/>
          <p:cNvGrpSpPr/>
          <p:nvPr/>
        </p:nvGrpSpPr>
        <p:grpSpPr>
          <a:xfrm>
            <a:off x="5220072" y="1556792"/>
            <a:ext cx="3041650" cy="3505200"/>
            <a:chOff x="567735" y="2373805"/>
            <a:chExt cx="3041650" cy="3505200"/>
          </a:xfrm>
          <a:solidFill>
            <a:srgbClr val="FF0000"/>
          </a:solidFill>
        </p:grpSpPr>
        <p:sp>
          <p:nvSpPr>
            <p:cNvPr id="180" name="椭圆 179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81" name="直接连接符 180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椭圆 186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88" name="直接连接符 187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组合 190"/>
          <p:cNvGrpSpPr/>
          <p:nvPr/>
        </p:nvGrpSpPr>
        <p:grpSpPr>
          <a:xfrm>
            <a:off x="5004048" y="1547664"/>
            <a:ext cx="3019425" cy="3465512"/>
            <a:chOff x="315843" y="6503"/>
            <a:chExt cx="3019425" cy="3465512"/>
          </a:xfrm>
          <a:solidFill>
            <a:srgbClr val="FFFF00"/>
          </a:solidFill>
        </p:grpSpPr>
        <p:sp>
          <p:nvSpPr>
            <p:cNvPr id="192" name="椭圆 191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93" name="直接连接符 192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00" name="直接连接符 199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负边沿</a:t>
            </a:r>
            <a:r>
              <a:rPr lang="en-US" altLang="zh-CN" sz="2400">
                <a:latin typeface="Times New Roman" panose="02020603050405020304" pitchFamily="18" charset="0"/>
              </a:rPr>
              <a:t>J-K</a:t>
            </a:r>
            <a:r>
              <a:rPr lang="zh-CN" altLang="en-US" sz="2400">
                <a:latin typeface="Times New Roman" panose="02020603050405020304" pitchFamily="18" charset="0"/>
              </a:rPr>
              <a:t>触发器真值表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>
            <a:endCxn id="64" idx="0"/>
          </p:cNvCxnSpPr>
          <p:nvPr/>
        </p:nvCxnSpPr>
        <p:spPr bwMode="auto">
          <a:xfrm flipH="1">
            <a:off x="5577683" y="3191951"/>
            <a:ext cx="7287" cy="10561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D5D903-F8E3-445E-B4C6-275FD8F00F84}" type="slidenum">
              <a:rPr lang="en-US" altLang="zh-CN" smtClean="0"/>
            </a:fld>
            <a:endParaRPr lang="en-US" altLang="zh-CN"/>
          </a:p>
        </p:txBody>
      </p:sp>
      <p:grpSp>
        <p:nvGrpSpPr>
          <p:cNvPr id="12292" name="组合 4"/>
          <p:cNvGrpSpPr/>
          <p:nvPr/>
        </p:nvGrpSpPr>
        <p:grpSpPr bwMode="auto">
          <a:xfrm>
            <a:off x="4355976" y="1556792"/>
            <a:ext cx="4584700" cy="4919663"/>
            <a:chOff x="4030868" y="1463339"/>
            <a:chExt cx="4584665" cy="4920396"/>
          </a:xfrm>
        </p:grpSpPr>
        <p:grpSp>
          <p:nvGrpSpPr>
            <p:cNvPr id="12333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5" name="直接连接符 74"/>
              <p:cNvCxnSpPr>
                <a:stCxn id="74" idx="1"/>
                <a:endCxn id="74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>
                <a:endCxn id="74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04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12405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12406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2334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8" name="直接连接符 67"/>
              <p:cNvCxnSpPr>
                <a:stCxn id="67" idx="1"/>
                <a:endCxn id="67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>
                <a:endCxn id="67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97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12398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12399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2335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9" name="直接连接符 8"/>
            <p:cNvCxnSpPr>
              <a:endCxn id="64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2340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41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3" name="直接连接符 42"/>
              <p:cNvCxnSpPr>
                <a:endCxn id="73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椭圆 48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42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2343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30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1" name="直接连接符 30"/>
              <p:cNvCxnSpPr>
                <a:stCxn id="32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46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异步清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0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1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0    1    X   X   X    0    1</a:t>
            </a:r>
            <a:endParaRPr lang="zh-CN" altLang="en-US" sz="2000"/>
          </a:p>
        </p:txBody>
      </p:sp>
      <p:sp>
        <p:nvSpPr>
          <p:cNvPr id="12302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12303" name="组合 90"/>
          <p:cNvGrpSpPr/>
          <p:nvPr/>
        </p:nvGrpSpPr>
        <p:grpSpPr bwMode="auto">
          <a:xfrm>
            <a:off x="164666" y="2668796"/>
            <a:ext cx="3062287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2319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2331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20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2329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21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 baseline="-25000"/>
            </a:p>
          </p:txBody>
        </p:sp>
        <p:sp>
          <p:nvSpPr>
            <p:cNvPr id="12322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 baseline="-25000"/>
            </a:p>
          </p:txBody>
        </p:sp>
        <p:sp>
          <p:nvSpPr>
            <p:cNvPr id="12323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CP</a:t>
              </a:r>
              <a:endParaRPr lang="en-US" altLang="zh-CN" sz="2400" baseline="-25000"/>
            </a:p>
          </p:txBody>
        </p:sp>
        <p:sp>
          <p:nvSpPr>
            <p:cNvPr id="12324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2325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2327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04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0   1    0    1</a:t>
            </a:r>
            <a:endParaRPr lang="zh-CN" altLang="en-US" sz="2000"/>
          </a:p>
        </p:txBody>
      </p:sp>
      <p:sp>
        <p:nvSpPr>
          <p:cNvPr id="12305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1   0    1    0</a:t>
            </a:r>
            <a:endParaRPr lang="zh-CN" altLang="en-US" sz="2000"/>
          </a:p>
        </p:txBody>
      </p:sp>
      <p:sp>
        <p:nvSpPr>
          <p:cNvPr id="12306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12307" name="组合 17"/>
          <p:cNvGrpSpPr/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2314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9933"/>
                  </a:solidFill>
                </a:rPr>
                <a:t>1    1    </a:t>
              </a:r>
              <a:r>
                <a:rPr lang="en-US" altLang="zh-CN" sz="2000" dirty="0">
                  <a:solidFill>
                    <a:srgbClr val="FF9933"/>
                  </a:solidFill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solidFill>
                    <a:srgbClr val="FF9933"/>
                  </a:solidFill>
                </a:rPr>
                <a:t>   0   0            </a:t>
              </a:r>
              <a:endParaRPr lang="zh-CN" altLang="en-US" sz="2000" dirty="0">
                <a:solidFill>
                  <a:srgbClr val="FF9933"/>
                </a:solidFill>
              </a:endParaRPr>
            </a:p>
          </p:txBody>
        </p:sp>
        <p:grpSp>
          <p:nvGrpSpPr>
            <p:cNvPr id="12315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2316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08" name="组合 18"/>
          <p:cNvGrpSpPr/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2309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1    1    </a:t>
              </a:r>
              <a:r>
                <a:rPr lang="en-US" altLang="zh-CN" sz="2000">
                  <a:sym typeface="Symbol" panose="05050102010706020507" pitchFamily="18" charset="2"/>
                </a:rPr>
                <a:t></a:t>
              </a:r>
              <a:r>
                <a:rPr lang="en-US" altLang="zh-CN" sz="2000"/>
                <a:t>   1   1            </a:t>
              </a:r>
              <a:endParaRPr lang="zh-CN" altLang="en-US" sz="2000"/>
            </a:p>
          </p:txBody>
        </p:sp>
        <p:sp>
          <p:nvSpPr>
            <p:cNvPr id="12310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2311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2312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5"/>
          <p:cNvGrpSpPr/>
          <p:nvPr/>
        </p:nvGrpSpPr>
        <p:grpSpPr bwMode="auto">
          <a:xfrm>
            <a:off x="4381501" y="3198571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5" name="直接连接符 134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38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39" name="直接连接符 138"/>
            <p:cNvCxnSpPr>
              <a:stCxn id="140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1" name="直接连接符 140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225"/>
          <p:cNvGrpSpPr/>
          <p:nvPr/>
        </p:nvGrpSpPr>
        <p:grpSpPr bwMode="auto">
          <a:xfrm>
            <a:off x="5495668" y="3197010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3" name="直接连接符 142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7" name="直接连接符 146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直接连接符 149"/>
          <p:cNvCxnSpPr/>
          <p:nvPr/>
        </p:nvCxnSpPr>
        <p:spPr bwMode="auto">
          <a:xfrm flipH="1">
            <a:off x="8049230" y="4860322"/>
            <a:ext cx="4762" cy="16129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 bwMode="auto">
          <a:xfrm flipH="1">
            <a:off x="5194299" y="4849585"/>
            <a:ext cx="4763" cy="177419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4"/>
          <p:cNvGrpSpPr/>
          <p:nvPr/>
        </p:nvGrpSpPr>
        <p:grpSpPr bwMode="auto">
          <a:xfrm>
            <a:off x="4820493" y="3186253"/>
            <a:ext cx="3711575" cy="3295650"/>
            <a:chOff x="3051350" y="2268982"/>
            <a:chExt cx="3711547" cy="3296141"/>
          </a:xfrm>
          <a:solidFill>
            <a:srgbClr val="FF0000"/>
          </a:solidFill>
        </p:grpSpPr>
        <p:cxnSp>
          <p:nvCxnSpPr>
            <p:cNvPr id="163" name="直接连接符 162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椭圆 166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68" name="直接连接符 167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cxnSp>
        <p:nvCxnSpPr>
          <p:cNvPr id="172" name="直接连接符 171"/>
          <p:cNvCxnSpPr/>
          <p:nvPr/>
        </p:nvCxnSpPr>
        <p:spPr bwMode="auto">
          <a:xfrm>
            <a:off x="5590322" y="3210077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 bwMode="auto">
          <a:xfrm>
            <a:off x="7664326" y="3185850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4"/>
          <p:cNvGrpSpPr/>
          <p:nvPr/>
        </p:nvGrpSpPr>
        <p:grpSpPr bwMode="auto">
          <a:xfrm>
            <a:off x="4806947" y="3191378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53" name="直接连接符 152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椭圆 156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8" name="直接连接符 157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椭圆 160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946209" y="3142326"/>
            <a:ext cx="1521889" cy="490070"/>
            <a:chOff x="5946209" y="3142326"/>
            <a:chExt cx="1521889" cy="490070"/>
          </a:xfrm>
        </p:grpSpPr>
        <p:sp>
          <p:nvSpPr>
            <p:cNvPr id="175" name="文本框 327"/>
            <p:cNvSpPr txBox="1">
              <a:spLocks noChangeArrowheads="1"/>
            </p:cNvSpPr>
            <p:nvPr/>
          </p:nvSpPr>
          <p:spPr bwMode="auto">
            <a:xfrm>
              <a:off x="6953748" y="3142326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</a:endParaRP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5946209" y="3170433"/>
              <a:ext cx="514350" cy="461963"/>
              <a:chOff x="2589213" y="1304580"/>
              <a:chExt cx="514350" cy="461963"/>
            </a:xfrm>
          </p:grpSpPr>
          <p:sp>
            <p:nvSpPr>
              <p:cNvPr id="177" name="文本框 330"/>
              <p:cNvSpPr txBox="1">
                <a:spLocks noChangeArrowheads="1"/>
              </p:cNvSpPr>
              <p:nvPr/>
            </p:nvSpPr>
            <p:spPr bwMode="auto">
              <a:xfrm>
                <a:off x="2589213" y="1304580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</a:endParaRPr>
              </a:p>
            </p:txBody>
          </p:sp>
          <p:cxnSp>
            <p:nvCxnSpPr>
              <p:cNvPr id="178" name="直接连接符 177"/>
              <p:cNvCxnSpPr/>
              <p:nvPr/>
            </p:nvCxnSpPr>
            <p:spPr bwMode="auto">
              <a:xfrm flipV="1">
                <a:off x="2657476" y="138077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/>
          <p:cNvGrpSpPr/>
          <p:nvPr/>
        </p:nvGrpSpPr>
        <p:grpSpPr>
          <a:xfrm>
            <a:off x="5465018" y="1336462"/>
            <a:ext cx="2559670" cy="462024"/>
            <a:chOff x="5465018" y="1336462"/>
            <a:chExt cx="2559670" cy="462024"/>
          </a:xfrm>
        </p:grpSpPr>
        <p:sp>
          <p:nvSpPr>
            <p:cNvPr id="181" name="文本框 327"/>
            <p:cNvSpPr txBox="1">
              <a:spLocks noChangeArrowheads="1"/>
            </p:cNvSpPr>
            <p:nvPr/>
          </p:nvSpPr>
          <p:spPr bwMode="auto">
            <a:xfrm>
              <a:off x="5465018" y="1336462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</a:endParaRPr>
            </a:p>
          </p:txBody>
        </p:sp>
        <p:grpSp>
          <p:nvGrpSpPr>
            <p:cNvPr id="182" name="组合 181"/>
            <p:cNvGrpSpPr/>
            <p:nvPr/>
          </p:nvGrpSpPr>
          <p:grpSpPr>
            <a:xfrm>
              <a:off x="7510338" y="1336523"/>
              <a:ext cx="514350" cy="461963"/>
              <a:chOff x="2589213" y="1304580"/>
              <a:chExt cx="514350" cy="461963"/>
            </a:xfrm>
          </p:grpSpPr>
          <p:sp>
            <p:nvSpPr>
              <p:cNvPr id="183" name="文本框 330"/>
              <p:cNvSpPr txBox="1">
                <a:spLocks noChangeArrowheads="1"/>
              </p:cNvSpPr>
              <p:nvPr/>
            </p:nvSpPr>
            <p:spPr bwMode="auto">
              <a:xfrm>
                <a:off x="2589213" y="1304580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</a:endParaRPr>
              </a:p>
            </p:txBody>
          </p:sp>
          <p:cxnSp>
            <p:nvCxnSpPr>
              <p:cNvPr id="184" name="直接连接符 183"/>
              <p:cNvCxnSpPr/>
              <p:nvPr/>
            </p:nvCxnSpPr>
            <p:spPr bwMode="auto">
              <a:xfrm flipV="1">
                <a:off x="2657476" y="138077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5" name="Rectangle 3"/>
          <p:cNvSpPr txBox="1">
            <a:spLocks noChangeArrowheads="1"/>
          </p:cNvSpPr>
          <p:nvPr/>
        </p:nvSpPr>
        <p:spPr bwMode="auto">
          <a:xfrm>
            <a:off x="280988" y="949325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负边沿触发的</a:t>
            </a:r>
            <a:r>
              <a:rPr lang="en-US" altLang="zh-CN"/>
              <a:t>J-K</a:t>
            </a:r>
            <a:r>
              <a:rPr lang="zh-CN" altLang="en-US"/>
              <a:t>触发器原理</a:t>
            </a:r>
            <a:endParaRPr lang="zh-CN" altLang="en-US" dirty="0"/>
          </a:p>
        </p:txBody>
      </p:sp>
      <p:sp>
        <p:nvSpPr>
          <p:cNvPr id="186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负边沿</a:t>
            </a:r>
            <a:r>
              <a:rPr lang="en-US" altLang="zh-CN" sz="2400">
                <a:latin typeface="Times New Roman" panose="02020603050405020304" pitchFamily="18" charset="0"/>
              </a:rPr>
              <a:t>J-K</a:t>
            </a:r>
            <a:r>
              <a:rPr lang="zh-CN" altLang="en-US" sz="2400">
                <a:latin typeface="Times New Roman" panose="02020603050405020304" pitchFamily="18" charset="0"/>
              </a:rPr>
              <a:t>触发器真值表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</a:fld>
            <a:endParaRPr lang="en-US" altLang="zh-CN"/>
          </a:p>
        </p:txBody>
      </p:sp>
      <p:sp>
        <p:nvSpPr>
          <p:cNvPr id="5" name="灯片编号占位符 3"/>
          <p:cNvSpPr txBox="1"/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E7D5D903-F8E3-445E-B4C6-275FD8F00F84}" type="slidenum">
              <a:rPr lang="en-US" altLang="zh-CN" smtClean="0"/>
            </a:fld>
            <a:endParaRPr lang="en-US" altLang="zh-CN"/>
          </a:p>
        </p:txBody>
      </p:sp>
      <p:grpSp>
        <p:nvGrpSpPr>
          <p:cNvPr id="6" name="组合 4"/>
          <p:cNvGrpSpPr/>
          <p:nvPr/>
        </p:nvGrpSpPr>
        <p:grpSpPr bwMode="auto">
          <a:xfrm>
            <a:off x="4354513" y="1557337"/>
            <a:ext cx="4584700" cy="4919663"/>
            <a:chOff x="4030868" y="1463339"/>
            <a:chExt cx="4584665" cy="4920396"/>
          </a:xfrm>
        </p:grpSpPr>
        <p:grpSp>
          <p:nvGrpSpPr>
            <p:cNvPr id="7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6" name="直接连接符 75"/>
              <p:cNvCxnSpPr>
                <a:stCxn id="75" idx="1"/>
                <a:endCxn id="75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>
                <a:endCxn id="75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79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80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8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9" name="直接连接符 68"/>
              <p:cNvCxnSpPr>
                <a:stCxn id="68" idx="1"/>
                <a:endCxn id="68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>
                <a:endCxn id="68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72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73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0" name="直接连接符 9"/>
            <p:cNvCxnSpPr>
              <a:endCxn id="65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4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椭圆 59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4" name="直接连接符 43"/>
              <p:cNvCxnSpPr>
                <a:endCxn id="74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椭圆 49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7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31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2" name="直接连接符 31"/>
              <p:cNvCxnSpPr>
                <a:stCxn id="33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5" name="组合 134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2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异步清</a:t>
              </a:r>
              <a:r>
                <a:rPr lang="zh-CN" altLang="en-US" sz="2000" dirty="0">
                  <a:latin typeface="Arial" panose="020B0604020202020204" pitchFamily="34" charset="0"/>
                </a:rPr>
                <a:t>“</a:t>
              </a:r>
              <a:r>
                <a:rPr lang="en-US" altLang="zh-CN" sz="2000" dirty="0"/>
                <a:t>0</a:t>
              </a:r>
              <a:r>
                <a:rPr lang="en-US" altLang="zh-CN" sz="2000" dirty="0">
                  <a:latin typeface="Arial" panose="020B0604020202020204" pitchFamily="34" charset="0"/>
                </a:rPr>
                <a:t>”</a:t>
              </a:r>
              <a:endParaRPr lang="en-US" altLang="zh-CN" sz="2000" dirty="0"/>
            </a:p>
          </p:txBody>
        </p:sp>
        <p:sp>
          <p:nvSpPr>
            <p:cNvPr id="83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4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置</a:t>
              </a:r>
              <a:r>
                <a:rPr lang="zh-CN" altLang="en-US" sz="2000" dirty="0">
                  <a:latin typeface="Arial" panose="020B0604020202020204" pitchFamily="34" charset="0"/>
                </a:rPr>
                <a:t>“</a:t>
              </a:r>
              <a:r>
                <a:rPr lang="en-US" altLang="zh-CN" sz="2000" dirty="0"/>
                <a:t>0</a:t>
              </a:r>
              <a:r>
                <a:rPr lang="en-US" altLang="zh-CN" sz="2000" dirty="0">
                  <a:latin typeface="Arial" panose="020B0604020202020204" pitchFamily="34" charset="0"/>
                </a:rPr>
                <a:t>”</a:t>
              </a:r>
              <a:endParaRPr lang="en-US" altLang="zh-CN" sz="2000" dirty="0"/>
            </a:p>
          </p:txBody>
        </p:sp>
        <p:sp>
          <p:nvSpPr>
            <p:cNvPr id="85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6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87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cxnSp>
        <p:nvCxnSpPr>
          <p:cNvPr id="88" name="直接连接符 87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0    1    X   X   X    0    1</a:t>
            </a:r>
            <a:endParaRPr lang="zh-CN" altLang="en-US" sz="2000"/>
          </a:p>
        </p:txBody>
      </p:sp>
      <p:sp>
        <p:nvSpPr>
          <p:cNvPr id="91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92" name="组合 90"/>
          <p:cNvGrpSpPr/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3" name="矩形 92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94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06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7" name="直接连接符 106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04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5" name="直接连接符 104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 baseline="-25000"/>
            </a:p>
          </p:txBody>
        </p:sp>
        <p:sp>
          <p:nvSpPr>
            <p:cNvPr id="97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 baseline="-25000"/>
            </a:p>
          </p:txBody>
        </p:sp>
        <p:sp>
          <p:nvSpPr>
            <p:cNvPr id="98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CP</a:t>
              </a:r>
              <a:endParaRPr lang="en-US" altLang="zh-CN" sz="2400" baseline="-25000"/>
            </a:p>
          </p:txBody>
        </p:sp>
        <p:sp>
          <p:nvSpPr>
            <p:cNvPr id="99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00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02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03" name="直接连接符 102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接连接符 100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0   1    0    1</a:t>
            </a:r>
            <a:endParaRPr lang="zh-CN" altLang="en-US" sz="2000"/>
          </a:p>
        </p:txBody>
      </p:sp>
      <p:sp>
        <p:nvSpPr>
          <p:cNvPr id="109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1   0    1    0</a:t>
            </a:r>
            <a:endParaRPr lang="zh-CN" altLang="en-US" sz="2000"/>
          </a:p>
        </p:txBody>
      </p:sp>
      <p:sp>
        <p:nvSpPr>
          <p:cNvPr id="110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111" name="组合 17"/>
          <p:cNvGrpSpPr/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12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1    1    </a:t>
              </a:r>
              <a:r>
                <a:rPr lang="en-US" altLang="zh-CN" sz="2000" dirty="0">
                  <a:sym typeface="Symbol" panose="05050102010706020507" pitchFamily="18" charset="2"/>
                </a:rPr>
                <a:t></a:t>
              </a:r>
              <a:r>
                <a:rPr lang="en-US" altLang="zh-CN" sz="2000" dirty="0"/>
                <a:t>   0   0            </a:t>
              </a:r>
              <a:endParaRPr lang="zh-CN" altLang="en-US" sz="2000" dirty="0"/>
            </a:p>
          </p:txBody>
        </p:sp>
        <p:grpSp>
          <p:nvGrpSpPr>
            <p:cNvPr id="113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14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15" name="直接连接符 114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8"/>
          <p:cNvGrpSpPr/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17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C000"/>
                  </a:solidFill>
                </a:rPr>
                <a:t>1    1    </a:t>
              </a:r>
              <a:r>
                <a:rPr lang="en-US" altLang="zh-CN" sz="2000" dirty="0">
                  <a:solidFill>
                    <a:srgbClr val="FFC000"/>
                  </a:solidFill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solidFill>
                    <a:srgbClr val="FFC000"/>
                  </a:solidFill>
                </a:rPr>
                <a:t>   1   1            </a:t>
              </a:r>
              <a:endParaRPr lang="zh-CN" altLang="en-US" sz="2000" dirty="0">
                <a:solidFill>
                  <a:srgbClr val="FFC000"/>
                </a:solidFill>
              </a:endParaRPr>
            </a:p>
          </p:txBody>
        </p:sp>
        <p:sp>
          <p:nvSpPr>
            <p:cNvPr id="118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19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20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21" name="直接连接符 120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3" name="组合 122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3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4" name="直接连接符 133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组合 123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1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2" name="直接连接符 131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6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27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28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29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30" name="直接连接符 129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5"/>
          <p:cNvGrpSpPr/>
          <p:nvPr/>
        </p:nvGrpSpPr>
        <p:grpSpPr bwMode="auto">
          <a:xfrm>
            <a:off x="4381501" y="3198571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7" name="直接连接符 136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>
              <a:stCxn id="140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1" name="直接连接符 140"/>
            <p:cNvCxnSpPr>
              <a:stCxn id="142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3" name="直接连接符 142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225"/>
          <p:cNvGrpSpPr/>
          <p:nvPr/>
        </p:nvGrpSpPr>
        <p:grpSpPr bwMode="auto">
          <a:xfrm>
            <a:off x="5495668" y="3197010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5" name="直接连接符 144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椭圆 149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1" name="直接连接符 150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直接连接符 151"/>
          <p:cNvCxnSpPr/>
          <p:nvPr/>
        </p:nvCxnSpPr>
        <p:spPr bwMode="auto">
          <a:xfrm flipH="1">
            <a:off x="8049230" y="4860322"/>
            <a:ext cx="4762" cy="161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 bwMode="auto">
          <a:xfrm flipH="1">
            <a:off x="5194299" y="4849585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4"/>
          <p:cNvGrpSpPr/>
          <p:nvPr/>
        </p:nvGrpSpPr>
        <p:grpSpPr bwMode="auto">
          <a:xfrm>
            <a:off x="4820493" y="3186253"/>
            <a:ext cx="3711575" cy="3295650"/>
            <a:chOff x="3051350" y="2268982"/>
            <a:chExt cx="3711547" cy="3296141"/>
          </a:xfrm>
          <a:solidFill>
            <a:srgbClr val="FF0000"/>
          </a:solidFill>
        </p:grpSpPr>
        <p:cxnSp>
          <p:nvCxnSpPr>
            <p:cNvPr id="155" name="直接连接符 154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椭圆 158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60" name="直接连接符 159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64" name="Rectangle 102"/>
          <p:cNvSpPr>
            <a:spLocks noChangeArrowheads="1"/>
          </p:cNvSpPr>
          <p:nvPr/>
        </p:nvSpPr>
        <p:spPr bwMode="auto">
          <a:xfrm>
            <a:off x="323866" y="512642"/>
            <a:ext cx="8493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此时，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非有一个是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，另一个是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。假设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Q=1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非等于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65" name="Rectangle 102"/>
          <p:cNvSpPr>
            <a:spLocks noChangeArrowheads="1"/>
          </p:cNvSpPr>
          <p:nvPr/>
        </p:nvSpPr>
        <p:spPr bwMode="auto">
          <a:xfrm>
            <a:off x="396730" y="1038214"/>
            <a:ext cx="30791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非都是求反。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166" name="组合 14"/>
          <p:cNvGrpSpPr/>
          <p:nvPr/>
        </p:nvGrpSpPr>
        <p:grpSpPr bwMode="auto">
          <a:xfrm>
            <a:off x="4805957" y="3166715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67" name="直接连接符 166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72" name="直接连接符 171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5254625" y="1557337"/>
            <a:ext cx="3041650" cy="3505200"/>
            <a:chOff x="567735" y="2373805"/>
            <a:chExt cx="3041650" cy="3505200"/>
          </a:xfrm>
          <a:solidFill>
            <a:srgbClr val="FF0000"/>
          </a:solidFill>
        </p:grpSpPr>
        <p:sp>
          <p:nvSpPr>
            <p:cNvPr id="177" name="椭圆 176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78" name="直接连接符 177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85" name="直接连接符 184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组合 187"/>
          <p:cNvGrpSpPr/>
          <p:nvPr/>
        </p:nvGrpSpPr>
        <p:grpSpPr>
          <a:xfrm>
            <a:off x="5049347" y="1573792"/>
            <a:ext cx="3019425" cy="3465512"/>
            <a:chOff x="315843" y="6503"/>
            <a:chExt cx="3019425" cy="3465512"/>
          </a:xfrm>
          <a:solidFill>
            <a:srgbClr val="FFFF00"/>
          </a:solidFill>
        </p:grpSpPr>
        <p:sp>
          <p:nvSpPr>
            <p:cNvPr id="189" name="椭圆 188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90" name="直接连接符 189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0" name="直接连接符 199"/>
          <p:cNvCxnSpPr/>
          <p:nvPr/>
        </p:nvCxnSpPr>
        <p:spPr bwMode="auto">
          <a:xfrm>
            <a:off x="7661611" y="3193065"/>
            <a:ext cx="7938" cy="107315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组合 200"/>
          <p:cNvGrpSpPr/>
          <p:nvPr/>
        </p:nvGrpSpPr>
        <p:grpSpPr>
          <a:xfrm>
            <a:off x="5042694" y="1560727"/>
            <a:ext cx="3019425" cy="3465512"/>
            <a:chOff x="315843" y="6503"/>
            <a:chExt cx="3019425" cy="3465512"/>
          </a:xfrm>
          <a:solidFill>
            <a:srgbClr val="FF0000"/>
          </a:solidFill>
        </p:grpSpPr>
        <p:sp>
          <p:nvSpPr>
            <p:cNvPr id="202" name="椭圆 201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03" name="直接连接符 202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椭圆 208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10" name="直接连接符 209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组合 212"/>
          <p:cNvGrpSpPr/>
          <p:nvPr/>
        </p:nvGrpSpPr>
        <p:grpSpPr>
          <a:xfrm>
            <a:off x="5238857" y="1533501"/>
            <a:ext cx="3041650" cy="3505200"/>
            <a:chOff x="567735" y="2373805"/>
            <a:chExt cx="3041650" cy="3505200"/>
          </a:xfrm>
          <a:solidFill>
            <a:srgbClr val="FFFF00"/>
          </a:solidFill>
        </p:grpSpPr>
        <p:sp>
          <p:nvSpPr>
            <p:cNvPr id="214" name="椭圆 213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15" name="直接连接符 214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5" name="直接连接符 224"/>
          <p:cNvCxnSpPr/>
          <p:nvPr/>
        </p:nvCxnSpPr>
        <p:spPr bwMode="auto">
          <a:xfrm>
            <a:off x="7655696" y="318625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 bwMode="auto">
          <a:xfrm>
            <a:off x="5595157" y="3171801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102"/>
          <p:cNvSpPr>
            <a:spLocks noChangeArrowheads="1"/>
          </p:cNvSpPr>
          <p:nvPr/>
        </p:nvSpPr>
        <p:spPr bwMode="auto">
          <a:xfrm>
            <a:off x="107200" y="2193925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负边沿</a:t>
            </a:r>
            <a:r>
              <a:rPr lang="en-US" altLang="zh-CN" sz="2400" dirty="0">
                <a:latin typeface="Times New Roman" panose="02020603050405020304" pitchFamily="18" charset="0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</a:rPr>
              <a:t>触发器真值表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"/>
          <p:cNvGrpSpPr/>
          <p:nvPr/>
        </p:nvGrpSpPr>
        <p:grpSpPr bwMode="auto">
          <a:xfrm>
            <a:off x="4354513" y="1561210"/>
            <a:ext cx="4584700" cy="4919663"/>
            <a:chOff x="4030868" y="1463339"/>
            <a:chExt cx="4584665" cy="4920396"/>
          </a:xfrm>
        </p:grpSpPr>
        <p:grpSp>
          <p:nvGrpSpPr>
            <p:cNvPr id="7" name="组合 5"/>
            <p:cNvGrpSpPr/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6" name="直接连接符 75"/>
              <p:cNvCxnSpPr>
                <a:stCxn id="75" idx="1"/>
                <a:endCxn id="75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>
                <a:endCxn id="75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79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C</a:t>
                </a:r>
                <a:endParaRPr lang="zh-CN" altLang="en-US" sz="3600"/>
              </a:p>
            </p:txBody>
          </p:sp>
          <p:sp>
            <p:nvSpPr>
              <p:cNvPr id="80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D</a:t>
                </a:r>
                <a:endParaRPr lang="zh-CN" altLang="en-US" sz="3600"/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8" name="组合 6"/>
            <p:cNvGrpSpPr/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9" name="直接连接符 68"/>
              <p:cNvCxnSpPr>
                <a:stCxn id="68" idx="1"/>
                <a:endCxn id="68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>
                <a:endCxn id="68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+</a:t>
                </a:r>
                <a:endParaRPr lang="zh-CN" altLang="en-US" sz="3600"/>
              </a:p>
            </p:txBody>
          </p:sp>
          <p:sp>
            <p:nvSpPr>
              <p:cNvPr id="72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A</a:t>
                </a:r>
                <a:endParaRPr lang="zh-CN" altLang="en-US" sz="3600"/>
              </a:p>
            </p:txBody>
          </p:sp>
          <p:sp>
            <p:nvSpPr>
              <p:cNvPr id="73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/>
                  <a:t>B</a:t>
                </a:r>
                <a:endParaRPr lang="zh-CN" altLang="en-US" sz="3600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" name="组合 7"/>
            <p:cNvGrpSpPr/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0" name="直接连接符 9"/>
            <p:cNvCxnSpPr>
              <a:endCxn id="65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4" name="组合 12"/>
            <p:cNvGrpSpPr/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椭圆 59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3"/>
            <p:cNvGrpSpPr/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4" name="直接连接符 43"/>
              <p:cNvCxnSpPr>
                <a:endCxn id="74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椭圆 49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4"/>
            <p:cNvGrpSpPr/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17" name="组合 15"/>
            <p:cNvGrpSpPr/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31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2" name="直接连接符 31"/>
              <p:cNvCxnSpPr>
                <a:stCxn id="33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8"/>
            <p:cNvGrpSpPr/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</a:fld>
            <a:endParaRPr lang="en-US" altLang="zh-CN"/>
          </a:p>
        </p:txBody>
      </p:sp>
      <p:grpSp>
        <p:nvGrpSpPr>
          <p:cNvPr id="213" name="组合 212"/>
          <p:cNvGrpSpPr/>
          <p:nvPr/>
        </p:nvGrpSpPr>
        <p:grpSpPr>
          <a:xfrm>
            <a:off x="5252564" y="1553773"/>
            <a:ext cx="3041650" cy="3505200"/>
            <a:chOff x="567735" y="2373805"/>
            <a:chExt cx="3041650" cy="3505200"/>
          </a:xfrm>
          <a:solidFill>
            <a:srgbClr val="FFFF00"/>
          </a:solidFill>
        </p:grpSpPr>
        <p:sp>
          <p:nvSpPr>
            <p:cNvPr id="214" name="椭圆 213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15" name="直接连接符 214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灯片编号占位符 3"/>
          <p:cNvSpPr txBox="1"/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E7D5D903-F8E3-445E-B4C6-275FD8F00F84}" type="slidenum">
              <a:rPr lang="en-US" altLang="zh-CN" smtClean="0"/>
            </a:fld>
            <a:endParaRPr lang="en-US" altLang="zh-CN"/>
          </a:p>
        </p:txBody>
      </p:sp>
      <p:grpSp>
        <p:nvGrpSpPr>
          <p:cNvPr id="135" name="组合 134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2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异步清</a:t>
              </a:r>
              <a:r>
                <a:rPr lang="zh-CN" altLang="en-US" sz="2000" dirty="0">
                  <a:latin typeface="Arial" panose="020B0604020202020204" pitchFamily="34" charset="0"/>
                </a:rPr>
                <a:t>“</a:t>
              </a:r>
              <a:r>
                <a:rPr lang="en-US" altLang="zh-CN" sz="2000" dirty="0"/>
                <a:t>0</a:t>
              </a:r>
              <a:r>
                <a:rPr lang="en-US" altLang="zh-CN" sz="2000" dirty="0">
                  <a:latin typeface="Arial" panose="020B0604020202020204" pitchFamily="34" charset="0"/>
                </a:rPr>
                <a:t>”</a:t>
              </a:r>
              <a:endParaRPr lang="en-US" altLang="zh-CN" sz="2000" dirty="0"/>
            </a:p>
          </p:txBody>
        </p:sp>
        <p:sp>
          <p:nvSpPr>
            <p:cNvPr id="83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异步置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4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置</a:t>
              </a:r>
              <a:r>
                <a:rPr lang="zh-CN" altLang="en-US" sz="2000" dirty="0">
                  <a:latin typeface="Arial" panose="020B0604020202020204" pitchFamily="34" charset="0"/>
                </a:rPr>
                <a:t>“</a:t>
              </a:r>
              <a:r>
                <a:rPr lang="en-US" altLang="zh-CN" sz="2000" dirty="0"/>
                <a:t>0</a:t>
              </a:r>
              <a:r>
                <a:rPr lang="en-US" altLang="zh-CN" sz="2000" dirty="0">
                  <a:latin typeface="Arial" panose="020B0604020202020204" pitchFamily="34" charset="0"/>
                </a:rPr>
                <a:t>”</a:t>
              </a:r>
              <a:endParaRPr lang="en-US" altLang="zh-CN" sz="2000" dirty="0"/>
            </a:p>
          </p:txBody>
        </p:sp>
        <p:sp>
          <p:nvSpPr>
            <p:cNvPr id="85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置</a:t>
              </a:r>
              <a:r>
                <a:rPr lang="zh-CN" altLang="en-US" sz="2000">
                  <a:latin typeface="Arial" panose="020B0604020202020204" pitchFamily="34" charset="0"/>
                </a:rPr>
                <a:t>“</a:t>
              </a:r>
              <a:r>
                <a:rPr lang="en-US" altLang="zh-CN" sz="2000"/>
                <a:t>1</a:t>
              </a:r>
              <a:r>
                <a:rPr lang="en-US" altLang="zh-CN" sz="2000">
                  <a:latin typeface="Arial" panose="020B0604020202020204" pitchFamily="34" charset="0"/>
                </a:rPr>
                <a:t>”</a:t>
              </a:r>
              <a:endParaRPr lang="en-US" altLang="zh-CN" sz="2000"/>
            </a:p>
          </p:txBody>
        </p:sp>
        <p:sp>
          <p:nvSpPr>
            <p:cNvPr id="86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保持</a:t>
              </a:r>
              <a:endParaRPr lang="zh-CN" altLang="en-US" sz="2000"/>
            </a:p>
          </p:txBody>
        </p:sp>
        <p:sp>
          <p:nvSpPr>
            <p:cNvPr id="87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翻转</a:t>
              </a:r>
              <a:endParaRPr lang="zh-CN" altLang="en-US" sz="2000"/>
            </a:p>
          </p:txBody>
        </p:sp>
      </p:grpSp>
      <p:cxnSp>
        <p:nvCxnSpPr>
          <p:cNvPr id="88" name="直接连接符 87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0    1    X   X   X    0    1</a:t>
            </a:r>
            <a:endParaRPr lang="zh-CN" altLang="en-US" sz="2000"/>
          </a:p>
        </p:txBody>
      </p:sp>
      <p:sp>
        <p:nvSpPr>
          <p:cNvPr id="91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0    X   X   X    1    0</a:t>
            </a:r>
            <a:endParaRPr lang="zh-CN" altLang="en-US" sz="2000"/>
          </a:p>
        </p:txBody>
      </p:sp>
      <p:grpSp>
        <p:nvGrpSpPr>
          <p:cNvPr id="92" name="组合 90"/>
          <p:cNvGrpSpPr/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3" name="矩形 92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94" name="组合 8"/>
            <p:cNvGrpSpPr/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06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7" name="直接连接符 106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组合 313"/>
            <p:cNvGrpSpPr/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04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5000"/>
                  <a:t>d</a:t>
                </a:r>
                <a:endParaRPr lang="en-US" altLang="zh-CN" sz="2400" baseline="-25000"/>
              </a:p>
            </p:txBody>
          </p:sp>
          <p:cxnSp>
            <p:nvCxnSpPr>
              <p:cNvPr id="105" name="直接连接符 104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 baseline="-25000"/>
            </a:p>
          </p:txBody>
        </p:sp>
        <p:sp>
          <p:nvSpPr>
            <p:cNvPr id="97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 baseline="-25000"/>
            </a:p>
          </p:txBody>
        </p:sp>
        <p:sp>
          <p:nvSpPr>
            <p:cNvPr id="98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CP</a:t>
              </a:r>
              <a:endParaRPr lang="en-US" altLang="zh-CN" sz="2400" baseline="-25000"/>
            </a:p>
          </p:txBody>
        </p:sp>
        <p:sp>
          <p:nvSpPr>
            <p:cNvPr id="99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00" name="组合 12"/>
            <p:cNvGrpSpPr/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02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03" name="直接连接符 102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接连接符 100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0   1    0    1</a:t>
            </a:r>
            <a:endParaRPr lang="zh-CN" altLang="en-US" sz="2000"/>
          </a:p>
        </p:txBody>
      </p:sp>
      <p:sp>
        <p:nvSpPr>
          <p:cNvPr id="109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1    1    </a:t>
            </a:r>
            <a:r>
              <a:rPr lang="en-US" altLang="zh-CN" sz="2000">
                <a:sym typeface="Symbol" panose="05050102010706020507" pitchFamily="18" charset="2"/>
              </a:rPr>
              <a:t></a:t>
            </a:r>
            <a:r>
              <a:rPr lang="en-US" altLang="zh-CN" sz="2000"/>
              <a:t>   1   0    1    0</a:t>
            </a:r>
            <a:endParaRPr lang="zh-CN" altLang="en-US" sz="2000"/>
          </a:p>
        </p:txBody>
      </p:sp>
      <p:sp>
        <p:nvSpPr>
          <p:cNvPr id="110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endParaRPr lang="en-US" altLang="zh-CN" sz="2400" baseline="-25000"/>
          </a:p>
        </p:txBody>
      </p:sp>
      <p:grpSp>
        <p:nvGrpSpPr>
          <p:cNvPr id="111" name="组合 17"/>
          <p:cNvGrpSpPr/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12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1    1    </a:t>
              </a:r>
              <a:r>
                <a:rPr lang="en-US" altLang="zh-CN" sz="2000" dirty="0">
                  <a:sym typeface="Symbol" panose="05050102010706020507" pitchFamily="18" charset="2"/>
                </a:rPr>
                <a:t></a:t>
              </a:r>
              <a:r>
                <a:rPr lang="en-US" altLang="zh-CN" sz="2000" dirty="0"/>
                <a:t>   0   0            </a:t>
              </a:r>
              <a:endParaRPr lang="zh-CN" altLang="en-US" sz="2000" dirty="0"/>
            </a:p>
          </p:txBody>
        </p:sp>
        <p:grpSp>
          <p:nvGrpSpPr>
            <p:cNvPr id="113" name="组合 342"/>
            <p:cNvGrpSpPr/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14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15" name="直接连接符 114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8"/>
          <p:cNvGrpSpPr/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17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C000"/>
                  </a:solidFill>
                </a:rPr>
                <a:t>1    1    </a:t>
              </a:r>
              <a:r>
                <a:rPr lang="en-US" altLang="zh-CN" sz="2000" dirty="0">
                  <a:solidFill>
                    <a:srgbClr val="FFC000"/>
                  </a:solidFill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solidFill>
                    <a:srgbClr val="FFC000"/>
                  </a:solidFill>
                </a:rPr>
                <a:t>   1   1            </a:t>
              </a:r>
              <a:endParaRPr lang="zh-CN" altLang="en-US" sz="2000" dirty="0">
                <a:solidFill>
                  <a:srgbClr val="FFC000"/>
                </a:solidFill>
              </a:endParaRPr>
            </a:p>
          </p:txBody>
        </p:sp>
        <p:sp>
          <p:nvSpPr>
            <p:cNvPr id="118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Q</a:t>
              </a:r>
              <a:endParaRPr lang="en-US" altLang="zh-CN" sz="2400" baseline="-25000"/>
            </a:p>
          </p:txBody>
        </p:sp>
        <p:grpSp>
          <p:nvGrpSpPr>
            <p:cNvPr id="119" name="组合 347"/>
            <p:cNvGrpSpPr/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20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Q</a:t>
                </a:r>
                <a:endParaRPr lang="en-US" altLang="zh-CN" sz="2400" baseline="-25000"/>
              </a:p>
            </p:txBody>
          </p:sp>
          <p:cxnSp>
            <p:nvCxnSpPr>
              <p:cNvPr id="121" name="直接连接符 120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3" name="组合 122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3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/>
                  <a:t>S</a:t>
                </a:r>
                <a:r>
                  <a:rPr lang="en-US" altLang="zh-CN" sz="2400" baseline="-25000" dirty="0" err="1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4" name="直接连接符 133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组合 123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1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d</a:t>
                </a:r>
                <a:endParaRPr lang="en-US" altLang="zh-CN" sz="2400" baseline="-25000" dirty="0"/>
              </a:p>
            </p:txBody>
          </p:sp>
          <p:cxnSp>
            <p:nvCxnSpPr>
              <p:cNvPr id="132" name="直接连接符 131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CP</a:t>
              </a:r>
              <a:endParaRPr lang="en-US" altLang="zh-CN" sz="2400" baseline="-25000" dirty="0"/>
            </a:p>
          </p:txBody>
        </p:sp>
        <p:sp>
          <p:nvSpPr>
            <p:cNvPr id="126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baseline="-25000" dirty="0"/>
            </a:p>
          </p:txBody>
        </p:sp>
        <p:sp>
          <p:nvSpPr>
            <p:cNvPr id="127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baseline="-25000" dirty="0"/>
            </a:p>
          </p:txBody>
        </p:sp>
        <p:sp>
          <p:nvSpPr>
            <p:cNvPr id="128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sp>
          <p:nvSpPr>
            <p:cNvPr id="129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endParaRPr lang="en-US" altLang="zh-CN" sz="2400" baseline="-25000" dirty="0"/>
            </a:p>
          </p:txBody>
        </p:sp>
        <p:cxnSp>
          <p:nvCxnSpPr>
            <p:cNvPr id="130" name="直接连接符 129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5"/>
          <p:cNvGrpSpPr/>
          <p:nvPr/>
        </p:nvGrpSpPr>
        <p:grpSpPr bwMode="auto">
          <a:xfrm>
            <a:off x="4381501" y="3198571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7" name="直接连接符 136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>
              <a:stCxn id="140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1" name="直接连接符 140"/>
            <p:cNvCxnSpPr>
              <a:stCxn id="142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3" name="直接连接符 142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225"/>
          <p:cNvGrpSpPr/>
          <p:nvPr/>
        </p:nvGrpSpPr>
        <p:grpSpPr bwMode="auto">
          <a:xfrm>
            <a:off x="5495668" y="3197010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5" name="直接连接符 144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椭圆 149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1" name="直接连接符 150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直接连接符 151"/>
          <p:cNvCxnSpPr/>
          <p:nvPr/>
        </p:nvCxnSpPr>
        <p:spPr bwMode="auto">
          <a:xfrm flipH="1">
            <a:off x="8049230" y="4860322"/>
            <a:ext cx="4762" cy="161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 bwMode="auto">
          <a:xfrm flipH="1">
            <a:off x="5194299" y="4849585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4"/>
          <p:cNvGrpSpPr/>
          <p:nvPr/>
        </p:nvGrpSpPr>
        <p:grpSpPr bwMode="auto">
          <a:xfrm>
            <a:off x="4820493" y="3186253"/>
            <a:ext cx="3711575" cy="3295650"/>
            <a:chOff x="3051350" y="2268982"/>
            <a:chExt cx="3711547" cy="3296141"/>
          </a:xfrm>
          <a:solidFill>
            <a:srgbClr val="FF0000"/>
          </a:solidFill>
        </p:grpSpPr>
        <p:cxnSp>
          <p:nvCxnSpPr>
            <p:cNvPr id="155" name="直接连接符 154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椭圆 158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60" name="直接连接符 159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64" name="Rectangle 102"/>
          <p:cNvSpPr>
            <a:spLocks noChangeArrowheads="1"/>
          </p:cNvSpPr>
          <p:nvPr/>
        </p:nvSpPr>
        <p:spPr bwMode="auto">
          <a:xfrm>
            <a:off x="323866" y="512642"/>
            <a:ext cx="8493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假设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Q=0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非等于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166" name="组合 14"/>
          <p:cNvGrpSpPr/>
          <p:nvPr/>
        </p:nvGrpSpPr>
        <p:grpSpPr bwMode="auto">
          <a:xfrm>
            <a:off x="4820846" y="3186070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67" name="直接连接符 166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72" name="直接连接符 171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5252564" y="1568340"/>
            <a:ext cx="3041650" cy="3505200"/>
            <a:chOff x="567735" y="2373805"/>
            <a:chExt cx="3041650" cy="3505200"/>
          </a:xfrm>
          <a:solidFill>
            <a:srgbClr val="FF0000"/>
          </a:solidFill>
        </p:grpSpPr>
        <p:sp>
          <p:nvSpPr>
            <p:cNvPr id="177" name="椭圆 176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78" name="直接连接符 177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85" name="直接连接符 184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组合 200"/>
          <p:cNvGrpSpPr/>
          <p:nvPr/>
        </p:nvGrpSpPr>
        <p:grpSpPr>
          <a:xfrm>
            <a:off x="5042694" y="1573329"/>
            <a:ext cx="3019425" cy="3465512"/>
            <a:chOff x="315843" y="6503"/>
            <a:chExt cx="3019425" cy="3465512"/>
          </a:xfrm>
          <a:solidFill>
            <a:srgbClr val="FF0000"/>
          </a:solidFill>
        </p:grpSpPr>
        <p:sp>
          <p:nvSpPr>
            <p:cNvPr id="202" name="椭圆 201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03" name="直接连接符 202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椭圆 208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10" name="直接连接符 209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5" name="直接连接符 224"/>
          <p:cNvCxnSpPr/>
          <p:nvPr/>
        </p:nvCxnSpPr>
        <p:spPr bwMode="auto">
          <a:xfrm>
            <a:off x="7668713" y="3214224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 bwMode="auto">
          <a:xfrm>
            <a:off x="5595432" y="317925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102"/>
          <p:cNvSpPr>
            <a:spLocks noChangeArrowheads="1"/>
          </p:cNvSpPr>
          <p:nvPr/>
        </p:nvSpPr>
        <p:spPr bwMode="auto">
          <a:xfrm>
            <a:off x="107200" y="2193925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负边沿</a:t>
            </a:r>
            <a:r>
              <a:rPr lang="en-US" altLang="zh-CN" sz="2400" dirty="0">
                <a:latin typeface="Times New Roman" panose="02020603050405020304" pitchFamily="18" charset="0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</a:rPr>
              <a:t>触发器真值表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cxnSp>
        <p:nvCxnSpPr>
          <p:cNvPr id="2" name="直接连接符 1"/>
          <p:cNvCxnSpPr/>
          <p:nvPr/>
        </p:nvCxnSpPr>
        <p:spPr bwMode="auto">
          <a:xfrm>
            <a:off x="5595157" y="3171801"/>
            <a:ext cx="7938" cy="107315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 bwMode="auto">
          <a:xfrm>
            <a:off x="7670823" y="322152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组合 187"/>
          <p:cNvGrpSpPr/>
          <p:nvPr/>
        </p:nvGrpSpPr>
        <p:grpSpPr>
          <a:xfrm>
            <a:off x="5049347" y="1573792"/>
            <a:ext cx="3019425" cy="3465512"/>
            <a:chOff x="315843" y="6503"/>
            <a:chExt cx="3019425" cy="3465512"/>
          </a:xfrm>
          <a:solidFill>
            <a:srgbClr val="FFFF00"/>
          </a:solidFill>
        </p:grpSpPr>
        <p:sp>
          <p:nvSpPr>
            <p:cNvPr id="189" name="椭圆 188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90" name="直接连接符 189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0" name="直接连接符 199"/>
          <p:cNvCxnSpPr/>
          <p:nvPr/>
        </p:nvCxnSpPr>
        <p:spPr bwMode="auto">
          <a:xfrm>
            <a:off x="5597525" y="3205860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102"/>
          <p:cNvSpPr>
            <a:spLocks noChangeArrowheads="1"/>
          </p:cNvSpPr>
          <p:nvPr/>
        </p:nvSpPr>
        <p:spPr bwMode="auto">
          <a:xfrm>
            <a:off x="396730" y="1038214"/>
            <a:ext cx="30791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非也都是求反。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2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负边沿</a:t>
            </a:r>
            <a:r>
              <a:rPr lang="en-US" altLang="zh-CN" dirty="0"/>
              <a:t>JK</a:t>
            </a:r>
            <a:r>
              <a:rPr lang="zh-CN" altLang="en-US" dirty="0"/>
              <a:t>触发器</a:t>
            </a:r>
            <a:r>
              <a:rPr lang="en-US" altLang="zh-CN" dirty="0"/>
              <a:t>——74ls112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77072"/>
            <a:ext cx="3456384" cy="25304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68760"/>
            <a:ext cx="3417182" cy="24537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298729"/>
            <a:ext cx="3547211" cy="24041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149080"/>
            <a:ext cx="4464496" cy="2268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正边沿</a:t>
            </a:r>
            <a:r>
              <a:rPr lang="en-US" altLang="zh-CN" dirty="0"/>
              <a:t>JK</a:t>
            </a:r>
            <a:r>
              <a:rPr lang="zh-CN" altLang="en-US" dirty="0"/>
              <a:t>触发器</a:t>
            </a:r>
            <a:r>
              <a:rPr lang="en-US" altLang="zh-CN" dirty="0"/>
              <a:t>——74ls109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225498"/>
            <a:ext cx="3205486" cy="26206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25498"/>
            <a:ext cx="3816425" cy="268809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1" y="4470296"/>
            <a:ext cx="3816425" cy="20111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</a:fld>
            <a:endParaRPr lang="en-US" altLang="zh-CN"/>
          </a:p>
        </p:txBody>
      </p:sp>
      <p:sp>
        <p:nvSpPr>
          <p:cNvPr id="5" name="灯片编号占位符 5"/>
          <p:cNvSpPr txBox="1"/>
          <p:nvPr/>
        </p:nvSpPr>
        <p:spPr bwMode="auto">
          <a:xfrm>
            <a:off x="6459801" y="6019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A5AB4CF-28FE-4F07-8B93-037184D72BBE}" type="slidenum">
              <a:rPr lang="en-US" altLang="zh-CN" smtClean="0"/>
            </a:fld>
            <a:endParaRPr lang="en-US" altLang="zh-CN"/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440001" y="12192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负边沿触发的</a:t>
            </a:r>
            <a:r>
              <a:rPr lang="en-US" altLang="zh-CN" dirty="0"/>
              <a:t>J-K</a:t>
            </a:r>
            <a:r>
              <a:rPr lang="zh-CN" altLang="en-US" dirty="0"/>
              <a:t>触发器的时序图</a:t>
            </a: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7" name="Line 1073"/>
          <p:cNvSpPr>
            <a:spLocks noChangeShapeType="1"/>
          </p:cNvSpPr>
          <p:nvPr/>
        </p:nvSpPr>
        <p:spPr bwMode="auto">
          <a:xfrm>
            <a:off x="41738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074"/>
          <p:cNvSpPr>
            <a:spLocks noChangeShapeType="1"/>
          </p:cNvSpPr>
          <p:nvPr/>
        </p:nvSpPr>
        <p:spPr bwMode="auto">
          <a:xfrm>
            <a:off x="24212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075"/>
          <p:cNvSpPr>
            <a:spLocks noChangeShapeType="1"/>
          </p:cNvSpPr>
          <p:nvPr/>
        </p:nvSpPr>
        <p:spPr bwMode="auto">
          <a:xfrm flipH="1">
            <a:off x="36404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122"/>
          <p:cNvGrpSpPr/>
          <p:nvPr/>
        </p:nvGrpSpPr>
        <p:grpSpPr bwMode="auto">
          <a:xfrm>
            <a:off x="1159250" y="2324099"/>
            <a:ext cx="7789863" cy="457200"/>
            <a:chOff x="517" y="1968"/>
            <a:chExt cx="4907" cy="288"/>
          </a:xfrm>
        </p:grpSpPr>
        <p:sp>
          <p:nvSpPr>
            <p:cNvPr id="11" name="Line 1029"/>
            <p:cNvSpPr>
              <a:spLocks noChangeShapeType="1"/>
            </p:cNvSpPr>
            <p:nvPr/>
          </p:nvSpPr>
          <p:spPr bwMode="auto">
            <a:xfrm>
              <a:off x="960" y="22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30"/>
            <p:cNvSpPr>
              <a:spLocks noChangeShapeType="1"/>
            </p:cNvSpPr>
            <p:nvPr/>
          </p:nvSpPr>
          <p:spPr bwMode="auto">
            <a:xfrm flipV="1">
              <a:off x="1392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031"/>
            <p:cNvSpPr>
              <a:spLocks noChangeShapeType="1"/>
            </p:cNvSpPr>
            <p:nvPr/>
          </p:nvSpPr>
          <p:spPr bwMode="auto">
            <a:xfrm>
              <a:off x="1440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32"/>
            <p:cNvSpPr>
              <a:spLocks noChangeShapeType="1"/>
            </p:cNvSpPr>
            <p:nvPr/>
          </p:nvSpPr>
          <p:spPr bwMode="auto">
            <a:xfrm>
              <a:off x="1728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33"/>
            <p:cNvSpPr>
              <a:spLocks noChangeShapeType="1"/>
            </p:cNvSpPr>
            <p:nvPr/>
          </p:nvSpPr>
          <p:spPr bwMode="auto">
            <a:xfrm flipV="1">
              <a:off x="1776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084"/>
            <p:cNvSpPr txBox="1">
              <a:spLocks noChangeArrowheads="1"/>
            </p:cNvSpPr>
            <p:nvPr/>
          </p:nvSpPr>
          <p:spPr bwMode="auto">
            <a:xfrm>
              <a:off x="517" y="1968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CP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7" name="Line 1102"/>
            <p:cNvSpPr>
              <a:spLocks noChangeShapeType="1"/>
            </p:cNvSpPr>
            <p:nvPr/>
          </p:nvSpPr>
          <p:spPr bwMode="auto">
            <a:xfrm flipV="1">
              <a:off x="2064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103"/>
            <p:cNvSpPr>
              <a:spLocks noChangeShapeType="1"/>
            </p:cNvSpPr>
            <p:nvPr/>
          </p:nvSpPr>
          <p:spPr bwMode="auto">
            <a:xfrm>
              <a:off x="2112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104"/>
            <p:cNvSpPr>
              <a:spLocks noChangeShapeType="1"/>
            </p:cNvSpPr>
            <p:nvPr/>
          </p:nvSpPr>
          <p:spPr bwMode="auto">
            <a:xfrm>
              <a:off x="2400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105"/>
            <p:cNvSpPr>
              <a:spLocks noChangeShapeType="1"/>
            </p:cNvSpPr>
            <p:nvPr/>
          </p:nvSpPr>
          <p:spPr bwMode="auto">
            <a:xfrm flipV="1">
              <a:off x="2448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106"/>
            <p:cNvSpPr>
              <a:spLocks noChangeShapeType="1"/>
            </p:cNvSpPr>
            <p:nvPr/>
          </p:nvSpPr>
          <p:spPr bwMode="auto">
            <a:xfrm flipV="1">
              <a:off x="2736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107"/>
            <p:cNvSpPr>
              <a:spLocks noChangeShapeType="1"/>
            </p:cNvSpPr>
            <p:nvPr/>
          </p:nvSpPr>
          <p:spPr bwMode="auto">
            <a:xfrm>
              <a:off x="2784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108"/>
            <p:cNvSpPr>
              <a:spLocks noChangeShapeType="1"/>
            </p:cNvSpPr>
            <p:nvPr/>
          </p:nvSpPr>
          <p:spPr bwMode="auto">
            <a:xfrm>
              <a:off x="3072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109"/>
            <p:cNvSpPr>
              <a:spLocks noChangeShapeType="1"/>
            </p:cNvSpPr>
            <p:nvPr/>
          </p:nvSpPr>
          <p:spPr bwMode="auto">
            <a:xfrm flipV="1">
              <a:off x="3120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110"/>
            <p:cNvSpPr>
              <a:spLocks noChangeShapeType="1"/>
            </p:cNvSpPr>
            <p:nvPr/>
          </p:nvSpPr>
          <p:spPr bwMode="auto">
            <a:xfrm flipV="1">
              <a:off x="3408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111"/>
            <p:cNvSpPr>
              <a:spLocks noChangeShapeType="1"/>
            </p:cNvSpPr>
            <p:nvPr/>
          </p:nvSpPr>
          <p:spPr bwMode="auto">
            <a:xfrm>
              <a:off x="3456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112"/>
            <p:cNvSpPr>
              <a:spLocks noChangeShapeType="1"/>
            </p:cNvSpPr>
            <p:nvPr/>
          </p:nvSpPr>
          <p:spPr bwMode="auto">
            <a:xfrm>
              <a:off x="3744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113"/>
            <p:cNvSpPr>
              <a:spLocks noChangeShapeType="1"/>
            </p:cNvSpPr>
            <p:nvPr/>
          </p:nvSpPr>
          <p:spPr bwMode="auto">
            <a:xfrm flipV="1">
              <a:off x="3792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114"/>
            <p:cNvSpPr>
              <a:spLocks noChangeShapeType="1"/>
            </p:cNvSpPr>
            <p:nvPr/>
          </p:nvSpPr>
          <p:spPr bwMode="auto">
            <a:xfrm flipV="1">
              <a:off x="4080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115"/>
            <p:cNvSpPr>
              <a:spLocks noChangeShapeType="1"/>
            </p:cNvSpPr>
            <p:nvPr/>
          </p:nvSpPr>
          <p:spPr bwMode="auto">
            <a:xfrm>
              <a:off x="4128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116"/>
            <p:cNvSpPr>
              <a:spLocks noChangeShapeType="1"/>
            </p:cNvSpPr>
            <p:nvPr/>
          </p:nvSpPr>
          <p:spPr bwMode="auto">
            <a:xfrm>
              <a:off x="4416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117"/>
            <p:cNvSpPr>
              <a:spLocks noChangeShapeType="1"/>
            </p:cNvSpPr>
            <p:nvPr/>
          </p:nvSpPr>
          <p:spPr bwMode="auto">
            <a:xfrm flipV="1">
              <a:off x="4464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118"/>
            <p:cNvSpPr>
              <a:spLocks noChangeShapeType="1"/>
            </p:cNvSpPr>
            <p:nvPr/>
          </p:nvSpPr>
          <p:spPr bwMode="auto">
            <a:xfrm flipV="1">
              <a:off x="4752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119"/>
            <p:cNvSpPr>
              <a:spLocks noChangeShapeType="1"/>
            </p:cNvSpPr>
            <p:nvPr/>
          </p:nvSpPr>
          <p:spPr bwMode="auto">
            <a:xfrm>
              <a:off x="4800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120"/>
            <p:cNvSpPr>
              <a:spLocks noChangeShapeType="1"/>
            </p:cNvSpPr>
            <p:nvPr/>
          </p:nvSpPr>
          <p:spPr bwMode="auto">
            <a:xfrm>
              <a:off x="5088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121"/>
            <p:cNvSpPr>
              <a:spLocks noChangeShapeType="1"/>
            </p:cNvSpPr>
            <p:nvPr/>
          </p:nvSpPr>
          <p:spPr bwMode="auto">
            <a:xfrm flipV="1">
              <a:off x="5136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Group 1199"/>
          <p:cNvGrpSpPr/>
          <p:nvPr/>
        </p:nvGrpSpPr>
        <p:grpSpPr bwMode="auto">
          <a:xfrm>
            <a:off x="516201" y="5341938"/>
            <a:ext cx="339725" cy="1135062"/>
            <a:chOff x="480" y="3509"/>
            <a:chExt cx="214" cy="715"/>
          </a:xfrm>
        </p:grpSpPr>
        <p:graphicFrame>
          <p:nvGraphicFramePr>
            <p:cNvPr id="38" name="Object 1135"/>
            <p:cNvGraphicFramePr>
              <a:graphicFrameLocks noChangeAspect="1"/>
            </p:cNvGraphicFramePr>
            <p:nvPr/>
          </p:nvGraphicFramePr>
          <p:xfrm>
            <a:off x="480" y="3888"/>
            <a:ext cx="21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Equation" r:id="rId1" imgW="68580" imgH="130175" progId="Equation.3">
                    <p:embed/>
                  </p:oleObj>
                </mc:Choice>
                <mc:Fallback>
                  <p:oleObj name="Equation" r:id="rId1" imgW="68580" imgH="130175" progId="Equation.3">
                    <p:embed/>
                    <p:pic>
                      <p:nvPicPr>
                        <p:cNvPr id="0" name="Object 1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888"/>
                          <a:ext cx="21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136"/>
            <p:cNvGraphicFramePr>
              <a:graphicFrameLocks noChangeAspect="1"/>
            </p:cNvGraphicFramePr>
            <p:nvPr/>
          </p:nvGraphicFramePr>
          <p:xfrm>
            <a:off x="480" y="3509"/>
            <a:ext cx="214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68580" imgH="102870" progId="Equation.3">
                    <p:embed/>
                  </p:oleObj>
                </mc:Choice>
                <mc:Fallback>
                  <p:oleObj name="Equation" r:id="rId3" imgW="68580" imgH="102870" progId="Equation.3">
                    <p:embed/>
                    <p:pic>
                      <p:nvPicPr>
                        <p:cNvPr id="0" name="Object 1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509"/>
                          <a:ext cx="214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1195"/>
          <p:cNvGrpSpPr/>
          <p:nvPr/>
        </p:nvGrpSpPr>
        <p:grpSpPr bwMode="auto">
          <a:xfrm>
            <a:off x="592401" y="2743200"/>
            <a:ext cx="7696200" cy="533400"/>
            <a:chOff x="528" y="1872"/>
            <a:chExt cx="4848" cy="336"/>
          </a:xfrm>
        </p:grpSpPr>
        <p:sp>
          <p:nvSpPr>
            <p:cNvPr id="41" name="Line 1088"/>
            <p:cNvSpPr>
              <a:spLocks noChangeShapeType="1"/>
            </p:cNvSpPr>
            <p:nvPr/>
          </p:nvSpPr>
          <p:spPr bwMode="auto">
            <a:xfrm>
              <a:off x="912" y="220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" name="Object 1124"/>
            <p:cNvGraphicFramePr>
              <a:graphicFrameLocks noChangeAspect="1"/>
            </p:cNvGraphicFramePr>
            <p:nvPr/>
          </p:nvGraphicFramePr>
          <p:xfrm>
            <a:off x="528" y="1872"/>
            <a:ext cx="25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" name="Equation" r:id="rId5" imgW="123190" imgH="130175" progId="Equation.3">
                    <p:embed/>
                  </p:oleObj>
                </mc:Choice>
                <mc:Fallback>
                  <p:oleObj name="Equation" r:id="rId5" imgW="123190" imgH="130175" progId="Equation.3">
                    <p:embed/>
                    <p:pic>
                      <p:nvPicPr>
                        <p:cNvPr id="0" name="Object 1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872"/>
                          <a:ext cx="254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1141"/>
            <p:cNvSpPr>
              <a:spLocks noChangeShapeType="1"/>
            </p:cNvSpPr>
            <p:nvPr/>
          </p:nvSpPr>
          <p:spPr bwMode="auto">
            <a:xfrm flipV="1">
              <a:off x="1584" y="196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143"/>
            <p:cNvSpPr>
              <a:spLocks noChangeShapeType="1"/>
            </p:cNvSpPr>
            <p:nvPr/>
          </p:nvSpPr>
          <p:spPr bwMode="auto">
            <a:xfrm>
              <a:off x="1680" y="1968"/>
              <a:ext cx="36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Group 1196"/>
          <p:cNvGrpSpPr/>
          <p:nvPr/>
        </p:nvGrpSpPr>
        <p:grpSpPr bwMode="auto">
          <a:xfrm>
            <a:off x="592401" y="3460750"/>
            <a:ext cx="7620000" cy="425450"/>
            <a:chOff x="528" y="2324"/>
            <a:chExt cx="4800" cy="268"/>
          </a:xfrm>
        </p:grpSpPr>
        <p:sp>
          <p:nvSpPr>
            <p:cNvPr id="47" name="Line 1089"/>
            <p:cNvSpPr>
              <a:spLocks noChangeShapeType="1"/>
            </p:cNvSpPr>
            <p:nvPr/>
          </p:nvSpPr>
          <p:spPr bwMode="auto">
            <a:xfrm>
              <a:off x="912" y="235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" name="Object 1125"/>
            <p:cNvGraphicFramePr>
              <a:graphicFrameLocks noChangeAspect="1"/>
            </p:cNvGraphicFramePr>
            <p:nvPr/>
          </p:nvGraphicFramePr>
          <p:xfrm>
            <a:off x="528" y="2324"/>
            <a:ext cx="24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" name="Equation" r:id="rId7" imgW="116205" imgH="130175" progId="Equation.3">
                    <p:embed/>
                  </p:oleObj>
                </mc:Choice>
                <mc:Fallback>
                  <p:oleObj name="Equation" r:id="rId7" imgW="116205" imgH="130175" progId="Equation.3">
                    <p:embed/>
                    <p:pic>
                      <p:nvPicPr>
                        <p:cNvPr id="0" name="Object 1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324"/>
                          <a:ext cx="240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Line 1142"/>
            <p:cNvSpPr>
              <a:spLocks noChangeShapeType="1"/>
            </p:cNvSpPr>
            <p:nvPr/>
          </p:nvSpPr>
          <p:spPr bwMode="auto">
            <a:xfrm>
              <a:off x="1584" y="235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144"/>
            <p:cNvSpPr>
              <a:spLocks noChangeShapeType="1"/>
            </p:cNvSpPr>
            <p:nvPr/>
          </p:nvSpPr>
          <p:spPr bwMode="auto">
            <a:xfrm>
              <a:off x="1728" y="259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145"/>
            <p:cNvSpPr>
              <a:spLocks noChangeShapeType="1"/>
            </p:cNvSpPr>
            <p:nvPr/>
          </p:nvSpPr>
          <p:spPr bwMode="auto">
            <a:xfrm flipV="1">
              <a:off x="2400" y="235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146"/>
            <p:cNvSpPr>
              <a:spLocks noChangeShapeType="1"/>
            </p:cNvSpPr>
            <p:nvPr/>
          </p:nvSpPr>
          <p:spPr bwMode="auto">
            <a:xfrm>
              <a:off x="2496" y="2352"/>
              <a:ext cx="28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Line 1149"/>
          <p:cNvSpPr>
            <a:spLocks noChangeShapeType="1"/>
          </p:cNvSpPr>
          <p:nvPr/>
        </p:nvSpPr>
        <p:spPr bwMode="auto">
          <a:xfrm>
            <a:off x="1049601" y="5791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1150"/>
          <p:cNvSpPr>
            <a:spLocks noChangeShapeType="1"/>
          </p:cNvSpPr>
          <p:nvPr/>
        </p:nvSpPr>
        <p:spPr bwMode="auto">
          <a:xfrm>
            <a:off x="1049601" y="6019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" name="Group 1200"/>
          <p:cNvGrpSpPr/>
          <p:nvPr/>
        </p:nvGrpSpPr>
        <p:grpSpPr bwMode="auto">
          <a:xfrm>
            <a:off x="2421201" y="5486400"/>
            <a:ext cx="1219200" cy="304800"/>
            <a:chOff x="1680" y="3600"/>
            <a:chExt cx="1104" cy="192"/>
          </a:xfrm>
        </p:grpSpPr>
        <p:sp>
          <p:nvSpPr>
            <p:cNvPr id="57" name="Line 1152"/>
            <p:cNvSpPr>
              <a:spLocks noChangeShapeType="1"/>
            </p:cNvSpPr>
            <p:nvPr/>
          </p:nvSpPr>
          <p:spPr bwMode="auto">
            <a:xfrm flipV="1">
              <a:off x="1680" y="36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153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Group 1201"/>
          <p:cNvGrpSpPr/>
          <p:nvPr/>
        </p:nvGrpSpPr>
        <p:grpSpPr bwMode="auto">
          <a:xfrm>
            <a:off x="2421201" y="6019800"/>
            <a:ext cx="1219200" cy="304800"/>
            <a:chOff x="1680" y="3936"/>
            <a:chExt cx="1104" cy="192"/>
          </a:xfrm>
        </p:grpSpPr>
        <p:sp>
          <p:nvSpPr>
            <p:cNvPr id="60" name="Line 1154"/>
            <p:cNvSpPr>
              <a:spLocks noChangeShapeType="1"/>
            </p:cNvSpPr>
            <p:nvPr/>
          </p:nvSpPr>
          <p:spPr bwMode="auto">
            <a:xfrm>
              <a:off x="1680" y="3936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155"/>
            <p:cNvSpPr>
              <a:spLocks noChangeShapeType="1"/>
            </p:cNvSpPr>
            <p:nvPr/>
          </p:nvSpPr>
          <p:spPr bwMode="auto">
            <a:xfrm>
              <a:off x="1776" y="41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" name="Line 1159"/>
          <p:cNvSpPr>
            <a:spLocks noChangeShapeType="1"/>
          </p:cNvSpPr>
          <p:nvPr/>
        </p:nvSpPr>
        <p:spPr bwMode="auto">
          <a:xfrm>
            <a:off x="52406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1166"/>
          <p:cNvSpPr>
            <a:spLocks noChangeShapeType="1"/>
          </p:cNvSpPr>
          <p:nvPr/>
        </p:nvSpPr>
        <p:spPr bwMode="auto">
          <a:xfrm>
            <a:off x="63074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1172"/>
          <p:cNvSpPr>
            <a:spLocks noChangeShapeType="1"/>
          </p:cNvSpPr>
          <p:nvPr/>
        </p:nvSpPr>
        <p:spPr bwMode="auto">
          <a:xfrm>
            <a:off x="73742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5" name="Group 1197"/>
          <p:cNvGrpSpPr/>
          <p:nvPr/>
        </p:nvGrpSpPr>
        <p:grpSpPr bwMode="auto">
          <a:xfrm>
            <a:off x="410065" y="4121149"/>
            <a:ext cx="7694613" cy="457200"/>
            <a:chOff x="528" y="2688"/>
            <a:chExt cx="4847" cy="288"/>
          </a:xfrm>
        </p:grpSpPr>
        <p:sp>
          <p:nvSpPr>
            <p:cNvPr id="66" name="Rectangle 1085"/>
            <p:cNvSpPr>
              <a:spLocks noChangeArrowheads="1"/>
            </p:cNvSpPr>
            <p:nvPr/>
          </p:nvSpPr>
          <p:spPr bwMode="auto">
            <a:xfrm>
              <a:off x="528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J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7" name="Line 1147"/>
            <p:cNvSpPr>
              <a:spLocks noChangeShapeType="1"/>
            </p:cNvSpPr>
            <p:nvPr/>
          </p:nvSpPr>
          <p:spPr bwMode="auto">
            <a:xfrm>
              <a:off x="872" y="292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160"/>
            <p:cNvSpPr>
              <a:spLocks noChangeShapeType="1"/>
            </p:cNvSpPr>
            <p:nvPr/>
          </p:nvSpPr>
          <p:spPr bwMode="auto">
            <a:xfrm>
              <a:off x="2752" y="292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1161"/>
            <p:cNvSpPr>
              <a:spLocks noChangeShapeType="1"/>
            </p:cNvSpPr>
            <p:nvPr/>
          </p:nvSpPr>
          <p:spPr bwMode="auto">
            <a:xfrm flipV="1">
              <a:off x="3422" y="268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162"/>
            <p:cNvSpPr>
              <a:spLocks noChangeShapeType="1"/>
            </p:cNvSpPr>
            <p:nvPr/>
          </p:nvSpPr>
          <p:spPr bwMode="auto">
            <a:xfrm>
              <a:off x="3483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170"/>
            <p:cNvSpPr>
              <a:spLocks noChangeShapeType="1"/>
            </p:cNvSpPr>
            <p:nvPr/>
          </p:nvSpPr>
          <p:spPr bwMode="auto">
            <a:xfrm>
              <a:off x="4057" y="268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171"/>
            <p:cNvSpPr>
              <a:spLocks noChangeShapeType="1"/>
            </p:cNvSpPr>
            <p:nvPr/>
          </p:nvSpPr>
          <p:spPr bwMode="auto">
            <a:xfrm>
              <a:off x="4116" y="292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173"/>
            <p:cNvSpPr>
              <a:spLocks noChangeShapeType="1"/>
            </p:cNvSpPr>
            <p:nvPr/>
          </p:nvSpPr>
          <p:spPr bwMode="auto">
            <a:xfrm flipV="1">
              <a:off x="4737" y="268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174"/>
            <p:cNvSpPr>
              <a:spLocks noChangeShapeType="1"/>
            </p:cNvSpPr>
            <p:nvPr/>
          </p:nvSpPr>
          <p:spPr bwMode="auto">
            <a:xfrm>
              <a:off x="4799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5" name="Group 1198"/>
          <p:cNvGrpSpPr/>
          <p:nvPr/>
        </p:nvGrpSpPr>
        <p:grpSpPr bwMode="auto">
          <a:xfrm>
            <a:off x="312889" y="4661874"/>
            <a:ext cx="7777163" cy="457200"/>
            <a:chOff x="476" y="3072"/>
            <a:chExt cx="4899" cy="288"/>
          </a:xfrm>
        </p:grpSpPr>
        <p:sp>
          <p:nvSpPr>
            <p:cNvPr id="76" name="Rectangle 1087"/>
            <p:cNvSpPr>
              <a:spLocks noChangeArrowheads="1"/>
            </p:cNvSpPr>
            <p:nvPr/>
          </p:nvSpPr>
          <p:spPr bwMode="auto">
            <a:xfrm>
              <a:off x="476" y="30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K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" name="Line 1148"/>
            <p:cNvSpPr>
              <a:spLocks noChangeShapeType="1"/>
            </p:cNvSpPr>
            <p:nvPr/>
          </p:nvSpPr>
          <p:spPr bwMode="auto">
            <a:xfrm>
              <a:off x="872" y="336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157"/>
            <p:cNvSpPr>
              <a:spLocks noChangeShapeType="1"/>
            </p:cNvSpPr>
            <p:nvPr/>
          </p:nvSpPr>
          <p:spPr bwMode="auto">
            <a:xfrm flipV="1">
              <a:off x="2744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158"/>
            <p:cNvSpPr>
              <a:spLocks noChangeShapeType="1"/>
            </p:cNvSpPr>
            <p:nvPr/>
          </p:nvSpPr>
          <p:spPr bwMode="auto">
            <a:xfrm>
              <a:off x="2800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163"/>
            <p:cNvSpPr>
              <a:spLocks noChangeShapeType="1"/>
            </p:cNvSpPr>
            <p:nvPr/>
          </p:nvSpPr>
          <p:spPr bwMode="auto">
            <a:xfrm>
              <a:off x="3422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164"/>
            <p:cNvSpPr>
              <a:spLocks noChangeShapeType="1"/>
            </p:cNvSpPr>
            <p:nvPr/>
          </p:nvSpPr>
          <p:spPr bwMode="auto">
            <a:xfrm>
              <a:off x="345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165"/>
            <p:cNvSpPr>
              <a:spLocks noChangeShapeType="1"/>
            </p:cNvSpPr>
            <p:nvPr/>
          </p:nvSpPr>
          <p:spPr bwMode="auto">
            <a:xfrm flipV="1">
              <a:off x="3694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167"/>
            <p:cNvSpPr>
              <a:spLocks noChangeShapeType="1"/>
            </p:cNvSpPr>
            <p:nvPr/>
          </p:nvSpPr>
          <p:spPr bwMode="auto">
            <a:xfrm>
              <a:off x="3742" y="312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168"/>
            <p:cNvSpPr>
              <a:spLocks noChangeShapeType="1"/>
            </p:cNvSpPr>
            <p:nvPr/>
          </p:nvSpPr>
          <p:spPr bwMode="auto">
            <a:xfrm>
              <a:off x="3833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1169"/>
            <p:cNvSpPr>
              <a:spLocks noChangeShapeType="1"/>
            </p:cNvSpPr>
            <p:nvPr/>
          </p:nvSpPr>
          <p:spPr bwMode="auto">
            <a:xfrm>
              <a:off x="3878" y="336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1176"/>
            <p:cNvSpPr>
              <a:spLocks noChangeShapeType="1"/>
            </p:cNvSpPr>
            <p:nvPr/>
          </p:nvSpPr>
          <p:spPr bwMode="auto">
            <a:xfrm flipV="1">
              <a:off x="4692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1177"/>
            <p:cNvSpPr>
              <a:spLocks noChangeShapeType="1"/>
            </p:cNvSpPr>
            <p:nvPr/>
          </p:nvSpPr>
          <p:spPr bwMode="auto">
            <a:xfrm>
              <a:off x="4751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8" name="Group 1202"/>
          <p:cNvGrpSpPr/>
          <p:nvPr/>
        </p:nvGrpSpPr>
        <p:grpSpPr bwMode="auto">
          <a:xfrm>
            <a:off x="4173801" y="5486400"/>
            <a:ext cx="1066800" cy="304800"/>
            <a:chOff x="2784" y="3600"/>
            <a:chExt cx="672" cy="192"/>
          </a:xfrm>
        </p:grpSpPr>
        <p:sp>
          <p:nvSpPr>
            <p:cNvPr id="89" name="Line 1180"/>
            <p:cNvSpPr>
              <a:spLocks noChangeShapeType="1"/>
            </p:cNvSpPr>
            <p:nvPr/>
          </p:nvSpPr>
          <p:spPr bwMode="auto">
            <a:xfrm>
              <a:off x="2832" y="379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181"/>
            <p:cNvSpPr>
              <a:spLocks noChangeShapeType="1"/>
            </p:cNvSpPr>
            <p:nvPr/>
          </p:nvSpPr>
          <p:spPr bwMode="auto">
            <a:xfrm>
              <a:off x="2784" y="3600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1203"/>
          <p:cNvGrpSpPr/>
          <p:nvPr/>
        </p:nvGrpSpPr>
        <p:grpSpPr bwMode="auto">
          <a:xfrm>
            <a:off x="4173801" y="6019800"/>
            <a:ext cx="1066800" cy="304800"/>
            <a:chOff x="2784" y="3936"/>
            <a:chExt cx="672" cy="192"/>
          </a:xfrm>
        </p:grpSpPr>
        <p:sp>
          <p:nvSpPr>
            <p:cNvPr id="92" name="Line 1179"/>
            <p:cNvSpPr>
              <a:spLocks noChangeShapeType="1"/>
            </p:cNvSpPr>
            <p:nvPr/>
          </p:nvSpPr>
          <p:spPr bwMode="auto">
            <a:xfrm flipV="1">
              <a:off x="2784" y="39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1182"/>
            <p:cNvSpPr>
              <a:spLocks noChangeShapeType="1"/>
            </p:cNvSpPr>
            <p:nvPr/>
          </p:nvSpPr>
          <p:spPr bwMode="auto">
            <a:xfrm>
              <a:off x="2832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4" name="Group 1204"/>
          <p:cNvGrpSpPr/>
          <p:nvPr/>
        </p:nvGrpSpPr>
        <p:grpSpPr bwMode="auto">
          <a:xfrm>
            <a:off x="5240601" y="5486400"/>
            <a:ext cx="1066800" cy="304800"/>
            <a:chOff x="3456" y="3600"/>
            <a:chExt cx="672" cy="192"/>
          </a:xfrm>
        </p:grpSpPr>
        <p:sp>
          <p:nvSpPr>
            <p:cNvPr id="95" name="Line 1183"/>
            <p:cNvSpPr>
              <a:spLocks noChangeShapeType="1"/>
            </p:cNvSpPr>
            <p:nvPr/>
          </p:nvSpPr>
          <p:spPr bwMode="auto">
            <a:xfrm flipV="1">
              <a:off x="3456" y="36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1184"/>
            <p:cNvSpPr>
              <a:spLocks noChangeShapeType="1"/>
            </p:cNvSpPr>
            <p:nvPr/>
          </p:nvSpPr>
          <p:spPr bwMode="auto">
            <a:xfrm>
              <a:off x="3552" y="36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7" name="Group 1205"/>
          <p:cNvGrpSpPr/>
          <p:nvPr/>
        </p:nvGrpSpPr>
        <p:grpSpPr bwMode="auto">
          <a:xfrm>
            <a:off x="5240601" y="6019800"/>
            <a:ext cx="1066800" cy="304800"/>
            <a:chOff x="3456" y="3936"/>
            <a:chExt cx="672" cy="192"/>
          </a:xfrm>
        </p:grpSpPr>
        <p:sp>
          <p:nvSpPr>
            <p:cNvPr id="98" name="Line 1185"/>
            <p:cNvSpPr>
              <a:spLocks noChangeShapeType="1"/>
            </p:cNvSpPr>
            <p:nvPr/>
          </p:nvSpPr>
          <p:spPr bwMode="auto">
            <a:xfrm>
              <a:off x="3504" y="412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186"/>
            <p:cNvSpPr>
              <a:spLocks noChangeShapeType="1"/>
            </p:cNvSpPr>
            <p:nvPr/>
          </p:nvSpPr>
          <p:spPr bwMode="auto">
            <a:xfrm>
              <a:off x="3456" y="39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" name="Line 1187"/>
          <p:cNvSpPr>
            <a:spLocks noChangeShapeType="1"/>
          </p:cNvSpPr>
          <p:nvPr/>
        </p:nvSpPr>
        <p:spPr bwMode="auto">
          <a:xfrm>
            <a:off x="6307401" y="5486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Line 1188"/>
          <p:cNvSpPr>
            <a:spLocks noChangeShapeType="1"/>
          </p:cNvSpPr>
          <p:nvPr/>
        </p:nvSpPr>
        <p:spPr bwMode="auto">
          <a:xfrm>
            <a:off x="6231201" y="6324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" name="Group 1206"/>
          <p:cNvGrpSpPr/>
          <p:nvPr/>
        </p:nvGrpSpPr>
        <p:grpSpPr bwMode="auto">
          <a:xfrm>
            <a:off x="7374201" y="5486400"/>
            <a:ext cx="1066800" cy="381000"/>
            <a:chOff x="4800" y="3600"/>
            <a:chExt cx="672" cy="240"/>
          </a:xfrm>
        </p:grpSpPr>
        <p:sp>
          <p:nvSpPr>
            <p:cNvPr id="103" name="Line 1189"/>
            <p:cNvSpPr>
              <a:spLocks noChangeShapeType="1"/>
            </p:cNvSpPr>
            <p:nvPr/>
          </p:nvSpPr>
          <p:spPr bwMode="auto">
            <a:xfrm>
              <a:off x="4800" y="360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190"/>
            <p:cNvSpPr>
              <a:spLocks noChangeShapeType="1"/>
            </p:cNvSpPr>
            <p:nvPr/>
          </p:nvSpPr>
          <p:spPr bwMode="auto">
            <a:xfrm>
              <a:off x="4848" y="38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" name="Group 1207"/>
          <p:cNvGrpSpPr/>
          <p:nvPr/>
        </p:nvGrpSpPr>
        <p:grpSpPr bwMode="auto">
          <a:xfrm>
            <a:off x="7374201" y="6019800"/>
            <a:ext cx="1066800" cy="304800"/>
            <a:chOff x="4800" y="3936"/>
            <a:chExt cx="672" cy="192"/>
          </a:xfrm>
        </p:grpSpPr>
        <p:sp>
          <p:nvSpPr>
            <p:cNvPr id="106" name="Line 1192"/>
            <p:cNvSpPr>
              <a:spLocks noChangeShapeType="1"/>
            </p:cNvSpPr>
            <p:nvPr/>
          </p:nvSpPr>
          <p:spPr bwMode="auto">
            <a:xfrm flipV="1">
              <a:off x="4800" y="39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193"/>
            <p:cNvSpPr>
              <a:spLocks noChangeShapeType="1"/>
            </p:cNvSpPr>
            <p:nvPr/>
          </p:nvSpPr>
          <p:spPr bwMode="auto">
            <a:xfrm>
              <a:off x="4848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" name="Line 1208"/>
          <p:cNvSpPr>
            <a:spLocks noChangeShapeType="1"/>
          </p:cNvSpPr>
          <p:nvPr/>
        </p:nvSpPr>
        <p:spPr bwMode="auto">
          <a:xfrm>
            <a:off x="3640401" y="5486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1209"/>
          <p:cNvSpPr>
            <a:spLocks noChangeShapeType="1"/>
          </p:cNvSpPr>
          <p:nvPr/>
        </p:nvSpPr>
        <p:spPr bwMode="auto">
          <a:xfrm>
            <a:off x="3640401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F4F8BA-5C39-4798-AB5C-DC33C1A4CC08}" type="slidenum">
              <a:rPr lang="en-US" altLang="zh-CN"/>
            </a:fld>
            <a:endParaRPr lang="en-US" altLang="zh-CN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按时钟脉冲</a:t>
            </a:r>
            <a:r>
              <a:rPr lang="en-US" altLang="zh-CN" b="1" dirty="0"/>
              <a:t>(Clock Pulse)</a:t>
            </a:r>
            <a:r>
              <a:rPr lang="zh-CN" altLang="en-US" b="1" dirty="0"/>
              <a:t>控制方式分类</a:t>
            </a: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边沿触发方式</a:t>
            </a:r>
            <a:r>
              <a:rPr lang="en-US" altLang="zh-CN" b="1" dirty="0"/>
              <a:t>FF (Edge-Trigger)</a:t>
            </a:r>
            <a:endParaRPr lang="en-US" altLang="zh-CN" b="1" dirty="0"/>
          </a:p>
          <a:p>
            <a:pPr lvl="2" eaLnBrk="1" hangingPunct="1">
              <a:defRPr/>
            </a:pPr>
            <a:r>
              <a:rPr lang="zh-CN" altLang="en-US" b="1" dirty="0"/>
              <a:t>触发器只有在时钟输入</a:t>
            </a:r>
            <a:r>
              <a:rPr lang="en-US" altLang="zh-CN" b="1" dirty="0"/>
              <a:t>CP</a:t>
            </a:r>
            <a:r>
              <a:rPr lang="zh-CN" altLang="en-US" b="1" dirty="0"/>
              <a:t>的某一约定跳变（正跳变或负跳变）到来时，才接收输入数据。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zh-CN" altLang="en-US" b="1" dirty="0"/>
              <a:t>当</a:t>
            </a:r>
            <a:r>
              <a:rPr lang="en-US" altLang="zh-CN" b="1" dirty="0"/>
              <a:t>CP</a:t>
            </a:r>
            <a:r>
              <a:rPr lang="zh-CN" altLang="en-US" b="1" dirty="0"/>
              <a:t>没有跳变（</a:t>
            </a:r>
            <a:r>
              <a:rPr lang="en-US" altLang="zh-CN" b="1" dirty="0"/>
              <a:t>CP=0</a:t>
            </a:r>
            <a:r>
              <a:rPr lang="zh-CN" altLang="en-US" b="1" dirty="0"/>
              <a:t>或 </a:t>
            </a:r>
            <a:r>
              <a:rPr lang="en-US" altLang="zh-CN" b="1" dirty="0"/>
              <a:t>CP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）期间，输入数据的变化不会引起触发器输出状态的变化。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zh-CN" altLang="en-US" b="1" dirty="0"/>
              <a:t>当 </a:t>
            </a:r>
            <a:r>
              <a:rPr lang="en-US" altLang="zh-CN" b="1" dirty="0"/>
              <a:t>CP</a:t>
            </a:r>
            <a:r>
              <a:rPr lang="zh-CN" altLang="en-US" b="1" dirty="0"/>
              <a:t>的非约定跳变到来时，触发器也不会接收输入数据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A3D21-6CFE-4377-933D-75B5DA59EB00}" type="slidenum">
              <a:rPr lang="en-US" altLang="zh-CN"/>
            </a:fld>
            <a:endParaRPr lang="en-US" altLang="zh-CN"/>
          </a:p>
        </p:txBody>
      </p:sp>
      <p:sp>
        <p:nvSpPr>
          <p:cNvPr id="5806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sp>
        <p:nvSpPr>
          <p:cNvPr id="5806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基本</a:t>
            </a:r>
            <a:r>
              <a:rPr lang="en-US" altLang="zh-CN"/>
              <a:t>R-S</a:t>
            </a: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电位触发方式的触发器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边沿触发方式的触发器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>
                <a:solidFill>
                  <a:srgbClr val="FFFF00"/>
                </a:solidFill>
              </a:rPr>
              <a:t>主－从触发方式的触发器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80612" name="Rectangle 1028"/>
          <p:cNvSpPr>
            <a:spLocks noChangeArrowheads="1"/>
          </p:cNvSpPr>
          <p:nvPr/>
        </p:nvSpPr>
        <p:spPr bwMode="auto">
          <a:xfrm>
            <a:off x="460375" y="32766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E88516-3E0F-4DBA-80D3-F215897552E0}" type="slidenum">
              <a:rPr lang="en-US" altLang="zh-CN"/>
            </a:fld>
            <a:endParaRPr lang="en-US" altLang="zh-CN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主从触发器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由两级电位触发器（主触发器和从触发器）串连而成</a:t>
            </a:r>
            <a:endParaRPr lang="zh-CN" altLang="en-US"/>
          </a:p>
          <a:p>
            <a:pPr lvl="1" eaLnBrk="1" hangingPunct="1">
              <a:defRPr/>
            </a:pPr>
            <a:r>
              <a:rPr lang="en-US" altLang="zh-CN"/>
              <a:t>CP=1</a:t>
            </a:r>
            <a:r>
              <a:rPr lang="zh-CN" altLang="en-US"/>
              <a:t>期间，主触发器接收数据，从触发器封锁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在负跳变到来时，主触发器封锁，从触发器将接收</a:t>
            </a:r>
            <a:r>
              <a:rPr lang="en-US" altLang="zh-CN"/>
              <a:t>CP</a:t>
            </a:r>
            <a:r>
              <a:rPr lang="zh-CN" altLang="en-US"/>
              <a:t>负跳变时主触发器的状态。</a:t>
            </a:r>
            <a:endParaRPr lang="zh-CN" altLang="en-US"/>
          </a:p>
          <a:p>
            <a:pPr lvl="1" eaLnBrk="1" hangingPunct="1">
              <a:defRPr/>
            </a:pPr>
            <a:endParaRPr lang="zh-CN" altLang="en-US"/>
          </a:p>
          <a:p>
            <a:pPr lvl="1" eaLnBrk="1" hangingPunct="1">
              <a:defRPr/>
            </a:pPr>
            <a:r>
              <a:rPr lang="zh-CN" altLang="en-US">
                <a:solidFill>
                  <a:srgbClr val="FFFF00"/>
                </a:solidFill>
              </a:rPr>
              <a:t>常用有主从</a:t>
            </a:r>
            <a:r>
              <a:rPr lang="en-US" altLang="zh-CN">
                <a:solidFill>
                  <a:srgbClr val="FFFF00"/>
                </a:solidFill>
              </a:rPr>
              <a:t>R-S</a:t>
            </a:r>
            <a:r>
              <a:rPr lang="zh-CN" altLang="en-US">
                <a:solidFill>
                  <a:srgbClr val="FFFF00"/>
                </a:solidFill>
              </a:rPr>
              <a:t>触发器和主从</a:t>
            </a:r>
            <a:r>
              <a:rPr lang="en-US" altLang="zh-CN">
                <a:solidFill>
                  <a:srgbClr val="FFFF00"/>
                </a:solidFill>
              </a:rPr>
              <a:t>J-K</a:t>
            </a:r>
            <a:r>
              <a:rPr lang="zh-CN" altLang="en-US">
                <a:solidFill>
                  <a:srgbClr val="FFFF00"/>
                </a:solidFill>
              </a:rPr>
              <a:t>触发器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020BD2-6F76-4CD4-B5ED-1B6C5178D03A}" type="slidenum">
              <a:rPr lang="en-US" altLang="zh-CN"/>
            </a:fld>
            <a:endParaRPr lang="en-US" altLang="zh-CN"/>
          </a:p>
        </p:txBody>
      </p:sp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R-S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2765425" y="5708650"/>
            <a:ext cx="56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CP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pic>
        <p:nvPicPr>
          <p:cNvPr id="18438" name="Picture 5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588" y="2576513"/>
            <a:ext cx="573087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6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3240088"/>
            <a:ext cx="571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7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8" y="3240088"/>
            <a:ext cx="571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8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63" y="4048125"/>
            <a:ext cx="5715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9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4048125"/>
            <a:ext cx="573087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10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576513"/>
            <a:ext cx="573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4" name="Line 11"/>
          <p:cNvSpPr>
            <a:spLocks noChangeShapeType="1"/>
          </p:cNvSpPr>
          <p:nvPr/>
        </p:nvSpPr>
        <p:spPr bwMode="auto">
          <a:xfrm flipV="1">
            <a:off x="2054225" y="22574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 flipV="1">
            <a:off x="3313113" y="22574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13"/>
          <p:cNvSpPr>
            <a:spLocks noChangeShapeType="1"/>
          </p:cNvSpPr>
          <p:nvPr/>
        </p:nvSpPr>
        <p:spPr bwMode="auto">
          <a:xfrm>
            <a:off x="2054225" y="2430463"/>
            <a:ext cx="382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14"/>
          <p:cNvSpPr>
            <a:spLocks noChangeShapeType="1"/>
          </p:cNvSpPr>
          <p:nvPr/>
        </p:nvSpPr>
        <p:spPr bwMode="auto">
          <a:xfrm flipH="1">
            <a:off x="2928938" y="2430463"/>
            <a:ext cx="384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8" name="Line 15"/>
          <p:cNvSpPr>
            <a:spLocks noChangeShapeType="1"/>
          </p:cNvSpPr>
          <p:nvPr/>
        </p:nvSpPr>
        <p:spPr bwMode="auto">
          <a:xfrm flipH="1">
            <a:off x="2492375" y="2430463"/>
            <a:ext cx="436563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9" name="Line 16"/>
          <p:cNvSpPr>
            <a:spLocks noChangeShapeType="1"/>
          </p:cNvSpPr>
          <p:nvPr/>
        </p:nvSpPr>
        <p:spPr bwMode="auto">
          <a:xfrm>
            <a:off x="2436813" y="2430463"/>
            <a:ext cx="492125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0" name="Line 17"/>
          <p:cNvSpPr>
            <a:spLocks noChangeShapeType="1"/>
          </p:cNvSpPr>
          <p:nvPr/>
        </p:nvSpPr>
        <p:spPr bwMode="auto">
          <a:xfrm>
            <a:off x="2928938" y="3181350"/>
            <a:ext cx="274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1" name="Line 18"/>
          <p:cNvSpPr>
            <a:spLocks noChangeShapeType="1"/>
          </p:cNvSpPr>
          <p:nvPr/>
        </p:nvSpPr>
        <p:spPr bwMode="auto">
          <a:xfrm flipH="1">
            <a:off x="2217738" y="3181350"/>
            <a:ext cx="274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Line 19"/>
          <p:cNvSpPr>
            <a:spLocks noChangeShapeType="1"/>
          </p:cNvSpPr>
          <p:nvPr/>
        </p:nvSpPr>
        <p:spPr bwMode="auto">
          <a:xfrm flipV="1">
            <a:off x="2217738" y="3008313"/>
            <a:ext cx="0" cy="173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Line 20"/>
          <p:cNvSpPr>
            <a:spLocks noChangeShapeType="1"/>
          </p:cNvSpPr>
          <p:nvPr/>
        </p:nvSpPr>
        <p:spPr bwMode="auto">
          <a:xfrm flipV="1">
            <a:off x="3203575" y="3008313"/>
            <a:ext cx="0" cy="173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4" name="Line 21"/>
          <p:cNvSpPr>
            <a:spLocks noChangeShapeType="1"/>
          </p:cNvSpPr>
          <p:nvPr/>
        </p:nvSpPr>
        <p:spPr bwMode="auto">
          <a:xfrm flipV="1">
            <a:off x="1889125" y="37020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5" name="Line 22"/>
          <p:cNvSpPr>
            <a:spLocks noChangeShapeType="1"/>
          </p:cNvSpPr>
          <p:nvPr/>
        </p:nvSpPr>
        <p:spPr bwMode="auto">
          <a:xfrm flipV="1">
            <a:off x="3478213" y="37020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6" name="Line 23"/>
          <p:cNvSpPr>
            <a:spLocks noChangeShapeType="1"/>
          </p:cNvSpPr>
          <p:nvPr/>
        </p:nvSpPr>
        <p:spPr bwMode="auto">
          <a:xfrm flipV="1">
            <a:off x="3367088" y="3008313"/>
            <a:ext cx="0" cy="231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7" name="Line 24"/>
          <p:cNvSpPr>
            <a:spLocks noChangeShapeType="1"/>
          </p:cNvSpPr>
          <p:nvPr/>
        </p:nvSpPr>
        <p:spPr bwMode="auto">
          <a:xfrm flipV="1">
            <a:off x="1943100" y="3008313"/>
            <a:ext cx="0" cy="231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8" name="Oval 25"/>
          <p:cNvSpPr>
            <a:spLocks noChangeAspect="1" noChangeArrowheads="1"/>
          </p:cNvSpPr>
          <p:nvPr/>
        </p:nvSpPr>
        <p:spPr bwMode="auto">
          <a:xfrm>
            <a:off x="3203575" y="3817938"/>
            <a:ext cx="109538" cy="1158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18459" name="Oval 26"/>
          <p:cNvSpPr>
            <a:spLocks noChangeAspect="1" noChangeArrowheads="1"/>
          </p:cNvSpPr>
          <p:nvPr/>
        </p:nvSpPr>
        <p:spPr bwMode="auto">
          <a:xfrm>
            <a:off x="3367088" y="5346700"/>
            <a:ext cx="111125" cy="1174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pic>
        <p:nvPicPr>
          <p:cNvPr id="18460" name="Picture 27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4684713"/>
            <a:ext cx="571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1" name="Picture 28" descr="与非门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4684713"/>
            <a:ext cx="5730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62" name="Line 29"/>
          <p:cNvSpPr>
            <a:spLocks noChangeShapeType="1"/>
          </p:cNvSpPr>
          <p:nvPr/>
        </p:nvSpPr>
        <p:spPr bwMode="auto">
          <a:xfrm>
            <a:off x="1889125" y="3933825"/>
            <a:ext cx="493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3" name="Line 30"/>
          <p:cNvSpPr>
            <a:spLocks noChangeShapeType="1"/>
          </p:cNvSpPr>
          <p:nvPr/>
        </p:nvSpPr>
        <p:spPr bwMode="auto">
          <a:xfrm>
            <a:off x="2984500" y="3990975"/>
            <a:ext cx="493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4" name="Line 31"/>
          <p:cNvSpPr>
            <a:spLocks noChangeShapeType="1"/>
          </p:cNvSpPr>
          <p:nvPr/>
        </p:nvSpPr>
        <p:spPr bwMode="auto">
          <a:xfrm>
            <a:off x="2054225" y="4627563"/>
            <a:ext cx="328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5" name="Line 32"/>
          <p:cNvSpPr>
            <a:spLocks noChangeShapeType="1"/>
          </p:cNvSpPr>
          <p:nvPr/>
        </p:nvSpPr>
        <p:spPr bwMode="auto">
          <a:xfrm>
            <a:off x="2984500" y="4627563"/>
            <a:ext cx="382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6" name="Line 33"/>
          <p:cNvSpPr>
            <a:spLocks noChangeShapeType="1"/>
          </p:cNvSpPr>
          <p:nvPr/>
        </p:nvSpPr>
        <p:spPr bwMode="auto">
          <a:xfrm>
            <a:off x="2382838" y="3933825"/>
            <a:ext cx="601662" cy="693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7" name="Line 34"/>
          <p:cNvSpPr>
            <a:spLocks noChangeShapeType="1"/>
          </p:cNvSpPr>
          <p:nvPr/>
        </p:nvSpPr>
        <p:spPr bwMode="auto">
          <a:xfrm flipH="1">
            <a:off x="2382838" y="3990975"/>
            <a:ext cx="601662" cy="636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8" name="Line 35"/>
          <p:cNvSpPr>
            <a:spLocks noChangeShapeType="1"/>
          </p:cNvSpPr>
          <p:nvPr/>
        </p:nvSpPr>
        <p:spPr bwMode="auto">
          <a:xfrm flipV="1">
            <a:off x="2054225" y="4511675"/>
            <a:ext cx="0" cy="115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9" name="Line 36"/>
          <p:cNvSpPr>
            <a:spLocks noChangeShapeType="1"/>
          </p:cNvSpPr>
          <p:nvPr/>
        </p:nvSpPr>
        <p:spPr bwMode="auto">
          <a:xfrm flipV="1">
            <a:off x="3367088" y="4511675"/>
            <a:ext cx="0" cy="115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0" name="Line 37"/>
          <p:cNvSpPr>
            <a:spLocks noChangeShapeType="1"/>
          </p:cNvSpPr>
          <p:nvPr/>
        </p:nvSpPr>
        <p:spPr bwMode="auto">
          <a:xfrm flipV="1">
            <a:off x="1889125" y="4511675"/>
            <a:ext cx="0" cy="173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1" name="Line 38"/>
          <p:cNvSpPr>
            <a:spLocks noChangeShapeType="1"/>
          </p:cNvSpPr>
          <p:nvPr/>
        </p:nvSpPr>
        <p:spPr bwMode="auto">
          <a:xfrm>
            <a:off x="3532188" y="4511675"/>
            <a:ext cx="0" cy="173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2" name="Line 39"/>
          <p:cNvSpPr>
            <a:spLocks noChangeShapeType="1"/>
          </p:cNvSpPr>
          <p:nvPr/>
        </p:nvSpPr>
        <p:spPr bwMode="auto">
          <a:xfrm>
            <a:off x="1779588" y="5114925"/>
            <a:ext cx="0" cy="693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3" name="Line 40"/>
          <p:cNvSpPr>
            <a:spLocks noChangeShapeType="1"/>
          </p:cNvSpPr>
          <p:nvPr/>
        </p:nvSpPr>
        <p:spPr bwMode="auto">
          <a:xfrm>
            <a:off x="3641725" y="5114925"/>
            <a:ext cx="0" cy="636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4" name="Text Box 41"/>
          <p:cNvSpPr txBox="1">
            <a:spLocks noChangeArrowheads="1"/>
          </p:cNvSpPr>
          <p:nvPr/>
        </p:nvSpPr>
        <p:spPr bwMode="auto">
          <a:xfrm>
            <a:off x="1476375" y="5578475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R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18475" name="Text Box 42"/>
          <p:cNvSpPr txBox="1">
            <a:spLocks noChangeArrowheads="1"/>
          </p:cNvSpPr>
          <p:nvPr/>
        </p:nvSpPr>
        <p:spPr bwMode="auto">
          <a:xfrm>
            <a:off x="3644900" y="5576888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S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18476" name="Text Box 43"/>
          <p:cNvSpPr txBox="1">
            <a:spLocks noChangeArrowheads="1"/>
          </p:cNvSpPr>
          <p:nvPr/>
        </p:nvSpPr>
        <p:spPr bwMode="auto">
          <a:xfrm>
            <a:off x="1584325" y="1828800"/>
            <a:ext cx="4111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_</a:t>
            </a:r>
            <a:endParaRPr lang="en-US" altLang="zh-CN" sz="2400">
              <a:latin typeface="Georgia" panose="020405020504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18477" name="Text Box 44"/>
          <p:cNvSpPr txBox="1">
            <a:spLocks noChangeArrowheads="1"/>
          </p:cNvSpPr>
          <p:nvPr/>
        </p:nvSpPr>
        <p:spPr bwMode="auto">
          <a:xfrm>
            <a:off x="3392488" y="2084388"/>
            <a:ext cx="411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grpSp>
        <p:nvGrpSpPr>
          <p:cNvPr id="526381" name="Group 45"/>
          <p:cNvGrpSpPr/>
          <p:nvPr/>
        </p:nvGrpSpPr>
        <p:grpSpPr bwMode="auto">
          <a:xfrm>
            <a:off x="250825" y="2476500"/>
            <a:ext cx="1225550" cy="2952750"/>
            <a:chOff x="793" y="1616"/>
            <a:chExt cx="772" cy="1860"/>
          </a:xfrm>
        </p:grpSpPr>
        <p:sp>
          <p:nvSpPr>
            <p:cNvPr id="18494" name="AutoShape 46"/>
            <p:cNvSpPr/>
            <p:nvPr/>
          </p:nvSpPr>
          <p:spPr bwMode="auto">
            <a:xfrm>
              <a:off x="1339" y="1616"/>
              <a:ext cx="226" cy="726"/>
            </a:xfrm>
            <a:prstGeom prst="leftBrace">
              <a:avLst>
                <a:gd name="adj1" fmla="val 2677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495" name="AutoShape 47"/>
            <p:cNvSpPr/>
            <p:nvPr/>
          </p:nvSpPr>
          <p:spPr bwMode="auto">
            <a:xfrm>
              <a:off x="1339" y="2750"/>
              <a:ext cx="226" cy="726"/>
            </a:xfrm>
            <a:prstGeom prst="leftBrace">
              <a:avLst>
                <a:gd name="adj1" fmla="val 2677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496" name="Text Box 48"/>
            <p:cNvSpPr txBox="1">
              <a:spLocks noChangeArrowheads="1"/>
            </p:cNvSpPr>
            <p:nvPr/>
          </p:nvSpPr>
          <p:spPr bwMode="auto">
            <a:xfrm>
              <a:off x="793" y="1797"/>
              <a:ext cx="5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Georgia" panose="02040502050405020303" pitchFamily="18" charset="0"/>
                </a:rPr>
                <a:t>从</a:t>
              </a:r>
              <a:r>
                <a:rPr lang="en-US" altLang="zh-CN" sz="2400">
                  <a:latin typeface="Georgia" panose="02040502050405020303" pitchFamily="18" charset="0"/>
                </a:rPr>
                <a:t>FF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18497" name="Text Box 49"/>
            <p:cNvSpPr txBox="1">
              <a:spLocks noChangeArrowheads="1"/>
            </p:cNvSpPr>
            <p:nvPr/>
          </p:nvSpPr>
          <p:spPr bwMode="auto">
            <a:xfrm>
              <a:off x="793" y="2961"/>
              <a:ext cx="5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Georgia" panose="02040502050405020303" pitchFamily="18" charset="0"/>
                </a:rPr>
                <a:t>主</a:t>
              </a:r>
              <a:r>
                <a:rPr lang="en-US" altLang="zh-CN" sz="2400">
                  <a:latin typeface="Georgia" panose="02040502050405020303" pitchFamily="18" charset="0"/>
                </a:rPr>
                <a:t>FF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18479" name="Text Box 50"/>
          <p:cNvSpPr txBox="1">
            <a:spLocks noChangeArrowheads="1"/>
          </p:cNvSpPr>
          <p:nvPr/>
        </p:nvSpPr>
        <p:spPr bwMode="auto">
          <a:xfrm>
            <a:off x="5029200" y="2362200"/>
            <a:ext cx="34417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由两个</a:t>
            </a:r>
            <a:r>
              <a:rPr lang="en-US" altLang="zh-CN" sz="2400" b="1" dirty="0">
                <a:latin typeface="Georgia" panose="02040502050405020303" pitchFamily="18" charset="0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</a:rPr>
              <a:t>电位触发器组成。</a:t>
            </a:r>
            <a:endParaRPr lang="zh-CN" altLang="en-US" sz="2400" b="1" dirty="0">
              <a:latin typeface="Georgia" panose="02040502050405020303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正脉冲期间主触发器接受输入</a:t>
            </a:r>
            <a:r>
              <a:rPr lang="en-US" altLang="zh-CN" sz="2400" b="1" dirty="0">
                <a:latin typeface="Georgia" panose="02040502050405020303" pitchFamily="18" charset="0"/>
              </a:rPr>
              <a:t>,</a:t>
            </a:r>
            <a:r>
              <a:rPr lang="zh-CN" altLang="en-US" sz="2400" b="1" dirty="0">
                <a:latin typeface="Georgia" panose="02040502050405020303" pitchFamily="18" charset="0"/>
              </a:rPr>
              <a:t>从触发器关闭</a:t>
            </a:r>
            <a:r>
              <a:rPr lang="en-US" altLang="zh-CN" sz="2400" b="1" dirty="0">
                <a:latin typeface="Georgia" panose="02040502050405020303" pitchFamily="18" charset="0"/>
              </a:rPr>
              <a:t>;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grpSp>
        <p:nvGrpSpPr>
          <p:cNvPr id="18480" name="Group 51"/>
          <p:cNvGrpSpPr/>
          <p:nvPr/>
        </p:nvGrpSpPr>
        <p:grpSpPr bwMode="auto">
          <a:xfrm>
            <a:off x="1943100" y="3702050"/>
            <a:ext cx="2857500" cy="2374900"/>
            <a:chOff x="1224" y="2332"/>
            <a:chExt cx="1800" cy="1496"/>
          </a:xfrm>
        </p:grpSpPr>
        <p:sp>
          <p:nvSpPr>
            <p:cNvPr id="18481" name="Line 52"/>
            <p:cNvSpPr>
              <a:spLocks noChangeShapeType="1"/>
            </p:cNvSpPr>
            <p:nvPr/>
          </p:nvSpPr>
          <p:spPr bwMode="auto">
            <a:xfrm>
              <a:off x="1673" y="3405"/>
              <a:ext cx="0" cy="42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Line 53"/>
            <p:cNvSpPr>
              <a:spLocks noChangeShapeType="1"/>
            </p:cNvSpPr>
            <p:nvPr/>
          </p:nvSpPr>
          <p:spPr bwMode="auto">
            <a:xfrm>
              <a:off x="1328" y="2332"/>
              <a:ext cx="0" cy="109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Line 54"/>
            <p:cNvSpPr>
              <a:spLocks noChangeShapeType="1"/>
            </p:cNvSpPr>
            <p:nvPr/>
          </p:nvSpPr>
          <p:spPr bwMode="auto">
            <a:xfrm>
              <a:off x="1328" y="2441"/>
              <a:ext cx="1499" cy="1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Line 55"/>
            <p:cNvSpPr>
              <a:spLocks noChangeShapeType="1"/>
            </p:cNvSpPr>
            <p:nvPr/>
          </p:nvSpPr>
          <p:spPr bwMode="auto">
            <a:xfrm>
              <a:off x="2053" y="2332"/>
              <a:ext cx="0" cy="109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Oval 56"/>
            <p:cNvSpPr>
              <a:spLocks noChangeAspect="1" noChangeArrowheads="1"/>
            </p:cNvSpPr>
            <p:nvPr/>
          </p:nvSpPr>
          <p:spPr bwMode="auto">
            <a:xfrm>
              <a:off x="1638" y="3368"/>
              <a:ext cx="69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FF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486" name="Line 57"/>
            <p:cNvSpPr>
              <a:spLocks noChangeShapeType="1"/>
            </p:cNvSpPr>
            <p:nvPr/>
          </p:nvSpPr>
          <p:spPr bwMode="auto">
            <a:xfrm>
              <a:off x="1224" y="3222"/>
              <a:ext cx="0" cy="18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Line 58"/>
            <p:cNvSpPr>
              <a:spLocks noChangeShapeType="1"/>
            </p:cNvSpPr>
            <p:nvPr/>
          </p:nvSpPr>
          <p:spPr bwMode="auto">
            <a:xfrm>
              <a:off x="1224" y="3405"/>
              <a:ext cx="1608" cy="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Line 59"/>
            <p:cNvSpPr>
              <a:spLocks noChangeShapeType="1"/>
            </p:cNvSpPr>
            <p:nvPr/>
          </p:nvSpPr>
          <p:spPr bwMode="auto">
            <a:xfrm>
              <a:off x="2156" y="3222"/>
              <a:ext cx="0" cy="18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Line 60"/>
            <p:cNvSpPr>
              <a:spLocks noChangeShapeType="1"/>
            </p:cNvSpPr>
            <p:nvPr/>
          </p:nvSpPr>
          <p:spPr bwMode="auto">
            <a:xfrm>
              <a:off x="2827" y="2457"/>
              <a:ext cx="0" cy="18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Line 61"/>
            <p:cNvSpPr>
              <a:spLocks noChangeShapeType="1"/>
            </p:cNvSpPr>
            <p:nvPr/>
          </p:nvSpPr>
          <p:spPr bwMode="auto">
            <a:xfrm flipV="1">
              <a:off x="2832" y="2976"/>
              <a:ext cx="0" cy="432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91" name="Group 62"/>
            <p:cNvGrpSpPr/>
            <p:nvPr/>
          </p:nvGrpSpPr>
          <p:grpSpPr bwMode="auto">
            <a:xfrm>
              <a:off x="2640" y="2640"/>
              <a:ext cx="384" cy="336"/>
              <a:chOff x="3168" y="3552"/>
              <a:chExt cx="384" cy="336"/>
            </a:xfrm>
          </p:grpSpPr>
          <p:sp>
            <p:nvSpPr>
              <p:cNvPr id="18492" name="Rectangle 63"/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384" cy="240"/>
              </a:xfrm>
              <a:prstGeom prst="rect">
                <a:avLst/>
              </a:prstGeom>
              <a:noFill/>
              <a:ln w="9525">
                <a:solidFill>
                  <a:srgbClr val="FFFF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493" name="Oval 64"/>
              <p:cNvSpPr>
                <a:spLocks noChangeArrowheads="1"/>
              </p:cNvSpPr>
              <p:nvPr/>
            </p:nvSpPr>
            <p:spPr bwMode="auto">
              <a:xfrm>
                <a:off x="3312" y="3552"/>
                <a:ext cx="96" cy="96"/>
              </a:xfrm>
              <a:prstGeom prst="ellipse">
                <a:avLst/>
              </a:prstGeom>
              <a:noFill/>
              <a:ln w="952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5018590" y="4234660"/>
            <a:ext cx="32051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Georgia" panose="02040502050405020303" pitchFamily="18" charset="0"/>
              </a:rPr>
              <a:t>负脉冲期间主触发器状态打入从触发器</a:t>
            </a:r>
            <a:r>
              <a:rPr lang="en-US" altLang="zh-CN" sz="2400" b="1" dirty="0">
                <a:latin typeface="Georgia" panose="02040502050405020303" pitchFamily="18" charset="0"/>
              </a:rPr>
              <a:t>,</a:t>
            </a:r>
            <a:r>
              <a:rPr lang="zh-CN" altLang="en-US" sz="2400" b="1" dirty="0">
                <a:latin typeface="Georgia" panose="02040502050405020303" pitchFamily="18" charset="0"/>
              </a:rPr>
              <a:t>从而保证稳定接受。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9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02413" y="6265863"/>
            <a:ext cx="1905000" cy="457200"/>
          </a:xfrm>
        </p:spPr>
        <p:txBody>
          <a:bodyPr/>
          <a:lstStyle/>
          <a:p>
            <a:pPr>
              <a:defRPr/>
            </a:pPr>
            <a:fld id="{0BDA882F-56F0-48E6-B61E-9F496255DAC7}" type="slidenum">
              <a:rPr lang="en-US" altLang="zh-CN"/>
            </a:fld>
            <a:endParaRPr lang="en-US" altLang="zh-CN" dirty="0"/>
          </a:p>
        </p:txBody>
      </p:sp>
      <p:grpSp>
        <p:nvGrpSpPr>
          <p:cNvPr id="63491" name="Group 2"/>
          <p:cNvGrpSpPr/>
          <p:nvPr/>
        </p:nvGrpSpPr>
        <p:grpSpPr bwMode="auto">
          <a:xfrm>
            <a:off x="4648200" y="990600"/>
            <a:ext cx="4302125" cy="2727325"/>
            <a:chOff x="2928" y="1440"/>
            <a:chExt cx="2710" cy="1718"/>
          </a:xfrm>
        </p:grpSpPr>
        <p:sp>
          <p:nvSpPr>
            <p:cNvPr id="63589" name="Text Box 3"/>
            <p:cNvSpPr txBox="1">
              <a:spLocks noChangeArrowheads="1"/>
            </p:cNvSpPr>
            <p:nvPr/>
          </p:nvSpPr>
          <p:spPr bwMode="auto">
            <a:xfrm>
              <a:off x="3064" y="1440"/>
              <a:ext cx="1880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                        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R    S    CP       Q’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1     0                0     1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0     1                1      0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     0               Q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r>
                <a:rPr lang="en-US" altLang="zh-CN" sz="2400">
                  <a:latin typeface="Georgia" panose="02040502050405020303" pitchFamily="18" charset="0"/>
                </a:rPr>
                <a:t>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1      1                1      1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3590" name="Line 4"/>
            <p:cNvSpPr>
              <a:spLocks noChangeShapeType="1"/>
            </p:cNvSpPr>
            <p:nvPr/>
          </p:nvSpPr>
          <p:spPr bwMode="auto">
            <a:xfrm>
              <a:off x="2928" y="1939"/>
              <a:ext cx="19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91" name="Line 5"/>
            <p:cNvSpPr>
              <a:spLocks noChangeShapeType="1"/>
            </p:cNvSpPr>
            <p:nvPr/>
          </p:nvSpPr>
          <p:spPr bwMode="auto">
            <a:xfrm>
              <a:off x="4152" y="1622"/>
              <a:ext cx="1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592" name="Group 6"/>
            <p:cNvGrpSpPr/>
            <p:nvPr/>
          </p:nvGrpSpPr>
          <p:grpSpPr bwMode="auto">
            <a:xfrm>
              <a:off x="3653" y="2257"/>
              <a:ext cx="435" cy="91"/>
              <a:chOff x="3696" y="1933"/>
              <a:chExt cx="409" cy="136"/>
            </a:xfrm>
          </p:grpSpPr>
          <p:sp>
            <p:nvSpPr>
              <p:cNvPr id="63616" name="Line 7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7" name="Line 8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8" name="Line 9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9" name="Line 10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20" name="Line 11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593" name="Group 12"/>
            <p:cNvGrpSpPr/>
            <p:nvPr/>
          </p:nvGrpSpPr>
          <p:grpSpPr bwMode="auto">
            <a:xfrm>
              <a:off x="3653" y="2483"/>
              <a:ext cx="435" cy="91"/>
              <a:chOff x="3696" y="1933"/>
              <a:chExt cx="409" cy="136"/>
            </a:xfrm>
          </p:grpSpPr>
          <p:sp>
            <p:nvSpPr>
              <p:cNvPr id="63611" name="Line 13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2" name="Line 14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3" name="Line 15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4" name="Line 16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5" name="Line 17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594" name="Group 18"/>
            <p:cNvGrpSpPr/>
            <p:nvPr/>
          </p:nvGrpSpPr>
          <p:grpSpPr bwMode="auto">
            <a:xfrm>
              <a:off x="3653" y="2710"/>
              <a:ext cx="435" cy="91"/>
              <a:chOff x="3696" y="1933"/>
              <a:chExt cx="409" cy="136"/>
            </a:xfrm>
          </p:grpSpPr>
          <p:sp>
            <p:nvSpPr>
              <p:cNvPr id="63606" name="Line 19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7" name="Line 20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8" name="Line 21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9" name="Line 22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0" name="Line 23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595" name="Group 24"/>
            <p:cNvGrpSpPr/>
            <p:nvPr/>
          </p:nvGrpSpPr>
          <p:grpSpPr bwMode="auto">
            <a:xfrm>
              <a:off x="3653" y="2030"/>
              <a:ext cx="435" cy="91"/>
              <a:chOff x="3696" y="1933"/>
              <a:chExt cx="409" cy="136"/>
            </a:xfrm>
          </p:grpSpPr>
          <p:sp>
            <p:nvSpPr>
              <p:cNvPr id="63601" name="Line 25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2" name="Line 26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3" name="Line 27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4" name="Line 28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5" name="Line 29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63596" name="Object 30"/>
            <p:cNvGraphicFramePr>
              <a:graphicFrameLocks noChangeAspect="1"/>
            </p:cNvGraphicFramePr>
            <p:nvPr/>
          </p:nvGraphicFramePr>
          <p:xfrm>
            <a:off x="4561" y="2393"/>
            <a:ext cx="32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1" imgW="116205" imgH="116205" progId="Equation.3">
                    <p:embed/>
                  </p:oleObj>
                </mc:Choice>
                <mc:Fallback>
                  <p:oleObj name="公式" r:id="rId1" imgW="116205" imgH="11620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1" y="2393"/>
                          <a:ext cx="321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97" name="AutoShape 31"/>
            <p:cNvSpPr/>
            <p:nvPr/>
          </p:nvSpPr>
          <p:spPr bwMode="auto">
            <a:xfrm>
              <a:off x="5060" y="1712"/>
              <a:ext cx="576" cy="254"/>
            </a:xfrm>
            <a:prstGeom prst="borderCallout1">
              <a:avLst>
                <a:gd name="adj1" fmla="val 28347"/>
                <a:gd name="adj2" fmla="val -8333"/>
                <a:gd name="adj3" fmla="val 171259"/>
                <a:gd name="adj4" fmla="val -39931"/>
              </a:avLst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>
                  <a:latin typeface="Georgia" panose="02040502050405020303" pitchFamily="18" charset="0"/>
                </a:rPr>
                <a:t>Store</a:t>
              </a:r>
              <a:endParaRPr lang="en-US" altLang="zh-CN" sz="1800" b="1">
                <a:latin typeface="Georgia" panose="02040502050405020303" pitchFamily="18" charset="0"/>
              </a:endParaRPr>
            </a:p>
          </p:txBody>
        </p:sp>
        <p:sp>
          <p:nvSpPr>
            <p:cNvPr id="63598" name="AutoShape 32"/>
            <p:cNvSpPr/>
            <p:nvPr/>
          </p:nvSpPr>
          <p:spPr bwMode="auto">
            <a:xfrm>
              <a:off x="5062" y="2296"/>
              <a:ext cx="576" cy="253"/>
            </a:xfrm>
            <a:prstGeom prst="borderCallout1">
              <a:avLst>
                <a:gd name="adj1" fmla="val 28458"/>
                <a:gd name="adj2" fmla="val -8333"/>
                <a:gd name="adj3" fmla="val 109880"/>
                <a:gd name="adj4" fmla="val -39759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>
                  <a:latin typeface="Georgia" panose="02040502050405020303" pitchFamily="18" charset="0"/>
                </a:rPr>
                <a:t>Hold</a:t>
              </a:r>
              <a:endParaRPr lang="en-US" altLang="zh-CN" sz="1800" b="1">
                <a:latin typeface="Georgia" panose="02040502050405020303" pitchFamily="18" charset="0"/>
              </a:endParaRPr>
            </a:p>
          </p:txBody>
        </p:sp>
        <p:sp>
          <p:nvSpPr>
            <p:cNvPr id="63599" name="AutoShape 33"/>
            <p:cNvSpPr/>
            <p:nvPr/>
          </p:nvSpPr>
          <p:spPr bwMode="auto">
            <a:xfrm>
              <a:off x="5062" y="2956"/>
              <a:ext cx="576" cy="202"/>
            </a:xfrm>
            <a:prstGeom prst="borderCallout1">
              <a:avLst>
                <a:gd name="adj1" fmla="val 18750"/>
                <a:gd name="adj2" fmla="val -8333"/>
                <a:gd name="adj3" fmla="val -40366"/>
                <a:gd name="adj4" fmla="val -47745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>
                  <a:latin typeface="Georgia" panose="02040502050405020303" pitchFamily="18" charset="0"/>
                </a:rPr>
                <a:t>不允许</a:t>
              </a:r>
              <a:endParaRPr lang="zh-CN" altLang="en-US" sz="1800" b="1">
                <a:latin typeface="Georgia" panose="02040502050405020303" pitchFamily="18" charset="0"/>
              </a:endParaRPr>
            </a:p>
          </p:txBody>
        </p:sp>
        <p:sp>
          <p:nvSpPr>
            <p:cNvPr id="63600" name="Text Box 34"/>
            <p:cNvSpPr txBox="1">
              <a:spLocks noChangeArrowheads="1"/>
            </p:cNvSpPr>
            <p:nvPr/>
          </p:nvSpPr>
          <p:spPr bwMode="auto">
            <a:xfrm>
              <a:off x="4560" y="1440"/>
              <a:ext cx="30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Q’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27395" name="Rectangle 35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6921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触发器</a:t>
            </a:r>
            <a:endParaRPr lang="zh-CN" altLang="en-US" sz="3600"/>
          </a:p>
        </p:txBody>
      </p:sp>
      <p:grpSp>
        <p:nvGrpSpPr>
          <p:cNvPr id="63493" name="Group 134"/>
          <p:cNvGrpSpPr/>
          <p:nvPr/>
        </p:nvGrpSpPr>
        <p:grpSpPr bwMode="auto">
          <a:xfrm>
            <a:off x="212725" y="1143000"/>
            <a:ext cx="4549775" cy="5105400"/>
            <a:chOff x="134" y="720"/>
            <a:chExt cx="2866" cy="3216"/>
          </a:xfrm>
        </p:grpSpPr>
        <p:sp>
          <p:nvSpPr>
            <p:cNvPr id="63525" name="Text Box 36"/>
            <p:cNvSpPr txBox="1">
              <a:spLocks noChangeArrowheads="1"/>
            </p:cNvSpPr>
            <p:nvPr/>
          </p:nvSpPr>
          <p:spPr bwMode="auto">
            <a:xfrm>
              <a:off x="720" y="3648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>
                  <a:latin typeface="Georgia" panose="02040502050405020303" pitchFamily="18" charset="0"/>
                </a:rPr>
                <a:t>主从</a:t>
              </a:r>
              <a:r>
                <a:rPr lang="en-US" altLang="zh-CN" sz="2400" b="1">
                  <a:latin typeface="Georgia" panose="02040502050405020303" pitchFamily="18" charset="0"/>
                </a:rPr>
                <a:t>R-S</a:t>
              </a:r>
              <a:r>
                <a:rPr lang="zh-CN" altLang="en-US" sz="2400" b="1">
                  <a:latin typeface="Georgia" panose="02040502050405020303" pitchFamily="18" charset="0"/>
                </a:rPr>
                <a:t>触发器</a:t>
              </a:r>
              <a:endParaRPr lang="zh-CN" altLang="en-US" sz="2400" b="1">
                <a:latin typeface="Georgia" panose="02040502050405020303" pitchFamily="18" charset="0"/>
              </a:endParaRPr>
            </a:p>
          </p:txBody>
        </p:sp>
        <p:grpSp>
          <p:nvGrpSpPr>
            <p:cNvPr id="63526" name="Group 133"/>
            <p:cNvGrpSpPr/>
            <p:nvPr/>
          </p:nvGrpSpPr>
          <p:grpSpPr bwMode="auto">
            <a:xfrm>
              <a:off x="134" y="720"/>
              <a:ext cx="2866" cy="2752"/>
              <a:chOff x="134" y="720"/>
              <a:chExt cx="2866" cy="2752"/>
            </a:xfrm>
          </p:grpSpPr>
          <p:sp>
            <p:nvSpPr>
              <p:cNvPr id="63527" name="Text Box 37"/>
              <p:cNvSpPr txBox="1">
                <a:spLocks noChangeArrowheads="1"/>
              </p:cNvSpPr>
              <p:nvPr/>
            </p:nvSpPr>
            <p:spPr bwMode="auto">
              <a:xfrm>
                <a:off x="1718" y="318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pic>
            <p:nvPicPr>
              <p:cNvPr id="63528" name="Picture 38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7" y="1211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29" name="Picture 39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8" y="1629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0" name="Picture 40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5" y="1629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1" name="Picture 41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9" y="2138"/>
                <a:ext cx="36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2" name="Picture 42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" y="2138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3" name="Picture 43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0" y="1211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534" name="Line 44"/>
              <p:cNvSpPr>
                <a:spLocks noChangeShapeType="1"/>
              </p:cNvSpPr>
              <p:nvPr/>
            </p:nvSpPr>
            <p:spPr bwMode="auto">
              <a:xfrm flipV="1">
                <a:off x="1270" y="1010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5" name="Line 45"/>
              <p:cNvSpPr>
                <a:spLocks noChangeShapeType="1"/>
              </p:cNvSpPr>
              <p:nvPr/>
            </p:nvSpPr>
            <p:spPr bwMode="auto">
              <a:xfrm flipV="1">
                <a:off x="2063" y="1010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6" name="Line 46"/>
              <p:cNvSpPr>
                <a:spLocks noChangeShapeType="1"/>
              </p:cNvSpPr>
              <p:nvPr/>
            </p:nvSpPr>
            <p:spPr bwMode="auto">
              <a:xfrm>
                <a:off x="1270" y="1119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7" name="Line 47"/>
              <p:cNvSpPr>
                <a:spLocks noChangeShapeType="1"/>
              </p:cNvSpPr>
              <p:nvPr/>
            </p:nvSpPr>
            <p:spPr bwMode="auto">
              <a:xfrm flipH="1">
                <a:off x="1821" y="1119"/>
                <a:ext cx="2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8" name="Line 48"/>
              <p:cNvSpPr>
                <a:spLocks noChangeShapeType="1"/>
              </p:cNvSpPr>
              <p:nvPr/>
            </p:nvSpPr>
            <p:spPr bwMode="auto">
              <a:xfrm flipH="1">
                <a:off x="1546" y="1119"/>
                <a:ext cx="275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9" name="Line 49"/>
              <p:cNvSpPr>
                <a:spLocks noChangeShapeType="1"/>
              </p:cNvSpPr>
              <p:nvPr/>
            </p:nvSpPr>
            <p:spPr bwMode="auto">
              <a:xfrm>
                <a:off x="1511" y="1119"/>
                <a:ext cx="310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0" name="Line 50"/>
              <p:cNvSpPr>
                <a:spLocks noChangeShapeType="1"/>
              </p:cNvSpPr>
              <p:nvPr/>
            </p:nvSpPr>
            <p:spPr bwMode="auto">
              <a:xfrm>
                <a:off x="1821" y="1592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1" name="Line 51"/>
              <p:cNvSpPr>
                <a:spLocks noChangeShapeType="1"/>
              </p:cNvSpPr>
              <p:nvPr/>
            </p:nvSpPr>
            <p:spPr bwMode="auto">
              <a:xfrm flipH="1">
                <a:off x="1373" y="1592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2" name="Line 52"/>
              <p:cNvSpPr>
                <a:spLocks noChangeShapeType="1"/>
              </p:cNvSpPr>
              <p:nvPr/>
            </p:nvSpPr>
            <p:spPr bwMode="auto">
              <a:xfrm flipV="1">
                <a:off x="1373" y="1483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3" name="Line 53"/>
              <p:cNvSpPr>
                <a:spLocks noChangeShapeType="1"/>
              </p:cNvSpPr>
              <p:nvPr/>
            </p:nvSpPr>
            <p:spPr bwMode="auto">
              <a:xfrm flipV="1">
                <a:off x="1994" y="1483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4" name="Line 54"/>
              <p:cNvSpPr>
                <a:spLocks noChangeShapeType="1"/>
              </p:cNvSpPr>
              <p:nvPr/>
            </p:nvSpPr>
            <p:spPr bwMode="auto">
              <a:xfrm flipV="1">
                <a:off x="1166" y="1920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5" name="Line 55"/>
              <p:cNvSpPr>
                <a:spLocks noChangeShapeType="1"/>
              </p:cNvSpPr>
              <p:nvPr/>
            </p:nvSpPr>
            <p:spPr bwMode="auto">
              <a:xfrm flipV="1">
                <a:off x="2167" y="1920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6" name="Line 56"/>
              <p:cNvSpPr>
                <a:spLocks noChangeShapeType="1"/>
              </p:cNvSpPr>
              <p:nvPr/>
            </p:nvSpPr>
            <p:spPr bwMode="auto">
              <a:xfrm flipV="1">
                <a:off x="2097" y="1483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7" name="Line 57"/>
              <p:cNvSpPr>
                <a:spLocks noChangeShapeType="1"/>
              </p:cNvSpPr>
              <p:nvPr/>
            </p:nvSpPr>
            <p:spPr bwMode="auto">
              <a:xfrm flipV="1">
                <a:off x="1200" y="1483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8" name="Oval 58"/>
              <p:cNvSpPr>
                <a:spLocks noChangeAspect="1" noChangeArrowheads="1"/>
              </p:cNvSpPr>
              <p:nvPr/>
            </p:nvSpPr>
            <p:spPr bwMode="auto">
              <a:xfrm>
                <a:off x="1994" y="1993"/>
                <a:ext cx="69" cy="7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3549" name="Oval 59"/>
              <p:cNvSpPr>
                <a:spLocks noChangeAspect="1" noChangeArrowheads="1"/>
              </p:cNvSpPr>
              <p:nvPr/>
            </p:nvSpPr>
            <p:spPr bwMode="auto">
              <a:xfrm>
                <a:off x="2097" y="2956"/>
                <a:ext cx="70" cy="7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pic>
            <p:nvPicPr>
              <p:cNvPr id="63550" name="Picture 60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9" y="2539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51" name="Picture 61" descr="与非门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" y="2539"/>
                <a:ext cx="36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552" name="Line 62"/>
              <p:cNvSpPr>
                <a:spLocks noChangeShapeType="1"/>
              </p:cNvSpPr>
              <p:nvPr/>
            </p:nvSpPr>
            <p:spPr bwMode="auto">
              <a:xfrm>
                <a:off x="1166" y="2066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3" name="Line 63"/>
              <p:cNvSpPr>
                <a:spLocks noChangeShapeType="1"/>
              </p:cNvSpPr>
              <p:nvPr/>
            </p:nvSpPr>
            <p:spPr bwMode="auto">
              <a:xfrm>
                <a:off x="1856" y="2102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4" name="Line 64"/>
              <p:cNvSpPr>
                <a:spLocks noChangeShapeType="1"/>
              </p:cNvSpPr>
              <p:nvPr/>
            </p:nvSpPr>
            <p:spPr bwMode="auto">
              <a:xfrm>
                <a:off x="1270" y="2503"/>
                <a:ext cx="2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5" name="Line 65"/>
              <p:cNvSpPr>
                <a:spLocks noChangeShapeType="1"/>
              </p:cNvSpPr>
              <p:nvPr/>
            </p:nvSpPr>
            <p:spPr bwMode="auto">
              <a:xfrm>
                <a:off x="1856" y="2503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6" name="Line 66"/>
              <p:cNvSpPr>
                <a:spLocks noChangeShapeType="1"/>
              </p:cNvSpPr>
              <p:nvPr/>
            </p:nvSpPr>
            <p:spPr bwMode="auto">
              <a:xfrm>
                <a:off x="1477" y="2066"/>
                <a:ext cx="379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7" name="Line 67"/>
              <p:cNvSpPr>
                <a:spLocks noChangeShapeType="1"/>
              </p:cNvSpPr>
              <p:nvPr/>
            </p:nvSpPr>
            <p:spPr bwMode="auto">
              <a:xfrm flipH="1">
                <a:off x="1477" y="2102"/>
                <a:ext cx="379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8" name="Line 68"/>
              <p:cNvSpPr>
                <a:spLocks noChangeShapeType="1"/>
              </p:cNvSpPr>
              <p:nvPr/>
            </p:nvSpPr>
            <p:spPr bwMode="auto">
              <a:xfrm flipV="1">
                <a:off x="1270" y="2430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9" name="Line 69"/>
              <p:cNvSpPr>
                <a:spLocks noChangeShapeType="1"/>
              </p:cNvSpPr>
              <p:nvPr/>
            </p:nvSpPr>
            <p:spPr bwMode="auto">
              <a:xfrm flipV="1">
                <a:off x="2097" y="2430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0" name="Line 70"/>
              <p:cNvSpPr>
                <a:spLocks noChangeShapeType="1"/>
              </p:cNvSpPr>
              <p:nvPr/>
            </p:nvSpPr>
            <p:spPr bwMode="auto">
              <a:xfrm flipV="1">
                <a:off x="1166" y="2430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1" name="Line 71"/>
              <p:cNvSpPr>
                <a:spLocks noChangeShapeType="1"/>
              </p:cNvSpPr>
              <p:nvPr/>
            </p:nvSpPr>
            <p:spPr bwMode="auto">
              <a:xfrm>
                <a:off x="2201" y="2430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2" name="Line 72"/>
              <p:cNvSpPr>
                <a:spLocks noChangeShapeType="1"/>
              </p:cNvSpPr>
              <p:nvPr/>
            </p:nvSpPr>
            <p:spPr bwMode="auto">
              <a:xfrm>
                <a:off x="1097" y="2810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3" name="Line 73"/>
              <p:cNvSpPr>
                <a:spLocks noChangeShapeType="1"/>
              </p:cNvSpPr>
              <p:nvPr/>
            </p:nvSpPr>
            <p:spPr bwMode="auto">
              <a:xfrm>
                <a:off x="2270" y="2810"/>
                <a:ext cx="0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4" name="Text Box 74"/>
              <p:cNvSpPr txBox="1">
                <a:spLocks noChangeArrowheads="1"/>
              </p:cNvSpPr>
              <p:nvPr/>
            </p:nvSpPr>
            <p:spPr bwMode="auto">
              <a:xfrm>
                <a:off x="906" y="3102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R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63565" name="Text Box 75"/>
              <p:cNvSpPr txBox="1">
                <a:spLocks noChangeArrowheads="1"/>
              </p:cNvSpPr>
              <p:nvPr/>
            </p:nvSpPr>
            <p:spPr bwMode="auto">
              <a:xfrm>
                <a:off x="2272" y="3101"/>
                <a:ext cx="2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S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63566" name="Text Box 76"/>
              <p:cNvSpPr txBox="1">
                <a:spLocks noChangeArrowheads="1"/>
              </p:cNvSpPr>
              <p:nvPr/>
            </p:nvSpPr>
            <p:spPr bwMode="auto">
              <a:xfrm>
                <a:off x="2113" y="901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pSp>
            <p:nvGrpSpPr>
              <p:cNvPr id="63567" name="Group 77"/>
              <p:cNvGrpSpPr/>
              <p:nvPr/>
            </p:nvGrpSpPr>
            <p:grpSpPr bwMode="auto">
              <a:xfrm>
                <a:off x="134" y="1148"/>
                <a:ext cx="772" cy="1860"/>
                <a:chOff x="793" y="1616"/>
                <a:chExt cx="772" cy="1860"/>
              </a:xfrm>
            </p:grpSpPr>
            <p:sp>
              <p:nvSpPr>
                <p:cNvPr id="63585" name="AutoShape 78"/>
                <p:cNvSpPr/>
                <p:nvPr/>
              </p:nvSpPr>
              <p:spPr bwMode="auto">
                <a:xfrm>
                  <a:off x="1339" y="1616"/>
                  <a:ext cx="226" cy="726"/>
                </a:xfrm>
                <a:prstGeom prst="leftBrace">
                  <a:avLst>
                    <a:gd name="adj1" fmla="val 26770"/>
                    <a:gd name="adj2" fmla="val 50000"/>
                  </a:avLst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3586" name="AutoShape 79"/>
                <p:cNvSpPr/>
                <p:nvPr/>
              </p:nvSpPr>
              <p:spPr bwMode="auto">
                <a:xfrm>
                  <a:off x="1339" y="2750"/>
                  <a:ext cx="226" cy="726"/>
                </a:xfrm>
                <a:prstGeom prst="leftBrace">
                  <a:avLst>
                    <a:gd name="adj1" fmla="val 26770"/>
                    <a:gd name="adj2" fmla="val 50000"/>
                  </a:avLst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3587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793" y="1797"/>
                  <a:ext cx="5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从</a:t>
                  </a:r>
                  <a:r>
                    <a:rPr lang="en-US" altLang="zh-CN" sz="2400">
                      <a:latin typeface="Georgia" panose="02040502050405020303" pitchFamily="18" charset="0"/>
                    </a:rPr>
                    <a:t>FF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3588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793" y="2961"/>
                  <a:ext cx="5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主</a:t>
                  </a:r>
                  <a:r>
                    <a:rPr lang="en-US" altLang="zh-CN" sz="2400">
                      <a:latin typeface="Georgia" panose="02040502050405020303" pitchFamily="18" charset="0"/>
                    </a:rPr>
                    <a:t>FF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63568" name="Group 82"/>
              <p:cNvGrpSpPr/>
              <p:nvPr/>
            </p:nvGrpSpPr>
            <p:grpSpPr bwMode="auto">
              <a:xfrm>
                <a:off x="1200" y="1920"/>
                <a:ext cx="1800" cy="1496"/>
                <a:chOff x="1224" y="2332"/>
                <a:chExt cx="1800" cy="1496"/>
              </a:xfrm>
            </p:grpSpPr>
            <p:sp>
              <p:nvSpPr>
                <p:cNvPr id="63572" name="Line 83"/>
                <p:cNvSpPr>
                  <a:spLocks noChangeShapeType="1"/>
                </p:cNvSpPr>
                <p:nvPr/>
              </p:nvSpPr>
              <p:spPr bwMode="auto">
                <a:xfrm>
                  <a:off x="1673" y="3405"/>
                  <a:ext cx="0" cy="42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3" name="Line 84"/>
                <p:cNvSpPr>
                  <a:spLocks noChangeShapeType="1"/>
                </p:cNvSpPr>
                <p:nvPr/>
              </p:nvSpPr>
              <p:spPr bwMode="auto">
                <a:xfrm>
                  <a:off x="1328" y="2332"/>
                  <a:ext cx="0" cy="109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4" name="Line 85"/>
                <p:cNvSpPr>
                  <a:spLocks noChangeShapeType="1"/>
                </p:cNvSpPr>
                <p:nvPr/>
              </p:nvSpPr>
              <p:spPr bwMode="auto">
                <a:xfrm>
                  <a:off x="1328" y="2441"/>
                  <a:ext cx="1499" cy="1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5" name="Line 86"/>
                <p:cNvSpPr>
                  <a:spLocks noChangeShapeType="1"/>
                </p:cNvSpPr>
                <p:nvPr/>
              </p:nvSpPr>
              <p:spPr bwMode="auto">
                <a:xfrm>
                  <a:off x="2053" y="2332"/>
                  <a:ext cx="0" cy="109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6" name="Oval 87"/>
                <p:cNvSpPr>
                  <a:spLocks noChangeAspect="1" noChangeArrowheads="1"/>
                </p:cNvSpPr>
                <p:nvPr/>
              </p:nvSpPr>
              <p:spPr bwMode="auto">
                <a:xfrm>
                  <a:off x="1638" y="3368"/>
                  <a:ext cx="69" cy="7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3577" name="Line 88"/>
                <p:cNvSpPr>
                  <a:spLocks noChangeShapeType="1"/>
                </p:cNvSpPr>
                <p:nvPr/>
              </p:nvSpPr>
              <p:spPr bwMode="auto">
                <a:xfrm>
                  <a:off x="1224" y="3222"/>
                  <a:ext cx="0" cy="18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8" name="Line 89"/>
                <p:cNvSpPr>
                  <a:spLocks noChangeShapeType="1"/>
                </p:cNvSpPr>
                <p:nvPr/>
              </p:nvSpPr>
              <p:spPr bwMode="auto">
                <a:xfrm>
                  <a:off x="1224" y="3405"/>
                  <a:ext cx="1608" cy="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9" name="Line 90"/>
                <p:cNvSpPr>
                  <a:spLocks noChangeShapeType="1"/>
                </p:cNvSpPr>
                <p:nvPr/>
              </p:nvSpPr>
              <p:spPr bwMode="auto">
                <a:xfrm>
                  <a:off x="2156" y="3222"/>
                  <a:ext cx="0" cy="186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80" name="Line 91"/>
                <p:cNvSpPr>
                  <a:spLocks noChangeShapeType="1"/>
                </p:cNvSpPr>
                <p:nvPr/>
              </p:nvSpPr>
              <p:spPr bwMode="auto">
                <a:xfrm>
                  <a:off x="2827" y="2457"/>
                  <a:ext cx="0" cy="18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81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2832" y="297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3582" name="Group 93"/>
                <p:cNvGrpSpPr/>
                <p:nvPr/>
              </p:nvGrpSpPr>
              <p:grpSpPr bwMode="auto">
                <a:xfrm>
                  <a:off x="2640" y="2640"/>
                  <a:ext cx="384" cy="336"/>
                  <a:chOff x="3168" y="3552"/>
                  <a:chExt cx="384" cy="336"/>
                </a:xfrm>
              </p:grpSpPr>
              <p:sp>
                <p:nvSpPr>
                  <p:cNvPr id="63583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3648"/>
                    <a:ext cx="384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FFFF0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Char char="–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63584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3312" y="355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rgbClr val="FFFF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Char char="–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</p:grpSp>
          </p:grpSp>
          <p:sp>
            <p:nvSpPr>
              <p:cNvPr id="63569" name="Text Box 96"/>
              <p:cNvSpPr txBox="1">
                <a:spLocks noChangeArrowheads="1"/>
              </p:cNvSpPr>
              <p:nvPr/>
            </p:nvSpPr>
            <p:spPr bwMode="auto">
              <a:xfrm>
                <a:off x="1008" y="720"/>
                <a:ext cx="259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_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63570" name="Rectangle 97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30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  <a:latin typeface="Georgia" panose="02040502050405020303" pitchFamily="18" charset="0"/>
                  </a:rPr>
                  <a:t>Q’</a:t>
                </a:r>
                <a:endParaRPr lang="en-US" altLang="zh-CN" sz="2400">
                  <a:solidFill>
                    <a:srgbClr val="FFFF00"/>
                  </a:solidFill>
                  <a:latin typeface="Georgia" panose="02040502050405020303" pitchFamily="18" charset="0"/>
                </a:endParaRPr>
              </a:p>
            </p:txBody>
          </p:sp>
          <p:sp>
            <p:nvSpPr>
              <p:cNvPr id="63571" name="Text Box 98"/>
              <p:cNvSpPr txBox="1">
                <a:spLocks noChangeArrowheads="1"/>
              </p:cNvSpPr>
              <p:nvPr/>
            </p:nvSpPr>
            <p:spPr bwMode="auto">
              <a:xfrm>
                <a:off x="897" y="1738"/>
                <a:ext cx="303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  <a:latin typeface="Georgia" panose="02040502050405020303" pitchFamily="18" charset="0"/>
                  </a:rPr>
                  <a:t>_</a:t>
                </a:r>
                <a:endParaRPr lang="en-US" altLang="zh-CN" sz="2400">
                  <a:solidFill>
                    <a:srgbClr val="FFFF00"/>
                  </a:solidFill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  <a:latin typeface="Georgia" panose="02040502050405020303" pitchFamily="18" charset="0"/>
                  </a:rPr>
                  <a:t>Q’</a:t>
                </a:r>
                <a:endParaRPr lang="en-US" altLang="zh-CN" sz="2400">
                  <a:solidFill>
                    <a:srgbClr val="FFFF00"/>
                  </a:solidFill>
                  <a:latin typeface="Georgia" panose="02040502050405020303" pitchFamily="18" charset="0"/>
                </a:endParaRPr>
              </a:p>
            </p:txBody>
          </p:sp>
        </p:grpSp>
      </p:grpSp>
      <p:grpSp>
        <p:nvGrpSpPr>
          <p:cNvPr id="527492" name="Group 132"/>
          <p:cNvGrpSpPr/>
          <p:nvPr/>
        </p:nvGrpSpPr>
        <p:grpSpPr bwMode="auto">
          <a:xfrm>
            <a:off x="4659313" y="3429000"/>
            <a:ext cx="3200400" cy="2308225"/>
            <a:chOff x="3120" y="2532"/>
            <a:chExt cx="2016" cy="1454"/>
          </a:xfrm>
        </p:grpSpPr>
        <p:sp>
          <p:nvSpPr>
            <p:cNvPr id="63496" name="Text Box 100"/>
            <p:cNvSpPr txBox="1">
              <a:spLocks noChangeArrowheads="1"/>
            </p:cNvSpPr>
            <p:nvPr/>
          </p:nvSpPr>
          <p:spPr bwMode="auto">
            <a:xfrm>
              <a:off x="3256" y="2532"/>
              <a:ext cx="1880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  _                          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Q’ Q’    CP       Q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0     1                0     1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1     0                1      0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     0               Q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r>
                <a:rPr lang="en-US" altLang="zh-CN" sz="2400">
                  <a:latin typeface="Georgia" panose="02040502050405020303" pitchFamily="18" charset="0"/>
                </a:rPr>
                <a:t>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1      1                1      1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3497" name="Line 101"/>
            <p:cNvSpPr>
              <a:spLocks noChangeShapeType="1"/>
            </p:cNvSpPr>
            <p:nvPr/>
          </p:nvSpPr>
          <p:spPr bwMode="auto">
            <a:xfrm>
              <a:off x="3120" y="3031"/>
              <a:ext cx="19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8" name="Line 102"/>
            <p:cNvSpPr>
              <a:spLocks noChangeShapeType="1"/>
            </p:cNvSpPr>
            <p:nvPr/>
          </p:nvSpPr>
          <p:spPr bwMode="auto">
            <a:xfrm>
              <a:off x="4344" y="2714"/>
              <a:ext cx="1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499" name="Group 103"/>
            <p:cNvGrpSpPr/>
            <p:nvPr/>
          </p:nvGrpSpPr>
          <p:grpSpPr bwMode="auto">
            <a:xfrm>
              <a:off x="3845" y="3347"/>
              <a:ext cx="435" cy="93"/>
              <a:chOff x="3696" y="1930"/>
              <a:chExt cx="409" cy="139"/>
            </a:xfrm>
          </p:grpSpPr>
          <p:sp>
            <p:nvSpPr>
              <p:cNvPr id="63520" name="Line 104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1" name="Line 105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2" name="Line 106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3" name="Line 107"/>
              <p:cNvSpPr>
                <a:spLocks noChangeShapeType="1"/>
              </p:cNvSpPr>
              <p:nvPr/>
            </p:nvSpPr>
            <p:spPr bwMode="auto">
              <a:xfrm flipH="1">
                <a:off x="3696" y="1930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4" name="Line 108"/>
              <p:cNvSpPr>
                <a:spLocks noChangeShapeType="1"/>
              </p:cNvSpPr>
              <p:nvPr/>
            </p:nvSpPr>
            <p:spPr bwMode="auto">
              <a:xfrm flipH="1">
                <a:off x="4014" y="193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500" name="Group 109"/>
            <p:cNvGrpSpPr/>
            <p:nvPr/>
          </p:nvGrpSpPr>
          <p:grpSpPr bwMode="auto">
            <a:xfrm>
              <a:off x="3845" y="3569"/>
              <a:ext cx="435" cy="92"/>
              <a:chOff x="3696" y="1931"/>
              <a:chExt cx="409" cy="138"/>
            </a:xfrm>
          </p:grpSpPr>
          <p:sp>
            <p:nvSpPr>
              <p:cNvPr id="63515" name="Line 110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6" name="Line 111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7" name="Line 112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8" name="Line 113"/>
              <p:cNvSpPr>
                <a:spLocks noChangeShapeType="1"/>
              </p:cNvSpPr>
              <p:nvPr/>
            </p:nvSpPr>
            <p:spPr bwMode="auto">
              <a:xfrm flipH="1">
                <a:off x="3696" y="1931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9" name="Line 114"/>
              <p:cNvSpPr>
                <a:spLocks noChangeShapeType="1"/>
              </p:cNvSpPr>
              <p:nvPr/>
            </p:nvSpPr>
            <p:spPr bwMode="auto">
              <a:xfrm flipH="1">
                <a:off x="4014" y="1938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501" name="Group 115"/>
            <p:cNvGrpSpPr/>
            <p:nvPr/>
          </p:nvGrpSpPr>
          <p:grpSpPr bwMode="auto">
            <a:xfrm>
              <a:off x="3857" y="3802"/>
              <a:ext cx="428" cy="91"/>
              <a:chOff x="3703" y="1933"/>
              <a:chExt cx="402" cy="136"/>
            </a:xfrm>
          </p:grpSpPr>
          <p:sp>
            <p:nvSpPr>
              <p:cNvPr id="63510" name="Line 116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1" name="Line 117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2" name="Line 118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3" name="Line 119"/>
              <p:cNvSpPr>
                <a:spLocks noChangeShapeType="1"/>
              </p:cNvSpPr>
              <p:nvPr/>
            </p:nvSpPr>
            <p:spPr bwMode="auto">
              <a:xfrm flipH="1">
                <a:off x="3703" y="193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4" name="Line 120"/>
              <p:cNvSpPr>
                <a:spLocks noChangeShapeType="1"/>
              </p:cNvSpPr>
              <p:nvPr/>
            </p:nvSpPr>
            <p:spPr bwMode="auto">
              <a:xfrm flipH="1">
                <a:off x="4014" y="193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502" name="Group 121"/>
            <p:cNvGrpSpPr/>
            <p:nvPr/>
          </p:nvGrpSpPr>
          <p:grpSpPr bwMode="auto">
            <a:xfrm>
              <a:off x="3845" y="3122"/>
              <a:ext cx="435" cy="91"/>
              <a:chOff x="3696" y="1933"/>
              <a:chExt cx="409" cy="136"/>
            </a:xfrm>
          </p:grpSpPr>
          <p:sp>
            <p:nvSpPr>
              <p:cNvPr id="63505" name="Line 122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6" name="Line 123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7" name="Line 124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8" name="Line 125"/>
              <p:cNvSpPr>
                <a:spLocks noChangeShapeType="1"/>
              </p:cNvSpPr>
              <p:nvPr/>
            </p:nvSpPr>
            <p:spPr bwMode="auto">
              <a:xfrm flipH="1">
                <a:off x="3696" y="1945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9" name="Line 126"/>
              <p:cNvSpPr>
                <a:spLocks noChangeShapeType="1"/>
              </p:cNvSpPr>
              <p:nvPr/>
            </p:nvSpPr>
            <p:spPr bwMode="auto">
              <a:xfrm flipH="1">
                <a:off x="4014" y="193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63503" name="Object 127"/>
            <p:cNvGraphicFramePr>
              <a:graphicFrameLocks noChangeAspect="1"/>
            </p:cNvGraphicFramePr>
            <p:nvPr/>
          </p:nvGraphicFramePr>
          <p:xfrm>
            <a:off x="4753" y="3485"/>
            <a:ext cx="32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4" imgW="116205" imgH="116205" progId="Equation.3">
                    <p:embed/>
                  </p:oleObj>
                </mc:Choice>
                <mc:Fallback>
                  <p:oleObj name="公式" r:id="rId4" imgW="116205" imgH="116205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3" y="3485"/>
                          <a:ext cx="321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4" name="Text Box 131"/>
            <p:cNvSpPr txBox="1">
              <a:spLocks noChangeArrowheads="1"/>
            </p:cNvSpPr>
            <p:nvPr/>
          </p:nvSpPr>
          <p:spPr bwMode="auto">
            <a:xfrm>
              <a:off x="4752" y="2532"/>
              <a:ext cx="25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134" name="AutoShape 33"/>
          <p:cNvSpPr/>
          <p:nvPr/>
        </p:nvSpPr>
        <p:spPr bwMode="auto">
          <a:xfrm>
            <a:off x="7959725" y="5665788"/>
            <a:ext cx="914400" cy="404812"/>
          </a:xfrm>
          <a:prstGeom prst="borderCallout1">
            <a:avLst>
              <a:gd name="adj1" fmla="val 18750"/>
              <a:gd name="adj2" fmla="val -8333"/>
              <a:gd name="adj3" fmla="val -40366"/>
              <a:gd name="adj4" fmla="val -47745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Georgia" panose="02040502050405020303" pitchFamily="18" charset="0"/>
              </a:rPr>
              <a:t>不允许</a:t>
            </a:r>
            <a:endParaRPr lang="zh-CN" altLang="en-US" sz="1800" b="1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C3D458-D231-4260-BF5D-24E6230096A1}" type="slidenum">
              <a:rPr lang="en-US" altLang="zh-CN"/>
            </a:fld>
            <a:endParaRPr lang="en-US" altLang="zh-CN"/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6238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grpSp>
        <p:nvGrpSpPr>
          <p:cNvPr id="64516" name="Group 4"/>
          <p:cNvGrpSpPr/>
          <p:nvPr/>
        </p:nvGrpSpPr>
        <p:grpSpPr bwMode="auto">
          <a:xfrm>
            <a:off x="539750" y="1412875"/>
            <a:ext cx="3311525" cy="4337050"/>
            <a:chOff x="1701" y="871"/>
            <a:chExt cx="2742" cy="3403"/>
          </a:xfrm>
        </p:grpSpPr>
        <p:sp>
          <p:nvSpPr>
            <p:cNvPr id="64550" name="Line 5"/>
            <p:cNvSpPr>
              <a:spLocks noChangeShapeType="1"/>
            </p:cNvSpPr>
            <p:nvPr/>
          </p:nvSpPr>
          <p:spPr bwMode="auto">
            <a:xfrm>
              <a:off x="2678" y="3677"/>
              <a:ext cx="0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4551" name="Group 6"/>
            <p:cNvGrpSpPr/>
            <p:nvPr/>
          </p:nvGrpSpPr>
          <p:grpSpPr bwMode="auto">
            <a:xfrm>
              <a:off x="1701" y="871"/>
              <a:ext cx="2742" cy="3403"/>
              <a:chOff x="1701" y="871"/>
              <a:chExt cx="2742" cy="3403"/>
            </a:xfrm>
          </p:grpSpPr>
          <p:sp>
            <p:nvSpPr>
              <p:cNvPr id="64552" name="Text Box 7"/>
              <p:cNvSpPr txBox="1">
                <a:spLocks noChangeArrowheads="1"/>
              </p:cNvSpPr>
              <p:nvPr/>
            </p:nvSpPr>
            <p:spPr bwMode="auto">
              <a:xfrm>
                <a:off x="2768" y="3915"/>
                <a:ext cx="468" cy="3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pSp>
            <p:nvGrpSpPr>
              <p:cNvPr id="64553" name="Group 8"/>
              <p:cNvGrpSpPr/>
              <p:nvPr/>
            </p:nvGrpSpPr>
            <p:grpSpPr bwMode="auto">
              <a:xfrm>
                <a:off x="1701" y="871"/>
                <a:ext cx="2742" cy="3301"/>
                <a:chOff x="1701" y="871"/>
                <a:chExt cx="2742" cy="3301"/>
              </a:xfrm>
            </p:grpSpPr>
            <p:pic>
              <p:nvPicPr>
                <p:cNvPr id="64554" name="Picture 9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52" y="145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5" name="Picture 10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61" y="197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6" name="Picture 11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40" y="197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7" name="Picture 12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11" y="2613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8" name="Picture 13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16" y="2613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9" name="Picture 14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95" y="145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4560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179" y="1207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222" y="1207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2" name="Line 17"/>
                <p:cNvSpPr>
                  <a:spLocks noChangeShapeType="1"/>
                </p:cNvSpPr>
                <p:nvPr/>
              </p:nvSpPr>
              <p:spPr bwMode="auto">
                <a:xfrm>
                  <a:off x="2179" y="1343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3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904" y="13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4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542" y="1343"/>
                  <a:ext cx="362" cy="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5" name="Line 20"/>
                <p:cNvSpPr>
                  <a:spLocks noChangeShapeType="1"/>
                </p:cNvSpPr>
                <p:nvPr/>
              </p:nvSpPr>
              <p:spPr bwMode="auto">
                <a:xfrm>
                  <a:off x="2496" y="1343"/>
                  <a:ext cx="408" cy="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6" name="Line 21"/>
                <p:cNvSpPr>
                  <a:spLocks noChangeShapeType="1"/>
                </p:cNvSpPr>
                <p:nvPr/>
              </p:nvSpPr>
              <p:spPr bwMode="auto">
                <a:xfrm>
                  <a:off x="2904" y="193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7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2315" y="193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8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315" y="179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69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3131" y="179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0" name="Line 25"/>
                <p:cNvSpPr>
                  <a:spLocks noChangeShapeType="1"/>
                </p:cNvSpPr>
                <p:nvPr/>
              </p:nvSpPr>
              <p:spPr bwMode="auto">
                <a:xfrm>
                  <a:off x="2224" y="2341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1" name="Line 26"/>
                <p:cNvSpPr>
                  <a:spLocks noChangeShapeType="1"/>
                </p:cNvSpPr>
                <p:nvPr/>
              </p:nvSpPr>
              <p:spPr bwMode="auto">
                <a:xfrm>
                  <a:off x="2224" y="2477"/>
                  <a:ext cx="1971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2" name="Line 27"/>
                <p:cNvSpPr>
                  <a:spLocks noChangeShapeType="1"/>
                </p:cNvSpPr>
                <p:nvPr/>
              </p:nvSpPr>
              <p:spPr bwMode="auto">
                <a:xfrm>
                  <a:off x="3177" y="2341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3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043" y="2341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4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358" y="2341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5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3267" y="1797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6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088" y="1797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77" name="Oval 32"/>
                <p:cNvSpPr>
                  <a:spLocks noChangeAspect="1" noChangeArrowheads="1"/>
                </p:cNvSpPr>
                <p:nvPr/>
              </p:nvSpPr>
              <p:spPr bwMode="auto">
                <a:xfrm>
                  <a:off x="3131" y="24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4578" name="Oval 33"/>
                <p:cNvSpPr>
                  <a:spLocks noChangeAspect="1" noChangeArrowheads="1"/>
                </p:cNvSpPr>
                <p:nvPr/>
              </p:nvSpPr>
              <p:spPr bwMode="auto">
                <a:xfrm>
                  <a:off x="3267" y="36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64579" name="Oval 34"/>
                <p:cNvSpPr>
                  <a:spLocks noChangeAspect="1" noChangeArrowheads="1"/>
                </p:cNvSpPr>
                <p:nvPr/>
              </p:nvSpPr>
              <p:spPr bwMode="auto">
                <a:xfrm>
                  <a:off x="2632" y="36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pic>
              <p:nvPicPr>
                <p:cNvPr id="64580" name="Picture 35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77" y="3112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81" name="Picture 36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69" y="2704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82" name="Picture 37" descr="与非门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16" y="3112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4583" name="Line 38"/>
                <p:cNvSpPr>
                  <a:spLocks noChangeShapeType="1"/>
                </p:cNvSpPr>
                <p:nvPr/>
              </p:nvSpPr>
              <p:spPr bwMode="auto">
                <a:xfrm>
                  <a:off x="2043" y="2523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84" name="Line 39"/>
                <p:cNvSpPr>
                  <a:spLocks noChangeShapeType="1"/>
                </p:cNvSpPr>
                <p:nvPr/>
              </p:nvSpPr>
              <p:spPr bwMode="auto">
                <a:xfrm>
                  <a:off x="2950" y="2568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85" name="Line 40"/>
                <p:cNvSpPr>
                  <a:spLocks noChangeShapeType="1"/>
                </p:cNvSpPr>
                <p:nvPr/>
              </p:nvSpPr>
              <p:spPr bwMode="auto">
                <a:xfrm>
                  <a:off x="2179" y="3067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86" name="Line 41"/>
                <p:cNvSpPr>
                  <a:spLocks noChangeShapeType="1"/>
                </p:cNvSpPr>
                <p:nvPr/>
              </p:nvSpPr>
              <p:spPr bwMode="auto">
                <a:xfrm>
                  <a:off x="2950" y="3067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87" name="Line 42"/>
                <p:cNvSpPr>
                  <a:spLocks noChangeShapeType="1"/>
                </p:cNvSpPr>
                <p:nvPr/>
              </p:nvSpPr>
              <p:spPr bwMode="auto">
                <a:xfrm>
                  <a:off x="2451" y="2523"/>
                  <a:ext cx="499" cy="5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88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451" y="2568"/>
                  <a:ext cx="499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89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179" y="2976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0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3267" y="2976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1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043" y="297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2" name="Line 47"/>
                <p:cNvSpPr>
                  <a:spLocks noChangeShapeType="1"/>
                </p:cNvSpPr>
                <p:nvPr/>
              </p:nvSpPr>
              <p:spPr bwMode="auto">
                <a:xfrm>
                  <a:off x="3403" y="297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3" name="Line 48"/>
                <p:cNvSpPr>
                  <a:spLocks noChangeShapeType="1"/>
                </p:cNvSpPr>
                <p:nvPr/>
              </p:nvSpPr>
              <p:spPr bwMode="auto">
                <a:xfrm>
                  <a:off x="1952" y="3450"/>
                  <a:ext cx="0" cy="5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4" name="Line 49"/>
                <p:cNvSpPr>
                  <a:spLocks noChangeShapeType="1"/>
                </p:cNvSpPr>
                <p:nvPr/>
              </p:nvSpPr>
              <p:spPr bwMode="auto">
                <a:xfrm>
                  <a:off x="3494" y="3450"/>
                  <a:ext cx="0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5" name="Line 50"/>
                <p:cNvSpPr>
                  <a:spLocks noChangeShapeType="1"/>
                </p:cNvSpPr>
                <p:nvPr/>
              </p:nvSpPr>
              <p:spPr bwMode="auto">
                <a:xfrm>
                  <a:off x="2088" y="345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088" y="3657"/>
                  <a:ext cx="2107" cy="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7" name="Line 52"/>
                <p:cNvSpPr>
                  <a:spLocks noChangeShapeType="1"/>
                </p:cNvSpPr>
                <p:nvPr/>
              </p:nvSpPr>
              <p:spPr bwMode="auto">
                <a:xfrm>
                  <a:off x="3313" y="345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8" name="Line 53"/>
                <p:cNvSpPr>
                  <a:spLocks noChangeShapeType="1"/>
                </p:cNvSpPr>
                <p:nvPr/>
              </p:nvSpPr>
              <p:spPr bwMode="auto">
                <a:xfrm>
                  <a:off x="4195" y="2497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99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4195" y="3087"/>
                  <a:ext cx="0" cy="5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600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701" y="3813"/>
                  <a:ext cx="330" cy="3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R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4601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497" y="3812"/>
                  <a:ext cx="294" cy="3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S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4602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1790" y="871"/>
                  <a:ext cx="341" cy="6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_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4603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288" y="1072"/>
                  <a:ext cx="340" cy="3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</p:grpSp>
        </p:grpSp>
      </p:grpSp>
      <p:sp>
        <p:nvSpPr>
          <p:cNvPr id="528462" name="Text Box 78"/>
          <p:cNvSpPr txBox="1">
            <a:spLocks noChangeArrowheads="1"/>
          </p:cNvSpPr>
          <p:nvPr/>
        </p:nvSpPr>
        <p:spPr bwMode="auto">
          <a:xfrm>
            <a:off x="4267200" y="5715000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(</a:t>
            </a:r>
            <a:r>
              <a:rPr lang="zh-CN" altLang="en-US" sz="2400" b="1">
                <a:latin typeface="Georgia" panose="02040502050405020303" pitchFamily="18" charset="0"/>
              </a:rPr>
              <a:t>如何加入异步置位</a:t>
            </a:r>
            <a:r>
              <a:rPr lang="en-US" altLang="zh-CN" sz="2400" b="1">
                <a:latin typeface="Georgia" panose="02040502050405020303" pitchFamily="18" charset="0"/>
              </a:rPr>
              <a:t>/</a:t>
            </a:r>
            <a:r>
              <a:rPr lang="zh-CN" altLang="en-US" sz="2400" b="1">
                <a:latin typeface="Georgia" panose="02040502050405020303" pitchFamily="18" charset="0"/>
              </a:rPr>
              <a:t>复位端？</a:t>
            </a:r>
            <a:r>
              <a:rPr lang="en-US" altLang="zh-CN" sz="2400">
                <a:latin typeface="Georgia" panose="02040502050405020303" pitchFamily="18" charset="0"/>
              </a:rPr>
              <a:t>)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64518" name="Text Box 82"/>
          <p:cNvSpPr txBox="1">
            <a:spLocks noChangeArrowheads="1"/>
          </p:cNvSpPr>
          <p:nvPr/>
        </p:nvSpPr>
        <p:spPr bwMode="auto">
          <a:xfrm>
            <a:off x="838200" y="5867400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主从</a:t>
            </a:r>
            <a:r>
              <a:rPr lang="en-US" altLang="zh-CN" sz="2400" b="1">
                <a:latin typeface="Georgia" panose="02040502050405020303" pitchFamily="18" charset="0"/>
              </a:rPr>
              <a:t>R-S</a:t>
            </a:r>
            <a:r>
              <a:rPr lang="zh-CN" altLang="en-US" sz="2400" b="1">
                <a:latin typeface="Georgia" panose="02040502050405020303" pitchFamily="18" charset="0"/>
              </a:rPr>
              <a:t>触发器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grpSp>
        <p:nvGrpSpPr>
          <p:cNvPr id="528499" name="Group 115"/>
          <p:cNvGrpSpPr/>
          <p:nvPr/>
        </p:nvGrpSpPr>
        <p:grpSpPr bwMode="auto">
          <a:xfrm>
            <a:off x="4584700" y="2743200"/>
            <a:ext cx="3200400" cy="2305050"/>
            <a:chOff x="2888" y="1728"/>
            <a:chExt cx="2016" cy="1452"/>
          </a:xfrm>
        </p:grpSpPr>
        <p:sp>
          <p:nvSpPr>
            <p:cNvPr id="64521" name="Text Box 86"/>
            <p:cNvSpPr txBox="1">
              <a:spLocks noChangeArrowheads="1"/>
            </p:cNvSpPr>
            <p:nvPr/>
          </p:nvSpPr>
          <p:spPr bwMode="auto">
            <a:xfrm>
              <a:off x="3024" y="1728"/>
              <a:ext cx="1880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                           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R   S     CP       Q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1     0                0     1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0     1                1      0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     0               Q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r>
                <a:rPr lang="en-US" altLang="zh-CN" sz="2400">
                  <a:latin typeface="Georgia" panose="02040502050405020303" pitchFamily="18" charset="0"/>
                </a:rPr>
                <a:t>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1      1                1      1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4522" name="Line 87"/>
            <p:cNvSpPr>
              <a:spLocks noChangeShapeType="1"/>
            </p:cNvSpPr>
            <p:nvPr/>
          </p:nvSpPr>
          <p:spPr bwMode="auto">
            <a:xfrm>
              <a:off x="2888" y="2227"/>
              <a:ext cx="19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3" name="Line 88"/>
            <p:cNvSpPr>
              <a:spLocks noChangeShapeType="1"/>
            </p:cNvSpPr>
            <p:nvPr/>
          </p:nvSpPr>
          <p:spPr bwMode="auto">
            <a:xfrm>
              <a:off x="4112" y="1910"/>
              <a:ext cx="1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4524" name="Group 89"/>
            <p:cNvGrpSpPr/>
            <p:nvPr/>
          </p:nvGrpSpPr>
          <p:grpSpPr bwMode="auto">
            <a:xfrm>
              <a:off x="3613" y="2545"/>
              <a:ext cx="435" cy="91"/>
              <a:chOff x="3696" y="1933"/>
              <a:chExt cx="409" cy="136"/>
            </a:xfrm>
          </p:grpSpPr>
          <p:sp>
            <p:nvSpPr>
              <p:cNvPr id="64545" name="Line 90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6" name="Line 91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7" name="Line 92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8" name="Line 93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9" name="Line 94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525" name="Group 95"/>
            <p:cNvGrpSpPr/>
            <p:nvPr/>
          </p:nvGrpSpPr>
          <p:grpSpPr bwMode="auto">
            <a:xfrm>
              <a:off x="3613" y="2771"/>
              <a:ext cx="435" cy="91"/>
              <a:chOff x="3696" y="1933"/>
              <a:chExt cx="409" cy="136"/>
            </a:xfrm>
          </p:grpSpPr>
          <p:sp>
            <p:nvSpPr>
              <p:cNvPr id="64540" name="Line 96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1" name="Line 97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2" name="Line 98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3" name="Line 99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4" name="Line 100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526" name="Group 101"/>
            <p:cNvGrpSpPr/>
            <p:nvPr/>
          </p:nvGrpSpPr>
          <p:grpSpPr bwMode="auto">
            <a:xfrm>
              <a:off x="3613" y="2998"/>
              <a:ext cx="435" cy="91"/>
              <a:chOff x="3696" y="1933"/>
              <a:chExt cx="409" cy="136"/>
            </a:xfrm>
          </p:grpSpPr>
          <p:sp>
            <p:nvSpPr>
              <p:cNvPr id="64535" name="Line 102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6" name="Line 103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7" name="Line 104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8" name="Line 105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9" name="Line 106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527" name="Group 107"/>
            <p:cNvGrpSpPr/>
            <p:nvPr/>
          </p:nvGrpSpPr>
          <p:grpSpPr bwMode="auto">
            <a:xfrm>
              <a:off x="3613" y="2318"/>
              <a:ext cx="435" cy="91"/>
              <a:chOff x="3696" y="1933"/>
              <a:chExt cx="409" cy="136"/>
            </a:xfrm>
          </p:grpSpPr>
          <p:sp>
            <p:nvSpPr>
              <p:cNvPr id="64530" name="Line 108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1" name="Line 109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2" name="Line 110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3" name="Line 111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4" name="Line 112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64528" name="Object 113"/>
            <p:cNvGraphicFramePr>
              <a:graphicFrameLocks noChangeAspect="1"/>
            </p:cNvGraphicFramePr>
            <p:nvPr/>
          </p:nvGraphicFramePr>
          <p:xfrm>
            <a:off x="4521" y="2681"/>
            <a:ext cx="32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2" imgW="116205" imgH="116205" progId="Equation.3">
                    <p:embed/>
                  </p:oleObj>
                </mc:Choice>
                <mc:Fallback>
                  <p:oleObj name="公式" r:id="rId2" imgW="116205" imgH="116205" progId="Equation.3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2681"/>
                          <a:ext cx="327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9" name="Text Box 114"/>
            <p:cNvSpPr txBox="1">
              <a:spLocks noChangeArrowheads="1"/>
            </p:cNvSpPr>
            <p:nvPr/>
          </p:nvSpPr>
          <p:spPr bwMode="auto">
            <a:xfrm>
              <a:off x="4520" y="1728"/>
              <a:ext cx="25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64520" name="Text Box 116"/>
          <p:cNvSpPr txBox="1">
            <a:spLocks noChangeArrowheads="1"/>
          </p:cNvSpPr>
          <p:nvPr/>
        </p:nvSpPr>
        <p:spPr bwMode="auto">
          <a:xfrm>
            <a:off x="4495800" y="20574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主从</a:t>
            </a:r>
            <a:r>
              <a:rPr lang="en-US" altLang="zh-CN" sz="2400" b="1">
                <a:latin typeface="Georgia" panose="02040502050405020303" pitchFamily="18" charset="0"/>
              </a:rPr>
              <a:t>R-S</a:t>
            </a:r>
            <a:r>
              <a:rPr lang="zh-CN" altLang="en-US" sz="2400" b="1">
                <a:latin typeface="Georgia" panose="02040502050405020303" pitchFamily="18" charset="0"/>
              </a:rPr>
              <a:t>触发器的功能表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8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8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46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F4541-9546-42C2-9786-81CEB76AA5F5}" type="slidenum">
              <a:rPr lang="en-US" altLang="zh-CN"/>
            </a:fld>
            <a:endParaRPr lang="en-US" altLang="zh-CN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latin typeface="Georgia" panose="02040502050405020303" pitchFamily="18" charset="0"/>
              </a:rPr>
              <a:t>主从</a:t>
            </a:r>
            <a:r>
              <a:rPr lang="en-US" altLang="zh-CN" b="1" dirty="0">
                <a:latin typeface="Georgia" panose="02040502050405020303" pitchFamily="18" charset="0"/>
              </a:rPr>
              <a:t>R-S</a:t>
            </a:r>
            <a:r>
              <a:rPr lang="zh-CN" altLang="en-US" b="1" dirty="0">
                <a:latin typeface="Georgia" panose="02040502050405020303" pitchFamily="18" charset="0"/>
              </a:rPr>
              <a:t>触发器异步置位</a:t>
            </a:r>
            <a:r>
              <a:rPr lang="en-US" altLang="zh-CN" b="1" dirty="0">
                <a:latin typeface="Georgia" panose="02040502050405020303" pitchFamily="18" charset="0"/>
              </a:rPr>
              <a:t>/</a:t>
            </a:r>
            <a:r>
              <a:rPr lang="zh-CN" altLang="en-US" b="1" dirty="0">
                <a:latin typeface="Georgia" panose="02040502050405020303" pitchFamily="18" charset="0"/>
              </a:rPr>
              <a:t>复位端</a:t>
            </a:r>
            <a:endParaRPr lang="zh-CN" altLang="en-US" b="1" dirty="0">
              <a:latin typeface="Georgia" panose="02040502050405020303" pitchFamily="18" charset="0"/>
            </a:endParaRPr>
          </a:p>
        </p:txBody>
      </p:sp>
      <p:grpSp>
        <p:nvGrpSpPr>
          <p:cNvPr id="529412" name="Group 4"/>
          <p:cNvGrpSpPr/>
          <p:nvPr/>
        </p:nvGrpSpPr>
        <p:grpSpPr bwMode="auto">
          <a:xfrm>
            <a:off x="2546350" y="2133600"/>
            <a:ext cx="3203575" cy="4648200"/>
            <a:chOff x="1604" y="1344"/>
            <a:chExt cx="2018" cy="2928"/>
          </a:xfrm>
        </p:grpSpPr>
        <p:sp>
          <p:nvSpPr>
            <p:cNvPr id="65565" name="Line 5"/>
            <p:cNvSpPr>
              <a:spLocks noChangeShapeType="1"/>
            </p:cNvSpPr>
            <p:nvPr/>
          </p:nvSpPr>
          <p:spPr bwMode="auto">
            <a:xfrm>
              <a:off x="2279" y="3597"/>
              <a:ext cx="0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6" name="Text Box 6"/>
            <p:cNvSpPr txBox="1">
              <a:spLocks noChangeArrowheads="1"/>
            </p:cNvSpPr>
            <p:nvPr/>
          </p:nvSpPr>
          <p:spPr bwMode="auto">
            <a:xfrm>
              <a:off x="2112" y="398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pic>
          <p:nvPicPr>
            <p:cNvPr id="65567" name="Picture 7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7" y="1815"/>
              <a:ext cx="3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68" name="Picture 8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2233"/>
              <a:ext cx="36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69" name="Picture 9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" y="2233"/>
              <a:ext cx="36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70" name="Picture 10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9" y="2742"/>
              <a:ext cx="36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71" name="Picture 11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3" y="2742"/>
              <a:ext cx="3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72" name="Picture 12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0" y="1815"/>
              <a:ext cx="3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73" name="Line 13"/>
            <p:cNvSpPr>
              <a:spLocks noChangeShapeType="1"/>
            </p:cNvSpPr>
            <p:nvPr/>
          </p:nvSpPr>
          <p:spPr bwMode="auto">
            <a:xfrm flipV="1">
              <a:off x="1900" y="1614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4" name="Line 14"/>
            <p:cNvSpPr>
              <a:spLocks noChangeShapeType="1"/>
            </p:cNvSpPr>
            <p:nvPr/>
          </p:nvSpPr>
          <p:spPr bwMode="auto">
            <a:xfrm flipV="1">
              <a:off x="2693" y="161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5" name="Line 15"/>
            <p:cNvSpPr>
              <a:spLocks noChangeShapeType="1"/>
            </p:cNvSpPr>
            <p:nvPr/>
          </p:nvSpPr>
          <p:spPr bwMode="auto">
            <a:xfrm>
              <a:off x="1900" y="1723"/>
              <a:ext cx="2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6" name="Line 16"/>
            <p:cNvSpPr>
              <a:spLocks noChangeShapeType="1"/>
            </p:cNvSpPr>
            <p:nvPr/>
          </p:nvSpPr>
          <p:spPr bwMode="auto">
            <a:xfrm flipH="1">
              <a:off x="2451" y="1723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7" name="Line 17"/>
            <p:cNvSpPr>
              <a:spLocks noChangeShapeType="1"/>
            </p:cNvSpPr>
            <p:nvPr/>
          </p:nvSpPr>
          <p:spPr bwMode="auto">
            <a:xfrm flipH="1">
              <a:off x="2176" y="1723"/>
              <a:ext cx="275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8" name="Line 18"/>
            <p:cNvSpPr>
              <a:spLocks noChangeShapeType="1"/>
            </p:cNvSpPr>
            <p:nvPr/>
          </p:nvSpPr>
          <p:spPr bwMode="auto">
            <a:xfrm>
              <a:off x="2141" y="1723"/>
              <a:ext cx="310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9" name="Line 19"/>
            <p:cNvSpPr>
              <a:spLocks noChangeShapeType="1"/>
            </p:cNvSpPr>
            <p:nvPr/>
          </p:nvSpPr>
          <p:spPr bwMode="auto">
            <a:xfrm>
              <a:off x="2451" y="2196"/>
              <a:ext cx="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0" name="Line 20"/>
            <p:cNvSpPr>
              <a:spLocks noChangeShapeType="1"/>
            </p:cNvSpPr>
            <p:nvPr/>
          </p:nvSpPr>
          <p:spPr bwMode="auto">
            <a:xfrm flipH="1">
              <a:off x="2003" y="2196"/>
              <a:ext cx="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1" name="Line 21"/>
            <p:cNvSpPr>
              <a:spLocks noChangeShapeType="1"/>
            </p:cNvSpPr>
            <p:nvPr/>
          </p:nvSpPr>
          <p:spPr bwMode="auto">
            <a:xfrm flipV="1">
              <a:off x="2003" y="2087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2" name="Line 22"/>
            <p:cNvSpPr>
              <a:spLocks noChangeShapeType="1"/>
            </p:cNvSpPr>
            <p:nvPr/>
          </p:nvSpPr>
          <p:spPr bwMode="auto">
            <a:xfrm flipV="1">
              <a:off x="2624" y="2087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3" name="Line 23"/>
            <p:cNvSpPr>
              <a:spLocks noChangeShapeType="1"/>
            </p:cNvSpPr>
            <p:nvPr/>
          </p:nvSpPr>
          <p:spPr bwMode="auto">
            <a:xfrm>
              <a:off x="1934" y="252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4" name="Line 24"/>
            <p:cNvSpPr>
              <a:spLocks noChangeShapeType="1"/>
            </p:cNvSpPr>
            <p:nvPr/>
          </p:nvSpPr>
          <p:spPr bwMode="auto">
            <a:xfrm>
              <a:off x="1934" y="2633"/>
              <a:ext cx="149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5" name="Line 25"/>
            <p:cNvSpPr>
              <a:spLocks noChangeShapeType="1"/>
            </p:cNvSpPr>
            <p:nvPr/>
          </p:nvSpPr>
          <p:spPr bwMode="auto">
            <a:xfrm>
              <a:off x="2659" y="252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6" name="Line 26"/>
            <p:cNvSpPr>
              <a:spLocks noChangeShapeType="1"/>
            </p:cNvSpPr>
            <p:nvPr/>
          </p:nvSpPr>
          <p:spPr bwMode="auto">
            <a:xfrm flipV="1">
              <a:off x="1796" y="2524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7" name="Line 27"/>
            <p:cNvSpPr>
              <a:spLocks noChangeShapeType="1"/>
            </p:cNvSpPr>
            <p:nvPr/>
          </p:nvSpPr>
          <p:spPr bwMode="auto">
            <a:xfrm flipV="1">
              <a:off x="2797" y="2524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8" name="Line 28"/>
            <p:cNvSpPr>
              <a:spLocks noChangeShapeType="1"/>
            </p:cNvSpPr>
            <p:nvPr/>
          </p:nvSpPr>
          <p:spPr bwMode="auto">
            <a:xfrm flipV="1">
              <a:off x="2727" y="2087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9" name="Line 29"/>
            <p:cNvSpPr>
              <a:spLocks noChangeShapeType="1"/>
            </p:cNvSpPr>
            <p:nvPr/>
          </p:nvSpPr>
          <p:spPr bwMode="auto">
            <a:xfrm flipV="1">
              <a:off x="1830" y="2087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0" name="Oval 30"/>
            <p:cNvSpPr>
              <a:spLocks noChangeAspect="1" noChangeArrowheads="1"/>
            </p:cNvSpPr>
            <p:nvPr/>
          </p:nvSpPr>
          <p:spPr bwMode="auto">
            <a:xfrm>
              <a:off x="2624" y="2597"/>
              <a:ext cx="69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5591" name="Oval 31"/>
            <p:cNvSpPr>
              <a:spLocks noChangeAspect="1" noChangeArrowheads="1"/>
            </p:cNvSpPr>
            <p:nvPr/>
          </p:nvSpPr>
          <p:spPr bwMode="auto">
            <a:xfrm>
              <a:off x="2727" y="3560"/>
              <a:ext cx="70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5592" name="Oval 32"/>
            <p:cNvSpPr>
              <a:spLocks noChangeAspect="1" noChangeArrowheads="1"/>
            </p:cNvSpPr>
            <p:nvPr/>
          </p:nvSpPr>
          <p:spPr bwMode="auto">
            <a:xfrm>
              <a:off x="2244" y="3560"/>
              <a:ext cx="69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pic>
          <p:nvPicPr>
            <p:cNvPr id="65593" name="Picture 33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" y="3143"/>
              <a:ext cx="36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94" name="Picture 34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1" y="2816"/>
              <a:ext cx="36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95" name="Picture 35" descr="与非门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3" y="3143"/>
              <a:ext cx="36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96" name="Line 36"/>
            <p:cNvSpPr>
              <a:spLocks noChangeShapeType="1"/>
            </p:cNvSpPr>
            <p:nvPr/>
          </p:nvSpPr>
          <p:spPr bwMode="auto">
            <a:xfrm>
              <a:off x="1796" y="2670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7" name="Line 37"/>
            <p:cNvSpPr>
              <a:spLocks noChangeShapeType="1"/>
            </p:cNvSpPr>
            <p:nvPr/>
          </p:nvSpPr>
          <p:spPr bwMode="auto">
            <a:xfrm>
              <a:off x="2486" y="2706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8" name="Line 38"/>
            <p:cNvSpPr>
              <a:spLocks noChangeShapeType="1"/>
            </p:cNvSpPr>
            <p:nvPr/>
          </p:nvSpPr>
          <p:spPr bwMode="auto">
            <a:xfrm>
              <a:off x="1900" y="3107"/>
              <a:ext cx="2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9" name="Line 39"/>
            <p:cNvSpPr>
              <a:spLocks noChangeShapeType="1"/>
            </p:cNvSpPr>
            <p:nvPr/>
          </p:nvSpPr>
          <p:spPr bwMode="auto">
            <a:xfrm>
              <a:off x="2486" y="3107"/>
              <a:ext cx="2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0" name="Line 40"/>
            <p:cNvSpPr>
              <a:spLocks noChangeShapeType="1"/>
            </p:cNvSpPr>
            <p:nvPr/>
          </p:nvSpPr>
          <p:spPr bwMode="auto">
            <a:xfrm>
              <a:off x="2107" y="2670"/>
              <a:ext cx="379" cy="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1" name="Line 41"/>
            <p:cNvSpPr>
              <a:spLocks noChangeShapeType="1"/>
            </p:cNvSpPr>
            <p:nvPr/>
          </p:nvSpPr>
          <p:spPr bwMode="auto">
            <a:xfrm flipH="1">
              <a:off x="2107" y="2706"/>
              <a:ext cx="379" cy="4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2" name="Line 42"/>
            <p:cNvSpPr>
              <a:spLocks noChangeShapeType="1"/>
            </p:cNvSpPr>
            <p:nvPr/>
          </p:nvSpPr>
          <p:spPr bwMode="auto">
            <a:xfrm flipV="1">
              <a:off x="1900" y="3034"/>
              <a:ext cx="0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3" name="Line 43"/>
            <p:cNvSpPr>
              <a:spLocks noChangeShapeType="1"/>
            </p:cNvSpPr>
            <p:nvPr/>
          </p:nvSpPr>
          <p:spPr bwMode="auto">
            <a:xfrm flipV="1">
              <a:off x="2727" y="3034"/>
              <a:ext cx="0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4" name="Line 44"/>
            <p:cNvSpPr>
              <a:spLocks noChangeShapeType="1"/>
            </p:cNvSpPr>
            <p:nvPr/>
          </p:nvSpPr>
          <p:spPr bwMode="auto">
            <a:xfrm flipV="1">
              <a:off x="1796" y="303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5" name="Line 45"/>
            <p:cNvSpPr>
              <a:spLocks noChangeShapeType="1"/>
            </p:cNvSpPr>
            <p:nvPr/>
          </p:nvSpPr>
          <p:spPr bwMode="auto">
            <a:xfrm>
              <a:off x="2831" y="303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6" name="Line 46"/>
            <p:cNvSpPr>
              <a:spLocks noChangeShapeType="1"/>
            </p:cNvSpPr>
            <p:nvPr/>
          </p:nvSpPr>
          <p:spPr bwMode="auto">
            <a:xfrm>
              <a:off x="1727" y="3414"/>
              <a:ext cx="1" cy="5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8" name="Line 48"/>
            <p:cNvSpPr>
              <a:spLocks noChangeShapeType="1"/>
            </p:cNvSpPr>
            <p:nvPr/>
          </p:nvSpPr>
          <p:spPr bwMode="auto">
            <a:xfrm>
              <a:off x="1830" y="3414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9" name="Line 49"/>
            <p:cNvSpPr>
              <a:spLocks noChangeShapeType="1"/>
            </p:cNvSpPr>
            <p:nvPr/>
          </p:nvSpPr>
          <p:spPr bwMode="auto">
            <a:xfrm flipV="1">
              <a:off x="1830" y="3581"/>
              <a:ext cx="1603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0" name="Line 50"/>
            <p:cNvSpPr>
              <a:spLocks noChangeShapeType="1"/>
            </p:cNvSpPr>
            <p:nvPr/>
          </p:nvSpPr>
          <p:spPr bwMode="auto">
            <a:xfrm>
              <a:off x="2762" y="3414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1" name="Line 51"/>
            <p:cNvSpPr>
              <a:spLocks noChangeShapeType="1"/>
            </p:cNvSpPr>
            <p:nvPr/>
          </p:nvSpPr>
          <p:spPr bwMode="auto">
            <a:xfrm>
              <a:off x="3433" y="2649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2" name="Line 52"/>
            <p:cNvSpPr>
              <a:spLocks noChangeShapeType="1"/>
            </p:cNvSpPr>
            <p:nvPr/>
          </p:nvSpPr>
          <p:spPr bwMode="auto">
            <a:xfrm flipV="1">
              <a:off x="3433" y="3123"/>
              <a:ext cx="0" cy="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3" name="Text Box 53"/>
            <p:cNvSpPr txBox="1">
              <a:spLocks noChangeArrowheads="1"/>
            </p:cNvSpPr>
            <p:nvPr/>
          </p:nvSpPr>
          <p:spPr bwMode="auto">
            <a:xfrm>
              <a:off x="1621" y="3984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R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5614" name="Text Box 54"/>
            <p:cNvSpPr txBox="1">
              <a:spLocks noChangeArrowheads="1"/>
            </p:cNvSpPr>
            <p:nvPr/>
          </p:nvSpPr>
          <p:spPr bwMode="auto">
            <a:xfrm>
              <a:off x="2784" y="3984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S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5615" name="Text Box 55"/>
            <p:cNvSpPr txBox="1">
              <a:spLocks noChangeArrowheads="1"/>
            </p:cNvSpPr>
            <p:nvPr/>
          </p:nvSpPr>
          <p:spPr bwMode="auto">
            <a:xfrm>
              <a:off x="1604" y="1344"/>
              <a:ext cx="25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5616" name="Text Box 56"/>
            <p:cNvSpPr txBox="1">
              <a:spLocks noChangeArrowheads="1"/>
            </p:cNvSpPr>
            <p:nvPr/>
          </p:nvSpPr>
          <p:spPr bwMode="auto">
            <a:xfrm>
              <a:off x="2743" y="1505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87716" y="3013501"/>
            <a:ext cx="2808084" cy="2853899"/>
            <a:chOff x="1687716" y="3013501"/>
            <a:chExt cx="2808084" cy="2853899"/>
          </a:xfrm>
        </p:grpSpPr>
        <p:grpSp>
          <p:nvGrpSpPr>
            <p:cNvPr id="529465" name="Group 57"/>
            <p:cNvGrpSpPr/>
            <p:nvPr/>
          </p:nvGrpSpPr>
          <p:grpSpPr bwMode="auto">
            <a:xfrm>
              <a:off x="2133600" y="3352800"/>
              <a:ext cx="2362200" cy="2514600"/>
              <a:chOff x="1344" y="2112"/>
              <a:chExt cx="1488" cy="1584"/>
            </a:xfrm>
          </p:grpSpPr>
          <p:sp>
            <p:nvSpPr>
              <p:cNvPr id="65556" name="Line 59"/>
              <p:cNvSpPr>
                <a:spLocks noChangeShapeType="1"/>
              </p:cNvSpPr>
              <p:nvPr/>
            </p:nvSpPr>
            <p:spPr bwMode="auto">
              <a:xfrm>
                <a:off x="1776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7" name="Line 60"/>
              <p:cNvSpPr>
                <a:spLocks noChangeShapeType="1"/>
              </p:cNvSpPr>
              <p:nvPr/>
            </p:nvSpPr>
            <p:spPr bwMode="auto">
              <a:xfrm flipH="1">
                <a:off x="1344" y="220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8" name="Line 61"/>
              <p:cNvSpPr>
                <a:spLocks noChangeShapeType="1"/>
              </p:cNvSpPr>
              <p:nvPr/>
            </p:nvSpPr>
            <p:spPr bwMode="auto">
              <a:xfrm>
                <a:off x="1488" y="2208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9" name="Line 62"/>
              <p:cNvSpPr>
                <a:spLocks noChangeShapeType="1"/>
              </p:cNvSpPr>
              <p:nvPr/>
            </p:nvSpPr>
            <p:spPr bwMode="auto">
              <a:xfrm>
                <a:off x="1488" y="3696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0" name="Line 63"/>
              <p:cNvSpPr>
                <a:spLocks noChangeShapeType="1"/>
              </p:cNvSpPr>
              <p:nvPr/>
            </p:nvSpPr>
            <p:spPr bwMode="auto">
              <a:xfrm flipV="1">
                <a:off x="2832" y="340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1" name="Line 64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2" name="Line 65"/>
              <p:cNvSpPr>
                <a:spLocks noChangeShapeType="1"/>
              </p:cNvSpPr>
              <p:nvPr/>
            </p:nvSpPr>
            <p:spPr bwMode="auto">
              <a:xfrm flipH="1">
                <a:off x="1488" y="312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3" name="Oval 66"/>
              <p:cNvSpPr>
                <a:spLocks noChangeArrowheads="1"/>
              </p:cNvSpPr>
              <p:nvPr/>
            </p:nvSpPr>
            <p:spPr bwMode="auto">
              <a:xfrm>
                <a:off x="1440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5564" name="Oval 67"/>
              <p:cNvSpPr>
                <a:spLocks noChangeArrowheads="1"/>
              </p:cNvSpPr>
              <p:nvPr/>
            </p:nvSpPr>
            <p:spPr bwMode="auto">
              <a:xfrm>
                <a:off x="1440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" name="Text Box 55"/>
            <p:cNvSpPr txBox="1">
              <a:spLocks noChangeArrowheads="1"/>
            </p:cNvSpPr>
            <p:nvPr/>
          </p:nvSpPr>
          <p:spPr bwMode="auto">
            <a:xfrm>
              <a:off x="1687716" y="3013501"/>
              <a:ext cx="554960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48003" y="2972653"/>
            <a:ext cx="2686299" cy="3047152"/>
            <a:chOff x="3048003" y="2972653"/>
            <a:chExt cx="2686299" cy="3047152"/>
          </a:xfrm>
        </p:grpSpPr>
        <p:grpSp>
          <p:nvGrpSpPr>
            <p:cNvPr id="65545" name="Group 70"/>
            <p:cNvGrpSpPr/>
            <p:nvPr/>
          </p:nvGrpSpPr>
          <p:grpSpPr bwMode="auto">
            <a:xfrm>
              <a:off x="3048003" y="3352803"/>
              <a:ext cx="2209802" cy="2667002"/>
              <a:chOff x="1920" y="2112"/>
              <a:chExt cx="1392" cy="1680"/>
            </a:xfrm>
          </p:grpSpPr>
          <p:sp>
            <p:nvSpPr>
              <p:cNvPr id="65546" name="Line 71"/>
              <p:cNvSpPr>
                <a:spLocks noChangeShapeType="1"/>
              </p:cNvSpPr>
              <p:nvPr/>
            </p:nvSpPr>
            <p:spPr bwMode="auto">
              <a:xfrm flipH="1">
                <a:off x="2832" y="220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7" name="Line 72"/>
              <p:cNvSpPr>
                <a:spLocks noChangeShapeType="1"/>
              </p:cNvSpPr>
              <p:nvPr/>
            </p:nvSpPr>
            <p:spPr bwMode="auto">
              <a:xfrm flipV="1">
                <a:off x="2832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8" name="Line 73"/>
              <p:cNvSpPr>
                <a:spLocks noChangeShapeType="1"/>
              </p:cNvSpPr>
              <p:nvPr/>
            </p:nvSpPr>
            <p:spPr bwMode="auto">
              <a:xfrm>
                <a:off x="3120" y="2208"/>
                <a:ext cx="0" cy="15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9" name="Line 74"/>
              <p:cNvSpPr>
                <a:spLocks noChangeShapeType="1"/>
              </p:cNvSpPr>
              <p:nvPr/>
            </p:nvSpPr>
            <p:spPr bwMode="auto">
              <a:xfrm flipH="1">
                <a:off x="1920" y="379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0" name="Line 75"/>
              <p:cNvSpPr>
                <a:spLocks noChangeShapeType="1"/>
              </p:cNvSpPr>
              <p:nvPr/>
            </p:nvSpPr>
            <p:spPr bwMode="auto">
              <a:xfrm flipV="1">
                <a:off x="1920" y="340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1" name="Line 76"/>
              <p:cNvSpPr>
                <a:spLocks noChangeShapeType="1"/>
              </p:cNvSpPr>
              <p:nvPr/>
            </p:nvSpPr>
            <p:spPr bwMode="auto">
              <a:xfrm flipH="1">
                <a:off x="2928" y="312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2" name="Line 77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3" name="Oval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5554" name="Oval 79"/>
              <p:cNvSpPr>
                <a:spLocks noChangeArrowheads="1"/>
              </p:cNvSpPr>
              <p:nvPr/>
            </p:nvSpPr>
            <p:spPr bwMode="auto">
              <a:xfrm>
                <a:off x="3072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5222623" y="2972653"/>
              <a:ext cx="511679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4F5B13-E345-4C78-BF80-AD045400EF76}" type="slidenum">
              <a:rPr lang="en-US" altLang="zh-CN"/>
            </a:fld>
            <a:endParaRPr lang="en-US" altLang="zh-CN"/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6238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66564" name="Text Box 82"/>
          <p:cNvSpPr txBox="1">
            <a:spLocks noChangeArrowheads="1"/>
          </p:cNvSpPr>
          <p:nvPr/>
        </p:nvSpPr>
        <p:spPr bwMode="auto">
          <a:xfrm>
            <a:off x="838200" y="5867400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主从</a:t>
            </a:r>
            <a:r>
              <a:rPr lang="en-US" altLang="zh-CN" sz="2400" b="1">
                <a:latin typeface="Georgia" panose="02040502050405020303" pitchFamily="18" charset="0"/>
              </a:rPr>
              <a:t>R-S</a:t>
            </a:r>
            <a:r>
              <a:rPr lang="zh-CN" altLang="en-US" sz="2400" b="1">
                <a:latin typeface="Georgia" panose="02040502050405020303" pitchFamily="18" charset="0"/>
              </a:rPr>
              <a:t>触发器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sp>
        <p:nvSpPr>
          <p:cNvPr id="66565" name="Text Box 116"/>
          <p:cNvSpPr txBox="1">
            <a:spLocks noChangeArrowheads="1"/>
          </p:cNvSpPr>
          <p:nvPr/>
        </p:nvSpPr>
        <p:spPr bwMode="auto">
          <a:xfrm>
            <a:off x="4495800" y="11430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主从</a:t>
            </a:r>
            <a:r>
              <a:rPr lang="en-US" altLang="zh-CN" sz="2400" b="1">
                <a:latin typeface="Georgia" panose="02040502050405020303" pitchFamily="18" charset="0"/>
              </a:rPr>
              <a:t>R-S</a:t>
            </a:r>
            <a:r>
              <a:rPr lang="zh-CN" altLang="en-US" sz="2400" b="1">
                <a:latin typeface="Georgia" panose="02040502050405020303" pitchFamily="18" charset="0"/>
              </a:rPr>
              <a:t>触发器的功能表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grpSp>
        <p:nvGrpSpPr>
          <p:cNvPr id="66567" name="组合 1"/>
          <p:cNvGrpSpPr/>
          <p:nvPr/>
        </p:nvGrpSpPr>
        <p:grpSpPr bwMode="auto">
          <a:xfrm>
            <a:off x="600075" y="928688"/>
            <a:ext cx="3616325" cy="4648200"/>
            <a:chOff x="2133600" y="2133600"/>
            <a:chExt cx="3616325" cy="4648200"/>
          </a:xfrm>
        </p:grpSpPr>
        <p:grpSp>
          <p:nvGrpSpPr>
            <p:cNvPr id="66568" name="Group 4"/>
            <p:cNvGrpSpPr/>
            <p:nvPr/>
          </p:nvGrpSpPr>
          <p:grpSpPr bwMode="auto">
            <a:xfrm>
              <a:off x="2546350" y="2133600"/>
              <a:ext cx="3203575" cy="4648200"/>
              <a:chOff x="1604" y="1344"/>
              <a:chExt cx="2018" cy="2928"/>
            </a:xfrm>
          </p:grpSpPr>
          <p:sp>
            <p:nvSpPr>
              <p:cNvPr id="66592" name="Line 5"/>
              <p:cNvSpPr>
                <a:spLocks noChangeShapeType="1"/>
              </p:cNvSpPr>
              <p:nvPr/>
            </p:nvSpPr>
            <p:spPr bwMode="auto">
              <a:xfrm>
                <a:off x="2279" y="3597"/>
                <a:ext cx="0" cy="4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93" name="Text Box 6"/>
              <p:cNvSpPr txBox="1">
                <a:spLocks noChangeArrowheads="1"/>
              </p:cNvSpPr>
              <p:nvPr/>
            </p:nvSpPr>
            <p:spPr bwMode="auto">
              <a:xfrm>
                <a:off x="2112" y="398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pic>
            <p:nvPicPr>
              <p:cNvPr id="66594" name="Picture 7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7" y="1815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5" name="Picture 8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8" y="2233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6" name="Picture 9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55" y="2233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7" name="Picture 10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9" y="2742"/>
                <a:ext cx="36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8" name="Picture 11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3" y="2742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9" name="Picture 12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0" y="1815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600" name="Line 13"/>
              <p:cNvSpPr>
                <a:spLocks noChangeShapeType="1"/>
              </p:cNvSpPr>
              <p:nvPr/>
            </p:nvSpPr>
            <p:spPr bwMode="auto">
              <a:xfrm flipV="1">
                <a:off x="1900" y="1614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1" name="Line 14"/>
              <p:cNvSpPr>
                <a:spLocks noChangeShapeType="1"/>
              </p:cNvSpPr>
              <p:nvPr/>
            </p:nvSpPr>
            <p:spPr bwMode="auto">
              <a:xfrm flipV="1">
                <a:off x="2693" y="1614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2" name="Line 15"/>
              <p:cNvSpPr>
                <a:spLocks noChangeShapeType="1"/>
              </p:cNvSpPr>
              <p:nvPr/>
            </p:nvSpPr>
            <p:spPr bwMode="auto">
              <a:xfrm>
                <a:off x="1900" y="1723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3" name="Line 16"/>
              <p:cNvSpPr>
                <a:spLocks noChangeShapeType="1"/>
              </p:cNvSpPr>
              <p:nvPr/>
            </p:nvSpPr>
            <p:spPr bwMode="auto">
              <a:xfrm flipH="1">
                <a:off x="2451" y="1723"/>
                <a:ext cx="2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4" name="Line 17"/>
              <p:cNvSpPr>
                <a:spLocks noChangeShapeType="1"/>
              </p:cNvSpPr>
              <p:nvPr/>
            </p:nvSpPr>
            <p:spPr bwMode="auto">
              <a:xfrm flipH="1">
                <a:off x="2176" y="1723"/>
                <a:ext cx="275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5" name="Line 18"/>
              <p:cNvSpPr>
                <a:spLocks noChangeShapeType="1"/>
              </p:cNvSpPr>
              <p:nvPr/>
            </p:nvSpPr>
            <p:spPr bwMode="auto">
              <a:xfrm>
                <a:off x="2141" y="1723"/>
                <a:ext cx="310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6" name="Line 19"/>
              <p:cNvSpPr>
                <a:spLocks noChangeShapeType="1"/>
              </p:cNvSpPr>
              <p:nvPr/>
            </p:nvSpPr>
            <p:spPr bwMode="auto">
              <a:xfrm>
                <a:off x="2451" y="2196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7" name="Line 20"/>
              <p:cNvSpPr>
                <a:spLocks noChangeShapeType="1"/>
              </p:cNvSpPr>
              <p:nvPr/>
            </p:nvSpPr>
            <p:spPr bwMode="auto">
              <a:xfrm flipH="1">
                <a:off x="2003" y="2196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8" name="Line 21"/>
              <p:cNvSpPr>
                <a:spLocks noChangeShapeType="1"/>
              </p:cNvSpPr>
              <p:nvPr/>
            </p:nvSpPr>
            <p:spPr bwMode="auto">
              <a:xfrm flipV="1">
                <a:off x="2003" y="2087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9" name="Line 22"/>
              <p:cNvSpPr>
                <a:spLocks noChangeShapeType="1"/>
              </p:cNvSpPr>
              <p:nvPr/>
            </p:nvSpPr>
            <p:spPr bwMode="auto">
              <a:xfrm flipV="1">
                <a:off x="2624" y="2087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0" name="Line 23"/>
              <p:cNvSpPr>
                <a:spLocks noChangeShapeType="1"/>
              </p:cNvSpPr>
              <p:nvPr/>
            </p:nvSpPr>
            <p:spPr bwMode="auto">
              <a:xfrm>
                <a:off x="1934" y="252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1" name="Line 24"/>
              <p:cNvSpPr>
                <a:spLocks noChangeShapeType="1"/>
              </p:cNvSpPr>
              <p:nvPr/>
            </p:nvSpPr>
            <p:spPr bwMode="auto">
              <a:xfrm>
                <a:off x="1934" y="2633"/>
                <a:ext cx="1499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2" name="Line 25"/>
              <p:cNvSpPr>
                <a:spLocks noChangeShapeType="1"/>
              </p:cNvSpPr>
              <p:nvPr/>
            </p:nvSpPr>
            <p:spPr bwMode="auto">
              <a:xfrm>
                <a:off x="2659" y="252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3" name="Line 26"/>
              <p:cNvSpPr>
                <a:spLocks noChangeShapeType="1"/>
              </p:cNvSpPr>
              <p:nvPr/>
            </p:nvSpPr>
            <p:spPr bwMode="auto">
              <a:xfrm flipV="1">
                <a:off x="1796" y="2524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4" name="Line 27"/>
              <p:cNvSpPr>
                <a:spLocks noChangeShapeType="1"/>
              </p:cNvSpPr>
              <p:nvPr/>
            </p:nvSpPr>
            <p:spPr bwMode="auto">
              <a:xfrm flipV="1">
                <a:off x="2797" y="2524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5" name="Line 28"/>
              <p:cNvSpPr>
                <a:spLocks noChangeShapeType="1"/>
              </p:cNvSpPr>
              <p:nvPr/>
            </p:nvSpPr>
            <p:spPr bwMode="auto">
              <a:xfrm flipV="1">
                <a:off x="2727" y="2087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6" name="Line 29"/>
              <p:cNvSpPr>
                <a:spLocks noChangeShapeType="1"/>
              </p:cNvSpPr>
              <p:nvPr/>
            </p:nvSpPr>
            <p:spPr bwMode="auto">
              <a:xfrm flipV="1">
                <a:off x="1830" y="2087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7" name="Oval 30"/>
              <p:cNvSpPr>
                <a:spLocks noChangeAspect="1" noChangeArrowheads="1"/>
              </p:cNvSpPr>
              <p:nvPr/>
            </p:nvSpPr>
            <p:spPr bwMode="auto">
              <a:xfrm>
                <a:off x="2624" y="2597"/>
                <a:ext cx="69" cy="7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18" name="Oval 31"/>
              <p:cNvSpPr>
                <a:spLocks noChangeAspect="1" noChangeArrowheads="1"/>
              </p:cNvSpPr>
              <p:nvPr/>
            </p:nvSpPr>
            <p:spPr bwMode="auto">
              <a:xfrm>
                <a:off x="2727" y="3560"/>
                <a:ext cx="70" cy="7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19" name="Oval 32"/>
              <p:cNvSpPr>
                <a:spLocks noChangeAspect="1" noChangeArrowheads="1"/>
              </p:cNvSpPr>
              <p:nvPr/>
            </p:nvSpPr>
            <p:spPr bwMode="auto">
              <a:xfrm>
                <a:off x="2244" y="3560"/>
                <a:ext cx="69" cy="7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pic>
            <p:nvPicPr>
              <p:cNvPr id="66620" name="Picture 33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9" y="3143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621" name="Picture 34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1" y="2816"/>
                <a:ext cx="36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622" name="Picture 35" descr="与非门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3" y="3143"/>
                <a:ext cx="36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623" name="Line 36"/>
              <p:cNvSpPr>
                <a:spLocks noChangeShapeType="1"/>
              </p:cNvSpPr>
              <p:nvPr/>
            </p:nvSpPr>
            <p:spPr bwMode="auto">
              <a:xfrm>
                <a:off x="1796" y="2670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4" name="Line 37"/>
              <p:cNvSpPr>
                <a:spLocks noChangeShapeType="1"/>
              </p:cNvSpPr>
              <p:nvPr/>
            </p:nvSpPr>
            <p:spPr bwMode="auto">
              <a:xfrm>
                <a:off x="2486" y="2706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5" name="Line 38"/>
              <p:cNvSpPr>
                <a:spLocks noChangeShapeType="1"/>
              </p:cNvSpPr>
              <p:nvPr/>
            </p:nvSpPr>
            <p:spPr bwMode="auto">
              <a:xfrm>
                <a:off x="1900" y="3107"/>
                <a:ext cx="2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6" name="Line 39"/>
              <p:cNvSpPr>
                <a:spLocks noChangeShapeType="1"/>
              </p:cNvSpPr>
              <p:nvPr/>
            </p:nvSpPr>
            <p:spPr bwMode="auto">
              <a:xfrm>
                <a:off x="2486" y="3107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7" name="Line 40"/>
              <p:cNvSpPr>
                <a:spLocks noChangeShapeType="1"/>
              </p:cNvSpPr>
              <p:nvPr/>
            </p:nvSpPr>
            <p:spPr bwMode="auto">
              <a:xfrm>
                <a:off x="2107" y="2670"/>
                <a:ext cx="379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8" name="Line 41"/>
              <p:cNvSpPr>
                <a:spLocks noChangeShapeType="1"/>
              </p:cNvSpPr>
              <p:nvPr/>
            </p:nvSpPr>
            <p:spPr bwMode="auto">
              <a:xfrm flipH="1">
                <a:off x="2107" y="2706"/>
                <a:ext cx="379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9" name="Line 42"/>
              <p:cNvSpPr>
                <a:spLocks noChangeShapeType="1"/>
              </p:cNvSpPr>
              <p:nvPr/>
            </p:nvSpPr>
            <p:spPr bwMode="auto">
              <a:xfrm flipV="1">
                <a:off x="1900" y="3034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0" name="Line 43"/>
              <p:cNvSpPr>
                <a:spLocks noChangeShapeType="1"/>
              </p:cNvSpPr>
              <p:nvPr/>
            </p:nvSpPr>
            <p:spPr bwMode="auto">
              <a:xfrm flipV="1">
                <a:off x="2727" y="3034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1" name="Line 44"/>
              <p:cNvSpPr>
                <a:spLocks noChangeShapeType="1"/>
              </p:cNvSpPr>
              <p:nvPr/>
            </p:nvSpPr>
            <p:spPr bwMode="auto">
              <a:xfrm flipV="1">
                <a:off x="1796" y="303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2" name="Line 45"/>
              <p:cNvSpPr>
                <a:spLocks noChangeShapeType="1"/>
              </p:cNvSpPr>
              <p:nvPr/>
            </p:nvSpPr>
            <p:spPr bwMode="auto">
              <a:xfrm>
                <a:off x="2831" y="303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3" name="Line 46"/>
              <p:cNvSpPr>
                <a:spLocks noChangeShapeType="1"/>
              </p:cNvSpPr>
              <p:nvPr/>
            </p:nvSpPr>
            <p:spPr bwMode="auto">
              <a:xfrm>
                <a:off x="1727" y="3414"/>
                <a:ext cx="1" cy="5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4" name="Line 47"/>
              <p:cNvSpPr>
                <a:spLocks noChangeShapeType="1"/>
              </p:cNvSpPr>
              <p:nvPr/>
            </p:nvSpPr>
            <p:spPr bwMode="auto">
              <a:xfrm flipH="1">
                <a:off x="2880" y="340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5" name="Line 48"/>
              <p:cNvSpPr>
                <a:spLocks noChangeShapeType="1"/>
              </p:cNvSpPr>
              <p:nvPr/>
            </p:nvSpPr>
            <p:spPr bwMode="auto">
              <a:xfrm>
                <a:off x="1830" y="3414"/>
                <a:ext cx="0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6" name="Line 49"/>
              <p:cNvSpPr>
                <a:spLocks noChangeShapeType="1"/>
              </p:cNvSpPr>
              <p:nvPr/>
            </p:nvSpPr>
            <p:spPr bwMode="auto">
              <a:xfrm flipV="1">
                <a:off x="1830" y="3581"/>
                <a:ext cx="1603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7" name="Line 50"/>
              <p:cNvSpPr>
                <a:spLocks noChangeShapeType="1"/>
              </p:cNvSpPr>
              <p:nvPr/>
            </p:nvSpPr>
            <p:spPr bwMode="auto">
              <a:xfrm>
                <a:off x="2762" y="3414"/>
                <a:ext cx="0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8" name="Line 51"/>
              <p:cNvSpPr>
                <a:spLocks noChangeShapeType="1"/>
              </p:cNvSpPr>
              <p:nvPr/>
            </p:nvSpPr>
            <p:spPr bwMode="auto">
              <a:xfrm>
                <a:off x="3433" y="2649"/>
                <a:ext cx="0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39" name="Line 52"/>
              <p:cNvSpPr>
                <a:spLocks noChangeShapeType="1"/>
              </p:cNvSpPr>
              <p:nvPr/>
            </p:nvSpPr>
            <p:spPr bwMode="auto">
              <a:xfrm flipV="1">
                <a:off x="3433" y="3123"/>
                <a:ext cx="0" cy="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40" name="Text Box 53"/>
              <p:cNvSpPr txBox="1">
                <a:spLocks noChangeArrowheads="1"/>
              </p:cNvSpPr>
              <p:nvPr/>
            </p:nvSpPr>
            <p:spPr bwMode="auto">
              <a:xfrm>
                <a:off x="1621" y="398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R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66641" name="Text Box 54"/>
              <p:cNvSpPr txBox="1">
                <a:spLocks noChangeArrowheads="1"/>
              </p:cNvSpPr>
              <p:nvPr/>
            </p:nvSpPr>
            <p:spPr bwMode="auto">
              <a:xfrm>
                <a:off x="2784" y="3984"/>
                <a:ext cx="2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S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66642" name="Text Box 55"/>
              <p:cNvSpPr txBox="1">
                <a:spLocks noChangeArrowheads="1"/>
              </p:cNvSpPr>
              <p:nvPr/>
            </p:nvSpPr>
            <p:spPr bwMode="auto">
              <a:xfrm>
                <a:off x="1604" y="1344"/>
                <a:ext cx="259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6643" name="Text Box 56"/>
              <p:cNvSpPr txBox="1">
                <a:spLocks noChangeArrowheads="1"/>
              </p:cNvSpPr>
              <p:nvPr/>
            </p:nvSpPr>
            <p:spPr bwMode="auto">
              <a:xfrm>
                <a:off x="2743" y="1505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66569" name="Group 57"/>
            <p:cNvGrpSpPr/>
            <p:nvPr/>
          </p:nvGrpSpPr>
          <p:grpSpPr bwMode="auto">
            <a:xfrm>
              <a:off x="2133600" y="3352800"/>
              <a:ext cx="2362200" cy="2514600"/>
              <a:chOff x="1344" y="2112"/>
              <a:chExt cx="1488" cy="1584"/>
            </a:xfrm>
          </p:grpSpPr>
          <p:sp>
            <p:nvSpPr>
              <p:cNvPr id="66583" name="Line 59"/>
              <p:cNvSpPr>
                <a:spLocks noChangeShapeType="1"/>
              </p:cNvSpPr>
              <p:nvPr/>
            </p:nvSpPr>
            <p:spPr bwMode="auto">
              <a:xfrm>
                <a:off x="1776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4" name="Line 60"/>
              <p:cNvSpPr>
                <a:spLocks noChangeShapeType="1"/>
              </p:cNvSpPr>
              <p:nvPr/>
            </p:nvSpPr>
            <p:spPr bwMode="auto">
              <a:xfrm flipH="1">
                <a:off x="1344" y="220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5" name="Line 61"/>
              <p:cNvSpPr>
                <a:spLocks noChangeShapeType="1"/>
              </p:cNvSpPr>
              <p:nvPr/>
            </p:nvSpPr>
            <p:spPr bwMode="auto">
              <a:xfrm>
                <a:off x="1488" y="2208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6" name="Line 62"/>
              <p:cNvSpPr>
                <a:spLocks noChangeShapeType="1"/>
              </p:cNvSpPr>
              <p:nvPr/>
            </p:nvSpPr>
            <p:spPr bwMode="auto">
              <a:xfrm>
                <a:off x="1488" y="3696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7" name="Line 63"/>
              <p:cNvSpPr>
                <a:spLocks noChangeShapeType="1"/>
              </p:cNvSpPr>
              <p:nvPr/>
            </p:nvSpPr>
            <p:spPr bwMode="auto">
              <a:xfrm flipV="1">
                <a:off x="2832" y="340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8" name="Line 64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9" name="Line 65"/>
              <p:cNvSpPr>
                <a:spLocks noChangeShapeType="1"/>
              </p:cNvSpPr>
              <p:nvPr/>
            </p:nvSpPr>
            <p:spPr bwMode="auto">
              <a:xfrm flipH="1">
                <a:off x="1488" y="312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90" name="Oval 66"/>
              <p:cNvSpPr>
                <a:spLocks noChangeArrowheads="1"/>
              </p:cNvSpPr>
              <p:nvPr/>
            </p:nvSpPr>
            <p:spPr bwMode="auto">
              <a:xfrm>
                <a:off x="1440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591" name="Oval 67"/>
              <p:cNvSpPr>
                <a:spLocks noChangeArrowheads="1"/>
              </p:cNvSpPr>
              <p:nvPr/>
            </p:nvSpPr>
            <p:spPr bwMode="auto">
              <a:xfrm>
                <a:off x="1440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6572" name="Group 70"/>
            <p:cNvGrpSpPr/>
            <p:nvPr/>
          </p:nvGrpSpPr>
          <p:grpSpPr bwMode="auto">
            <a:xfrm>
              <a:off x="3048001" y="3352801"/>
              <a:ext cx="2209800" cy="2667000"/>
              <a:chOff x="1920" y="2112"/>
              <a:chExt cx="1392" cy="1680"/>
            </a:xfrm>
          </p:grpSpPr>
          <p:sp>
            <p:nvSpPr>
              <p:cNvPr id="66573" name="Line 71"/>
              <p:cNvSpPr>
                <a:spLocks noChangeShapeType="1"/>
              </p:cNvSpPr>
              <p:nvPr/>
            </p:nvSpPr>
            <p:spPr bwMode="auto">
              <a:xfrm flipH="1">
                <a:off x="2832" y="220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4" name="Line 72"/>
              <p:cNvSpPr>
                <a:spLocks noChangeShapeType="1"/>
              </p:cNvSpPr>
              <p:nvPr/>
            </p:nvSpPr>
            <p:spPr bwMode="auto">
              <a:xfrm flipV="1">
                <a:off x="2832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5" name="Line 73"/>
              <p:cNvSpPr>
                <a:spLocks noChangeShapeType="1"/>
              </p:cNvSpPr>
              <p:nvPr/>
            </p:nvSpPr>
            <p:spPr bwMode="auto">
              <a:xfrm>
                <a:off x="3120" y="2208"/>
                <a:ext cx="0" cy="15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6" name="Line 74"/>
              <p:cNvSpPr>
                <a:spLocks noChangeShapeType="1"/>
              </p:cNvSpPr>
              <p:nvPr/>
            </p:nvSpPr>
            <p:spPr bwMode="auto">
              <a:xfrm flipH="1">
                <a:off x="1920" y="379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7" name="Line 75"/>
              <p:cNvSpPr>
                <a:spLocks noChangeShapeType="1"/>
              </p:cNvSpPr>
              <p:nvPr/>
            </p:nvSpPr>
            <p:spPr bwMode="auto">
              <a:xfrm flipV="1">
                <a:off x="1920" y="340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8" name="Line 76"/>
              <p:cNvSpPr>
                <a:spLocks noChangeShapeType="1"/>
              </p:cNvSpPr>
              <p:nvPr/>
            </p:nvSpPr>
            <p:spPr bwMode="auto">
              <a:xfrm flipH="1">
                <a:off x="2928" y="312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9" name="Line 77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0" name="Oval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581" name="Oval 79"/>
              <p:cNvSpPr>
                <a:spLocks noChangeArrowheads="1"/>
              </p:cNvSpPr>
              <p:nvPr/>
            </p:nvSpPr>
            <p:spPr bwMode="auto">
              <a:xfrm>
                <a:off x="3072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sp>
        <p:nvSpPr>
          <p:cNvPr id="2" name="Text Box 55"/>
          <p:cNvSpPr txBox="1">
            <a:spLocks noChangeArrowheads="1"/>
          </p:cNvSpPr>
          <p:nvPr/>
        </p:nvSpPr>
        <p:spPr bwMode="auto">
          <a:xfrm>
            <a:off x="156701" y="1760961"/>
            <a:ext cx="554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3" name="Text Box 55"/>
          <p:cNvSpPr txBox="1">
            <a:spLocks noChangeArrowheads="1"/>
          </p:cNvSpPr>
          <p:nvPr/>
        </p:nvSpPr>
        <p:spPr bwMode="auto">
          <a:xfrm>
            <a:off x="3678237" y="1768672"/>
            <a:ext cx="5116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716001" y="1712858"/>
            <a:ext cx="3437399" cy="3468742"/>
            <a:chOff x="4716001" y="1712858"/>
            <a:chExt cx="3437399" cy="3468742"/>
          </a:xfrm>
        </p:grpSpPr>
        <p:grpSp>
          <p:nvGrpSpPr>
            <p:cNvPr id="66566" name="Group 226"/>
            <p:cNvGrpSpPr/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528502" name="Rectangle 118"/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0   1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1   0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0   1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1   0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/>
              </a:p>
            </p:txBody>
          </p:sp>
          <p:sp>
            <p:nvSpPr>
              <p:cNvPr id="528503" name="Rectangle 119"/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0    1   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0   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1    1        0   1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/>
              </a:p>
            </p:txBody>
          </p:sp>
          <p:sp>
            <p:nvSpPr>
              <p:cNvPr id="528504" name="Rectangle 120"/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528505" name="Rectangle 121"/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         CP  R  S</a:t>
                </a:r>
                <a:endParaRPr lang="en-US" altLang="zh-CN" sz="2400" dirty="0"/>
              </a:p>
            </p:txBody>
          </p:sp>
          <p:sp>
            <p:nvSpPr>
              <p:cNvPr id="66648" name="Line 122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49" name="Line 123"/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0" name="Line 124"/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1" name="Line 125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2" name="Line 126"/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3" name="Line 127"/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6660" name="Group 136"/>
              <p:cNvGrpSpPr/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66681" name="Line 13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82" name="Line 13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83" name="Line 13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8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85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661" name="Group 142"/>
              <p:cNvGrpSpPr/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66676" name="Line 14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7" name="Line 14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8" name="Line 14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8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662" name="Group 148"/>
              <p:cNvGrpSpPr/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66671" name="Line 14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2" name="Line 15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3" name="Line 15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4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5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663" name="Group 154"/>
              <p:cNvGrpSpPr/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66666" name="Line 155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67" name="Line 156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68" name="Line 157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69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7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6664" name="Line 160"/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65" name="Text Box 224"/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1*  1*</a:t>
                </a:r>
                <a:endParaRPr lang="en-US" altLang="zh-CN" sz="2000" dirty="0"/>
              </a:p>
            </p:txBody>
          </p:sp>
        </p:grp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" name="Text Box 55"/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7" name="Text Box 55"/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9" name="Text Box 55"/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600AA9-7A38-4F05-86B2-9A5866EFF709}" type="slidenum">
              <a:rPr lang="en-US" altLang="zh-CN"/>
            </a:fld>
            <a:endParaRPr lang="en-US" altLang="zh-CN"/>
          </a:p>
        </p:txBody>
      </p:sp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sz="3600" dirty="0"/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48601" y="817727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用</a:t>
            </a:r>
            <a:r>
              <a:rPr lang="en-US" altLang="zh-CN" dirty="0"/>
              <a:t>R-S</a:t>
            </a:r>
            <a:r>
              <a:rPr lang="zh-CN" altLang="en-US" dirty="0"/>
              <a:t>触发器实现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 比较</a:t>
            </a:r>
            <a:r>
              <a:rPr lang="en-US" altLang="zh-CN" dirty="0"/>
              <a:t>R-S</a:t>
            </a:r>
            <a:r>
              <a:rPr lang="zh-CN" altLang="en-US" dirty="0"/>
              <a:t>触发器和</a:t>
            </a:r>
            <a:r>
              <a:rPr lang="en-US" altLang="zh-CN" dirty="0"/>
              <a:t>J-K</a:t>
            </a:r>
            <a:r>
              <a:rPr lang="zh-CN" altLang="en-US" dirty="0"/>
              <a:t>触发器的真值表</a:t>
            </a:r>
            <a:endParaRPr lang="zh-CN" altLang="en-US" dirty="0"/>
          </a:p>
        </p:txBody>
      </p:sp>
      <p:graphicFrame>
        <p:nvGraphicFramePr>
          <p:cNvPr id="530497" name="Group 65"/>
          <p:cNvGraphicFramePr>
            <a:graphicFrameLocks noGrp="1"/>
          </p:cNvGraphicFramePr>
          <p:nvPr/>
        </p:nvGraphicFramePr>
        <p:xfrm>
          <a:off x="4800600" y="2971800"/>
          <a:ext cx="3429000" cy="3608712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</a:tblGrid>
              <a:tr h="5180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CP  J   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03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0    1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      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    0         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    1      0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    1      1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    1      0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    1      1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08" name="Line 56"/>
          <p:cNvSpPr>
            <a:spLocks noChangeShapeType="1"/>
          </p:cNvSpPr>
          <p:nvPr/>
        </p:nvSpPr>
        <p:spPr bwMode="auto">
          <a:xfrm>
            <a:off x="4800600" y="457200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9" name="Rectangle 57"/>
          <p:cNvSpPr>
            <a:spLocks noChangeArrowheads="1"/>
          </p:cNvSpPr>
          <p:nvPr/>
        </p:nvSpPr>
        <p:spPr bwMode="auto">
          <a:xfrm>
            <a:off x="4800600" y="2460625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负边沿</a:t>
            </a:r>
            <a:r>
              <a:rPr lang="en-US" altLang="zh-CN" sz="2400">
                <a:latin typeface="Times New Roman" panose="02020603050405020304" pitchFamily="18" charset="0"/>
              </a:rPr>
              <a:t>J-K</a:t>
            </a:r>
            <a:r>
              <a:rPr lang="zh-CN" altLang="en-US" sz="2400">
                <a:latin typeface="Times New Roman" panose="02020603050405020304" pitchFamily="18" charset="0"/>
              </a:rPr>
              <a:t>触发器真值表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7610" name="Text Box 116"/>
          <p:cNvSpPr txBox="1">
            <a:spLocks noChangeArrowheads="1"/>
          </p:cNvSpPr>
          <p:nvPr/>
        </p:nvSpPr>
        <p:spPr bwMode="auto">
          <a:xfrm>
            <a:off x="925513" y="2492375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主从</a:t>
            </a:r>
            <a:r>
              <a:rPr lang="en-US" altLang="zh-CN" sz="2400" b="1">
                <a:latin typeface="Georgia" panose="02040502050405020303" pitchFamily="18" charset="0"/>
              </a:rPr>
              <a:t>R-S</a:t>
            </a:r>
            <a:r>
              <a:rPr lang="zh-CN" altLang="en-US" sz="2400" b="1">
                <a:latin typeface="Georgia" panose="02040502050405020303" pitchFamily="18" charset="0"/>
              </a:rPr>
              <a:t>触发器的功能表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53758" y="2949575"/>
            <a:ext cx="3437399" cy="3468742"/>
            <a:chOff x="4716001" y="1712858"/>
            <a:chExt cx="3437399" cy="3468742"/>
          </a:xfrm>
        </p:grpSpPr>
        <p:grpSp>
          <p:nvGrpSpPr>
            <p:cNvPr id="3" name="Group 226"/>
            <p:cNvGrpSpPr/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10" name="Rectangle 118"/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0   1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1   0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0   1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1   0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/>
              </a:p>
            </p:txBody>
          </p:sp>
          <p:sp>
            <p:nvSpPr>
              <p:cNvPr id="11" name="Rectangle 119"/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0    1   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0   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1    1        0   1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/>
              </a:p>
            </p:txBody>
          </p:sp>
          <p:sp>
            <p:nvSpPr>
              <p:cNvPr id="12" name="Rectangle 120"/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13" name="Rectangle 121"/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         CP  R  S</a:t>
                </a:r>
                <a:endParaRPr lang="en-US" altLang="zh-CN" sz="2400"/>
              </a:p>
            </p:txBody>
          </p:sp>
          <p:sp>
            <p:nvSpPr>
              <p:cNvPr id="14" name="Line 122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23"/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24"/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25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26"/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27"/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" name="Group 136"/>
              <p:cNvGrpSpPr/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41" name="Line 13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3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13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142"/>
              <p:cNvGrpSpPr/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36" name="Line 14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4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4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148"/>
              <p:cNvGrpSpPr/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31" name="Line 14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5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15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154"/>
              <p:cNvGrpSpPr/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26" name="Line 155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156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Line 157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Line 160"/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 Box 224"/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1*  1*</a:t>
                </a:r>
                <a:endParaRPr lang="en-US" altLang="zh-CN" sz="2000" dirty="0"/>
              </a:p>
            </p:txBody>
          </p:sp>
        </p:grp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" name="Text Box 55"/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7" name="Text Box 55"/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9" name="Text Box 55"/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sp>
        <p:nvSpPr>
          <p:cNvPr id="67657" name="Text Box 55"/>
          <p:cNvSpPr txBox="1">
            <a:spLocks noChangeArrowheads="1"/>
          </p:cNvSpPr>
          <p:nvPr/>
        </p:nvSpPr>
        <p:spPr bwMode="auto">
          <a:xfrm>
            <a:off x="4836391" y="2759220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58" name="Text Box 55"/>
          <p:cNvSpPr txBox="1">
            <a:spLocks noChangeArrowheads="1"/>
          </p:cNvSpPr>
          <p:nvPr/>
        </p:nvSpPr>
        <p:spPr bwMode="auto">
          <a:xfrm>
            <a:off x="5342612" y="2759276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59" name="Text Box 55"/>
          <p:cNvSpPr txBox="1">
            <a:spLocks noChangeArrowheads="1"/>
          </p:cNvSpPr>
          <p:nvPr/>
        </p:nvSpPr>
        <p:spPr bwMode="auto">
          <a:xfrm>
            <a:off x="7603034" y="2759220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60" name="Text Box 55"/>
          <p:cNvSpPr txBox="1">
            <a:spLocks noChangeArrowheads="1"/>
          </p:cNvSpPr>
          <p:nvPr/>
        </p:nvSpPr>
        <p:spPr bwMode="auto">
          <a:xfrm>
            <a:off x="7134257" y="3044932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61" name="Text Box 55"/>
          <p:cNvSpPr txBox="1">
            <a:spLocks noChangeArrowheads="1"/>
          </p:cNvSpPr>
          <p:nvPr/>
        </p:nvSpPr>
        <p:spPr bwMode="auto">
          <a:xfrm>
            <a:off x="7594234" y="5416441"/>
            <a:ext cx="540533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62" name="Text Box 55"/>
          <p:cNvSpPr txBox="1">
            <a:spLocks noChangeArrowheads="1"/>
          </p:cNvSpPr>
          <p:nvPr/>
        </p:nvSpPr>
        <p:spPr bwMode="auto">
          <a:xfrm>
            <a:off x="7151745" y="5705584"/>
            <a:ext cx="540533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63" name="Text Box 55"/>
          <p:cNvSpPr txBox="1">
            <a:spLocks noChangeArrowheads="1"/>
          </p:cNvSpPr>
          <p:nvPr/>
        </p:nvSpPr>
        <p:spPr bwMode="auto">
          <a:xfrm>
            <a:off x="7170179" y="5862223"/>
            <a:ext cx="540533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7664" name="Text Box 55"/>
          <p:cNvSpPr txBox="1">
            <a:spLocks noChangeArrowheads="1"/>
          </p:cNvSpPr>
          <p:nvPr/>
        </p:nvSpPr>
        <p:spPr bwMode="auto">
          <a:xfrm>
            <a:off x="7608778" y="6154792"/>
            <a:ext cx="540533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9BD29-5506-44D4-9A93-CB86AE5A8B5A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Rectangle 35"/>
          <p:cNvSpPr>
            <a:spLocks noChangeArrowheads="1"/>
          </p:cNvSpPr>
          <p:nvPr/>
        </p:nvSpPr>
        <p:spPr bwMode="auto">
          <a:xfrm>
            <a:off x="5912233" y="1439583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" name="Rectangle 35"/>
          <p:cNvSpPr>
            <a:spLocks noChangeArrowheads="1"/>
          </p:cNvSpPr>
          <p:nvPr/>
        </p:nvSpPr>
        <p:spPr bwMode="auto">
          <a:xfrm>
            <a:off x="6465347" y="1451333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8" name="Rectangle 35"/>
          <p:cNvSpPr>
            <a:spLocks noChangeArrowheads="1"/>
          </p:cNvSpPr>
          <p:nvPr/>
        </p:nvSpPr>
        <p:spPr bwMode="auto">
          <a:xfrm>
            <a:off x="6439805" y="2205538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" name="Rectangle 35"/>
          <p:cNvSpPr>
            <a:spLocks noChangeArrowheads="1"/>
          </p:cNvSpPr>
          <p:nvPr/>
        </p:nvSpPr>
        <p:spPr bwMode="auto">
          <a:xfrm>
            <a:off x="7046478" y="2175250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0" name="Rectangle 35"/>
          <p:cNvSpPr>
            <a:spLocks noChangeArrowheads="1"/>
          </p:cNvSpPr>
          <p:nvPr/>
        </p:nvSpPr>
        <p:spPr bwMode="auto">
          <a:xfrm>
            <a:off x="5904750" y="2189837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" name="Rectangle 35"/>
          <p:cNvSpPr>
            <a:spLocks noChangeArrowheads="1"/>
          </p:cNvSpPr>
          <p:nvPr/>
        </p:nvSpPr>
        <p:spPr bwMode="auto">
          <a:xfrm>
            <a:off x="7037242" y="1451631"/>
            <a:ext cx="360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5023383" y="189183"/>
            <a:ext cx="3066554" cy="2612573"/>
            <a:chOff x="5023383" y="189183"/>
            <a:chExt cx="3066554" cy="2612573"/>
          </a:xfrm>
        </p:grpSpPr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>
              <a:off x="7116799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>
              <a:off x="6145249" y="201152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>
              <a:off x="5172111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7116799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6145249" y="125587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auto">
            <a:xfrm>
              <a:off x="5172111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6" name="Line 13"/>
            <p:cNvSpPr>
              <a:spLocks noChangeShapeType="1"/>
            </p:cNvSpPr>
            <p:nvPr/>
          </p:nvSpPr>
          <p:spPr bwMode="auto">
            <a:xfrm>
              <a:off x="5756484" y="1262053"/>
              <a:ext cx="2333446" cy="79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>
              <a:off x="5756483" y="2019461"/>
              <a:ext cx="2333447" cy="15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 flipV="1">
              <a:off x="5756483" y="2790195"/>
              <a:ext cx="2333450" cy="1156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Line 16"/>
            <p:cNvSpPr>
              <a:spLocks noChangeShapeType="1"/>
            </p:cNvSpPr>
            <p:nvPr/>
          </p:nvSpPr>
          <p:spPr bwMode="auto">
            <a:xfrm>
              <a:off x="5756484" y="1279512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7"/>
            <p:cNvSpPr>
              <a:spLocks noChangeShapeType="1"/>
            </p:cNvSpPr>
            <p:nvPr/>
          </p:nvSpPr>
          <p:spPr bwMode="auto">
            <a:xfrm>
              <a:off x="6345275" y="1290456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8"/>
            <p:cNvSpPr>
              <a:spLocks noChangeShapeType="1"/>
            </p:cNvSpPr>
            <p:nvPr/>
          </p:nvSpPr>
          <p:spPr bwMode="auto">
            <a:xfrm>
              <a:off x="6907005" y="1269991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7484676" y="1276339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8089937" y="1269991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1"/>
            <p:cNvSpPr>
              <a:spLocks noChangeShapeType="1"/>
            </p:cNvSpPr>
            <p:nvPr/>
          </p:nvSpPr>
          <p:spPr bwMode="auto">
            <a:xfrm>
              <a:off x="5204356" y="630591"/>
              <a:ext cx="576263" cy="647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22"/>
            <p:cNvGrpSpPr/>
            <p:nvPr/>
          </p:nvGrpSpPr>
          <p:grpSpPr bwMode="auto">
            <a:xfrm>
              <a:off x="5023383" y="312111"/>
              <a:ext cx="857250" cy="915988"/>
              <a:chOff x="1116" y="1570"/>
              <a:chExt cx="540" cy="577"/>
            </a:xfrm>
          </p:grpSpPr>
          <p:sp>
            <p:nvSpPr>
              <p:cNvPr id="25" name="Text Box 2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J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Text Box 2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K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7" name="Text Box 25"/>
              <p:cNvSpPr txBox="1">
                <a:spLocks noChangeArrowheads="1"/>
              </p:cNvSpPr>
              <p:nvPr/>
            </p:nvSpPr>
            <p:spPr bwMode="auto">
              <a:xfrm>
                <a:off x="1116" y="1856"/>
                <a:ext cx="3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Q</a:t>
                </a:r>
                <a:r>
                  <a:rPr kumimoji="0" lang="en-US" altLang="zh-CN" baseline="-25000" dirty="0">
                    <a:latin typeface="Tahoma" panose="020B0604030504040204" pitchFamily="34" charset="0"/>
                  </a:rPr>
                  <a:t>n</a:t>
                </a:r>
                <a:endParaRPr kumimoji="0" lang="en-US" altLang="zh-CN" baseline="-250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9" name="Group 26"/>
            <p:cNvGrpSpPr/>
            <p:nvPr/>
          </p:nvGrpSpPr>
          <p:grpSpPr bwMode="auto">
            <a:xfrm>
              <a:off x="5298714" y="1461367"/>
              <a:ext cx="588963" cy="1220788"/>
              <a:chOff x="1148" y="2205"/>
              <a:chExt cx="371" cy="769"/>
            </a:xfrm>
          </p:grpSpPr>
          <p:sp>
            <p:nvSpPr>
              <p:cNvPr id="23" name="Text Box 27"/>
              <p:cNvSpPr txBox="1">
                <a:spLocks noChangeArrowheads="1"/>
              </p:cNvSpPr>
              <p:nvPr/>
            </p:nvSpPr>
            <p:spPr bwMode="auto">
              <a:xfrm>
                <a:off x="1148" y="268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1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0" name="Group 29"/>
            <p:cNvGrpSpPr/>
            <p:nvPr/>
          </p:nvGrpSpPr>
          <p:grpSpPr bwMode="auto">
            <a:xfrm>
              <a:off x="5769012" y="751055"/>
              <a:ext cx="2281239" cy="476251"/>
              <a:chOff x="1895" y="1797"/>
              <a:chExt cx="1437" cy="300"/>
            </a:xfrm>
          </p:grpSpPr>
          <p:sp>
            <p:nvSpPr>
              <p:cNvPr id="19" name="Text Box 30"/>
              <p:cNvSpPr txBox="1">
                <a:spLocks noChangeArrowheads="1"/>
              </p:cNvSpPr>
              <p:nvPr/>
            </p:nvSpPr>
            <p:spPr bwMode="auto">
              <a:xfrm>
                <a:off x="1895" y="1797"/>
                <a:ext cx="36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00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" name="Text Box 31"/>
              <p:cNvSpPr txBox="1">
                <a:spLocks noChangeArrowheads="1"/>
              </p:cNvSpPr>
              <p:nvPr/>
            </p:nvSpPr>
            <p:spPr bwMode="auto">
              <a:xfrm>
                <a:off x="2639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Text Box 32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01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Text Box 33"/>
              <p:cNvSpPr txBox="1">
                <a:spLocks noChangeArrowheads="1"/>
              </p:cNvSpPr>
              <p:nvPr/>
            </p:nvSpPr>
            <p:spPr bwMode="auto">
              <a:xfrm>
                <a:off x="2969" y="180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84" name="Text Box 24"/>
            <p:cNvSpPr txBox="1">
              <a:spLocks noChangeArrowheads="1"/>
            </p:cNvSpPr>
            <p:nvPr/>
          </p:nvSpPr>
          <p:spPr bwMode="auto">
            <a:xfrm>
              <a:off x="6333375" y="189183"/>
              <a:ext cx="15167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Q</a:t>
              </a:r>
              <a:r>
                <a:rPr kumimoji="0" lang="en-US" altLang="zh-CN" baseline="-25000" dirty="0">
                  <a:latin typeface="Tahoma" panose="020B0604030504040204" pitchFamily="34" charset="0"/>
                </a:rPr>
                <a:t>n+1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</p:grpSp>
      <p:sp>
        <p:nvSpPr>
          <p:cNvPr id="92" name="Rectangle 35"/>
          <p:cNvSpPr>
            <a:spLocks noChangeArrowheads="1"/>
          </p:cNvSpPr>
          <p:nvPr/>
        </p:nvSpPr>
        <p:spPr bwMode="auto">
          <a:xfrm>
            <a:off x="7617781" y="1463401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" name="Rectangle 35"/>
          <p:cNvSpPr>
            <a:spLocks noChangeArrowheads="1"/>
          </p:cNvSpPr>
          <p:nvPr/>
        </p:nvSpPr>
        <p:spPr bwMode="auto">
          <a:xfrm>
            <a:off x="7614575" y="2189836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 dirty="0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16" name="组合 215"/>
          <p:cNvGrpSpPr/>
          <p:nvPr/>
        </p:nvGrpSpPr>
        <p:grpSpPr>
          <a:xfrm>
            <a:off x="467544" y="3856488"/>
            <a:ext cx="3097452" cy="2555988"/>
            <a:chOff x="4877317" y="3319400"/>
            <a:chExt cx="3097452" cy="2555988"/>
          </a:xfrm>
        </p:grpSpPr>
        <p:sp>
          <p:nvSpPr>
            <p:cNvPr id="179" name="Rectangle 35"/>
            <p:cNvSpPr>
              <a:spLocks noChangeArrowheads="1"/>
            </p:cNvSpPr>
            <p:nvPr/>
          </p:nvSpPr>
          <p:spPr bwMode="auto">
            <a:xfrm>
              <a:off x="5649022" y="4514567"/>
              <a:ext cx="6383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X0 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0" name="组合 179"/>
            <p:cNvGrpSpPr/>
            <p:nvPr/>
          </p:nvGrpSpPr>
          <p:grpSpPr>
            <a:xfrm>
              <a:off x="4877317" y="3319400"/>
              <a:ext cx="3066554" cy="2555988"/>
              <a:chOff x="5023383" y="245768"/>
              <a:chExt cx="3066554" cy="2555988"/>
            </a:xfrm>
          </p:grpSpPr>
          <p:sp>
            <p:nvSpPr>
              <p:cNvPr id="181" name="Rectangle 6"/>
              <p:cNvSpPr>
                <a:spLocks noChangeArrowheads="1"/>
              </p:cNvSpPr>
              <p:nvPr/>
            </p:nvSpPr>
            <p:spPr bwMode="auto">
              <a:xfrm>
                <a:off x="7116799" y="201152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Rectangle 7"/>
              <p:cNvSpPr>
                <a:spLocks noChangeArrowheads="1"/>
              </p:cNvSpPr>
              <p:nvPr/>
            </p:nvSpPr>
            <p:spPr bwMode="auto">
              <a:xfrm>
                <a:off x="6145249" y="2011524"/>
                <a:ext cx="971550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3" name="Rectangle 8"/>
              <p:cNvSpPr>
                <a:spLocks noChangeArrowheads="1"/>
              </p:cNvSpPr>
              <p:nvPr/>
            </p:nvSpPr>
            <p:spPr bwMode="auto">
              <a:xfrm>
                <a:off x="5172111" y="201152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Rectangle 10"/>
              <p:cNvSpPr>
                <a:spLocks noChangeArrowheads="1"/>
              </p:cNvSpPr>
              <p:nvPr/>
            </p:nvSpPr>
            <p:spPr bwMode="auto">
              <a:xfrm>
                <a:off x="7116799" y="125587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5" name="Rectangle 11"/>
              <p:cNvSpPr>
                <a:spLocks noChangeArrowheads="1"/>
              </p:cNvSpPr>
              <p:nvPr/>
            </p:nvSpPr>
            <p:spPr bwMode="auto">
              <a:xfrm>
                <a:off x="6145249" y="1255874"/>
                <a:ext cx="971550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Rectangle 12"/>
              <p:cNvSpPr>
                <a:spLocks noChangeArrowheads="1"/>
              </p:cNvSpPr>
              <p:nvPr/>
            </p:nvSpPr>
            <p:spPr bwMode="auto">
              <a:xfrm>
                <a:off x="5172111" y="125587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7" name="Line 13"/>
              <p:cNvSpPr>
                <a:spLocks noChangeShapeType="1"/>
              </p:cNvSpPr>
              <p:nvPr/>
            </p:nvSpPr>
            <p:spPr bwMode="auto">
              <a:xfrm>
                <a:off x="5756484" y="1262053"/>
                <a:ext cx="2333446" cy="79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" name="Line 14"/>
              <p:cNvSpPr>
                <a:spLocks noChangeShapeType="1"/>
              </p:cNvSpPr>
              <p:nvPr/>
            </p:nvSpPr>
            <p:spPr bwMode="auto">
              <a:xfrm>
                <a:off x="5756483" y="2019461"/>
                <a:ext cx="2333447" cy="155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Line 15"/>
              <p:cNvSpPr>
                <a:spLocks noChangeShapeType="1"/>
              </p:cNvSpPr>
              <p:nvPr/>
            </p:nvSpPr>
            <p:spPr bwMode="auto">
              <a:xfrm flipV="1">
                <a:off x="5756483" y="2790195"/>
                <a:ext cx="2333450" cy="1156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90" name="Line 16"/>
              <p:cNvSpPr>
                <a:spLocks noChangeShapeType="1"/>
              </p:cNvSpPr>
              <p:nvPr/>
            </p:nvSpPr>
            <p:spPr bwMode="auto">
              <a:xfrm>
                <a:off x="5756484" y="1279512"/>
                <a:ext cx="0" cy="1511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Line 17"/>
              <p:cNvSpPr>
                <a:spLocks noChangeShapeType="1"/>
              </p:cNvSpPr>
              <p:nvPr/>
            </p:nvSpPr>
            <p:spPr bwMode="auto">
              <a:xfrm>
                <a:off x="6345275" y="1290456"/>
                <a:ext cx="0" cy="1511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Line 18"/>
              <p:cNvSpPr>
                <a:spLocks noChangeShapeType="1"/>
              </p:cNvSpPr>
              <p:nvPr/>
            </p:nvSpPr>
            <p:spPr bwMode="auto">
              <a:xfrm>
                <a:off x="6907005" y="1269991"/>
                <a:ext cx="0" cy="1511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Line 19"/>
              <p:cNvSpPr>
                <a:spLocks noChangeShapeType="1"/>
              </p:cNvSpPr>
              <p:nvPr/>
            </p:nvSpPr>
            <p:spPr bwMode="auto">
              <a:xfrm>
                <a:off x="7484676" y="1276339"/>
                <a:ext cx="0" cy="1511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20"/>
              <p:cNvSpPr>
                <a:spLocks noChangeShapeType="1"/>
              </p:cNvSpPr>
              <p:nvPr/>
            </p:nvSpPr>
            <p:spPr bwMode="auto">
              <a:xfrm>
                <a:off x="8089937" y="1269991"/>
                <a:ext cx="0" cy="1511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Line 21"/>
              <p:cNvSpPr>
                <a:spLocks noChangeShapeType="1"/>
              </p:cNvSpPr>
              <p:nvPr/>
            </p:nvSpPr>
            <p:spPr bwMode="auto">
              <a:xfrm>
                <a:off x="5204356" y="630591"/>
                <a:ext cx="576263" cy="6477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6" name="Group 22"/>
              <p:cNvGrpSpPr/>
              <p:nvPr/>
            </p:nvGrpSpPr>
            <p:grpSpPr bwMode="auto">
              <a:xfrm>
                <a:off x="5023383" y="312111"/>
                <a:ext cx="857250" cy="915988"/>
                <a:chOff x="1116" y="1570"/>
                <a:chExt cx="540" cy="577"/>
              </a:xfrm>
            </p:grpSpPr>
            <p:sp>
              <p:nvSpPr>
                <p:cNvPr id="20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246" y="157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</a:rPr>
                    <a:t>J</a:t>
                  </a:r>
                  <a:endParaRPr kumimoji="0" lang="en-US" altLang="zh-CN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0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383" y="175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</a:rPr>
                    <a:t>K</a:t>
                  </a:r>
                  <a:endParaRPr kumimoji="0" lang="en-US" altLang="zh-CN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0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16" y="1856"/>
                  <a:ext cx="39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</a:rPr>
                    <a:t>Q</a:t>
                  </a:r>
                  <a:r>
                    <a:rPr kumimoji="0" lang="en-US" altLang="zh-CN" baseline="-25000" dirty="0">
                      <a:latin typeface="Tahoma" panose="020B0604030504040204" pitchFamily="34" charset="0"/>
                    </a:rPr>
                    <a:t>n</a:t>
                  </a:r>
                  <a:endParaRPr kumimoji="0" lang="en-US" altLang="zh-CN" baseline="-25000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97" name="Group 26"/>
              <p:cNvGrpSpPr/>
              <p:nvPr/>
            </p:nvGrpSpPr>
            <p:grpSpPr bwMode="auto">
              <a:xfrm>
                <a:off x="5298714" y="1461367"/>
                <a:ext cx="588963" cy="1220788"/>
                <a:chOff x="1148" y="2205"/>
                <a:chExt cx="371" cy="769"/>
              </a:xfrm>
            </p:grpSpPr>
            <p:sp>
              <p:nvSpPr>
                <p:cNvPr id="20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48" y="2686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</a:rPr>
                    <a:t>1</a:t>
                  </a:r>
                  <a:endParaRPr kumimoji="0" lang="en-US" altLang="zh-CN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05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156" y="2205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98" name="Group 29"/>
              <p:cNvGrpSpPr/>
              <p:nvPr/>
            </p:nvGrpSpPr>
            <p:grpSpPr bwMode="auto">
              <a:xfrm>
                <a:off x="5769012" y="751055"/>
                <a:ext cx="2281239" cy="476251"/>
                <a:chOff x="1895" y="1797"/>
                <a:chExt cx="1437" cy="300"/>
              </a:xfrm>
            </p:grpSpPr>
            <p:sp>
              <p:nvSpPr>
                <p:cNvPr id="200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895" y="1797"/>
                  <a:ext cx="36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</a:rPr>
                    <a:t>00</a:t>
                  </a:r>
                  <a:endParaRPr kumimoji="0" lang="en-US" altLang="zh-CN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01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639" y="1797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11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0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290" y="1797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</a:rPr>
                    <a:t>01</a:t>
                  </a:r>
                  <a:endParaRPr kumimoji="0" lang="en-US" altLang="zh-CN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0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969" y="180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10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99" name="Text Box 24"/>
              <p:cNvSpPr txBox="1">
                <a:spLocks noChangeArrowheads="1"/>
              </p:cNvSpPr>
              <p:nvPr/>
            </p:nvSpPr>
            <p:spPr bwMode="auto">
              <a:xfrm>
                <a:off x="6291549" y="245768"/>
                <a:ext cx="151679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R</a:t>
                </a:r>
                <a:r>
                  <a:rPr kumimoji="0" lang="zh-CN" altLang="en-US" dirty="0">
                    <a:latin typeface="Tahoma" panose="020B0604030504040204" pitchFamily="34" charset="0"/>
                  </a:rPr>
                  <a:t>，</a:t>
                </a:r>
                <a:r>
                  <a:rPr kumimoji="0" lang="en-US" altLang="zh-CN" dirty="0">
                    <a:latin typeface="Tahoma" panose="020B0604030504040204" pitchFamily="34" charset="0"/>
                  </a:rPr>
                  <a:t>S</a:t>
                </a:r>
                <a:endParaRPr kumimoji="0" lang="en-US" altLang="zh-CN" baseline="-250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09" name="Rectangle 35"/>
            <p:cNvSpPr>
              <a:spLocks noChangeArrowheads="1"/>
            </p:cNvSpPr>
            <p:nvPr/>
          </p:nvSpPr>
          <p:spPr bwMode="auto">
            <a:xfrm>
              <a:off x="5617294" y="5296354"/>
              <a:ext cx="5613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0X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0" name="Rectangle 35"/>
            <p:cNvSpPr>
              <a:spLocks noChangeArrowheads="1"/>
            </p:cNvSpPr>
            <p:nvPr/>
          </p:nvSpPr>
          <p:spPr bwMode="auto">
            <a:xfrm>
              <a:off x="6232878" y="4526111"/>
              <a:ext cx="5613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X0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1" name="Rectangle 35"/>
            <p:cNvSpPr>
              <a:spLocks noChangeArrowheads="1"/>
            </p:cNvSpPr>
            <p:nvPr/>
          </p:nvSpPr>
          <p:spPr bwMode="auto">
            <a:xfrm>
              <a:off x="6225427" y="529894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10 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2" name="Rectangle 35"/>
            <p:cNvSpPr>
              <a:spLocks noChangeArrowheads="1"/>
            </p:cNvSpPr>
            <p:nvPr/>
          </p:nvSpPr>
          <p:spPr bwMode="auto">
            <a:xfrm>
              <a:off x="6830119" y="4523685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01 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3" name="Rectangle 35"/>
            <p:cNvSpPr>
              <a:spLocks noChangeArrowheads="1"/>
            </p:cNvSpPr>
            <p:nvPr/>
          </p:nvSpPr>
          <p:spPr bwMode="auto">
            <a:xfrm>
              <a:off x="6781911" y="5281761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10 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4" name="Rectangle 35"/>
            <p:cNvSpPr>
              <a:spLocks noChangeArrowheads="1"/>
            </p:cNvSpPr>
            <p:nvPr/>
          </p:nvSpPr>
          <p:spPr bwMode="auto">
            <a:xfrm>
              <a:off x="7405382" y="4511172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01 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" name="Rectangle 35"/>
            <p:cNvSpPr>
              <a:spLocks noChangeArrowheads="1"/>
            </p:cNvSpPr>
            <p:nvPr/>
          </p:nvSpPr>
          <p:spPr bwMode="auto">
            <a:xfrm>
              <a:off x="7369307" y="5298947"/>
              <a:ext cx="5613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0X</a:t>
              </a:r>
              <a:endPara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7" name="组合 216"/>
          <p:cNvGrpSpPr/>
          <p:nvPr/>
        </p:nvGrpSpPr>
        <p:grpSpPr>
          <a:xfrm>
            <a:off x="3670446" y="5060247"/>
            <a:ext cx="1040670" cy="1004027"/>
            <a:chOff x="3646055" y="5562600"/>
            <a:chExt cx="1040670" cy="1004027"/>
          </a:xfrm>
        </p:grpSpPr>
        <p:sp>
          <p:nvSpPr>
            <p:cNvPr id="218" name="Text Box 180"/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R=KQ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219" name="Text Box 180"/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S=JQ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sp>
        <p:nvSpPr>
          <p:cNvPr id="22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1094" y="312112"/>
            <a:ext cx="4758632" cy="63262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用</a:t>
            </a:r>
            <a:r>
              <a:rPr lang="en-US" altLang="zh-CN" sz="2800" dirty="0"/>
              <a:t>R-S</a:t>
            </a:r>
            <a:r>
              <a:rPr lang="zh-CN" altLang="en-US" sz="2800" dirty="0"/>
              <a:t>触发器实现</a:t>
            </a:r>
            <a:r>
              <a:rPr lang="en-US" altLang="zh-CN" sz="2800" dirty="0"/>
              <a:t>J-K</a:t>
            </a:r>
            <a:r>
              <a:rPr lang="zh-CN" altLang="en-US" sz="2800" dirty="0"/>
              <a:t>触发器</a:t>
            </a:r>
            <a:endParaRPr lang="zh-CN" altLang="en-US" sz="2800" dirty="0"/>
          </a:p>
        </p:txBody>
      </p:sp>
      <p:grpSp>
        <p:nvGrpSpPr>
          <p:cNvPr id="239" name="组合 238"/>
          <p:cNvGrpSpPr/>
          <p:nvPr/>
        </p:nvGrpSpPr>
        <p:grpSpPr>
          <a:xfrm>
            <a:off x="1473373" y="836712"/>
            <a:ext cx="1599344" cy="3037877"/>
            <a:chOff x="1473373" y="836712"/>
            <a:chExt cx="1599344" cy="3037877"/>
          </a:xfrm>
        </p:grpSpPr>
        <p:sp>
          <p:nvSpPr>
            <p:cNvPr id="221" name="矩形 220"/>
            <p:cNvSpPr/>
            <p:nvPr/>
          </p:nvSpPr>
          <p:spPr>
            <a:xfrm>
              <a:off x="1548743" y="1290456"/>
              <a:ext cx="1453653" cy="77680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2" name="矩形 221"/>
            <p:cNvSpPr/>
            <p:nvPr/>
          </p:nvSpPr>
          <p:spPr>
            <a:xfrm>
              <a:off x="1548743" y="2580702"/>
              <a:ext cx="1453653" cy="6326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4" name="直接连接符 223"/>
            <p:cNvCxnSpPr/>
            <p:nvPr/>
          </p:nvCxnSpPr>
          <p:spPr>
            <a:xfrm>
              <a:off x="1905427" y="3213326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2616789" y="3200940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>
              <a:off x="1863891" y="2117231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>
              <a:off x="2616789" y="2117231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>
              <a:off x="1907704" y="873384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>
              <a:off x="2614309" y="836712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 Box 24"/>
            <p:cNvSpPr txBox="1">
              <a:spLocks noChangeArrowheads="1"/>
            </p:cNvSpPr>
            <p:nvPr/>
          </p:nvSpPr>
          <p:spPr bwMode="auto">
            <a:xfrm>
              <a:off x="1651864" y="1243253"/>
              <a:ext cx="40649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Q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34" name="Text Box 24"/>
            <p:cNvSpPr txBox="1">
              <a:spLocks noChangeArrowheads="1"/>
            </p:cNvSpPr>
            <p:nvPr/>
          </p:nvSpPr>
          <p:spPr bwMode="auto">
            <a:xfrm>
              <a:off x="2411063" y="1297786"/>
              <a:ext cx="406492" cy="492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500"/>
                </a:lnSpc>
                <a:spcBef>
                  <a:spcPts val="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—</a:t>
              </a:r>
              <a:endParaRPr kumimoji="0" lang="en-US" altLang="zh-CN" dirty="0">
                <a:latin typeface="Tahoma" panose="020B0604030504040204" pitchFamily="34" charset="0"/>
              </a:endParaRPr>
            </a:p>
            <a:p>
              <a:pPr eaLnBrk="1" hangingPunct="1">
                <a:lnSpc>
                  <a:spcPts val="1500"/>
                </a:lnSpc>
                <a:spcBef>
                  <a:spcPts val="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Q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35" name="Text Box 24"/>
            <p:cNvSpPr txBox="1">
              <a:spLocks noChangeArrowheads="1"/>
            </p:cNvSpPr>
            <p:nvPr/>
          </p:nvSpPr>
          <p:spPr bwMode="auto">
            <a:xfrm>
              <a:off x="1695395" y="1667172"/>
              <a:ext cx="12211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R</a:t>
              </a:r>
              <a:r>
                <a:rPr kumimoji="0" lang="zh-CN" altLang="en-US" dirty="0">
                  <a:latin typeface="Tahoma" panose="020B0604030504040204" pitchFamily="34" charset="0"/>
                </a:rPr>
                <a:t>      </a:t>
              </a:r>
              <a:r>
                <a:rPr kumimoji="0" lang="en-US" altLang="zh-CN" dirty="0">
                  <a:latin typeface="Tahoma" panose="020B0604030504040204" pitchFamily="34" charset="0"/>
                </a:rPr>
                <a:t>S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36" name="Text Box 24"/>
            <p:cNvSpPr txBox="1">
              <a:spLocks noChangeArrowheads="1"/>
            </p:cNvSpPr>
            <p:nvPr/>
          </p:nvSpPr>
          <p:spPr bwMode="auto">
            <a:xfrm>
              <a:off x="1473373" y="2124887"/>
              <a:ext cx="12211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R</a:t>
              </a:r>
              <a:r>
                <a:rPr kumimoji="0" lang="zh-CN" altLang="en-US" dirty="0">
                  <a:latin typeface="Tahoma" panose="020B0604030504040204" pitchFamily="34" charset="0"/>
                </a:rPr>
                <a:t>      </a:t>
              </a:r>
              <a:r>
                <a:rPr kumimoji="0" lang="en-US" altLang="zh-CN" dirty="0">
                  <a:latin typeface="Tahoma" panose="020B0604030504040204" pitchFamily="34" charset="0"/>
                </a:rPr>
                <a:t>S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37" name="Text Box 24"/>
            <p:cNvSpPr txBox="1">
              <a:spLocks noChangeArrowheads="1"/>
            </p:cNvSpPr>
            <p:nvPr/>
          </p:nvSpPr>
          <p:spPr bwMode="auto">
            <a:xfrm>
              <a:off x="1480697" y="3412924"/>
              <a:ext cx="12211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 J</a:t>
              </a:r>
              <a:r>
                <a:rPr kumimoji="0" lang="zh-CN" altLang="en-US" dirty="0">
                  <a:latin typeface="Tahoma" panose="020B0604030504040204" pitchFamily="34" charset="0"/>
                </a:rPr>
                <a:t>      </a:t>
              </a:r>
              <a:r>
                <a:rPr kumimoji="0" lang="en-US" altLang="zh-CN" dirty="0">
                  <a:latin typeface="Tahoma" panose="020B0604030504040204" pitchFamily="34" charset="0"/>
                </a:rPr>
                <a:t>K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38" name="Text Box 24"/>
            <p:cNvSpPr txBox="1">
              <a:spLocks noChangeArrowheads="1"/>
            </p:cNvSpPr>
            <p:nvPr/>
          </p:nvSpPr>
          <p:spPr bwMode="auto">
            <a:xfrm>
              <a:off x="1580317" y="2669888"/>
              <a:ext cx="1492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Tahoma" panose="020B0604030504040204" pitchFamily="34" charset="0"/>
                </a:rPr>
                <a:t>组合逻辑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</p:grpSp>
      <p:sp>
        <p:nvSpPr>
          <p:cNvPr id="240" name="矩形 239"/>
          <p:cNvSpPr/>
          <p:nvPr/>
        </p:nvSpPr>
        <p:spPr>
          <a:xfrm>
            <a:off x="1126245" y="1088902"/>
            <a:ext cx="2261270" cy="2376263"/>
          </a:xfrm>
          <a:prstGeom prst="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5795088" y="4609956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23383" y="3599455"/>
            <a:ext cx="3066554" cy="2555988"/>
            <a:chOff x="5023383" y="245768"/>
            <a:chExt cx="3066554" cy="2555988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7116799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6145249" y="201152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5172111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7116799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145249" y="125587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5172111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5756484" y="1262053"/>
              <a:ext cx="2333446" cy="79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5756483" y="2019461"/>
              <a:ext cx="2333447" cy="15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5756483" y="2790195"/>
              <a:ext cx="2333450" cy="1156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756484" y="1279512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7"/>
            <p:cNvSpPr>
              <a:spLocks noChangeShapeType="1"/>
            </p:cNvSpPr>
            <p:nvPr/>
          </p:nvSpPr>
          <p:spPr bwMode="auto">
            <a:xfrm>
              <a:off x="6345275" y="1290456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6907005" y="1269991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9"/>
            <p:cNvSpPr>
              <a:spLocks noChangeShapeType="1"/>
            </p:cNvSpPr>
            <p:nvPr/>
          </p:nvSpPr>
          <p:spPr bwMode="auto">
            <a:xfrm>
              <a:off x="7484676" y="1276339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0"/>
            <p:cNvSpPr>
              <a:spLocks noChangeShapeType="1"/>
            </p:cNvSpPr>
            <p:nvPr/>
          </p:nvSpPr>
          <p:spPr bwMode="auto">
            <a:xfrm>
              <a:off x="8089937" y="1269991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1"/>
            <p:cNvSpPr>
              <a:spLocks noChangeShapeType="1"/>
            </p:cNvSpPr>
            <p:nvPr/>
          </p:nvSpPr>
          <p:spPr bwMode="auto">
            <a:xfrm>
              <a:off x="5204356" y="630591"/>
              <a:ext cx="576263" cy="647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" name="Group 22"/>
            <p:cNvGrpSpPr/>
            <p:nvPr/>
          </p:nvGrpSpPr>
          <p:grpSpPr bwMode="auto">
            <a:xfrm>
              <a:off x="5023383" y="312111"/>
              <a:ext cx="857250" cy="915988"/>
              <a:chOff x="1116" y="1570"/>
              <a:chExt cx="540" cy="577"/>
            </a:xfrm>
          </p:grpSpPr>
          <p:sp>
            <p:nvSpPr>
              <p:cNvPr id="58" name="Text Box 2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J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9" name="Text Box 2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K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0" name="Text Box 25"/>
              <p:cNvSpPr txBox="1">
                <a:spLocks noChangeArrowheads="1"/>
              </p:cNvSpPr>
              <p:nvPr/>
            </p:nvSpPr>
            <p:spPr bwMode="auto">
              <a:xfrm>
                <a:off x="1116" y="1856"/>
                <a:ext cx="3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Q</a:t>
                </a:r>
                <a:r>
                  <a:rPr kumimoji="0" lang="en-US" altLang="zh-CN" baseline="-25000" dirty="0">
                    <a:latin typeface="Tahoma" panose="020B0604030504040204" pitchFamily="34" charset="0"/>
                  </a:rPr>
                  <a:t>0</a:t>
                </a:r>
                <a:endParaRPr kumimoji="0" lang="en-US" altLang="zh-CN" baseline="-250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49" name="Group 26"/>
            <p:cNvGrpSpPr/>
            <p:nvPr/>
          </p:nvGrpSpPr>
          <p:grpSpPr bwMode="auto">
            <a:xfrm>
              <a:off x="5298714" y="1461367"/>
              <a:ext cx="588963" cy="1220788"/>
              <a:chOff x="1148" y="2205"/>
              <a:chExt cx="371" cy="769"/>
            </a:xfrm>
          </p:grpSpPr>
          <p:sp>
            <p:nvSpPr>
              <p:cNvPr id="56" name="Text Box 27"/>
              <p:cNvSpPr txBox="1">
                <a:spLocks noChangeArrowheads="1"/>
              </p:cNvSpPr>
              <p:nvPr/>
            </p:nvSpPr>
            <p:spPr bwMode="auto">
              <a:xfrm>
                <a:off x="1148" y="268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1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0" name="Group 29"/>
            <p:cNvGrpSpPr/>
            <p:nvPr/>
          </p:nvGrpSpPr>
          <p:grpSpPr bwMode="auto">
            <a:xfrm>
              <a:off x="5769012" y="751055"/>
              <a:ext cx="2281239" cy="476251"/>
              <a:chOff x="1895" y="1797"/>
              <a:chExt cx="1437" cy="300"/>
            </a:xfrm>
          </p:grpSpPr>
          <p:sp>
            <p:nvSpPr>
              <p:cNvPr id="52" name="Text Box 30"/>
              <p:cNvSpPr txBox="1">
                <a:spLocks noChangeArrowheads="1"/>
              </p:cNvSpPr>
              <p:nvPr/>
            </p:nvSpPr>
            <p:spPr bwMode="auto">
              <a:xfrm>
                <a:off x="1895" y="1797"/>
                <a:ext cx="36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00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Text Box 31"/>
              <p:cNvSpPr txBox="1">
                <a:spLocks noChangeArrowheads="1"/>
              </p:cNvSpPr>
              <p:nvPr/>
            </p:nvSpPr>
            <p:spPr bwMode="auto">
              <a:xfrm>
                <a:off x="2639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54" name="Text Box 32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01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Text Box 33"/>
              <p:cNvSpPr txBox="1">
                <a:spLocks noChangeArrowheads="1"/>
              </p:cNvSpPr>
              <p:nvPr/>
            </p:nvSpPr>
            <p:spPr bwMode="auto">
              <a:xfrm>
                <a:off x="2969" y="180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10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1" name="Text Box 24"/>
            <p:cNvSpPr txBox="1">
              <a:spLocks noChangeArrowheads="1"/>
            </p:cNvSpPr>
            <p:nvPr/>
          </p:nvSpPr>
          <p:spPr bwMode="auto">
            <a:xfrm>
              <a:off x="6291549" y="245768"/>
              <a:ext cx="15167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R</a:t>
              </a:r>
              <a:r>
                <a:rPr kumimoji="0" lang="zh-CN" altLang="en-US" dirty="0">
                  <a:latin typeface="Tahoma" panose="020B0604030504040204" pitchFamily="34" charset="0"/>
                </a:rPr>
                <a:t>，</a:t>
              </a:r>
              <a:r>
                <a:rPr kumimoji="0" lang="en-US" altLang="zh-CN" dirty="0">
                  <a:latin typeface="Tahoma" panose="020B0604030504040204" pitchFamily="34" charset="0"/>
                </a:rPr>
                <a:t>S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</p:grpSp>
      <p:sp>
        <p:nvSpPr>
          <p:cNvPr id="61" name="Rectangle 35"/>
          <p:cNvSpPr>
            <a:spLocks noChangeArrowheads="1"/>
          </p:cNvSpPr>
          <p:nvPr/>
        </p:nvSpPr>
        <p:spPr bwMode="auto">
          <a:xfrm>
            <a:off x="5763360" y="5391743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2" name="Rectangle 35"/>
          <p:cNvSpPr>
            <a:spLocks noChangeArrowheads="1"/>
          </p:cNvSpPr>
          <p:nvPr/>
        </p:nvSpPr>
        <p:spPr bwMode="auto">
          <a:xfrm>
            <a:off x="6398214" y="4590214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3" name="Rectangle 35"/>
          <p:cNvSpPr>
            <a:spLocks noChangeArrowheads="1"/>
          </p:cNvSpPr>
          <p:nvPr/>
        </p:nvSpPr>
        <p:spPr bwMode="auto">
          <a:xfrm>
            <a:off x="6378944" y="5536047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4" name="Rectangle 35"/>
          <p:cNvSpPr>
            <a:spLocks noChangeArrowheads="1"/>
          </p:cNvSpPr>
          <p:nvPr/>
        </p:nvSpPr>
        <p:spPr bwMode="auto">
          <a:xfrm>
            <a:off x="6975603" y="4753632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Rectangle 35"/>
          <p:cNvSpPr>
            <a:spLocks noChangeArrowheads="1"/>
          </p:cNvSpPr>
          <p:nvPr/>
        </p:nvSpPr>
        <p:spPr bwMode="auto">
          <a:xfrm>
            <a:off x="6939772" y="5523953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35"/>
          <p:cNvSpPr>
            <a:spLocks noChangeArrowheads="1"/>
          </p:cNvSpPr>
          <p:nvPr/>
        </p:nvSpPr>
        <p:spPr bwMode="auto">
          <a:xfrm>
            <a:off x="7520546" y="4760690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" name="Rectangle 35"/>
          <p:cNvSpPr>
            <a:spLocks noChangeArrowheads="1"/>
          </p:cNvSpPr>
          <p:nvPr/>
        </p:nvSpPr>
        <p:spPr bwMode="auto">
          <a:xfrm>
            <a:off x="7502610" y="5339286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  <a:endParaRPr kumimoji="0" lang="en-US" altLang="zh-CN" b="1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4120442" y="4599324"/>
            <a:ext cx="1779659" cy="639563"/>
            <a:chOff x="4120442" y="4599324"/>
            <a:chExt cx="1779659" cy="639563"/>
          </a:xfrm>
        </p:grpSpPr>
        <p:sp>
          <p:nvSpPr>
            <p:cNvPr id="69" name="Text Box 24"/>
            <p:cNvSpPr txBox="1">
              <a:spLocks noChangeArrowheads="1"/>
            </p:cNvSpPr>
            <p:nvPr/>
          </p:nvSpPr>
          <p:spPr bwMode="auto">
            <a:xfrm>
              <a:off x="4120442" y="4599324"/>
              <a:ext cx="95102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Tahoma" panose="020B0604030504040204" pitchFamily="34" charset="0"/>
                </a:rPr>
                <a:t>保持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4888406" y="4852097"/>
              <a:ext cx="1011695" cy="386790"/>
            </a:xfrm>
            <a:prstGeom prst="line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4218997" y="4195985"/>
            <a:ext cx="1662221" cy="625148"/>
            <a:chOff x="4218997" y="4195985"/>
            <a:chExt cx="1662221" cy="625148"/>
          </a:xfrm>
        </p:grpSpPr>
        <p:sp>
          <p:nvSpPr>
            <p:cNvPr id="68" name="Text Box 24"/>
            <p:cNvSpPr txBox="1">
              <a:spLocks noChangeArrowheads="1"/>
            </p:cNvSpPr>
            <p:nvPr/>
          </p:nvSpPr>
          <p:spPr bwMode="auto">
            <a:xfrm>
              <a:off x="4218997" y="4195985"/>
              <a:ext cx="6662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Tahoma" panose="020B0604030504040204" pitchFamily="34" charset="0"/>
                </a:rPr>
                <a:t>置</a:t>
              </a:r>
              <a:r>
                <a:rPr kumimoji="0" lang="en-US" altLang="zh-CN" dirty="0">
                  <a:latin typeface="Tahoma" panose="020B0604030504040204" pitchFamily="34" charset="0"/>
                </a:rPr>
                <a:t>0</a:t>
              </a:r>
              <a:endParaRPr kumimoji="0" lang="en-US" altLang="zh-CN" baseline="-25000" dirty="0">
                <a:latin typeface="Tahoma" panose="020B0604030504040204" pitchFamily="34" charset="0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4869523" y="4434343"/>
              <a:ext cx="1011695" cy="386790"/>
            </a:xfrm>
            <a:prstGeom prst="line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组合 104"/>
          <p:cNvGrpSpPr/>
          <p:nvPr/>
        </p:nvGrpSpPr>
        <p:grpSpPr>
          <a:xfrm>
            <a:off x="2555776" y="1124744"/>
            <a:ext cx="648072" cy="2232248"/>
            <a:chOff x="2555776" y="1124744"/>
            <a:chExt cx="648072" cy="2232248"/>
          </a:xfrm>
        </p:grpSpPr>
        <p:grpSp>
          <p:nvGrpSpPr>
            <p:cNvPr id="103" name="组合 102"/>
            <p:cNvGrpSpPr/>
            <p:nvPr/>
          </p:nvGrpSpPr>
          <p:grpSpPr>
            <a:xfrm>
              <a:off x="2555776" y="1124744"/>
              <a:ext cx="648072" cy="2232248"/>
              <a:chOff x="2555776" y="1124744"/>
              <a:chExt cx="648072" cy="2232248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2627784" y="1196752"/>
                <a:ext cx="576064" cy="2160240"/>
                <a:chOff x="2627784" y="1196752"/>
                <a:chExt cx="576064" cy="2160240"/>
              </a:xfrm>
            </p:grpSpPr>
            <p:cxnSp>
              <p:nvCxnSpPr>
                <p:cNvPr id="71" name="直接连接符 70"/>
                <p:cNvCxnSpPr/>
                <p:nvPr/>
              </p:nvCxnSpPr>
              <p:spPr>
                <a:xfrm>
                  <a:off x="2627784" y="1196752"/>
                  <a:ext cx="57606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3203848" y="1196752"/>
                  <a:ext cx="0" cy="21602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2843808" y="3356992"/>
                  <a:ext cx="36004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椭圆 101"/>
              <p:cNvSpPr/>
              <p:nvPr/>
            </p:nvSpPr>
            <p:spPr>
              <a:xfrm>
                <a:off x="2555776" y="1124744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5" name="直接连接符 74"/>
            <p:cNvCxnSpPr/>
            <p:nvPr/>
          </p:nvCxnSpPr>
          <p:spPr>
            <a:xfrm flipV="1">
              <a:off x="2843808" y="3212976"/>
              <a:ext cx="0" cy="1440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1331640" y="1107060"/>
            <a:ext cx="648072" cy="2250093"/>
            <a:chOff x="1331640" y="1107060"/>
            <a:chExt cx="648072" cy="2250093"/>
          </a:xfrm>
        </p:grpSpPr>
        <p:grpSp>
          <p:nvGrpSpPr>
            <p:cNvPr id="101" name="组合 100"/>
            <p:cNvGrpSpPr/>
            <p:nvPr/>
          </p:nvGrpSpPr>
          <p:grpSpPr>
            <a:xfrm>
              <a:off x="1331640" y="1107060"/>
              <a:ext cx="648072" cy="2250093"/>
              <a:chOff x="1331640" y="1107060"/>
              <a:chExt cx="648072" cy="2250093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1331640" y="1196913"/>
                <a:ext cx="576064" cy="2160240"/>
                <a:chOff x="2627784" y="1196752"/>
                <a:chExt cx="576064" cy="2160240"/>
              </a:xfrm>
            </p:grpSpPr>
            <p:cxnSp>
              <p:nvCxnSpPr>
                <p:cNvPr id="86" name="直接连接符 85"/>
                <p:cNvCxnSpPr/>
                <p:nvPr/>
              </p:nvCxnSpPr>
              <p:spPr>
                <a:xfrm>
                  <a:off x="2627784" y="1196752"/>
                  <a:ext cx="57606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>
                  <a:off x="2634076" y="1196752"/>
                  <a:ext cx="0" cy="21602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/>
                <p:nvPr/>
              </p:nvCxnSpPr>
              <p:spPr>
                <a:xfrm flipV="1">
                  <a:off x="2627784" y="3356831"/>
                  <a:ext cx="360040" cy="16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椭圆 99"/>
              <p:cNvSpPr/>
              <p:nvPr/>
            </p:nvSpPr>
            <p:spPr>
              <a:xfrm>
                <a:off x="1835696" y="1107060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81" name="直接连接符 80"/>
            <p:cNvCxnSpPr/>
            <p:nvPr/>
          </p:nvCxnSpPr>
          <p:spPr>
            <a:xfrm flipV="1">
              <a:off x="1691680" y="3212976"/>
              <a:ext cx="0" cy="1440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240" grpId="0" animBg="1"/>
      <p:bldP spid="2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C5823-DF43-4F7B-8E25-4B4BA3DE6975}" type="slidenum">
              <a:rPr lang="en-US" altLang="zh-CN"/>
            </a:fld>
            <a:endParaRPr lang="en-US" altLang="zh-CN"/>
          </a:p>
        </p:txBody>
      </p:sp>
      <p:grpSp>
        <p:nvGrpSpPr>
          <p:cNvPr id="68611" name="Group 2"/>
          <p:cNvGrpSpPr/>
          <p:nvPr/>
        </p:nvGrpSpPr>
        <p:grpSpPr bwMode="auto">
          <a:xfrm>
            <a:off x="4648200" y="685800"/>
            <a:ext cx="4267200" cy="6019800"/>
            <a:chOff x="2928" y="432"/>
            <a:chExt cx="2688" cy="3792"/>
          </a:xfrm>
        </p:grpSpPr>
        <p:sp>
          <p:nvSpPr>
            <p:cNvPr id="68651" name="Line 3"/>
            <p:cNvSpPr>
              <a:spLocks noChangeShapeType="1"/>
            </p:cNvSpPr>
            <p:nvPr/>
          </p:nvSpPr>
          <p:spPr bwMode="auto">
            <a:xfrm flipV="1">
              <a:off x="316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2" name="Line 4"/>
            <p:cNvSpPr>
              <a:spLocks noChangeShapeType="1"/>
            </p:cNvSpPr>
            <p:nvPr/>
          </p:nvSpPr>
          <p:spPr bwMode="auto">
            <a:xfrm flipH="1" flipV="1">
              <a:off x="412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3" name="Line 5"/>
            <p:cNvSpPr>
              <a:spLocks noChangeShapeType="1"/>
            </p:cNvSpPr>
            <p:nvPr/>
          </p:nvSpPr>
          <p:spPr bwMode="auto">
            <a:xfrm>
              <a:off x="3172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4" name="Line 6"/>
            <p:cNvSpPr>
              <a:spLocks noChangeShapeType="1"/>
            </p:cNvSpPr>
            <p:nvPr/>
          </p:nvSpPr>
          <p:spPr bwMode="auto">
            <a:xfrm flipH="1">
              <a:off x="3834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5" name="Line 7"/>
            <p:cNvSpPr>
              <a:spLocks noChangeShapeType="1"/>
            </p:cNvSpPr>
            <p:nvPr/>
          </p:nvSpPr>
          <p:spPr bwMode="auto">
            <a:xfrm flipH="1">
              <a:off x="3504" y="1056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6" name="Line 8"/>
            <p:cNvSpPr>
              <a:spLocks noChangeShapeType="1"/>
            </p:cNvSpPr>
            <p:nvPr/>
          </p:nvSpPr>
          <p:spPr bwMode="auto">
            <a:xfrm>
              <a:off x="3462" y="1039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7" name="Line 9"/>
            <p:cNvSpPr>
              <a:spLocks noChangeShapeType="1"/>
            </p:cNvSpPr>
            <p:nvPr/>
          </p:nvSpPr>
          <p:spPr bwMode="auto">
            <a:xfrm flipV="1">
              <a:off x="3840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8" name="Line 10"/>
            <p:cNvSpPr>
              <a:spLocks noChangeShapeType="1"/>
            </p:cNvSpPr>
            <p:nvPr/>
          </p:nvSpPr>
          <p:spPr bwMode="auto">
            <a:xfrm flipH="1" flipV="1">
              <a:off x="3312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9" name="Line 11"/>
            <p:cNvSpPr>
              <a:spLocks noChangeShapeType="1"/>
            </p:cNvSpPr>
            <p:nvPr/>
          </p:nvSpPr>
          <p:spPr bwMode="auto">
            <a:xfrm>
              <a:off x="3312" y="2256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0" name="Line 12"/>
            <p:cNvSpPr>
              <a:spLocks noChangeShapeType="1"/>
            </p:cNvSpPr>
            <p:nvPr/>
          </p:nvSpPr>
          <p:spPr bwMode="auto">
            <a:xfrm>
              <a:off x="398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1" name="Line 13"/>
            <p:cNvSpPr>
              <a:spLocks noChangeShapeType="1"/>
            </p:cNvSpPr>
            <p:nvPr/>
          </p:nvSpPr>
          <p:spPr bwMode="auto">
            <a:xfrm flipV="1">
              <a:off x="412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2" name="Line 14"/>
            <p:cNvSpPr>
              <a:spLocks noChangeShapeType="1"/>
            </p:cNvSpPr>
            <p:nvPr/>
          </p:nvSpPr>
          <p:spPr bwMode="auto">
            <a:xfrm flipV="1">
              <a:off x="316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3" name="Line 15"/>
            <p:cNvSpPr>
              <a:spLocks noChangeShapeType="1"/>
            </p:cNvSpPr>
            <p:nvPr/>
          </p:nvSpPr>
          <p:spPr bwMode="auto">
            <a:xfrm>
              <a:off x="3168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4" name="Line 16"/>
            <p:cNvSpPr>
              <a:spLocks noChangeShapeType="1"/>
            </p:cNvSpPr>
            <p:nvPr/>
          </p:nvSpPr>
          <p:spPr bwMode="auto">
            <a:xfrm>
              <a:off x="4176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5" name="Line 17"/>
            <p:cNvSpPr>
              <a:spLocks noChangeShapeType="1"/>
            </p:cNvSpPr>
            <p:nvPr/>
          </p:nvSpPr>
          <p:spPr bwMode="auto">
            <a:xfrm>
              <a:off x="326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6" name="Line 18"/>
            <p:cNvSpPr>
              <a:spLocks noChangeShapeType="1"/>
            </p:cNvSpPr>
            <p:nvPr/>
          </p:nvSpPr>
          <p:spPr bwMode="auto">
            <a:xfrm>
              <a:off x="3264" y="3504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7" name="Line 19"/>
            <p:cNvSpPr>
              <a:spLocks noChangeShapeType="1"/>
            </p:cNvSpPr>
            <p:nvPr/>
          </p:nvSpPr>
          <p:spPr bwMode="auto">
            <a:xfrm>
              <a:off x="408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8" name="Line 20"/>
            <p:cNvSpPr>
              <a:spLocks noChangeShapeType="1"/>
            </p:cNvSpPr>
            <p:nvPr/>
          </p:nvSpPr>
          <p:spPr bwMode="auto">
            <a:xfrm flipH="1">
              <a:off x="5376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9" name="Line 21"/>
            <p:cNvSpPr>
              <a:spLocks noChangeShapeType="1"/>
            </p:cNvSpPr>
            <p:nvPr/>
          </p:nvSpPr>
          <p:spPr bwMode="auto">
            <a:xfrm flipV="1">
              <a:off x="5376" y="27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0" name="Line 22"/>
            <p:cNvSpPr>
              <a:spLocks noChangeShapeType="1"/>
            </p:cNvSpPr>
            <p:nvPr/>
          </p:nvSpPr>
          <p:spPr bwMode="auto">
            <a:xfrm>
              <a:off x="3648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1" name="Text Box 23"/>
            <p:cNvSpPr txBox="1">
              <a:spLocks noChangeArrowheads="1"/>
            </p:cNvSpPr>
            <p:nvPr/>
          </p:nvSpPr>
          <p:spPr bwMode="auto">
            <a:xfrm>
              <a:off x="3504" y="3936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8672" name="Text Box 24"/>
            <p:cNvSpPr txBox="1">
              <a:spLocks noChangeArrowheads="1"/>
            </p:cNvSpPr>
            <p:nvPr/>
          </p:nvSpPr>
          <p:spPr bwMode="auto">
            <a:xfrm>
              <a:off x="3024" y="3936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8673" name="Text Box 25"/>
            <p:cNvSpPr txBox="1">
              <a:spLocks noChangeArrowheads="1"/>
            </p:cNvSpPr>
            <p:nvPr/>
          </p:nvSpPr>
          <p:spPr bwMode="auto">
            <a:xfrm>
              <a:off x="4080" y="3936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68674" name="Group 26"/>
            <p:cNvGrpSpPr/>
            <p:nvPr/>
          </p:nvGrpSpPr>
          <p:grpSpPr bwMode="auto">
            <a:xfrm>
              <a:off x="2928" y="1200"/>
              <a:ext cx="480" cy="336"/>
              <a:chOff x="720" y="1872"/>
              <a:chExt cx="480" cy="336"/>
            </a:xfrm>
          </p:grpSpPr>
          <p:sp>
            <p:nvSpPr>
              <p:cNvPr id="68721" name="Rectangle 2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22" name="Oval 2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8675" name="Group 29"/>
            <p:cNvGrpSpPr/>
            <p:nvPr/>
          </p:nvGrpSpPr>
          <p:grpSpPr bwMode="auto">
            <a:xfrm>
              <a:off x="2928" y="1728"/>
              <a:ext cx="480" cy="336"/>
              <a:chOff x="720" y="1872"/>
              <a:chExt cx="480" cy="336"/>
            </a:xfrm>
          </p:grpSpPr>
          <p:sp>
            <p:nvSpPr>
              <p:cNvPr id="68719" name="Rectangle 3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20" name="Oval 3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8676" name="Group 32"/>
            <p:cNvGrpSpPr/>
            <p:nvPr/>
          </p:nvGrpSpPr>
          <p:grpSpPr bwMode="auto">
            <a:xfrm>
              <a:off x="3888" y="1728"/>
              <a:ext cx="480" cy="336"/>
              <a:chOff x="720" y="1872"/>
              <a:chExt cx="480" cy="336"/>
            </a:xfrm>
          </p:grpSpPr>
          <p:sp>
            <p:nvSpPr>
              <p:cNvPr id="68717" name="Rectangle 3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18" name="Oval 3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8677" name="Group 35"/>
            <p:cNvGrpSpPr/>
            <p:nvPr/>
          </p:nvGrpSpPr>
          <p:grpSpPr bwMode="auto">
            <a:xfrm>
              <a:off x="3888" y="1200"/>
              <a:ext cx="480" cy="336"/>
              <a:chOff x="720" y="1872"/>
              <a:chExt cx="480" cy="336"/>
            </a:xfrm>
          </p:grpSpPr>
          <p:sp>
            <p:nvSpPr>
              <p:cNvPr id="68715" name="Rectangle 3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16" name="Oval 3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68678" name="Line 38"/>
            <p:cNvSpPr>
              <a:spLocks noChangeShapeType="1"/>
            </p:cNvSpPr>
            <p:nvPr/>
          </p:nvSpPr>
          <p:spPr bwMode="auto">
            <a:xfrm flipV="1">
              <a:off x="3168" y="2064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9" name="Line 39"/>
            <p:cNvSpPr>
              <a:spLocks noChangeShapeType="1"/>
            </p:cNvSpPr>
            <p:nvPr/>
          </p:nvSpPr>
          <p:spPr bwMode="auto">
            <a:xfrm flipH="1" flipV="1">
              <a:off x="4128" y="20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0" name="Line 40"/>
            <p:cNvSpPr>
              <a:spLocks noChangeShapeType="1"/>
            </p:cNvSpPr>
            <p:nvPr/>
          </p:nvSpPr>
          <p:spPr bwMode="auto">
            <a:xfrm>
              <a:off x="3172" y="23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1" name="Line 41"/>
            <p:cNvSpPr>
              <a:spLocks noChangeShapeType="1"/>
            </p:cNvSpPr>
            <p:nvPr/>
          </p:nvSpPr>
          <p:spPr bwMode="auto">
            <a:xfrm flipH="1" flipV="1">
              <a:off x="3840" y="24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2" name="Line 42"/>
            <p:cNvSpPr>
              <a:spLocks noChangeShapeType="1"/>
            </p:cNvSpPr>
            <p:nvPr/>
          </p:nvSpPr>
          <p:spPr bwMode="auto">
            <a:xfrm flipH="1">
              <a:off x="3504" y="2391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3" name="Line 43"/>
            <p:cNvSpPr>
              <a:spLocks noChangeShapeType="1"/>
            </p:cNvSpPr>
            <p:nvPr/>
          </p:nvSpPr>
          <p:spPr bwMode="auto">
            <a:xfrm>
              <a:off x="3462" y="2391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4" name="Line 44"/>
            <p:cNvSpPr>
              <a:spLocks noChangeShapeType="1"/>
            </p:cNvSpPr>
            <p:nvPr/>
          </p:nvSpPr>
          <p:spPr bwMode="auto">
            <a:xfrm flipV="1">
              <a:off x="3840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5" name="Line 45"/>
            <p:cNvSpPr>
              <a:spLocks noChangeShapeType="1"/>
            </p:cNvSpPr>
            <p:nvPr/>
          </p:nvSpPr>
          <p:spPr bwMode="auto">
            <a:xfrm flipH="1" flipV="1">
              <a:off x="3312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6" name="Line 46"/>
            <p:cNvSpPr>
              <a:spLocks noChangeShapeType="1"/>
            </p:cNvSpPr>
            <p:nvPr/>
          </p:nvSpPr>
          <p:spPr bwMode="auto">
            <a:xfrm flipH="1" flipV="1">
              <a:off x="3312" y="2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7" name="Line 47"/>
            <p:cNvSpPr>
              <a:spLocks noChangeShapeType="1"/>
            </p:cNvSpPr>
            <p:nvPr/>
          </p:nvSpPr>
          <p:spPr bwMode="auto">
            <a:xfrm flipV="1">
              <a:off x="4032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8" name="Line 48"/>
            <p:cNvSpPr>
              <a:spLocks noChangeShapeType="1"/>
            </p:cNvSpPr>
            <p:nvPr/>
          </p:nvSpPr>
          <p:spPr bwMode="auto">
            <a:xfrm flipV="1">
              <a:off x="4128" y="2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9" name="Line 49"/>
            <p:cNvSpPr>
              <a:spLocks noChangeShapeType="1"/>
            </p:cNvSpPr>
            <p:nvPr/>
          </p:nvSpPr>
          <p:spPr bwMode="auto">
            <a:xfrm flipV="1">
              <a:off x="3168" y="2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8690" name="Group 50"/>
            <p:cNvGrpSpPr/>
            <p:nvPr/>
          </p:nvGrpSpPr>
          <p:grpSpPr bwMode="auto">
            <a:xfrm>
              <a:off x="2928" y="2504"/>
              <a:ext cx="480" cy="336"/>
              <a:chOff x="720" y="1872"/>
              <a:chExt cx="480" cy="336"/>
            </a:xfrm>
          </p:grpSpPr>
          <p:sp>
            <p:nvSpPr>
              <p:cNvPr id="68713" name="Rectangle 51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14" name="Oval 52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8691" name="Group 53"/>
            <p:cNvGrpSpPr/>
            <p:nvPr/>
          </p:nvGrpSpPr>
          <p:grpSpPr bwMode="auto">
            <a:xfrm>
              <a:off x="2928" y="2984"/>
              <a:ext cx="480" cy="336"/>
              <a:chOff x="720" y="1872"/>
              <a:chExt cx="480" cy="336"/>
            </a:xfrm>
          </p:grpSpPr>
          <p:sp>
            <p:nvSpPr>
              <p:cNvPr id="68711" name="Rectangle 5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12" name="Oval 5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8692" name="Group 56"/>
            <p:cNvGrpSpPr/>
            <p:nvPr/>
          </p:nvGrpSpPr>
          <p:grpSpPr bwMode="auto">
            <a:xfrm>
              <a:off x="3888" y="2984"/>
              <a:ext cx="480" cy="336"/>
              <a:chOff x="720" y="1872"/>
              <a:chExt cx="480" cy="336"/>
            </a:xfrm>
          </p:grpSpPr>
          <p:sp>
            <p:nvSpPr>
              <p:cNvPr id="68709" name="Rectangle 5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10" name="Oval 5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8693" name="Group 59"/>
            <p:cNvGrpSpPr/>
            <p:nvPr/>
          </p:nvGrpSpPr>
          <p:grpSpPr bwMode="auto">
            <a:xfrm>
              <a:off x="3888" y="2456"/>
              <a:ext cx="480" cy="336"/>
              <a:chOff x="720" y="1872"/>
              <a:chExt cx="480" cy="336"/>
            </a:xfrm>
          </p:grpSpPr>
          <p:sp>
            <p:nvSpPr>
              <p:cNvPr id="68707" name="Rectangle 6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08" name="Oval 6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68694" name="Line 62"/>
            <p:cNvSpPr>
              <a:spLocks noChangeShapeType="1"/>
            </p:cNvSpPr>
            <p:nvPr/>
          </p:nvSpPr>
          <p:spPr bwMode="auto">
            <a:xfrm>
              <a:off x="331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8695" name="Group 63"/>
            <p:cNvGrpSpPr/>
            <p:nvPr/>
          </p:nvGrpSpPr>
          <p:grpSpPr bwMode="auto">
            <a:xfrm>
              <a:off x="5136" y="2448"/>
              <a:ext cx="480" cy="336"/>
              <a:chOff x="720" y="1872"/>
              <a:chExt cx="480" cy="336"/>
            </a:xfrm>
          </p:grpSpPr>
          <p:sp>
            <p:nvSpPr>
              <p:cNvPr id="68705" name="Rectangle 6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8706" name="Oval 6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68696" name="Line 66"/>
            <p:cNvSpPr>
              <a:spLocks noChangeShapeType="1"/>
            </p:cNvSpPr>
            <p:nvPr/>
          </p:nvSpPr>
          <p:spPr bwMode="auto">
            <a:xfrm flipV="1">
              <a:off x="331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7" name="Line 67"/>
            <p:cNvSpPr>
              <a:spLocks noChangeShapeType="1"/>
            </p:cNvSpPr>
            <p:nvPr/>
          </p:nvSpPr>
          <p:spPr bwMode="auto">
            <a:xfrm flipV="1">
              <a:off x="403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8" name="Oval 68"/>
            <p:cNvSpPr>
              <a:spLocks noChangeArrowheads="1"/>
            </p:cNvSpPr>
            <p:nvPr/>
          </p:nvSpPr>
          <p:spPr bwMode="auto">
            <a:xfrm>
              <a:off x="393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699" name="Oval 69"/>
            <p:cNvSpPr>
              <a:spLocks noChangeArrowheads="1"/>
            </p:cNvSpPr>
            <p:nvPr/>
          </p:nvSpPr>
          <p:spPr bwMode="auto">
            <a:xfrm>
              <a:off x="4032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700" name="Oval 70"/>
            <p:cNvSpPr>
              <a:spLocks noChangeArrowheads="1"/>
            </p:cNvSpPr>
            <p:nvPr/>
          </p:nvSpPr>
          <p:spPr bwMode="auto">
            <a:xfrm>
              <a:off x="3600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701" name="Oval 71"/>
            <p:cNvSpPr>
              <a:spLocks noChangeArrowheads="1"/>
            </p:cNvSpPr>
            <p:nvPr/>
          </p:nvSpPr>
          <p:spPr bwMode="auto">
            <a:xfrm>
              <a:off x="408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702" name="Oval 72"/>
            <p:cNvSpPr>
              <a:spLocks noChangeArrowheads="1"/>
            </p:cNvSpPr>
            <p:nvPr/>
          </p:nvSpPr>
          <p:spPr bwMode="auto">
            <a:xfrm>
              <a:off x="312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703" name="Rectangle 73"/>
            <p:cNvSpPr>
              <a:spLocks noChangeArrowheads="1"/>
            </p:cNvSpPr>
            <p:nvPr/>
          </p:nvSpPr>
          <p:spPr bwMode="auto">
            <a:xfrm>
              <a:off x="3168" y="432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8704" name="Rectangle 74"/>
            <p:cNvSpPr>
              <a:spLocks noChangeArrowheads="1"/>
            </p:cNvSpPr>
            <p:nvPr/>
          </p:nvSpPr>
          <p:spPr bwMode="auto">
            <a:xfrm>
              <a:off x="4109" y="672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68612" name="Group 75"/>
          <p:cNvGrpSpPr/>
          <p:nvPr/>
        </p:nvGrpSpPr>
        <p:grpSpPr bwMode="auto">
          <a:xfrm>
            <a:off x="5334000" y="2438400"/>
            <a:ext cx="3048000" cy="3276600"/>
            <a:chOff x="3360" y="1536"/>
            <a:chExt cx="1920" cy="2064"/>
          </a:xfrm>
        </p:grpSpPr>
        <p:grpSp>
          <p:nvGrpSpPr>
            <p:cNvPr id="68640" name="Group 76"/>
            <p:cNvGrpSpPr/>
            <p:nvPr/>
          </p:nvGrpSpPr>
          <p:grpSpPr bwMode="auto">
            <a:xfrm>
              <a:off x="3360" y="1536"/>
              <a:ext cx="1920" cy="2064"/>
              <a:chOff x="3360" y="1536"/>
              <a:chExt cx="1920" cy="2064"/>
            </a:xfrm>
          </p:grpSpPr>
          <p:sp>
            <p:nvSpPr>
              <p:cNvPr id="68643" name="Line 78"/>
              <p:cNvSpPr>
                <a:spLocks noChangeShapeType="1"/>
              </p:cNvSpPr>
              <p:nvPr/>
            </p:nvSpPr>
            <p:spPr bwMode="auto">
              <a:xfrm flipH="1">
                <a:off x="4272" y="1632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44" name="Line 79"/>
              <p:cNvSpPr>
                <a:spLocks noChangeShapeType="1"/>
              </p:cNvSpPr>
              <p:nvPr/>
            </p:nvSpPr>
            <p:spPr bwMode="auto">
              <a:xfrm flipV="1">
                <a:off x="4272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45" name="Line 80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46" name="Line 81"/>
              <p:cNvSpPr>
                <a:spLocks noChangeShapeType="1"/>
              </p:cNvSpPr>
              <p:nvPr/>
            </p:nvSpPr>
            <p:spPr bwMode="auto">
              <a:xfrm flipH="1">
                <a:off x="3360" y="3600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47" name="Line 82"/>
              <p:cNvSpPr>
                <a:spLocks noChangeShapeType="1"/>
              </p:cNvSpPr>
              <p:nvPr/>
            </p:nvSpPr>
            <p:spPr bwMode="auto">
              <a:xfrm flipV="1">
                <a:off x="3360" y="331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48" name="Line 83"/>
              <p:cNvSpPr>
                <a:spLocks noChangeShapeType="1"/>
              </p:cNvSpPr>
              <p:nvPr/>
            </p:nvSpPr>
            <p:spPr bwMode="auto">
              <a:xfrm flipH="1">
                <a:off x="4272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49" name="Line 84"/>
              <p:cNvSpPr>
                <a:spLocks noChangeShapeType="1"/>
              </p:cNvSpPr>
              <p:nvPr/>
            </p:nvSpPr>
            <p:spPr bwMode="auto">
              <a:xfrm>
                <a:off x="4272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50" name="Oval 85"/>
              <p:cNvSpPr>
                <a:spLocks noChangeArrowheads="1"/>
              </p:cNvSpPr>
              <p:nvPr/>
            </p:nvSpPr>
            <p:spPr bwMode="auto">
              <a:xfrm>
                <a:off x="4512" y="283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68641" name="Oval 86"/>
            <p:cNvSpPr>
              <a:spLocks noChangeArrowheads="1"/>
            </p:cNvSpPr>
            <p:nvPr/>
          </p:nvSpPr>
          <p:spPr bwMode="auto">
            <a:xfrm>
              <a:off x="4512" y="15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531543" name="Rectangle 8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sz="3600" dirty="0"/>
          </a:p>
        </p:txBody>
      </p:sp>
      <p:sp>
        <p:nvSpPr>
          <p:cNvPr id="531544" name="Rectangle 88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zh-CN" altLang="en-US" sz="2400" dirty="0">
              <a:latin typeface="Georgia" panose="02040502050405020303" pitchFamily="18" charset="0"/>
            </a:endParaRP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68615" name="Group 89"/>
          <p:cNvGrpSpPr/>
          <p:nvPr/>
        </p:nvGrpSpPr>
        <p:grpSpPr bwMode="auto">
          <a:xfrm>
            <a:off x="3048000" y="2438400"/>
            <a:ext cx="3276600" cy="2971800"/>
            <a:chOff x="1920" y="1536"/>
            <a:chExt cx="2064" cy="1872"/>
          </a:xfrm>
        </p:grpSpPr>
        <p:sp>
          <p:nvSpPr>
            <p:cNvPr id="68631" name="Line 91"/>
            <p:cNvSpPr>
              <a:spLocks noChangeShapeType="1"/>
            </p:cNvSpPr>
            <p:nvPr/>
          </p:nvSpPr>
          <p:spPr bwMode="auto">
            <a:xfrm>
              <a:off x="3072" y="153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2" name="Line 92"/>
            <p:cNvSpPr>
              <a:spLocks noChangeShapeType="1"/>
            </p:cNvSpPr>
            <p:nvPr/>
          </p:nvSpPr>
          <p:spPr bwMode="auto">
            <a:xfrm flipH="1">
              <a:off x="1920" y="163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3" name="Line 93"/>
            <p:cNvSpPr>
              <a:spLocks noChangeShapeType="1"/>
            </p:cNvSpPr>
            <p:nvPr/>
          </p:nvSpPr>
          <p:spPr bwMode="auto">
            <a:xfrm>
              <a:off x="2640" y="1680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4" name="Line 94"/>
            <p:cNvSpPr>
              <a:spLocks noChangeShapeType="1"/>
            </p:cNvSpPr>
            <p:nvPr/>
          </p:nvSpPr>
          <p:spPr bwMode="auto">
            <a:xfrm>
              <a:off x="2640" y="340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5" name="Line 95"/>
            <p:cNvSpPr>
              <a:spLocks noChangeShapeType="1"/>
            </p:cNvSpPr>
            <p:nvPr/>
          </p:nvSpPr>
          <p:spPr bwMode="auto">
            <a:xfrm flipV="1">
              <a:off x="398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6" name="Line 96"/>
            <p:cNvSpPr>
              <a:spLocks noChangeShapeType="1"/>
            </p:cNvSpPr>
            <p:nvPr/>
          </p:nvSpPr>
          <p:spPr bwMode="auto">
            <a:xfrm flipH="1">
              <a:off x="2640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7" name="Oval 97"/>
            <p:cNvSpPr>
              <a:spLocks noChangeArrowheads="1"/>
            </p:cNvSpPr>
            <p:nvPr/>
          </p:nvSpPr>
          <p:spPr bwMode="auto">
            <a:xfrm>
              <a:off x="2592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638" name="Oval 98"/>
            <p:cNvSpPr>
              <a:spLocks noChangeArrowheads="1"/>
            </p:cNvSpPr>
            <p:nvPr/>
          </p:nvSpPr>
          <p:spPr bwMode="auto">
            <a:xfrm>
              <a:off x="2592" y="15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639" name="Line 99"/>
            <p:cNvSpPr>
              <a:spLocks noChangeShapeType="1"/>
            </p:cNvSpPr>
            <p:nvPr/>
          </p:nvSpPr>
          <p:spPr bwMode="auto">
            <a:xfrm>
              <a:off x="302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1556" name="Group 100"/>
          <p:cNvGrpSpPr/>
          <p:nvPr/>
        </p:nvGrpSpPr>
        <p:grpSpPr bwMode="auto">
          <a:xfrm>
            <a:off x="3733800" y="1676400"/>
            <a:ext cx="3124200" cy="4191000"/>
            <a:chOff x="2352" y="1056"/>
            <a:chExt cx="1968" cy="2640"/>
          </a:xfrm>
        </p:grpSpPr>
        <p:sp>
          <p:nvSpPr>
            <p:cNvPr id="68626" name="Line 101"/>
            <p:cNvSpPr>
              <a:spLocks noChangeShapeType="1"/>
            </p:cNvSpPr>
            <p:nvPr/>
          </p:nvSpPr>
          <p:spPr bwMode="auto">
            <a:xfrm flipH="1">
              <a:off x="2352" y="1056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Line 102"/>
            <p:cNvSpPr>
              <a:spLocks noChangeShapeType="1"/>
            </p:cNvSpPr>
            <p:nvPr/>
          </p:nvSpPr>
          <p:spPr bwMode="auto">
            <a:xfrm>
              <a:off x="2352" y="1056"/>
              <a:ext cx="0" cy="26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Line 103"/>
            <p:cNvSpPr>
              <a:spLocks noChangeShapeType="1"/>
            </p:cNvSpPr>
            <p:nvPr/>
          </p:nvSpPr>
          <p:spPr bwMode="auto">
            <a:xfrm>
              <a:off x="2352" y="369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9" name="Line 104"/>
            <p:cNvSpPr>
              <a:spLocks noChangeShapeType="1"/>
            </p:cNvSpPr>
            <p:nvPr/>
          </p:nvSpPr>
          <p:spPr bwMode="auto">
            <a:xfrm flipV="1">
              <a:off x="4320" y="331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1561" name="Group 105"/>
          <p:cNvGrpSpPr/>
          <p:nvPr/>
        </p:nvGrpSpPr>
        <p:grpSpPr bwMode="auto">
          <a:xfrm>
            <a:off x="4800600" y="1676400"/>
            <a:ext cx="2819400" cy="4419600"/>
            <a:chOff x="3024" y="1056"/>
            <a:chExt cx="1776" cy="2784"/>
          </a:xfrm>
        </p:grpSpPr>
        <p:sp>
          <p:nvSpPr>
            <p:cNvPr id="68622" name="Line 106"/>
            <p:cNvSpPr>
              <a:spLocks noChangeShapeType="1"/>
            </p:cNvSpPr>
            <p:nvPr/>
          </p:nvSpPr>
          <p:spPr bwMode="auto">
            <a:xfrm>
              <a:off x="4176" y="1056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107"/>
            <p:cNvSpPr>
              <a:spLocks noChangeShapeType="1"/>
            </p:cNvSpPr>
            <p:nvPr/>
          </p:nvSpPr>
          <p:spPr bwMode="auto">
            <a:xfrm>
              <a:off x="4800" y="1056"/>
              <a:ext cx="0" cy="27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108"/>
            <p:cNvSpPr>
              <a:spLocks noChangeShapeType="1"/>
            </p:cNvSpPr>
            <p:nvPr/>
          </p:nvSpPr>
          <p:spPr bwMode="auto">
            <a:xfrm flipH="1">
              <a:off x="3024" y="3840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Line 109"/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1566" name="Text Box 110"/>
          <p:cNvSpPr txBox="1">
            <a:spLocks noChangeArrowheads="1"/>
          </p:cNvSpPr>
          <p:nvPr/>
        </p:nvSpPr>
        <p:spPr bwMode="auto">
          <a:xfrm>
            <a:off x="609600" y="2819400"/>
            <a:ext cx="2362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将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zh-CN" altLang="en-US" sz="2400" b="1">
                <a:latin typeface="Georgia" panose="02040502050405020303" pitchFamily="18" charset="0"/>
              </a:rPr>
              <a:t>和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zh-CN" altLang="en-US" sz="2400" b="1">
                <a:latin typeface="Georgia" panose="02040502050405020303" pitchFamily="18" charset="0"/>
              </a:rPr>
              <a:t>非馈接到输入。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grpSp>
        <p:nvGrpSpPr>
          <p:cNvPr id="531567" name="Group 111"/>
          <p:cNvGrpSpPr/>
          <p:nvPr/>
        </p:nvGrpSpPr>
        <p:grpSpPr bwMode="auto">
          <a:xfrm>
            <a:off x="228600" y="3962400"/>
            <a:ext cx="3313113" cy="2100263"/>
            <a:chOff x="144" y="2496"/>
            <a:chExt cx="2087" cy="1323"/>
          </a:xfrm>
        </p:grpSpPr>
        <p:sp>
          <p:nvSpPr>
            <p:cNvPr id="531568" name="Text Box 112"/>
            <p:cNvSpPr txBox="1">
              <a:spLocks noChangeArrowheads="1"/>
            </p:cNvSpPr>
            <p:nvPr/>
          </p:nvSpPr>
          <p:spPr bwMode="auto">
            <a:xfrm>
              <a:off x="144" y="2496"/>
              <a:ext cx="2087" cy="1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在正脉冲期间，主触发器接收是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JQ, KQ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；</a:t>
              </a:r>
              <a:endPara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负脉冲期间，主触发器状态打入从触发器。又称“脉冲触发器”。</a:t>
              </a:r>
              <a:endPara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8621" name="Line 113"/>
            <p:cNvSpPr>
              <a:spLocks noChangeShapeType="1"/>
            </p:cNvSpPr>
            <p:nvPr/>
          </p:nvSpPr>
          <p:spPr bwMode="auto">
            <a:xfrm flipH="1">
              <a:off x="1104" y="278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ext Box 55"/>
          <p:cNvSpPr txBox="1">
            <a:spLocks noChangeArrowheads="1"/>
          </p:cNvSpPr>
          <p:nvPr/>
        </p:nvSpPr>
        <p:spPr bwMode="auto">
          <a:xfrm>
            <a:off x="2683540" y="2129889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3" name="Text Box 55"/>
          <p:cNvSpPr txBox="1">
            <a:spLocks noChangeArrowheads="1"/>
          </p:cNvSpPr>
          <p:nvPr/>
        </p:nvSpPr>
        <p:spPr bwMode="auto">
          <a:xfrm>
            <a:off x="8376481" y="2062851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3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56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E90E90-8571-482D-99A1-17F0784C7406}" type="slidenum">
              <a:rPr lang="en-US" altLang="zh-CN"/>
            </a:fld>
            <a:endParaRPr lang="en-US" altLang="zh-CN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grpSp>
        <p:nvGrpSpPr>
          <p:cNvPr id="625915" name="Group 251"/>
          <p:cNvGrpSpPr/>
          <p:nvPr/>
        </p:nvGrpSpPr>
        <p:grpSpPr bwMode="auto">
          <a:xfrm>
            <a:off x="5249494" y="822325"/>
            <a:ext cx="3674411" cy="5807075"/>
            <a:chOff x="3264" y="566"/>
            <a:chExt cx="2448" cy="3658"/>
          </a:xfrm>
        </p:grpSpPr>
        <p:sp>
          <p:nvSpPr>
            <p:cNvPr id="70767" name="Line 40"/>
            <p:cNvSpPr>
              <a:spLocks noChangeShapeType="1"/>
            </p:cNvSpPr>
            <p:nvPr/>
          </p:nvSpPr>
          <p:spPr bwMode="auto">
            <a:xfrm flipV="1">
              <a:off x="364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68" name="Line 41"/>
            <p:cNvSpPr>
              <a:spLocks noChangeShapeType="1"/>
            </p:cNvSpPr>
            <p:nvPr/>
          </p:nvSpPr>
          <p:spPr bwMode="auto">
            <a:xfrm flipH="1" flipV="1">
              <a:off x="460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69" name="Line 42"/>
            <p:cNvSpPr>
              <a:spLocks noChangeShapeType="1"/>
            </p:cNvSpPr>
            <p:nvPr/>
          </p:nvSpPr>
          <p:spPr bwMode="auto">
            <a:xfrm>
              <a:off x="3652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0" name="Line 43"/>
            <p:cNvSpPr>
              <a:spLocks noChangeShapeType="1"/>
            </p:cNvSpPr>
            <p:nvPr/>
          </p:nvSpPr>
          <p:spPr bwMode="auto">
            <a:xfrm flipH="1">
              <a:off x="4314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1" name="Line 44"/>
            <p:cNvSpPr>
              <a:spLocks noChangeShapeType="1"/>
            </p:cNvSpPr>
            <p:nvPr/>
          </p:nvSpPr>
          <p:spPr bwMode="auto">
            <a:xfrm flipH="1">
              <a:off x="3984" y="1056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2" name="Line 45"/>
            <p:cNvSpPr>
              <a:spLocks noChangeShapeType="1"/>
            </p:cNvSpPr>
            <p:nvPr/>
          </p:nvSpPr>
          <p:spPr bwMode="auto">
            <a:xfrm>
              <a:off x="3942" y="1039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3" name="Line 46"/>
            <p:cNvSpPr>
              <a:spLocks noChangeShapeType="1"/>
            </p:cNvSpPr>
            <p:nvPr/>
          </p:nvSpPr>
          <p:spPr bwMode="auto">
            <a:xfrm flipV="1">
              <a:off x="4320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4" name="Line 47"/>
            <p:cNvSpPr>
              <a:spLocks noChangeShapeType="1"/>
            </p:cNvSpPr>
            <p:nvPr/>
          </p:nvSpPr>
          <p:spPr bwMode="auto">
            <a:xfrm flipH="1" flipV="1">
              <a:off x="3792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5" name="Line 48"/>
            <p:cNvSpPr>
              <a:spLocks noChangeShapeType="1"/>
            </p:cNvSpPr>
            <p:nvPr/>
          </p:nvSpPr>
          <p:spPr bwMode="auto">
            <a:xfrm>
              <a:off x="3792" y="2256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6" name="Line 49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7" name="Line 50"/>
            <p:cNvSpPr>
              <a:spLocks noChangeShapeType="1"/>
            </p:cNvSpPr>
            <p:nvPr/>
          </p:nvSpPr>
          <p:spPr bwMode="auto">
            <a:xfrm flipV="1">
              <a:off x="460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8" name="Line 51"/>
            <p:cNvSpPr>
              <a:spLocks noChangeShapeType="1"/>
            </p:cNvSpPr>
            <p:nvPr/>
          </p:nvSpPr>
          <p:spPr bwMode="auto">
            <a:xfrm flipV="1">
              <a:off x="364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79" name="Line 52"/>
            <p:cNvSpPr>
              <a:spLocks noChangeShapeType="1"/>
            </p:cNvSpPr>
            <p:nvPr/>
          </p:nvSpPr>
          <p:spPr bwMode="auto">
            <a:xfrm>
              <a:off x="3648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0" name="Line 53"/>
            <p:cNvSpPr>
              <a:spLocks noChangeShapeType="1"/>
            </p:cNvSpPr>
            <p:nvPr/>
          </p:nvSpPr>
          <p:spPr bwMode="auto">
            <a:xfrm>
              <a:off x="4656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1" name="Line 54"/>
            <p:cNvSpPr>
              <a:spLocks noChangeShapeType="1"/>
            </p:cNvSpPr>
            <p:nvPr/>
          </p:nvSpPr>
          <p:spPr bwMode="auto">
            <a:xfrm>
              <a:off x="374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2" name="Line 55"/>
            <p:cNvSpPr>
              <a:spLocks noChangeShapeType="1"/>
            </p:cNvSpPr>
            <p:nvPr/>
          </p:nvSpPr>
          <p:spPr bwMode="auto">
            <a:xfrm>
              <a:off x="3744" y="350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3" name="Line 56"/>
            <p:cNvSpPr>
              <a:spLocks noChangeShapeType="1"/>
            </p:cNvSpPr>
            <p:nvPr/>
          </p:nvSpPr>
          <p:spPr bwMode="auto">
            <a:xfrm>
              <a:off x="456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4" name="Line 57"/>
            <p:cNvSpPr>
              <a:spLocks noChangeShapeType="1"/>
            </p:cNvSpPr>
            <p:nvPr/>
          </p:nvSpPr>
          <p:spPr bwMode="auto">
            <a:xfrm flipH="1">
              <a:off x="5472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5" name="Line 58"/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6" name="Line 59"/>
            <p:cNvSpPr>
              <a:spLocks noChangeShapeType="1"/>
            </p:cNvSpPr>
            <p:nvPr/>
          </p:nvSpPr>
          <p:spPr bwMode="auto">
            <a:xfrm>
              <a:off x="4128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87" name="Text Box 60"/>
            <p:cNvSpPr txBox="1">
              <a:spLocks noChangeArrowheads="1"/>
            </p:cNvSpPr>
            <p:nvPr/>
          </p:nvSpPr>
          <p:spPr bwMode="auto">
            <a:xfrm>
              <a:off x="3984" y="3936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0788" name="Text Box 61"/>
            <p:cNvSpPr txBox="1">
              <a:spLocks noChangeArrowheads="1"/>
            </p:cNvSpPr>
            <p:nvPr/>
          </p:nvSpPr>
          <p:spPr bwMode="auto">
            <a:xfrm>
              <a:off x="3504" y="3936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0789" name="Text Box 62"/>
            <p:cNvSpPr txBox="1">
              <a:spLocks noChangeArrowheads="1"/>
            </p:cNvSpPr>
            <p:nvPr/>
          </p:nvSpPr>
          <p:spPr bwMode="auto">
            <a:xfrm>
              <a:off x="4560" y="3936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0790" name="Group 63"/>
            <p:cNvGrpSpPr/>
            <p:nvPr/>
          </p:nvGrpSpPr>
          <p:grpSpPr bwMode="auto">
            <a:xfrm>
              <a:off x="3408" y="1200"/>
              <a:ext cx="480" cy="336"/>
              <a:chOff x="720" y="1872"/>
              <a:chExt cx="480" cy="336"/>
            </a:xfrm>
          </p:grpSpPr>
          <p:sp>
            <p:nvSpPr>
              <p:cNvPr id="70845" name="Rectangle 6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46" name="Oval 6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791" name="Group 66"/>
            <p:cNvGrpSpPr/>
            <p:nvPr/>
          </p:nvGrpSpPr>
          <p:grpSpPr bwMode="auto">
            <a:xfrm>
              <a:off x="3408" y="1728"/>
              <a:ext cx="480" cy="336"/>
              <a:chOff x="720" y="1872"/>
              <a:chExt cx="480" cy="336"/>
            </a:xfrm>
          </p:grpSpPr>
          <p:sp>
            <p:nvSpPr>
              <p:cNvPr id="70843" name="Rectangle 6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44" name="Oval 6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792" name="Group 69"/>
            <p:cNvGrpSpPr/>
            <p:nvPr/>
          </p:nvGrpSpPr>
          <p:grpSpPr bwMode="auto">
            <a:xfrm>
              <a:off x="4368" y="1728"/>
              <a:ext cx="480" cy="336"/>
              <a:chOff x="720" y="1872"/>
              <a:chExt cx="480" cy="336"/>
            </a:xfrm>
          </p:grpSpPr>
          <p:sp>
            <p:nvSpPr>
              <p:cNvPr id="70841" name="Rectangle 7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42" name="Oval 7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793" name="Group 72"/>
            <p:cNvGrpSpPr/>
            <p:nvPr/>
          </p:nvGrpSpPr>
          <p:grpSpPr bwMode="auto">
            <a:xfrm>
              <a:off x="4368" y="1200"/>
              <a:ext cx="480" cy="336"/>
              <a:chOff x="720" y="1872"/>
              <a:chExt cx="480" cy="336"/>
            </a:xfrm>
          </p:grpSpPr>
          <p:sp>
            <p:nvSpPr>
              <p:cNvPr id="70839" name="Rectangle 7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40" name="Oval 7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0794" name="Line 75"/>
            <p:cNvSpPr>
              <a:spLocks noChangeShapeType="1"/>
            </p:cNvSpPr>
            <p:nvPr/>
          </p:nvSpPr>
          <p:spPr bwMode="auto">
            <a:xfrm flipV="1">
              <a:off x="3648" y="2064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95" name="Line 76"/>
            <p:cNvSpPr>
              <a:spLocks noChangeShapeType="1"/>
            </p:cNvSpPr>
            <p:nvPr/>
          </p:nvSpPr>
          <p:spPr bwMode="auto">
            <a:xfrm flipH="1" flipV="1">
              <a:off x="4608" y="20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96" name="Line 77"/>
            <p:cNvSpPr>
              <a:spLocks noChangeShapeType="1"/>
            </p:cNvSpPr>
            <p:nvPr/>
          </p:nvSpPr>
          <p:spPr bwMode="auto">
            <a:xfrm>
              <a:off x="3652" y="23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97" name="Line 78"/>
            <p:cNvSpPr>
              <a:spLocks noChangeShapeType="1"/>
            </p:cNvSpPr>
            <p:nvPr/>
          </p:nvSpPr>
          <p:spPr bwMode="auto">
            <a:xfrm flipH="1" flipV="1">
              <a:off x="4320" y="24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98" name="Line 79"/>
            <p:cNvSpPr>
              <a:spLocks noChangeShapeType="1"/>
            </p:cNvSpPr>
            <p:nvPr/>
          </p:nvSpPr>
          <p:spPr bwMode="auto">
            <a:xfrm flipH="1">
              <a:off x="3984" y="2391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99" name="Line 80"/>
            <p:cNvSpPr>
              <a:spLocks noChangeShapeType="1"/>
            </p:cNvSpPr>
            <p:nvPr/>
          </p:nvSpPr>
          <p:spPr bwMode="auto">
            <a:xfrm>
              <a:off x="3942" y="2391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00" name="Line 81"/>
            <p:cNvSpPr>
              <a:spLocks noChangeShapeType="1"/>
            </p:cNvSpPr>
            <p:nvPr/>
          </p:nvSpPr>
          <p:spPr bwMode="auto">
            <a:xfrm flipV="1">
              <a:off x="4320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01" name="Line 82"/>
            <p:cNvSpPr>
              <a:spLocks noChangeShapeType="1"/>
            </p:cNvSpPr>
            <p:nvPr/>
          </p:nvSpPr>
          <p:spPr bwMode="auto">
            <a:xfrm flipH="1" flipV="1">
              <a:off x="3792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02" name="Line 83"/>
            <p:cNvSpPr>
              <a:spLocks noChangeShapeType="1"/>
            </p:cNvSpPr>
            <p:nvPr/>
          </p:nvSpPr>
          <p:spPr bwMode="auto">
            <a:xfrm flipH="1" flipV="1">
              <a:off x="3792" y="2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03" name="Line 84"/>
            <p:cNvSpPr>
              <a:spLocks noChangeShapeType="1"/>
            </p:cNvSpPr>
            <p:nvPr/>
          </p:nvSpPr>
          <p:spPr bwMode="auto">
            <a:xfrm flipV="1">
              <a:off x="4512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04" name="Line 85"/>
            <p:cNvSpPr>
              <a:spLocks noChangeShapeType="1"/>
            </p:cNvSpPr>
            <p:nvPr/>
          </p:nvSpPr>
          <p:spPr bwMode="auto">
            <a:xfrm flipV="1">
              <a:off x="4608" y="2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05" name="Line 86"/>
            <p:cNvSpPr>
              <a:spLocks noChangeShapeType="1"/>
            </p:cNvSpPr>
            <p:nvPr/>
          </p:nvSpPr>
          <p:spPr bwMode="auto">
            <a:xfrm flipV="1">
              <a:off x="3648" y="2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806" name="Group 87"/>
            <p:cNvGrpSpPr/>
            <p:nvPr/>
          </p:nvGrpSpPr>
          <p:grpSpPr bwMode="auto">
            <a:xfrm>
              <a:off x="3408" y="2504"/>
              <a:ext cx="480" cy="336"/>
              <a:chOff x="720" y="1872"/>
              <a:chExt cx="480" cy="336"/>
            </a:xfrm>
          </p:grpSpPr>
          <p:sp>
            <p:nvSpPr>
              <p:cNvPr id="70837" name="Rectangle 88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38" name="Oval 89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807" name="Group 90"/>
            <p:cNvGrpSpPr/>
            <p:nvPr/>
          </p:nvGrpSpPr>
          <p:grpSpPr bwMode="auto">
            <a:xfrm>
              <a:off x="3408" y="2984"/>
              <a:ext cx="480" cy="336"/>
              <a:chOff x="720" y="1872"/>
              <a:chExt cx="480" cy="336"/>
            </a:xfrm>
          </p:grpSpPr>
          <p:sp>
            <p:nvSpPr>
              <p:cNvPr id="70835" name="Rectangle 91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36" name="Oval 92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808" name="Group 93"/>
            <p:cNvGrpSpPr/>
            <p:nvPr/>
          </p:nvGrpSpPr>
          <p:grpSpPr bwMode="auto">
            <a:xfrm>
              <a:off x="4368" y="2984"/>
              <a:ext cx="480" cy="336"/>
              <a:chOff x="720" y="1872"/>
              <a:chExt cx="480" cy="336"/>
            </a:xfrm>
          </p:grpSpPr>
          <p:sp>
            <p:nvSpPr>
              <p:cNvPr id="70833" name="Rectangle 9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34" name="Oval 9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809" name="Group 96"/>
            <p:cNvGrpSpPr/>
            <p:nvPr/>
          </p:nvGrpSpPr>
          <p:grpSpPr bwMode="auto">
            <a:xfrm>
              <a:off x="4368" y="2456"/>
              <a:ext cx="480" cy="336"/>
              <a:chOff x="720" y="1872"/>
              <a:chExt cx="480" cy="336"/>
            </a:xfrm>
          </p:grpSpPr>
          <p:sp>
            <p:nvSpPr>
              <p:cNvPr id="70831" name="Rectangle 9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32" name="Oval 9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0810" name="Line 99"/>
            <p:cNvSpPr>
              <a:spLocks noChangeShapeType="1"/>
            </p:cNvSpPr>
            <p:nvPr/>
          </p:nvSpPr>
          <p:spPr bwMode="auto">
            <a:xfrm>
              <a:off x="379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811" name="Group 100"/>
            <p:cNvGrpSpPr/>
            <p:nvPr/>
          </p:nvGrpSpPr>
          <p:grpSpPr bwMode="auto">
            <a:xfrm>
              <a:off x="5232" y="2448"/>
              <a:ext cx="480" cy="336"/>
              <a:chOff x="720" y="1872"/>
              <a:chExt cx="480" cy="336"/>
            </a:xfrm>
          </p:grpSpPr>
          <p:sp>
            <p:nvSpPr>
              <p:cNvPr id="70829" name="Rectangle 101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830" name="Oval 102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0812" name="Line 103"/>
            <p:cNvSpPr>
              <a:spLocks noChangeShapeType="1"/>
            </p:cNvSpPr>
            <p:nvPr/>
          </p:nvSpPr>
          <p:spPr bwMode="auto">
            <a:xfrm flipV="1">
              <a:off x="379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13" name="Line 104"/>
            <p:cNvSpPr>
              <a:spLocks noChangeShapeType="1"/>
            </p:cNvSpPr>
            <p:nvPr/>
          </p:nvSpPr>
          <p:spPr bwMode="auto">
            <a:xfrm flipV="1">
              <a:off x="451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14" name="Oval 105"/>
            <p:cNvSpPr>
              <a:spLocks noChangeArrowheads="1"/>
            </p:cNvSpPr>
            <p:nvPr/>
          </p:nvSpPr>
          <p:spPr bwMode="auto">
            <a:xfrm>
              <a:off x="441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815" name="Oval 106"/>
            <p:cNvSpPr>
              <a:spLocks noChangeArrowheads="1"/>
            </p:cNvSpPr>
            <p:nvPr/>
          </p:nvSpPr>
          <p:spPr bwMode="auto">
            <a:xfrm>
              <a:off x="4512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816" name="Oval 107"/>
            <p:cNvSpPr>
              <a:spLocks noChangeArrowheads="1"/>
            </p:cNvSpPr>
            <p:nvPr/>
          </p:nvSpPr>
          <p:spPr bwMode="auto">
            <a:xfrm>
              <a:off x="4080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817" name="Oval 108"/>
            <p:cNvSpPr>
              <a:spLocks noChangeArrowheads="1"/>
            </p:cNvSpPr>
            <p:nvPr/>
          </p:nvSpPr>
          <p:spPr bwMode="auto">
            <a:xfrm>
              <a:off x="456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818" name="Oval 109"/>
            <p:cNvSpPr>
              <a:spLocks noChangeArrowheads="1"/>
            </p:cNvSpPr>
            <p:nvPr/>
          </p:nvSpPr>
          <p:spPr bwMode="auto">
            <a:xfrm>
              <a:off x="360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819" name="Rectangle 110"/>
            <p:cNvSpPr>
              <a:spLocks noChangeArrowheads="1"/>
            </p:cNvSpPr>
            <p:nvPr/>
          </p:nvSpPr>
          <p:spPr bwMode="auto">
            <a:xfrm>
              <a:off x="3395" y="566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70820" name="Rectangle 111"/>
            <p:cNvSpPr>
              <a:spLocks noChangeArrowheads="1"/>
            </p:cNvSpPr>
            <p:nvPr/>
          </p:nvSpPr>
          <p:spPr bwMode="auto">
            <a:xfrm>
              <a:off x="4603" y="764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0821" name="Line 136"/>
            <p:cNvSpPr>
              <a:spLocks noChangeShapeType="1"/>
            </p:cNvSpPr>
            <p:nvPr/>
          </p:nvSpPr>
          <p:spPr bwMode="auto">
            <a:xfrm flipH="1">
              <a:off x="3264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2" name="Line 137"/>
            <p:cNvSpPr>
              <a:spLocks noChangeShapeType="1"/>
            </p:cNvSpPr>
            <p:nvPr/>
          </p:nvSpPr>
          <p:spPr bwMode="auto">
            <a:xfrm>
              <a:off x="3264" y="1056"/>
              <a:ext cx="0" cy="26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3" name="Line 138"/>
            <p:cNvSpPr>
              <a:spLocks noChangeShapeType="1"/>
            </p:cNvSpPr>
            <p:nvPr/>
          </p:nvSpPr>
          <p:spPr bwMode="auto">
            <a:xfrm>
              <a:off x="3264" y="369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4" name="Line 139"/>
            <p:cNvSpPr>
              <a:spLocks noChangeShapeType="1"/>
            </p:cNvSpPr>
            <p:nvPr/>
          </p:nvSpPr>
          <p:spPr bwMode="auto">
            <a:xfrm flipV="1">
              <a:off x="4800" y="33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5" name="Line 141"/>
            <p:cNvSpPr>
              <a:spLocks noChangeShapeType="1"/>
            </p:cNvSpPr>
            <p:nvPr/>
          </p:nvSpPr>
          <p:spPr bwMode="auto">
            <a:xfrm>
              <a:off x="4656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6" name="Line 142"/>
            <p:cNvSpPr>
              <a:spLocks noChangeShapeType="1"/>
            </p:cNvSpPr>
            <p:nvPr/>
          </p:nvSpPr>
          <p:spPr bwMode="auto">
            <a:xfrm>
              <a:off x="504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7" name="Line 143"/>
            <p:cNvSpPr>
              <a:spLocks noChangeShapeType="1"/>
            </p:cNvSpPr>
            <p:nvPr/>
          </p:nvSpPr>
          <p:spPr bwMode="auto">
            <a:xfrm flipH="1">
              <a:off x="3552" y="3840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28" name="Line 144"/>
            <p:cNvSpPr>
              <a:spLocks noChangeShapeType="1"/>
            </p:cNvSpPr>
            <p:nvPr/>
          </p:nvSpPr>
          <p:spPr bwMode="auto">
            <a:xfrm flipV="1">
              <a:off x="3552" y="331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661" name="Group 389"/>
          <p:cNvGrpSpPr/>
          <p:nvPr/>
        </p:nvGrpSpPr>
        <p:grpSpPr bwMode="auto">
          <a:xfrm>
            <a:off x="145796" y="811213"/>
            <a:ext cx="4267200" cy="5818188"/>
            <a:chOff x="0" y="511"/>
            <a:chExt cx="2688" cy="3665"/>
          </a:xfrm>
        </p:grpSpPr>
        <p:sp>
          <p:nvSpPr>
            <p:cNvPr id="70667" name="Line 286"/>
            <p:cNvSpPr>
              <a:spLocks noChangeShapeType="1"/>
            </p:cNvSpPr>
            <p:nvPr/>
          </p:nvSpPr>
          <p:spPr bwMode="auto">
            <a:xfrm flipV="1">
              <a:off x="720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8" name="Line 287"/>
            <p:cNvSpPr>
              <a:spLocks noChangeShapeType="1"/>
            </p:cNvSpPr>
            <p:nvPr/>
          </p:nvSpPr>
          <p:spPr bwMode="auto">
            <a:xfrm flipH="1" flipV="1">
              <a:off x="1680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Line 288"/>
            <p:cNvSpPr>
              <a:spLocks noChangeShapeType="1"/>
            </p:cNvSpPr>
            <p:nvPr/>
          </p:nvSpPr>
          <p:spPr bwMode="auto">
            <a:xfrm>
              <a:off x="724" y="9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0" name="Line 289"/>
            <p:cNvSpPr>
              <a:spLocks noChangeShapeType="1"/>
            </p:cNvSpPr>
            <p:nvPr/>
          </p:nvSpPr>
          <p:spPr bwMode="auto">
            <a:xfrm flipH="1">
              <a:off x="1386" y="9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290"/>
            <p:cNvSpPr>
              <a:spLocks noChangeShapeType="1"/>
            </p:cNvSpPr>
            <p:nvPr/>
          </p:nvSpPr>
          <p:spPr bwMode="auto">
            <a:xfrm flipH="1">
              <a:off x="1056" y="1008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Line 291"/>
            <p:cNvSpPr>
              <a:spLocks noChangeShapeType="1"/>
            </p:cNvSpPr>
            <p:nvPr/>
          </p:nvSpPr>
          <p:spPr bwMode="auto">
            <a:xfrm>
              <a:off x="1014" y="991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3" name="Line 292"/>
            <p:cNvSpPr>
              <a:spLocks noChangeShapeType="1"/>
            </p:cNvSpPr>
            <p:nvPr/>
          </p:nvSpPr>
          <p:spPr bwMode="auto">
            <a:xfrm flipV="1">
              <a:off x="1392" y="16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Line 293"/>
            <p:cNvSpPr>
              <a:spLocks noChangeShapeType="1"/>
            </p:cNvSpPr>
            <p:nvPr/>
          </p:nvSpPr>
          <p:spPr bwMode="auto">
            <a:xfrm flipH="1" flipV="1">
              <a:off x="864" y="16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Line 294"/>
            <p:cNvSpPr>
              <a:spLocks noChangeShapeType="1"/>
            </p:cNvSpPr>
            <p:nvPr/>
          </p:nvSpPr>
          <p:spPr bwMode="auto">
            <a:xfrm>
              <a:off x="864" y="2208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6" name="Line 295"/>
            <p:cNvSpPr>
              <a:spLocks noChangeShapeType="1"/>
            </p:cNvSpPr>
            <p:nvPr/>
          </p:nvSpPr>
          <p:spPr bwMode="auto">
            <a:xfrm>
              <a:off x="1536" y="20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7" name="Line 296"/>
            <p:cNvSpPr>
              <a:spLocks noChangeShapeType="1"/>
            </p:cNvSpPr>
            <p:nvPr/>
          </p:nvSpPr>
          <p:spPr bwMode="auto">
            <a:xfrm flipV="1">
              <a:off x="1680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8" name="Line 297"/>
            <p:cNvSpPr>
              <a:spLocks noChangeShapeType="1"/>
            </p:cNvSpPr>
            <p:nvPr/>
          </p:nvSpPr>
          <p:spPr bwMode="auto">
            <a:xfrm flipV="1">
              <a:off x="720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Line 298"/>
            <p:cNvSpPr>
              <a:spLocks noChangeShapeType="1"/>
            </p:cNvSpPr>
            <p:nvPr/>
          </p:nvSpPr>
          <p:spPr bwMode="auto">
            <a:xfrm>
              <a:off x="720" y="326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0" name="Line 299"/>
            <p:cNvSpPr>
              <a:spLocks noChangeShapeType="1"/>
            </p:cNvSpPr>
            <p:nvPr/>
          </p:nvSpPr>
          <p:spPr bwMode="auto">
            <a:xfrm>
              <a:off x="1728" y="326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1" name="Line 300"/>
            <p:cNvSpPr>
              <a:spLocks noChangeShapeType="1"/>
            </p:cNvSpPr>
            <p:nvPr/>
          </p:nvSpPr>
          <p:spPr bwMode="auto">
            <a:xfrm>
              <a:off x="816" y="32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2" name="Line 301"/>
            <p:cNvSpPr>
              <a:spLocks noChangeShapeType="1"/>
            </p:cNvSpPr>
            <p:nvPr/>
          </p:nvSpPr>
          <p:spPr bwMode="auto">
            <a:xfrm>
              <a:off x="816" y="3600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3" name="Line 302"/>
            <p:cNvSpPr>
              <a:spLocks noChangeShapeType="1"/>
            </p:cNvSpPr>
            <p:nvPr/>
          </p:nvSpPr>
          <p:spPr bwMode="auto">
            <a:xfrm>
              <a:off x="1632" y="32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4" name="Line 303"/>
            <p:cNvSpPr>
              <a:spLocks noChangeShapeType="1"/>
            </p:cNvSpPr>
            <p:nvPr/>
          </p:nvSpPr>
          <p:spPr bwMode="auto">
            <a:xfrm flipH="1">
              <a:off x="2448" y="22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5" name="Line 304"/>
            <p:cNvSpPr>
              <a:spLocks noChangeShapeType="1"/>
            </p:cNvSpPr>
            <p:nvPr/>
          </p:nvSpPr>
          <p:spPr bwMode="auto">
            <a:xfrm flipV="1">
              <a:off x="2448" y="2736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6" name="Line 305"/>
            <p:cNvSpPr>
              <a:spLocks noChangeShapeType="1"/>
            </p:cNvSpPr>
            <p:nvPr/>
          </p:nvSpPr>
          <p:spPr bwMode="auto">
            <a:xfrm>
              <a:off x="1200" y="360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7" name="Text Box 306"/>
            <p:cNvSpPr txBox="1">
              <a:spLocks noChangeArrowheads="1"/>
            </p:cNvSpPr>
            <p:nvPr/>
          </p:nvSpPr>
          <p:spPr bwMode="auto">
            <a:xfrm>
              <a:off x="1056" y="388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0688" name="Text Box 307"/>
            <p:cNvSpPr txBox="1">
              <a:spLocks noChangeArrowheads="1"/>
            </p:cNvSpPr>
            <p:nvPr/>
          </p:nvSpPr>
          <p:spPr bwMode="auto">
            <a:xfrm>
              <a:off x="576" y="3888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0689" name="Text Box 308"/>
            <p:cNvSpPr txBox="1">
              <a:spLocks noChangeArrowheads="1"/>
            </p:cNvSpPr>
            <p:nvPr/>
          </p:nvSpPr>
          <p:spPr bwMode="auto">
            <a:xfrm>
              <a:off x="1632" y="3888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0690" name="Group 309"/>
            <p:cNvGrpSpPr/>
            <p:nvPr/>
          </p:nvGrpSpPr>
          <p:grpSpPr bwMode="auto">
            <a:xfrm>
              <a:off x="480" y="1152"/>
              <a:ext cx="480" cy="336"/>
              <a:chOff x="720" y="1872"/>
              <a:chExt cx="480" cy="336"/>
            </a:xfrm>
          </p:grpSpPr>
          <p:sp>
            <p:nvSpPr>
              <p:cNvPr id="70765" name="Rectangle 31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66" name="Oval 31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691" name="Group 312"/>
            <p:cNvGrpSpPr/>
            <p:nvPr/>
          </p:nvGrpSpPr>
          <p:grpSpPr bwMode="auto">
            <a:xfrm>
              <a:off x="480" y="1680"/>
              <a:ext cx="480" cy="336"/>
              <a:chOff x="720" y="1872"/>
              <a:chExt cx="480" cy="336"/>
            </a:xfrm>
          </p:grpSpPr>
          <p:sp>
            <p:nvSpPr>
              <p:cNvPr id="70763" name="Rectangle 31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64" name="Oval 31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692" name="Group 315"/>
            <p:cNvGrpSpPr/>
            <p:nvPr/>
          </p:nvGrpSpPr>
          <p:grpSpPr bwMode="auto">
            <a:xfrm>
              <a:off x="1440" y="1680"/>
              <a:ext cx="480" cy="336"/>
              <a:chOff x="720" y="1872"/>
              <a:chExt cx="480" cy="336"/>
            </a:xfrm>
          </p:grpSpPr>
          <p:sp>
            <p:nvSpPr>
              <p:cNvPr id="70761" name="Rectangle 31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62" name="Oval 31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693" name="Group 318"/>
            <p:cNvGrpSpPr/>
            <p:nvPr/>
          </p:nvGrpSpPr>
          <p:grpSpPr bwMode="auto">
            <a:xfrm>
              <a:off x="1440" y="1152"/>
              <a:ext cx="480" cy="336"/>
              <a:chOff x="720" y="1872"/>
              <a:chExt cx="480" cy="336"/>
            </a:xfrm>
          </p:grpSpPr>
          <p:sp>
            <p:nvSpPr>
              <p:cNvPr id="70759" name="Rectangle 319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60" name="Oval 320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0694" name="Line 321"/>
            <p:cNvSpPr>
              <a:spLocks noChangeShapeType="1"/>
            </p:cNvSpPr>
            <p:nvPr/>
          </p:nvSpPr>
          <p:spPr bwMode="auto">
            <a:xfrm flipV="1">
              <a:off x="720" y="2016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5" name="Line 322"/>
            <p:cNvSpPr>
              <a:spLocks noChangeShapeType="1"/>
            </p:cNvSpPr>
            <p:nvPr/>
          </p:nvSpPr>
          <p:spPr bwMode="auto">
            <a:xfrm flipH="1" flipV="1">
              <a:off x="1680" y="20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6" name="Line 323"/>
            <p:cNvSpPr>
              <a:spLocks noChangeShapeType="1"/>
            </p:cNvSpPr>
            <p:nvPr/>
          </p:nvSpPr>
          <p:spPr bwMode="auto">
            <a:xfrm>
              <a:off x="724" y="2343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7" name="Line 324"/>
            <p:cNvSpPr>
              <a:spLocks noChangeShapeType="1"/>
            </p:cNvSpPr>
            <p:nvPr/>
          </p:nvSpPr>
          <p:spPr bwMode="auto">
            <a:xfrm flipH="1" flipV="1">
              <a:off x="1392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8" name="Line 325"/>
            <p:cNvSpPr>
              <a:spLocks noChangeShapeType="1"/>
            </p:cNvSpPr>
            <p:nvPr/>
          </p:nvSpPr>
          <p:spPr bwMode="auto">
            <a:xfrm flipH="1">
              <a:off x="1056" y="2343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9" name="Line 326"/>
            <p:cNvSpPr>
              <a:spLocks noChangeShapeType="1"/>
            </p:cNvSpPr>
            <p:nvPr/>
          </p:nvSpPr>
          <p:spPr bwMode="auto">
            <a:xfrm>
              <a:off x="1014" y="2343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0" name="Line 327"/>
            <p:cNvSpPr>
              <a:spLocks noChangeShapeType="1"/>
            </p:cNvSpPr>
            <p:nvPr/>
          </p:nvSpPr>
          <p:spPr bwMode="auto">
            <a:xfrm flipV="1">
              <a:off x="1392" y="28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1" name="Line 328"/>
            <p:cNvSpPr>
              <a:spLocks noChangeShapeType="1"/>
            </p:cNvSpPr>
            <p:nvPr/>
          </p:nvSpPr>
          <p:spPr bwMode="auto">
            <a:xfrm flipH="1" flipV="1">
              <a:off x="864" y="28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2" name="Line 329"/>
            <p:cNvSpPr>
              <a:spLocks noChangeShapeType="1"/>
            </p:cNvSpPr>
            <p:nvPr/>
          </p:nvSpPr>
          <p:spPr bwMode="auto">
            <a:xfrm flipH="1" flipV="1">
              <a:off x="864" y="27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3" name="Line 330"/>
            <p:cNvSpPr>
              <a:spLocks noChangeShapeType="1"/>
            </p:cNvSpPr>
            <p:nvPr/>
          </p:nvSpPr>
          <p:spPr bwMode="auto">
            <a:xfrm flipV="1">
              <a:off x="1584" y="27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4" name="Line 331"/>
            <p:cNvSpPr>
              <a:spLocks noChangeShapeType="1"/>
            </p:cNvSpPr>
            <p:nvPr/>
          </p:nvSpPr>
          <p:spPr bwMode="auto">
            <a:xfrm flipV="1">
              <a:off x="1680" y="2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5" name="Line 332"/>
            <p:cNvSpPr>
              <a:spLocks noChangeShapeType="1"/>
            </p:cNvSpPr>
            <p:nvPr/>
          </p:nvSpPr>
          <p:spPr bwMode="auto">
            <a:xfrm flipV="1">
              <a:off x="720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706" name="Group 333"/>
            <p:cNvGrpSpPr/>
            <p:nvPr/>
          </p:nvGrpSpPr>
          <p:grpSpPr bwMode="auto">
            <a:xfrm>
              <a:off x="480" y="2456"/>
              <a:ext cx="480" cy="336"/>
              <a:chOff x="720" y="1872"/>
              <a:chExt cx="480" cy="336"/>
            </a:xfrm>
          </p:grpSpPr>
          <p:sp>
            <p:nvSpPr>
              <p:cNvPr id="70757" name="Rectangle 33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58" name="Oval 33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707" name="Group 336"/>
            <p:cNvGrpSpPr/>
            <p:nvPr/>
          </p:nvGrpSpPr>
          <p:grpSpPr bwMode="auto">
            <a:xfrm>
              <a:off x="480" y="2936"/>
              <a:ext cx="480" cy="336"/>
              <a:chOff x="720" y="1872"/>
              <a:chExt cx="480" cy="336"/>
            </a:xfrm>
          </p:grpSpPr>
          <p:sp>
            <p:nvSpPr>
              <p:cNvPr id="70755" name="Rectangle 33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56" name="Oval 33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708" name="Group 339"/>
            <p:cNvGrpSpPr/>
            <p:nvPr/>
          </p:nvGrpSpPr>
          <p:grpSpPr bwMode="auto">
            <a:xfrm>
              <a:off x="1440" y="2936"/>
              <a:ext cx="480" cy="336"/>
              <a:chOff x="720" y="1872"/>
              <a:chExt cx="480" cy="336"/>
            </a:xfrm>
          </p:grpSpPr>
          <p:sp>
            <p:nvSpPr>
              <p:cNvPr id="70753" name="Rectangle 34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54" name="Oval 34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0709" name="Group 342"/>
            <p:cNvGrpSpPr/>
            <p:nvPr/>
          </p:nvGrpSpPr>
          <p:grpSpPr bwMode="auto">
            <a:xfrm>
              <a:off x="1440" y="2408"/>
              <a:ext cx="480" cy="336"/>
              <a:chOff x="720" y="1872"/>
              <a:chExt cx="480" cy="336"/>
            </a:xfrm>
          </p:grpSpPr>
          <p:sp>
            <p:nvSpPr>
              <p:cNvPr id="70751" name="Rectangle 34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52" name="Oval 34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0710" name="Line 345"/>
            <p:cNvSpPr>
              <a:spLocks noChangeShapeType="1"/>
            </p:cNvSpPr>
            <p:nvPr/>
          </p:nvSpPr>
          <p:spPr bwMode="auto">
            <a:xfrm>
              <a:off x="864" y="20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711" name="Group 346"/>
            <p:cNvGrpSpPr/>
            <p:nvPr/>
          </p:nvGrpSpPr>
          <p:grpSpPr bwMode="auto">
            <a:xfrm>
              <a:off x="2208" y="2400"/>
              <a:ext cx="480" cy="336"/>
              <a:chOff x="720" y="1872"/>
              <a:chExt cx="480" cy="336"/>
            </a:xfrm>
          </p:grpSpPr>
          <p:sp>
            <p:nvSpPr>
              <p:cNvPr id="70749" name="Rectangle 34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0750" name="Oval 34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0712" name="Line 349"/>
            <p:cNvSpPr>
              <a:spLocks noChangeShapeType="1"/>
            </p:cNvSpPr>
            <p:nvPr/>
          </p:nvSpPr>
          <p:spPr bwMode="auto">
            <a:xfrm flipV="1">
              <a:off x="864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13" name="Line 350"/>
            <p:cNvSpPr>
              <a:spLocks noChangeShapeType="1"/>
            </p:cNvSpPr>
            <p:nvPr/>
          </p:nvSpPr>
          <p:spPr bwMode="auto">
            <a:xfrm flipV="1">
              <a:off x="1584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14" name="Oval 351"/>
            <p:cNvSpPr>
              <a:spLocks noChangeArrowheads="1"/>
            </p:cNvSpPr>
            <p:nvPr/>
          </p:nvSpPr>
          <p:spPr bwMode="auto">
            <a:xfrm>
              <a:off x="1488" y="216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15" name="Oval 352"/>
            <p:cNvSpPr>
              <a:spLocks noChangeArrowheads="1"/>
            </p:cNvSpPr>
            <p:nvPr/>
          </p:nvSpPr>
          <p:spPr bwMode="auto">
            <a:xfrm>
              <a:off x="1584" y="3552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16" name="Oval 353"/>
            <p:cNvSpPr>
              <a:spLocks noChangeArrowheads="1"/>
            </p:cNvSpPr>
            <p:nvPr/>
          </p:nvSpPr>
          <p:spPr bwMode="auto">
            <a:xfrm>
              <a:off x="1152" y="3552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17" name="Oval 354"/>
            <p:cNvSpPr>
              <a:spLocks noChangeArrowheads="1"/>
            </p:cNvSpPr>
            <p:nvPr/>
          </p:nvSpPr>
          <p:spPr bwMode="auto">
            <a:xfrm>
              <a:off x="1632" y="96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18" name="Oval 355"/>
            <p:cNvSpPr>
              <a:spLocks noChangeArrowheads="1"/>
            </p:cNvSpPr>
            <p:nvPr/>
          </p:nvSpPr>
          <p:spPr bwMode="auto">
            <a:xfrm>
              <a:off x="672" y="96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19" name="Rectangle 356"/>
            <p:cNvSpPr>
              <a:spLocks noChangeArrowheads="1"/>
            </p:cNvSpPr>
            <p:nvPr/>
          </p:nvSpPr>
          <p:spPr bwMode="auto">
            <a:xfrm>
              <a:off x="456" y="511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70720" name="Rectangle 357"/>
            <p:cNvSpPr>
              <a:spLocks noChangeArrowheads="1"/>
            </p:cNvSpPr>
            <p:nvPr/>
          </p:nvSpPr>
          <p:spPr bwMode="auto">
            <a:xfrm>
              <a:off x="1671" y="712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70721" name="Line 358"/>
            <p:cNvSpPr>
              <a:spLocks noChangeShapeType="1"/>
            </p:cNvSpPr>
            <p:nvPr/>
          </p:nvSpPr>
          <p:spPr bwMode="auto">
            <a:xfrm flipH="1">
              <a:off x="336" y="100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2" name="Line 359"/>
            <p:cNvSpPr>
              <a:spLocks noChangeShapeType="1"/>
            </p:cNvSpPr>
            <p:nvPr/>
          </p:nvSpPr>
          <p:spPr bwMode="auto">
            <a:xfrm>
              <a:off x="336" y="1008"/>
              <a:ext cx="0" cy="26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3" name="Line 360"/>
            <p:cNvSpPr>
              <a:spLocks noChangeShapeType="1"/>
            </p:cNvSpPr>
            <p:nvPr/>
          </p:nvSpPr>
          <p:spPr bwMode="auto">
            <a:xfrm>
              <a:off x="336" y="369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4" name="Line 361"/>
            <p:cNvSpPr>
              <a:spLocks noChangeShapeType="1"/>
            </p:cNvSpPr>
            <p:nvPr/>
          </p:nvSpPr>
          <p:spPr bwMode="auto">
            <a:xfrm flipV="1">
              <a:off x="1872" y="326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5" name="Line 362"/>
            <p:cNvSpPr>
              <a:spLocks noChangeShapeType="1"/>
            </p:cNvSpPr>
            <p:nvPr/>
          </p:nvSpPr>
          <p:spPr bwMode="auto">
            <a:xfrm>
              <a:off x="1728" y="10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6" name="Line 363"/>
            <p:cNvSpPr>
              <a:spLocks noChangeShapeType="1"/>
            </p:cNvSpPr>
            <p:nvPr/>
          </p:nvSpPr>
          <p:spPr bwMode="auto">
            <a:xfrm>
              <a:off x="2016" y="1008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7" name="Line 364"/>
            <p:cNvSpPr>
              <a:spLocks noChangeShapeType="1"/>
            </p:cNvSpPr>
            <p:nvPr/>
          </p:nvSpPr>
          <p:spPr bwMode="auto">
            <a:xfrm flipH="1">
              <a:off x="624" y="3792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8" name="Line 365"/>
            <p:cNvSpPr>
              <a:spLocks noChangeShapeType="1"/>
            </p:cNvSpPr>
            <p:nvPr/>
          </p:nvSpPr>
          <p:spPr bwMode="auto">
            <a:xfrm flipV="1">
              <a:off x="624" y="3264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0" name="Line 368"/>
            <p:cNvSpPr>
              <a:spLocks noChangeShapeType="1"/>
            </p:cNvSpPr>
            <p:nvPr/>
          </p:nvSpPr>
          <p:spPr bwMode="auto">
            <a:xfrm>
              <a:off x="624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1" name="Line 369"/>
            <p:cNvSpPr>
              <a:spLocks noChangeShapeType="1"/>
            </p:cNvSpPr>
            <p:nvPr/>
          </p:nvSpPr>
          <p:spPr bwMode="auto">
            <a:xfrm flipH="1">
              <a:off x="0" y="158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2" name="Line 370"/>
            <p:cNvSpPr>
              <a:spLocks noChangeShapeType="1"/>
            </p:cNvSpPr>
            <p:nvPr/>
          </p:nvSpPr>
          <p:spPr bwMode="auto">
            <a:xfrm>
              <a:off x="192" y="163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3" name="Line 371"/>
            <p:cNvSpPr>
              <a:spLocks noChangeShapeType="1"/>
            </p:cNvSpPr>
            <p:nvPr/>
          </p:nvSpPr>
          <p:spPr bwMode="auto">
            <a:xfrm>
              <a:off x="192" y="3360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4" name="Line 372"/>
            <p:cNvSpPr>
              <a:spLocks noChangeShapeType="1"/>
            </p:cNvSpPr>
            <p:nvPr/>
          </p:nvSpPr>
          <p:spPr bwMode="auto">
            <a:xfrm flipV="1">
              <a:off x="1536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5" name="Line 373"/>
            <p:cNvSpPr>
              <a:spLocks noChangeShapeType="1"/>
            </p:cNvSpPr>
            <p:nvPr/>
          </p:nvSpPr>
          <p:spPr bwMode="auto">
            <a:xfrm flipH="1">
              <a:off x="192" y="292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6" name="Oval 374"/>
            <p:cNvSpPr>
              <a:spLocks noChangeArrowheads="1"/>
            </p:cNvSpPr>
            <p:nvPr/>
          </p:nvSpPr>
          <p:spPr bwMode="auto">
            <a:xfrm>
              <a:off x="144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37" name="Oval 375"/>
            <p:cNvSpPr>
              <a:spLocks noChangeArrowheads="1"/>
            </p:cNvSpPr>
            <p:nvPr/>
          </p:nvSpPr>
          <p:spPr bwMode="auto">
            <a:xfrm>
              <a:off x="144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38" name="Line 376"/>
            <p:cNvSpPr>
              <a:spLocks noChangeShapeType="1"/>
            </p:cNvSpPr>
            <p:nvPr/>
          </p:nvSpPr>
          <p:spPr bwMode="auto">
            <a:xfrm>
              <a:off x="576" y="27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0" name="Line 380"/>
            <p:cNvSpPr>
              <a:spLocks noChangeShapeType="1"/>
            </p:cNvSpPr>
            <p:nvPr/>
          </p:nvSpPr>
          <p:spPr bwMode="auto">
            <a:xfrm flipH="1">
              <a:off x="1824" y="158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1" name="Line 381"/>
            <p:cNvSpPr>
              <a:spLocks noChangeShapeType="1"/>
            </p:cNvSpPr>
            <p:nvPr/>
          </p:nvSpPr>
          <p:spPr bwMode="auto">
            <a:xfrm flipV="1">
              <a:off x="1824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2" name="Line 382"/>
            <p:cNvSpPr>
              <a:spLocks noChangeShapeType="1"/>
            </p:cNvSpPr>
            <p:nvPr/>
          </p:nvSpPr>
          <p:spPr bwMode="auto">
            <a:xfrm>
              <a:off x="2112" y="1584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3" name="Line 383"/>
            <p:cNvSpPr>
              <a:spLocks noChangeShapeType="1"/>
            </p:cNvSpPr>
            <p:nvPr/>
          </p:nvSpPr>
          <p:spPr bwMode="auto">
            <a:xfrm flipH="1">
              <a:off x="912" y="350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4" name="Line 384"/>
            <p:cNvSpPr>
              <a:spLocks noChangeShapeType="1"/>
            </p:cNvSpPr>
            <p:nvPr/>
          </p:nvSpPr>
          <p:spPr bwMode="auto">
            <a:xfrm flipV="1">
              <a:off x="912" y="326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5" name="Line 385"/>
            <p:cNvSpPr>
              <a:spLocks noChangeShapeType="1"/>
            </p:cNvSpPr>
            <p:nvPr/>
          </p:nvSpPr>
          <p:spPr bwMode="auto">
            <a:xfrm flipH="1">
              <a:off x="1824" y="28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6" name="Line 386"/>
            <p:cNvSpPr>
              <a:spLocks noChangeShapeType="1"/>
            </p:cNvSpPr>
            <p:nvPr/>
          </p:nvSpPr>
          <p:spPr bwMode="auto">
            <a:xfrm>
              <a:off x="1824" y="273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47" name="Oval 387"/>
            <p:cNvSpPr>
              <a:spLocks noChangeArrowheads="1"/>
            </p:cNvSpPr>
            <p:nvPr/>
          </p:nvSpPr>
          <p:spPr bwMode="auto">
            <a:xfrm>
              <a:off x="2064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748" name="Oval 388"/>
            <p:cNvSpPr>
              <a:spLocks noChangeArrowheads="1"/>
            </p:cNvSpPr>
            <p:nvPr/>
          </p:nvSpPr>
          <p:spPr bwMode="auto">
            <a:xfrm>
              <a:off x="2064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626054" name="AutoShape 390"/>
          <p:cNvSpPr>
            <a:spLocks noChangeArrowheads="1"/>
          </p:cNvSpPr>
          <p:nvPr/>
        </p:nvSpPr>
        <p:spPr bwMode="auto">
          <a:xfrm>
            <a:off x="3733800" y="27432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626058" name="Group 394"/>
          <p:cNvGrpSpPr/>
          <p:nvPr/>
        </p:nvGrpSpPr>
        <p:grpSpPr bwMode="auto">
          <a:xfrm>
            <a:off x="3232150" y="1511300"/>
            <a:ext cx="2286000" cy="396875"/>
            <a:chOff x="2036" y="952"/>
            <a:chExt cx="1440" cy="250"/>
          </a:xfrm>
        </p:grpSpPr>
        <p:sp>
          <p:nvSpPr>
            <p:cNvPr id="70664" name="Text Box 391"/>
            <p:cNvSpPr txBox="1">
              <a:spLocks noChangeArrowheads="1"/>
            </p:cNvSpPr>
            <p:nvPr/>
          </p:nvSpPr>
          <p:spPr bwMode="auto">
            <a:xfrm>
              <a:off x="2036" y="952"/>
              <a:ext cx="14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简化</a:t>
              </a:r>
              <a:r>
                <a:rPr lang="en-US" altLang="zh-CN" sz="2000" dirty="0"/>
                <a:t>:</a:t>
              </a:r>
              <a:r>
                <a:rPr lang="zh-CN" altLang="en-US" sz="2000" dirty="0"/>
                <a:t>去掉</a:t>
              </a:r>
              <a:r>
                <a:rPr lang="en-US" altLang="zh-CN" sz="2000" dirty="0"/>
                <a:t>R</a:t>
              </a:r>
              <a:r>
                <a:rPr lang="en-US" altLang="zh-CN" sz="2000" baseline="-25000" dirty="0"/>
                <a:t>D</a:t>
              </a:r>
              <a:r>
                <a:rPr lang="zh-CN" altLang="en-US" sz="2000" dirty="0"/>
                <a:t>和</a:t>
              </a:r>
              <a:r>
                <a:rPr lang="en-US" altLang="zh-CN" sz="2000" dirty="0"/>
                <a:t>S</a:t>
              </a:r>
              <a:r>
                <a:rPr lang="en-US" altLang="zh-CN" sz="2000" baseline="-25000" dirty="0"/>
                <a:t>D</a:t>
              </a:r>
              <a:endParaRPr lang="en-US" altLang="zh-CN" sz="2000" baseline="-25000" dirty="0"/>
            </a:p>
          </p:txBody>
        </p:sp>
        <p:sp>
          <p:nvSpPr>
            <p:cNvPr id="70665" name="Line 392"/>
            <p:cNvSpPr>
              <a:spLocks noChangeShapeType="1"/>
            </p:cNvSpPr>
            <p:nvPr/>
          </p:nvSpPr>
          <p:spPr bwMode="auto">
            <a:xfrm>
              <a:off x="2744" y="96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6" name="Line 393"/>
            <p:cNvSpPr>
              <a:spLocks noChangeShapeType="1"/>
            </p:cNvSpPr>
            <p:nvPr/>
          </p:nvSpPr>
          <p:spPr bwMode="auto">
            <a:xfrm>
              <a:off x="3096" y="9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Text Box 55"/>
          <p:cNvSpPr txBox="1">
            <a:spLocks noChangeArrowheads="1"/>
          </p:cNvSpPr>
          <p:nvPr/>
        </p:nvSpPr>
        <p:spPr bwMode="auto">
          <a:xfrm>
            <a:off x="46036" y="1651938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3" name="Text Box 55"/>
          <p:cNvSpPr txBox="1">
            <a:spLocks noChangeArrowheads="1"/>
          </p:cNvSpPr>
          <p:nvPr/>
        </p:nvSpPr>
        <p:spPr bwMode="auto">
          <a:xfrm>
            <a:off x="3649119" y="1771541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0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5CF34-F8B6-4BC0-B502-5DD3363C0918}" type="slidenum">
              <a:rPr lang="en-US" altLang="zh-CN"/>
            </a:fld>
            <a:endParaRPr lang="en-US" altLang="zh-CN"/>
          </a:p>
        </p:txBody>
      </p:sp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grpSp>
        <p:nvGrpSpPr>
          <p:cNvPr id="71684" name="Group 5"/>
          <p:cNvGrpSpPr/>
          <p:nvPr/>
        </p:nvGrpSpPr>
        <p:grpSpPr bwMode="auto">
          <a:xfrm>
            <a:off x="511175" y="762799"/>
            <a:ext cx="3886200" cy="5800725"/>
            <a:chOff x="3264" y="570"/>
            <a:chExt cx="2448" cy="3654"/>
          </a:xfrm>
        </p:grpSpPr>
        <p:sp>
          <p:nvSpPr>
            <p:cNvPr id="71767" name="Line 6"/>
            <p:cNvSpPr>
              <a:spLocks noChangeShapeType="1"/>
            </p:cNvSpPr>
            <p:nvPr/>
          </p:nvSpPr>
          <p:spPr bwMode="auto">
            <a:xfrm flipV="1">
              <a:off x="364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8" name="Line 7"/>
            <p:cNvSpPr>
              <a:spLocks noChangeShapeType="1"/>
            </p:cNvSpPr>
            <p:nvPr/>
          </p:nvSpPr>
          <p:spPr bwMode="auto">
            <a:xfrm flipH="1" flipV="1">
              <a:off x="460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9" name="Line 8"/>
            <p:cNvSpPr>
              <a:spLocks noChangeShapeType="1"/>
            </p:cNvSpPr>
            <p:nvPr/>
          </p:nvSpPr>
          <p:spPr bwMode="auto">
            <a:xfrm>
              <a:off x="3652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0" name="Line 9"/>
            <p:cNvSpPr>
              <a:spLocks noChangeShapeType="1"/>
            </p:cNvSpPr>
            <p:nvPr/>
          </p:nvSpPr>
          <p:spPr bwMode="auto">
            <a:xfrm flipH="1">
              <a:off x="4314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1" name="Line 10"/>
            <p:cNvSpPr>
              <a:spLocks noChangeShapeType="1"/>
            </p:cNvSpPr>
            <p:nvPr/>
          </p:nvSpPr>
          <p:spPr bwMode="auto">
            <a:xfrm flipH="1">
              <a:off x="3984" y="1056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2" name="Line 11"/>
            <p:cNvSpPr>
              <a:spLocks noChangeShapeType="1"/>
            </p:cNvSpPr>
            <p:nvPr/>
          </p:nvSpPr>
          <p:spPr bwMode="auto">
            <a:xfrm>
              <a:off x="3942" y="1039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3" name="Line 12"/>
            <p:cNvSpPr>
              <a:spLocks noChangeShapeType="1"/>
            </p:cNvSpPr>
            <p:nvPr/>
          </p:nvSpPr>
          <p:spPr bwMode="auto">
            <a:xfrm flipV="1">
              <a:off x="4320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4" name="Line 13"/>
            <p:cNvSpPr>
              <a:spLocks noChangeShapeType="1"/>
            </p:cNvSpPr>
            <p:nvPr/>
          </p:nvSpPr>
          <p:spPr bwMode="auto">
            <a:xfrm flipH="1" flipV="1">
              <a:off x="3792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5" name="Line 14"/>
            <p:cNvSpPr>
              <a:spLocks noChangeShapeType="1"/>
            </p:cNvSpPr>
            <p:nvPr/>
          </p:nvSpPr>
          <p:spPr bwMode="auto">
            <a:xfrm>
              <a:off x="3792" y="2256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6" name="Line 15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7" name="Line 16"/>
            <p:cNvSpPr>
              <a:spLocks noChangeShapeType="1"/>
            </p:cNvSpPr>
            <p:nvPr/>
          </p:nvSpPr>
          <p:spPr bwMode="auto">
            <a:xfrm flipV="1">
              <a:off x="460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8" name="Line 17"/>
            <p:cNvSpPr>
              <a:spLocks noChangeShapeType="1"/>
            </p:cNvSpPr>
            <p:nvPr/>
          </p:nvSpPr>
          <p:spPr bwMode="auto">
            <a:xfrm flipV="1">
              <a:off x="364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9" name="Line 18"/>
            <p:cNvSpPr>
              <a:spLocks noChangeShapeType="1"/>
            </p:cNvSpPr>
            <p:nvPr/>
          </p:nvSpPr>
          <p:spPr bwMode="auto">
            <a:xfrm>
              <a:off x="3648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0" name="Line 19"/>
            <p:cNvSpPr>
              <a:spLocks noChangeShapeType="1"/>
            </p:cNvSpPr>
            <p:nvPr/>
          </p:nvSpPr>
          <p:spPr bwMode="auto">
            <a:xfrm>
              <a:off x="4656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1" name="Line 20"/>
            <p:cNvSpPr>
              <a:spLocks noChangeShapeType="1"/>
            </p:cNvSpPr>
            <p:nvPr/>
          </p:nvSpPr>
          <p:spPr bwMode="auto">
            <a:xfrm>
              <a:off x="374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2" name="Line 21"/>
            <p:cNvSpPr>
              <a:spLocks noChangeShapeType="1"/>
            </p:cNvSpPr>
            <p:nvPr/>
          </p:nvSpPr>
          <p:spPr bwMode="auto">
            <a:xfrm>
              <a:off x="3744" y="350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3" name="Line 22"/>
            <p:cNvSpPr>
              <a:spLocks noChangeShapeType="1"/>
            </p:cNvSpPr>
            <p:nvPr/>
          </p:nvSpPr>
          <p:spPr bwMode="auto">
            <a:xfrm>
              <a:off x="456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4" name="Line 23"/>
            <p:cNvSpPr>
              <a:spLocks noChangeShapeType="1"/>
            </p:cNvSpPr>
            <p:nvPr/>
          </p:nvSpPr>
          <p:spPr bwMode="auto">
            <a:xfrm flipH="1">
              <a:off x="5472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5" name="Line 24"/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6" name="Line 25"/>
            <p:cNvSpPr>
              <a:spLocks noChangeShapeType="1"/>
            </p:cNvSpPr>
            <p:nvPr/>
          </p:nvSpPr>
          <p:spPr bwMode="auto">
            <a:xfrm>
              <a:off x="4128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7" name="Text Box 26"/>
            <p:cNvSpPr txBox="1">
              <a:spLocks noChangeArrowheads="1"/>
            </p:cNvSpPr>
            <p:nvPr/>
          </p:nvSpPr>
          <p:spPr bwMode="auto">
            <a:xfrm>
              <a:off x="3984" y="3936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1788" name="Text Box 27"/>
            <p:cNvSpPr txBox="1">
              <a:spLocks noChangeArrowheads="1"/>
            </p:cNvSpPr>
            <p:nvPr/>
          </p:nvSpPr>
          <p:spPr bwMode="auto">
            <a:xfrm>
              <a:off x="3504" y="3936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1789" name="Text Box 28"/>
            <p:cNvSpPr txBox="1">
              <a:spLocks noChangeArrowheads="1"/>
            </p:cNvSpPr>
            <p:nvPr/>
          </p:nvSpPr>
          <p:spPr bwMode="auto">
            <a:xfrm>
              <a:off x="4560" y="3936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1790" name="Group 29"/>
            <p:cNvGrpSpPr/>
            <p:nvPr/>
          </p:nvGrpSpPr>
          <p:grpSpPr bwMode="auto">
            <a:xfrm>
              <a:off x="3408" y="1200"/>
              <a:ext cx="480" cy="336"/>
              <a:chOff x="720" y="1872"/>
              <a:chExt cx="480" cy="336"/>
            </a:xfrm>
          </p:grpSpPr>
          <p:sp>
            <p:nvSpPr>
              <p:cNvPr id="71845" name="Rectangle 3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46" name="Oval 3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1791" name="Group 32"/>
            <p:cNvGrpSpPr/>
            <p:nvPr/>
          </p:nvGrpSpPr>
          <p:grpSpPr bwMode="auto">
            <a:xfrm>
              <a:off x="3408" y="1728"/>
              <a:ext cx="480" cy="336"/>
              <a:chOff x="720" y="1872"/>
              <a:chExt cx="480" cy="336"/>
            </a:xfrm>
          </p:grpSpPr>
          <p:sp>
            <p:nvSpPr>
              <p:cNvPr id="71843" name="Rectangle 3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44" name="Oval 3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1792" name="Group 35"/>
            <p:cNvGrpSpPr/>
            <p:nvPr/>
          </p:nvGrpSpPr>
          <p:grpSpPr bwMode="auto">
            <a:xfrm>
              <a:off x="4368" y="1728"/>
              <a:ext cx="480" cy="336"/>
              <a:chOff x="720" y="1872"/>
              <a:chExt cx="480" cy="336"/>
            </a:xfrm>
          </p:grpSpPr>
          <p:sp>
            <p:nvSpPr>
              <p:cNvPr id="71841" name="Rectangle 3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42" name="Oval 3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1793" name="Group 38"/>
            <p:cNvGrpSpPr/>
            <p:nvPr/>
          </p:nvGrpSpPr>
          <p:grpSpPr bwMode="auto">
            <a:xfrm>
              <a:off x="4368" y="1200"/>
              <a:ext cx="480" cy="336"/>
              <a:chOff x="720" y="1872"/>
              <a:chExt cx="480" cy="336"/>
            </a:xfrm>
          </p:grpSpPr>
          <p:sp>
            <p:nvSpPr>
              <p:cNvPr id="71839" name="Rectangle 39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40" name="Oval 40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1794" name="Line 41"/>
            <p:cNvSpPr>
              <a:spLocks noChangeShapeType="1"/>
            </p:cNvSpPr>
            <p:nvPr/>
          </p:nvSpPr>
          <p:spPr bwMode="auto">
            <a:xfrm flipV="1">
              <a:off x="3648" y="2064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5" name="Line 42"/>
            <p:cNvSpPr>
              <a:spLocks noChangeShapeType="1"/>
            </p:cNvSpPr>
            <p:nvPr/>
          </p:nvSpPr>
          <p:spPr bwMode="auto">
            <a:xfrm flipH="1" flipV="1">
              <a:off x="4608" y="20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6" name="Line 43"/>
            <p:cNvSpPr>
              <a:spLocks noChangeShapeType="1"/>
            </p:cNvSpPr>
            <p:nvPr/>
          </p:nvSpPr>
          <p:spPr bwMode="auto">
            <a:xfrm>
              <a:off x="3652" y="23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7" name="Line 44"/>
            <p:cNvSpPr>
              <a:spLocks noChangeShapeType="1"/>
            </p:cNvSpPr>
            <p:nvPr/>
          </p:nvSpPr>
          <p:spPr bwMode="auto">
            <a:xfrm flipH="1" flipV="1">
              <a:off x="4320" y="24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8" name="Line 45"/>
            <p:cNvSpPr>
              <a:spLocks noChangeShapeType="1"/>
            </p:cNvSpPr>
            <p:nvPr/>
          </p:nvSpPr>
          <p:spPr bwMode="auto">
            <a:xfrm flipH="1">
              <a:off x="3984" y="2391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9" name="Line 46"/>
            <p:cNvSpPr>
              <a:spLocks noChangeShapeType="1"/>
            </p:cNvSpPr>
            <p:nvPr/>
          </p:nvSpPr>
          <p:spPr bwMode="auto">
            <a:xfrm>
              <a:off x="3942" y="2391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0" name="Line 47"/>
            <p:cNvSpPr>
              <a:spLocks noChangeShapeType="1"/>
            </p:cNvSpPr>
            <p:nvPr/>
          </p:nvSpPr>
          <p:spPr bwMode="auto">
            <a:xfrm flipV="1">
              <a:off x="4320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1" name="Line 48"/>
            <p:cNvSpPr>
              <a:spLocks noChangeShapeType="1"/>
            </p:cNvSpPr>
            <p:nvPr/>
          </p:nvSpPr>
          <p:spPr bwMode="auto">
            <a:xfrm flipH="1" flipV="1">
              <a:off x="3792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2" name="Line 49"/>
            <p:cNvSpPr>
              <a:spLocks noChangeShapeType="1"/>
            </p:cNvSpPr>
            <p:nvPr/>
          </p:nvSpPr>
          <p:spPr bwMode="auto">
            <a:xfrm flipH="1" flipV="1">
              <a:off x="3792" y="2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3" name="Line 50"/>
            <p:cNvSpPr>
              <a:spLocks noChangeShapeType="1"/>
            </p:cNvSpPr>
            <p:nvPr/>
          </p:nvSpPr>
          <p:spPr bwMode="auto">
            <a:xfrm flipV="1">
              <a:off x="4512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4" name="Line 51"/>
            <p:cNvSpPr>
              <a:spLocks noChangeShapeType="1"/>
            </p:cNvSpPr>
            <p:nvPr/>
          </p:nvSpPr>
          <p:spPr bwMode="auto">
            <a:xfrm flipV="1">
              <a:off x="4608" y="2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05" name="Line 52"/>
            <p:cNvSpPr>
              <a:spLocks noChangeShapeType="1"/>
            </p:cNvSpPr>
            <p:nvPr/>
          </p:nvSpPr>
          <p:spPr bwMode="auto">
            <a:xfrm flipV="1">
              <a:off x="3648" y="2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806" name="Group 53"/>
            <p:cNvGrpSpPr/>
            <p:nvPr/>
          </p:nvGrpSpPr>
          <p:grpSpPr bwMode="auto">
            <a:xfrm>
              <a:off x="3408" y="2504"/>
              <a:ext cx="480" cy="336"/>
              <a:chOff x="720" y="1872"/>
              <a:chExt cx="480" cy="336"/>
            </a:xfrm>
          </p:grpSpPr>
          <p:sp>
            <p:nvSpPr>
              <p:cNvPr id="71837" name="Rectangle 5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38" name="Oval 5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1807" name="Group 56"/>
            <p:cNvGrpSpPr/>
            <p:nvPr/>
          </p:nvGrpSpPr>
          <p:grpSpPr bwMode="auto">
            <a:xfrm>
              <a:off x="3408" y="2984"/>
              <a:ext cx="480" cy="336"/>
              <a:chOff x="720" y="1872"/>
              <a:chExt cx="480" cy="336"/>
            </a:xfrm>
          </p:grpSpPr>
          <p:sp>
            <p:nvSpPr>
              <p:cNvPr id="71835" name="Rectangle 5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36" name="Oval 5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1808" name="Group 59"/>
            <p:cNvGrpSpPr/>
            <p:nvPr/>
          </p:nvGrpSpPr>
          <p:grpSpPr bwMode="auto">
            <a:xfrm>
              <a:off x="4368" y="2984"/>
              <a:ext cx="480" cy="336"/>
              <a:chOff x="720" y="1872"/>
              <a:chExt cx="480" cy="336"/>
            </a:xfrm>
          </p:grpSpPr>
          <p:sp>
            <p:nvSpPr>
              <p:cNvPr id="71833" name="Rectangle 6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34" name="Oval 6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1809" name="Group 62"/>
            <p:cNvGrpSpPr/>
            <p:nvPr/>
          </p:nvGrpSpPr>
          <p:grpSpPr bwMode="auto">
            <a:xfrm>
              <a:off x="4368" y="2456"/>
              <a:ext cx="480" cy="336"/>
              <a:chOff x="720" y="1872"/>
              <a:chExt cx="480" cy="336"/>
            </a:xfrm>
          </p:grpSpPr>
          <p:sp>
            <p:nvSpPr>
              <p:cNvPr id="71831" name="Rectangle 6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32" name="Oval 6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1810" name="Line 65"/>
            <p:cNvSpPr>
              <a:spLocks noChangeShapeType="1"/>
            </p:cNvSpPr>
            <p:nvPr/>
          </p:nvSpPr>
          <p:spPr bwMode="auto">
            <a:xfrm>
              <a:off x="379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811" name="Group 66"/>
            <p:cNvGrpSpPr/>
            <p:nvPr/>
          </p:nvGrpSpPr>
          <p:grpSpPr bwMode="auto">
            <a:xfrm>
              <a:off x="5232" y="2448"/>
              <a:ext cx="480" cy="336"/>
              <a:chOff x="720" y="1872"/>
              <a:chExt cx="480" cy="336"/>
            </a:xfrm>
          </p:grpSpPr>
          <p:sp>
            <p:nvSpPr>
              <p:cNvPr id="71829" name="Rectangle 6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830" name="Oval 6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1812" name="Line 69"/>
            <p:cNvSpPr>
              <a:spLocks noChangeShapeType="1"/>
            </p:cNvSpPr>
            <p:nvPr/>
          </p:nvSpPr>
          <p:spPr bwMode="auto">
            <a:xfrm flipV="1">
              <a:off x="379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3" name="Line 70"/>
            <p:cNvSpPr>
              <a:spLocks noChangeShapeType="1"/>
            </p:cNvSpPr>
            <p:nvPr/>
          </p:nvSpPr>
          <p:spPr bwMode="auto">
            <a:xfrm flipV="1">
              <a:off x="451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4" name="Oval 71"/>
            <p:cNvSpPr>
              <a:spLocks noChangeArrowheads="1"/>
            </p:cNvSpPr>
            <p:nvPr/>
          </p:nvSpPr>
          <p:spPr bwMode="auto">
            <a:xfrm>
              <a:off x="441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815" name="Oval 72"/>
            <p:cNvSpPr>
              <a:spLocks noChangeArrowheads="1"/>
            </p:cNvSpPr>
            <p:nvPr/>
          </p:nvSpPr>
          <p:spPr bwMode="auto">
            <a:xfrm>
              <a:off x="4512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816" name="Oval 73"/>
            <p:cNvSpPr>
              <a:spLocks noChangeArrowheads="1"/>
            </p:cNvSpPr>
            <p:nvPr/>
          </p:nvSpPr>
          <p:spPr bwMode="auto">
            <a:xfrm>
              <a:off x="4080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817" name="Oval 74"/>
            <p:cNvSpPr>
              <a:spLocks noChangeArrowheads="1"/>
            </p:cNvSpPr>
            <p:nvPr/>
          </p:nvSpPr>
          <p:spPr bwMode="auto">
            <a:xfrm>
              <a:off x="456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818" name="Oval 75"/>
            <p:cNvSpPr>
              <a:spLocks noChangeArrowheads="1"/>
            </p:cNvSpPr>
            <p:nvPr/>
          </p:nvSpPr>
          <p:spPr bwMode="auto">
            <a:xfrm>
              <a:off x="360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1819" name="Rectangle 76"/>
            <p:cNvSpPr>
              <a:spLocks noChangeArrowheads="1"/>
            </p:cNvSpPr>
            <p:nvPr/>
          </p:nvSpPr>
          <p:spPr bwMode="auto">
            <a:xfrm>
              <a:off x="3384" y="570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71820" name="Rectangle 77"/>
            <p:cNvSpPr>
              <a:spLocks noChangeArrowheads="1"/>
            </p:cNvSpPr>
            <p:nvPr/>
          </p:nvSpPr>
          <p:spPr bwMode="auto">
            <a:xfrm>
              <a:off x="4604" y="753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1821" name="Line 78"/>
            <p:cNvSpPr>
              <a:spLocks noChangeShapeType="1"/>
            </p:cNvSpPr>
            <p:nvPr/>
          </p:nvSpPr>
          <p:spPr bwMode="auto">
            <a:xfrm flipH="1">
              <a:off x="3264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2" name="Line 79"/>
            <p:cNvSpPr>
              <a:spLocks noChangeShapeType="1"/>
            </p:cNvSpPr>
            <p:nvPr/>
          </p:nvSpPr>
          <p:spPr bwMode="auto">
            <a:xfrm>
              <a:off x="3264" y="1056"/>
              <a:ext cx="0" cy="26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3" name="Line 80"/>
            <p:cNvSpPr>
              <a:spLocks noChangeShapeType="1"/>
            </p:cNvSpPr>
            <p:nvPr/>
          </p:nvSpPr>
          <p:spPr bwMode="auto">
            <a:xfrm>
              <a:off x="3264" y="369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4" name="Line 81"/>
            <p:cNvSpPr>
              <a:spLocks noChangeShapeType="1"/>
            </p:cNvSpPr>
            <p:nvPr/>
          </p:nvSpPr>
          <p:spPr bwMode="auto">
            <a:xfrm flipV="1">
              <a:off x="4800" y="33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5" name="Line 82"/>
            <p:cNvSpPr>
              <a:spLocks noChangeShapeType="1"/>
            </p:cNvSpPr>
            <p:nvPr/>
          </p:nvSpPr>
          <p:spPr bwMode="auto">
            <a:xfrm>
              <a:off x="4656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6" name="Line 83"/>
            <p:cNvSpPr>
              <a:spLocks noChangeShapeType="1"/>
            </p:cNvSpPr>
            <p:nvPr/>
          </p:nvSpPr>
          <p:spPr bwMode="auto">
            <a:xfrm>
              <a:off x="504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7" name="Line 84"/>
            <p:cNvSpPr>
              <a:spLocks noChangeShapeType="1"/>
            </p:cNvSpPr>
            <p:nvPr/>
          </p:nvSpPr>
          <p:spPr bwMode="auto">
            <a:xfrm flipH="1">
              <a:off x="3552" y="3840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8" name="Line 85"/>
            <p:cNvSpPr>
              <a:spLocks noChangeShapeType="1"/>
            </p:cNvSpPr>
            <p:nvPr/>
          </p:nvSpPr>
          <p:spPr bwMode="auto">
            <a:xfrm flipV="1">
              <a:off x="3552" y="331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7882" name="Group 170"/>
          <p:cNvGrpSpPr/>
          <p:nvPr/>
        </p:nvGrpSpPr>
        <p:grpSpPr bwMode="auto">
          <a:xfrm>
            <a:off x="5027479" y="808837"/>
            <a:ext cx="3810000" cy="5716588"/>
            <a:chOff x="3360" y="527"/>
            <a:chExt cx="2400" cy="3601"/>
          </a:xfrm>
        </p:grpSpPr>
        <p:sp>
          <p:nvSpPr>
            <p:cNvPr id="71690" name="Rectangle 157"/>
            <p:cNvSpPr>
              <a:spLocks noChangeArrowheads="1"/>
            </p:cNvSpPr>
            <p:nvPr/>
          </p:nvSpPr>
          <p:spPr bwMode="auto">
            <a:xfrm>
              <a:off x="3406" y="527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71691" name="Group 169"/>
            <p:cNvGrpSpPr/>
            <p:nvPr/>
          </p:nvGrpSpPr>
          <p:grpSpPr bwMode="auto">
            <a:xfrm>
              <a:off x="3360" y="716"/>
              <a:ext cx="2400" cy="3412"/>
              <a:chOff x="3360" y="716"/>
              <a:chExt cx="2400" cy="3412"/>
            </a:xfrm>
          </p:grpSpPr>
          <p:sp>
            <p:nvSpPr>
              <p:cNvPr id="71692" name="Line 87"/>
              <p:cNvSpPr>
                <a:spLocks noChangeShapeType="1"/>
              </p:cNvSpPr>
              <p:nvPr/>
            </p:nvSpPr>
            <p:spPr bwMode="auto">
              <a:xfrm flipV="1">
                <a:off x="369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3" name="Line 88"/>
              <p:cNvSpPr>
                <a:spLocks noChangeShapeType="1"/>
              </p:cNvSpPr>
              <p:nvPr/>
            </p:nvSpPr>
            <p:spPr bwMode="auto">
              <a:xfrm flipH="1" flipV="1">
                <a:off x="465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4" name="Line 89"/>
              <p:cNvSpPr>
                <a:spLocks noChangeShapeType="1"/>
              </p:cNvSpPr>
              <p:nvPr/>
            </p:nvSpPr>
            <p:spPr bwMode="auto">
              <a:xfrm>
                <a:off x="3700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5" name="Line 90"/>
              <p:cNvSpPr>
                <a:spLocks noChangeShapeType="1"/>
              </p:cNvSpPr>
              <p:nvPr/>
            </p:nvSpPr>
            <p:spPr bwMode="auto">
              <a:xfrm flipH="1">
                <a:off x="4362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6" name="Line 91"/>
              <p:cNvSpPr>
                <a:spLocks noChangeShapeType="1"/>
              </p:cNvSpPr>
              <p:nvPr/>
            </p:nvSpPr>
            <p:spPr bwMode="auto">
              <a:xfrm flipH="1">
                <a:off x="4032" y="960"/>
                <a:ext cx="3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Line 92"/>
              <p:cNvSpPr>
                <a:spLocks noChangeShapeType="1"/>
              </p:cNvSpPr>
              <p:nvPr/>
            </p:nvSpPr>
            <p:spPr bwMode="auto">
              <a:xfrm>
                <a:off x="3990" y="943"/>
                <a:ext cx="378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8" name="Line 93"/>
              <p:cNvSpPr>
                <a:spLocks noChangeShapeType="1"/>
              </p:cNvSpPr>
              <p:nvPr/>
            </p:nvSpPr>
            <p:spPr bwMode="auto">
              <a:xfrm flipV="1">
                <a:off x="4368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Line 94"/>
              <p:cNvSpPr>
                <a:spLocks noChangeShapeType="1"/>
              </p:cNvSpPr>
              <p:nvPr/>
            </p:nvSpPr>
            <p:spPr bwMode="auto">
              <a:xfrm flipH="1" flipV="1">
                <a:off x="384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0" name="Line 95"/>
              <p:cNvSpPr>
                <a:spLocks noChangeShapeType="1"/>
              </p:cNvSpPr>
              <p:nvPr/>
            </p:nvSpPr>
            <p:spPr bwMode="auto">
              <a:xfrm>
                <a:off x="3840" y="2160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1" name="Line 96"/>
              <p:cNvSpPr>
                <a:spLocks noChangeShapeType="1"/>
              </p:cNvSpPr>
              <p:nvPr/>
            </p:nvSpPr>
            <p:spPr bwMode="auto">
              <a:xfrm>
                <a:off x="4512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Line 97"/>
              <p:cNvSpPr>
                <a:spLocks noChangeShapeType="1"/>
              </p:cNvSpPr>
              <p:nvPr/>
            </p:nvSpPr>
            <p:spPr bwMode="auto">
              <a:xfrm flipV="1">
                <a:off x="465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3" name="Line 98"/>
              <p:cNvSpPr>
                <a:spLocks noChangeShapeType="1"/>
              </p:cNvSpPr>
              <p:nvPr/>
            </p:nvSpPr>
            <p:spPr bwMode="auto">
              <a:xfrm flipV="1">
                <a:off x="369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4" name="Line 99"/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Line 100"/>
              <p:cNvSpPr>
                <a:spLocks noChangeShapeType="1"/>
              </p:cNvSpPr>
              <p:nvPr/>
            </p:nvSpPr>
            <p:spPr bwMode="auto">
              <a:xfrm>
                <a:off x="4704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6" name="Line 101"/>
              <p:cNvSpPr>
                <a:spLocks noChangeShapeType="1"/>
              </p:cNvSpPr>
              <p:nvPr/>
            </p:nvSpPr>
            <p:spPr bwMode="auto">
              <a:xfrm>
                <a:off x="3792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Line 102"/>
              <p:cNvSpPr>
                <a:spLocks noChangeShapeType="1"/>
              </p:cNvSpPr>
              <p:nvPr/>
            </p:nvSpPr>
            <p:spPr bwMode="auto">
              <a:xfrm>
                <a:off x="3792" y="34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8" name="Line 103"/>
              <p:cNvSpPr>
                <a:spLocks noChangeShapeType="1"/>
              </p:cNvSpPr>
              <p:nvPr/>
            </p:nvSpPr>
            <p:spPr bwMode="auto">
              <a:xfrm>
                <a:off x="4560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Line 104"/>
              <p:cNvSpPr>
                <a:spLocks noChangeShapeType="1"/>
              </p:cNvSpPr>
              <p:nvPr/>
            </p:nvSpPr>
            <p:spPr bwMode="auto">
              <a:xfrm flipH="1">
                <a:off x="5520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0" name="Line 105"/>
              <p:cNvSpPr>
                <a:spLocks noChangeShapeType="1"/>
              </p:cNvSpPr>
              <p:nvPr/>
            </p:nvSpPr>
            <p:spPr bwMode="auto">
              <a:xfrm flipV="1">
                <a:off x="5520" y="268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1" name="Line 106"/>
              <p:cNvSpPr>
                <a:spLocks noChangeShapeType="1"/>
              </p:cNvSpPr>
              <p:nvPr/>
            </p:nvSpPr>
            <p:spPr bwMode="auto">
              <a:xfrm>
                <a:off x="4176" y="340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2" name="Text Box 107"/>
              <p:cNvSpPr txBox="1">
                <a:spLocks noChangeArrowheads="1"/>
              </p:cNvSpPr>
              <p:nvPr/>
            </p:nvSpPr>
            <p:spPr bwMode="auto">
              <a:xfrm>
                <a:off x="4032" y="384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1713" name="Text Box 108"/>
              <p:cNvSpPr txBox="1">
                <a:spLocks noChangeArrowheads="1"/>
              </p:cNvSpPr>
              <p:nvPr/>
            </p:nvSpPr>
            <p:spPr bwMode="auto">
              <a:xfrm>
                <a:off x="3552" y="38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K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1714" name="Text Box 109"/>
              <p:cNvSpPr txBox="1">
                <a:spLocks noChangeArrowheads="1"/>
              </p:cNvSpPr>
              <p:nvPr/>
            </p:nvSpPr>
            <p:spPr bwMode="auto">
              <a:xfrm>
                <a:off x="4608" y="3840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J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pSp>
            <p:nvGrpSpPr>
              <p:cNvPr id="71715" name="Group 110"/>
              <p:cNvGrpSpPr/>
              <p:nvPr/>
            </p:nvGrpSpPr>
            <p:grpSpPr bwMode="auto">
              <a:xfrm>
                <a:off x="3456" y="1104"/>
                <a:ext cx="480" cy="336"/>
                <a:chOff x="720" y="1872"/>
                <a:chExt cx="480" cy="336"/>
              </a:xfrm>
            </p:grpSpPr>
            <p:sp>
              <p:nvSpPr>
                <p:cNvPr id="71765" name="Rectangle 11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66" name="Oval 11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1716" name="Group 113"/>
              <p:cNvGrpSpPr/>
              <p:nvPr/>
            </p:nvGrpSpPr>
            <p:grpSpPr bwMode="auto">
              <a:xfrm>
                <a:off x="3456" y="1632"/>
                <a:ext cx="480" cy="336"/>
                <a:chOff x="720" y="1872"/>
                <a:chExt cx="480" cy="336"/>
              </a:xfrm>
            </p:grpSpPr>
            <p:sp>
              <p:nvSpPr>
                <p:cNvPr id="71763" name="Rectangle 11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64" name="Oval 11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1717" name="Group 116"/>
              <p:cNvGrpSpPr/>
              <p:nvPr/>
            </p:nvGrpSpPr>
            <p:grpSpPr bwMode="auto">
              <a:xfrm>
                <a:off x="4416" y="1632"/>
                <a:ext cx="480" cy="336"/>
                <a:chOff x="720" y="1872"/>
                <a:chExt cx="480" cy="336"/>
              </a:xfrm>
            </p:grpSpPr>
            <p:sp>
              <p:nvSpPr>
                <p:cNvPr id="71761" name="Rectangle 117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62" name="Oval 118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1718" name="Group 119"/>
              <p:cNvGrpSpPr/>
              <p:nvPr/>
            </p:nvGrpSpPr>
            <p:grpSpPr bwMode="auto">
              <a:xfrm>
                <a:off x="4416" y="1104"/>
                <a:ext cx="480" cy="336"/>
                <a:chOff x="720" y="1872"/>
                <a:chExt cx="480" cy="336"/>
              </a:xfrm>
            </p:grpSpPr>
            <p:sp>
              <p:nvSpPr>
                <p:cNvPr id="7175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60" name="Oval 121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1719" name="Line 122"/>
              <p:cNvSpPr>
                <a:spLocks noChangeShapeType="1"/>
              </p:cNvSpPr>
              <p:nvPr/>
            </p:nvSpPr>
            <p:spPr bwMode="auto">
              <a:xfrm flipV="1">
                <a:off x="3696" y="1968"/>
                <a:ext cx="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0" name="Line 123"/>
              <p:cNvSpPr>
                <a:spLocks noChangeShapeType="1"/>
              </p:cNvSpPr>
              <p:nvPr/>
            </p:nvSpPr>
            <p:spPr bwMode="auto">
              <a:xfrm flipH="1" flipV="1">
                <a:off x="4656" y="19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Line 124"/>
              <p:cNvSpPr>
                <a:spLocks noChangeShapeType="1"/>
              </p:cNvSpPr>
              <p:nvPr/>
            </p:nvSpPr>
            <p:spPr bwMode="auto">
              <a:xfrm>
                <a:off x="3700" y="2295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2" name="Line 125"/>
              <p:cNvSpPr>
                <a:spLocks noChangeShapeType="1"/>
              </p:cNvSpPr>
              <p:nvPr/>
            </p:nvSpPr>
            <p:spPr bwMode="auto">
              <a:xfrm flipH="1" flipV="1">
                <a:off x="436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3" name="Line 126"/>
              <p:cNvSpPr>
                <a:spLocks noChangeShapeType="1"/>
              </p:cNvSpPr>
              <p:nvPr/>
            </p:nvSpPr>
            <p:spPr bwMode="auto">
              <a:xfrm flipH="1">
                <a:off x="4032" y="2295"/>
                <a:ext cx="33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Line 127"/>
              <p:cNvSpPr>
                <a:spLocks noChangeShapeType="1"/>
              </p:cNvSpPr>
              <p:nvPr/>
            </p:nvSpPr>
            <p:spPr bwMode="auto">
              <a:xfrm>
                <a:off x="3990" y="2295"/>
                <a:ext cx="372" cy="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5" name="Line 128"/>
              <p:cNvSpPr>
                <a:spLocks noChangeShapeType="1"/>
              </p:cNvSpPr>
              <p:nvPr/>
            </p:nvSpPr>
            <p:spPr bwMode="auto">
              <a:xfrm flipV="1">
                <a:off x="4368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6" name="Line 129"/>
              <p:cNvSpPr>
                <a:spLocks noChangeShapeType="1"/>
              </p:cNvSpPr>
              <p:nvPr/>
            </p:nvSpPr>
            <p:spPr bwMode="auto">
              <a:xfrm flipH="1" flipV="1">
                <a:off x="3840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Line 130"/>
              <p:cNvSpPr>
                <a:spLocks noChangeShapeType="1"/>
              </p:cNvSpPr>
              <p:nvPr/>
            </p:nvSpPr>
            <p:spPr bwMode="auto">
              <a:xfrm flipH="1" flipV="1">
                <a:off x="3840" y="274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8" name="Line 131"/>
              <p:cNvSpPr>
                <a:spLocks noChangeShapeType="1"/>
              </p:cNvSpPr>
              <p:nvPr/>
            </p:nvSpPr>
            <p:spPr bwMode="auto">
              <a:xfrm flipV="1">
                <a:off x="4560" y="269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Line 132"/>
              <p:cNvSpPr>
                <a:spLocks noChangeShapeType="1"/>
              </p:cNvSpPr>
              <p:nvPr/>
            </p:nvSpPr>
            <p:spPr bwMode="auto">
              <a:xfrm flipV="1">
                <a:off x="4656" y="26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0" name="Line 133"/>
              <p:cNvSpPr>
                <a:spLocks noChangeShapeType="1"/>
              </p:cNvSpPr>
              <p:nvPr/>
            </p:nvSpPr>
            <p:spPr bwMode="auto">
              <a:xfrm flipV="1">
                <a:off x="3696" y="27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1731" name="Group 134"/>
              <p:cNvGrpSpPr/>
              <p:nvPr/>
            </p:nvGrpSpPr>
            <p:grpSpPr bwMode="auto">
              <a:xfrm>
                <a:off x="3456" y="2408"/>
                <a:ext cx="480" cy="336"/>
                <a:chOff x="720" y="1872"/>
                <a:chExt cx="480" cy="336"/>
              </a:xfrm>
            </p:grpSpPr>
            <p:sp>
              <p:nvSpPr>
                <p:cNvPr id="71757" name="Rectangle 13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58" name="Oval 13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1732" name="Group 137"/>
              <p:cNvGrpSpPr/>
              <p:nvPr/>
            </p:nvGrpSpPr>
            <p:grpSpPr bwMode="auto">
              <a:xfrm>
                <a:off x="3456" y="2888"/>
                <a:ext cx="480" cy="336"/>
                <a:chOff x="720" y="1872"/>
                <a:chExt cx="480" cy="336"/>
              </a:xfrm>
            </p:grpSpPr>
            <p:sp>
              <p:nvSpPr>
                <p:cNvPr id="71755" name="Rectangle 13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56" name="Oval 13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1733" name="Group 140"/>
              <p:cNvGrpSpPr/>
              <p:nvPr/>
            </p:nvGrpSpPr>
            <p:grpSpPr bwMode="auto">
              <a:xfrm>
                <a:off x="4416" y="2888"/>
                <a:ext cx="480" cy="336"/>
                <a:chOff x="720" y="1872"/>
                <a:chExt cx="480" cy="336"/>
              </a:xfrm>
            </p:grpSpPr>
            <p:sp>
              <p:nvSpPr>
                <p:cNvPr id="71753" name="Rectangle 14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54" name="Oval 14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1734" name="Group 143"/>
              <p:cNvGrpSpPr/>
              <p:nvPr/>
            </p:nvGrpSpPr>
            <p:grpSpPr bwMode="auto">
              <a:xfrm>
                <a:off x="4416" y="2360"/>
                <a:ext cx="480" cy="336"/>
                <a:chOff x="720" y="1872"/>
                <a:chExt cx="480" cy="336"/>
              </a:xfrm>
            </p:grpSpPr>
            <p:sp>
              <p:nvSpPr>
                <p:cNvPr id="71751" name="Rectangle 14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52" name="Oval 14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1735" name="Line 146"/>
              <p:cNvSpPr>
                <a:spLocks noChangeShapeType="1"/>
              </p:cNvSpPr>
              <p:nvPr/>
            </p:nvSpPr>
            <p:spPr bwMode="auto">
              <a:xfrm>
                <a:off x="3840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1736" name="Group 147"/>
              <p:cNvGrpSpPr/>
              <p:nvPr/>
            </p:nvGrpSpPr>
            <p:grpSpPr bwMode="auto">
              <a:xfrm>
                <a:off x="5280" y="2352"/>
                <a:ext cx="480" cy="336"/>
                <a:chOff x="720" y="1872"/>
                <a:chExt cx="480" cy="336"/>
              </a:xfrm>
            </p:grpSpPr>
            <p:sp>
              <p:nvSpPr>
                <p:cNvPr id="71749" name="Rectangle 14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750" name="Oval 14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1737" name="Line 150"/>
              <p:cNvSpPr>
                <a:spLocks noChangeShapeType="1"/>
              </p:cNvSpPr>
              <p:nvPr/>
            </p:nvSpPr>
            <p:spPr bwMode="auto">
              <a:xfrm flipV="1">
                <a:off x="384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8" name="Line 151"/>
              <p:cNvSpPr>
                <a:spLocks noChangeShapeType="1"/>
              </p:cNvSpPr>
              <p:nvPr/>
            </p:nvSpPr>
            <p:spPr bwMode="auto">
              <a:xfrm flipV="1">
                <a:off x="456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9" name="Oval 152"/>
              <p:cNvSpPr>
                <a:spLocks noChangeArrowheads="1"/>
              </p:cNvSpPr>
              <p:nvPr/>
            </p:nvSpPr>
            <p:spPr bwMode="auto">
              <a:xfrm>
                <a:off x="4464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740" name="Oval 153"/>
              <p:cNvSpPr>
                <a:spLocks noChangeArrowheads="1"/>
              </p:cNvSpPr>
              <p:nvPr/>
            </p:nvSpPr>
            <p:spPr bwMode="auto">
              <a:xfrm>
                <a:off x="4512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741" name="Oval 154"/>
              <p:cNvSpPr>
                <a:spLocks noChangeArrowheads="1"/>
              </p:cNvSpPr>
              <p:nvPr/>
            </p:nvSpPr>
            <p:spPr bwMode="auto">
              <a:xfrm>
                <a:off x="4128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742" name="Oval 155"/>
              <p:cNvSpPr>
                <a:spLocks noChangeArrowheads="1"/>
              </p:cNvSpPr>
              <p:nvPr/>
            </p:nvSpPr>
            <p:spPr bwMode="auto">
              <a:xfrm>
                <a:off x="460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743" name="Oval 156"/>
              <p:cNvSpPr>
                <a:spLocks noChangeArrowheads="1"/>
              </p:cNvSpPr>
              <p:nvPr/>
            </p:nvSpPr>
            <p:spPr bwMode="auto">
              <a:xfrm>
                <a:off x="364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744" name="Rectangle 158"/>
              <p:cNvSpPr>
                <a:spLocks noChangeArrowheads="1"/>
              </p:cNvSpPr>
              <p:nvPr/>
            </p:nvSpPr>
            <p:spPr bwMode="auto">
              <a:xfrm>
                <a:off x="4679" y="716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71745" name="Line 162"/>
              <p:cNvSpPr>
                <a:spLocks noChangeShapeType="1"/>
              </p:cNvSpPr>
              <p:nvPr/>
            </p:nvSpPr>
            <p:spPr bwMode="auto">
              <a:xfrm flipV="1">
                <a:off x="4848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46" name="Line 166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47" name="Rectangle 167"/>
              <p:cNvSpPr>
                <a:spLocks noChangeArrowheads="1"/>
              </p:cNvSpPr>
              <p:nvPr/>
            </p:nvSpPr>
            <p:spPr bwMode="auto">
              <a:xfrm>
                <a:off x="4848" y="3600"/>
                <a:ext cx="28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_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1748" name="Rectangle 168"/>
              <p:cNvSpPr>
                <a:spLocks noChangeArrowheads="1"/>
              </p:cNvSpPr>
              <p:nvPr/>
            </p:nvSpPr>
            <p:spPr bwMode="auto">
              <a:xfrm>
                <a:off x="3360" y="3840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</p:grpSp>
      <p:grpSp>
        <p:nvGrpSpPr>
          <p:cNvPr id="627887" name="Group 175"/>
          <p:cNvGrpSpPr/>
          <p:nvPr/>
        </p:nvGrpSpPr>
        <p:grpSpPr bwMode="auto">
          <a:xfrm>
            <a:off x="3441700" y="1574800"/>
            <a:ext cx="1676400" cy="701675"/>
            <a:chOff x="2168" y="992"/>
            <a:chExt cx="1056" cy="442"/>
          </a:xfrm>
        </p:grpSpPr>
        <p:sp>
          <p:nvSpPr>
            <p:cNvPr id="71688" name="Text Box 172"/>
            <p:cNvSpPr txBox="1">
              <a:spLocks noChangeArrowheads="1"/>
            </p:cNvSpPr>
            <p:nvPr/>
          </p:nvSpPr>
          <p:spPr bwMode="auto">
            <a:xfrm>
              <a:off x="2168" y="992"/>
              <a:ext cx="105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简化</a:t>
              </a:r>
              <a:r>
                <a:rPr lang="en-US" altLang="zh-CN" sz="2000" dirty="0"/>
                <a:t>:</a:t>
              </a:r>
              <a:r>
                <a:rPr lang="zh-CN" altLang="en-US" sz="2000" dirty="0"/>
                <a:t>将</a:t>
              </a:r>
              <a:r>
                <a:rPr lang="en-US" altLang="zh-CN" sz="2000" dirty="0"/>
                <a:t>Q</a:t>
              </a:r>
              <a:r>
                <a:rPr lang="zh-CN" altLang="en-US" sz="2000" dirty="0"/>
                <a:t>和</a:t>
              </a:r>
              <a:r>
                <a:rPr lang="en-US" altLang="zh-CN" sz="2000" dirty="0"/>
                <a:t>Q</a:t>
              </a:r>
              <a:r>
                <a:rPr lang="zh-CN" altLang="en-US" sz="2000" dirty="0"/>
                <a:t>用字母表示</a:t>
              </a:r>
              <a:endParaRPr lang="zh-CN" altLang="en-US" sz="2000" baseline="-25000" dirty="0"/>
            </a:p>
          </p:txBody>
        </p:sp>
        <p:sp>
          <p:nvSpPr>
            <p:cNvPr id="71689" name="Line 173"/>
            <p:cNvSpPr>
              <a:spLocks noChangeShapeType="1"/>
            </p:cNvSpPr>
            <p:nvPr/>
          </p:nvSpPr>
          <p:spPr bwMode="auto">
            <a:xfrm>
              <a:off x="3021" y="101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27888" name="AutoShape 176"/>
          <p:cNvSpPr>
            <a:spLocks noChangeArrowheads="1"/>
          </p:cNvSpPr>
          <p:nvPr/>
        </p:nvSpPr>
        <p:spPr bwMode="auto">
          <a:xfrm>
            <a:off x="3581400" y="25146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7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7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62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2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88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5F5C46-7417-489D-AD15-3953B376C828}" type="slidenum">
              <a:rPr lang="en-US" altLang="zh-CN"/>
            </a:fld>
            <a:endParaRPr lang="en-US" altLang="zh-CN" dirty="0"/>
          </a:p>
        </p:txBody>
      </p:sp>
      <p:grpSp>
        <p:nvGrpSpPr>
          <p:cNvPr id="628893" name="Group 157"/>
          <p:cNvGrpSpPr/>
          <p:nvPr/>
        </p:nvGrpSpPr>
        <p:grpSpPr bwMode="auto">
          <a:xfrm>
            <a:off x="304800" y="762000"/>
            <a:ext cx="3810000" cy="5722938"/>
            <a:chOff x="3360" y="528"/>
            <a:chExt cx="2400" cy="3605"/>
          </a:xfrm>
        </p:grpSpPr>
        <p:sp>
          <p:nvSpPr>
            <p:cNvPr id="72805" name="Rectangle 158"/>
            <p:cNvSpPr>
              <a:spLocks noChangeArrowheads="1"/>
            </p:cNvSpPr>
            <p:nvPr/>
          </p:nvSpPr>
          <p:spPr bwMode="auto">
            <a:xfrm>
              <a:off x="3360" y="528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2806" name="Group 159"/>
            <p:cNvGrpSpPr/>
            <p:nvPr/>
          </p:nvGrpSpPr>
          <p:grpSpPr bwMode="auto">
            <a:xfrm>
              <a:off x="3360" y="768"/>
              <a:ext cx="2400" cy="3365"/>
              <a:chOff x="3360" y="768"/>
              <a:chExt cx="2400" cy="3365"/>
            </a:xfrm>
          </p:grpSpPr>
          <p:sp>
            <p:nvSpPr>
              <p:cNvPr id="72807" name="Line 160"/>
              <p:cNvSpPr>
                <a:spLocks noChangeShapeType="1"/>
              </p:cNvSpPr>
              <p:nvPr/>
            </p:nvSpPr>
            <p:spPr bwMode="auto">
              <a:xfrm flipV="1">
                <a:off x="369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08" name="Line 161"/>
              <p:cNvSpPr>
                <a:spLocks noChangeShapeType="1"/>
              </p:cNvSpPr>
              <p:nvPr/>
            </p:nvSpPr>
            <p:spPr bwMode="auto">
              <a:xfrm flipH="1" flipV="1">
                <a:off x="465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09" name="Line 162"/>
              <p:cNvSpPr>
                <a:spLocks noChangeShapeType="1"/>
              </p:cNvSpPr>
              <p:nvPr/>
            </p:nvSpPr>
            <p:spPr bwMode="auto">
              <a:xfrm>
                <a:off x="3700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0" name="Line 163"/>
              <p:cNvSpPr>
                <a:spLocks noChangeShapeType="1"/>
              </p:cNvSpPr>
              <p:nvPr/>
            </p:nvSpPr>
            <p:spPr bwMode="auto">
              <a:xfrm flipH="1">
                <a:off x="4362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1" name="Line 164"/>
              <p:cNvSpPr>
                <a:spLocks noChangeShapeType="1"/>
              </p:cNvSpPr>
              <p:nvPr/>
            </p:nvSpPr>
            <p:spPr bwMode="auto">
              <a:xfrm flipH="1">
                <a:off x="4032" y="960"/>
                <a:ext cx="3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2" name="Line 165"/>
              <p:cNvSpPr>
                <a:spLocks noChangeShapeType="1"/>
              </p:cNvSpPr>
              <p:nvPr/>
            </p:nvSpPr>
            <p:spPr bwMode="auto">
              <a:xfrm>
                <a:off x="3990" y="943"/>
                <a:ext cx="378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3" name="Line 166"/>
              <p:cNvSpPr>
                <a:spLocks noChangeShapeType="1"/>
              </p:cNvSpPr>
              <p:nvPr/>
            </p:nvSpPr>
            <p:spPr bwMode="auto">
              <a:xfrm flipV="1">
                <a:off x="4368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4" name="Line 167"/>
              <p:cNvSpPr>
                <a:spLocks noChangeShapeType="1"/>
              </p:cNvSpPr>
              <p:nvPr/>
            </p:nvSpPr>
            <p:spPr bwMode="auto">
              <a:xfrm flipH="1" flipV="1">
                <a:off x="384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5" name="Line 168"/>
              <p:cNvSpPr>
                <a:spLocks noChangeShapeType="1"/>
              </p:cNvSpPr>
              <p:nvPr/>
            </p:nvSpPr>
            <p:spPr bwMode="auto">
              <a:xfrm>
                <a:off x="3840" y="2160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6" name="Line 169"/>
              <p:cNvSpPr>
                <a:spLocks noChangeShapeType="1"/>
              </p:cNvSpPr>
              <p:nvPr/>
            </p:nvSpPr>
            <p:spPr bwMode="auto">
              <a:xfrm>
                <a:off x="4512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7" name="Line 170"/>
              <p:cNvSpPr>
                <a:spLocks noChangeShapeType="1"/>
              </p:cNvSpPr>
              <p:nvPr/>
            </p:nvSpPr>
            <p:spPr bwMode="auto">
              <a:xfrm flipV="1">
                <a:off x="465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8" name="Line 171"/>
              <p:cNvSpPr>
                <a:spLocks noChangeShapeType="1"/>
              </p:cNvSpPr>
              <p:nvPr/>
            </p:nvSpPr>
            <p:spPr bwMode="auto">
              <a:xfrm flipV="1">
                <a:off x="369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19" name="Line 172"/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0" name="Line 173"/>
              <p:cNvSpPr>
                <a:spLocks noChangeShapeType="1"/>
              </p:cNvSpPr>
              <p:nvPr/>
            </p:nvSpPr>
            <p:spPr bwMode="auto">
              <a:xfrm>
                <a:off x="4704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1" name="Line 174"/>
              <p:cNvSpPr>
                <a:spLocks noChangeShapeType="1"/>
              </p:cNvSpPr>
              <p:nvPr/>
            </p:nvSpPr>
            <p:spPr bwMode="auto">
              <a:xfrm>
                <a:off x="3792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2" name="Line 175"/>
              <p:cNvSpPr>
                <a:spLocks noChangeShapeType="1"/>
              </p:cNvSpPr>
              <p:nvPr/>
            </p:nvSpPr>
            <p:spPr bwMode="auto">
              <a:xfrm>
                <a:off x="3792" y="34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3" name="Line 176"/>
              <p:cNvSpPr>
                <a:spLocks noChangeShapeType="1"/>
              </p:cNvSpPr>
              <p:nvPr/>
            </p:nvSpPr>
            <p:spPr bwMode="auto">
              <a:xfrm>
                <a:off x="4560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4" name="Line 177"/>
              <p:cNvSpPr>
                <a:spLocks noChangeShapeType="1"/>
              </p:cNvSpPr>
              <p:nvPr/>
            </p:nvSpPr>
            <p:spPr bwMode="auto">
              <a:xfrm flipH="1">
                <a:off x="5520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5" name="Line 178"/>
              <p:cNvSpPr>
                <a:spLocks noChangeShapeType="1"/>
              </p:cNvSpPr>
              <p:nvPr/>
            </p:nvSpPr>
            <p:spPr bwMode="auto">
              <a:xfrm flipV="1">
                <a:off x="5520" y="268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6" name="Line 179"/>
              <p:cNvSpPr>
                <a:spLocks noChangeShapeType="1"/>
              </p:cNvSpPr>
              <p:nvPr/>
            </p:nvSpPr>
            <p:spPr bwMode="auto">
              <a:xfrm>
                <a:off x="4176" y="340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27" name="Text Box 180"/>
              <p:cNvSpPr txBox="1">
                <a:spLocks noChangeArrowheads="1"/>
              </p:cNvSpPr>
              <p:nvPr/>
            </p:nvSpPr>
            <p:spPr bwMode="auto">
              <a:xfrm>
                <a:off x="4032" y="384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72828" name="Text Box 181"/>
              <p:cNvSpPr txBox="1">
                <a:spLocks noChangeArrowheads="1"/>
              </p:cNvSpPr>
              <p:nvPr/>
            </p:nvSpPr>
            <p:spPr bwMode="auto">
              <a:xfrm>
                <a:off x="3552" y="38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K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2829" name="Text Box 182"/>
              <p:cNvSpPr txBox="1">
                <a:spLocks noChangeArrowheads="1"/>
              </p:cNvSpPr>
              <p:nvPr/>
            </p:nvSpPr>
            <p:spPr bwMode="auto">
              <a:xfrm>
                <a:off x="4608" y="3840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J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pSp>
            <p:nvGrpSpPr>
              <p:cNvPr id="72830" name="Group 183"/>
              <p:cNvGrpSpPr/>
              <p:nvPr/>
            </p:nvGrpSpPr>
            <p:grpSpPr bwMode="auto">
              <a:xfrm>
                <a:off x="3456" y="1104"/>
                <a:ext cx="480" cy="336"/>
                <a:chOff x="720" y="1872"/>
                <a:chExt cx="480" cy="336"/>
              </a:xfrm>
            </p:grpSpPr>
            <p:sp>
              <p:nvSpPr>
                <p:cNvPr id="72880" name="Rectangle 18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81" name="Oval 18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831" name="Group 186"/>
              <p:cNvGrpSpPr/>
              <p:nvPr/>
            </p:nvGrpSpPr>
            <p:grpSpPr bwMode="auto">
              <a:xfrm>
                <a:off x="3456" y="1632"/>
                <a:ext cx="480" cy="336"/>
                <a:chOff x="720" y="1872"/>
                <a:chExt cx="480" cy="336"/>
              </a:xfrm>
            </p:grpSpPr>
            <p:sp>
              <p:nvSpPr>
                <p:cNvPr id="72878" name="Rectangle 187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79" name="Oval 188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832" name="Group 189"/>
              <p:cNvGrpSpPr/>
              <p:nvPr/>
            </p:nvGrpSpPr>
            <p:grpSpPr bwMode="auto">
              <a:xfrm>
                <a:off x="4416" y="1632"/>
                <a:ext cx="480" cy="336"/>
                <a:chOff x="720" y="1872"/>
                <a:chExt cx="480" cy="336"/>
              </a:xfrm>
            </p:grpSpPr>
            <p:sp>
              <p:nvSpPr>
                <p:cNvPr id="72876" name="Rectangle 190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77" name="Oval 191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833" name="Group 192"/>
              <p:cNvGrpSpPr/>
              <p:nvPr/>
            </p:nvGrpSpPr>
            <p:grpSpPr bwMode="auto">
              <a:xfrm>
                <a:off x="4416" y="1104"/>
                <a:ext cx="480" cy="336"/>
                <a:chOff x="720" y="1872"/>
                <a:chExt cx="480" cy="336"/>
              </a:xfrm>
            </p:grpSpPr>
            <p:sp>
              <p:nvSpPr>
                <p:cNvPr id="72874" name="Rectangle 193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75" name="Oval 194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834" name="Line 195"/>
              <p:cNvSpPr>
                <a:spLocks noChangeShapeType="1"/>
              </p:cNvSpPr>
              <p:nvPr/>
            </p:nvSpPr>
            <p:spPr bwMode="auto">
              <a:xfrm flipV="1">
                <a:off x="3696" y="1968"/>
                <a:ext cx="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35" name="Line 196"/>
              <p:cNvSpPr>
                <a:spLocks noChangeShapeType="1"/>
              </p:cNvSpPr>
              <p:nvPr/>
            </p:nvSpPr>
            <p:spPr bwMode="auto">
              <a:xfrm flipH="1" flipV="1">
                <a:off x="4656" y="19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36" name="Line 197"/>
              <p:cNvSpPr>
                <a:spLocks noChangeShapeType="1"/>
              </p:cNvSpPr>
              <p:nvPr/>
            </p:nvSpPr>
            <p:spPr bwMode="auto">
              <a:xfrm>
                <a:off x="3700" y="2295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37" name="Line 198"/>
              <p:cNvSpPr>
                <a:spLocks noChangeShapeType="1"/>
              </p:cNvSpPr>
              <p:nvPr/>
            </p:nvSpPr>
            <p:spPr bwMode="auto">
              <a:xfrm flipH="1" flipV="1">
                <a:off x="436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38" name="Line 199"/>
              <p:cNvSpPr>
                <a:spLocks noChangeShapeType="1"/>
              </p:cNvSpPr>
              <p:nvPr/>
            </p:nvSpPr>
            <p:spPr bwMode="auto">
              <a:xfrm flipH="1">
                <a:off x="4032" y="2295"/>
                <a:ext cx="33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39" name="Line 200"/>
              <p:cNvSpPr>
                <a:spLocks noChangeShapeType="1"/>
              </p:cNvSpPr>
              <p:nvPr/>
            </p:nvSpPr>
            <p:spPr bwMode="auto">
              <a:xfrm>
                <a:off x="3990" y="2295"/>
                <a:ext cx="372" cy="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40" name="Line 201"/>
              <p:cNvSpPr>
                <a:spLocks noChangeShapeType="1"/>
              </p:cNvSpPr>
              <p:nvPr/>
            </p:nvSpPr>
            <p:spPr bwMode="auto">
              <a:xfrm flipV="1">
                <a:off x="4368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41" name="Line 202"/>
              <p:cNvSpPr>
                <a:spLocks noChangeShapeType="1"/>
              </p:cNvSpPr>
              <p:nvPr/>
            </p:nvSpPr>
            <p:spPr bwMode="auto">
              <a:xfrm flipH="1" flipV="1">
                <a:off x="3840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42" name="Line 203"/>
              <p:cNvSpPr>
                <a:spLocks noChangeShapeType="1"/>
              </p:cNvSpPr>
              <p:nvPr/>
            </p:nvSpPr>
            <p:spPr bwMode="auto">
              <a:xfrm flipH="1" flipV="1">
                <a:off x="3840" y="274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43" name="Line 204"/>
              <p:cNvSpPr>
                <a:spLocks noChangeShapeType="1"/>
              </p:cNvSpPr>
              <p:nvPr/>
            </p:nvSpPr>
            <p:spPr bwMode="auto">
              <a:xfrm flipV="1">
                <a:off x="4560" y="269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44" name="Line 205"/>
              <p:cNvSpPr>
                <a:spLocks noChangeShapeType="1"/>
              </p:cNvSpPr>
              <p:nvPr/>
            </p:nvSpPr>
            <p:spPr bwMode="auto">
              <a:xfrm flipV="1">
                <a:off x="4656" y="26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45" name="Line 206"/>
              <p:cNvSpPr>
                <a:spLocks noChangeShapeType="1"/>
              </p:cNvSpPr>
              <p:nvPr/>
            </p:nvSpPr>
            <p:spPr bwMode="auto">
              <a:xfrm flipV="1">
                <a:off x="3696" y="27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846" name="Group 207"/>
              <p:cNvGrpSpPr/>
              <p:nvPr/>
            </p:nvGrpSpPr>
            <p:grpSpPr bwMode="auto">
              <a:xfrm>
                <a:off x="3456" y="2408"/>
                <a:ext cx="480" cy="336"/>
                <a:chOff x="720" y="1872"/>
                <a:chExt cx="480" cy="336"/>
              </a:xfrm>
            </p:grpSpPr>
            <p:sp>
              <p:nvSpPr>
                <p:cNvPr id="72872" name="Rectangle 20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73" name="Oval 20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847" name="Group 210"/>
              <p:cNvGrpSpPr/>
              <p:nvPr/>
            </p:nvGrpSpPr>
            <p:grpSpPr bwMode="auto">
              <a:xfrm>
                <a:off x="3456" y="2888"/>
                <a:ext cx="480" cy="336"/>
                <a:chOff x="720" y="1872"/>
                <a:chExt cx="480" cy="336"/>
              </a:xfrm>
            </p:grpSpPr>
            <p:sp>
              <p:nvSpPr>
                <p:cNvPr id="72870" name="Rectangle 21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71" name="Oval 21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848" name="Group 213"/>
              <p:cNvGrpSpPr/>
              <p:nvPr/>
            </p:nvGrpSpPr>
            <p:grpSpPr bwMode="auto">
              <a:xfrm>
                <a:off x="4416" y="2888"/>
                <a:ext cx="480" cy="336"/>
                <a:chOff x="720" y="1872"/>
                <a:chExt cx="480" cy="336"/>
              </a:xfrm>
            </p:grpSpPr>
            <p:sp>
              <p:nvSpPr>
                <p:cNvPr id="72868" name="Rectangle 21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69" name="Oval 21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849" name="Group 216"/>
              <p:cNvGrpSpPr/>
              <p:nvPr/>
            </p:nvGrpSpPr>
            <p:grpSpPr bwMode="auto">
              <a:xfrm>
                <a:off x="4416" y="2360"/>
                <a:ext cx="480" cy="336"/>
                <a:chOff x="720" y="1872"/>
                <a:chExt cx="480" cy="336"/>
              </a:xfrm>
            </p:grpSpPr>
            <p:sp>
              <p:nvSpPr>
                <p:cNvPr id="72866" name="Rectangle 217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67" name="Oval 218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850" name="Line 219"/>
              <p:cNvSpPr>
                <a:spLocks noChangeShapeType="1"/>
              </p:cNvSpPr>
              <p:nvPr/>
            </p:nvSpPr>
            <p:spPr bwMode="auto">
              <a:xfrm>
                <a:off x="3840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851" name="Group 220"/>
              <p:cNvGrpSpPr/>
              <p:nvPr/>
            </p:nvGrpSpPr>
            <p:grpSpPr bwMode="auto">
              <a:xfrm>
                <a:off x="5280" y="2352"/>
                <a:ext cx="480" cy="336"/>
                <a:chOff x="720" y="1872"/>
                <a:chExt cx="480" cy="336"/>
              </a:xfrm>
            </p:grpSpPr>
            <p:sp>
              <p:nvSpPr>
                <p:cNvPr id="72864" name="Rectangle 22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65" name="Oval 22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852" name="Line 223"/>
              <p:cNvSpPr>
                <a:spLocks noChangeShapeType="1"/>
              </p:cNvSpPr>
              <p:nvPr/>
            </p:nvSpPr>
            <p:spPr bwMode="auto">
              <a:xfrm flipV="1">
                <a:off x="384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53" name="Line 224"/>
              <p:cNvSpPr>
                <a:spLocks noChangeShapeType="1"/>
              </p:cNvSpPr>
              <p:nvPr/>
            </p:nvSpPr>
            <p:spPr bwMode="auto">
              <a:xfrm flipV="1">
                <a:off x="456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54" name="Oval 225"/>
              <p:cNvSpPr>
                <a:spLocks noChangeArrowheads="1"/>
              </p:cNvSpPr>
              <p:nvPr/>
            </p:nvSpPr>
            <p:spPr bwMode="auto">
              <a:xfrm>
                <a:off x="4464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855" name="Oval 226"/>
              <p:cNvSpPr>
                <a:spLocks noChangeArrowheads="1"/>
              </p:cNvSpPr>
              <p:nvPr/>
            </p:nvSpPr>
            <p:spPr bwMode="auto">
              <a:xfrm>
                <a:off x="4512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856" name="Oval 227"/>
              <p:cNvSpPr>
                <a:spLocks noChangeArrowheads="1"/>
              </p:cNvSpPr>
              <p:nvPr/>
            </p:nvSpPr>
            <p:spPr bwMode="auto">
              <a:xfrm>
                <a:off x="4128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857" name="Oval 228"/>
              <p:cNvSpPr>
                <a:spLocks noChangeArrowheads="1"/>
              </p:cNvSpPr>
              <p:nvPr/>
            </p:nvSpPr>
            <p:spPr bwMode="auto">
              <a:xfrm>
                <a:off x="460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858" name="Oval 229"/>
              <p:cNvSpPr>
                <a:spLocks noChangeArrowheads="1"/>
              </p:cNvSpPr>
              <p:nvPr/>
            </p:nvSpPr>
            <p:spPr bwMode="auto">
              <a:xfrm>
                <a:off x="364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859" name="Rectangle 230"/>
              <p:cNvSpPr>
                <a:spLocks noChangeArrowheads="1"/>
              </p:cNvSpPr>
              <p:nvPr/>
            </p:nvSpPr>
            <p:spPr bwMode="auto">
              <a:xfrm>
                <a:off x="4704" y="76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2860" name="Line 231"/>
              <p:cNvSpPr>
                <a:spLocks noChangeShapeType="1"/>
              </p:cNvSpPr>
              <p:nvPr/>
            </p:nvSpPr>
            <p:spPr bwMode="auto">
              <a:xfrm flipV="1">
                <a:off x="4848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61" name="Line 232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62" name="Rectangle 233"/>
              <p:cNvSpPr>
                <a:spLocks noChangeArrowheads="1"/>
              </p:cNvSpPr>
              <p:nvPr/>
            </p:nvSpPr>
            <p:spPr bwMode="auto">
              <a:xfrm>
                <a:off x="4838" y="3687"/>
                <a:ext cx="288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4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4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72863" name="Rectangle 234"/>
              <p:cNvSpPr>
                <a:spLocks noChangeArrowheads="1"/>
              </p:cNvSpPr>
              <p:nvPr/>
            </p:nvSpPr>
            <p:spPr bwMode="auto">
              <a:xfrm>
                <a:off x="3360" y="3840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</p:grpSp>
      <p:sp>
        <p:nvSpPr>
          <p:cNvPr id="629059" name="Rectangle 323"/>
          <p:cNvSpPr>
            <a:spLocks noChangeArrowheads="1"/>
          </p:cNvSpPr>
          <p:nvPr/>
        </p:nvSpPr>
        <p:spPr bwMode="auto">
          <a:xfrm>
            <a:off x="4800600" y="762000"/>
            <a:ext cx="4191000" cy="41148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29063" name="Text Box 327"/>
          <p:cNvSpPr txBox="1">
            <a:spLocks noChangeArrowheads="1"/>
          </p:cNvSpPr>
          <p:nvPr/>
        </p:nvSpPr>
        <p:spPr bwMode="auto">
          <a:xfrm>
            <a:off x="7696200" y="1066800"/>
            <a:ext cx="1295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/>
              <a:t>主从</a:t>
            </a:r>
            <a:r>
              <a:rPr lang="en-US" altLang="zh-CN" sz="2400" b="1"/>
              <a:t>RS</a:t>
            </a:r>
            <a:r>
              <a:rPr lang="zh-CN" altLang="en-US" sz="2400" b="1"/>
              <a:t>触发器</a:t>
            </a:r>
            <a:endParaRPr lang="zh-CN" altLang="en-US" sz="2400" b="1"/>
          </a:p>
        </p:txBody>
      </p:sp>
      <p:grpSp>
        <p:nvGrpSpPr>
          <p:cNvPr id="629076" name="Group 340"/>
          <p:cNvGrpSpPr/>
          <p:nvPr/>
        </p:nvGrpSpPr>
        <p:grpSpPr bwMode="auto">
          <a:xfrm>
            <a:off x="5029200" y="152400"/>
            <a:ext cx="3810000" cy="6586538"/>
            <a:chOff x="3168" y="96"/>
            <a:chExt cx="2400" cy="4149"/>
          </a:xfrm>
        </p:grpSpPr>
        <p:sp>
          <p:nvSpPr>
            <p:cNvPr id="72716" name="Rectangle 236"/>
            <p:cNvSpPr>
              <a:spLocks noChangeArrowheads="1"/>
            </p:cNvSpPr>
            <p:nvPr/>
          </p:nvSpPr>
          <p:spPr bwMode="auto">
            <a:xfrm>
              <a:off x="3168" y="96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2717" name="Group 320"/>
            <p:cNvGrpSpPr/>
            <p:nvPr/>
          </p:nvGrpSpPr>
          <p:grpSpPr bwMode="auto">
            <a:xfrm>
              <a:off x="3264" y="336"/>
              <a:ext cx="2304" cy="3360"/>
              <a:chOff x="3264" y="336"/>
              <a:chExt cx="2304" cy="3360"/>
            </a:xfrm>
          </p:grpSpPr>
          <p:sp>
            <p:nvSpPr>
              <p:cNvPr id="72736" name="Line 238"/>
              <p:cNvSpPr>
                <a:spLocks noChangeShapeType="1"/>
              </p:cNvSpPr>
              <p:nvPr/>
            </p:nvSpPr>
            <p:spPr bwMode="auto">
              <a:xfrm flipV="1">
                <a:off x="3504" y="3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37" name="Line 239"/>
              <p:cNvSpPr>
                <a:spLocks noChangeShapeType="1"/>
              </p:cNvSpPr>
              <p:nvPr/>
            </p:nvSpPr>
            <p:spPr bwMode="auto">
              <a:xfrm flipH="1" flipV="1">
                <a:off x="4464" y="3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38" name="Line 240"/>
              <p:cNvSpPr>
                <a:spLocks noChangeShapeType="1"/>
              </p:cNvSpPr>
              <p:nvPr/>
            </p:nvSpPr>
            <p:spPr bwMode="auto">
              <a:xfrm>
                <a:off x="3508" y="511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39" name="Line 241"/>
              <p:cNvSpPr>
                <a:spLocks noChangeShapeType="1"/>
              </p:cNvSpPr>
              <p:nvPr/>
            </p:nvSpPr>
            <p:spPr bwMode="auto">
              <a:xfrm flipH="1">
                <a:off x="4170" y="511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0" name="Line 242"/>
              <p:cNvSpPr>
                <a:spLocks noChangeShapeType="1"/>
              </p:cNvSpPr>
              <p:nvPr/>
            </p:nvSpPr>
            <p:spPr bwMode="auto">
              <a:xfrm flipH="1">
                <a:off x="3840" y="528"/>
                <a:ext cx="3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1" name="Line 243"/>
              <p:cNvSpPr>
                <a:spLocks noChangeShapeType="1"/>
              </p:cNvSpPr>
              <p:nvPr/>
            </p:nvSpPr>
            <p:spPr bwMode="auto">
              <a:xfrm>
                <a:off x="3798" y="511"/>
                <a:ext cx="378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2" name="Line 244"/>
              <p:cNvSpPr>
                <a:spLocks noChangeShapeType="1"/>
              </p:cNvSpPr>
              <p:nvPr/>
            </p:nvSpPr>
            <p:spPr bwMode="auto">
              <a:xfrm flipV="1">
                <a:off x="4176" y="12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3" name="Line 245"/>
              <p:cNvSpPr>
                <a:spLocks noChangeShapeType="1"/>
              </p:cNvSpPr>
              <p:nvPr/>
            </p:nvSpPr>
            <p:spPr bwMode="auto">
              <a:xfrm flipH="1" flipV="1">
                <a:off x="3648" y="12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4" name="Line 246"/>
              <p:cNvSpPr>
                <a:spLocks noChangeShapeType="1"/>
              </p:cNvSpPr>
              <p:nvPr/>
            </p:nvSpPr>
            <p:spPr bwMode="auto">
              <a:xfrm>
                <a:off x="3648" y="1728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5" name="Line 247"/>
              <p:cNvSpPr>
                <a:spLocks noChangeShapeType="1"/>
              </p:cNvSpPr>
              <p:nvPr/>
            </p:nvSpPr>
            <p:spPr bwMode="auto">
              <a:xfrm>
                <a:off x="4320" y="15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6" name="Line 248"/>
              <p:cNvSpPr>
                <a:spLocks noChangeShapeType="1"/>
              </p:cNvSpPr>
              <p:nvPr/>
            </p:nvSpPr>
            <p:spPr bwMode="auto">
              <a:xfrm flipV="1">
                <a:off x="4464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7" name="Line 249"/>
              <p:cNvSpPr>
                <a:spLocks noChangeShapeType="1"/>
              </p:cNvSpPr>
              <p:nvPr/>
            </p:nvSpPr>
            <p:spPr bwMode="auto">
              <a:xfrm flipV="1">
                <a:off x="3504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8" name="Line 252"/>
              <p:cNvSpPr>
                <a:spLocks noChangeShapeType="1"/>
              </p:cNvSpPr>
              <p:nvPr/>
            </p:nvSpPr>
            <p:spPr bwMode="auto">
              <a:xfrm>
                <a:off x="3600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9" name="Line 253"/>
              <p:cNvSpPr>
                <a:spLocks noChangeShapeType="1"/>
              </p:cNvSpPr>
              <p:nvPr/>
            </p:nvSpPr>
            <p:spPr bwMode="auto">
              <a:xfrm>
                <a:off x="3600" y="2976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50" name="Line 254"/>
              <p:cNvSpPr>
                <a:spLocks noChangeShapeType="1"/>
              </p:cNvSpPr>
              <p:nvPr/>
            </p:nvSpPr>
            <p:spPr bwMode="auto">
              <a:xfrm>
                <a:off x="4368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51" name="Line 255"/>
              <p:cNvSpPr>
                <a:spLocks noChangeShapeType="1"/>
              </p:cNvSpPr>
              <p:nvPr/>
            </p:nvSpPr>
            <p:spPr bwMode="auto">
              <a:xfrm flipH="1">
                <a:off x="5328" y="17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52" name="Line 256"/>
              <p:cNvSpPr>
                <a:spLocks noChangeShapeType="1"/>
              </p:cNvSpPr>
              <p:nvPr/>
            </p:nvSpPr>
            <p:spPr bwMode="auto">
              <a:xfrm flipV="1">
                <a:off x="5328" y="2256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53" name="Line 257"/>
              <p:cNvSpPr>
                <a:spLocks noChangeShapeType="1"/>
              </p:cNvSpPr>
              <p:nvPr/>
            </p:nvSpPr>
            <p:spPr bwMode="auto">
              <a:xfrm>
                <a:off x="3984" y="297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54" name="Text Box 258"/>
              <p:cNvSpPr txBox="1">
                <a:spLocks noChangeArrowheads="1"/>
              </p:cNvSpPr>
              <p:nvPr/>
            </p:nvSpPr>
            <p:spPr bwMode="auto">
              <a:xfrm>
                <a:off x="3840" y="3408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grpSp>
            <p:nvGrpSpPr>
              <p:cNvPr id="72755" name="Group 261"/>
              <p:cNvGrpSpPr/>
              <p:nvPr/>
            </p:nvGrpSpPr>
            <p:grpSpPr bwMode="auto">
              <a:xfrm>
                <a:off x="3264" y="672"/>
                <a:ext cx="480" cy="336"/>
                <a:chOff x="720" y="1872"/>
                <a:chExt cx="480" cy="336"/>
              </a:xfrm>
            </p:grpSpPr>
            <p:sp>
              <p:nvSpPr>
                <p:cNvPr id="72803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04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756" name="Group 264"/>
              <p:cNvGrpSpPr/>
              <p:nvPr/>
            </p:nvGrpSpPr>
            <p:grpSpPr bwMode="auto">
              <a:xfrm>
                <a:off x="3264" y="1200"/>
                <a:ext cx="480" cy="336"/>
                <a:chOff x="720" y="1872"/>
                <a:chExt cx="480" cy="336"/>
              </a:xfrm>
            </p:grpSpPr>
            <p:sp>
              <p:nvSpPr>
                <p:cNvPr id="728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02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757" name="Group 267"/>
              <p:cNvGrpSpPr/>
              <p:nvPr/>
            </p:nvGrpSpPr>
            <p:grpSpPr bwMode="auto">
              <a:xfrm>
                <a:off x="4224" y="1200"/>
                <a:ext cx="480" cy="336"/>
                <a:chOff x="720" y="1872"/>
                <a:chExt cx="480" cy="336"/>
              </a:xfrm>
            </p:grpSpPr>
            <p:sp>
              <p:nvSpPr>
                <p:cNvPr id="72799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800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758" name="Group 270"/>
              <p:cNvGrpSpPr/>
              <p:nvPr/>
            </p:nvGrpSpPr>
            <p:grpSpPr bwMode="auto">
              <a:xfrm>
                <a:off x="4224" y="672"/>
                <a:ext cx="480" cy="336"/>
                <a:chOff x="720" y="1872"/>
                <a:chExt cx="480" cy="336"/>
              </a:xfrm>
            </p:grpSpPr>
            <p:sp>
              <p:nvSpPr>
                <p:cNvPr id="72797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798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759" name="Line 273"/>
              <p:cNvSpPr>
                <a:spLocks noChangeShapeType="1"/>
              </p:cNvSpPr>
              <p:nvPr/>
            </p:nvSpPr>
            <p:spPr bwMode="auto">
              <a:xfrm flipV="1">
                <a:off x="3504" y="1536"/>
                <a:ext cx="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0" name="Line 274"/>
              <p:cNvSpPr>
                <a:spLocks noChangeShapeType="1"/>
              </p:cNvSpPr>
              <p:nvPr/>
            </p:nvSpPr>
            <p:spPr bwMode="auto">
              <a:xfrm flipH="1" flipV="1">
                <a:off x="4464" y="153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1" name="Line 275"/>
              <p:cNvSpPr>
                <a:spLocks noChangeShapeType="1"/>
              </p:cNvSpPr>
              <p:nvPr/>
            </p:nvSpPr>
            <p:spPr bwMode="auto">
              <a:xfrm>
                <a:off x="3508" y="186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2" name="Line 276"/>
              <p:cNvSpPr>
                <a:spLocks noChangeShapeType="1"/>
              </p:cNvSpPr>
              <p:nvPr/>
            </p:nvSpPr>
            <p:spPr bwMode="auto">
              <a:xfrm flipH="1" flipV="1">
                <a:off x="4176" y="187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3" name="Line 277"/>
              <p:cNvSpPr>
                <a:spLocks noChangeShapeType="1"/>
              </p:cNvSpPr>
              <p:nvPr/>
            </p:nvSpPr>
            <p:spPr bwMode="auto">
              <a:xfrm flipH="1">
                <a:off x="3840" y="1863"/>
                <a:ext cx="33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4" name="Line 278"/>
              <p:cNvSpPr>
                <a:spLocks noChangeShapeType="1"/>
              </p:cNvSpPr>
              <p:nvPr/>
            </p:nvSpPr>
            <p:spPr bwMode="auto">
              <a:xfrm>
                <a:off x="3798" y="1863"/>
                <a:ext cx="372" cy="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5" name="Line 279"/>
              <p:cNvSpPr>
                <a:spLocks noChangeShapeType="1"/>
              </p:cNvSpPr>
              <p:nvPr/>
            </p:nvSpPr>
            <p:spPr bwMode="auto">
              <a:xfrm flipV="1">
                <a:off x="4176" y="24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6" name="Line 280"/>
              <p:cNvSpPr>
                <a:spLocks noChangeShapeType="1"/>
              </p:cNvSpPr>
              <p:nvPr/>
            </p:nvSpPr>
            <p:spPr bwMode="auto">
              <a:xfrm flipH="1" flipV="1">
                <a:off x="3648" y="24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7" name="Line 281"/>
              <p:cNvSpPr>
                <a:spLocks noChangeShapeType="1"/>
              </p:cNvSpPr>
              <p:nvPr/>
            </p:nvSpPr>
            <p:spPr bwMode="auto">
              <a:xfrm flipH="1" flipV="1">
                <a:off x="3648" y="23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8" name="Line 282"/>
              <p:cNvSpPr>
                <a:spLocks noChangeShapeType="1"/>
              </p:cNvSpPr>
              <p:nvPr/>
            </p:nvSpPr>
            <p:spPr bwMode="auto">
              <a:xfrm flipV="1">
                <a:off x="4368" y="2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69" name="Line 283"/>
              <p:cNvSpPr>
                <a:spLocks noChangeShapeType="1"/>
              </p:cNvSpPr>
              <p:nvPr/>
            </p:nvSpPr>
            <p:spPr bwMode="auto">
              <a:xfrm flipV="1">
                <a:off x="4464" y="22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70" name="Line 284"/>
              <p:cNvSpPr>
                <a:spLocks noChangeShapeType="1"/>
              </p:cNvSpPr>
              <p:nvPr/>
            </p:nvSpPr>
            <p:spPr bwMode="auto">
              <a:xfrm flipV="1">
                <a:off x="3504" y="231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771" name="Group 285"/>
              <p:cNvGrpSpPr/>
              <p:nvPr/>
            </p:nvGrpSpPr>
            <p:grpSpPr bwMode="auto">
              <a:xfrm>
                <a:off x="3264" y="1976"/>
                <a:ext cx="480" cy="336"/>
                <a:chOff x="720" y="1872"/>
                <a:chExt cx="480" cy="336"/>
              </a:xfrm>
            </p:grpSpPr>
            <p:sp>
              <p:nvSpPr>
                <p:cNvPr id="72795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796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772" name="Group 288"/>
              <p:cNvGrpSpPr/>
              <p:nvPr/>
            </p:nvGrpSpPr>
            <p:grpSpPr bwMode="auto">
              <a:xfrm>
                <a:off x="3264" y="2456"/>
                <a:ext cx="480" cy="336"/>
                <a:chOff x="720" y="1872"/>
                <a:chExt cx="480" cy="336"/>
              </a:xfrm>
            </p:grpSpPr>
            <p:sp>
              <p:nvSpPr>
                <p:cNvPr id="72793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794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773" name="Group 291"/>
              <p:cNvGrpSpPr/>
              <p:nvPr/>
            </p:nvGrpSpPr>
            <p:grpSpPr bwMode="auto">
              <a:xfrm>
                <a:off x="4224" y="2456"/>
                <a:ext cx="480" cy="336"/>
                <a:chOff x="720" y="1872"/>
                <a:chExt cx="480" cy="336"/>
              </a:xfrm>
            </p:grpSpPr>
            <p:sp>
              <p:nvSpPr>
                <p:cNvPr id="72791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792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72774" name="Group 294"/>
              <p:cNvGrpSpPr/>
              <p:nvPr/>
            </p:nvGrpSpPr>
            <p:grpSpPr bwMode="auto">
              <a:xfrm>
                <a:off x="4224" y="1928"/>
                <a:ext cx="480" cy="336"/>
                <a:chOff x="720" y="1872"/>
                <a:chExt cx="480" cy="336"/>
              </a:xfrm>
            </p:grpSpPr>
            <p:sp>
              <p:nvSpPr>
                <p:cNvPr id="72789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790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775" name="Line 297"/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776" name="Group 298"/>
              <p:cNvGrpSpPr/>
              <p:nvPr/>
            </p:nvGrpSpPr>
            <p:grpSpPr bwMode="auto">
              <a:xfrm>
                <a:off x="5088" y="1920"/>
                <a:ext cx="480" cy="336"/>
                <a:chOff x="720" y="1872"/>
                <a:chExt cx="480" cy="336"/>
              </a:xfrm>
            </p:grpSpPr>
            <p:sp>
              <p:nvSpPr>
                <p:cNvPr id="72787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2788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777" name="Line 301"/>
              <p:cNvSpPr>
                <a:spLocks noChangeShapeType="1"/>
              </p:cNvSpPr>
              <p:nvPr/>
            </p:nvSpPr>
            <p:spPr bwMode="auto">
              <a:xfrm flipV="1">
                <a:off x="3648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78" name="Line 302"/>
              <p:cNvSpPr>
                <a:spLocks noChangeShapeType="1"/>
              </p:cNvSpPr>
              <p:nvPr/>
            </p:nvSpPr>
            <p:spPr bwMode="auto">
              <a:xfrm flipV="1">
                <a:off x="4368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79" name="Oval 303"/>
              <p:cNvSpPr>
                <a:spLocks noChangeArrowheads="1"/>
              </p:cNvSpPr>
              <p:nvPr/>
            </p:nvSpPr>
            <p:spPr bwMode="auto"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780" name="Oval 304"/>
              <p:cNvSpPr>
                <a:spLocks noChangeArrowheads="1"/>
              </p:cNvSpPr>
              <p:nvPr/>
            </p:nvSpPr>
            <p:spPr bwMode="auto">
              <a:xfrm>
                <a:off x="4320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781" name="Oval 305"/>
              <p:cNvSpPr>
                <a:spLocks noChangeArrowheads="1"/>
              </p:cNvSpPr>
              <p:nvPr/>
            </p:nvSpPr>
            <p:spPr bwMode="auto">
              <a:xfrm>
                <a:off x="3936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782" name="Oval 306"/>
              <p:cNvSpPr>
                <a:spLocks noChangeArrowheads="1"/>
              </p:cNvSpPr>
              <p:nvPr/>
            </p:nvSpPr>
            <p:spPr bwMode="auto">
              <a:xfrm>
                <a:off x="4416" y="4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783" name="Oval 307"/>
              <p:cNvSpPr>
                <a:spLocks noChangeArrowheads="1"/>
              </p:cNvSpPr>
              <p:nvPr/>
            </p:nvSpPr>
            <p:spPr bwMode="auto">
              <a:xfrm>
                <a:off x="3456" y="4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2784" name="Rectangle 308"/>
              <p:cNvSpPr>
                <a:spLocks noChangeArrowheads="1"/>
              </p:cNvSpPr>
              <p:nvPr/>
            </p:nvSpPr>
            <p:spPr bwMode="auto">
              <a:xfrm>
                <a:off x="4512" y="336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2785" name="Line 315"/>
              <p:cNvSpPr>
                <a:spLocks noChangeShapeType="1"/>
              </p:cNvSpPr>
              <p:nvPr/>
            </p:nvSpPr>
            <p:spPr bwMode="auto">
              <a:xfrm flipV="1">
                <a:off x="3408" y="278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86" name="Line 319"/>
              <p:cNvSpPr>
                <a:spLocks noChangeShapeType="1"/>
              </p:cNvSpPr>
              <p:nvPr/>
            </p:nvSpPr>
            <p:spPr bwMode="auto">
              <a:xfrm flipV="1">
                <a:off x="4608" y="278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718" name="Text Box 328"/>
            <p:cNvSpPr txBox="1">
              <a:spLocks noChangeArrowheads="1"/>
            </p:cNvSpPr>
            <p:nvPr/>
          </p:nvSpPr>
          <p:spPr bwMode="auto">
            <a:xfrm>
              <a:off x="3216" y="306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</a:t>
              </a:r>
              <a:endParaRPr lang="en-US" altLang="zh-CN" sz="2000"/>
            </a:p>
          </p:txBody>
        </p:sp>
        <p:sp>
          <p:nvSpPr>
            <p:cNvPr id="72719" name="Text Box 329"/>
            <p:cNvSpPr txBox="1">
              <a:spLocks noChangeArrowheads="1"/>
            </p:cNvSpPr>
            <p:nvPr/>
          </p:nvSpPr>
          <p:spPr bwMode="auto">
            <a:xfrm>
              <a:off x="4608" y="307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S</a:t>
              </a:r>
              <a:endParaRPr lang="en-US" altLang="zh-CN" sz="2000"/>
            </a:p>
          </p:txBody>
        </p:sp>
        <p:grpSp>
          <p:nvGrpSpPr>
            <p:cNvPr id="72720" name="Group 332"/>
            <p:cNvGrpSpPr/>
            <p:nvPr/>
          </p:nvGrpSpPr>
          <p:grpSpPr bwMode="auto">
            <a:xfrm>
              <a:off x="3168" y="3168"/>
              <a:ext cx="480" cy="1056"/>
              <a:chOff x="3168" y="3168"/>
              <a:chExt cx="480" cy="1056"/>
            </a:xfrm>
          </p:grpSpPr>
          <p:grpSp>
            <p:nvGrpSpPr>
              <p:cNvPr id="72729" name="Group 324"/>
              <p:cNvGrpSpPr/>
              <p:nvPr/>
            </p:nvGrpSpPr>
            <p:grpSpPr bwMode="auto">
              <a:xfrm>
                <a:off x="3168" y="3312"/>
                <a:ext cx="480" cy="912"/>
                <a:chOff x="3168" y="3216"/>
                <a:chExt cx="480" cy="912"/>
              </a:xfrm>
            </p:grpSpPr>
            <p:sp>
              <p:nvSpPr>
                <p:cNvPr id="72731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32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3168" y="3840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K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2733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34" name="Rectangle 312"/>
                <p:cNvSpPr>
                  <a:spLocks noChangeArrowheads="1"/>
                </p:cNvSpPr>
                <p:nvPr/>
              </p:nvSpPr>
              <p:spPr bwMode="auto">
                <a:xfrm>
                  <a:off x="3389" y="3840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2735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730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2721" name="Group 333"/>
            <p:cNvGrpSpPr/>
            <p:nvPr/>
          </p:nvGrpSpPr>
          <p:grpSpPr bwMode="auto">
            <a:xfrm>
              <a:off x="4416" y="3168"/>
              <a:ext cx="498" cy="1077"/>
              <a:chOff x="4416" y="3168"/>
              <a:chExt cx="498" cy="1077"/>
            </a:xfrm>
          </p:grpSpPr>
          <p:grpSp>
            <p:nvGrpSpPr>
              <p:cNvPr id="72722" name="Group 325"/>
              <p:cNvGrpSpPr/>
              <p:nvPr/>
            </p:nvGrpSpPr>
            <p:grpSpPr bwMode="auto">
              <a:xfrm>
                <a:off x="4416" y="3312"/>
                <a:ext cx="498" cy="933"/>
                <a:chOff x="4393" y="3216"/>
                <a:chExt cx="498" cy="933"/>
              </a:xfrm>
            </p:grpSpPr>
            <p:sp>
              <p:nvSpPr>
                <p:cNvPr id="72724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393" y="3840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J</a:t>
                  </a:r>
                  <a:endParaRPr lang="en-US" altLang="zh-CN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2725" name="Rectangle 311"/>
                <p:cNvSpPr>
                  <a:spLocks noChangeArrowheads="1"/>
                </p:cNvSpPr>
                <p:nvPr/>
              </p:nvSpPr>
              <p:spPr bwMode="auto">
                <a:xfrm>
                  <a:off x="4603" y="3703"/>
                  <a:ext cx="288" cy="4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ts val="24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lnSpc>
                      <a:spcPts val="24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2726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27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28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723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29075" name="Group 339"/>
          <p:cNvGrpSpPr/>
          <p:nvPr/>
        </p:nvGrpSpPr>
        <p:grpSpPr bwMode="auto">
          <a:xfrm>
            <a:off x="2773363" y="1430338"/>
            <a:ext cx="1981200" cy="701675"/>
            <a:chOff x="1747" y="901"/>
            <a:chExt cx="1248" cy="442"/>
          </a:xfrm>
        </p:grpSpPr>
        <p:sp>
          <p:nvSpPr>
            <p:cNvPr id="72714" name="Text Box 336"/>
            <p:cNvSpPr txBox="1">
              <a:spLocks noChangeArrowheads="1"/>
            </p:cNvSpPr>
            <p:nvPr/>
          </p:nvSpPr>
          <p:spPr bwMode="auto">
            <a:xfrm>
              <a:off x="1747" y="901"/>
              <a:ext cx="124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简化</a:t>
              </a:r>
              <a:r>
                <a:rPr lang="en-US" altLang="zh-CN" sz="2000" dirty="0"/>
                <a:t>:</a:t>
              </a:r>
              <a:r>
                <a:rPr lang="zh-CN" altLang="en-US" sz="2000" dirty="0"/>
                <a:t>将</a:t>
              </a:r>
              <a:r>
                <a:rPr lang="en-US" altLang="zh-CN" sz="2000" dirty="0"/>
                <a:t>QK</a:t>
              </a:r>
              <a:r>
                <a:rPr lang="zh-CN" altLang="en-US" sz="2000" dirty="0"/>
                <a:t>和</a:t>
              </a:r>
              <a:r>
                <a:rPr lang="en-US" altLang="zh-CN" sz="2000" dirty="0"/>
                <a:t>JQ</a:t>
              </a:r>
              <a:r>
                <a:rPr lang="zh-CN" altLang="en-US" sz="2000" dirty="0"/>
                <a:t>用与门表示</a:t>
              </a:r>
              <a:endParaRPr lang="zh-CN" altLang="en-US" sz="2000" baseline="-25000" dirty="0"/>
            </a:p>
          </p:txBody>
        </p:sp>
        <p:sp>
          <p:nvSpPr>
            <p:cNvPr id="72715" name="Line 337"/>
            <p:cNvSpPr>
              <a:spLocks noChangeShapeType="1"/>
            </p:cNvSpPr>
            <p:nvPr/>
          </p:nvSpPr>
          <p:spPr bwMode="auto">
            <a:xfrm>
              <a:off x="2765" y="93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29074" name="AutoShape 338"/>
          <p:cNvSpPr>
            <a:spLocks noChangeArrowheads="1"/>
          </p:cNvSpPr>
          <p:nvPr/>
        </p:nvSpPr>
        <p:spPr bwMode="auto">
          <a:xfrm>
            <a:off x="3276600" y="24384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4" name="组合 3"/>
          <p:cNvGrpSpPr/>
          <p:nvPr/>
        </p:nvGrpSpPr>
        <p:grpSpPr>
          <a:xfrm>
            <a:off x="3646055" y="5562600"/>
            <a:ext cx="1040670" cy="1004027"/>
            <a:chOff x="3646055" y="5562600"/>
            <a:chExt cx="1040670" cy="1004027"/>
          </a:xfrm>
        </p:grpSpPr>
        <p:sp>
          <p:nvSpPr>
            <p:cNvPr id="2" name="Text Box 180"/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R=KQ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" name="Text Box 180"/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S=JQ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9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9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2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9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9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059" grpId="0" animBg="1"/>
      <p:bldP spid="629063" grpId="0" autoUpdateAnimBg="0"/>
      <p:bldP spid="6290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47AD91-00FD-4EDF-A4BC-72B223F70439}" type="slidenum">
              <a:rPr lang="en-US" altLang="zh-CN"/>
            </a:fld>
            <a:endParaRPr lang="en-US" altLang="zh-CN"/>
          </a:p>
        </p:txBody>
      </p:sp>
      <p:sp>
        <p:nvSpPr>
          <p:cNvPr id="630066" name="Text Box 306"/>
          <p:cNvSpPr txBox="1">
            <a:spLocks noChangeArrowheads="1"/>
          </p:cNvSpPr>
          <p:nvPr/>
        </p:nvSpPr>
        <p:spPr bwMode="auto">
          <a:xfrm>
            <a:off x="3124200" y="484505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</a:rPr>
              <a:t>J</a:t>
            </a:r>
            <a:r>
              <a:rPr lang="zh-CN" altLang="en-US" sz="2000" dirty="0">
                <a:solidFill>
                  <a:srgbClr val="FFFF00"/>
                </a:solidFill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</a:rPr>
              <a:t>0</a:t>
            </a:r>
            <a:r>
              <a:rPr lang="zh-CN" altLang="en-US" sz="2000" dirty="0">
                <a:solidFill>
                  <a:srgbClr val="FFFF00"/>
                </a:solidFill>
              </a:rPr>
              <a:t>，</a:t>
            </a:r>
            <a:r>
              <a:rPr lang="en-US" altLang="zh-CN" sz="2000" dirty="0">
                <a:solidFill>
                  <a:srgbClr val="FFFF00"/>
                </a:solidFill>
              </a:rPr>
              <a:t>K</a:t>
            </a:r>
            <a:r>
              <a:rPr lang="zh-CN" altLang="en-US" sz="2000" dirty="0">
                <a:solidFill>
                  <a:srgbClr val="FFFF00"/>
                </a:solidFill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</a:rPr>
              <a:t>1</a:t>
            </a:r>
            <a:r>
              <a:rPr lang="zh-CN" altLang="en-US" sz="2000" dirty="0">
                <a:solidFill>
                  <a:srgbClr val="FFFF00"/>
                </a:solidFill>
              </a:rPr>
              <a:t>：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sp>
        <p:nvSpPr>
          <p:cNvPr id="630067" name="Rectangle 307"/>
          <p:cNvSpPr>
            <a:spLocks noChangeArrowheads="1"/>
          </p:cNvSpPr>
          <p:nvPr/>
        </p:nvSpPr>
        <p:spPr bwMode="auto">
          <a:xfrm>
            <a:off x="4813300" y="4845050"/>
            <a:ext cx="1816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R</a:t>
            </a:r>
            <a:r>
              <a:rPr lang="zh-CN" altLang="en-US" sz="2000" dirty="0"/>
              <a:t>＝</a:t>
            </a:r>
            <a:r>
              <a:rPr lang="en-US" altLang="zh-CN" sz="2000" dirty="0"/>
              <a:t>Q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endParaRPr lang="en-US" altLang="zh-CN" sz="2000" dirty="0"/>
          </a:p>
        </p:txBody>
      </p:sp>
      <p:sp>
        <p:nvSpPr>
          <p:cNvPr id="630068" name="Rectangle 308"/>
          <p:cNvSpPr>
            <a:spLocks noChangeArrowheads="1"/>
          </p:cNvSpPr>
          <p:nvPr/>
        </p:nvSpPr>
        <p:spPr bwMode="auto">
          <a:xfrm>
            <a:off x="3200400" y="5302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/>
              <a:t>当</a:t>
            </a:r>
            <a:r>
              <a:rPr lang="en-US" altLang="zh-CN" sz="2000" dirty="0"/>
              <a:t>Q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时，</a:t>
            </a:r>
            <a:r>
              <a:rPr lang="en-US" altLang="zh-CN" sz="2000" dirty="0"/>
              <a:t>R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endParaRPr lang="en-US" altLang="zh-CN" sz="2000" dirty="0"/>
          </a:p>
        </p:txBody>
      </p:sp>
      <p:sp>
        <p:nvSpPr>
          <p:cNvPr id="630071" name="Rectangle 311"/>
          <p:cNvSpPr>
            <a:spLocks noChangeArrowheads="1"/>
          </p:cNvSpPr>
          <p:nvPr/>
        </p:nvSpPr>
        <p:spPr bwMode="auto">
          <a:xfrm>
            <a:off x="3200400" y="5683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当</a:t>
            </a:r>
            <a:r>
              <a:rPr lang="en-US" altLang="zh-CN" sz="2000"/>
              <a:t>Q</a:t>
            </a:r>
            <a:r>
              <a:rPr lang="en-US" altLang="zh-CN" sz="2000" baseline="-25000"/>
              <a:t>0</a:t>
            </a:r>
            <a:r>
              <a:rPr lang="zh-CN" altLang="en-US" sz="2000"/>
              <a:t>＝</a:t>
            </a:r>
            <a:r>
              <a:rPr lang="en-US" altLang="zh-CN" sz="2000"/>
              <a:t>1</a:t>
            </a:r>
            <a:r>
              <a:rPr lang="zh-CN" altLang="en-US" sz="2000"/>
              <a:t>时，</a:t>
            </a:r>
            <a:r>
              <a:rPr lang="en-US" altLang="zh-CN" sz="2000"/>
              <a:t>R</a:t>
            </a:r>
            <a:r>
              <a:rPr lang="zh-CN" altLang="en-US" sz="2000"/>
              <a:t>＝</a:t>
            </a:r>
            <a:r>
              <a:rPr lang="en-US" altLang="zh-CN" sz="2000"/>
              <a:t>1</a:t>
            </a:r>
            <a:r>
              <a:rPr lang="zh-CN" altLang="en-US" sz="2000"/>
              <a:t>，</a:t>
            </a:r>
            <a:r>
              <a:rPr lang="en-US" altLang="zh-CN" sz="2000"/>
              <a:t>S</a:t>
            </a:r>
            <a:r>
              <a:rPr lang="zh-CN" altLang="en-US" sz="2000"/>
              <a:t>＝</a:t>
            </a:r>
            <a:r>
              <a:rPr lang="en-US" altLang="zh-CN" sz="2000"/>
              <a:t>0</a:t>
            </a:r>
            <a:endParaRPr lang="en-US" altLang="zh-CN" sz="2000"/>
          </a:p>
        </p:txBody>
      </p:sp>
      <p:sp>
        <p:nvSpPr>
          <p:cNvPr id="630073" name="Text Box 313"/>
          <p:cNvSpPr txBox="1">
            <a:spLocks noChangeArrowheads="1"/>
          </p:cNvSpPr>
          <p:nvPr/>
        </p:nvSpPr>
        <p:spPr bwMode="auto">
          <a:xfrm>
            <a:off x="2740309" y="6190351"/>
            <a:ext cx="2590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/>
              <a:t>所以当</a:t>
            </a:r>
            <a:r>
              <a:rPr lang="en-US" altLang="zh-CN" sz="2000" dirty="0"/>
              <a:t>J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K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时，</a:t>
            </a:r>
            <a:endParaRPr lang="zh-CN" altLang="en-US" sz="2000" dirty="0"/>
          </a:p>
        </p:txBody>
      </p:sp>
      <p:sp>
        <p:nvSpPr>
          <p:cNvPr id="630075" name="Rectangle 31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630076" name="Text Box 316"/>
          <p:cNvSpPr txBox="1">
            <a:spLocks noChangeArrowheads="1"/>
          </p:cNvSpPr>
          <p:nvPr/>
        </p:nvSpPr>
        <p:spPr bwMode="auto">
          <a:xfrm>
            <a:off x="112175" y="96066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主从</a:t>
            </a:r>
            <a:r>
              <a:rPr lang="en-US" altLang="zh-CN" sz="2400" b="1" dirty="0">
                <a:latin typeface="Georgia" panose="02040502050405020303" pitchFamily="18" charset="0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</a:rPr>
              <a:t>触发器的功能表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sp>
        <p:nvSpPr>
          <p:cNvPr id="630077" name="Text Box 317"/>
          <p:cNvSpPr txBox="1">
            <a:spLocks noChangeArrowheads="1"/>
          </p:cNvSpPr>
          <p:nvPr/>
        </p:nvSpPr>
        <p:spPr bwMode="auto">
          <a:xfrm>
            <a:off x="3619533" y="92868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主从</a:t>
            </a:r>
            <a:r>
              <a:rPr lang="en-US" altLang="zh-CN" sz="2400" b="1" dirty="0">
                <a:latin typeface="Georgia" panose="02040502050405020303" pitchFamily="18" charset="0"/>
              </a:rPr>
              <a:t>J-K</a:t>
            </a:r>
            <a:r>
              <a:rPr lang="zh-CN" altLang="en-US" sz="2400" b="1" dirty="0">
                <a:latin typeface="Georgia" panose="02040502050405020303" pitchFamily="18" charset="0"/>
              </a:rPr>
              <a:t>触发器的功能表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sp>
        <p:nvSpPr>
          <p:cNvPr id="630078" name="Rectangle 318"/>
          <p:cNvSpPr>
            <a:spLocks noChangeArrowheads="1"/>
          </p:cNvSpPr>
          <p:nvPr/>
        </p:nvSpPr>
        <p:spPr bwMode="auto">
          <a:xfrm>
            <a:off x="6166104" y="2865166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0   1</a:t>
            </a:r>
            <a:endParaRPr lang="en-US" altLang="zh-CN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7238204" y="340863"/>
            <a:ext cx="1756730" cy="4745485"/>
            <a:chOff x="4595565" y="-14682"/>
            <a:chExt cx="3853110" cy="7021907"/>
          </a:xfrm>
        </p:grpSpPr>
        <p:sp>
          <p:nvSpPr>
            <p:cNvPr id="101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121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40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8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9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41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6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7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42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4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5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43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2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3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44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6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80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1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57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8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9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58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6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7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59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74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5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60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1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72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3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62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5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6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7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8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9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70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" name="Text Box 328"/>
            <p:cNvSpPr txBox="1">
              <a:spLocks noChangeArrowheads="1"/>
            </p:cNvSpPr>
            <p:nvPr/>
          </p:nvSpPr>
          <p:spPr bwMode="auto">
            <a:xfrm>
              <a:off x="4781922" y="47479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104" name="Text Box 329"/>
            <p:cNvSpPr txBox="1">
              <a:spLocks noChangeArrowheads="1"/>
            </p:cNvSpPr>
            <p:nvPr/>
          </p:nvSpPr>
          <p:spPr bwMode="auto">
            <a:xfrm>
              <a:off x="7177880" y="4731421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105" name="Group 332"/>
            <p:cNvGrpSpPr/>
            <p:nvPr/>
          </p:nvGrpSpPr>
          <p:grpSpPr bwMode="auto">
            <a:xfrm>
              <a:off x="4710115" y="5029201"/>
              <a:ext cx="928688" cy="1697038"/>
              <a:chOff x="2967" y="3168"/>
              <a:chExt cx="585" cy="1069"/>
            </a:xfrm>
          </p:grpSpPr>
          <p:grpSp>
            <p:nvGrpSpPr>
              <p:cNvPr id="114" name="Group 324"/>
              <p:cNvGrpSpPr/>
              <p:nvPr/>
            </p:nvGrpSpPr>
            <p:grpSpPr bwMode="auto">
              <a:xfrm>
                <a:off x="2967" y="3312"/>
                <a:ext cx="585" cy="925"/>
                <a:chOff x="2967" y="3216"/>
                <a:chExt cx="585" cy="925"/>
              </a:xfrm>
            </p:grpSpPr>
            <p:sp>
              <p:nvSpPr>
                <p:cNvPr id="116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67" y="3853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18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0" y="383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20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5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6" name="Group 333"/>
            <p:cNvGrpSpPr/>
            <p:nvPr/>
          </p:nvGrpSpPr>
          <p:grpSpPr bwMode="auto">
            <a:xfrm>
              <a:off x="6659563" y="5029200"/>
              <a:ext cx="1620839" cy="1978025"/>
              <a:chOff x="4195" y="3168"/>
              <a:chExt cx="1021" cy="1246"/>
            </a:xfrm>
          </p:grpSpPr>
          <p:grpSp>
            <p:nvGrpSpPr>
              <p:cNvPr id="107" name="Group 325"/>
              <p:cNvGrpSpPr/>
              <p:nvPr/>
            </p:nvGrpSpPr>
            <p:grpSpPr bwMode="auto">
              <a:xfrm>
                <a:off x="4195" y="3312"/>
                <a:ext cx="1021" cy="1102"/>
                <a:chOff x="4172" y="3216"/>
                <a:chExt cx="1021" cy="1102"/>
              </a:xfrm>
            </p:grpSpPr>
            <p:sp>
              <p:nvSpPr>
                <p:cNvPr id="109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72" y="3902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10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6" y="3543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11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08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52187" y="1219911"/>
            <a:ext cx="3437399" cy="3468742"/>
            <a:chOff x="4716001" y="1712858"/>
            <a:chExt cx="3437399" cy="3468742"/>
          </a:xfrm>
        </p:grpSpPr>
        <p:grpSp>
          <p:nvGrpSpPr>
            <p:cNvPr id="3" name="Group 226"/>
            <p:cNvGrpSpPr/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10" name="Rectangle 118"/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0   1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1   0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0   1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1   0</a:t>
                </a:r>
                <a:endParaRPr lang="en-US" altLang="zh-CN" sz="240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/>
              </a:p>
            </p:txBody>
          </p:sp>
          <p:sp>
            <p:nvSpPr>
              <p:cNvPr id="11" name="Rectangle 119"/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0    1   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0   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1    1        0   1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/>
              </a:p>
            </p:txBody>
          </p:sp>
          <p:sp>
            <p:nvSpPr>
              <p:cNvPr id="12" name="Rectangle 120"/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13" name="Rectangle 121"/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         CP  R  S</a:t>
                </a:r>
                <a:endParaRPr lang="en-US" altLang="zh-CN" sz="2400"/>
              </a:p>
            </p:txBody>
          </p:sp>
          <p:sp>
            <p:nvSpPr>
              <p:cNvPr id="14" name="Line 122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23"/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24"/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25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26"/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27"/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" name="Group 136"/>
              <p:cNvGrpSpPr/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41" name="Line 13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3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13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142"/>
              <p:cNvGrpSpPr/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36" name="Line 14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4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4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148"/>
              <p:cNvGrpSpPr/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31" name="Line 14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5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15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154"/>
              <p:cNvGrpSpPr/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26" name="Line 155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156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Line 157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Line 160"/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 Box 224"/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1*  1*</a:t>
                </a:r>
                <a:endParaRPr lang="en-US" altLang="zh-CN" sz="2000" dirty="0"/>
              </a:p>
            </p:txBody>
          </p:sp>
        </p:grp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" name="Text Box 55"/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7" name="Text Box 55"/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9" name="Text Box 55"/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705903" y="1207441"/>
            <a:ext cx="3296021" cy="3474096"/>
            <a:chOff x="3705903" y="1207441"/>
            <a:chExt cx="3296021" cy="3474096"/>
          </a:xfrm>
        </p:grpSpPr>
        <p:grpSp>
          <p:nvGrpSpPr>
            <p:cNvPr id="630079" name="Group 319"/>
            <p:cNvGrpSpPr/>
            <p:nvPr/>
          </p:nvGrpSpPr>
          <p:grpSpPr bwMode="auto">
            <a:xfrm>
              <a:off x="3725324" y="1446212"/>
              <a:ext cx="3276600" cy="3235325"/>
              <a:chOff x="3216" y="918"/>
              <a:chExt cx="2064" cy="2038"/>
            </a:xfrm>
          </p:grpSpPr>
          <p:sp>
            <p:nvSpPr>
              <p:cNvPr id="630022" name="Rectangle 262"/>
              <p:cNvSpPr>
                <a:spLocks noChangeArrowheads="1"/>
              </p:cNvSpPr>
              <p:nvPr/>
            </p:nvSpPr>
            <p:spPr bwMode="auto">
              <a:xfrm>
                <a:off x="4676" y="1244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0   1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1   0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</a:t>
                </a:r>
                <a:endParaRPr lang="en-US" altLang="zh-CN" sz="2400" dirty="0"/>
              </a:p>
            </p:txBody>
          </p:sp>
          <p:sp>
            <p:nvSpPr>
              <p:cNvPr id="630023" name="Rectangle 263"/>
              <p:cNvSpPr>
                <a:spLocks noChangeArrowheads="1"/>
              </p:cNvSpPr>
              <p:nvPr/>
            </p:nvSpPr>
            <p:spPr bwMode="auto">
              <a:xfrm>
                <a:off x="3216" y="1244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0    1   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0   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1    1        0   1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/>
              </a:p>
            </p:txBody>
          </p:sp>
          <p:sp>
            <p:nvSpPr>
              <p:cNvPr id="630024" name="Rectangle 264"/>
              <p:cNvSpPr>
                <a:spLocks noChangeArrowheads="1"/>
              </p:cNvSpPr>
              <p:nvPr/>
            </p:nvSpPr>
            <p:spPr bwMode="auto">
              <a:xfrm>
                <a:off x="4676" y="918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630025" name="Rectangle 265"/>
              <p:cNvSpPr>
                <a:spLocks noChangeArrowheads="1"/>
              </p:cNvSpPr>
              <p:nvPr/>
            </p:nvSpPr>
            <p:spPr bwMode="auto">
              <a:xfrm>
                <a:off x="3216" y="918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         CP  J   K</a:t>
                </a:r>
                <a:endParaRPr lang="en-US" altLang="zh-CN" sz="2400"/>
              </a:p>
            </p:txBody>
          </p:sp>
          <p:sp>
            <p:nvSpPr>
              <p:cNvPr id="73750" name="Line 266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1" name="Line 267"/>
              <p:cNvSpPr>
                <a:spLocks noChangeShapeType="1"/>
              </p:cNvSpPr>
              <p:nvPr/>
            </p:nvSpPr>
            <p:spPr bwMode="auto">
              <a:xfrm>
                <a:off x="3216" y="1244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2" name="Line 268"/>
              <p:cNvSpPr>
                <a:spLocks noChangeShapeType="1"/>
              </p:cNvSpPr>
              <p:nvPr/>
            </p:nvSpPr>
            <p:spPr bwMode="auto">
              <a:xfrm>
                <a:off x="3216" y="295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3" name="Line 269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4" name="Line 270"/>
              <p:cNvSpPr>
                <a:spLocks noChangeShapeType="1"/>
              </p:cNvSpPr>
              <p:nvPr/>
            </p:nvSpPr>
            <p:spPr bwMode="auto">
              <a:xfrm>
                <a:off x="4676" y="918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5" name="Line 271"/>
              <p:cNvSpPr>
                <a:spLocks noChangeShapeType="1"/>
              </p:cNvSpPr>
              <p:nvPr/>
            </p:nvSpPr>
            <p:spPr bwMode="auto">
              <a:xfrm>
                <a:off x="5280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3760" name="Group 280"/>
              <p:cNvGrpSpPr/>
              <p:nvPr/>
            </p:nvGrpSpPr>
            <p:grpSpPr bwMode="auto">
              <a:xfrm>
                <a:off x="3727" y="1878"/>
                <a:ext cx="385" cy="96"/>
                <a:chOff x="3360" y="3552"/>
                <a:chExt cx="385" cy="96"/>
              </a:xfrm>
            </p:grpSpPr>
            <p:sp>
              <p:nvSpPr>
                <p:cNvPr id="73780" name="Line 281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1" name="Line 282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2" name="Line 283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3" name="Line 284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4" name="Line 285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761" name="Group 286"/>
              <p:cNvGrpSpPr/>
              <p:nvPr/>
            </p:nvGrpSpPr>
            <p:grpSpPr bwMode="auto">
              <a:xfrm>
                <a:off x="3727" y="2166"/>
                <a:ext cx="385" cy="96"/>
                <a:chOff x="3360" y="3552"/>
                <a:chExt cx="385" cy="96"/>
              </a:xfrm>
            </p:grpSpPr>
            <p:sp>
              <p:nvSpPr>
                <p:cNvPr id="73775" name="Line 28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6" name="Line 28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7" name="Line 28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8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9" name="Line 29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762" name="Group 292"/>
              <p:cNvGrpSpPr/>
              <p:nvPr/>
            </p:nvGrpSpPr>
            <p:grpSpPr bwMode="auto">
              <a:xfrm>
                <a:off x="3727" y="2454"/>
                <a:ext cx="385" cy="96"/>
                <a:chOff x="3360" y="3552"/>
                <a:chExt cx="385" cy="96"/>
              </a:xfrm>
            </p:grpSpPr>
            <p:sp>
              <p:nvSpPr>
                <p:cNvPr id="73770" name="Line 29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1" name="Line 29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2" name="Line 29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3" name="Line 29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4" name="Line 29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763" name="Group 298"/>
              <p:cNvGrpSpPr/>
              <p:nvPr/>
            </p:nvGrpSpPr>
            <p:grpSpPr bwMode="auto">
              <a:xfrm>
                <a:off x="3727" y="2694"/>
                <a:ext cx="385" cy="96"/>
                <a:chOff x="3360" y="3552"/>
                <a:chExt cx="385" cy="96"/>
              </a:xfrm>
            </p:grpSpPr>
            <p:sp>
              <p:nvSpPr>
                <p:cNvPr id="73765" name="Line 29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6" name="Line 30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7" name="Line 30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8" name="Line 30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9" name="Line 30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3764" name="Line 304"/>
              <p:cNvSpPr>
                <a:spLocks noChangeShapeType="1"/>
              </p:cNvSpPr>
              <p:nvPr/>
            </p:nvSpPr>
            <p:spPr bwMode="auto">
              <a:xfrm flipH="1">
                <a:off x="3216" y="1782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" name="Text Box 55"/>
            <p:cNvSpPr txBox="1">
              <a:spLocks noChangeArrowheads="1"/>
            </p:cNvSpPr>
            <p:nvPr/>
          </p:nvSpPr>
          <p:spPr bwMode="auto">
            <a:xfrm>
              <a:off x="3705903" y="1207441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7" name="Text Box 55"/>
            <p:cNvSpPr txBox="1">
              <a:spLocks noChangeArrowheads="1"/>
            </p:cNvSpPr>
            <p:nvPr/>
          </p:nvSpPr>
          <p:spPr bwMode="auto">
            <a:xfrm>
              <a:off x="4212124" y="1207497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auto">
            <a:xfrm>
              <a:off x="6540706" y="123184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6071929" y="1517558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24199" y="5186323"/>
            <a:ext cx="1040670" cy="1004027"/>
            <a:chOff x="3646055" y="5562600"/>
            <a:chExt cx="1040670" cy="1004027"/>
          </a:xfrm>
        </p:grpSpPr>
        <p:sp>
          <p:nvSpPr>
            <p:cNvPr id="53" name="Text Box 180"/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R=KQ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54" name="Text Box 180"/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S=JQ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sp>
        <p:nvSpPr>
          <p:cNvPr id="55" name="Rectangle 307"/>
          <p:cNvSpPr>
            <a:spLocks noChangeArrowheads="1"/>
          </p:cNvSpPr>
          <p:nvPr/>
        </p:nvSpPr>
        <p:spPr bwMode="auto">
          <a:xfrm>
            <a:off x="6415119" y="5160134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_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Q=0</a:t>
            </a:r>
            <a:r>
              <a:rPr lang="zh-CN" altLang="en-US" sz="2000" dirty="0"/>
              <a:t>，</a:t>
            </a:r>
            <a:r>
              <a:rPr lang="en-US" altLang="zh-CN" sz="2000" dirty="0"/>
              <a:t>Q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endParaRPr lang="en-US" altLang="zh-CN" sz="2000" dirty="0"/>
          </a:p>
        </p:txBody>
      </p:sp>
      <p:sp>
        <p:nvSpPr>
          <p:cNvPr id="56" name="Rectangle 307"/>
          <p:cNvSpPr>
            <a:spLocks noChangeArrowheads="1"/>
          </p:cNvSpPr>
          <p:nvPr/>
        </p:nvSpPr>
        <p:spPr bwMode="auto">
          <a:xfrm>
            <a:off x="6413030" y="5540979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_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Q=0</a:t>
            </a:r>
            <a:r>
              <a:rPr lang="zh-CN" altLang="en-US" sz="2000" dirty="0"/>
              <a:t>，</a:t>
            </a:r>
            <a:r>
              <a:rPr lang="en-US" altLang="zh-CN" sz="2000" dirty="0"/>
              <a:t>Q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endParaRPr lang="en-US" altLang="zh-CN" sz="2000" dirty="0"/>
          </a:p>
        </p:txBody>
      </p:sp>
      <p:sp>
        <p:nvSpPr>
          <p:cNvPr id="57" name="Rectangle 307"/>
          <p:cNvSpPr>
            <a:spLocks noChangeArrowheads="1"/>
          </p:cNvSpPr>
          <p:nvPr/>
        </p:nvSpPr>
        <p:spPr bwMode="auto">
          <a:xfrm>
            <a:off x="5571939" y="6042555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_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Q=0</a:t>
            </a:r>
            <a:r>
              <a:rPr lang="zh-CN" altLang="en-US" sz="2000" dirty="0"/>
              <a:t>，</a:t>
            </a:r>
            <a:r>
              <a:rPr lang="en-US" altLang="zh-CN" sz="2000" dirty="0"/>
              <a:t>Q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0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0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066" grpId="0" autoUpdateAnimBg="0"/>
      <p:bldP spid="630067" grpId="0" autoUpdateAnimBg="0"/>
      <p:bldP spid="630068" grpId="0" autoUpdateAnimBg="0"/>
      <p:bldP spid="630071" grpId="0" autoUpdateAnimBg="0"/>
      <p:bldP spid="630073" grpId="0" autoUpdateAnimBg="0"/>
      <p:bldP spid="630076" grpId="0" autoUpdateAnimBg="0"/>
      <p:bldP spid="630077" grpId="0" autoUpdateAnimBg="0"/>
      <p:bldP spid="630078" grpId="0" autoUpdateAnimBg="0"/>
      <p:bldP spid="55" grpId="0" autoUpdateAnimBg="0"/>
      <p:bldP spid="56" grpId="0" autoUpdateAnimBg="0"/>
      <p:bldP spid="5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47AD91-00FD-4EDF-A4BC-72B223F70439}" type="slidenum">
              <a:rPr lang="en-US" altLang="zh-CN"/>
            </a:fld>
            <a:endParaRPr lang="en-US" altLang="zh-CN" dirty="0"/>
          </a:p>
        </p:txBody>
      </p:sp>
      <p:sp>
        <p:nvSpPr>
          <p:cNvPr id="630066" name="Text Box 306"/>
          <p:cNvSpPr txBox="1">
            <a:spLocks noChangeArrowheads="1"/>
          </p:cNvSpPr>
          <p:nvPr/>
        </p:nvSpPr>
        <p:spPr bwMode="auto">
          <a:xfrm>
            <a:off x="3124200" y="484505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</a:rPr>
              <a:t>J</a:t>
            </a:r>
            <a:r>
              <a:rPr lang="zh-CN" altLang="en-US" sz="2000" dirty="0">
                <a:solidFill>
                  <a:srgbClr val="FFFF00"/>
                </a:solidFill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</a:rPr>
              <a:t>1</a:t>
            </a:r>
            <a:r>
              <a:rPr lang="zh-CN" altLang="en-US" sz="2000" dirty="0">
                <a:solidFill>
                  <a:srgbClr val="FFFF00"/>
                </a:solidFill>
              </a:rPr>
              <a:t>，</a:t>
            </a:r>
            <a:r>
              <a:rPr lang="en-US" altLang="zh-CN" sz="2000" dirty="0">
                <a:solidFill>
                  <a:srgbClr val="FFFF00"/>
                </a:solidFill>
              </a:rPr>
              <a:t>K</a:t>
            </a:r>
            <a:r>
              <a:rPr lang="zh-CN" altLang="en-US" sz="2000" dirty="0">
                <a:solidFill>
                  <a:srgbClr val="FFFF00"/>
                </a:solidFill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</a:rPr>
              <a:t>0</a:t>
            </a:r>
            <a:r>
              <a:rPr lang="zh-CN" altLang="en-US" sz="2000" dirty="0">
                <a:solidFill>
                  <a:srgbClr val="FFFF00"/>
                </a:solidFill>
              </a:rPr>
              <a:t>：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sp>
        <p:nvSpPr>
          <p:cNvPr id="630067" name="Rectangle 307"/>
          <p:cNvSpPr>
            <a:spLocks noChangeArrowheads="1"/>
          </p:cNvSpPr>
          <p:nvPr/>
        </p:nvSpPr>
        <p:spPr bwMode="auto">
          <a:xfrm>
            <a:off x="4706399" y="4741862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     _  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R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＝</a:t>
            </a:r>
            <a:r>
              <a:rPr lang="en-US" altLang="zh-CN" sz="2000" dirty="0"/>
              <a:t>Q</a:t>
            </a:r>
            <a:endParaRPr lang="en-US" altLang="zh-CN" sz="2000" dirty="0"/>
          </a:p>
        </p:txBody>
      </p:sp>
      <p:sp>
        <p:nvSpPr>
          <p:cNvPr id="630068" name="Rectangle 308"/>
          <p:cNvSpPr>
            <a:spLocks noChangeArrowheads="1"/>
          </p:cNvSpPr>
          <p:nvPr/>
        </p:nvSpPr>
        <p:spPr bwMode="auto">
          <a:xfrm>
            <a:off x="3200400" y="5302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/>
              <a:t>当</a:t>
            </a:r>
            <a:r>
              <a:rPr lang="en-US" altLang="zh-CN" sz="2000" dirty="0"/>
              <a:t>Q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时，</a:t>
            </a:r>
            <a:r>
              <a:rPr lang="en-US" altLang="zh-CN" sz="2000" dirty="0"/>
              <a:t>R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endParaRPr lang="en-US" altLang="zh-CN" sz="2000" dirty="0"/>
          </a:p>
        </p:txBody>
      </p:sp>
      <p:sp>
        <p:nvSpPr>
          <p:cNvPr id="630071" name="Rectangle 311"/>
          <p:cNvSpPr>
            <a:spLocks noChangeArrowheads="1"/>
          </p:cNvSpPr>
          <p:nvPr/>
        </p:nvSpPr>
        <p:spPr bwMode="auto">
          <a:xfrm>
            <a:off x="3200400" y="5683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/>
              <a:t>当</a:t>
            </a:r>
            <a:r>
              <a:rPr lang="en-US" altLang="zh-CN" sz="2000" dirty="0"/>
              <a:t>Q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时，</a:t>
            </a:r>
            <a:r>
              <a:rPr lang="en-US" altLang="zh-CN" sz="2000" dirty="0"/>
              <a:t>R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endParaRPr lang="en-US" altLang="zh-CN" sz="2000" dirty="0"/>
          </a:p>
        </p:txBody>
      </p:sp>
      <p:sp>
        <p:nvSpPr>
          <p:cNvPr id="630073" name="Text Box 313"/>
          <p:cNvSpPr txBox="1">
            <a:spLocks noChangeArrowheads="1"/>
          </p:cNvSpPr>
          <p:nvPr/>
        </p:nvSpPr>
        <p:spPr bwMode="auto">
          <a:xfrm>
            <a:off x="2740309" y="6190351"/>
            <a:ext cx="2590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/>
              <a:t>所以当</a:t>
            </a:r>
            <a:r>
              <a:rPr lang="en-US" altLang="zh-CN" sz="2000" dirty="0"/>
              <a:t>J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，</a:t>
            </a:r>
            <a:r>
              <a:rPr lang="en-US" altLang="zh-CN" sz="2000" dirty="0"/>
              <a:t>K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时，</a:t>
            </a:r>
            <a:endParaRPr lang="zh-CN" altLang="en-US" sz="2000" dirty="0"/>
          </a:p>
        </p:txBody>
      </p:sp>
      <p:sp>
        <p:nvSpPr>
          <p:cNvPr id="630075" name="Rectangle 31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630076" name="Text Box 316"/>
          <p:cNvSpPr txBox="1">
            <a:spLocks noChangeArrowheads="1"/>
          </p:cNvSpPr>
          <p:nvPr/>
        </p:nvSpPr>
        <p:spPr bwMode="auto">
          <a:xfrm>
            <a:off x="112175" y="96066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主从</a:t>
            </a:r>
            <a:r>
              <a:rPr lang="en-US" altLang="zh-CN" sz="2400" b="1" dirty="0">
                <a:latin typeface="Georgia" panose="02040502050405020303" pitchFamily="18" charset="0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</a:rPr>
              <a:t>触发器的功能表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sp>
        <p:nvSpPr>
          <p:cNvPr id="630077" name="Text Box 317"/>
          <p:cNvSpPr txBox="1">
            <a:spLocks noChangeArrowheads="1"/>
          </p:cNvSpPr>
          <p:nvPr/>
        </p:nvSpPr>
        <p:spPr bwMode="auto">
          <a:xfrm>
            <a:off x="3619533" y="92868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主从</a:t>
            </a:r>
            <a:r>
              <a:rPr lang="en-US" altLang="zh-CN" sz="2400" b="1" dirty="0">
                <a:latin typeface="Georgia" panose="02040502050405020303" pitchFamily="18" charset="0"/>
              </a:rPr>
              <a:t>J-K</a:t>
            </a:r>
            <a:r>
              <a:rPr lang="zh-CN" altLang="en-US" sz="2400" b="1" dirty="0">
                <a:latin typeface="Georgia" panose="02040502050405020303" pitchFamily="18" charset="0"/>
              </a:rPr>
              <a:t>触发器的功能表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7238204" y="340863"/>
            <a:ext cx="1756730" cy="4745485"/>
            <a:chOff x="4595565" y="-14682"/>
            <a:chExt cx="3853110" cy="7021907"/>
          </a:xfrm>
        </p:grpSpPr>
        <p:sp>
          <p:nvSpPr>
            <p:cNvPr id="101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121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40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8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9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41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6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7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42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4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5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43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2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3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44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6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80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81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57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8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9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58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6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7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59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74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5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60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1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72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73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62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5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6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7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8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69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70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" name="Text Box 328"/>
            <p:cNvSpPr txBox="1">
              <a:spLocks noChangeArrowheads="1"/>
            </p:cNvSpPr>
            <p:nvPr/>
          </p:nvSpPr>
          <p:spPr bwMode="auto">
            <a:xfrm>
              <a:off x="4781922" y="47479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104" name="Text Box 329"/>
            <p:cNvSpPr txBox="1">
              <a:spLocks noChangeArrowheads="1"/>
            </p:cNvSpPr>
            <p:nvPr/>
          </p:nvSpPr>
          <p:spPr bwMode="auto">
            <a:xfrm>
              <a:off x="7177880" y="4731421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105" name="Group 332"/>
            <p:cNvGrpSpPr/>
            <p:nvPr/>
          </p:nvGrpSpPr>
          <p:grpSpPr bwMode="auto">
            <a:xfrm>
              <a:off x="4710115" y="5029201"/>
              <a:ext cx="928688" cy="1697038"/>
              <a:chOff x="2967" y="3168"/>
              <a:chExt cx="585" cy="1069"/>
            </a:xfrm>
          </p:grpSpPr>
          <p:grpSp>
            <p:nvGrpSpPr>
              <p:cNvPr id="114" name="Group 324"/>
              <p:cNvGrpSpPr/>
              <p:nvPr/>
            </p:nvGrpSpPr>
            <p:grpSpPr bwMode="auto">
              <a:xfrm>
                <a:off x="2967" y="3312"/>
                <a:ext cx="585" cy="925"/>
                <a:chOff x="2967" y="3216"/>
                <a:chExt cx="585" cy="925"/>
              </a:xfrm>
            </p:grpSpPr>
            <p:sp>
              <p:nvSpPr>
                <p:cNvPr id="116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67" y="3853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18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0" y="383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20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5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6" name="Group 333"/>
            <p:cNvGrpSpPr/>
            <p:nvPr/>
          </p:nvGrpSpPr>
          <p:grpSpPr bwMode="auto">
            <a:xfrm>
              <a:off x="6659563" y="5029200"/>
              <a:ext cx="1620839" cy="1978025"/>
              <a:chOff x="4195" y="3168"/>
              <a:chExt cx="1021" cy="1246"/>
            </a:xfrm>
          </p:grpSpPr>
          <p:grpSp>
            <p:nvGrpSpPr>
              <p:cNvPr id="107" name="Group 325"/>
              <p:cNvGrpSpPr/>
              <p:nvPr/>
            </p:nvGrpSpPr>
            <p:grpSpPr bwMode="auto">
              <a:xfrm>
                <a:off x="4195" y="3312"/>
                <a:ext cx="1021" cy="1102"/>
                <a:chOff x="4172" y="3216"/>
                <a:chExt cx="1021" cy="1102"/>
              </a:xfrm>
            </p:grpSpPr>
            <p:sp>
              <p:nvSpPr>
                <p:cNvPr id="109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72" y="3902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10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6" y="3543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11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08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52187" y="1219911"/>
            <a:ext cx="3437399" cy="3468742"/>
            <a:chOff x="4716001" y="1712858"/>
            <a:chExt cx="3437399" cy="3468742"/>
          </a:xfrm>
        </p:grpSpPr>
        <p:grpSp>
          <p:nvGrpSpPr>
            <p:cNvPr id="3" name="Group 226"/>
            <p:cNvGrpSpPr/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10" name="Rectangle 118"/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0   1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1   0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0   1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1   0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 dirty="0"/>
              </a:p>
            </p:txBody>
          </p:sp>
          <p:sp>
            <p:nvSpPr>
              <p:cNvPr id="11" name="Rectangle 119"/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0    1   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0   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1    1        0   1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/>
              </a:p>
            </p:txBody>
          </p:sp>
          <p:sp>
            <p:nvSpPr>
              <p:cNvPr id="12" name="Rectangle 120"/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13" name="Rectangle 121"/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         CP  R  S</a:t>
                </a:r>
                <a:endParaRPr lang="en-US" altLang="zh-CN" sz="2400" dirty="0"/>
              </a:p>
            </p:txBody>
          </p:sp>
          <p:sp>
            <p:nvSpPr>
              <p:cNvPr id="14" name="Line 122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23"/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24"/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25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26"/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27"/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" name="Group 136"/>
              <p:cNvGrpSpPr/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41" name="Line 13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3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13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142"/>
              <p:cNvGrpSpPr/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36" name="Line 14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4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4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148"/>
              <p:cNvGrpSpPr/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31" name="Line 14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5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15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154"/>
              <p:cNvGrpSpPr/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26" name="Line 155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156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Line 157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Line 160"/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 Box 224"/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1*  1*</a:t>
                </a:r>
                <a:endParaRPr lang="en-US" altLang="zh-CN" sz="2000" dirty="0"/>
              </a:p>
            </p:txBody>
          </p:sp>
        </p:grp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" name="Text Box 55"/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7" name="Text Box 55"/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9" name="Text Box 55"/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705903" y="1207441"/>
            <a:ext cx="3296021" cy="3474096"/>
            <a:chOff x="3705903" y="1207441"/>
            <a:chExt cx="3296021" cy="3474096"/>
          </a:xfrm>
        </p:grpSpPr>
        <p:grpSp>
          <p:nvGrpSpPr>
            <p:cNvPr id="630079" name="Group 319"/>
            <p:cNvGrpSpPr/>
            <p:nvPr/>
          </p:nvGrpSpPr>
          <p:grpSpPr bwMode="auto">
            <a:xfrm>
              <a:off x="3725324" y="1446212"/>
              <a:ext cx="3276600" cy="3235325"/>
              <a:chOff x="3216" y="918"/>
              <a:chExt cx="2064" cy="2038"/>
            </a:xfrm>
          </p:grpSpPr>
          <p:sp>
            <p:nvSpPr>
              <p:cNvPr id="630022" name="Rectangle 262"/>
              <p:cNvSpPr>
                <a:spLocks noChangeArrowheads="1"/>
              </p:cNvSpPr>
              <p:nvPr/>
            </p:nvSpPr>
            <p:spPr bwMode="auto">
              <a:xfrm>
                <a:off x="4676" y="1244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0   1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1   0</a:t>
                </a:r>
                <a:endParaRPr lang="en-US" altLang="zh-CN" sz="2400" dirty="0"/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 </a:t>
                </a:r>
                <a:endParaRPr lang="en-US" altLang="zh-CN" sz="2400" dirty="0"/>
              </a:p>
            </p:txBody>
          </p:sp>
          <p:sp>
            <p:nvSpPr>
              <p:cNvPr id="630023" name="Rectangle 263"/>
              <p:cNvSpPr>
                <a:spLocks noChangeArrowheads="1"/>
              </p:cNvSpPr>
              <p:nvPr/>
            </p:nvSpPr>
            <p:spPr bwMode="auto">
              <a:xfrm>
                <a:off x="3216" y="1244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0    1   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0         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1    1        0   1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1    1        0   0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/>
              </a:p>
            </p:txBody>
          </p:sp>
          <p:sp>
            <p:nvSpPr>
              <p:cNvPr id="630024" name="Rectangle 264"/>
              <p:cNvSpPr>
                <a:spLocks noChangeArrowheads="1"/>
              </p:cNvSpPr>
              <p:nvPr/>
            </p:nvSpPr>
            <p:spPr bwMode="auto">
              <a:xfrm>
                <a:off x="4676" y="918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630025" name="Rectangle 265"/>
              <p:cNvSpPr>
                <a:spLocks noChangeArrowheads="1"/>
              </p:cNvSpPr>
              <p:nvPr/>
            </p:nvSpPr>
            <p:spPr bwMode="auto">
              <a:xfrm>
                <a:off x="3216" y="918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          CP  J   K</a:t>
                </a:r>
                <a:endParaRPr lang="en-US" altLang="zh-CN" sz="2400"/>
              </a:p>
            </p:txBody>
          </p:sp>
          <p:sp>
            <p:nvSpPr>
              <p:cNvPr id="73750" name="Line 266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1" name="Line 267"/>
              <p:cNvSpPr>
                <a:spLocks noChangeShapeType="1"/>
              </p:cNvSpPr>
              <p:nvPr/>
            </p:nvSpPr>
            <p:spPr bwMode="auto">
              <a:xfrm>
                <a:off x="3216" y="1244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2" name="Line 268"/>
              <p:cNvSpPr>
                <a:spLocks noChangeShapeType="1"/>
              </p:cNvSpPr>
              <p:nvPr/>
            </p:nvSpPr>
            <p:spPr bwMode="auto">
              <a:xfrm>
                <a:off x="3216" y="295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3" name="Line 269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4" name="Line 270"/>
              <p:cNvSpPr>
                <a:spLocks noChangeShapeType="1"/>
              </p:cNvSpPr>
              <p:nvPr/>
            </p:nvSpPr>
            <p:spPr bwMode="auto">
              <a:xfrm>
                <a:off x="4676" y="918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5" name="Line 271"/>
              <p:cNvSpPr>
                <a:spLocks noChangeShapeType="1"/>
              </p:cNvSpPr>
              <p:nvPr/>
            </p:nvSpPr>
            <p:spPr bwMode="auto">
              <a:xfrm>
                <a:off x="5280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3760" name="Group 280"/>
              <p:cNvGrpSpPr/>
              <p:nvPr/>
            </p:nvGrpSpPr>
            <p:grpSpPr bwMode="auto">
              <a:xfrm>
                <a:off x="3727" y="1878"/>
                <a:ext cx="385" cy="96"/>
                <a:chOff x="3360" y="3552"/>
                <a:chExt cx="385" cy="96"/>
              </a:xfrm>
            </p:grpSpPr>
            <p:sp>
              <p:nvSpPr>
                <p:cNvPr id="73780" name="Line 281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1" name="Line 282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2" name="Line 283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3" name="Line 284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84" name="Line 285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761" name="Group 286"/>
              <p:cNvGrpSpPr/>
              <p:nvPr/>
            </p:nvGrpSpPr>
            <p:grpSpPr bwMode="auto">
              <a:xfrm>
                <a:off x="3727" y="2166"/>
                <a:ext cx="385" cy="96"/>
                <a:chOff x="3360" y="3552"/>
                <a:chExt cx="385" cy="96"/>
              </a:xfrm>
            </p:grpSpPr>
            <p:sp>
              <p:nvSpPr>
                <p:cNvPr id="73775" name="Line 28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6" name="Line 28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7" name="Line 28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8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9" name="Line 29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762" name="Group 292"/>
              <p:cNvGrpSpPr/>
              <p:nvPr/>
            </p:nvGrpSpPr>
            <p:grpSpPr bwMode="auto">
              <a:xfrm>
                <a:off x="3727" y="2454"/>
                <a:ext cx="385" cy="96"/>
                <a:chOff x="3360" y="3552"/>
                <a:chExt cx="385" cy="96"/>
              </a:xfrm>
            </p:grpSpPr>
            <p:sp>
              <p:nvSpPr>
                <p:cNvPr id="73770" name="Line 29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1" name="Line 29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2" name="Line 29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3" name="Line 29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74" name="Line 29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763" name="Group 298"/>
              <p:cNvGrpSpPr/>
              <p:nvPr/>
            </p:nvGrpSpPr>
            <p:grpSpPr bwMode="auto">
              <a:xfrm>
                <a:off x="3727" y="2694"/>
                <a:ext cx="385" cy="96"/>
                <a:chOff x="3360" y="3552"/>
                <a:chExt cx="385" cy="96"/>
              </a:xfrm>
            </p:grpSpPr>
            <p:sp>
              <p:nvSpPr>
                <p:cNvPr id="73765" name="Line 29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6" name="Line 30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7" name="Line 30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8" name="Line 30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9" name="Line 30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3764" name="Line 304"/>
              <p:cNvSpPr>
                <a:spLocks noChangeShapeType="1"/>
              </p:cNvSpPr>
              <p:nvPr/>
            </p:nvSpPr>
            <p:spPr bwMode="auto">
              <a:xfrm flipH="1">
                <a:off x="3216" y="1782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" name="Text Box 55"/>
            <p:cNvSpPr txBox="1">
              <a:spLocks noChangeArrowheads="1"/>
            </p:cNvSpPr>
            <p:nvPr/>
          </p:nvSpPr>
          <p:spPr bwMode="auto">
            <a:xfrm>
              <a:off x="3705903" y="1207441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7" name="Text Box 55"/>
            <p:cNvSpPr txBox="1">
              <a:spLocks noChangeArrowheads="1"/>
            </p:cNvSpPr>
            <p:nvPr/>
          </p:nvSpPr>
          <p:spPr bwMode="auto">
            <a:xfrm>
              <a:off x="4212124" y="1207497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auto">
            <a:xfrm>
              <a:off x="6540706" y="123184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6071929" y="1517558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24199" y="5186323"/>
            <a:ext cx="1040670" cy="1004027"/>
            <a:chOff x="3646055" y="5562600"/>
            <a:chExt cx="1040670" cy="1004027"/>
          </a:xfrm>
        </p:grpSpPr>
        <p:sp>
          <p:nvSpPr>
            <p:cNvPr id="53" name="Text Box 180"/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R=KQ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54" name="Text Box 180"/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S=JQ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sp>
        <p:nvSpPr>
          <p:cNvPr id="55" name="Rectangle 307"/>
          <p:cNvSpPr>
            <a:spLocks noChangeArrowheads="1"/>
          </p:cNvSpPr>
          <p:nvPr/>
        </p:nvSpPr>
        <p:spPr bwMode="auto">
          <a:xfrm>
            <a:off x="6415119" y="5160134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_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Q=1</a:t>
            </a:r>
            <a:r>
              <a:rPr lang="zh-CN" altLang="en-US" sz="2000" dirty="0"/>
              <a:t>，</a:t>
            </a:r>
            <a:r>
              <a:rPr lang="en-US" altLang="zh-CN" sz="2000" dirty="0"/>
              <a:t>Q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endParaRPr lang="en-US" altLang="zh-CN" sz="2000" dirty="0"/>
          </a:p>
        </p:txBody>
      </p:sp>
      <p:sp>
        <p:nvSpPr>
          <p:cNvPr id="56" name="Rectangle 307"/>
          <p:cNvSpPr>
            <a:spLocks noChangeArrowheads="1"/>
          </p:cNvSpPr>
          <p:nvPr/>
        </p:nvSpPr>
        <p:spPr bwMode="auto">
          <a:xfrm>
            <a:off x="6413030" y="5540979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_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Q=1</a:t>
            </a:r>
            <a:r>
              <a:rPr lang="zh-CN" altLang="en-US" sz="2000" dirty="0"/>
              <a:t>，</a:t>
            </a:r>
            <a:r>
              <a:rPr lang="en-US" altLang="zh-CN" sz="2000" dirty="0"/>
              <a:t>Q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endParaRPr lang="en-US" altLang="zh-CN" sz="2000" dirty="0"/>
          </a:p>
        </p:txBody>
      </p:sp>
      <p:sp>
        <p:nvSpPr>
          <p:cNvPr id="57" name="Rectangle 307"/>
          <p:cNvSpPr>
            <a:spLocks noChangeArrowheads="1"/>
          </p:cNvSpPr>
          <p:nvPr/>
        </p:nvSpPr>
        <p:spPr bwMode="auto">
          <a:xfrm>
            <a:off x="5571939" y="6042555"/>
            <a:ext cx="1816100" cy="52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          _</a:t>
            </a:r>
            <a:endParaRPr lang="en-US" altLang="zh-CN" sz="2000" dirty="0"/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/>
              <a:t>Q=1</a:t>
            </a:r>
            <a:r>
              <a:rPr lang="zh-CN" altLang="en-US" sz="2000" dirty="0"/>
              <a:t>，</a:t>
            </a:r>
            <a:r>
              <a:rPr lang="en-US" altLang="zh-CN" sz="2000" dirty="0"/>
              <a:t>Q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endParaRPr lang="en-US" altLang="zh-CN" sz="2000" dirty="0"/>
          </a:p>
        </p:txBody>
      </p:sp>
      <p:sp>
        <p:nvSpPr>
          <p:cNvPr id="630078" name="Rectangle 318"/>
          <p:cNvSpPr>
            <a:spLocks noChangeArrowheads="1"/>
          </p:cNvSpPr>
          <p:nvPr/>
        </p:nvSpPr>
        <p:spPr bwMode="auto">
          <a:xfrm>
            <a:off x="6151327" y="2865167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0   1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1" name="Rectangle 109"/>
          <p:cNvSpPr>
            <a:spLocks noChangeArrowheads="1"/>
          </p:cNvSpPr>
          <p:nvPr/>
        </p:nvSpPr>
        <p:spPr bwMode="auto">
          <a:xfrm>
            <a:off x="6138395" y="3281091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1   0</a:t>
            </a:r>
            <a:endParaRPr lang="en-US" altLang="zh-CN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066" grpId="0" autoUpdateAnimBg="0"/>
      <p:bldP spid="630067" grpId="0" autoUpdateAnimBg="0"/>
      <p:bldP spid="630068" grpId="0" autoUpdateAnimBg="0"/>
      <p:bldP spid="630071" grpId="0" autoUpdateAnimBg="0"/>
      <p:bldP spid="630073" grpId="0" autoUpdateAnimBg="0"/>
      <p:bldP spid="55" grpId="0" autoUpdateAnimBg="0"/>
      <p:bldP spid="56" grpId="0" autoUpdateAnimBg="0"/>
      <p:bldP spid="57" grpId="0" autoUpdateAnimBg="0"/>
      <p:bldP spid="5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6ECB33-8E8F-442F-AF4A-D8FF9B3D0969}" type="slidenum">
              <a:rPr lang="en-US" altLang="zh-CN"/>
            </a:fld>
            <a:endParaRPr lang="en-US" altLang="zh-CN"/>
          </a:p>
        </p:txBody>
      </p:sp>
      <p:grpSp>
        <p:nvGrpSpPr>
          <p:cNvPr id="75780" name="Group 260"/>
          <p:cNvGrpSpPr/>
          <p:nvPr/>
        </p:nvGrpSpPr>
        <p:grpSpPr bwMode="auto">
          <a:xfrm>
            <a:off x="381000" y="152400"/>
            <a:ext cx="4495800" cy="6400800"/>
            <a:chOff x="2736" y="192"/>
            <a:chExt cx="2832" cy="4032"/>
          </a:xfrm>
        </p:grpSpPr>
        <p:sp>
          <p:nvSpPr>
            <p:cNvPr id="75782" name="Rectangle 49"/>
            <p:cNvSpPr>
              <a:spLocks noChangeArrowheads="1"/>
            </p:cNvSpPr>
            <p:nvPr/>
          </p:nvSpPr>
          <p:spPr bwMode="auto">
            <a:xfrm>
              <a:off x="3168" y="192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5783" name="Group 50"/>
            <p:cNvGrpSpPr/>
            <p:nvPr/>
          </p:nvGrpSpPr>
          <p:grpSpPr bwMode="auto">
            <a:xfrm>
              <a:off x="3168" y="3312"/>
              <a:ext cx="480" cy="912"/>
              <a:chOff x="3168" y="3216"/>
              <a:chExt cx="480" cy="912"/>
            </a:xfrm>
          </p:grpSpPr>
          <p:sp>
            <p:nvSpPr>
              <p:cNvPr id="75881" name="Line 51"/>
              <p:cNvSpPr>
                <a:spLocks noChangeShapeType="1"/>
              </p:cNvSpPr>
              <p:nvPr/>
            </p:nvSpPr>
            <p:spPr bwMode="auto">
              <a:xfrm>
                <a:off x="3456" y="34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82" name="Text Box 52"/>
              <p:cNvSpPr txBox="1">
                <a:spLocks noChangeArrowheads="1"/>
              </p:cNvSpPr>
              <p:nvPr/>
            </p:nvSpPr>
            <p:spPr bwMode="auto">
              <a:xfrm>
                <a:off x="3168" y="38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K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5883" name="Line 53"/>
              <p:cNvSpPr>
                <a:spLocks noChangeShapeType="1"/>
              </p:cNvSpPr>
              <p:nvPr/>
            </p:nvSpPr>
            <p:spPr bwMode="auto">
              <a:xfrm flipV="1">
                <a:off x="3312" y="340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84" name="Rectangle 54"/>
              <p:cNvSpPr>
                <a:spLocks noChangeArrowheads="1"/>
              </p:cNvSpPr>
              <p:nvPr/>
            </p:nvSpPr>
            <p:spPr bwMode="auto">
              <a:xfrm>
                <a:off x="3389" y="3840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5885" name="Rectangle 55"/>
              <p:cNvSpPr>
                <a:spLocks noChangeArrowheads="1"/>
              </p:cNvSpPr>
              <p:nvPr/>
            </p:nvSpPr>
            <p:spPr bwMode="auto">
              <a:xfrm>
                <a:off x="3216" y="3216"/>
                <a:ext cx="3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784" name="Group 56"/>
            <p:cNvGrpSpPr/>
            <p:nvPr/>
          </p:nvGrpSpPr>
          <p:grpSpPr bwMode="auto">
            <a:xfrm>
              <a:off x="4393" y="3312"/>
              <a:ext cx="455" cy="912"/>
              <a:chOff x="4393" y="3216"/>
              <a:chExt cx="455" cy="912"/>
            </a:xfrm>
          </p:grpSpPr>
          <p:sp>
            <p:nvSpPr>
              <p:cNvPr id="75876" name="Text Box 57"/>
              <p:cNvSpPr txBox="1">
                <a:spLocks noChangeArrowheads="1"/>
              </p:cNvSpPr>
              <p:nvPr/>
            </p:nvSpPr>
            <p:spPr bwMode="auto">
              <a:xfrm>
                <a:off x="4393" y="3840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J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5877" name="Rectangle 58"/>
              <p:cNvSpPr>
                <a:spLocks noChangeArrowheads="1"/>
              </p:cNvSpPr>
              <p:nvPr/>
            </p:nvSpPr>
            <p:spPr bwMode="auto">
              <a:xfrm>
                <a:off x="4560" y="3600"/>
                <a:ext cx="28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75878" name="Line 59"/>
              <p:cNvSpPr>
                <a:spLocks noChangeShapeType="1"/>
              </p:cNvSpPr>
              <p:nvPr/>
            </p:nvSpPr>
            <p:spPr bwMode="auto">
              <a:xfrm>
                <a:off x="4656" y="34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9" name="Line 60"/>
              <p:cNvSpPr>
                <a:spLocks noChangeShapeType="1"/>
              </p:cNvSpPr>
              <p:nvPr/>
            </p:nvSpPr>
            <p:spPr bwMode="auto">
              <a:xfrm flipV="1">
                <a:off x="4512" y="340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80" name="Rectangle 61"/>
              <p:cNvSpPr>
                <a:spLocks noChangeArrowheads="1"/>
              </p:cNvSpPr>
              <p:nvPr/>
            </p:nvSpPr>
            <p:spPr bwMode="auto">
              <a:xfrm>
                <a:off x="4416" y="3216"/>
                <a:ext cx="3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5785" name="Line 63"/>
            <p:cNvSpPr>
              <a:spLocks noChangeShapeType="1"/>
            </p:cNvSpPr>
            <p:nvPr/>
          </p:nvSpPr>
          <p:spPr bwMode="auto">
            <a:xfrm flipV="1">
              <a:off x="3504" y="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6" name="Line 64"/>
            <p:cNvSpPr>
              <a:spLocks noChangeShapeType="1"/>
            </p:cNvSpPr>
            <p:nvPr/>
          </p:nvSpPr>
          <p:spPr bwMode="auto">
            <a:xfrm flipH="1" flipV="1">
              <a:off x="4464" y="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7" name="Line 65"/>
            <p:cNvSpPr>
              <a:spLocks noChangeShapeType="1"/>
            </p:cNvSpPr>
            <p:nvPr/>
          </p:nvSpPr>
          <p:spPr bwMode="auto">
            <a:xfrm>
              <a:off x="3508" y="607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8" name="Line 66"/>
            <p:cNvSpPr>
              <a:spLocks noChangeShapeType="1"/>
            </p:cNvSpPr>
            <p:nvPr/>
          </p:nvSpPr>
          <p:spPr bwMode="auto">
            <a:xfrm flipH="1">
              <a:off x="4170" y="607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Line 67"/>
            <p:cNvSpPr>
              <a:spLocks noChangeShapeType="1"/>
            </p:cNvSpPr>
            <p:nvPr/>
          </p:nvSpPr>
          <p:spPr bwMode="auto">
            <a:xfrm flipH="1">
              <a:off x="3840" y="624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0" name="Line 68"/>
            <p:cNvSpPr>
              <a:spLocks noChangeShapeType="1"/>
            </p:cNvSpPr>
            <p:nvPr/>
          </p:nvSpPr>
          <p:spPr bwMode="auto">
            <a:xfrm>
              <a:off x="3798" y="607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69"/>
            <p:cNvSpPr>
              <a:spLocks noChangeShapeType="1"/>
            </p:cNvSpPr>
            <p:nvPr/>
          </p:nvSpPr>
          <p:spPr bwMode="auto">
            <a:xfrm flipV="1">
              <a:off x="4176" y="129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70"/>
            <p:cNvSpPr>
              <a:spLocks noChangeShapeType="1"/>
            </p:cNvSpPr>
            <p:nvPr/>
          </p:nvSpPr>
          <p:spPr bwMode="auto">
            <a:xfrm flipH="1" flipV="1">
              <a:off x="3648" y="129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71"/>
            <p:cNvSpPr>
              <a:spLocks noChangeShapeType="1"/>
            </p:cNvSpPr>
            <p:nvPr/>
          </p:nvSpPr>
          <p:spPr bwMode="auto">
            <a:xfrm>
              <a:off x="3648" y="1824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72"/>
            <p:cNvSpPr>
              <a:spLocks noChangeShapeType="1"/>
            </p:cNvSpPr>
            <p:nvPr/>
          </p:nvSpPr>
          <p:spPr bwMode="auto">
            <a:xfrm>
              <a:off x="4320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5" name="Line 73"/>
            <p:cNvSpPr>
              <a:spLocks noChangeShapeType="1"/>
            </p:cNvSpPr>
            <p:nvPr/>
          </p:nvSpPr>
          <p:spPr bwMode="auto">
            <a:xfrm flipV="1">
              <a:off x="4464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6" name="Line 74"/>
            <p:cNvSpPr>
              <a:spLocks noChangeShapeType="1"/>
            </p:cNvSpPr>
            <p:nvPr/>
          </p:nvSpPr>
          <p:spPr bwMode="auto">
            <a:xfrm flipV="1">
              <a:off x="3504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7" name="Line 75"/>
            <p:cNvSpPr>
              <a:spLocks noChangeShapeType="1"/>
            </p:cNvSpPr>
            <p:nvPr/>
          </p:nvSpPr>
          <p:spPr bwMode="auto">
            <a:xfrm>
              <a:off x="3600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8" name="Line 76"/>
            <p:cNvSpPr>
              <a:spLocks noChangeShapeType="1"/>
            </p:cNvSpPr>
            <p:nvPr/>
          </p:nvSpPr>
          <p:spPr bwMode="auto">
            <a:xfrm>
              <a:off x="3600" y="3216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9" name="Line 77"/>
            <p:cNvSpPr>
              <a:spLocks noChangeShapeType="1"/>
            </p:cNvSpPr>
            <p:nvPr/>
          </p:nvSpPr>
          <p:spPr bwMode="auto">
            <a:xfrm>
              <a:off x="4368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0" name="Line 78"/>
            <p:cNvSpPr>
              <a:spLocks noChangeShapeType="1"/>
            </p:cNvSpPr>
            <p:nvPr/>
          </p:nvSpPr>
          <p:spPr bwMode="auto">
            <a:xfrm flipH="1">
              <a:off x="5328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1" name="Line 79"/>
            <p:cNvSpPr>
              <a:spLocks noChangeShapeType="1"/>
            </p:cNvSpPr>
            <p:nvPr/>
          </p:nvSpPr>
          <p:spPr bwMode="auto">
            <a:xfrm flipV="1">
              <a:off x="5328" y="2352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2" name="Line 80"/>
            <p:cNvSpPr>
              <a:spLocks noChangeShapeType="1"/>
            </p:cNvSpPr>
            <p:nvPr/>
          </p:nvSpPr>
          <p:spPr bwMode="auto">
            <a:xfrm>
              <a:off x="3984" y="321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3" name="Text Box 81"/>
            <p:cNvSpPr txBox="1">
              <a:spLocks noChangeArrowheads="1"/>
            </p:cNvSpPr>
            <p:nvPr/>
          </p:nvSpPr>
          <p:spPr bwMode="auto">
            <a:xfrm>
              <a:off x="3840" y="350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75804" name="Group 82"/>
            <p:cNvGrpSpPr/>
            <p:nvPr/>
          </p:nvGrpSpPr>
          <p:grpSpPr bwMode="auto">
            <a:xfrm>
              <a:off x="3264" y="768"/>
              <a:ext cx="480" cy="336"/>
              <a:chOff x="720" y="1872"/>
              <a:chExt cx="480" cy="336"/>
            </a:xfrm>
          </p:grpSpPr>
          <p:sp>
            <p:nvSpPr>
              <p:cNvPr id="75874" name="Rectangle 8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75" name="Oval 8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805" name="Group 85"/>
            <p:cNvGrpSpPr/>
            <p:nvPr/>
          </p:nvGrpSpPr>
          <p:grpSpPr bwMode="auto">
            <a:xfrm>
              <a:off x="3264" y="1296"/>
              <a:ext cx="480" cy="336"/>
              <a:chOff x="720" y="1872"/>
              <a:chExt cx="480" cy="336"/>
            </a:xfrm>
          </p:grpSpPr>
          <p:sp>
            <p:nvSpPr>
              <p:cNvPr id="75872" name="Rectangle 8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73" name="Oval 8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806" name="Group 88"/>
            <p:cNvGrpSpPr/>
            <p:nvPr/>
          </p:nvGrpSpPr>
          <p:grpSpPr bwMode="auto">
            <a:xfrm>
              <a:off x="4224" y="1296"/>
              <a:ext cx="480" cy="336"/>
              <a:chOff x="720" y="1872"/>
              <a:chExt cx="480" cy="336"/>
            </a:xfrm>
          </p:grpSpPr>
          <p:sp>
            <p:nvSpPr>
              <p:cNvPr id="75870" name="Rectangle 89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71" name="Oval 90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807" name="Group 91"/>
            <p:cNvGrpSpPr/>
            <p:nvPr/>
          </p:nvGrpSpPr>
          <p:grpSpPr bwMode="auto">
            <a:xfrm>
              <a:off x="4224" y="768"/>
              <a:ext cx="480" cy="336"/>
              <a:chOff x="720" y="1872"/>
              <a:chExt cx="480" cy="336"/>
            </a:xfrm>
          </p:grpSpPr>
          <p:sp>
            <p:nvSpPr>
              <p:cNvPr id="75868" name="Rectangle 92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69" name="Oval 93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5808" name="Line 94"/>
            <p:cNvSpPr>
              <a:spLocks noChangeShapeType="1"/>
            </p:cNvSpPr>
            <p:nvPr/>
          </p:nvSpPr>
          <p:spPr bwMode="auto">
            <a:xfrm flipV="1">
              <a:off x="3504" y="1632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9" name="Line 95"/>
            <p:cNvSpPr>
              <a:spLocks noChangeShapeType="1"/>
            </p:cNvSpPr>
            <p:nvPr/>
          </p:nvSpPr>
          <p:spPr bwMode="auto">
            <a:xfrm flipH="1" flipV="1">
              <a:off x="4464" y="163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0" name="Line 96"/>
            <p:cNvSpPr>
              <a:spLocks noChangeShapeType="1"/>
            </p:cNvSpPr>
            <p:nvPr/>
          </p:nvSpPr>
          <p:spPr bwMode="auto">
            <a:xfrm>
              <a:off x="3508" y="195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1" name="Line 97"/>
            <p:cNvSpPr>
              <a:spLocks noChangeShapeType="1"/>
            </p:cNvSpPr>
            <p:nvPr/>
          </p:nvSpPr>
          <p:spPr bwMode="auto">
            <a:xfrm flipH="1" flipV="1">
              <a:off x="4176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2" name="Line 98"/>
            <p:cNvSpPr>
              <a:spLocks noChangeShapeType="1"/>
            </p:cNvSpPr>
            <p:nvPr/>
          </p:nvSpPr>
          <p:spPr bwMode="auto">
            <a:xfrm flipH="1">
              <a:off x="3840" y="1959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3" name="Line 99"/>
            <p:cNvSpPr>
              <a:spLocks noChangeShapeType="1"/>
            </p:cNvSpPr>
            <p:nvPr/>
          </p:nvSpPr>
          <p:spPr bwMode="auto">
            <a:xfrm>
              <a:off x="3798" y="1959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4" name="Line 100"/>
            <p:cNvSpPr>
              <a:spLocks noChangeShapeType="1"/>
            </p:cNvSpPr>
            <p:nvPr/>
          </p:nvSpPr>
          <p:spPr bwMode="auto">
            <a:xfrm flipV="1">
              <a:off x="4176" y="25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5" name="Line 101"/>
            <p:cNvSpPr>
              <a:spLocks noChangeShapeType="1"/>
            </p:cNvSpPr>
            <p:nvPr/>
          </p:nvSpPr>
          <p:spPr bwMode="auto">
            <a:xfrm flipH="1" flipV="1">
              <a:off x="3648" y="25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6" name="Line 102"/>
            <p:cNvSpPr>
              <a:spLocks noChangeShapeType="1"/>
            </p:cNvSpPr>
            <p:nvPr/>
          </p:nvSpPr>
          <p:spPr bwMode="auto">
            <a:xfrm flipH="1" flipV="1">
              <a:off x="3648" y="24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7" name="Line 103"/>
            <p:cNvSpPr>
              <a:spLocks noChangeShapeType="1"/>
            </p:cNvSpPr>
            <p:nvPr/>
          </p:nvSpPr>
          <p:spPr bwMode="auto">
            <a:xfrm flipV="1">
              <a:off x="4368" y="23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8" name="Line 104"/>
            <p:cNvSpPr>
              <a:spLocks noChangeShapeType="1"/>
            </p:cNvSpPr>
            <p:nvPr/>
          </p:nvSpPr>
          <p:spPr bwMode="auto">
            <a:xfrm flipV="1">
              <a:off x="4464" y="23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9" name="Line 105"/>
            <p:cNvSpPr>
              <a:spLocks noChangeShapeType="1"/>
            </p:cNvSpPr>
            <p:nvPr/>
          </p:nvSpPr>
          <p:spPr bwMode="auto">
            <a:xfrm flipV="1">
              <a:off x="3504" y="2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20" name="Group 106"/>
            <p:cNvGrpSpPr/>
            <p:nvPr/>
          </p:nvGrpSpPr>
          <p:grpSpPr bwMode="auto">
            <a:xfrm>
              <a:off x="3264" y="2072"/>
              <a:ext cx="480" cy="336"/>
              <a:chOff x="720" y="1872"/>
              <a:chExt cx="480" cy="336"/>
            </a:xfrm>
          </p:grpSpPr>
          <p:sp>
            <p:nvSpPr>
              <p:cNvPr id="75866" name="Rectangle 10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67" name="Oval 10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821" name="Group 109"/>
            <p:cNvGrpSpPr/>
            <p:nvPr/>
          </p:nvGrpSpPr>
          <p:grpSpPr bwMode="auto">
            <a:xfrm>
              <a:off x="3264" y="2552"/>
              <a:ext cx="480" cy="336"/>
              <a:chOff x="720" y="1872"/>
              <a:chExt cx="480" cy="336"/>
            </a:xfrm>
          </p:grpSpPr>
          <p:sp>
            <p:nvSpPr>
              <p:cNvPr id="75864" name="Rectangle 11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65" name="Oval 11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822" name="Group 112"/>
            <p:cNvGrpSpPr/>
            <p:nvPr/>
          </p:nvGrpSpPr>
          <p:grpSpPr bwMode="auto">
            <a:xfrm>
              <a:off x="4224" y="2552"/>
              <a:ext cx="480" cy="336"/>
              <a:chOff x="720" y="1872"/>
              <a:chExt cx="480" cy="336"/>
            </a:xfrm>
          </p:grpSpPr>
          <p:sp>
            <p:nvSpPr>
              <p:cNvPr id="75862" name="Rectangle 11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63" name="Oval 11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5823" name="Group 115"/>
            <p:cNvGrpSpPr/>
            <p:nvPr/>
          </p:nvGrpSpPr>
          <p:grpSpPr bwMode="auto">
            <a:xfrm>
              <a:off x="4224" y="2024"/>
              <a:ext cx="480" cy="336"/>
              <a:chOff x="720" y="1872"/>
              <a:chExt cx="480" cy="336"/>
            </a:xfrm>
          </p:grpSpPr>
          <p:sp>
            <p:nvSpPr>
              <p:cNvPr id="75860" name="Rectangle 11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61" name="Oval 11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5824" name="Line 118"/>
            <p:cNvSpPr>
              <a:spLocks noChangeShapeType="1"/>
            </p:cNvSpPr>
            <p:nvPr/>
          </p:nvSpPr>
          <p:spPr bwMode="auto">
            <a:xfrm>
              <a:off x="3648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25" name="Group 119"/>
            <p:cNvGrpSpPr/>
            <p:nvPr/>
          </p:nvGrpSpPr>
          <p:grpSpPr bwMode="auto">
            <a:xfrm>
              <a:off x="5088" y="2016"/>
              <a:ext cx="480" cy="336"/>
              <a:chOff x="720" y="1872"/>
              <a:chExt cx="480" cy="336"/>
            </a:xfrm>
          </p:grpSpPr>
          <p:sp>
            <p:nvSpPr>
              <p:cNvPr id="75858" name="Rectangle 12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59" name="Oval 12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75826" name="Line 122"/>
            <p:cNvSpPr>
              <a:spLocks noChangeShapeType="1"/>
            </p:cNvSpPr>
            <p:nvPr/>
          </p:nvSpPr>
          <p:spPr bwMode="auto">
            <a:xfrm flipV="1">
              <a:off x="3648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7" name="Line 123"/>
            <p:cNvSpPr>
              <a:spLocks noChangeShapeType="1"/>
            </p:cNvSpPr>
            <p:nvPr/>
          </p:nvSpPr>
          <p:spPr bwMode="auto">
            <a:xfrm flipV="1">
              <a:off x="4368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8" name="Oval 124"/>
            <p:cNvSpPr>
              <a:spLocks noChangeArrowheads="1"/>
            </p:cNvSpPr>
            <p:nvPr/>
          </p:nvSpPr>
          <p:spPr bwMode="auto">
            <a:xfrm>
              <a:off x="4272" y="177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5829" name="Oval 125"/>
            <p:cNvSpPr>
              <a:spLocks noChangeArrowheads="1"/>
            </p:cNvSpPr>
            <p:nvPr/>
          </p:nvSpPr>
          <p:spPr bwMode="auto">
            <a:xfrm>
              <a:off x="4320" y="316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5830" name="Oval 126"/>
            <p:cNvSpPr>
              <a:spLocks noChangeArrowheads="1"/>
            </p:cNvSpPr>
            <p:nvPr/>
          </p:nvSpPr>
          <p:spPr bwMode="auto">
            <a:xfrm>
              <a:off x="3936" y="316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5831" name="Oval 127"/>
            <p:cNvSpPr>
              <a:spLocks noChangeArrowheads="1"/>
            </p:cNvSpPr>
            <p:nvPr/>
          </p:nvSpPr>
          <p:spPr bwMode="auto">
            <a:xfrm>
              <a:off x="4416" y="57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5832" name="Oval 128"/>
            <p:cNvSpPr>
              <a:spLocks noChangeArrowheads="1"/>
            </p:cNvSpPr>
            <p:nvPr/>
          </p:nvSpPr>
          <p:spPr bwMode="auto">
            <a:xfrm>
              <a:off x="3456" y="57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5833" name="Rectangle 129"/>
            <p:cNvSpPr>
              <a:spLocks noChangeArrowheads="1"/>
            </p:cNvSpPr>
            <p:nvPr/>
          </p:nvSpPr>
          <p:spPr bwMode="auto">
            <a:xfrm>
              <a:off x="4512" y="432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75834" name="Line 130"/>
            <p:cNvSpPr>
              <a:spLocks noChangeShapeType="1"/>
            </p:cNvSpPr>
            <p:nvPr/>
          </p:nvSpPr>
          <p:spPr bwMode="auto">
            <a:xfrm flipV="1">
              <a:off x="3408" y="288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5" name="Line 131"/>
            <p:cNvSpPr>
              <a:spLocks noChangeShapeType="1"/>
            </p:cNvSpPr>
            <p:nvPr/>
          </p:nvSpPr>
          <p:spPr bwMode="auto">
            <a:xfrm flipV="1">
              <a:off x="4608" y="288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36" name="Group 238"/>
            <p:cNvGrpSpPr/>
            <p:nvPr/>
          </p:nvGrpSpPr>
          <p:grpSpPr bwMode="auto">
            <a:xfrm>
              <a:off x="2736" y="1104"/>
              <a:ext cx="1536" cy="1872"/>
              <a:chOff x="1392" y="1536"/>
              <a:chExt cx="1536" cy="1872"/>
            </a:xfrm>
          </p:grpSpPr>
          <p:sp>
            <p:nvSpPr>
              <p:cNvPr id="75849" name="Line 240"/>
              <p:cNvSpPr>
                <a:spLocks noChangeShapeType="1"/>
              </p:cNvSpPr>
              <p:nvPr/>
            </p:nvSpPr>
            <p:spPr bwMode="auto">
              <a:xfrm>
                <a:off x="2016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0" name="Line 241"/>
              <p:cNvSpPr>
                <a:spLocks noChangeShapeType="1"/>
              </p:cNvSpPr>
              <p:nvPr/>
            </p:nvSpPr>
            <p:spPr bwMode="auto">
              <a:xfrm flipH="1">
                <a:off x="1392" y="163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1" name="Line 242"/>
              <p:cNvSpPr>
                <a:spLocks noChangeShapeType="1"/>
              </p:cNvSpPr>
              <p:nvPr/>
            </p:nvSpPr>
            <p:spPr bwMode="auto">
              <a:xfrm>
                <a:off x="1584" y="1680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2" name="Line 243"/>
              <p:cNvSpPr>
                <a:spLocks noChangeShapeType="1"/>
              </p:cNvSpPr>
              <p:nvPr/>
            </p:nvSpPr>
            <p:spPr bwMode="auto">
              <a:xfrm>
                <a:off x="1584" y="340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3" name="Line 244"/>
              <p:cNvSpPr>
                <a:spLocks noChangeShapeType="1"/>
              </p:cNvSpPr>
              <p:nvPr/>
            </p:nvSpPr>
            <p:spPr bwMode="auto">
              <a:xfrm flipV="1">
                <a:off x="2928" y="33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4" name="Line 245"/>
              <p:cNvSpPr>
                <a:spLocks noChangeShapeType="1"/>
              </p:cNvSpPr>
              <p:nvPr/>
            </p:nvSpPr>
            <p:spPr bwMode="auto">
              <a:xfrm flipH="1">
                <a:off x="1584" y="297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5" name="Oval 246"/>
              <p:cNvSpPr>
                <a:spLocks noChangeArrowheads="1"/>
              </p:cNvSpPr>
              <p:nvPr/>
            </p:nvSpPr>
            <p:spPr bwMode="auto">
              <a:xfrm>
                <a:off x="1536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56" name="Oval 247"/>
              <p:cNvSpPr>
                <a:spLocks noChangeArrowheads="1"/>
              </p:cNvSpPr>
              <p:nvPr/>
            </p:nvSpPr>
            <p:spPr bwMode="auto">
              <a:xfrm>
                <a:off x="1536" y="15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57" name="Line 248"/>
              <p:cNvSpPr>
                <a:spLocks noChangeShapeType="1"/>
              </p:cNvSpPr>
              <p:nvPr/>
            </p:nvSpPr>
            <p:spPr bwMode="auto">
              <a:xfrm>
                <a:off x="1968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5837" name="Group 249"/>
            <p:cNvGrpSpPr/>
            <p:nvPr/>
          </p:nvGrpSpPr>
          <p:grpSpPr bwMode="auto">
            <a:xfrm>
              <a:off x="3696" y="1104"/>
              <a:ext cx="1632" cy="2016"/>
              <a:chOff x="2304" y="1536"/>
              <a:chExt cx="1632" cy="2016"/>
            </a:xfrm>
          </p:grpSpPr>
          <p:sp>
            <p:nvSpPr>
              <p:cNvPr id="75839" name="Line 251"/>
              <p:cNvSpPr>
                <a:spLocks noChangeShapeType="1"/>
              </p:cNvSpPr>
              <p:nvPr/>
            </p:nvSpPr>
            <p:spPr bwMode="auto">
              <a:xfrm flipH="1">
                <a:off x="3216" y="163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0" name="Line 252"/>
              <p:cNvSpPr>
                <a:spLocks noChangeShapeType="1"/>
              </p:cNvSpPr>
              <p:nvPr/>
            </p:nvSpPr>
            <p:spPr bwMode="auto">
              <a:xfrm flipV="1">
                <a:off x="3216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1" name="Line 253"/>
              <p:cNvSpPr>
                <a:spLocks noChangeShapeType="1"/>
              </p:cNvSpPr>
              <p:nvPr/>
            </p:nvSpPr>
            <p:spPr bwMode="auto">
              <a:xfrm>
                <a:off x="3504" y="1632"/>
                <a:ext cx="0" cy="19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2" name="Line 254"/>
              <p:cNvSpPr>
                <a:spLocks noChangeShapeType="1"/>
              </p:cNvSpPr>
              <p:nvPr/>
            </p:nvSpPr>
            <p:spPr bwMode="auto">
              <a:xfrm flipH="1">
                <a:off x="2304" y="3552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3" name="Line 255"/>
              <p:cNvSpPr>
                <a:spLocks noChangeShapeType="1"/>
              </p:cNvSpPr>
              <p:nvPr/>
            </p:nvSpPr>
            <p:spPr bwMode="auto">
              <a:xfrm flipV="1">
                <a:off x="2304" y="331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4" name="Line 256"/>
              <p:cNvSpPr>
                <a:spLocks noChangeShapeType="1"/>
              </p:cNvSpPr>
              <p:nvPr/>
            </p:nvSpPr>
            <p:spPr bwMode="auto">
              <a:xfrm flipH="1">
                <a:off x="3216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5" name="Line 257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6" name="Oval 258"/>
              <p:cNvSpPr>
                <a:spLocks noChangeArrowheads="1"/>
              </p:cNvSpPr>
              <p:nvPr/>
            </p:nvSpPr>
            <p:spPr bwMode="auto">
              <a:xfrm>
                <a:off x="3456" y="283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5847" name="Oval 259"/>
              <p:cNvSpPr>
                <a:spLocks noChangeArrowheads="1"/>
              </p:cNvSpPr>
              <p:nvPr/>
            </p:nvSpPr>
            <p:spPr bwMode="auto">
              <a:xfrm>
                <a:off x="3456" y="15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sp>
        <p:nvSpPr>
          <p:cNvPr id="75781" name="Rectangle 261"/>
          <p:cNvSpPr>
            <a:spLocks noChangeArrowheads="1"/>
          </p:cNvSpPr>
          <p:nvPr/>
        </p:nvSpPr>
        <p:spPr bwMode="auto">
          <a:xfrm>
            <a:off x="5105400" y="1447800"/>
            <a:ext cx="3487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主从</a:t>
            </a:r>
            <a:r>
              <a:rPr lang="en-US" altLang="zh-CN" sz="2400" b="1">
                <a:latin typeface="Georgia" panose="02040502050405020303" pitchFamily="18" charset="0"/>
              </a:rPr>
              <a:t>J-K</a:t>
            </a:r>
            <a:r>
              <a:rPr lang="zh-CN" altLang="en-US" sz="2400" b="1">
                <a:latin typeface="Georgia" panose="02040502050405020303" pitchFamily="18" charset="0"/>
              </a:rPr>
              <a:t>触发器的功能表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201258" y="2037415"/>
            <a:ext cx="3366367" cy="3474096"/>
            <a:chOff x="5201258" y="2037415"/>
            <a:chExt cx="3366367" cy="3474096"/>
          </a:xfrm>
        </p:grpSpPr>
        <p:grpSp>
          <p:nvGrpSpPr>
            <p:cNvPr id="2" name="组合 1"/>
            <p:cNvGrpSpPr/>
            <p:nvPr/>
          </p:nvGrpSpPr>
          <p:grpSpPr>
            <a:xfrm>
              <a:off x="5201258" y="2037415"/>
              <a:ext cx="3296021" cy="3474096"/>
              <a:chOff x="3705903" y="1207441"/>
              <a:chExt cx="3296021" cy="3474096"/>
            </a:xfrm>
          </p:grpSpPr>
          <p:grpSp>
            <p:nvGrpSpPr>
              <p:cNvPr id="3" name="Group 319"/>
              <p:cNvGrpSpPr/>
              <p:nvPr/>
            </p:nvGrpSpPr>
            <p:grpSpPr bwMode="auto">
              <a:xfrm>
                <a:off x="3725324" y="1446212"/>
                <a:ext cx="3276600" cy="3235325"/>
                <a:chOff x="3216" y="918"/>
                <a:chExt cx="2064" cy="2038"/>
              </a:xfrm>
            </p:grpSpPr>
            <p:sp>
              <p:nvSpPr>
                <p:cNvPr id="8" name="Rectangle 262"/>
                <p:cNvSpPr>
                  <a:spLocks noChangeArrowheads="1"/>
                </p:cNvSpPr>
                <p:nvPr/>
              </p:nvSpPr>
              <p:spPr bwMode="auto">
                <a:xfrm>
                  <a:off x="4676" y="1244"/>
                  <a:ext cx="604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 0   1</a:t>
                  </a:r>
                  <a:endParaRPr lang="en-US" altLang="zh-CN" sz="2400" dirty="0"/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 1   0</a:t>
                  </a:r>
                  <a:endParaRPr lang="en-US" altLang="zh-CN" sz="2400" dirty="0"/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 </a:t>
                  </a:r>
                  <a:endParaRPr lang="en-US" altLang="zh-CN" sz="2400" dirty="0"/>
                </a:p>
              </p:txBody>
            </p:sp>
            <p:sp>
              <p:nvSpPr>
                <p:cNvPr id="9" name="Rectangle 263"/>
                <p:cNvSpPr>
                  <a:spLocks noChangeArrowheads="1"/>
                </p:cNvSpPr>
                <p:nvPr/>
              </p:nvSpPr>
              <p:spPr bwMode="auto">
                <a:xfrm>
                  <a:off x="3216" y="1244"/>
                  <a:ext cx="1460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0    1   </a:t>
                  </a:r>
                  <a:r>
                    <a:rPr lang="en-US" altLang="zh-CN" sz="2400" dirty="0">
                      <a:sym typeface="Symbol" panose="05050102010706020507" pitchFamily="18" charset="2"/>
                    </a:rPr>
                    <a:t>      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0         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1    1        0   1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1    1        1   0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1    1        0   0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1    1        1   1</a:t>
                  </a:r>
                  <a:endParaRPr lang="en-US" altLang="zh-CN" sz="2400" dirty="0"/>
                </a:p>
              </p:txBody>
            </p:sp>
            <p:sp>
              <p:nvSpPr>
                <p:cNvPr id="10" name="Rectangle 264"/>
                <p:cNvSpPr>
                  <a:spLocks noChangeArrowheads="1"/>
                </p:cNvSpPr>
                <p:nvPr/>
              </p:nvSpPr>
              <p:spPr bwMode="auto">
                <a:xfrm>
                  <a:off x="4676" y="918"/>
                  <a:ext cx="604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/>
                    <a:t> </a:t>
                  </a:r>
                  <a:endParaRPr lang="en-US" altLang="zh-CN"/>
                </a:p>
              </p:txBody>
            </p:sp>
            <p:sp>
              <p:nvSpPr>
                <p:cNvPr id="11" name="Rectangle 265"/>
                <p:cNvSpPr>
                  <a:spLocks noChangeArrowheads="1"/>
                </p:cNvSpPr>
                <p:nvPr/>
              </p:nvSpPr>
              <p:spPr bwMode="auto">
                <a:xfrm>
                  <a:off x="3216" y="918"/>
                  <a:ext cx="1460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/>
                    <a:t>          CP  J   K</a:t>
                  </a:r>
                  <a:endParaRPr lang="en-US" altLang="zh-CN" sz="2400"/>
                </a:p>
              </p:txBody>
            </p:sp>
            <p:sp>
              <p:nvSpPr>
                <p:cNvPr id="12" name="Line 266"/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267"/>
                <p:cNvSpPr>
                  <a:spLocks noChangeShapeType="1"/>
                </p:cNvSpPr>
                <p:nvPr/>
              </p:nvSpPr>
              <p:spPr bwMode="auto">
                <a:xfrm>
                  <a:off x="3216" y="1244"/>
                  <a:ext cx="20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268"/>
                <p:cNvSpPr>
                  <a:spLocks noChangeShapeType="1"/>
                </p:cNvSpPr>
                <p:nvPr/>
              </p:nvSpPr>
              <p:spPr bwMode="auto">
                <a:xfrm>
                  <a:off x="3216" y="2956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269"/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270"/>
                <p:cNvSpPr>
                  <a:spLocks noChangeShapeType="1"/>
                </p:cNvSpPr>
                <p:nvPr/>
              </p:nvSpPr>
              <p:spPr bwMode="auto">
                <a:xfrm>
                  <a:off x="4676" y="918"/>
                  <a:ext cx="0" cy="203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271"/>
                <p:cNvSpPr>
                  <a:spLocks noChangeShapeType="1"/>
                </p:cNvSpPr>
                <p:nvPr/>
              </p:nvSpPr>
              <p:spPr bwMode="auto">
                <a:xfrm>
                  <a:off x="5280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8" name="Group 280"/>
                <p:cNvGrpSpPr/>
                <p:nvPr/>
              </p:nvGrpSpPr>
              <p:grpSpPr bwMode="auto">
                <a:xfrm>
                  <a:off x="3727" y="1878"/>
                  <a:ext cx="385" cy="96"/>
                  <a:chOff x="3360" y="3552"/>
                  <a:chExt cx="385" cy="96"/>
                </a:xfrm>
              </p:grpSpPr>
              <p:sp>
                <p:nvSpPr>
                  <p:cNvPr id="38" name="Line 281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Line 282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Line 28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Line 28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9" name="Group 286"/>
                <p:cNvGrpSpPr/>
                <p:nvPr/>
              </p:nvGrpSpPr>
              <p:grpSpPr bwMode="auto">
                <a:xfrm>
                  <a:off x="3727" y="2166"/>
                  <a:ext cx="385" cy="96"/>
                  <a:chOff x="3360" y="3552"/>
                  <a:chExt cx="385" cy="96"/>
                </a:xfrm>
              </p:grpSpPr>
              <p:sp>
                <p:nvSpPr>
                  <p:cNvPr id="33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Line 289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Line 29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Line 29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" name="Group 292"/>
                <p:cNvGrpSpPr/>
                <p:nvPr/>
              </p:nvGrpSpPr>
              <p:grpSpPr bwMode="auto">
                <a:xfrm>
                  <a:off x="3727" y="2454"/>
                  <a:ext cx="385" cy="96"/>
                  <a:chOff x="3360" y="3552"/>
                  <a:chExt cx="385" cy="96"/>
                </a:xfrm>
              </p:grpSpPr>
              <p:sp>
                <p:nvSpPr>
                  <p:cNvPr id="28" name="Line 293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" name="Line 294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" name="Line 29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Line 2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Line 2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" name="Group 298"/>
                <p:cNvGrpSpPr/>
                <p:nvPr/>
              </p:nvGrpSpPr>
              <p:grpSpPr bwMode="auto">
                <a:xfrm>
                  <a:off x="3727" y="2694"/>
                  <a:ext cx="385" cy="96"/>
                  <a:chOff x="3360" y="3552"/>
                  <a:chExt cx="385" cy="96"/>
                </a:xfrm>
              </p:grpSpPr>
              <p:sp>
                <p:nvSpPr>
                  <p:cNvPr id="23" name="Line 299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Line 300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" name="Line 301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Line 3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" name="Line 3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" name="Line 304"/>
                <p:cNvSpPr>
                  <a:spLocks noChangeShapeType="1"/>
                </p:cNvSpPr>
                <p:nvPr/>
              </p:nvSpPr>
              <p:spPr bwMode="auto">
                <a:xfrm flipH="1">
                  <a:off x="3216" y="1782"/>
                  <a:ext cx="2064" cy="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" name="Text Box 55"/>
              <p:cNvSpPr txBox="1">
                <a:spLocks noChangeArrowheads="1"/>
              </p:cNvSpPr>
              <p:nvPr/>
            </p:nvSpPr>
            <p:spPr bwMode="auto">
              <a:xfrm>
                <a:off x="3705903" y="1207441"/>
                <a:ext cx="554960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R</a:t>
                </a:r>
                <a:r>
                  <a:rPr lang="en-US" altLang="zh-CN" sz="2400" baseline="-25000" dirty="0">
                    <a:latin typeface="Georgia" panose="02040502050405020303" pitchFamily="18" charset="0"/>
                  </a:rPr>
                  <a:t>D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5" name="Text Box 55"/>
              <p:cNvSpPr txBox="1">
                <a:spLocks noChangeArrowheads="1"/>
              </p:cNvSpPr>
              <p:nvPr/>
            </p:nvSpPr>
            <p:spPr bwMode="auto">
              <a:xfrm>
                <a:off x="4212124" y="1207497"/>
                <a:ext cx="511679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S</a:t>
                </a:r>
                <a:r>
                  <a:rPr lang="en-US" altLang="zh-CN" sz="2400" baseline="-25000" dirty="0">
                    <a:latin typeface="Georgia" panose="02040502050405020303" pitchFamily="18" charset="0"/>
                  </a:rPr>
                  <a:t>D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" name="Text Box 55"/>
              <p:cNvSpPr txBox="1">
                <a:spLocks noChangeArrowheads="1"/>
              </p:cNvSpPr>
              <p:nvPr/>
            </p:nvSpPr>
            <p:spPr bwMode="auto">
              <a:xfrm>
                <a:off x="6540706" y="1231846"/>
                <a:ext cx="413896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7" name="Text Box 55"/>
              <p:cNvSpPr txBox="1">
                <a:spLocks noChangeArrowheads="1"/>
              </p:cNvSpPr>
              <p:nvPr/>
            </p:nvSpPr>
            <p:spPr bwMode="auto">
              <a:xfrm>
                <a:off x="6071929" y="1517558"/>
                <a:ext cx="413896" cy="4129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43" name="Rectangle 318"/>
            <p:cNvSpPr>
              <a:spLocks noChangeArrowheads="1"/>
            </p:cNvSpPr>
            <p:nvPr/>
          </p:nvSpPr>
          <p:spPr bwMode="auto">
            <a:xfrm>
              <a:off x="7636471" y="3640138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0   1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Rectangle 109"/>
            <p:cNvSpPr>
              <a:spLocks noChangeArrowheads="1"/>
            </p:cNvSpPr>
            <p:nvPr/>
          </p:nvSpPr>
          <p:spPr bwMode="auto">
            <a:xfrm>
              <a:off x="7623539" y="4056062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1   0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Text Box 55"/>
            <p:cNvSpPr txBox="1">
              <a:spLocks noChangeArrowheads="1"/>
            </p:cNvSpPr>
            <p:nvPr/>
          </p:nvSpPr>
          <p:spPr bwMode="auto">
            <a:xfrm>
              <a:off x="8027092" y="427885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6" name="Text Box 55"/>
            <p:cNvSpPr txBox="1">
              <a:spLocks noChangeArrowheads="1"/>
            </p:cNvSpPr>
            <p:nvPr/>
          </p:nvSpPr>
          <p:spPr bwMode="auto">
            <a:xfrm>
              <a:off x="7584603" y="4567995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7" name="Text Box 55"/>
            <p:cNvSpPr txBox="1">
              <a:spLocks noChangeArrowheads="1"/>
            </p:cNvSpPr>
            <p:nvPr/>
          </p:nvSpPr>
          <p:spPr bwMode="auto">
            <a:xfrm>
              <a:off x="7571373" y="474186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auto">
            <a:xfrm>
              <a:off x="8017854" y="5027719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sp>
        <p:nvSpPr>
          <p:cNvPr id="49" name="Text Box 55"/>
          <p:cNvSpPr txBox="1">
            <a:spLocks noChangeArrowheads="1"/>
          </p:cNvSpPr>
          <p:nvPr/>
        </p:nvSpPr>
        <p:spPr bwMode="auto">
          <a:xfrm>
            <a:off x="306713" y="920612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50" name="Text Box 55"/>
          <p:cNvSpPr txBox="1">
            <a:spLocks noChangeArrowheads="1"/>
          </p:cNvSpPr>
          <p:nvPr/>
        </p:nvSpPr>
        <p:spPr bwMode="auto">
          <a:xfrm>
            <a:off x="3934332" y="966247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D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D52CDC-0B8A-4DFE-8896-E01D12BD2CCD}" type="slidenum">
              <a:rPr lang="en-US" altLang="zh-CN"/>
            </a:fld>
            <a:endParaRPr lang="en-US" altLang="zh-CN"/>
          </a:p>
        </p:txBody>
      </p:sp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37160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主从</a:t>
            </a:r>
            <a:r>
              <a:rPr lang="en-US" altLang="zh-CN"/>
              <a:t>J-K</a:t>
            </a:r>
            <a:r>
              <a:rPr lang="zh-CN" altLang="en-US"/>
              <a:t>触发器</a:t>
            </a:r>
            <a:endParaRPr lang="zh-CN" altLang="en-US"/>
          </a:p>
          <a:p>
            <a:pPr eaLnBrk="1" hangingPunct="1">
              <a:defRPr/>
            </a:pPr>
            <a:endParaRPr lang="en-US" altLang="zh-CN" sz="2800"/>
          </a:p>
        </p:txBody>
      </p:sp>
      <p:sp>
        <p:nvSpPr>
          <p:cNvPr id="532556" name="Rectangle 76"/>
          <p:cNvSpPr>
            <a:spLocks noChangeArrowheads="1"/>
          </p:cNvSpPr>
          <p:nvPr/>
        </p:nvSpPr>
        <p:spPr bwMode="auto">
          <a:xfrm>
            <a:off x="1371600" y="5334000"/>
            <a:ext cx="6438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主从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J-K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触发器功能表的前提：</a:t>
            </a:r>
            <a:endParaRPr lang="zh-CN" altLang="en-US" sz="24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32559" name="Rectangle 79"/>
          <p:cNvSpPr>
            <a:spLocks noChangeArrowheads="1"/>
          </p:cNvSpPr>
          <p:nvPr/>
        </p:nvSpPr>
        <p:spPr bwMode="auto">
          <a:xfrm>
            <a:off x="1371600" y="5867400"/>
            <a:ext cx="706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只是在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期间，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J,K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不发生变化的前提下给出的</a:t>
            </a:r>
            <a:endParaRPr lang="zh-CN" altLang="en-US" sz="24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7238204" y="340863"/>
            <a:ext cx="1756730" cy="4745485"/>
            <a:chOff x="4595565" y="-14682"/>
            <a:chExt cx="3853110" cy="7021907"/>
          </a:xfrm>
        </p:grpSpPr>
        <p:sp>
          <p:nvSpPr>
            <p:cNvPr id="69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89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08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6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7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9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4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5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0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3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1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1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2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4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9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5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7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6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5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7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3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8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9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1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30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3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4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5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6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7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38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" name="Text Box 328"/>
            <p:cNvSpPr txBox="1">
              <a:spLocks noChangeArrowheads="1"/>
            </p:cNvSpPr>
            <p:nvPr/>
          </p:nvSpPr>
          <p:spPr bwMode="auto">
            <a:xfrm>
              <a:off x="4781922" y="47479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72" name="Text Box 329"/>
            <p:cNvSpPr txBox="1">
              <a:spLocks noChangeArrowheads="1"/>
            </p:cNvSpPr>
            <p:nvPr/>
          </p:nvSpPr>
          <p:spPr bwMode="auto">
            <a:xfrm>
              <a:off x="7177880" y="4731421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73" name="Group 332"/>
            <p:cNvGrpSpPr/>
            <p:nvPr/>
          </p:nvGrpSpPr>
          <p:grpSpPr bwMode="auto">
            <a:xfrm>
              <a:off x="4710115" y="5029201"/>
              <a:ext cx="928688" cy="1697038"/>
              <a:chOff x="2967" y="3168"/>
              <a:chExt cx="585" cy="1069"/>
            </a:xfrm>
          </p:grpSpPr>
          <p:grpSp>
            <p:nvGrpSpPr>
              <p:cNvPr id="82" name="Group 324"/>
              <p:cNvGrpSpPr/>
              <p:nvPr/>
            </p:nvGrpSpPr>
            <p:grpSpPr bwMode="auto">
              <a:xfrm>
                <a:off x="2967" y="3312"/>
                <a:ext cx="585" cy="925"/>
                <a:chOff x="2967" y="3216"/>
                <a:chExt cx="585" cy="925"/>
              </a:xfrm>
            </p:grpSpPr>
            <p:sp>
              <p:nvSpPr>
                <p:cNvPr id="84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67" y="3853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6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0" y="383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8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83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4" name="Group 333"/>
            <p:cNvGrpSpPr/>
            <p:nvPr/>
          </p:nvGrpSpPr>
          <p:grpSpPr bwMode="auto">
            <a:xfrm>
              <a:off x="6659563" y="5029200"/>
              <a:ext cx="1620839" cy="1978025"/>
              <a:chOff x="4195" y="3168"/>
              <a:chExt cx="1021" cy="1246"/>
            </a:xfrm>
          </p:grpSpPr>
          <p:grpSp>
            <p:nvGrpSpPr>
              <p:cNvPr id="75" name="Group 325"/>
              <p:cNvGrpSpPr/>
              <p:nvPr/>
            </p:nvGrpSpPr>
            <p:grpSpPr bwMode="auto">
              <a:xfrm>
                <a:off x="4195" y="3312"/>
                <a:ext cx="1021" cy="1102"/>
                <a:chOff x="4172" y="3216"/>
                <a:chExt cx="1021" cy="1102"/>
              </a:xfrm>
            </p:grpSpPr>
            <p:sp>
              <p:nvSpPr>
                <p:cNvPr id="77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72" y="3902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8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6" y="3543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9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6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3700363" y="1476556"/>
            <a:ext cx="3366367" cy="3474096"/>
            <a:chOff x="5201258" y="2037415"/>
            <a:chExt cx="3366367" cy="3474096"/>
          </a:xfrm>
        </p:grpSpPr>
        <p:grpSp>
          <p:nvGrpSpPr>
            <p:cNvPr id="3" name="组合 2"/>
            <p:cNvGrpSpPr/>
            <p:nvPr/>
          </p:nvGrpSpPr>
          <p:grpSpPr>
            <a:xfrm>
              <a:off x="5201258" y="2037415"/>
              <a:ext cx="3296021" cy="3474096"/>
              <a:chOff x="3705903" y="1207441"/>
              <a:chExt cx="3296021" cy="3474096"/>
            </a:xfrm>
          </p:grpSpPr>
          <p:grpSp>
            <p:nvGrpSpPr>
              <p:cNvPr id="10" name="Group 319"/>
              <p:cNvGrpSpPr/>
              <p:nvPr/>
            </p:nvGrpSpPr>
            <p:grpSpPr bwMode="auto">
              <a:xfrm>
                <a:off x="3725324" y="1446212"/>
                <a:ext cx="3276600" cy="3235325"/>
                <a:chOff x="3216" y="918"/>
                <a:chExt cx="2064" cy="2038"/>
              </a:xfrm>
            </p:grpSpPr>
            <p:sp>
              <p:nvSpPr>
                <p:cNvPr id="15" name="Rectangle 262"/>
                <p:cNvSpPr>
                  <a:spLocks noChangeArrowheads="1"/>
                </p:cNvSpPr>
                <p:nvPr/>
              </p:nvSpPr>
              <p:spPr bwMode="auto">
                <a:xfrm>
                  <a:off x="4676" y="1244"/>
                  <a:ext cx="604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 0   1</a:t>
                  </a:r>
                  <a:endParaRPr lang="en-US" altLang="zh-CN" sz="2400" dirty="0"/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 1   0</a:t>
                  </a:r>
                  <a:endParaRPr lang="en-US" altLang="zh-CN" sz="2400" dirty="0"/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 </a:t>
                  </a:r>
                  <a:endParaRPr lang="en-US" altLang="zh-CN" sz="2400" dirty="0"/>
                </a:p>
              </p:txBody>
            </p:sp>
            <p:sp>
              <p:nvSpPr>
                <p:cNvPr id="16" name="Rectangle 263"/>
                <p:cNvSpPr>
                  <a:spLocks noChangeArrowheads="1"/>
                </p:cNvSpPr>
                <p:nvPr/>
              </p:nvSpPr>
              <p:spPr bwMode="auto">
                <a:xfrm>
                  <a:off x="3216" y="1244"/>
                  <a:ext cx="1460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/>
                    <a:t>0    1   </a:t>
                  </a:r>
                  <a:r>
                    <a:rPr lang="en-US" altLang="zh-CN" sz="2400" dirty="0">
                      <a:sym typeface="Symbol" panose="05050102010706020507" pitchFamily="18" charset="2"/>
                    </a:rPr>
                    <a:t>      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0         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1    1        0   1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1    1        1   0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1    1        0   0</a:t>
                  </a:r>
                  <a:endParaRPr lang="en-US" altLang="zh-CN" sz="2400" dirty="0">
                    <a:sym typeface="Symbol" panose="05050102010706020507" pitchFamily="18" charset="2"/>
                  </a:endParaRP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sym typeface="Symbol" panose="05050102010706020507" pitchFamily="18" charset="2"/>
                    </a:rPr>
                    <a:t>1    1        1   1</a:t>
                  </a:r>
                  <a:endParaRPr lang="en-US" altLang="zh-CN" sz="2400" dirty="0"/>
                </a:p>
              </p:txBody>
            </p:sp>
            <p:sp>
              <p:nvSpPr>
                <p:cNvPr id="17" name="Rectangle 264"/>
                <p:cNvSpPr>
                  <a:spLocks noChangeArrowheads="1"/>
                </p:cNvSpPr>
                <p:nvPr/>
              </p:nvSpPr>
              <p:spPr bwMode="auto">
                <a:xfrm>
                  <a:off x="4676" y="918"/>
                  <a:ext cx="604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/>
                    <a:t> </a:t>
                  </a:r>
                  <a:endParaRPr lang="en-US" altLang="zh-CN"/>
                </a:p>
              </p:txBody>
            </p:sp>
            <p:sp>
              <p:nvSpPr>
                <p:cNvPr id="18" name="Rectangle 265"/>
                <p:cNvSpPr>
                  <a:spLocks noChangeArrowheads="1"/>
                </p:cNvSpPr>
                <p:nvPr/>
              </p:nvSpPr>
              <p:spPr bwMode="auto">
                <a:xfrm>
                  <a:off x="3216" y="918"/>
                  <a:ext cx="1460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/>
                    <a:t>          CP  J   K</a:t>
                  </a:r>
                  <a:endParaRPr lang="en-US" altLang="zh-CN" sz="2400"/>
                </a:p>
              </p:txBody>
            </p:sp>
            <p:sp>
              <p:nvSpPr>
                <p:cNvPr id="19" name="Line 266"/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Line 267"/>
                <p:cNvSpPr>
                  <a:spLocks noChangeShapeType="1"/>
                </p:cNvSpPr>
                <p:nvPr/>
              </p:nvSpPr>
              <p:spPr bwMode="auto">
                <a:xfrm>
                  <a:off x="3216" y="1244"/>
                  <a:ext cx="20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Line 268"/>
                <p:cNvSpPr>
                  <a:spLocks noChangeShapeType="1"/>
                </p:cNvSpPr>
                <p:nvPr/>
              </p:nvSpPr>
              <p:spPr bwMode="auto">
                <a:xfrm>
                  <a:off x="3216" y="2956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Line 269"/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" name="Line 270"/>
                <p:cNvSpPr>
                  <a:spLocks noChangeShapeType="1"/>
                </p:cNvSpPr>
                <p:nvPr/>
              </p:nvSpPr>
              <p:spPr bwMode="auto">
                <a:xfrm>
                  <a:off x="4676" y="918"/>
                  <a:ext cx="0" cy="203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Line 271"/>
                <p:cNvSpPr>
                  <a:spLocks noChangeShapeType="1"/>
                </p:cNvSpPr>
                <p:nvPr/>
              </p:nvSpPr>
              <p:spPr bwMode="auto">
                <a:xfrm>
                  <a:off x="5280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5" name="Group 280"/>
                <p:cNvGrpSpPr/>
                <p:nvPr/>
              </p:nvGrpSpPr>
              <p:grpSpPr bwMode="auto">
                <a:xfrm>
                  <a:off x="3727" y="1878"/>
                  <a:ext cx="385" cy="96"/>
                  <a:chOff x="3360" y="3552"/>
                  <a:chExt cx="385" cy="96"/>
                </a:xfrm>
              </p:grpSpPr>
              <p:sp>
                <p:nvSpPr>
                  <p:cNvPr id="45" name="Line 281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Line 282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Line 28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Line 28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" name="Group 286"/>
                <p:cNvGrpSpPr/>
                <p:nvPr/>
              </p:nvGrpSpPr>
              <p:grpSpPr bwMode="auto">
                <a:xfrm>
                  <a:off x="3727" y="2166"/>
                  <a:ext cx="385" cy="96"/>
                  <a:chOff x="3360" y="3552"/>
                  <a:chExt cx="385" cy="96"/>
                </a:xfrm>
              </p:grpSpPr>
              <p:sp>
                <p:nvSpPr>
                  <p:cNvPr id="40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Line 289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Line 29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Line 29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" name="Group 292"/>
                <p:cNvGrpSpPr/>
                <p:nvPr/>
              </p:nvGrpSpPr>
              <p:grpSpPr bwMode="auto">
                <a:xfrm>
                  <a:off x="3727" y="2454"/>
                  <a:ext cx="385" cy="96"/>
                  <a:chOff x="3360" y="3552"/>
                  <a:chExt cx="385" cy="96"/>
                </a:xfrm>
              </p:grpSpPr>
              <p:sp>
                <p:nvSpPr>
                  <p:cNvPr id="35" name="Line 293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Line 294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Line 29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Line 2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Line 2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" name="Group 298"/>
                <p:cNvGrpSpPr/>
                <p:nvPr/>
              </p:nvGrpSpPr>
              <p:grpSpPr bwMode="auto">
                <a:xfrm>
                  <a:off x="3727" y="2694"/>
                  <a:ext cx="385" cy="96"/>
                  <a:chOff x="3360" y="3552"/>
                  <a:chExt cx="385" cy="96"/>
                </a:xfrm>
              </p:grpSpPr>
              <p:sp>
                <p:nvSpPr>
                  <p:cNvPr id="30" name="Line 299"/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Line 300"/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Line 301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Line 3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Line 3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" name="Line 304"/>
                <p:cNvSpPr>
                  <a:spLocks noChangeShapeType="1"/>
                </p:cNvSpPr>
                <p:nvPr/>
              </p:nvSpPr>
              <p:spPr bwMode="auto">
                <a:xfrm flipH="1">
                  <a:off x="3216" y="1782"/>
                  <a:ext cx="2064" cy="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Text Box 55"/>
              <p:cNvSpPr txBox="1">
                <a:spLocks noChangeArrowheads="1"/>
              </p:cNvSpPr>
              <p:nvPr/>
            </p:nvSpPr>
            <p:spPr bwMode="auto">
              <a:xfrm>
                <a:off x="3705903" y="1207441"/>
                <a:ext cx="554960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R</a:t>
                </a:r>
                <a:r>
                  <a:rPr lang="en-US" altLang="zh-CN" sz="2400" baseline="-25000" dirty="0">
                    <a:latin typeface="Georgia" panose="02040502050405020303" pitchFamily="18" charset="0"/>
                  </a:rPr>
                  <a:t>D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2" name="Text Box 55"/>
              <p:cNvSpPr txBox="1">
                <a:spLocks noChangeArrowheads="1"/>
              </p:cNvSpPr>
              <p:nvPr/>
            </p:nvSpPr>
            <p:spPr bwMode="auto">
              <a:xfrm>
                <a:off x="4212124" y="1207497"/>
                <a:ext cx="511679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S</a:t>
                </a:r>
                <a:r>
                  <a:rPr lang="en-US" altLang="zh-CN" sz="2400" baseline="-25000" dirty="0">
                    <a:latin typeface="Georgia" panose="02040502050405020303" pitchFamily="18" charset="0"/>
                  </a:rPr>
                  <a:t>D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3" name="Text Box 55"/>
              <p:cNvSpPr txBox="1">
                <a:spLocks noChangeArrowheads="1"/>
              </p:cNvSpPr>
              <p:nvPr/>
            </p:nvSpPr>
            <p:spPr bwMode="auto">
              <a:xfrm>
                <a:off x="6540706" y="1231846"/>
                <a:ext cx="413896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4" name="Text Box 55"/>
              <p:cNvSpPr txBox="1">
                <a:spLocks noChangeArrowheads="1"/>
              </p:cNvSpPr>
              <p:nvPr/>
            </p:nvSpPr>
            <p:spPr bwMode="auto">
              <a:xfrm>
                <a:off x="6071929" y="1517558"/>
                <a:ext cx="413896" cy="4129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4" name="Rectangle 318"/>
            <p:cNvSpPr>
              <a:spLocks noChangeArrowheads="1"/>
            </p:cNvSpPr>
            <p:nvPr/>
          </p:nvSpPr>
          <p:spPr bwMode="auto">
            <a:xfrm>
              <a:off x="7636471" y="3640138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0   1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" name="Rectangle 109"/>
            <p:cNvSpPr>
              <a:spLocks noChangeArrowheads="1"/>
            </p:cNvSpPr>
            <p:nvPr/>
          </p:nvSpPr>
          <p:spPr bwMode="auto">
            <a:xfrm>
              <a:off x="7623539" y="4056062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1   0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8027092" y="427885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7" name="Text Box 55"/>
            <p:cNvSpPr txBox="1">
              <a:spLocks noChangeArrowheads="1"/>
            </p:cNvSpPr>
            <p:nvPr/>
          </p:nvSpPr>
          <p:spPr bwMode="auto">
            <a:xfrm>
              <a:off x="7584603" y="4567995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7571373" y="474186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9" name="Text Box 55"/>
            <p:cNvSpPr txBox="1">
              <a:spLocks noChangeArrowheads="1"/>
            </p:cNvSpPr>
            <p:nvPr/>
          </p:nvSpPr>
          <p:spPr bwMode="auto">
            <a:xfrm>
              <a:off x="8017854" y="5027719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990600" y="2057400"/>
            <a:ext cx="2514600" cy="2971800"/>
            <a:chOff x="990600" y="2057400"/>
            <a:chExt cx="2514600" cy="2971800"/>
          </a:xfrm>
        </p:grpSpPr>
        <p:grpSp>
          <p:nvGrpSpPr>
            <p:cNvPr id="532557" name="Group 77"/>
            <p:cNvGrpSpPr/>
            <p:nvPr/>
          </p:nvGrpSpPr>
          <p:grpSpPr bwMode="auto">
            <a:xfrm>
              <a:off x="990600" y="2057400"/>
              <a:ext cx="2514600" cy="2971800"/>
              <a:chOff x="624" y="1296"/>
              <a:chExt cx="1584" cy="1872"/>
            </a:xfrm>
          </p:grpSpPr>
          <p:sp>
            <p:nvSpPr>
              <p:cNvPr id="76852" name="Rectangle 5"/>
              <p:cNvSpPr>
                <a:spLocks noChangeArrowheads="1"/>
              </p:cNvSpPr>
              <p:nvPr/>
            </p:nvSpPr>
            <p:spPr bwMode="auto">
              <a:xfrm>
                <a:off x="1056" y="1584"/>
                <a:ext cx="720" cy="129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6853" name="Text Box 8"/>
              <p:cNvSpPr txBox="1">
                <a:spLocks noChangeArrowheads="1"/>
              </p:cNvSpPr>
              <p:nvPr/>
            </p:nvSpPr>
            <p:spPr bwMode="auto">
              <a:xfrm>
                <a:off x="1056" y="17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J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6854" name="Text Box 9"/>
              <p:cNvSpPr txBox="1">
                <a:spLocks noChangeArrowheads="1"/>
              </p:cNvSpPr>
              <p:nvPr/>
            </p:nvSpPr>
            <p:spPr bwMode="auto">
              <a:xfrm>
                <a:off x="1056" y="23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K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76855" name="Text Box 10"/>
              <p:cNvSpPr txBox="1">
                <a:spLocks noChangeArrowheads="1"/>
              </p:cNvSpPr>
              <p:nvPr/>
            </p:nvSpPr>
            <p:spPr bwMode="auto">
              <a:xfrm>
                <a:off x="1008" y="205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Georgia" panose="02040502050405020303" pitchFamily="18" charset="0"/>
                  </a:rPr>
                  <a:t>CP</a:t>
                </a:r>
                <a:endParaRPr lang="en-US" altLang="zh-CN" sz="2000">
                  <a:latin typeface="Georgia" panose="02040502050405020303" pitchFamily="18" charset="0"/>
                </a:endParaRPr>
              </a:p>
            </p:txBody>
          </p:sp>
          <p:sp>
            <p:nvSpPr>
              <p:cNvPr id="76860" name="Line 15"/>
              <p:cNvSpPr>
                <a:spLocks noChangeShapeType="1"/>
              </p:cNvSpPr>
              <p:nvPr/>
            </p:nvSpPr>
            <p:spPr bwMode="auto">
              <a:xfrm flipH="1">
                <a:off x="624" y="1872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1" name="Line 16"/>
              <p:cNvSpPr>
                <a:spLocks noChangeShapeType="1"/>
              </p:cNvSpPr>
              <p:nvPr/>
            </p:nvSpPr>
            <p:spPr bwMode="auto">
              <a:xfrm flipH="1">
                <a:off x="624" y="216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2" name="Line 17"/>
              <p:cNvSpPr>
                <a:spLocks noChangeShapeType="1"/>
              </p:cNvSpPr>
              <p:nvPr/>
            </p:nvSpPr>
            <p:spPr bwMode="auto">
              <a:xfrm flipH="1">
                <a:off x="624" y="249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3" name="Line 18"/>
              <p:cNvSpPr>
                <a:spLocks noChangeShapeType="1"/>
              </p:cNvSpPr>
              <p:nvPr/>
            </p:nvSpPr>
            <p:spPr bwMode="auto">
              <a:xfrm flipH="1">
                <a:off x="1776" y="192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4" name="Line 19"/>
              <p:cNvSpPr>
                <a:spLocks noChangeShapeType="1"/>
              </p:cNvSpPr>
              <p:nvPr/>
            </p:nvSpPr>
            <p:spPr bwMode="auto">
              <a:xfrm flipH="1">
                <a:off x="1776" y="249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5" name="Line 20"/>
              <p:cNvSpPr>
                <a:spLocks noChangeShapeType="1"/>
              </p:cNvSpPr>
              <p:nvPr/>
            </p:nvSpPr>
            <p:spPr bwMode="auto">
              <a:xfrm flipV="1">
                <a:off x="1392" y="12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66" name="Line 21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" name="Text Box 55"/>
            <p:cNvSpPr txBox="1">
              <a:spLocks noChangeArrowheads="1"/>
            </p:cNvSpPr>
            <p:nvPr/>
          </p:nvSpPr>
          <p:spPr bwMode="auto">
            <a:xfrm>
              <a:off x="2007871" y="2289940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1" name="Text Box 55"/>
            <p:cNvSpPr txBox="1">
              <a:spLocks noChangeArrowheads="1"/>
            </p:cNvSpPr>
            <p:nvPr/>
          </p:nvSpPr>
          <p:spPr bwMode="auto">
            <a:xfrm>
              <a:off x="2020037" y="3754584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D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2" name="Text Box 55"/>
            <p:cNvSpPr txBox="1">
              <a:spLocks noChangeArrowheads="1"/>
            </p:cNvSpPr>
            <p:nvPr/>
          </p:nvSpPr>
          <p:spPr bwMode="auto">
            <a:xfrm>
              <a:off x="2403640" y="3482160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2410801" y="2885518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6" grpId="0" autoUpdateAnimBg="0"/>
      <p:bldP spid="53255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C5D261-4B96-4ADE-B4FD-235D08BA4E52}" type="slidenum">
              <a:rPr lang="en-US" altLang="zh-CN"/>
            </a:fld>
            <a:endParaRPr lang="en-US" altLang="zh-CN"/>
          </a:p>
        </p:txBody>
      </p: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触发器和边沿</a:t>
            </a:r>
            <a:r>
              <a:rPr lang="en-US" altLang="zh-CN" dirty="0"/>
              <a:t>J-K</a:t>
            </a:r>
            <a:r>
              <a:rPr lang="zh-CN" altLang="en-US" dirty="0"/>
              <a:t>触发器的差别</a:t>
            </a:r>
            <a:endParaRPr lang="zh-CN" altLang="en-US" dirty="0"/>
          </a:p>
        </p:txBody>
      </p:sp>
      <p:sp>
        <p:nvSpPr>
          <p:cNvPr id="533509" name="Rectangle 5"/>
          <p:cNvSpPr>
            <a:spLocks noChangeArrowheads="1"/>
          </p:cNvSpPr>
          <p:nvPr/>
        </p:nvSpPr>
        <p:spPr bwMode="auto">
          <a:xfrm>
            <a:off x="457200" y="3962400"/>
            <a:ext cx="8305800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但是，主从触发器和负边沿触发器的触发方式截然不同：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lvl="2" eaLnBrk="1" hangingPunct="1"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边沿触发器在约定时钟跳变到来时，输出反映的是触发器的输入数据。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lvl="2" eaLnBrk="1" hangingPunct="1"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主从触发器反映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的是从触发器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的状态，不一定是输入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J,K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的状态。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57200" y="2057400"/>
            <a:ext cx="7924800" cy="1552575"/>
            <a:chOff x="457200" y="2057400"/>
            <a:chExt cx="7924800" cy="1552575"/>
          </a:xfrm>
        </p:grpSpPr>
        <p:sp>
          <p:nvSpPr>
            <p:cNvPr id="533510" name="Rectangle 6"/>
            <p:cNvSpPr>
              <a:spLocks noChangeArrowheads="1"/>
            </p:cNvSpPr>
            <p:nvPr/>
          </p:nvSpPr>
          <p:spPr bwMode="auto">
            <a:xfrm>
              <a:off x="457200" y="2057400"/>
              <a:ext cx="7924800" cy="1552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673100" indent="-215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主触发器在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CP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＝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期间接收数据，在时钟的负跳变到来时，从触发器接收主触发器的状态。主从触发器的输出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Q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和     状态在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CP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的负跳变时才发生变化，似乎是负边沿触发器。</a:t>
              </a:r>
              <a:endPara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endParaRPr>
            </a:p>
          </p:txBody>
        </p:sp>
        <p:sp>
          <p:nvSpPr>
            <p:cNvPr id="2" name="Text Box 55"/>
            <p:cNvSpPr txBox="1">
              <a:spLocks noChangeArrowheads="1"/>
            </p:cNvSpPr>
            <p:nvPr/>
          </p:nvSpPr>
          <p:spPr bwMode="auto">
            <a:xfrm>
              <a:off x="2339752" y="2523170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06BE9E-0C5F-47C6-9F64-FD83856B751B}" type="slidenum">
              <a:rPr lang="en-US" altLang="zh-CN"/>
            </a:fld>
            <a:endParaRPr lang="en-US" altLang="zh-CN"/>
          </a:p>
        </p:txBody>
      </p:sp>
      <p:sp>
        <p:nvSpPr>
          <p:cNvPr id="534530" name="Line 2"/>
          <p:cNvSpPr>
            <a:spLocks noChangeShapeType="1"/>
          </p:cNvSpPr>
          <p:nvPr/>
        </p:nvSpPr>
        <p:spPr bwMode="auto">
          <a:xfrm>
            <a:off x="4053880" y="2412504"/>
            <a:ext cx="0" cy="32004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31" name="Line 3"/>
          <p:cNvSpPr>
            <a:spLocks noChangeShapeType="1"/>
          </p:cNvSpPr>
          <p:nvPr/>
        </p:nvSpPr>
        <p:spPr bwMode="auto">
          <a:xfrm>
            <a:off x="5882680" y="2336304"/>
            <a:ext cx="0" cy="32004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453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主从</a:t>
            </a:r>
            <a:r>
              <a:rPr lang="en-US" altLang="zh-CN"/>
              <a:t>J-K</a:t>
            </a:r>
            <a:r>
              <a:rPr lang="zh-CN" altLang="en-US"/>
              <a:t>触发器和边沿</a:t>
            </a:r>
            <a:r>
              <a:rPr lang="en-US" altLang="zh-CN"/>
              <a:t>J-K</a:t>
            </a:r>
            <a:r>
              <a:rPr lang="zh-CN" altLang="en-US"/>
              <a:t>触发器的差别</a:t>
            </a:r>
            <a:endParaRPr lang="zh-CN" altLang="en-US"/>
          </a:p>
        </p:txBody>
      </p:sp>
      <p:grpSp>
        <p:nvGrpSpPr>
          <p:cNvPr id="78855" name="Group 6"/>
          <p:cNvGrpSpPr/>
          <p:nvPr/>
        </p:nvGrpSpPr>
        <p:grpSpPr bwMode="auto">
          <a:xfrm>
            <a:off x="1691680" y="2564904"/>
            <a:ext cx="5105400" cy="533400"/>
            <a:chOff x="912" y="1296"/>
            <a:chExt cx="3216" cy="336"/>
          </a:xfrm>
        </p:grpSpPr>
        <p:sp>
          <p:nvSpPr>
            <p:cNvPr id="78879" name="Line 7"/>
            <p:cNvSpPr>
              <a:spLocks noChangeShapeType="1"/>
            </p:cNvSpPr>
            <p:nvPr/>
          </p:nvSpPr>
          <p:spPr bwMode="auto">
            <a:xfrm>
              <a:off x="1296" y="15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0" name="Line 8"/>
            <p:cNvSpPr>
              <a:spLocks noChangeShapeType="1"/>
            </p:cNvSpPr>
            <p:nvPr/>
          </p:nvSpPr>
          <p:spPr bwMode="auto">
            <a:xfrm flipV="1">
              <a:off x="1824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1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2" name="Line 10"/>
            <p:cNvSpPr>
              <a:spLocks noChangeShapeType="1"/>
            </p:cNvSpPr>
            <p:nvPr/>
          </p:nvSpPr>
          <p:spPr bwMode="auto">
            <a:xfrm>
              <a:off x="2400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3" name="Line 11"/>
            <p:cNvSpPr>
              <a:spLocks noChangeShapeType="1"/>
            </p:cNvSpPr>
            <p:nvPr/>
          </p:nvSpPr>
          <p:spPr bwMode="auto">
            <a:xfrm>
              <a:off x="2400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4" name="Line 12"/>
            <p:cNvSpPr>
              <a:spLocks noChangeShapeType="1"/>
            </p:cNvSpPr>
            <p:nvPr/>
          </p:nvSpPr>
          <p:spPr bwMode="auto">
            <a:xfrm flipV="1">
              <a:off x="2976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5" name="Line 13"/>
            <p:cNvSpPr>
              <a:spLocks noChangeShapeType="1"/>
            </p:cNvSpPr>
            <p:nvPr/>
          </p:nvSpPr>
          <p:spPr bwMode="auto">
            <a:xfrm>
              <a:off x="2976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6" name="Line 14"/>
            <p:cNvSpPr>
              <a:spLocks noChangeShapeType="1"/>
            </p:cNvSpPr>
            <p:nvPr/>
          </p:nvSpPr>
          <p:spPr bwMode="auto">
            <a:xfrm>
              <a:off x="355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7" name="Line 15"/>
            <p:cNvSpPr>
              <a:spLocks noChangeShapeType="1"/>
            </p:cNvSpPr>
            <p:nvPr/>
          </p:nvSpPr>
          <p:spPr bwMode="auto">
            <a:xfrm>
              <a:off x="3552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8" name="Text Box 16"/>
            <p:cNvSpPr txBox="1">
              <a:spLocks noChangeArrowheads="1"/>
            </p:cNvSpPr>
            <p:nvPr/>
          </p:nvSpPr>
          <p:spPr bwMode="auto">
            <a:xfrm>
              <a:off x="912" y="13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78856" name="Group 17"/>
          <p:cNvGrpSpPr/>
          <p:nvPr/>
        </p:nvGrpSpPr>
        <p:grpSpPr bwMode="auto">
          <a:xfrm>
            <a:off x="1691680" y="3098304"/>
            <a:ext cx="5105400" cy="533400"/>
            <a:chOff x="912" y="1872"/>
            <a:chExt cx="3216" cy="336"/>
          </a:xfrm>
        </p:grpSpPr>
        <p:sp>
          <p:nvSpPr>
            <p:cNvPr id="78873" name="Line 18"/>
            <p:cNvSpPr>
              <a:spLocks noChangeShapeType="1"/>
            </p:cNvSpPr>
            <p:nvPr/>
          </p:nvSpPr>
          <p:spPr bwMode="auto">
            <a:xfrm>
              <a:off x="1344" y="2112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4" name="Line 19"/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5" name="Line 20"/>
            <p:cNvSpPr>
              <a:spLocks noChangeShapeType="1"/>
            </p:cNvSpPr>
            <p:nvPr/>
          </p:nvSpPr>
          <p:spPr bwMode="auto">
            <a:xfrm>
              <a:off x="316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6" name="Line 21"/>
            <p:cNvSpPr>
              <a:spLocks noChangeShapeType="1"/>
            </p:cNvSpPr>
            <p:nvPr/>
          </p:nvSpPr>
          <p:spPr bwMode="auto">
            <a:xfrm>
              <a:off x="3456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7" name="Line 22"/>
            <p:cNvSpPr>
              <a:spLocks noChangeShapeType="1"/>
            </p:cNvSpPr>
            <p:nvPr/>
          </p:nvSpPr>
          <p:spPr bwMode="auto">
            <a:xfrm>
              <a:off x="3456" y="21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8" name="Rectangle 23"/>
            <p:cNvSpPr>
              <a:spLocks noChangeArrowheads="1"/>
            </p:cNvSpPr>
            <p:nvPr/>
          </p:nvSpPr>
          <p:spPr bwMode="auto">
            <a:xfrm>
              <a:off x="912" y="1920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78857" name="Group 24"/>
          <p:cNvGrpSpPr/>
          <p:nvPr/>
        </p:nvGrpSpPr>
        <p:grpSpPr bwMode="auto">
          <a:xfrm>
            <a:off x="1691680" y="3707904"/>
            <a:ext cx="5105400" cy="533400"/>
            <a:chOff x="912" y="2352"/>
            <a:chExt cx="3216" cy="336"/>
          </a:xfrm>
        </p:grpSpPr>
        <p:sp>
          <p:nvSpPr>
            <p:cNvPr id="78869" name="Line 25"/>
            <p:cNvSpPr>
              <a:spLocks noChangeShapeType="1"/>
            </p:cNvSpPr>
            <p:nvPr/>
          </p:nvSpPr>
          <p:spPr bwMode="auto">
            <a:xfrm>
              <a:off x="1344" y="259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0" name="Line 26"/>
            <p:cNvSpPr>
              <a:spLocks noChangeShapeType="1"/>
            </p:cNvSpPr>
            <p:nvPr/>
          </p:nvSpPr>
          <p:spPr bwMode="auto">
            <a:xfrm flipV="1">
              <a:off x="1632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1" name="Line 27"/>
            <p:cNvSpPr>
              <a:spLocks noChangeShapeType="1"/>
            </p:cNvSpPr>
            <p:nvPr/>
          </p:nvSpPr>
          <p:spPr bwMode="auto">
            <a:xfrm>
              <a:off x="1632" y="2352"/>
              <a:ext cx="2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2" name="Rectangle 28"/>
            <p:cNvSpPr>
              <a:spLocks noChangeArrowheads="1"/>
            </p:cNvSpPr>
            <p:nvPr/>
          </p:nvSpPr>
          <p:spPr bwMode="auto">
            <a:xfrm>
              <a:off x="912" y="240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34557" name="Line 29"/>
          <p:cNvSpPr>
            <a:spLocks noChangeShapeType="1"/>
          </p:cNvSpPr>
          <p:nvPr/>
        </p:nvSpPr>
        <p:spPr bwMode="auto">
          <a:xfrm>
            <a:off x="2301280" y="4546104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58" name="Line 30"/>
          <p:cNvSpPr>
            <a:spLocks noChangeShapeType="1"/>
          </p:cNvSpPr>
          <p:nvPr/>
        </p:nvSpPr>
        <p:spPr bwMode="auto">
          <a:xfrm>
            <a:off x="5882680" y="4850904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59" name="Line 31"/>
          <p:cNvSpPr>
            <a:spLocks noChangeShapeType="1"/>
          </p:cNvSpPr>
          <p:nvPr/>
        </p:nvSpPr>
        <p:spPr bwMode="auto">
          <a:xfrm>
            <a:off x="4053880" y="5003304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60" name="Line 32"/>
          <p:cNvSpPr>
            <a:spLocks noChangeShapeType="1"/>
          </p:cNvSpPr>
          <p:nvPr/>
        </p:nvSpPr>
        <p:spPr bwMode="auto">
          <a:xfrm>
            <a:off x="2301280" y="5460504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63" name="AutoShape 35"/>
          <p:cNvSpPr>
            <a:spLocks noChangeArrowheads="1"/>
          </p:cNvSpPr>
          <p:nvPr/>
        </p:nvSpPr>
        <p:spPr bwMode="auto">
          <a:xfrm>
            <a:off x="167680" y="4241304"/>
            <a:ext cx="1066800" cy="838200"/>
          </a:xfrm>
          <a:prstGeom prst="wedgeRoundRectCallout">
            <a:avLst>
              <a:gd name="adj1" fmla="val 96875"/>
              <a:gd name="adj2" fmla="val 32764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Georgia" panose="02040502050405020303" pitchFamily="18" charset="0"/>
              </a:rPr>
              <a:t>边沿触发器</a:t>
            </a:r>
            <a:endParaRPr lang="zh-CN" altLang="en-US" sz="2400">
              <a:latin typeface="Georgia" panose="02040502050405020303" pitchFamily="18" charset="0"/>
            </a:endParaRPr>
          </a:p>
        </p:txBody>
      </p:sp>
      <p:sp>
        <p:nvSpPr>
          <p:cNvPr id="534564" name="Line 36"/>
          <p:cNvSpPr>
            <a:spLocks noChangeShapeType="1"/>
          </p:cNvSpPr>
          <p:nvPr/>
        </p:nvSpPr>
        <p:spPr bwMode="auto">
          <a:xfrm>
            <a:off x="4053880" y="4850904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65" name="Line 37"/>
          <p:cNvSpPr>
            <a:spLocks noChangeShapeType="1"/>
          </p:cNvSpPr>
          <p:nvPr/>
        </p:nvSpPr>
        <p:spPr bwMode="auto">
          <a:xfrm>
            <a:off x="5882680" y="5003304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4566" name="Line 38"/>
          <p:cNvSpPr>
            <a:spLocks noChangeShapeType="1"/>
          </p:cNvSpPr>
          <p:nvPr/>
        </p:nvSpPr>
        <p:spPr bwMode="auto">
          <a:xfrm>
            <a:off x="4053880" y="4546104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67" name="Line 39"/>
          <p:cNvSpPr>
            <a:spLocks noChangeShapeType="1"/>
          </p:cNvSpPr>
          <p:nvPr/>
        </p:nvSpPr>
        <p:spPr bwMode="auto">
          <a:xfrm>
            <a:off x="4053880" y="5003304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55"/>
          <p:cNvSpPr txBox="1">
            <a:spLocks noChangeArrowheads="1"/>
          </p:cNvSpPr>
          <p:nvPr/>
        </p:nvSpPr>
        <p:spPr bwMode="auto">
          <a:xfrm>
            <a:off x="1734983" y="4924085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3" name="Text Box 55"/>
          <p:cNvSpPr txBox="1">
            <a:spLocks noChangeArrowheads="1"/>
          </p:cNvSpPr>
          <p:nvPr/>
        </p:nvSpPr>
        <p:spPr bwMode="auto">
          <a:xfrm>
            <a:off x="1700331" y="4390685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53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3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53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53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53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53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53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53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53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63" grpId="0" animBg="1" autoUpdateAnimBg="0"/>
      <p:bldP spid="2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34DD8-7E8F-40DE-B677-C61C6F48EA9A}" type="slidenum">
              <a:rPr lang="en-US" altLang="zh-CN"/>
            </a:fld>
            <a:endParaRPr lang="en-US" altLang="zh-CN"/>
          </a:p>
        </p:txBody>
      </p:sp>
      <p:sp>
        <p:nvSpPr>
          <p:cNvPr id="535605" name="Line 53"/>
          <p:cNvSpPr>
            <a:spLocks noChangeShapeType="1"/>
          </p:cNvSpPr>
          <p:nvPr/>
        </p:nvSpPr>
        <p:spPr bwMode="auto">
          <a:xfrm>
            <a:off x="3810000" y="182880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54" name="Line 2"/>
          <p:cNvSpPr>
            <a:spLocks noChangeShapeType="1"/>
          </p:cNvSpPr>
          <p:nvPr/>
        </p:nvSpPr>
        <p:spPr bwMode="auto">
          <a:xfrm>
            <a:off x="5638800" y="190500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55" name="Line 3"/>
          <p:cNvSpPr>
            <a:spLocks noChangeShapeType="1"/>
          </p:cNvSpPr>
          <p:nvPr/>
        </p:nvSpPr>
        <p:spPr bwMode="auto">
          <a:xfrm>
            <a:off x="5029200" y="190500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  <a:endParaRPr lang="zh-CN" altLang="en-US" sz="3600" dirty="0"/>
          </a:p>
        </p:txBody>
      </p:sp>
      <p:sp>
        <p:nvSpPr>
          <p:cNvPr id="53555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179512" y="125730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主从</a:t>
            </a:r>
            <a:r>
              <a:rPr lang="en-US" altLang="zh-CN" sz="2800" dirty="0"/>
              <a:t>J-K</a:t>
            </a:r>
            <a:r>
              <a:rPr lang="zh-CN" altLang="en-US" sz="2800" dirty="0"/>
              <a:t>触发器和边沿</a:t>
            </a:r>
            <a:r>
              <a:rPr lang="en-US" altLang="zh-CN" sz="2800" dirty="0"/>
              <a:t>J-K</a:t>
            </a:r>
            <a:r>
              <a:rPr lang="zh-CN" altLang="en-US" sz="2800" dirty="0"/>
              <a:t>触发器的差别</a:t>
            </a:r>
            <a:endParaRPr lang="zh-CN" altLang="en-US" sz="2800" dirty="0"/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535558" name="Group 6"/>
          <p:cNvGrpSpPr/>
          <p:nvPr/>
        </p:nvGrpSpPr>
        <p:grpSpPr bwMode="auto">
          <a:xfrm>
            <a:off x="1447800" y="2057400"/>
            <a:ext cx="5105400" cy="533400"/>
            <a:chOff x="912" y="1296"/>
            <a:chExt cx="3216" cy="336"/>
          </a:xfrm>
        </p:grpSpPr>
        <p:sp>
          <p:nvSpPr>
            <p:cNvPr id="79927" name="Line 7"/>
            <p:cNvSpPr>
              <a:spLocks noChangeShapeType="1"/>
            </p:cNvSpPr>
            <p:nvPr/>
          </p:nvSpPr>
          <p:spPr bwMode="auto">
            <a:xfrm>
              <a:off x="1296" y="15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8" name="Line 8"/>
            <p:cNvSpPr>
              <a:spLocks noChangeShapeType="1"/>
            </p:cNvSpPr>
            <p:nvPr/>
          </p:nvSpPr>
          <p:spPr bwMode="auto">
            <a:xfrm flipV="1">
              <a:off x="1824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9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0" name="Line 10"/>
            <p:cNvSpPr>
              <a:spLocks noChangeShapeType="1"/>
            </p:cNvSpPr>
            <p:nvPr/>
          </p:nvSpPr>
          <p:spPr bwMode="auto">
            <a:xfrm>
              <a:off x="2400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1" name="Line 11"/>
            <p:cNvSpPr>
              <a:spLocks noChangeShapeType="1"/>
            </p:cNvSpPr>
            <p:nvPr/>
          </p:nvSpPr>
          <p:spPr bwMode="auto">
            <a:xfrm>
              <a:off x="2400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2" name="Line 12"/>
            <p:cNvSpPr>
              <a:spLocks noChangeShapeType="1"/>
            </p:cNvSpPr>
            <p:nvPr/>
          </p:nvSpPr>
          <p:spPr bwMode="auto">
            <a:xfrm flipV="1">
              <a:off x="2976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3" name="Line 13"/>
            <p:cNvSpPr>
              <a:spLocks noChangeShapeType="1"/>
            </p:cNvSpPr>
            <p:nvPr/>
          </p:nvSpPr>
          <p:spPr bwMode="auto">
            <a:xfrm>
              <a:off x="2976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4" name="Line 14"/>
            <p:cNvSpPr>
              <a:spLocks noChangeShapeType="1"/>
            </p:cNvSpPr>
            <p:nvPr/>
          </p:nvSpPr>
          <p:spPr bwMode="auto">
            <a:xfrm>
              <a:off x="355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5" name="Line 15"/>
            <p:cNvSpPr>
              <a:spLocks noChangeShapeType="1"/>
            </p:cNvSpPr>
            <p:nvPr/>
          </p:nvSpPr>
          <p:spPr bwMode="auto">
            <a:xfrm>
              <a:off x="3552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6" name="Text Box 16"/>
            <p:cNvSpPr txBox="1">
              <a:spLocks noChangeArrowheads="1"/>
            </p:cNvSpPr>
            <p:nvPr/>
          </p:nvSpPr>
          <p:spPr bwMode="auto">
            <a:xfrm>
              <a:off x="912" y="13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5569" name="Group 17"/>
          <p:cNvGrpSpPr/>
          <p:nvPr/>
        </p:nvGrpSpPr>
        <p:grpSpPr bwMode="auto">
          <a:xfrm>
            <a:off x="1447800" y="2590800"/>
            <a:ext cx="5105400" cy="533400"/>
            <a:chOff x="912" y="1872"/>
            <a:chExt cx="3216" cy="336"/>
          </a:xfrm>
        </p:grpSpPr>
        <p:sp>
          <p:nvSpPr>
            <p:cNvPr id="79921" name="Line 18"/>
            <p:cNvSpPr>
              <a:spLocks noChangeShapeType="1"/>
            </p:cNvSpPr>
            <p:nvPr/>
          </p:nvSpPr>
          <p:spPr bwMode="auto">
            <a:xfrm>
              <a:off x="1344" y="2112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2" name="Line 19"/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3" name="Line 20"/>
            <p:cNvSpPr>
              <a:spLocks noChangeShapeType="1"/>
            </p:cNvSpPr>
            <p:nvPr/>
          </p:nvSpPr>
          <p:spPr bwMode="auto">
            <a:xfrm>
              <a:off x="316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4" name="Line 21"/>
            <p:cNvSpPr>
              <a:spLocks noChangeShapeType="1"/>
            </p:cNvSpPr>
            <p:nvPr/>
          </p:nvSpPr>
          <p:spPr bwMode="auto">
            <a:xfrm>
              <a:off x="3456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5" name="Line 22"/>
            <p:cNvSpPr>
              <a:spLocks noChangeShapeType="1"/>
            </p:cNvSpPr>
            <p:nvPr/>
          </p:nvSpPr>
          <p:spPr bwMode="auto">
            <a:xfrm>
              <a:off x="3456" y="21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6" name="Rectangle 23"/>
            <p:cNvSpPr>
              <a:spLocks noChangeArrowheads="1"/>
            </p:cNvSpPr>
            <p:nvPr/>
          </p:nvSpPr>
          <p:spPr bwMode="auto">
            <a:xfrm>
              <a:off x="912" y="1920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5576" name="Group 24"/>
          <p:cNvGrpSpPr/>
          <p:nvPr/>
        </p:nvGrpSpPr>
        <p:grpSpPr bwMode="auto">
          <a:xfrm>
            <a:off x="1447800" y="3200400"/>
            <a:ext cx="5105400" cy="533400"/>
            <a:chOff x="912" y="2352"/>
            <a:chExt cx="3216" cy="336"/>
          </a:xfrm>
        </p:grpSpPr>
        <p:sp>
          <p:nvSpPr>
            <p:cNvPr id="79917" name="Line 25"/>
            <p:cNvSpPr>
              <a:spLocks noChangeShapeType="1"/>
            </p:cNvSpPr>
            <p:nvPr/>
          </p:nvSpPr>
          <p:spPr bwMode="auto">
            <a:xfrm>
              <a:off x="1344" y="259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8" name="Line 26"/>
            <p:cNvSpPr>
              <a:spLocks noChangeShapeType="1"/>
            </p:cNvSpPr>
            <p:nvPr/>
          </p:nvSpPr>
          <p:spPr bwMode="auto">
            <a:xfrm flipV="1">
              <a:off x="1632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9" name="Line 27"/>
            <p:cNvSpPr>
              <a:spLocks noChangeShapeType="1"/>
            </p:cNvSpPr>
            <p:nvPr/>
          </p:nvSpPr>
          <p:spPr bwMode="auto">
            <a:xfrm>
              <a:off x="1632" y="2352"/>
              <a:ext cx="2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0" name="Rectangle 28"/>
            <p:cNvSpPr>
              <a:spLocks noChangeArrowheads="1"/>
            </p:cNvSpPr>
            <p:nvPr/>
          </p:nvSpPr>
          <p:spPr bwMode="auto">
            <a:xfrm>
              <a:off x="912" y="240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35581" name="Line 29"/>
          <p:cNvSpPr>
            <a:spLocks noChangeShapeType="1"/>
          </p:cNvSpPr>
          <p:nvPr/>
        </p:nvSpPr>
        <p:spPr bwMode="auto">
          <a:xfrm flipV="1">
            <a:off x="2895600" y="4114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82" name="Line 30"/>
          <p:cNvSpPr>
            <a:spLocks noChangeShapeType="1"/>
          </p:cNvSpPr>
          <p:nvPr/>
        </p:nvSpPr>
        <p:spPr bwMode="auto">
          <a:xfrm flipV="1">
            <a:off x="5029200" y="3733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83" name="Line 31"/>
          <p:cNvSpPr>
            <a:spLocks noChangeShapeType="1"/>
          </p:cNvSpPr>
          <p:nvPr/>
        </p:nvSpPr>
        <p:spPr bwMode="auto">
          <a:xfrm>
            <a:off x="5029200" y="37338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84" name="Line 32"/>
          <p:cNvSpPr>
            <a:spLocks noChangeShapeType="1"/>
          </p:cNvSpPr>
          <p:nvPr/>
        </p:nvSpPr>
        <p:spPr bwMode="auto">
          <a:xfrm>
            <a:off x="5029200" y="47244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85" name="Line 33"/>
          <p:cNvSpPr>
            <a:spLocks noChangeShapeType="1"/>
          </p:cNvSpPr>
          <p:nvPr/>
        </p:nvSpPr>
        <p:spPr bwMode="auto">
          <a:xfrm flipV="1">
            <a:off x="50292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86" name="Line 34"/>
          <p:cNvSpPr>
            <a:spLocks noChangeShapeType="1"/>
          </p:cNvSpPr>
          <p:nvPr/>
        </p:nvSpPr>
        <p:spPr bwMode="auto">
          <a:xfrm>
            <a:off x="2893672" y="4329185"/>
            <a:ext cx="916327" cy="142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89" name="Line 37"/>
          <p:cNvSpPr>
            <a:spLocks noChangeShapeType="1"/>
          </p:cNvSpPr>
          <p:nvPr/>
        </p:nvSpPr>
        <p:spPr bwMode="auto">
          <a:xfrm>
            <a:off x="2057400" y="5181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90" name="Line 38"/>
          <p:cNvSpPr>
            <a:spLocks noChangeShapeType="1"/>
          </p:cNvSpPr>
          <p:nvPr/>
        </p:nvSpPr>
        <p:spPr bwMode="auto">
          <a:xfrm flipV="1">
            <a:off x="3810000" y="5181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91" name="Line 39"/>
          <p:cNvSpPr>
            <a:spLocks noChangeShapeType="1"/>
          </p:cNvSpPr>
          <p:nvPr/>
        </p:nvSpPr>
        <p:spPr bwMode="auto">
          <a:xfrm>
            <a:off x="5638800" y="51816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92" name="Line 40"/>
          <p:cNvSpPr>
            <a:spLocks noChangeShapeType="1"/>
          </p:cNvSpPr>
          <p:nvPr/>
        </p:nvSpPr>
        <p:spPr bwMode="auto">
          <a:xfrm>
            <a:off x="3810000" y="5791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93" name="Line 41"/>
          <p:cNvSpPr>
            <a:spLocks noChangeShapeType="1"/>
          </p:cNvSpPr>
          <p:nvPr/>
        </p:nvSpPr>
        <p:spPr bwMode="auto">
          <a:xfrm flipV="1">
            <a:off x="5638800" y="5791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94" name="Line 42"/>
          <p:cNvSpPr>
            <a:spLocks noChangeShapeType="1"/>
          </p:cNvSpPr>
          <p:nvPr/>
        </p:nvSpPr>
        <p:spPr bwMode="auto">
          <a:xfrm>
            <a:off x="2057400" y="6172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597" name="AutoShape 45"/>
          <p:cNvSpPr>
            <a:spLocks noChangeArrowheads="1"/>
          </p:cNvSpPr>
          <p:nvPr/>
        </p:nvSpPr>
        <p:spPr bwMode="auto">
          <a:xfrm>
            <a:off x="228600" y="3581400"/>
            <a:ext cx="914400" cy="838200"/>
          </a:xfrm>
          <a:prstGeom prst="wedgeRoundRectCallout">
            <a:avLst>
              <a:gd name="adj1" fmla="val 83856"/>
              <a:gd name="adj2" fmla="val 35796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Georgia" panose="02040502050405020303" pitchFamily="18" charset="0"/>
              </a:rPr>
              <a:t>主触发器</a:t>
            </a:r>
            <a:endParaRPr lang="zh-CN" altLang="en-US" sz="2400">
              <a:latin typeface="Georgia" panose="02040502050405020303" pitchFamily="18" charset="0"/>
            </a:endParaRPr>
          </a:p>
        </p:txBody>
      </p:sp>
      <p:sp>
        <p:nvSpPr>
          <p:cNvPr id="535598" name="AutoShape 46"/>
          <p:cNvSpPr>
            <a:spLocks noChangeArrowheads="1"/>
          </p:cNvSpPr>
          <p:nvPr/>
        </p:nvSpPr>
        <p:spPr bwMode="auto">
          <a:xfrm>
            <a:off x="228600" y="4953000"/>
            <a:ext cx="914400" cy="838200"/>
          </a:xfrm>
          <a:prstGeom prst="wedgeRoundRectCallout">
            <a:avLst>
              <a:gd name="adj1" fmla="val 83856"/>
              <a:gd name="adj2" fmla="val 35796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Georgia" panose="02040502050405020303" pitchFamily="18" charset="0"/>
              </a:rPr>
              <a:t>从触发器</a:t>
            </a:r>
            <a:endParaRPr lang="zh-CN" altLang="en-US" sz="2400">
              <a:latin typeface="Georgia" panose="02040502050405020303" pitchFamily="18" charset="0"/>
            </a:endParaRPr>
          </a:p>
        </p:txBody>
      </p:sp>
      <p:grpSp>
        <p:nvGrpSpPr>
          <p:cNvPr id="535602" name="Group 50"/>
          <p:cNvGrpSpPr/>
          <p:nvPr/>
        </p:nvGrpSpPr>
        <p:grpSpPr bwMode="auto">
          <a:xfrm>
            <a:off x="5181600" y="3810000"/>
            <a:ext cx="3505200" cy="396875"/>
            <a:chOff x="1440" y="3840"/>
            <a:chExt cx="2208" cy="250"/>
          </a:xfrm>
        </p:grpSpPr>
        <p:sp>
          <p:nvSpPr>
            <p:cNvPr id="79915" name="Text Box 48"/>
            <p:cNvSpPr txBox="1">
              <a:spLocks noChangeArrowheads="1"/>
            </p:cNvSpPr>
            <p:nvPr/>
          </p:nvSpPr>
          <p:spPr bwMode="auto">
            <a:xfrm>
              <a:off x="1440" y="3840"/>
              <a:ext cx="2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Georgia" panose="02040502050405020303" pitchFamily="18" charset="0"/>
                </a:rPr>
                <a:t>(JQ=0,KQ=0, Q</a:t>
              </a:r>
              <a:r>
                <a:rPr lang="zh-CN" altLang="en-US" sz="1200" b="1" dirty="0">
                  <a:latin typeface="Georgia" panose="02040502050405020303" pitchFamily="18" charset="0"/>
                </a:rPr>
                <a:t>主</a:t>
              </a:r>
              <a:r>
                <a:rPr lang="zh-CN" altLang="en-US" sz="2000" b="1" dirty="0">
                  <a:latin typeface="Georgia" panose="02040502050405020303" pitchFamily="18" charset="0"/>
                </a:rPr>
                <a:t>不会变化</a:t>
              </a:r>
              <a:r>
                <a:rPr lang="en-US" altLang="zh-CN" sz="2000" b="1" dirty="0">
                  <a:latin typeface="Georgia" panose="02040502050405020303" pitchFamily="18" charset="0"/>
                </a:rPr>
                <a:t>)</a:t>
              </a:r>
              <a:endParaRPr lang="en-US" altLang="zh-CN" sz="2000" b="1" dirty="0">
                <a:latin typeface="Georgia" panose="02040502050405020303" pitchFamily="18" charset="0"/>
              </a:endParaRPr>
            </a:p>
          </p:txBody>
        </p:sp>
        <p:sp>
          <p:nvSpPr>
            <p:cNvPr id="79916" name="Line 49"/>
            <p:cNvSpPr>
              <a:spLocks noChangeShapeType="1"/>
            </p:cNvSpPr>
            <p:nvPr/>
          </p:nvSpPr>
          <p:spPr bwMode="auto">
            <a:xfrm>
              <a:off x="1667" y="3885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5603" name="Line 51"/>
          <p:cNvSpPr>
            <a:spLocks noChangeShapeType="1"/>
          </p:cNvSpPr>
          <p:nvPr/>
        </p:nvSpPr>
        <p:spPr bwMode="auto">
          <a:xfrm>
            <a:off x="5486400" y="1905000"/>
            <a:ext cx="0" cy="449580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04" name="Line 52"/>
          <p:cNvSpPr>
            <a:spLocks noChangeShapeType="1"/>
          </p:cNvSpPr>
          <p:nvPr/>
        </p:nvSpPr>
        <p:spPr bwMode="auto">
          <a:xfrm>
            <a:off x="5486400" y="37338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06" name="Line 54"/>
          <p:cNvSpPr>
            <a:spLocks noChangeShapeType="1"/>
          </p:cNvSpPr>
          <p:nvPr/>
        </p:nvSpPr>
        <p:spPr bwMode="auto">
          <a:xfrm flipV="1">
            <a:off x="3810000" y="41148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07" name="Line 55"/>
          <p:cNvSpPr>
            <a:spLocks noChangeShapeType="1"/>
          </p:cNvSpPr>
          <p:nvPr/>
        </p:nvSpPr>
        <p:spPr bwMode="auto">
          <a:xfrm>
            <a:off x="3810000" y="43434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08" name="Line 56"/>
          <p:cNvSpPr>
            <a:spLocks noChangeShapeType="1"/>
          </p:cNvSpPr>
          <p:nvPr/>
        </p:nvSpPr>
        <p:spPr bwMode="auto">
          <a:xfrm>
            <a:off x="3810000" y="55626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09" name="Line 57"/>
          <p:cNvSpPr>
            <a:spLocks noChangeShapeType="1"/>
          </p:cNvSpPr>
          <p:nvPr/>
        </p:nvSpPr>
        <p:spPr bwMode="auto">
          <a:xfrm flipV="1">
            <a:off x="3810000" y="5791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10" name="Line 58"/>
          <p:cNvSpPr>
            <a:spLocks noChangeShapeType="1"/>
          </p:cNvSpPr>
          <p:nvPr/>
        </p:nvSpPr>
        <p:spPr bwMode="auto">
          <a:xfrm>
            <a:off x="5029200" y="55626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11" name="Line 59"/>
          <p:cNvSpPr>
            <a:spLocks noChangeShapeType="1"/>
          </p:cNvSpPr>
          <p:nvPr/>
        </p:nvSpPr>
        <p:spPr bwMode="auto">
          <a:xfrm>
            <a:off x="5029200" y="57912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12" name="Line 60"/>
          <p:cNvSpPr>
            <a:spLocks noChangeShapeType="1"/>
          </p:cNvSpPr>
          <p:nvPr/>
        </p:nvSpPr>
        <p:spPr bwMode="auto">
          <a:xfrm flipV="1">
            <a:off x="5638800" y="5181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13" name="Line 61"/>
          <p:cNvSpPr>
            <a:spLocks noChangeShapeType="1"/>
          </p:cNvSpPr>
          <p:nvPr/>
        </p:nvSpPr>
        <p:spPr bwMode="auto">
          <a:xfrm>
            <a:off x="5638800" y="61722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14" name="Line 62"/>
          <p:cNvSpPr>
            <a:spLocks noChangeShapeType="1"/>
          </p:cNvSpPr>
          <p:nvPr/>
        </p:nvSpPr>
        <p:spPr bwMode="auto">
          <a:xfrm>
            <a:off x="5486400" y="47244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5615" name="Text Box 63"/>
          <p:cNvSpPr txBox="1">
            <a:spLocks noChangeArrowheads="1"/>
          </p:cNvSpPr>
          <p:nvPr/>
        </p:nvSpPr>
        <p:spPr bwMode="auto">
          <a:xfrm>
            <a:off x="6781800" y="4800600"/>
            <a:ext cx="2362200" cy="193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/>
              <a:t>问题：此时刻</a:t>
            </a:r>
            <a:r>
              <a:rPr lang="en-US" altLang="zh-CN" sz="2000"/>
              <a:t>J</a:t>
            </a:r>
            <a:r>
              <a:rPr lang="zh-CN" altLang="en-US" sz="2000"/>
              <a:t>＝</a:t>
            </a:r>
            <a:r>
              <a:rPr lang="en-US" altLang="zh-CN" sz="2000"/>
              <a:t>0</a:t>
            </a:r>
            <a:r>
              <a:rPr lang="zh-CN" altLang="en-US" sz="2000"/>
              <a:t>，</a:t>
            </a:r>
            <a:r>
              <a:rPr lang="en-US" altLang="zh-CN" sz="2000"/>
              <a:t>K</a:t>
            </a:r>
            <a:r>
              <a:rPr lang="zh-CN" altLang="en-US" sz="2000"/>
              <a:t>＝</a:t>
            </a:r>
            <a:r>
              <a:rPr lang="en-US" altLang="zh-CN" sz="2000"/>
              <a:t>1</a:t>
            </a:r>
            <a:r>
              <a:rPr lang="zh-CN" altLang="en-US" sz="2000"/>
              <a:t>，从触发器的输出应为：</a:t>
            </a:r>
            <a:r>
              <a:rPr lang="en-US" altLang="zh-CN" sz="2000"/>
              <a:t>Q</a:t>
            </a:r>
            <a:r>
              <a:rPr lang="zh-CN" altLang="en-US" sz="2000"/>
              <a:t>＝</a:t>
            </a:r>
            <a:r>
              <a:rPr lang="en-US" altLang="zh-CN" sz="2000"/>
              <a:t>0</a:t>
            </a:r>
            <a:r>
              <a:rPr lang="zh-CN" altLang="en-US" sz="2000"/>
              <a:t>。实际结果：</a:t>
            </a:r>
            <a:r>
              <a:rPr lang="en-US" altLang="zh-CN" sz="2000"/>
              <a:t>Q</a:t>
            </a:r>
            <a:r>
              <a:rPr lang="zh-CN" altLang="en-US" sz="2000"/>
              <a:t>＝</a:t>
            </a:r>
            <a:r>
              <a:rPr lang="en-US" altLang="zh-CN" sz="2000"/>
              <a:t>1</a:t>
            </a:r>
            <a:r>
              <a:rPr lang="zh-CN" altLang="en-US" sz="2000"/>
              <a:t>，与</a:t>
            </a:r>
            <a:r>
              <a:rPr lang="en-US" altLang="zh-CN" sz="2000"/>
              <a:t>JK</a:t>
            </a:r>
            <a:r>
              <a:rPr lang="zh-CN" altLang="en-US" sz="2000"/>
              <a:t>触发器功能表不符</a:t>
            </a:r>
            <a:endParaRPr lang="zh-CN" altLang="en-US" sz="2000"/>
          </a:p>
        </p:txBody>
      </p:sp>
      <p:sp>
        <p:nvSpPr>
          <p:cNvPr id="535616" name="Line 64"/>
          <p:cNvSpPr>
            <a:spLocks noChangeShapeType="1"/>
          </p:cNvSpPr>
          <p:nvPr/>
        </p:nvSpPr>
        <p:spPr bwMode="auto">
          <a:xfrm flipH="1" flipV="1">
            <a:off x="5715000" y="5257800"/>
            <a:ext cx="1066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6963869" y="-71765"/>
            <a:ext cx="1756730" cy="3653283"/>
            <a:chOff x="4595565" y="-14682"/>
            <a:chExt cx="3853110" cy="6740921"/>
          </a:xfrm>
        </p:grpSpPr>
        <p:sp>
          <p:nvSpPr>
            <p:cNvPr id="67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87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06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4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5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7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3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8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1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9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9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0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2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7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3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5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4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3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5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1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6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7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8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9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8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1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2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3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4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5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36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70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71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80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82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4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6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81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2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73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75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6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7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4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Text Box 55"/>
          <p:cNvSpPr txBox="1">
            <a:spLocks noChangeArrowheads="1"/>
          </p:cNvSpPr>
          <p:nvPr/>
        </p:nvSpPr>
        <p:spPr bwMode="auto">
          <a:xfrm>
            <a:off x="1387767" y="5614933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3" name="Text Box 55"/>
          <p:cNvSpPr txBox="1">
            <a:spLocks noChangeArrowheads="1"/>
          </p:cNvSpPr>
          <p:nvPr/>
        </p:nvSpPr>
        <p:spPr bwMode="auto">
          <a:xfrm>
            <a:off x="1396841" y="5073466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4" name="Text Box 55"/>
          <p:cNvSpPr txBox="1">
            <a:spLocks noChangeArrowheads="1"/>
          </p:cNvSpPr>
          <p:nvPr/>
        </p:nvSpPr>
        <p:spPr bwMode="auto">
          <a:xfrm>
            <a:off x="1427265" y="4023204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5" name="Text Box 55"/>
          <p:cNvSpPr txBox="1">
            <a:spLocks noChangeArrowheads="1"/>
          </p:cNvSpPr>
          <p:nvPr/>
        </p:nvSpPr>
        <p:spPr bwMode="auto">
          <a:xfrm>
            <a:off x="1393251" y="3757686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6" name="Line 53"/>
          <p:cNvSpPr>
            <a:spLocks noChangeShapeType="1"/>
          </p:cNvSpPr>
          <p:nvPr/>
        </p:nvSpPr>
        <p:spPr bwMode="auto">
          <a:xfrm>
            <a:off x="2895600" y="1852667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2183002" y="3748032"/>
            <a:ext cx="730632" cy="96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30"/>
          <p:cNvSpPr>
            <a:spLocks noChangeShapeType="1"/>
          </p:cNvSpPr>
          <p:nvPr/>
        </p:nvSpPr>
        <p:spPr bwMode="auto">
          <a:xfrm flipV="1">
            <a:off x="2913634" y="374803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29"/>
          <p:cNvSpPr>
            <a:spLocks noChangeShapeType="1"/>
          </p:cNvSpPr>
          <p:nvPr/>
        </p:nvSpPr>
        <p:spPr bwMode="auto">
          <a:xfrm>
            <a:off x="2173985" y="4714747"/>
            <a:ext cx="730632" cy="96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0"/>
          <p:cNvSpPr>
            <a:spLocks noChangeShapeType="1"/>
          </p:cNvSpPr>
          <p:nvPr/>
        </p:nvSpPr>
        <p:spPr bwMode="auto">
          <a:xfrm flipV="1">
            <a:off x="2893672" y="4336596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53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53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53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53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53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0" dur="500"/>
                                        <p:tgtEl>
                                          <p:spTgt spid="53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5" dur="500"/>
                                        <p:tgtEl>
                                          <p:spTgt spid="53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0" dur="500"/>
                                        <p:tgtEl>
                                          <p:spTgt spid="53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500"/>
                                        <p:tgtEl>
                                          <p:spTgt spid="5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53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5" dur="500"/>
                                        <p:tgtEl>
                                          <p:spTgt spid="53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5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5" dur="500"/>
                                        <p:tgtEl>
                                          <p:spTgt spid="53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0" dur="500"/>
                                        <p:tgtEl>
                                          <p:spTgt spid="53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5" dur="500"/>
                                        <p:tgtEl>
                                          <p:spTgt spid="53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0" dur="500"/>
                                        <p:tgtEl>
                                          <p:spTgt spid="53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5" dur="500"/>
                                        <p:tgtEl>
                                          <p:spTgt spid="53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0" dur="500"/>
                                        <p:tgtEl>
                                          <p:spTgt spid="53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5" dur="500"/>
                                        <p:tgtEl>
                                          <p:spTgt spid="53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6" dur="500"/>
                                        <p:tgtEl>
                                          <p:spTgt spid="53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1" dur="500"/>
                                        <p:tgtEl>
                                          <p:spTgt spid="53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6" dur="500"/>
                                        <p:tgtEl>
                                          <p:spTgt spid="5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1" dur="500"/>
                                        <p:tgtEl>
                                          <p:spTgt spid="53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6" dur="500"/>
                                        <p:tgtEl>
                                          <p:spTgt spid="5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1" dur="500"/>
                                        <p:tgtEl>
                                          <p:spTgt spid="53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6" dur="500"/>
                                        <p:tgtEl>
                                          <p:spTgt spid="53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53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6" dur="500"/>
                                        <p:tgtEl>
                                          <p:spTgt spid="53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97" grpId="0" animBg="1" autoUpdateAnimBg="0"/>
      <p:bldP spid="535598" grpId="0" animBg="1" autoUpdateAnimBg="0"/>
      <p:bldP spid="535615" grpId="0" animBg="1" autoUpdateAnimBg="0"/>
      <p:bldP spid="2" grpId="0"/>
      <p:bldP spid="3" grpId="0"/>
      <p:bldP spid="4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EFFC2-3228-4BBF-8FB7-DE0412FF31F0}" type="slidenum">
              <a:rPr lang="en-US" altLang="zh-CN"/>
            </a:fld>
            <a:endParaRPr lang="en-US" altLang="zh-CN"/>
          </a:p>
        </p:txBody>
      </p:sp>
      <p:sp>
        <p:nvSpPr>
          <p:cNvPr id="80899" name="Line 2"/>
          <p:cNvSpPr>
            <a:spLocks noChangeShapeType="1"/>
          </p:cNvSpPr>
          <p:nvPr/>
        </p:nvSpPr>
        <p:spPr bwMode="auto">
          <a:xfrm>
            <a:off x="3995936" y="208572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0" name="Line 3"/>
          <p:cNvSpPr>
            <a:spLocks noChangeShapeType="1"/>
          </p:cNvSpPr>
          <p:nvPr/>
        </p:nvSpPr>
        <p:spPr bwMode="auto">
          <a:xfrm>
            <a:off x="5824736" y="2009520"/>
            <a:ext cx="0" cy="4648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8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63488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触发器和边沿</a:t>
            </a:r>
            <a:r>
              <a:rPr lang="en-US" altLang="zh-CN" dirty="0"/>
              <a:t>J-K</a:t>
            </a:r>
            <a:r>
              <a:rPr lang="zh-CN" altLang="en-US" dirty="0"/>
              <a:t>触发器的差别</a:t>
            </a:r>
            <a:endParaRPr lang="zh-CN" altLang="en-US" dirty="0"/>
          </a:p>
        </p:txBody>
      </p:sp>
      <p:grpSp>
        <p:nvGrpSpPr>
          <p:cNvPr id="80903" name="Group 6"/>
          <p:cNvGrpSpPr/>
          <p:nvPr/>
        </p:nvGrpSpPr>
        <p:grpSpPr bwMode="auto">
          <a:xfrm>
            <a:off x="1633736" y="2238120"/>
            <a:ext cx="5105400" cy="533400"/>
            <a:chOff x="912" y="1296"/>
            <a:chExt cx="3216" cy="336"/>
          </a:xfrm>
        </p:grpSpPr>
        <p:sp>
          <p:nvSpPr>
            <p:cNvPr id="80944" name="Line 7"/>
            <p:cNvSpPr>
              <a:spLocks noChangeShapeType="1"/>
            </p:cNvSpPr>
            <p:nvPr/>
          </p:nvSpPr>
          <p:spPr bwMode="auto">
            <a:xfrm>
              <a:off x="1296" y="15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5" name="Line 8"/>
            <p:cNvSpPr>
              <a:spLocks noChangeShapeType="1"/>
            </p:cNvSpPr>
            <p:nvPr/>
          </p:nvSpPr>
          <p:spPr bwMode="auto">
            <a:xfrm flipV="1">
              <a:off x="1824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6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7" name="Line 10"/>
            <p:cNvSpPr>
              <a:spLocks noChangeShapeType="1"/>
            </p:cNvSpPr>
            <p:nvPr/>
          </p:nvSpPr>
          <p:spPr bwMode="auto">
            <a:xfrm>
              <a:off x="2400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8" name="Line 11"/>
            <p:cNvSpPr>
              <a:spLocks noChangeShapeType="1"/>
            </p:cNvSpPr>
            <p:nvPr/>
          </p:nvSpPr>
          <p:spPr bwMode="auto">
            <a:xfrm>
              <a:off x="2400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9" name="Line 12"/>
            <p:cNvSpPr>
              <a:spLocks noChangeShapeType="1"/>
            </p:cNvSpPr>
            <p:nvPr/>
          </p:nvSpPr>
          <p:spPr bwMode="auto">
            <a:xfrm flipV="1">
              <a:off x="2976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0" name="Line 13"/>
            <p:cNvSpPr>
              <a:spLocks noChangeShapeType="1"/>
            </p:cNvSpPr>
            <p:nvPr/>
          </p:nvSpPr>
          <p:spPr bwMode="auto">
            <a:xfrm>
              <a:off x="2976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1" name="Line 14"/>
            <p:cNvSpPr>
              <a:spLocks noChangeShapeType="1"/>
            </p:cNvSpPr>
            <p:nvPr/>
          </p:nvSpPr>
          <p:spPr bwMode="auto">
            <a:xfrm>
              <a:off x="355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2" name="Line 15"/>
            <p:cNvSpPr>
              <a:spLocks noChangeShapeType="1"/>
            </p:cNvSpPr>
            <p:nvPr/>
          </p:nvSpPr>
          <p:spPr bwMode="auto">
            <a:xfrm>
              <a:off x="3552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53" name="Text Box 16"/>
            <p:cNvSpPr txBox="1">
              <a:spLocks noChangeArrowheads="1"/>
            </p:cNvSpPr>
            <p:nvPr/>
          </p:nvSpPr>
          <p:spPr bwMode="auto">
            <a:xfrm>
              <a:off x="912" y="13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80904" name="Group 17"/>
          <p:cNvGrpSpPr/>
          <p:nvPr/>
        </p:nvGrpSpPr>
        <p:grpSpPr bwMode="auto">
          <a:xfrm>
            <a:off x="1633736" y="2771520"/>
            <a:ext cx="5105400" cy="533400"/>
            <a:chOff x="912" y="1872"/>
            <a:chExt cx="3216" cy="336"/>
          </a:xfrm>
        </p:grpSpPr>
        <p:sp>
          <p:nvSpPr>
            <p:cNvPr id="80938" name="Line 18"/>
            <p:cNvSpPr>
              <a:spLocks noChangeShapeType="1"/>
            </p:cNvSpPr>
            <p:nvPr/>
          </p:nvSpPr>
          <p:spPr bwMode="auto">
            <a:xfrm>
              <a:off x="1344" y="2112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9" name="Line 19"/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0" name="Line 20"/>
            <p:cNvSpPr>
              <a:spLocks noChangeShapeType="1"/>
            </p:cNvSpPr>
            <p:nvPr/>
          </p:nvSpPr>
          <p:spPr bwMode="auto">
            <a:xfrm>
              <a:off x="316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1" name="Line 21"/>
            <p:cNvSpPr>
              <a:spLocks noChangeShapeType="1"/>
            </p:cNvSpPr>
            <p:nvPr/>
          </p:nvSpPr>
          <p:spPr bwMode="auto">
            <a:xfrm>
              <a:off x="3456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2" name="Line 22"/>
            <p:cNvSpPr>
              <a:spLocks noChangeShapeType="1"/>
            </p:cNvSpPr>
            <p:nvPr/>
          </p:nvSpPr>
          <p:spPr bwMode="auto">
            <a:xfrm>
              <a:off x="3456" y="21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3" name="Rectangle 23"/>
            <p:cNvSpPr>
              <a:spLocks noChangeArrowheads="1"/>
            </p:cNvSpPr>
            <p:nvPr/>
          </p:nvSpPr>
          <p:spPr bwMode="auto">
            <a:xfrm>
              <a:off x="912" y="1920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80905" name="Group 24"/>
          <p:cNvGrpSpPr/>
          <p:nvPr/>
        </p:nvGrpSpPr>
        <p:grpSpPr bwMode="auto">
          <a:xfrm>
            <a:off x="1633736" y="3381120"/>
            <a:ext cx="5105400" cy="533400"/>
            <a:chOff x="912" y="2352"/>
            <a:chExt cx="3216" cy="336"/>
          </a:xfrm>
        </p:grpSpPr>
        <p:sp>
          <p:nvSpPr>
            <p:cNvPr id="80934" name="Line 25"/>
            <p:cNvSpPr>
              <a:spLocks noChangeShapeType="1"/>
            </p:cNvSpPr>
            <p:nvPr/>
          </p:nvSpPr>
          <p:spPr bwMode="auto">
            <a:xfrm>
              <a:off x="1344" y="259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5" name="Line 26"/>
            <p:cNvSpPr>
              <a:spLocks noChangeShapeType="1"/>
            </p:cNvSpPr>
            <p:nvPr/>
          </p:nvSpPr>
          <p:spPr bwMode="auto">
            <a:xfrm flipV="1">
              <a:off x="1632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6" name="Line 27"/>
            <p:cNvSpPr>
              <a:spLocks noChangeShapeType="1"/>
            </p:cNvSpPr>
            <p:nvPr/>
          </p:nvSpPr>
          <p:spPr bwMode="auto">
            <a:xfrm>
              <a:off x="1632" y="2352"/>
              <a:ext cx="2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7" name="Rectangle 28"/>
            <p:cNvSpPr>
              <a:spLocks noChangeArrowheads="1"/>
            </p:cNvSpPr>
            <p:nvPr/>
          </p:nvSpPr>
          <p:spPr bwMode="auto">
            <a:xfrm>
              <a:off x="912" y="240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K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078621" y="1935478"/>
            <a:ext cx="1756730" cy="3653283"/>
            <a:chOff x="4595565" y="-14682"/>
            <a:chExt cx="3853110" cy="6740921"/>
          </a:xfrm>
        </p:grpSpPr>
        <p:sp>
          <p:nvSpPr>
            <p:cNvPr id="60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80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99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7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8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0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5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6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1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3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4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2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1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2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03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5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39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0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6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37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8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7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35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6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8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33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4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9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0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1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2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1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4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5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6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7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8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29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63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64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73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75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7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9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4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66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68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9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0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67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109736" y="3914520"/>
            <a:ext cx="6629400" cy="1295400"/>
            <a:chOff x="109736" y="3914520"/>
            <a:chExt cx="6629400" cy="1295400"/>
          </a:xfrm>
        </p:grpSpPr>
        <p:grpSp>
          <p:nvGrpSpPr>
            <p:cNvPr id="80906" name="Group 56"/>
            <p:cNvGrpSpPr/>
            <p:nvPr/>
          </p:nvGrpSpPr>
          <p:grpSpPr bwMode="auto">
            <a:xfrm>
              <a:off x="109736" y="3914520"/>
              <a:ext cx="6629400" cy="1219200"/>
              <a:chOff x="576" y="2496"/>
              <a:chExt cx="4176" cy="768"/>
            </a:xfrm>
          </p:grpSpPr>
          <p:sp>
            <p:nvSpPr>
              <p:cNvPr id="80923" name="Line 29"/>
              <p:cNvSpPr>
                <a:spLocks noChangeShapeType="1"/>
              </p:cNvSpPr>
              <p:nvPr/>
            </p:nvSpPr>
            <p:spPr bwMode="auto">
              <a:xfrm>
                <a:off x="1920" y="2688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4" name="Line 30"/>
              <p:cNvSpPr>
                <a:spLocks noChangeShapeType="1"/>
              </p:cNvSpPr>
              <p:nvPr/>
            </p:nvSpPr>
            <p:spPr bwMode="auto">
              <a:xfrm>
                <a:off x="4176" y="2880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5" name="Line 31"/>
              <p:cNvSpPr>
                <a:spLocks noChangeShapeType="1"/>
              </p:cNvSpPr>
              <p:nvPr/>
            </p:nvSpPr>
            <p:spPr bwMode="auto">
              <a:xfrm>
                <a:off x="3024" y="2976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6" name="Line 32"/>
              <p:cNvSpPr>
                <a:spLocks noChangeShapeType="1"/>
              </p:cNvSpPr>
              <p:nvPr/>
            </p:nvSpPr>
            <p:spPr bwMode="auto">
              <a:xfrm>
                <a:off x="1920" y="3264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9" name="AutoShape 35"/>
              <p:cNvSpPr>
                <a:spLocks noChangeArrowheads="1"/>
              </p:cNvSpPr>
              <p:nvPr/>
            </p:nvSpPr>
            <p:spPr bwMode="auto">
              <a:xfrm>
                <a:off x="576" y="2496"/>
                <a:ext cx="672" cy="528"/>
              </a:xfrm>
              <a:prstGeom prst="wedgeRoundRectCallout">
                <a:avLst>
                  <a:gd name="adj1" fmla="val 96875"/>
                  <a:gd name="adj2" fmla="val 32764"/>
                  <a:gd name="adj3" fmla="val 16667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latin typeface="Georgia" panose="02040502050405020303" pitchFamily="18" charset="0"/>
                  </a:rPr>
                  <a:t>边沿触发器</a:t>
                </a:r>
                <a:endParaRPr lang="zh-CN" altLang="en-US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80930" name="Line 36"/>
              <p:cNvSpPr>
                <a:spLocks noChangeShapeType="1"/>
              </p:cNvSpPr>
              <p:nvPr/>
            </p:nvSpPr>
            <p:spPr bwMode="auto">
              <a:xfrm>
                <a:off x="3024" y="2880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1" name="Line 37"/>
              <p:cNvSpPr>
                <a:spLocks noChangeShapeType="1"/>
              </p:cNvSpPr>
              <p:nvPr/>
            </p:nvSpPr>
            <p:spPr bwMode="auto">
              <a:xfrm>
                <a:off x="4176" y="2976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2" name="Line 38"/>
              <p:cNvSpPr>
                <a:spLocks noChangeShapeType="1"/>
              </p:cNvSpPr>
              <p:nvPr/>
            </p:nvSpPr>
            <p:spPr bwMode="auto">
              <a:xfrm>
                <a:off x="3024" y="2688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33" name="Line 39"/>
              <p:cNvSpPr>
                <a:spLocks noChangeShapeType="1"/>
              </p:cNvSpPr>
              <p:nvPr/>
            </p:nvSpPr>
            <p:spPr bwMode="auto">
              <a:xfrm>
                <a:off x="3024" y="2976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" name="Text Box 55"/>
            <p:cNvSpPr txBox="1">
              <a:spLocks noChangeArrowheads="1"/>
            </p:cNvSpPr>
            <p:nvPr/>
          </p:nvSpPr>
          <p:spPr bwMode="auto">
            <a:xfrm>
              <a:off x="1633736" y="447638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3" name="Text Box 55"/>
            <p:cNvSpPr txBox="1">
              <a:spLocks noChangeArrowheads="1"/>
            </p:cNvSpPr>
            <p:nvPr/>
          </p:nvSpPr>
          <p:spPr bwMode="auto">
            <a:xfrm>
              <a:off x="1617826" y="4165946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9736" y="5209920"/>
            <a:ext cx="6705600" cy="1277873"/>
            <a:chOff x="109736" y="5209920"/>
            <a:chExt cx="6705600" cy="1277873"/>
          </a:xfrm>
        </p:grpSpPr>
        <p:grpSp>
          <p:nvGrpSpPr>
            <p:cNvPr id="80907" name="Group 57"/>
            <p:cNvGrpSpPr/>
            <p:nvPr/>
          </p:nvGrpSpPr>
          <p:grpSpPr bwMode="auto">
            <a:xfrm>
              <a:off x="109736" y="5209920"/>
              <a:ext cx="6705600" cy="1219200"/>
              <a:chOff x="576" y="3312"/>
              <a:chExt cx="4224" cy="768"/>
            </a:xfrm>
          </p:grpSpPr>
          <p:sp>
            <p:nvSpPr>
              <p:cNvPr id="80908" name="Line 40"/>
              <p:cNvSpPr>
                <a:spLocks noChangeShapeType="1"/>
              </p:cNvSpPr>
              <p:nvPr/>
            </p:nvSpPr>
            <p:spPr bwMode="auto">
              <a:xfrm>
                <a:off x="1920" y="345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9" name="Line 41"/>
              <p:cNvSpPr>
                <a:spLocks noChangeShapeType="1"/>
              </p:cNvSpPr>
              <p:nvPr/>
            </p:nvSpPr>
            <p:spPr bwMode="auto">
              <a:xfrm flipV="1">
                <a:off x="3024" y="345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0" name="Line 42"/>
              <p:cNvSpPr>
                <a:spLocks noChangeShapeType="1"/>
              </p:cNvSpPr>
              <p:nvPr/>
            </p:nvSpPr>
            <p:spPr bwMode="auto">
              <a:xfrm>
                <a:off x="4176" y="3456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1" name="Line 43"/>
              <p:cNvSpPr>
                <a:spLocks noChangeShapeType="1"/>
              </p:cNvSpPr>
              <p:nvPr/>
            </p:nvSpPr>
            <p:spPr bwMode="auto">
              <a:xfrm>
                <a:off x="3024" y="384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2" name="Line 44"/>
              <p:cNvSpPr>
                <a:spLocks noChangeShapeType="1"/>
              </p:cNvSpPr>
              <p:nvPr/>
            </p:nvSpPr>
            <p:spPr bwMode="auto">
              <a:xfrm flipV="1">
                <a:off x="4176" y="384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3" name="Line 45"/>
              <p:cNvSpPr>
                <a:spLocks noChangeShapeType="1"/>
              </p:cNvSpPr>
              <p:nvPr/>
            </p:nvSpPr>
            <p:spPr bwMode="auto">
              <a:xfrm>
                <a:off x="1920" y="4080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6" name="AutoShape 48"/>
              <p:cNvSpPr>
                <a:spLocks noChangeArrowheads="1"/>
              </p:cNvSpPr>
              <p:nvPr/>
            </p:nvSpPr>
            <p:spPr bwMode="auto">
              <a:xfrm>
                <a:off x="576" y="3312"/>
                <a:ext cx="768" cy="528"/>
              </a:xfrm>
              <a:prstGeom prst="wedgeRoundRectCallout">
                <a:avLst>
                  <a:gd name="adj1" fmla="val 75389"/>
                  <a:gd name="adj2" fmla="val 35796"/>
                  <a:gd name="adj3" fmla="val 16667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>
                    <a:latin typeface="Georgia" panose="02040502050405020303" pitchFamily="18" charset="0"/>
                  </a:rPr>
                  <a:t>主从触发器</a:t>
                </a:r>
                <a:endParaRPr lang="zh-CN" altLang="en-US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80917" name="Line 49"/>
              <p:cNvSpPr>
                <a:spLocks noChangeShapeType="1"/>
              </p:cNvSpPr>
              <p:nvPr/>
            </p:nvSpPr>
            <p:spPr bwMode="auto">
              <a:xfrm>
                <a:off x="3024" y="3696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8" name="Line 50"/>
              <p:cNvSpPr>
                <a:spLocks noChangeShapeType="1"/>
              </p:cNvSpPr>
              <p:nvPr/>
            </p:nvSpPr>
            <p:spPr bwMode="auto">
              <a:xfrm flipV="1">
                <a:off x="3024" y="384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9" name="Line 51"/>
              <p:cNvSpPr>
                <a:spLocks noChangeShapeType="1"/>
              </p:cNvSpPr>
              <p:nvPr/>
            </p:nvSpPr>
            <p:spPr bwMode="auto">
              <a:xfrm>
                <a:off x="3792" y="369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0" name="Line 52"/>
              <p:cNvSpPr>
                <a:spLocks noChangeShapeType="1"/>
              </p:cNvSpPr>
              <p:nvPr/>
            </p:nvSpPr>
            <p:spPr bwMode="auto">
              <a:xfrm>
                <a:off x="3792" y="3840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1" name="Line 53"/>
              <p:cNvSpPr>
                <a:spLocks noChangeShapeType="1"/>
              </p:cNvSpPr>
              <p:nvPr/>
            </p:nvSpPr>
            <p:spPr bwMode="auto">
              <a:xfrm flipV="1">
                <a:off x="4176" y="345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2" name="Line 54"/>
              <p:cNvSpPr>
                <a:spLocks noChangeShapeType="1"/>
              </p:cNvSpPr>
              <p:nvPr/>
            </p:nvSpPr>
            <p:spPr bwMode="auto">
              <a:xfrm>
                <a:off x="4176" y="408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1615128" y="5754259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5" name="Text Box 55"/>
            <p:cNvSpPr txBox="1">
              <a:spLocks noChangeArrowheads="1"/>
            </p:cNvSpPr>
            <p:nvPr/>
          </p:nvSpPr>
          <p:spPr bwMode="auto">
            <a:xfrm>
              <a:off x="1607594" y="543852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D951-FA4C-443C-80DB-D3C95AD345DE}" type="slidenum">
              <a:rPr lang="en-US" altLang="zh-CN"/>
            </a:fld>
            <a:endParaRPr lang="en-US" altLang="zh-CN"/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599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b="1" dirty="0"/>
              <a:t>主从</a:t>
            </a:r>
            <a:r>
              <a:rPr lang="en-US" altLang="zh-CN" b="1" dirty="0"/>
              <a:t>J-K</a:t>
            </a:r>
            <a:r>
              <a:rPr lang="zh-CN" altLang="en-US" b="1" dirty="0"/>
              <a:t>触发器的功能表只是在</a:t>
            </a:r>
            <a:r>
              <a:rPr lang="en-US" altLang="zh-CN" b="1" dirty="0"/>
              <a:t>CP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期间，</a:t>
            </a:r>
            <a:r>
              <a:rPr lang="en-US" altLang="zh-CN" b="1" dirty="0"/>
              <a:t>J,K</a:t>
            </a:r>
            <a:r>
              <a:rPr lang="zh-CN" altLang="en-US" b="1" dirty="0"/>
              <a:t>不发生变化的前提下给出的！（此时主从</a:t>
            </a:r>
            <a:r>
              <a:rPr lang="en-US" altLang="zh-CN" b="1" dirty="0"/>
              <a:t>J-K</a:t>
            </a:r>
            <a:r>
              <a:rPr lang="zh-CN" altLang="en-US" b="1" dirty="0"/>
              <a:t>触发器的工作方式与负边沿</a:t>
            </a:r>
            <a:r>
              <a:rPr lang="en-US" altLang="zh-CN" b="1" dirty="0"/>
              <a:t>J-K</a:t>
            </a:r>
            <a:r>
              <a:rPr lang="zh-CN" altLang="en-US" b="1" dirty="0"/>
              <a:t>触发器相似</a:t>
            </a:r>
            <a:r>
              <a:rPr lang="en-US" altLang="zh-CN" b="1" dirty="0"/>
              <a:t>!)</a:t>
            </a:r>
            <a:endParaRPr lang="en-US" altLang="zh-CN" b="1" dirty="0"/>
          </a:p>
        </p:txBody>
      </p:sp>
      <p:sp>
        <p:nvSpPr>
          <p:cNvPr id="2" name="矩形 1"/>
          <p:cNvSpPr/>
          <p:nvPr/>
        </p:nvSpPr>
        <p:spPr>
          <a:xfrm>
            <a:off x="447666" y="3501008"/>
            <a:ext cx="7848872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如果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J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CP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期间变化的话，触发器的状态就可能不满足功能表。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主从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JK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触发器抗干扰能力差。</a:t>
            </a: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801D6B-78C5-4709-8F04-11EF89CE1AD0}" type="slidenum">
              <a:rPr lang="en-US" altLang="zh-CN"/>
            </a:fld>
            <a:endParaRPr lang="en-US" altLang="zh-CN"/>
          </a:p>
        </p:txBody>
      </p:sp>
      <p:sp>
        <p:nvSpPr>
          <p:cNvPr id="538626" name="Line 2"/>
          <p:cNvSpPr>
            <a:spLocks noChangeShapeType="1"/>
          </p:cNvSpPr>
          <p:nvPr/>
        </p:nvSpPr>
        <p:spPr bwMode="auto">
          <a:xfrm>
            <a:off x="1752600" y="30480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86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主从</a:t>
            </a:r>
            <a:r>
              <a:rPr lang="en-US" altLang="zh-CN"/>
              <a:t>J-K</a:t>
            </a:r>
            <a:r>
              <a:rPr lang="zh-CN" altLang="en-US"/>
              <a:t>触发器</a:t>
            </a:r>
            <a:r>
              <a:rPr lang="zh-CN" altLang="en-US" b="1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  <a:endParaRPr lang="zh-CN" altLang="en-US" b="1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pPr lvl="1" eaLnBrk="1" hangingPunct="1">
              <a:defRPr/>
            </a:pPr>
            <a:r>
              <a:rPr lang="en-US" altLang="zh-CN" b="1">
                <a:latin typeface="Georgia" panose="02040502050405020303" pitchFamily="18" charset="0"/>
              </a:rPr>
              <a:t>CP</a:t>
            </a:r>
            <a:r>
              <a:rPr lang="zh-CN" altLang="en-US" b="1">
                <a:latin typeface="Georgia" panose="02040502050405020303" pitchFamily="18" charset="0"/>
              </a:rPr>
              <a:t>＝</a:t>
            </a:r>
            <a:r>
              <a:rPr lang="en-US" altLang="zh-CN" b="1">
                <a:latin typeface="Georgia" panose="02040502050405020303" pitchFamily="18" charset="0"/>
              </a:rPr>
              <a:t>1</a:t>
            </a:r>
            <a:r>
              <a:rPr lang="zh-CN" altLang="en-US" b="1">
                <a:latin typeface="Georgia" panose="02040502050405020303" pitchFamily="18" charset="0"/>
              </a:rPr>
              <a:t>期间，</a:t>
            </a:r>
            <a:r>
              <a:rPr lang="en-US" altLang="zh-CN" b="1">
                <a:latin typeface="Georgia" panose="02040502050405020303" pitchFamily="18" charset="0"/>
              </a:rPr>
              <a:t>JK</a:t>
            </a:r>
            <a:r>
              <a:rPr lang="zh-CN" altLang="en-US" b="1">
                <a:latin typeface="Georgia" panose="02040502050405020303" pitchFamily="18" charset="0"/>
              </a:rPr>
              <a:t>不变化；不会影响触发器状态</a:t>
            </a:r>
            <a:r>
              <a:rPr lang="zh-CN" altLang="en-US" sz="1800" b="1">
                <a:latin typeface="Georgia" panose="02040502050405020303" pitchFamily="18" charset="0"/>
              </a:rPr>
              <a:t>。</a:t>
            </a:r>
            <a:endParaRPr lang="zh-CN" altLang="en-US" sz="1800" b="1">
              <a:latin typeface="Georgia" panose="02040502050405020303" pitchFamily="18" charset="0"/>
            </a:endParaRPr>
          </a:p>
        </p:txBody>
      </p:sp>
      <p:sp>
        <p:nvSpPr>
          <p:cNvPr id="538629" name="Line 5"/>
          <p:cNvSpPr>
            <a:spLocks noChangeShapeType="1"/>
          </p:cNvSpPr>
          <p:nvPr/>
        </p:nvSpPr>
        <p:spPr bwMode="auto">
          <a:xfrm>
            <a:off x="1752600" y="5059363"/>
            <a:ext cx="2303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30" name="Line 6"/>
          <p:cNvSpPr>
            <a:spLocks noChangeShapeType="1"/>
          </p:cNvSpPr>
          <p:nvPr/>
        </p:nvSpPr>
        <p:spPr bwMode="auto">
          <a:xfrm>
            <a:off x="2971800" y="30480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8631" name="Text Box 7"/>
          <p:cNvSpPr txBox="1">
            <a:spLocks noChangeArrowheads="1"/>
          </p:cNvSpPr>
          <p:nvPr/>
        </p:nvSpPr>
        <p:spPr bwMode="auto">
          <a:xfrm>
            <a:off x="1066800" y="25908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初始状态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Q</a:t>
            </a: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0</a:t>
            </a:r>
            <a:endParaRPr lang="en-US" altLang="zh-CN" sz="2400" b="1">
              <a:solidFill>
                <a:srgbClr val="FFFF00"/>
              </a:solidFill>
              <a:latin typeface="Georgia" panose="02040502050405020303" pitchFamily="18" charset="0"/>
            </a:endParaRPr>
          </a:p>
        </p:txBody>
      </p:sp>
      <p:sp>
        <p:nvSpPr>
          <p:cNvPr id="538632" name="Line 8"/>
          <p:cNvSpPr>
            <a:spLocks noChangeShapeType="1"/>
          </p:cNvSpPr>
          <p:nvPr/>
        </p:nvSpPr>
        <p:spPr bwMode="auto">
          <a:xfrm flipH="1">
            <a:off x="1752600" y="505936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33" name="Line 9"/>
          <p:cNvSpPr>
            <a:spLocks noChangeShapeType="1"/>
          </p:cNvSpPr>
          <p:nvPr/>
        </p:nvSpPr>
        <p:spPr bwMode="auto">
          <a:xfrm>
            <a:off x="1219200" y="536416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38634" name="Group 10"/>
          <p:cNvGrpSpPr/>
          <p:nvPr/>
        </p:nvGrpSpPr>
        <p:grpSpPr bwMode="auto">
          <a:xfrm>
            <a:off x="609600" y="3124200"/>
            <a:ext cx="3457575" cy="457200"/>
            <a:chOff x="384" y="2064"/>
            <a:chExt cx="2178" cy="288"/>
          </a:xfrm>
        </p:grpSpPr>
        <p:sp>
          <p:nvSpPr>
            <p:cNvPr id="38969" name="Line 11"/>
            <p:cNvSpPr>
              <a:spLocks noChangeShapeType="1"/>
            </p:cNvSpPr>
            <p:nvPr/>
          </p:nvSpPr>
          <p:spPr bwMode="auto">
            <a:xfrm>
              <a:off x="1104" y="206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70" name="Line 12"/>
            <p:cNvSpPr>
              <a:spLocks noChangeShapeType="1"/>
            </p:cNvSpPr>
            <p:nvPr/>
          </p:nvSpPr>
          <p:spPr bwMode="auto">
            <a:xfrm flipH="1">
              <a:off x="1872" y="20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71" name="Line 13"/>
            <p:cNvSpPr>
              <a:spLocks noChangeShapeType="1"/>
            </p:cNvSpPr>
            <p:nvPr/>
          </p:nvSpPr>
          <p:spPr bwMode="auto">
            <a:xfrm>
              <a:off x="1872" y="2256"/>
              <a:ext cx="690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72" name="Line 14"/>
            <p:cNvSpPr>
              <a:spLocks noChangeShapeType="1"/>
            </p:cNvSpPr>
            <p:nvPr/>
          </p:nvSpPr>
          <p:spPr bwMode="auto">
            <a:xfrm>
              <a:off x="1104" y="2064"/>
              <a:ext cx="7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73" name="Line 15"/>
            <p:cNvSpPr>
              <a:spLocks noChangeShapeType="1"/>
            </p:cNvSpPr>
            <p:nvPr/>
          </p:nvSpPr>
          <p:spPr bwMode="auto">
            <a:xfrm>
              <a:off x="748" y="2258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74" name="Text Box 16"/>
            <p:cNvSpPr txBox="1">
              <a:spLocks noChangeArrowheads="1"/>
            </p:cNvSpPr>
            <p:nvPr/>
          </p:nvSpPr>
          <p:spPr bwMode="auto">
            <a:xfrm>
              <a:off x="384" y="2064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8641" name="Group 17"/>
          <p:cNvGrpSpPr/>
          <p:nvPr/>
        </p:nvGrpSpPr>
        <p:grpSpPr bwMode="auto">
          <a:xfrm>
            <a:off x="533400" y="3733800"/>
            <a:ext cx="3533775" cy="457200"/>
            <a:chOff x="336" y="2448"/>
            <a:chExt cx="2226" cy="288"/>
          </a:xfrm>
        </p:grpSpPr>
        <p:sp>
          <p:nvSpPr>
            <p:cNvPr id="38963" name="Line 18"/>
            <p:cNvSpPr>
              <a:spLocks noChangeShapeType="1"/>
            </p:cNvSpPr>
            <p:nvPr/>
          </p:nvSpPr>
          <p:spPr bwMode="auto">
            <a:xfrm>
              <a:off x="960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4" name="Line 19"/>
            <p:cNvSpPr>
              <a:spLocks noChangeShapeType="1"/>
            </p:cNvSpPr>
            <p:nvPr/>
          </p:nvSpPr>
          <p:spPr bwMode="auto">
            <a:xfrm>
              <a:off x="2064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5" name="Line 20"/>
            <p:cNvSpPr>
              <a:spLocks noChangeShapeType="1"/>
            </p:cNvSpPr>
            <p:nvPr/>
          </p:nvSpPr>
          <p:spPr bwMode="auto">
            <a:xfrm>
              <a:off x="2064" y="2640"/>
              <a:ext cx="4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6" name="Line 21"/>
            <p:cNvSpPr>
              <a:spLocks noChangeShapeType="1"/>
            </p:cNvSpPr>
            <p:nvPr/>
          </p:nvSpPr>
          <p:spPr bwMode="auto">
            <a:xfrm>
              <a:off x="960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7" name="Line 22"/>
            <p:cNvSpPr>
              <a:spLocks noChangeShapeType="1"/>
            </p:cNvSpPr>
            <p:nvPr/>
          </p:nvSpPr>
          <p:spPr bwMode="auto">
            <a:xfrm>
              <a:off x="768" y="26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8" name="Text Box 23"/>
            <p:cNvSpPr txBox="1">
              <a:spLocks noChangeArrowheads="1"/>
            </p:cNvSpPr>
            <p:nvPr/>
          </p:nvSpPr>
          <p:spPr bwMode="auto">
            <a:xfrm>
              <a:off x="336" y="2448"/>
              <a:ext cx="3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8648" name="Group 24"/>
          <p:cNvGrpSpPr/>
          <p:nvPr/>
        </p:nvGrpSpPr>
        <p:grpSpPr bwMode="auto">
          <a:xfrm>
            <a:off x="498475" y="4343400"/>
            <a:ext cx="3568700" cy="457200"/>
            <a:chOff x="314" y="2736"/>
            <a:chExt cx="2248" cy="288"/>
          </a:xfrm>
        </p:grpSpPr>
        <p:sp>
          <p:nvSpPr>
            <p:cNvPr id="38959" name="Line 25"/>
            <p:cNvSpPr>
              <a:spLocks noChangeShapeType="1"/>
            </p:cNvSpPr>
            <p:nvPr/>
          </p:nvSpPr>
          <p:spPr bwMode="auto">
            <a:xfrm>
              <a:off x="2064" y="2736"/>
              <a:ext cx="49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0" name="Line 26"/>
            <p:cNvSpPr>
              <a:spLocks noChangeShapeType="1"/>
            </p:cNvSpPr>
            <p:nvPr/>
          </p:nvSpPr>
          <p:spPr bwMode="auto">
            <a:xfrm>
              <a:off x="2064" y="2736"/>
              <a:ext cx="0" cy="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1" name="Line 27"/>
            <p:cNvSpPr>
              <a:spLocks noChangeShapeType="1"/>
            </p:cNvSpPr>
            <p:nvPr/>
          </p:nvSpPr>
          <p:spPr bwMode="auto">
            <a:xfrm>
              <a:off x="793" y="2961"/>
              <a:ext cx="1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2" name="Text Box 28"/>
            <p:cNvSpPr txBox="1">
              <a:spLocks noChangeArrowheads="1"/>
            </p:cNvSpPr>
            <p:nvPr/>
          </p:nvSpPr>
          <p:spPr bwMode="auto">
            <a:xfrm>
              <a:off x="314" y="2736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38653" name="Text Box 29"/>
          <p:cNvSpPr txBox="1">
            <a:spLocks noChangeArrowheads="1"/>
          </p:cNvSpPr>
          <p:nvPr/>
        </p:nvSpPr>
        <p:spPr bwMode="auto">
          <a:xfrm>
            <a:off x="647700" y="50292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</a:rPr>
              <a:t>主</a:t>
            </a:r>
            <a:endParaRPr lang="zh-CN" altLang="en-US" sz="1400" b="1" dirty="0">
              <a:latin typeface="Georgia" panose="02040502050405020303" pitchFamily="18" charset="0"/>
            </a:endParaRPr>
          </a:p>
        </p:txBody>
      </p:sp>
      <p:sp>
        <p:nvSpPr>
          <p:cNvPr id="538654" name="Line 30"/>
          <p:cNvSpPr>
            <a:spLocks noChangeShapeType="1"/>
          </p:cNvSpPr>
          <p:nvPr/>
        </p:nvSpPr>
        <p:spPr bwMode="auto">
          <a:xfrm>
            <a:off x="2971800" y="5791200"/>
            <a:ext cx="1076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55" name="Line 31"/>
          <p:cNvSpPr>
            <a:spLocks noChangeShapeType="1"/>
          </p:cNvSpPr>
          <p:nvPr/>
        </p:nvSpPr>
        <p:spPr bwMode="auto">
          <a:xfrm>
            <a:off x="2971800" y="5791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56" name="Line 32"/>
          <p:cNvSpPr>
            <a:spLocks noChangeShapeType="1"/>
          </p:cNvSpPr>
          <p:nvPr/>
        </p:nvSpPr>
        <p:spPr bwMode="auto">
          <a:xfrm>
            <a:off x="1219200" y="6172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57" name="Text Box 33"/>
          <p:cNvSpPr txBox="1">
            <a:spLocks noChangeArrowheads="1"/>
          </p:cNvSpPr>
          <p:nvPr/>
        </p:nvSpPr>
        <p:spPr bwMode="auto">
          <a:xfrm>
            <a:off x="647700" y="56388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</a:rPr>
              <a:t>从</a:t>
            </a:r>
            <a:endParaRPr lang="zh-CN" altLang="en-US" sz="1400" b="1" dirty="0">
              <a:latin typeface="Georgia" panose="02040502050405020303" pitchFamily="18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5593637" y="2226592"/>
            <a:ext cx="1756730" cy="3653283"/>
            <a:chOff x="4595565" y="-14682"/>
            <a:chExt cx="3853110" cy="6740921"/>
          </a:xfrm>
        </p:grpSpPr>
        <p:sp>
          <p:nvSpPr>
            <p:cNvPr id="65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85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04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3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5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1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6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9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7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7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08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0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5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1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3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2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1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3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38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9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4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5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6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7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6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9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0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1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2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3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34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68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69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78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80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2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4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9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0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71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73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4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5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3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53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3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3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3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31" grpId="0" autoUpdateAnimBg="0"/>
      <p:bldP spid="538653" grpId="0" autoUpdateAnimBg="0"/>
      <p:bldP spid="53865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801D6B-78C5-4709-8F04-11EF89CE1AD0}" type="slidenum">
              <a:rPr lang="en-US" altLang="zh-CN"/>
            </a:fld>
            <a:endParaRPr lang="en-US" altLang="zh-CN"/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86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主从</a:t>
            </a:r>
            <a:r>
              <a:rPr lang="en-US" altLang="zh-CN"/>
              <a:t>J-K</a:t>
            </a:r>
            <a:r>
              <a:rPr lang="zh-CN" altLang="en-US"/>
              <a:t>触发器</a:t>
            </a:r>
            <a:r>
              <a:rPr lang="zh-CN" altLang="en-US" b="1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  <a:endParaRPr lang="zh-CN" altLang="en-US" b="1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pPr lvl="1" eaLnBrk="1" hangingPunct="1">
              <a:defRPr/>
            </a:pPr>
            <a:r>
              <a:rPr lang="en-US" altLang="zh-CN" b="1">
                <a:latin typeface="Georgia" panose="02040502050405020303" pitchFamily="18" charset="0"/>
              </a:rPr>
              <a:t>CP</a:t>
            </a:r>
            <a:r>
              <a:rPr lang="zh-CN" altLang="en-US" b="1">
                <a:latin typeface="Georgia" panose="02040502050405020303" pitchFamily="18" charset="0"/>
              </a:rPr>
              <a:t>＝</a:t>
            </a:r>
            <a:r>
              <a:rPr lang="en-US" altLang="zh-CN" b="1">
                <a:latin typeface="Georgia" panose="02040502050405020303" pitchFamily="18" charset="0"/>
              </a:rPr>
              <a:t>1</a:t>
            </a:r>
            <a:r>
              <a:rPr lang="zh-CN" altLang="en-US" b="1">
                <a:latin typeface="Georgia" panose="02040502050405020303" pitchFamily="18" charset="0"/>
              </a:rPr>
              <a:t>期间，</a:t>
            </a:r>
            <a:r>
              <a:rPr lang="en-US" altLang="zh-CN" b="1">
                <a:latin typeface="Georgia" panose="02040502050405020303" pitchFamily="18" charset="0"/>
              </a:rPr>
              <a:t>JK</a:t>
            </a:r>
            <a:r>
              <a:rPr lang="zh-CN" altLang="en-US" b="1">
                <a:latin typeface="Georgia" panose="02040502050405020303" pitchFamily="18" charset="0"/>
              </a:rPr>
              <a:t>不变化；不会影响触发器状态</a:t>
            </a:r>
            <a:r>
              <a:rPr lang="zh-CN" altLang="en-US" sz="1800" b="1">
                <a:latin typeface="Georgia" panose="02040502050405020303" pitchFamily="18" charset="0"/>
              </a:rPr>
              <a:t>。</a:t>
            </a:r>
            <a:endParaRPr lang="zh-CN" altLang="en-US" sz="1800" b="1">
              <a:latin typeface="Georgia" panose="02040502050405020303" pitchFamily="18" charset="0"/>
            </a:endParaRPr>
          </a:p>
        </p:txBody>
      </p:sp>
      <p:sp>
        <p:nvSpPr>
          <p:cNvPr id="538658" name="Text Box 34"/>
          <p:cNvSpPr txBox="1">
            <a:spLocks noChangeArrowheads="1"/>
          </p:cNvSpPr>
          <p:nvPr/>
        </p:nvSpPr>
        <p:spPr bwMode="auto">
          <a:xfrm>
            <a:off x="1108075" y="2600536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初始状态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Q</a:t>
            </a: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1</a:t>
            </a:r>
            <a:endParaRPr lang="en-US" altLang="zh-CN" sz="2400" b="1">
              <a:solidFill>
                <a:srgbClr val="FFFF00"/>
              </a:solidFill>
              <a:latin typeface="Georgia" panose="02040502050405020303" pitchFamily="18" charset="0"/>
            </a:endParaRPr>
          </a:p>
        </p:txBody>
      </p:sp>
      <p:sp>
        <p:nvSpPr>
          <p:cNvPr id="538659" name="Line 35"/>
          <p:cNvSpPr>
            <a:spLocks noChangeShapeType="1"/>
          </p:cNvSpPr>
          <p:nvPr/>
        </p:nvSpPr>
        <p:spPr bwMode="auto">
          <a:xfrm>
            <a:off x="1676400" y="3210136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8660" name="Line 36"/>
          <p:cNvSpPr>
            <a:spLocks noChangeShapeType="1"/>
          </p:cNvSpPr>
          <p:nvPr/>
        </p:nvSpPr>
        <p:spPr bwMode="auto">
          <a:xfrm>
            <a:off x="1676400" y="5191336"/>
            <a:ext cx="2303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61" name="Line 37"/>
          <p:cNvSpPr>
            <a:spLocks noChangeShapeType="1"/>
          </p:cNvSpPr>
          <p:nvPr/>
        </p:nvSpPr>
        <p:spPr bwMode="auto">
          <a:xfrm>
            <a:off x="2895600" y="3210136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8662" name="Line 38"/>
          <p:cNvSpPr>
            <a:spLocks noChangeShapeType="1"/>
          </p:cNvSpPr>
          <p:nvPr/>
        </p:nvSpPr>
        <p:spPr bwMode="auto">
          <a:xfrm>
            <a:off x="1184275" y="5191336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38663" name="Group 39"/>
          <p:cNvGrpSpPr/>
          <p:nvPr/>
        </p:nvGrpSpPr>
        <p:grpSpPr bwMode="auto">
          <a:xfrm>
            <a:off x="533400" y="3286336"/>
            <a:ext cx="3457575" cy="457200"/>
            <a:chOff x="384" y="2064"/>
            <a:chExt cx="2178" cy="288"/>
          </a:xfrm>
        </p:grpSpPr>
        <p:sp>
          <p:nvSpPr>
            <p:cNvPr id="38953" name="Line 40"/>
            <p:cNvSpPr>
              <a:spLocks noChangeShapeType="1"/>
            </p:cNvSpPr>
            <p:nvPr/>
          </p:nvSpPr>
          <p:spPr bwMode="auto">
            <a:xfrm>
              <a:off x="1104" y="206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4" name="Line 41"/>
            <p:cNvSpPr>
              <a:spLocks noChangeShapeType="1"/>
            </p:cNvSpPr>
            <p:nvPr/>
          </p:nvSpPr>
          <p:spPr bwMode="auto">
            <a:xfrm flipH="1">
              <a:off x="1872" y="20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5" name="Line 42"/>
            <p:cNvSpPr>
              <a:spLocks noChangeShapeType="1"/>
            </p:cNvSpPr>
            <p:nvPr/>
          </p:nvSpPr>
          <p:spPr bwMode="auto">
            <a:xfrm>
              <a:off x="1872" y="2256"/>
              <a:ext cx="690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6" name="Line 43"/>
            <p:cNvSpPr>
              <a:spLocks noChangeShapeType="1"/>
            </p:cNvSpPr>
            <p:nvPr/>
          </p:nvSpPr>
          <p:spPr bwMode="auto">
            <a:xfrm>
              <a:off x="1104" y="2064"/>
              <a:ext cx="7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7" name="Line 44"/>
            <p:cNvSpPr>
              <a:spLocks noChangeShapeType="1"/>
            </p:cNvSpPr>
            <p:nvPr/>
          </p:nvSpPr>
          <p:spPr bwMode="auto">
            <a:xfrm>
              <a:off x="748" y="2258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8" name="Text Box 45"/>
            <p:cNvSpPr txBox="1">
              <a:spLocks noChangeArrowheads="1"/>
            </p:cNvSpPr>
            <p:nvPr/>
          </p:nvSpPr>
          <p:spPr bwMode="auto">
            <a:xfrm>
              <a:off x="384" y="2064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38670" name="Group 46"/>
          <p:cNvGrpSpPr/>
          <p:nvPr/>
        </p:nvGrpSpPr>
        <p:grpSpPr bwMode="auto">
          <a:xfrm>
            <a:off x="457200" y="3895936"/>
            <a:ext cx="3533775" cy="457200"/>
            <a:chOff x="336" y="2448"/>
            <a:chExt cx="2226" cy="288"/>
          </a:xfrm>
        </p:grpSpPr>
        <p:sp>
          <p:nvSpPr>
            <p:cNvPr id="38947" name="Line 47"/>
            <p:cNvSpPr>
              <a:spLocks noChangeShapeType="1"/>
            </p:cNvSpPr>
            <p:nvPr/>
          </p:nvSpPr>
          <p:spPr bwMode="auto">
            <a:xfrm>
              <a:off x="960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8" name="Line 48"/>
            <p:cNvSpPr>
              <a:spLocks noChangeShapeType="1"/>
            </p:cNvSpPr>
            <p:nvPr/>
          </p:nvSpPr>
          <p:spPr bwMode="auto">
            <a:xfrm>
              <a:off x="2064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9" name="Line 49"/>
            <p:cNvSpPr>
              <a:spLocks noChangeShapeType="1"/>
            </p:cNvSpPr>
            <p:nvPr/>
          </p:nvSpPr>
          <p:spPr bwMode="auto">
            <a:xfrm>
              <a:off x="2064" y="2640"/>
              <a:ext cx="4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0" name="Line 50"/>
            <p:cNvSpPr>
              <a:spLocks noChangeShapeType="1"/>
            </p:cNvSpPr>
            <p:nvPr/>
          </p:nvSpPr>
          <p:spPr bwMode="auto">
            <a:xfrm>
              <a:off x="960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1" name="Line 51"/>
            <p:cNvSpPr>
              <a:spLocks noChangeShapeType="1"/>
            </p:cNvSpPr>
            <p:nvPr/>
          </p:nvSpPr>
          <p:spPr bwMode="auto">
            <a:xfrm>
              <a:off x="768" y="26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2" name="Text Box 52"/>
            <p:cNvSpPr txBox="1">
              <a:spLocks noChangeArrowheads="1"/>
            </p:cNvSpPr>
            <p:nvPr/>
          </p:nvSpPr>
          <p:spPr bwMode="auto">
            <a:xfrm>
              <a:off x="336" y="2448"/>
              <a:ext cx="3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8677" name="Group 53"/>
          <p:cNvGrpSpPr/>
          <p:nvPr/>
        </p:nvGrpSpPr>
        <p:grpSpPr bwMode="auto">
          <a:xfrm>
            <a:off x="422275" y="4505536"/>
            <a:ext cx="3568700" cy="457200"/>
            <a:chOff x="314" y="2736"/>
            <a:chExt cx="2248" cy="288"/>
          </a:xfrm>
        </p:grpSpPr>
        <p:sp>
          <p:nvSpPr>
            <p:cNvPr id="38943" name="Line 54"/>
            <p:cNvSpPr>
              <a:spLocks noChangeShapeType="1"/>
            </p:cNvSpPr>
            <p:nvPr/>
          </p:nvSpPr>
          <p:spPr bwMode="auto">
            <a:xfrm>
              <a:off x="2064" y="2736"/>
              <a:ext cx="49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4" name="Line 55"/>
            <p:cNvSpPr>
              <a:spLocks noChangeShapeType="1"/>
            </p:cNvSpPr>
            <p:nvPr/>
          </p:nvSpPr>
          <p:spPr bwMode="auto">
            <a:xfrm>
              <a:off x="2064" y="2736"/>
              <a:ext cx="0" cy="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5" name="Line 56"/>
            <p:cNvSpPr>
              <a:spLocks noChangeShapeType="1"/>
            </p:cNvSpPr>
            <p:nvPr/>
          </p:nvSpPr>
          <p:spPr bwMode="auto">
            <a:xfrm>
              <a:off x="793" y="2961"/>
              <a:ext cx="1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6" name="Text Box 57"/>
            <p:cNvSpPr txBox="1">
              <a:spLocks noChangeArrowheads="1"/>
            </p:cNvSpPr>
            <p:nvPr/>
          </p:nvSpPr>
          <p:spPr bwMode="auto">
            <a:xfrm>
              <a:off x="314" y="2736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38682" name="Text Box 58"/>
          <p:cNvSpPr txBox="1">
            <a:spLocks noChangeArrowheads="1"/>
          </p:cNvSpPr>
          <p:nvPr/>
        </p:nvSpPr>
        <p:spPr bwMode="auto">
          <a:xfrm>
            <a:off x="574675" y="5191336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主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sp>
        <p:nvSpPr>
          <p:cNvPr id="538683" name="Line 59"/>
          <p:cNvSpPr>
            <a:spLocks noChangeShapeType="1"/>
          </p:cNvSpPr>
          <p:nvPr/>
        </p:nvSpPr>
        <p:spPr bwMode="auto">
          <a:xfrm>
            <a:off x="2860675" y="5648536"/>
            <a:ext cx="1076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84" name="Line 60"/>
          <p:cNvSpPr>
            <a:spLocks noChangeShapeType="1"/>
          </p:cNvSpPr>
          <p:nvPr/>
        </p:nvSpPr>
        <p:spPr bwMode="auto">
          <a:xfrm>
            <a:off x="1260475" y="5648536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8685" name="Text Box 61"/>
          <p:cNvSpPr txBox="1">
            <a:spLocks noChangeArrowheads="1"/>
          </p:cNvSpPr>
          <p:nvPr/>
        </p:nvSpPr>
        <p:spPr bwMode="auto">
          <a:xfrm>
            <a:off x="571500" y="5648536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从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5593637" y="2226592"/>
            <a:ext cx="1756730" cy="3653283"/>
            <a:chOff x="4595565" y="-14682"/>
            <a:chExt cx="3853110" cy="6740921"/>
          </a:xfrm>
        </p:grpSpPr>
        <p:sp>
          <p:nvSpPr>
            <p:cNvPr id="65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85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04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3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5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1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6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9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07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7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08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0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5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1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3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2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1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3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38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9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4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5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6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37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26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9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0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1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2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3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34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68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69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78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80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2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4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9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0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71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73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4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75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2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3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3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3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58" grpId="0" autoUpdateAnimBg="0"/>
      <p:bldP spid="538682" grpId="0" autoUpdateAnimBg="0"/>
      <p:bldP spid="53868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25D0CF-A7FC-4036-8175-31EDEA84E79F}" type="slidenum">
              <a:rPr lang="en-US" altLang="zh-CN"/>
            </a:fld>
            <a:endParaRPr lang="en-US" altLang="zh-CN"/>
          </a:p>
        </p:txBody>
      </p:sp>
      <p:sp>
        <p:nvSpPr>
          <p:cNvPr id="539652" name="Line 4"/>
          <p:cNvSpPr>
            <a:spLocks noChangeShapeType="1"/>
          </p:cNvSpPr>
          <p:nvPr/>
        </p:nvSpPr>
        <p:spPr bwMode="auto">
          <a:xfrm>
            <a:off x="3048000" y="28194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9653" name="Line 5"/>
          <p:cNvSpPr>
            <a:spLocks noChangeShapeType="1"/>
          </p:cNvSpPr>
          <p:nvPr/>
        </p:nvSpPr>
        <p:spPr bwMode="auto">
          <a:xfrm>
            <a:off x="1905000" y="28194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965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9655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  <a:endParaRPr lang="zh-CN" altLang="en-US" b="1" dirty="0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期间，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变化一次；可能会影响触发器状态。</a:t>
            </a:r>
            <a:endParaRPr lang="zh-CN" altLang="en-US" b="1" dirty="0">
              <a:latin typeface="Georgia" panose="02040502050405020303" pitchFamily="18" charset="0"/>
            </a:endParaRPr>
          </a:p>
          <a:p>
            <a:pPr eaLnBrk="1" hangingPunct="1">
              <a:defRPr/>
            </a:pPr>
            <a:endParaRPr lang="en-US" altLang="zh-CN" sz="2400" b="1" dirty="0">
              <a:latin typeface="Georgia" panose="02040502050405020303" pitchFamily="18" charset="0"/>
            </a:endParaRPr>
          </a:p>
        </p:txBody>
      </p:sp>
      <p:sp>
        <p:nvSpPr>
          <p:cNvPr id="539662" name="Line 14"/>
          <p:cNvSpPr>
            <a:spLocks noChangeShapeType="1"/>
          </p:cNvSpPr>
          <p:nvPr/>
        </p:nvSpPr>
        <p:spPr bwMode="auto">
          <a:xfrm>
            <a:off x="1908175" y="4783138"/>
            <a:ext cx="2303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3" name="Line 15"/>
          <p:cNvSpPr>
            <a:spLocks noChangeShapeType="1"/>
          </p:cNvSpPr>
          <p:nvPr/>
        </p:nvSpPr>
        <p:spPr bwMode="auto">
          <a:xfrm flipH="1">
            <a:off x="1905000" y="4783138"/>
            <a:ext cx="3175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4" name="Line 16"/>
          <p:cNvSpPr>
            <a:spLocks noChangeShapeType="1"/>
          </p:cNvSpPr>
          <p:nvPr/>
        </p:nvSpPr>
        <p:spPr bwMode="auto">
          <a:xfrm>
            <a:off x="1295400" y="51054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5" name="Line 17"/>
          <p:cNvSpPr>
            <a:spLocks noChangeShapeType="1"/>
          </p:cNvSpPr>
          <p:nvPr/>
        </p:nvSpPr>
        <p:spPr bwMode="auto">
          <a:xfrm>
            <a:off x="3048000" y="5341938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9666" name="Line 18"/>
          <p:cNvSpPr>
            <a:spLocks noChangeShapeType="1"/>
          </p:cNvSpPr>
          <p:nvPr/>
        </p:nvSpPr>
        <p:spPr bwMode="auto">
          <a:xfrm>
            <a:off x="3048000" y="5341938"/>
            <a:ext cx="12700" cy="295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7" name="Line 19"/>
          <p:cNvSpPr>
            <a:spLocks noChangeShapeType="1"/>
          </p:cNvSpPr>
          <p:nvPr/>
        </p:nvSpPr>
        <p:spPr bwMode="auto">
          <a:xfrm flipV="1">
            <a:off x="1403350" y="5637213"/>
            <a:ext cx="16573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8" name="Text Box 20"/>
          <p:cNvSpPr txBox="1">
            <a:spLocks noChangeArrowheads="1"/>
          </p:cNvSpPr>
          <p:nvPr/>
        </p:nvSpPr>
        <p:spPr bwMode="auto">
          <a:xfrm>
            <a:off x="1295400" y="24384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初始状态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Q</a:t>
            </a: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0</a:t>
            </a:r>
            <a:endParaRPr lang="en-US" altLang="zh-CN" sz="2400" b="1">
              <a:solidFill>
                <a:srgbClr val="FFFF00"/>
              </a:solidFill>
              <a:latin typeface="Georgia" panose="02040502050405020303" pitchFamily="18" charset="0"/>
            </a:endParaRPr>
          </a:p>
        </p:txBody>
      </p:sp>
      <p:grpSp>
        <p:nvGrpSpPr>
          <p:cNvPr id="539670" name="Group 22"/>
          <p:cNvGrpSpPr/>
          <p:nvPr/>
        </p:nvGrpSpPr>
        <p:grpSpPr bwMode="auto">
          <a:xfrm>
            <a:off x="762000" y="3048000"/>
            <a:ext cx="3449638" cy="457200"/>
            <a:chOff x="480" y="1776"/>
            <a:chExt cx="2173" cy="288"/>
          </a:xfrm>
        </p:grpSpPr>
        <p:sp>
          <p:nvSpPr>
            <p:cNvPr id="40000" name="Line 23"/>
            <p:cNvSpPr>
              <a:spLocks noChangeShapeType="1"/>
            </p:cNvSpPr>
            <p:nvPr/>
          </p:nvSpPr>
          <p:spPr bwMode="auto">
            <a:xfrm>
              <a:off x="1200" y="1824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1" name="Line 24"/>
            <p:cNvSpPr>
              <a:spLocks noChangeShapeType="1"/>
            </p:cNvSpPr>
            <p:nvPr/>
          </p:nvSpPr>
          <p:spPr bwMode="auto">
            <a:xfrm>
              <a:off x="1920" y="1824"/>
              <a:ext cx="8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2" name="Line 25"/>
            <p:cNvSpPr>
              <a:spLocks noChangeShapeType="1"/>
            </p:cNvSpPr>
            <p:nvPr/>
          </p:nvSpPr>
          <p:spPr bwMode="auto">
            <a:xfrm>
              <a:off x="1200" y="1824"/>
              <a:ext cx="2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3" name="Line 26"/>
            <p:cNvSpPr>
              <a:spLocks noChangeShapeType="1"/>
            </p:cNvSpPr>
            <p:nvPr/>
          </p:nvSpPr>
          <p:spPr bwMode="auto">
            <a:xfrm>
              <a:off x="1927" y="1980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4" name="Line 27"/>
            <p:cNvSpPr>
              <a:spLocks noChangeShapeType="1"/>
            </p:cNvSpPr>
            <p:nvPr/>
          </p:nvSpPr>
          <p:spPr bwMode="auto">
            <a:xfrm>
              <a:off x="839" y="198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5" name="Text Box 28"/>
            <p:cNvSpPr txBox="1">
              <a:spLocks noChangeArrowheads="1"/>
            </p:cNvSpPr>
            <p:nvPr/>
          </p:nvSpPr>
          <p:spPr bwMode="auto">
            <a:xfrm>
              <a:off x="480" y="177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9677" name="Group 29"/>
          <p:cNvGrpSpPr/>
          <p:nvPr/>
        </p:nvGrpSpPr>
        <p:grpSpPr bwMode="auto">
          <a:xfrm>
            <a:off x="723900" y="3551238"/>
            <a:ext cx="3455988" cy="457200"/>
            <a:chOff x="456" y="2237"/>
            <a:chExt cx="2177" cy="288"/>
          </a:xfrm>
        </p:grpSpPr>
        <p:sp>
          <p:nvSpPr>
            <p:cNvPr id="39994" name="Line 30"/>
            <p:cNvSpPr>
              <a:spLocks noChangeShapeType="1"/>
            </p:cNvSpPr>
            <p:nvPr/>
          </p:nvSpPr>
          <p:spPr bwMode="auto">
            <a:xfrm>
              <a:off x="1056" y="2304"/>
              <a:ext cx="63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5" name="Line 31"/>
            <p:cNvSpPr>
              <a:spLocks noChangeShapeType="1"/>
            </p:cNvSpPr>
            <p:nvPr/>
          </p:nvSpPr>
          <p:spPr bwMode="auto">
            <a:xfrm>
              <a:off x="1056" y="2304"/>
              <a:ext cx="10" cy="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6" name="Line 32"/>
            <p:cNvSpPr>
              <a:spLocks noChangeShapeType="1"/>
            </p:cNvSpPr>
            <p:nvPr/>
          </p:nvSpPr>
          <p:spPr bwMode="auto">
            <a:xfrm>
              <a:off x="839" y="247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7" name="Line 33"/>
            <p:cNvSpPr>
              <a:spLocks noChangeShapeType="1"/>
            </p:cNvSpPr>
            <p:nvPr/>
          </p:nvSpPr>
          <p:spPr bwMode="auto">
            <a:xfrm>
              <a:off x="1680" y="23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8" name="Line 34"/>
            <p:cNvSpPr>
              <a:spLocks noChangeShapeType="1"/>
            </p:cNvSpPr>
            <p:nvPr/>
          </p:nvSpPr>
          <p:spPr bwMode="auto">
            <a:xfrm flipV="1">
              <a:off x="1680" y="2496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9" name="Text Box 35"/>
            <p:cNvSpPr txBox="1">
              <a:spLocks noChangeArrowheads="1"/>
            </p:cNvSpPr>
            <p:nvPr/>
          </p:nvSpPr>
          <p:spPr bwMode="auto">
            <a:xfrm>
              <a:off x="456" y="2237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9684" name="Group 36"/>
          <p:cNvGrpSpPr/>
          <p:nvPr/>
        </p:nvGrpSpPr>
        <p:grpSpPr bwMode="auto">
          <a:xfrm>
            <a:off x="685800" y="4267200"/>
            <a:ext cx="3492500" cy="457200"/>
            <a:chOff x="432" y="2688"/>
            <a:chExt cx="2200" cy="288"/>
          </a:xfrm>
        </p:grpSpPr>
        <p:sp>
          <p:nvSpPr>
            <p:cNvPr id="39990" name="Line 37"/>
            <p:cNvSpPr>
              <a:spLocks noChangeShapeType="1"/>
            </p:cNvSpPr>
            <p:nvPr/>
          </p:nvSpPr>
          <p:spPr bwMode="auto">
            <a:xfrm>
              <a:off x="1680" y="2688"/>
              <a:ext cx="9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1" name="Line 38"/>
            <p:cNvSpPr>
              <a:spLocks noChangeShapeType="1"/>
            </p:cNvSpPr>
            <p:nvPr/>
          </p:nvSpPr>
          <p:spPr bwMode="auto">
            <a:xfrm>
              <a:off x="1680" y="26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2" name="Line 39"/>
            <p:cNvSpPr>
              <a:spLocks noChangeShapeType="1"/>
            </p:cNvSpPr>
            <p:nvPr/>
          </p:nvSpPr>
          <p:spPr bwMode="auto">
            <a:xfrm>
              <a:off x="816" y="288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3" name="Text Box 40"/>
            <p:cNvSpPr txBox="1">
              <a:spLocks noChangeArrowheads="1"/>
            </p:cNvSpPr>
            <p:nvPr/>
          </p:nvSpPr>
          <p:spPr bwMode="auto">
            <a:xfrm>
              <a:off x="432" y="268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39689" name="Text Box 41"/>
          <p:cNvSpPr txBox="1">
            <a:spLocks noChangeArrowheads="1"/>
          </p:cNvSpPr>
          <p:nvPr/>
        </p:nvSpPr>
        <p:spPr bwMode="auto">
          <a:xfrm>
            <a:off x="685800" y="47244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主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sp>
        <p:nvSpPr>
          <p:cNvPr id="539690" name="Text Box 42"/>
          <p:cNvSpPr txBox="1">
            <a:spLocks noChangeArrowheads="1"/>
          </p:cNvSpPr>
          <p:nvPr/>
        </p:nvSpPr>
        <p:spPr bwMode="auto">
          <a:xfrm>
            <a:off x="685800" y="52578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从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sp>
        <p:nvSpPr>
          <p:cNvPr id="539693" name="Text Box 45"/>
          <p:cNvSpPr txBox="1">
            <a:spLocks noChangeArrowheads="1"/>
          </p:cNvSpPr>
          <p:nvPr/>
        </p:nvSpPr>
        <p:spPr bwMode="auto">
          <a:xfrm>
            <a:off x="647701" y="5957094"/>
            <a:ext cx="3581400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latin typeface="Georgia" panose="02040502050405020303" pitchFamily="18" charset="0"/>
              </a:rPr>
              <a:t>当</a:t>
            </a:r>
            <a:r>
              <a:rPr lang="en-US" altLang="zh-CN" sz="2000" b="1" dirty="0">
                <a:latin typeface="Georgia" panose="02040502050405020303" pitchFamily="18" charset="0"/>
              </a:rPr>
              <a:t>K</a:t>
            </a:r>
            <a:r>
              <a:rPr lang="zh-CN" altLang="en-US" sz="2000" b="1" dirty="0">
                <a:latin typeface="Georgia" panose="02040502050405020303" pitchFamily="18" charset="0"/>
              </a:rPr>
              <a:t>＝</a:t>
            </a:r>
            <a:r>
              <a:rPr lang="en-US" altLang="zh-CN" sz="2000" b="1" dirty="0">
                <a:latin typeface="Georgia" panose="02040502050405020303" pitchFamily="18" charset="0"/>
              </a:rPr>
              <a:t>1</a:t>
            </a:r>
            <a:r>
              <a:rPr lang="zh-CN" altLang="en-US" sz="2000" b="1" dirty="0">
                <a:latin typeface="Georgia" panose="02040502050405020303" pitchFamily="18" charset="0"/>
              </a:rPr>
              <a:t>后</a:t>
            </a:r>
            <a:r>
              <a:rPr lang="en-US" altLang="zh-CN" sz="2000" b="1" dirty="0">
                <a:latin typeface="Georgia" panose="02040502050405020303" pitchFamily="18" charset="0"/>
              </a:rPr>
              <a:t>,</a:t>
            </a:r>
            <a:r>
              <a:rPr lang="zh-CN" altLang="en-US" sz="2000" b="1" dirty="0">
                <a:latin typeface="Georgia" panose="02040502050405020303" pitchFamily="18" charset="0"/>
              </a:rPr>
              <a:t>由于</a:t>
            </a:r>
            <a:r>
              <a:rPr lang="en-US" altLang="zh-CN" sz="2000" b="1" dirty="0">
                <a:latin typeface="Georgia" panose="02040502050405020303" pitchFamily="18" charset="0"/>
              </a:rPr>
              <a:t>Q</a:t>
            </a:r>
            <a:r>
              <a:rPr lang="zh-CN" altLang="en-US" sz="1200" b="1" dirty="0">
                <a:latin typeface="Georgia" panose="02040502050405020303" pitchFamily="18" charset="0"/>
              </a:rPr>
              <a:t>从</a:t>
            </a:r>
            <a:r>
              <a:rPr lang="zh-CN" altLang="en-US" sz="2000" b="1" dirty="0">
                <a:latin typeface="Georgia" panose="02040502050405020303" pitchFamily="18" charset="0"/>
              </a:rPr>
              <a:t>＝</a:t>
            </a:r>
            <a:r>
              <a:rPr lang="en-US" altLang="zh-CN" sz="2000" b="1" dirty="0">
                <a:latin typeface="Georgia" panose="02040502050405020303" pitchFamily="18" charset="0"/>
              </a:rPr>
              <a:t>0,</a:t>
            </a:r>
            <a:endParaRPr lang="en-US" altLang="zh-CN" sz="2000" b="1" dirty="0">
              <a:latin typeface="Georgia" panose="02040502050405020303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dirty="0">
                <a:latin typeface="Georgia" panose="02040502050405020303" pitchFamily="18" charset="0"/>
              </a:rPr>
              <a:t> Q</a:t>
            </a:r>
            <a:r>
              <a:rPr lang="zh-CN" altLang="en-US" sz="1200" b="1" dirty="0">
                <a:latin typeface="Georgia" panose="02040502050405020303" pitchFamily="18" charset="0"/>
              </a:rPr>
              <a:t>主 </a:t>
            </a:r>
            <a:r>
              <a:rPr lang="zh-CN" altLang="en-US" sz="2000" b="1" dirty="0">
                <a:latin typeface="Georgia" panose="02040502050405020303" pitchFamily="18" charset="0"/>
              </a:rPr>
              <a:t>保持</a:t>
            </a:r>
            <a:r>
              <a:rPr lang="zh-CN" altLang="en-US" sz="1200" b="1" dirty="0">
                <a:latin typeface="Georgia" panose="02040502050405020303" pitchFamily="18" charset="0"/>
              </a:rPr>
              <a:t>，</a:t>
            </a:r>
            <a:r>
              <a:rPr lang="zh-CN" altLang="en-US" sz="2000" b="1" dirty="0">
                <a:latin typeface="Georgia" panose="02040502050405020303" pitchFamily="18" charset="0"/>
              </a:rPr>
              <a:t>不会变为</a:t>
            </a:r>
            <a:r>
              <a:rPr lang="en-US" altLang="zh-CN" sz="2000" b="1" dirty="0">
                <a:latin typeface="Georgia" panose="02040502050405020303" pitchFamily="18" charset="0"/>
              </a:rPr>
              <a:t>0!</a:t>
            </a:r>
            <a:endParaRPr lang="en-US" altLang="zh-CN" sz="2000" b="1" dirty="0">
              <a:latin typeface="Georgia" panose="02040502050405020303" pitchFamily="18" charset="0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5642292" y="2303811"/>
            <a:ext cx="1756730" cy="3653283"/>
            <a:chOff x="4595565" y="-14682"/>
            <a:chExt cx="3853110" cy="6740921"/>
          </a:xfrm>
        </p:grpSpPr>
        <p:sp>
          <p:nvSpPr>
            <p:cNvPr id="72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92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11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9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60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2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7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8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3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5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6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4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3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4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5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7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51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2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8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9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0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9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7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8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30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5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6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31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2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43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4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33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6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7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8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9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0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41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75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76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85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87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9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1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86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78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80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1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2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9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3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3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3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8" grpId="0" autoUpdateAnimBg="0"/>
      <p:bldP spid="539689" grpId="0" autoUpdateAnimBg="0"/>
      <p:bldP spid="539690" grpId="0" autoUpdateAnimBg="0"/>
      <p:bldP spid="53969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25D0CF-A7FC-4036-8175-31EDEA84E79F}" type="slidenum">
              <a:rPr lang="en-US" altLang="zh-CN"/>
            </a:fld>
            <a:endParaRPr lang="en-US" altLang="zh-CN"/>
          </a:p>
        </p:txBody>
      </p:sp>
      <p:sp>
        <p:nvSpPr>
          <p:cNvPr id="539650" name="Line 2"/>
          <p:cNvSpPr>
            <a:spLocks noChangeShapeType="1"/>
          </p:cNvSpPr>
          <p:nvPr/>
        </p:nvSpPr>
        <p:spPr bwMode="auto">
          <a:xfrm>
            <a:off x="1907704" y="2908075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9651" name="Line 3"/>
          <p:cNvSpPr>
            <a:spLocks noChangeShapeType="1"/>
          </p:cNvSpPr>
          <p:nvPr/>
        </p:nvSpPr>
        <p:spPr bwMode="auto">
          <a:xfrm>
            <a:off x="3050704" y="2908075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965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39655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主从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  <a:endParaRPr lang="zh-CN" altLang="en-US" b="1" dirty="0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期间，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变化一次；可能会影响触发器状态。</a:t>
            </a:r>
            <a:endParaRPr lang="zh-CN" altLang="en-US" b="1" dirty="0">
              <a:latin typeface="Georgia" panose="02040502050405020303" pitchFamily="18" charset="0"/>
            </a:endParaRPr>
          </a:p>
          <a:p>
            <a:pPr eaLnBrk="1" hangingPunct="1">
              <a:defRPr/>
            </a:pPr>
            <a:endParaRPr lang="en-US" altLang="zh-CN" sz="2400" b="1" dirty="0">
              <a:latin typeface="Georgia" panose="02040502050405020303" pitchFamily="18" charset="0"/>
            </a:endParaRPr>
          </a:p>
        </p:txBody>
      </p:sp>
      <p:sp>
        <p:nvSpPr>
          <p:cNvPr id="539656" name="Line 8"/>
          <p:cNvSpPr>
            <a:spLocks noChangeShapeType="1"/>
          </p:cNvSpPr>
          <p:nvPr/>
        </p:nvSpPr>
        <p:spPr bwMode="auto">
          <a:xfrm>
            <a:off x="2669704" y="5498875"/>
            <a:ext cx="1512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57" name="Line 9"/>
          <p:cNvSpPr>
            <a:spLocks noChangeShapeType="1"/>
          </p:cNvSpPr>
          <p:nvPr/>
        </p:nvSpPr>
        <p:spPr bwMode="auto">
          <a:xfrm>
            <a:off x="2669704" y="519407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58" name="Line 10"/>
          <p:cNvSpPr>
            <a:spLocks noChangeShapeType="1"/>
          </p:cNvSpPr>
          <p:nvPr/>
        </p:nvSpPr>
        <p:spPr bwMode="auto">
          <a:xfrm>
            <a:off x="1298104" y="5194075"/>
            <a:ext cx="1366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59" name="Line 11"/>
          <p:cNvSpPr>
            <a:spLocks noChangeShapeType="1"/>
          </p:cNvSpPr>
          <p:nvPr/>
        </p:nvSpPr>
        <p:spPr bwMode="auto">
          <a:xfrm>
            <a:off x="3061817" y="6248175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9660" name="Line 12"/>
          <p:cNvSpPr>
            <a:spLocks noChangeShapeType="1"/>
          </p:cNvSpPr>
          <p:nvPr/>
        </p:nvSpPr>
        <p:spPr bwMode="auto">
          <a:xfrm>
            <a:off x="3050704" y="5879875"/>
            <a:ext cx="11113" cy="36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1" name="Line 13"/>
          <p:cNvSpPr>
            <a:spLocks noChangeShapeType="1"/>
          </p:cNvSpPr>
          <p:nvPr/>
        </p:nvSpPr>
        <p:spPr bwMode="auto">
          <a:xfrm flipV="1">
            <a:off x="1450504" y="5879875"/>
            <a:ext cx="16002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9669" name="Text Box 21"/>
          <p:cNvSpPr txBox="1">
            <a:spLocks noChangeArrowheads="1"/>
          </p:cNvSpPr>
          <p:nvPr/>
        </p:nvSpPr>
        <p:spPr bwMode="auto">
          <a:xfrm>
            <a:off x="1333029" y="2374675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初始状态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Q</a:t>
            </a:r>
            <a:r>
              <a:rPr lang="zh-CN" altLang="en-US" sz="2400" b="1">
                <a:solidFill>
                  <a:srgbClr val="FFFF00"/>
                </a:solidFill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solidFill>
                  <a:srgbClr val="FFFF00"/>
                </a:solidFill>
                <a:latin typeface="Georgia" panose="02040502050405020303" pitchFamily="18" charset="0"/>
              </a:rPr>
              <a:t>1</a:t>
            </a:r>
            <a:endParaRPr lang="en-US" altLang="zh-CN" sz="2400" b="1">
              <a:solidFill>
                <a:srgbClr val="FFFF00"/>
              </a:solidFill>
              <a:latin typeface="Georgia" panose="02040502050405020303" pitchFamily="18" charset="0"/>
            </a:endParaRPr>
          </a:p>
        </p:txBody>
      </p:sp>
      <p:sp>
        <p:nvSpPr>
          <p:cNvPr id="539691" name="Text Box 43"/>
          <p:cNvSpPr txBox="1">
            <a:spLocks noChangeArrowheads="1"/>
          </p:cNvSpPr>
          <p:nvPr/>
        </p:nvSpPr>
        <p:spPr bwMode="auto">
          <a:xfrm>
            <a:off x="764704" y="5117875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主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sp>
        <p:nvSpPr>
          <p:cNvPr id="539692" name="Text Box 44"/>
          <p:cNvSpPr txBox="1">
            <a:spLocks noChangeArrowheads="1"/>
          </p:cNvSpPr>
          <p:nvPr/>
        </p:nvSpPr>
        <p:spPr bwMode="auto">
          <a:xfrm>
            <a:off x="840904" y="5803675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</a:rPr>
              <a:t>从</a:t>
            </a:r>
            <a:endParaRPr lang="zh-CN" altLang="en-US" sz="1400" b="1" dirty="0">
              <a:latin typeface="Georgia" panose="02040502050405020303" pitchFamily="18" charset="0"/>
            </a:endParaRPr>
          </a:p>
        </p:txBody>
      </p:sp>
      <p:sp>
        <p:nvSpPr>
          <p:cNvPr id="39989" name="Line 48"/>
          <p:cNvSpPr>
            <a:spLocks noChangeShapeType="1"/>
          </p:cNvSpPr>
          <p:nvPr/>
        </p:nvSpPr>
        <p:spPr bwMode="auto">
          <a:xfrm>
            <a:off x="1622064" y="-1335988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39698" name="Group 50"/>
          <p:cNvGrpSpPr/>
          <p:nvPr/>
        </p:nvGrpSpPr>
        <p:grpSpPr bwMode="auto">
          <a:xfrm>
            <a:off x="764704" y="2984275"/>
            <a:ext cx="3449638" cy="457200"/>
            <a:chOff x="480" y="1776"/>
            <a:chExt cx="2173" cy="288"/>
          </a:xfrm>
        </p:grpSpPr>
        <p:sp>
          <p:nvSpPr>
            <p:cNvPr id="39982" name="Line 51"/>
            <p:cNvSpPr>
              <a:spLocks noChangeShapeType="1"/>
            </p:cNvSpPr>
            <p:nvPr/>
          </p:nvSpPr>
          <p:spPr bwMode="auto">
            <a:xfrm>
              <a:off x="1200" y="1824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3" name="Line 52"/>
            <p:cNvSpPr>
              <a:spLocks noChangeShapeType="1"/>
            </p:cNvSpPr>
            <p:nvPr/>
          </p:nvSpPr>
          <p:spPr bwMode="auto">
            <a:xfrm>
              <a:off x="1920" y="1824"/>
              <a:ext cx="8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4" name="Line 53"/>
            <p:cNvSpPr>
              <a:spLocks noChangeShapeType="1"/>
            </p:cNvSpPr>
            <p:nvPr/>
          </p:nvSpPr>
          <p:spPr bwMode="auto">
            <a:xfrm>
              <a:off x="1200" y="1824"/>
              <a:ext cx="2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5" name="Line 54"/>
            <p:cNvSpPr>
              <a:spLocks noChangeShapeType="1"/>
            </p:cNvSpPr>
            <p:nvPr/>
          </p:nvSpPr>
          <p:spPr bwMode="auto">
            <a:xfrm>
              <a:off x="1927" y="1980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6" name="Line 55"/>
            <p:cNvSpPr>
              <a:spLocks noChangeShapeType="1"/>
            </p:cNvSpPr>
            <p:nvPr/>
          </p:nvSpPr>
          <p:spPr bwMode="auto">
            <a:xfrm>
              <a:off x="839" y="198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7" name="Text Box 56"/>
            <p:cNvSpPr txBox="1">
              <a:spLocks noChangeArrowheads="1"/>
            </p:cNvSpPr>
            <p:nvPr/>
          </p:nvSpPr>
          <p:spPr bwMode="auto">
            <a:xfrm>
              <a:off x="480" y="177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9705" name="Group 57"/>
          <p:cNvGrpSpPr/>
          <p:nvPr/>
        </p:nvGrpSpPr>
        <p:grpSpPr bwMode="auto">
          <a:xfrm>
            <a:off x="726604" y="3487513"/>
            <a:ext cx="3455988" cy="457200"/>
            <a:chOff x="456" y="2237"/>
            <a:chExt cx="2177" cy="288"/>
          </a:xfrm>
        </p:grpSpPr>
        <p:sp>
          <p:nvSpPr>
            <p:cNvPr id="39976" name="Line 58"/>
            <p:cNvSpPr>
              <a:spLocks noChangeShapeType="1"/>
            </p:cNvSpPr>
            <p:nvPr/>
          </p:nvSpPr>
          <p:spPr bwMode="auto">
            <a:xfrm>
              <a:off x="1056" y="2304"/>
              <a:ext cx="63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7" name="Line 59"/>
            <p:cNvSpPr>
              <a:spLocks noChangeShapeType="1"/>
            </p:cNvSpPr>
            <p:nvPr/>
          </p:nvSpPr>
          <p:spPr bwMode="auto">
            <a:xfrm>
              <a:off x="1056" y="2304"/>
              <a:ext cx="10" cy="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8" name="Line 60"/>
            <p:cNvSpPr>
              <a:spLocks noChangeShapeType="1"/>
            </p:cNvSpPr>
            <p:nvPr/>
          </p:nvSpPr>
          <p:spPr bwMode="auto">
            <a:xfrm>
              <a:off x="839" y="247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9" name="Line 61"/>
            <p:cNvSpPr>
              <a:spLocks noChangeShapeType="1"/>
            </p:cNvSpPr>
            <p:nvPr/>
          </p:nvSpPr>
          <p:spPr bwMode="auto">
            <a:xfrm>
              <a:off x="1680" y="23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0" name="Line 62"/>
            <p:cNvSpPr>
              <a:spLocks noChangeShapeType="1"/>
            </p:cNvSpPr>
            <p:nvPr/>
          </p:nvSpPr>
          <p:spPr bwMode="auto">
            <a:xfrm flipV="1">
              <a:off x="1680" y="2496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1" name="Text Box 63"/>
            <p:cNvSpPr txBox="1">
              <a:spLocks noChangeArrowheads="1"/>
            </p:cNvSpPr>
            <p:nvPr/>
          </p:nvSpPr>
          <p:spPr bwMode="auto">
            <a:xfrm>
              <a:off x="456" y="2237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39712" name="Group 64"/>
          <p:cNvGrpSpPr/>
          <p:nvPr/>
        </p:nvGrpSpPr>
        <p:grpSpPr bwMode="auto">
          <a:xfrm>
            <a:off x="688504" y="4203475"/>
            <a:ext cx="3492500" cy="457200"/>
            <a:chOff x="432" y="2688"/>
            <a:chExt cx="2200" cy="288"/>
          </a:xfrm>
        </p:grpSpPr>
        <p:sp>
          <p:nvSpPr>
            <p:cNvPr id="39972" name="Line 65"/>
            <p:cNvSpPr>
              <a:spLocks noChangeShapeType="1"/>
            </p:cNvSpPr>
            <p:nvPr/>
          </p:nvSpPr>
          <p:spPr bwMode="auto">
            <a:xfrm>
              <a:off x="1680" y="2688"/>
              <a:ext cx="9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3" name="Line 66"/>
            <p:cNvSpPr>
              <a:spLocks noChangeShapeType="1"/>
            </p:cNvSpPr>
            <p:nvPr/>
          </p:nvSpPr>
          <p:spPr bwMode="auto">
            <a:xfrm>
              <a:off x="1680" y="26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4" name="Line 67"/>
            <p:cNvSpPr>
              <a:spLocks noChangeShapeType="1"/>
            </p:cNvSpPr>
            <p:nvPr/>
          </p:nvSpPr>
          <p:spPr bwMode="auto">
            <a:xfrm>
              <a:off x="816" y="288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5" name="Text Box 68"/>
            <p:cNvSpPr txBox="1">
              <a:spLocks noChangeArrowheads="1"/>
            </p:cNvSpPr>
            <p:nvPr/>
          </p:nvSpPr>
          <p:spPr bwMode="auto">
            <a:xfrm>
              <a:off x="432" y="268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593637" y="2226592"/>
            <a:ext cx="1756730" cy="3653283"/>
            <a:chOff x="4595565" y="-14682"/>
            <a:chExt cx="3853110" cy="6740921"/>
          </a:xfrm>
        </p:grpSpPr>
        <p:sp>
          <p:nvSpPr>
            <p:cNvPr id="72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92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111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9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60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2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7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8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3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5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6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14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3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4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15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7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51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2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8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9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50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29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7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8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130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5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6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31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2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43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44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33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6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7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8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9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0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41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75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76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85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87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9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1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86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78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80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1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82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79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3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3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9" grpId="0" autoUpdateAnimBg="0"/>
      <p:bldP spid="539691" grpId="0" autoUpdateAnimBg="0"/>
      <p:bldP spid="53969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A78CE-2AE1-474F-8F3F-A528490A2B81}" type="slidenum">
              <a:rPr lang="en-US" altLang="zh-CN"/>
            </a:fld>
            <a:endParaRPr lang="en-US" altLang="zh-CN"/>
          </a:p>
        </p:txBody>
      </p:sp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主从</a:t>
            </a:r>
            <a:r>
              <a:rPr lang="en-US" altLang="zh-CN"/>
              <a:t>J-K</a:t>
            </a:r>
            <a:r>
              <a:rPr lang="zh-CN" altLang="en-US"/>
              <a:t>触发器</a:t>
            </a:r>
            <a:r>
              <a:rPr lang="zh-CN" altLang="en-US" b="1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  <a:endParaRPr lang="zh-CN" altLang="en-US" b="1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pPr lvl="1" eaLnBrk="1" hangingPunct="1">
              <a:defRPr/>
            </a:pPr>
            <a:r>
              <a:rPr lang="en-US" altLang="zh-CN" b="1">
                <a:latin typeface="Georgia" panose="02040502050405020303" pitchFamily="18" charset="0"/>
              </a:rPr>
              <a:t>CP</a:t>
            </a:r>
            <a:r>
              <a:rPr lang="zh-CN" altLang="en-US" b="1">
                <a:latin typeface="Georgia" panose="02040502050405020303" pitchFamily="18" charset="0"/>
              </a:rPr>
              <a:t>＝</a:t>
            </a:r>
            <a:r>
              <a:rPr lang="en-US" altLang="zh-CN" b="1">
                <a:latin typeface="Georgia" panose="02040502050405020303" pitchFamily="18" charset="0"/>
              </a:rPr>
              <a:t>1</a:t>
            </a:r>
            <a:r>
              <a:rPr lang="zh-CN" altLang="en-US" b="1">
                <a:latin typeface="Georgia" panose="02040502050405020303" pitchFamily="18" charset="0"/>
              </a:rPr>
              <a:t>期间，</a:t>
            </a:r>
            <a:r>
              <a:rPr lang="en-US" altLang="zh-CN" b="1">
                <a:latin typeface="Georgia" panose="02040502050405020303" pitchFamily="18" charset="0"/>
              </a:rPr>
              <a:t>JK</a:t>
            </a:r>
            <a:r>
              <a:rPr lang="zh-CN" altLang="en-US" b="1">
                <a:latin typeface="Georgia" panose="02040502050405020303" pitchFamily="18" charset="0"/>
              </a:rPr>
              <a:t>变化 </a:t>
            </a:r>
            <a:r>
              <a:rPr lang="en-US" altLang="zh-CN" b="1">
                <a:latin typeface="Georgia" panose="02040502050405020303" pitchFamily="18" charset="0"/>
              </a:rPr>
              <a:t>2 </a:t>
            </a:r>
            <a:r>
              <a:rPr lang="zh-CN" altLang="en-US" b="1">
                <a:latin typeface="Georgia" panose="02040502050405020303" pitchFamily="18" charset="0"/>
              </a:rPr>
              <a:t>次；触发器状态不满足功能表描述</a:t>
            </a:r>
            <a:endParaRPr lang="zh-CN" altLang="en-US" sz="1800"/>
          </a:p>
        </p:txBody>
      </p:sp>
      <p:sp>
        <p:nvSpPr>
          <p:cNvPr id="540676" name="Line 4"/>
          <p:cNvSpPr>
            <a:spLocks noChangeShapeType="1"/>
          </p:cNvSpPr>
          <p:nvPr/>
        </p:nvSpPr>
        <p:spPr bwMode="auto">
          <a:xfrm>
            <a:off x="3332163" y="5510213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40677" name="Line 5"/>
          <p:cNvSpPr>
            <a:spLocks noChangeShapeType="1"/>
          </p:cNvSpPr>
          <p:nvPr/>
        </p:nvSpPr>
        <p:spPr bwMode="auto">
          <a:xfrm>
            <a:off x="3352800" y="549275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40678" name="Line 6"/>
          <p:cNvSpPr>
            <a:spLocks noChangeShapeType="1"/>
          </p:cNvSpPr>
          <p:nvPr/>
        </p:nvSpPr>
        <p:spPr bwMode="auto">
          <a:xfrm flipV="1">
            <a:off x="1676400" y="5940425"/>
            <a:ext cx="16573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679" name="Line 7"/>
          <p:cNvSpPr>
            <a:spLocks noChangeShapeType="1"/>
          </p:cNvSpPr>
          <p:nvPr/>
        </p:nvSpPr>
        <p:spPr bwMode="auto">
          <a:xfrm flipH="1">
            <a:off x="2667000" y="2878138"/>
            <a:ext cx="17463" cy="3370262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680" name="Line 8"/>
          <p:cNvSpPr>
            <a:spLocks noChangeShapeType="1"/>
          </p:cNvSpPr>
          <p:nvPr/>
        </p:nvSpPr>
        <p:spPr bwMode="auto">
          <a:xfrm>
            <a:off x="3332163" y="2878138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40681" name="Group 9"/>
          <p:cNvGrpSpPr/>
          <p:nvPr/>
        </p:nvGrpSpPr>
        <p:grpSpPr bwMode="auto">
          <a:xfrm>
            <a:off x="952500" y="3016250"/>
            <a:ext cx="3530600" cy="565150"/>
            <a:chOff x="600" y="1948"/>
            <a:chExt cx="2224" cy="356"/>
          </a:xfrm>
        </p:grpSpPr>
        <p:sp>
          <p:nvSpPr>
            <p:cNvPr id="40992" name="Line 10"/>
            <p:cNvSpPr>
              <a:spLocks noChangeShapeType="1"/>
            </p:cNvSpPr>
            <p:nvPr/>
          </p:nvSpPr>
          <p:spPr bwMode="auto">
            <a:xfrm>
              <a:off x="1373" y="1948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3" name="Line 11"/>
            <p:cNvSpPr>
              <a:spLocks noChangeShapeType="1"/>
            </p:cNvSpPr>
            <p:nvPr/>
          </p:nvSpPr>
          <p:spPr bwMode="auto">
            <a:xfrm>
              <a:off x="2099" y="194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4" name="Line 12"/>
            <p:cNvSpPr>
              <a:spLocks noChangeShapeType="1"/>
            </p:cNvSpPr>
            <p:nvPr/>
          </p:nvSpPr>
          <p:spPr bwMode="auto">
            <a:xfrm>
              <a:off x="1373" y="194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5" name="Line 13"/>
            <p:cNvSpPr>
              <a:spLocks noChangeShapeType="1"/>
            </p:cNvSpPr>
            <p:nvPr/>
          </p:nvSpPr>
          <p:spPr bwMode="auto">
            <a:xfrm>
              <a:off x="2098" y="2221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6" name="Line 14"/>
            <p:cNvSpPr>
              <a:spLocks noChangeShapeType="1"/>
            </p:cNvSpPr>
            <p:nvPr/>
          </p:nvSpPr>
          <p:spPr bwMode="auto">
            <a:xfrm>
              <a:off x="1010" y="2221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7" name="Text Box 15"/>
            <p:cNvSpPr txBox="1">
              <a:spLocks noChangeArrowheads="1"/>
            </p:cNvSpPr>
            <p:nvPr/>
          </p:nvSpPr>
          <p:spPr bwMode="auto">
            <a:xfrm>
              <a:off x="600" y="201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40688" name="Group 16"/>
          <p:cNvGrpSpPr/>
          <p:nvPr/>
        </p:nvGrpSpPr>
        <p:grpSpPr bwMode="auto">
          <a:xfrm>
            <a:off x="876300" y="3581400"/>
            <a:ext cx="3606800" cy="530225"/>
            <a:chOff x="552" y="2447"/>
            <a:chExt cx="2272" cy="334"/>
          </a:xfrm>
        </p:grpSpPr>
        <p:sp>
          <p:nvSpPr>
            <p:cNvPr id="40986" name="Line 17"/>
            <p:cNvSpPr>
              <a:spLocks noChangeShapeType="1"/>
            </p:cNvSpPr>
            <p:nvPr/>
          </p:nvSpPr>
          <p:spPr bwMode="auto">
            <a:xfrm>
              <a:off x="1691" y="2448"/>
              <a:ext cx="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7" name="Line 18"/>
            <p:cNvSpPr>
              <a:spLocks noChangeShapeType="1"/>
            </p:cNvSpPr>
            <p:nvPr/>
          </p:nvSpPr>
          <p:spPr bwMode="auto">
            <a:xfrm>
              <a:off x="1691" y="244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8" name="Line 19"/>
            <p:cNvSpPr>
              <a:spLocks noChangeShapeType="1"/>
            </p:cNvSpPr>
            <p:nvPr/>
          </p:nvSpPr>
          <p:spPr bwMode="auto">
            <a:xfrm>
              <a:off x="1010" y="2720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9" name="Line 20"/>
            <p:cNvSpPr>
              <a:spLocks noChangeShapeType="1"/>
            </p:cNvSpPr>
            <p:nvPr/>
          </p:nvSpPr>
          <p:spPr bwMode="auto">
            <a:xfrm>
              <a:off x="1872" y="244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0" name="Line 21"/>
            <p:cNvSpPr>
              <a:spLocks noChangeShapeType="1"/>
            </p:cNvSpPr>
            <p:nvPr/>
          </p:nvSpPr>
          <p:spPr bwMode="auto">
            <a:xfrm flipV="1">
              <a:off x="1871" y="2720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1" name="Text Box 22"/>
            <p:cNvSpPr txBox="1">
              <a:spLocks noChangeArrowheads="1"/>
            </p:cNvSpPr>
            <p:nvPr/>
          </p:nvSpPr>
          <p:spPr bwMode="auto">
            <a:xfrm>
              <a:off x="552" y="249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J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40695" name="Group 23"/>
          <p:cNvGrpSpPr/>
          <p:nvPr/>
        </p:nvGrpSpPr>
        <p:grpSpPr bwMode="auto">
          <a:xfrm>
            <a:off x="876300" y="4191000"/>
            <a:ext cx="3608388" cy="506413"/>
            <a:chOff x="552" y="2946"/>
            <a:chExt cx="2273" cy="319"/>
          </a:xfrm>
        </p:grpSpPr>
        <p:sp>
          <p:nvSpPr>
            <p:cNvPr id="40982" name="Line 24"/>
            <p:cNvSpPr>
              <a:spLocks noChangeShapeType="1"/>
            </p:cNvSpPr>
            <p:nvPr/>
          </p:nvSpPr>
          <p:spPr bwMode="auto">
            <a:xfrm>
              <a:off x="1238" y="2946"/>
              <a:ext cx="15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3" name="Line 25"/>
            <p:cNvSpPr>
              <a:spLocks noChangeShapeType="1"/>
            </p:cNvSpPr>
            <p:nvPr/>
          </p:nvSpPr>
          <p:spPr bwMode="auto">
            <a:xfrm>
              <a:off x="1238" y="294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4" name="Line 26"/>
            <p:cNvSpPr>
              <a:spLocks noChangeShapeType="1"/>
            </p:cNvSpPr>
            <p:nvPr/>
          </p:nvSpPr>
          <p:spPr bwMode="auto">
            <a:xfrm>
              <a:off x="1055" y="321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5" name="Text Box 27"/>
            <p:cNvSpPr txBox="1">
              <a:spLocks noChangeArrowheads="1"/>
            </p:cNvSpPr>
            <p:nvPr/>
          </p:nvSpPr>
          <p:spPr bwMode="auto">
            <a:xfrm>
              <a:off x="552" y="2977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K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40700" name="Line 28"/>
          <p:cNvSpPr>
            <a:spLocks noChangeShapeType="1"/>
          </p:cNvSpPr>
          <p:nvPr/>
        </p:nvSpPr>
        <p:spPr bwMode="auto">
          <a:xfrm>
            <a:off x="2684463" y="4800600"/>
            <a:ext cx="1800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01" name="Line 29"/>
          <p:cNvSpPr>
            <a:spLocks noChangeShapeType="1"/>
          </p:cNvSpPr>
          <p:nvPr/>
        </p:nvSpPr>
        <p:spPr bwMode="auto">
          <a:xfrm>
            <a:off x="2684463" y="48006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40702" name="Line 30"/>
          <p:cNvSpPr>
            <a:spLocks noChangeShapeType="1"/>
          </p:cNvSpPr>
          <p:nvPr/>
        </p:nvSpPr>
        <p:spPr bwMode="auto">
          <a:xfrm>
            <a:off x="1676400" y="5232400"/>
            <a:ext cx="1008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0703" name="Text Box 31"/>
          <p:cNvSpPr txBox="1">
            <a:spLocks noChangeArrowheads="1"/>
          </p:cNvSpPr>
          <p:nvPr/>
        </p:nvSpPr>
        <p:spPr bwMode="auto">
          <a:xfrm>
            <a:off x="952500" y="48006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主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sp>
        <p:nvSpPr>
          <p:cNvPr id="540704" name="Text Box 32"/>
          <p:cNvSpPr txBox="1">
            <a:spLocks noChangeArrowheads="1"/>
          </p:cNvSpPr>
          <p:nvPr/>
        </p:nvSpPr>
        <p:spPr bwMode="auto">
          <a:xfrm>
            <a:off x="952500" y="54864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zh-CN" altLang="en-US" sz="1400" b="1">
                <a:latin typeface="Georgia" panose="02040502050405020303" pitchFamily="18" charset="0"/>
              </a:rPr>
              <a:t>从</a:t>
            </a:r>
            <a:endParaRPr lang="zh-CN" altLang="en-US" sz="1400" b="1">
              <a:latin typeface="Georgia" panose="02040502050405020303" pitchFamily="18" charset="0"/>
            </a:endParaRPr>
          </a:p>
        </p:txBody>
      </p:sp>
      <p:sp>
        <p:nvSpPr>
          <p:cNvPr id="40978" name="Line 35"/>
          <p:cNvSpPr>
            <a:spLocks noChangeShapeType="1"/>
          </p:cNvSpPr>
          <p:nvPr/>
        </p:nvSpPr>
        <p:spPr bwMode="auto">
          <a:xfrm>
            <a:off x="3863975" y="-625475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40708" name="Group 36"/>
          <p:cNvGrpSpPr/>
          <p:nvPr/>
        </p:nvGrpSpPr>
        <p:grpSpPr bwMode="auto">
          <a:xfrm>
            <a:off x="3461544" y="4878043"/>
            <a:ext cx="2085975" cy="708025"/>
            <a:chOff x="2586" y="2391"/>
            <a:chExt cx="1314" cy="446"/>
          </a:xfrm>
        </p:grpSpPr>
        <p:sp>
          <p:nvSpPr>
            <p:cNvPr id="40980" name="Text Box 37"/>
            <p:cNvSpPr txBox="1">
              <a:spLocks noChangeArrowheads="1"/>
            </p:cNvSpPr>
            <p:nvPr/>
          </p:nvSpPr>
          <p:spPr bwMode="auto">
            <a:xfrm>
              <a:off x="2586" y="2391"/>
              <a:ext cx="1314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Georgia" panose="02040502050405020303" pitchFamily="18" charset="0"/>
                </a:rPr>
                <a:t>(JQ=0,KQ=0, Q</a:t>
              </a:r>
              <a:r>
                <a:rPr lang="zh-CN" altLang="en-US" sz="1200" b="1" dirty="0">
                  <a:latin typeface="Georgia" panose="02040502050405020303" pitchFamily="18" charset="0"/>
                </a:rPr>
                <a:t>主</a:t>
              </a:r>
              <a:r>
                <a:rPr lang="zh-CN" altLang="en-US" sz="2000" b="1" dirty="0">
                  <a:latin typeface="Georgia" panose="02040502050405020303" pitchFamily="18" charset="0"/>
                </a:rPr>
                <a:t>不会再变化</a:t>
              </a:r>
              <a:r>
                <a:rPr lang="en-US" altLang="zh-CN" sz="2000" b="1" dirty="0">
                  <a:latin typeface="Georgia" panose="02040502050405020303" pitchFamily="18" charset="0"/>
                </a:rPr>
                <a:t>)</a:t>
              </a:r>
              <a:endParaRPr lang="en-US" altLang="zh-CN" sz="2000" b="1" dirty="0">
                <a:latin typeface="Georgia" panose="02040502050405020303" pitchFamily="18" charset="0"/>
              </a:endParaRPr>
            </a:p>
          </p:txBody>
        </p:sp>
        <p:sp>
          <p:nvSpPr>
            <p:cNvPr id="40981" name="Line 38"/>
            <p:cNvSpPr>
              <a:spLocks noChangeShapeType="1"/>
            </p:cNvSpPr>
            <p:nvPr/>
          </p:nvSpPr>
          <p:spPr bwMode="auto">
            <a:xfrm>
              <a:off x="2839" y="2431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371586" y="2489548"/>
            <a:ext cx="1756730" cy="3653283"/>
            <a:chOff x="4595565" y="-14682"/>
            <a:chExt cx="3853110" cy="6740921"/>
          </a:xfrm>
        </p:grpSpPr>
        <p:sp>
          <p:nvSpPr>
            <p:cNvPr id="39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60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79" name="Group 261"/>
              <p:cNvGrpSpPr/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27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28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80" name="Group 264"/>
              <p:cNvGrpSpPr/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25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26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81" name="Group 267"/>
              <p:cNvGrpSpPr/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23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24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82" name="Group 270"/>
              <p:cNvGrpSpPr/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21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22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83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5" name="Group 285"/>
              <p:cNvGrpSpPr/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19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20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96" name="Group 288"/>
              <p:cNvGrpSpPr/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17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18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97" name="Group 291"/>
              <p:cNvGrpSpPr/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15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16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grpSp>
            <p:nvGrpSpPr>
              <p:cNvPr id="98" name="Group 294"/>
              <p:cNvGrpSpPr/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13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14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99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0" name="Group 298"/>
              <p:cNvGrpSpPr/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11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112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101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04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05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06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07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08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411163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09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R</a:t>
              </a:r>
              <a:endParaRPr lang="en-US" altLang="zh-CN" sz="2000" dirty="0"/>
            </a:p>
          </p:txBody>
        </p:sp>
        <p:sp>
          <p:nvSpPr>
            <p:cNvPr id="43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S</a:t>
              </a:r>
              <a:endParaRPr lang="en-US" altLang="zh-CN" sz="2000" dirty="0"/>
            </a:p>
          </p:txBody>
        </p:sp>
        <p:grpSp>
          <p:nvGrpSpPr>
            <p:cNvPr id="44" name="Group 332"/>
            <p:cNvGrpSpPr/>
            <p:nvPr/>
          </p:nvGrpSpPr>
          <p:grpSpPr bwMode="auto">
            <a:xfrm>
              <a:off x="4721225" y="5029200"/>
              <a:ext cx="917575" cy="1546225"/>
              <a:chOff x="2974" y="3168"/>
              <a:chExt cx="578" cy="974"/>
            </a:xfrm>
          </p:grpSpPr>
          <p:grpSp>
            <p:nvGrpSpPr>
              <p:cNvPr id="53" name="Group 324"/>
              <p:cNvGrpSpPr/>
              <p:nvPr/>
            </p:nvGrpSpPr>
            <p:grpSpPr bwMode="auto">
              <a:xfrm>
                <a:off x="2974" y="3312"/>
                <a:ext cx="578" cy="830"/>
                <a:chOff x="2974" y="3216"/>
                <a:chExt cx="578" cy="830"/>
              </a:xfrm>
            </p:grpSpPr>
            <p:sp>
              <p:nvSpPr>
                <p:cNvPr id="55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K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7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9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54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" name="Group 333"/>
            <p:cNvGrpSpPr/>
            <p:nvPr/>
          </p:nvGrpSpPr>
          <p:grpSpPr bwMode="auto">
            <a:xfrm>
              <a:off x="6651628" y="5029201"/>
              <a:ext cx="1619252" cy="1697038"/>
              <a:chOff x="4190" y="3168"/>
              <a:chExt cx="1020" cy="1069"/>
            </a:xfrm>
          </p:grpSpPr>
          <p:grpSp>
            <p:nvGrpSpPr>
              <p:cNvPr id="46" name="Group 325"/>
              <p:cNvGrpSpPr/>
              <p:nvPr/>
            </p:nvGrpSpPr>
            <p:grpSpPr bwMode="auto">
              <a:xfrm>
                <a:off x="4190" y="3312"/>
                <a:ext cx="1020" cy="925"/>
                <a:chOff x="4167" y="3216"/>
                <a:chExt cx="1020" cy="925"/>
              </a:xfrm>
            </p:grpSpPr>
            <p:sp>
              <p:nvSpPr>
                <p:cNvPr id="48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J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9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_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47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4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4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4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0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4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4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4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4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4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4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4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703" grpId="0" autoUpdateAnimBg="0"/>
      <p:bldP spid="54070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DF8D1F-7208-49E0-B9C3-C328418FEED0}" type="slidenum">
              <a:rPr lang="en-US" altLang="zh-CN"/>
            </a:fld>
            <a:endParaRPr lang="en-US" altLang="zh-CN"/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主从</a:t>
            </a:r>
            <a:r>
              <a:rPr lang="en-US" altLang="zh-CN"/>
              <a:t>J-K</a:t>
            </a:r>
            <a:r>
              <a:rPr lang="zh-CN" altLang="en-US"/>
              <a:t>触发器的</a:t>
            </a:r>
            <a:r>
              <a:rPr lang="zh-CN" altLang="en-US" b="1"/>
              <a:t>时钟配合方式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 b="1"/>
              <a:t>触发器功能特点决定了时钟配合方式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>
                <a:latin typeface="Georgia" panose="02040502050405020303" pitchFamily="18" charset="0"/>
              </a:rPr>
              <a:t>使用窄脉宽的</a:t>
            </a:r>
            <a:r>
              <a:rPr lang="en-US" altLang="zh-CN" b="1">
                <a:latin typeface="Georgia" panose="02040502050405020303" pitchFamily="18" charset="0"/>
              </a:rPr>
              <a:t>CP</a:t>
            </a:r>
            <a:r>
              <a:rPr lang="zh-CN" altLang="en-US" b="1">
                <a:latin typeface="Georgia" panose="02040502050405020303" pitchFamily="18" charset="0"/>
              </a:rPr>
              <a:t>信号，高电平时间缩短</a:t>
            </a:r>
            <a:r>
              <a:rPr lang="en-US" altLang="zh-CN" b="1">
                <a:latin typeface="Georgia" panose="02040502050405020303" pitchFamily="18" charset="0"/>
              </a:rPr>
              <a:t>,</a:t>
            </a:r>
            <a:r>
              <a:rPr lang="zh-CN" altLang="en-US" b="1">
                <a:latin typeface="Georgia" panose="02040502050405020303" pitchFamily="18" charset="0"/>
              </a:rPr>
              <a:t>可以保证</a:t>
            </a:r>
            <a:r>
              <a:rPr lang="en-US" altLang="zh-CN" b="1">
                <a:latin typeface="Georgia" panose="02040502050405020303" pitchFamily="18" charset="0"/>
              </a:rPr>
              <a:t>J-K</a:t>
            </a:r>
            <a:r>
              <a:rPr lang="zh-CN" altLang="en-US" b="1">
                <a:latin typeface="Georgia" panose="02040502050405020303" pitchFamily="18" charset="0"/>
              </a:rPr>
              <a:t>触发器正常工作</a:t>
            </a:r>
            <a:endParaRPr lang="zh-CN" altLang="en-US" b="1">
              <a:latin typeface="Georgia" panose="02040502050405020303" pitchFamily="18" charset="0"/>
            </a:endParaRPr>
          </a:p>
        </p:txBody>
      </p:sp>
      <p:grpSp>
        <p:nvGrpSpPr>
          <p:cNvPr id="541700" name="Group 4"/>
          <p:cNvGrpSpPr/>
          <p:nvPr/>
        </p:nvGrpSpPr>
        <p:grpSpPr bwMode="auto">
          <a:xfrm>
            <a:off x="1828800" y="3733800"/>
            <a:ext cx="4700588" cy="457200"/>
            <a:chOff x="1152" y="2352"/>
            <a:chExt cx="2961" cy="288"/>
          </a:xfrm>
        </p:grpSpPr>
        <p:sp>
          <p:nvSpPr>
            <p:cNvPr id="41990" name="Line 5"/>
            <p:cNvSpPr>
              <a:spLocks noChangeShapeType="1"/>
            </p:cNvSpPr>
            <p:nvPr/>
          </p:nvSpPr>
          <p:spPr bwMode="auto">
            <a:xfrm flipV="1">
              <a:off x="1572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1" name="Line 6"/>
            <p:cNvSpPr>
              <a:spLocks noChangeShapeType="1"/>
            </p:cNvSpPr>
            <p:nvPr/>
          </p:nvSpPr>
          <p:spPr bwMode="auto">
            <a:xfrm flipV="1">
              <a:off x="1709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Line 7"/>
            <p:cNvSpPr>
              <a:spLocks noChangeShapeType="1"/>
            </p:cNvSpPr>
            <p:nvPr/>
          </p:nvSpPr>
          <p:spPr bwMode="auto">
            <a:xfrm flipV="1">
              <a:off x="2843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3" name="Line 8"/>
            <p:cNvSpPr>
              <a:spLocks noChangeShapeType="1"/>
            </p:cNvSpPr>
            <p:nvPr/>
          </p:nvSpPr>
          <p:spPr bwMode="auto">
            <a:xfrm flipV="1">
              <a:off x="2979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Line 9"/>
            <p:cNvSpPr>
              <a:spLocks noChangeShapeType="1"/>
            </p:cNvSpPr>
            <p:nvPr/>
          </p:nvSpPr>
          <p:spPr bwMode="auto">
            <a:xfrm>
              <a:off x="1572" y="2357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10"/>
            <p:cNvSpPr>
              <a:spLocks noChangeShapeType="1"/>
            </p:cNvSpPr>
            <p:nvPr/>
          </p:nvSpPr>
          <p:spPr bwMode="auto">
            <a:xfrm>
              <a:off x="2842" y="2357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11"/>
            <p:cNvSpPr>
              <a:spLocks noChangeShapeType="1"/>
            </p:cNvSpPr>
            <p:nvPr/>
          </p:nvSpPr>
          <p:spPr bwMode="auto">
            <a:xfrm>
              <a:off x="1709" y="2583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12"/>
            <p:cNvSpPr>
              <a:spLocks noChangeShapeType="1"/>
            </p:cNvSpPr>
            <p:nvPr/>
          </p:nvSpPr>
          <p:spPr bwMode="auto">
            <a:xfrm>
              <a:off x="2979" y="2583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13"/>
            <p:cNvSpPr>
              <a:spLocks noChangeShapeType="1"/>
            </p:cNvSpPr>
            <p:nvPr/>
          </p:nvSpPr>
          <p:spPr bwMode="auto">
            <a:xfrm flipH="1">
              <a:off x="1255" y="2583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9" name="Text Box 14"/>
            <p:cNvSpPr txBox="1">
              <a:spLocks noChangeArrowheads="1"/>
            </p:cNvSpPr>
            <p:nvPr/>
          </p:nvSpPr>
          <p:spPr bwMode="auto">
            <a:xfrm>
              <a:off x="1152" y="235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EA5115-D439-4316-A85D-8F215FBCDCBD}" type="slidenum">
              <a:rPr lang="en-US" altLang="zh-CN"/>
            </a:fld>
            <a:endParaRPr lang="en-US" altLang="zh-CN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按时钟脉冲</a:t>
            </a:r>
            <a:r>
              <a:rPr lang="en-US" altLang="zh-CN" b="1"/>
              <a:t>(Clock Pulse)</a:t>
            </a:r>
            <a:r>
              <a:rPr lang="zh-CN" altLang="en-US" b="1"/>
              <a:t>控制方式分类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主</a:t>
            </a:r>
            <a:r>
              <a:rPr lang="en-US" altLang="zh-CN" b="1"/>
              <a:t>-</a:t>
            </a:r>
            <a:r>
              <a:rPr lang="zh-CN" altLang="en-US" b="1"/>
              <a:t>从触发方式</a:t>
            </a:r>
            <a:r>
              <a:rPr lang="en-US" altLang="zh-CN" b="1"/>
              <a:t>FF (Master-Slave </a:t>
            </a:r>
            <a:r>
              <a:rPr lang="zh-CN" altLang="en-US" b="1"/>
              <a:t>或 </a:t>
            </a:r>
            <a:r>
              <a:rPr lang="en-US" altLang="zh-CN" b="1"/>
              <a:t>Pulse-Trigger</a:t>
            </a:r>
            <a:r>
              <a:rPr lang="en-US" altLang="zh-CN"/>
              <a:t> )</a:t>
            </a:r>
            <a:endParaRPr lang="en-US" altLang="zh-CN"/>
          </a:p>
          <a:p>
            <a:pPr lvl="2" eaLnBrk="1" hangingPunct="1">
              <a:defRPr/>
            </a:pPr>
            <a:r>
              <a:rPr lang="zh-CN" altLang="en-US"/>
              <a:t>由两级电位触发器（主触发器和从触发器）串连而成</a:t>
            </a:r>
            <a:endParaRPr lang="zh-CN" altLang="en-US"/>
          </a:p>
          <a:p>
            <a:pPr lvl="2" eaLnBrk="1" hangingPunct="1">
              <a:defRPr/>
            </a:pPr>
            <a:r>
              <a:rPr lang="en-US" altLang="zh-CN"/>
              <a:t>CP=1</a:t>
            </a:r>
            <a:r>
              <a:rPr lang="zh-CN" altLang="en-US"/>
              <a:t>期间，主触发器接收数据，从触发器封锁</a:t>
            </a:r>
            <a:endParaRPr lang="zh-CN" altLang="en-US"/>
          </a:p>
          <a:p>
            <a:pPr lvl="2" eaLnBrk="1" hangingPunct="1">
              <a:defRPr/>
            </a:pPr>
            <a:r>
              <a:rPr lang="zh-CN" altLang="en-US"/>
              <a:t>在负跳变到来时，主触发器封锁，从触发器将接收</a:t>
            </a:r>
            <a:r>
              <a:rPr lang="en-US" altLang="zh-CN"/>
              <a:t>CP</a:t>
            </a:r>
            <a:r>
              <a:rPr lang="zh-CN" altLang="en-US"/>
              <a:t>负跳变时主触发器的状态。</a:t>
            </a:r>
            <a:endParaRPr lang="zh-CN" altLang="en-US"/>
          </a:p>
          <a:p>
            <a:pPr lvl="2" eaLnBrk="1" hangingPunct="1">
              <a:defRPr/>
            </a:pPr>
            <a:endParaRPr lang="zh-CN" altLang="en-US"/>
          </a:p>
          <a:p>
            <a:pPr lvl="2" eaLnBrk="1" hangingPunct="1">
              <a:defRPr/>
            </a:pPr>
            <a:r>
              <a:rPr lang="zh-CN" altLang="en-US"/>
              <a:t>常用有主从</a:t>
            </a:r>
            <a:r>
              <a:rPr lang="en-US" altLang="zh-CN"/>
              <a:t>R-S</a:t>
            </a:r>
            <a:r>
              <a:rPr lang="zh-CN" altLang="en-US"/>
              <a:t>触发器和主从</a:t>
            </a:r>
            <a:r>
              <a:rPr lang="en-US" altLang="zh-CN"/>
              <a:t>J-K</a:t>
            </a:r>
            <a:r>
              <a:rPr lang="zh-CN" altLang="en-US"/>
              <a:t>触发器。</a:t>
            </a:r>
            <a:endParaRPr lang="zh-CN" altLang="en-US"/>
          </a:p>
          <a:p>
            <a:pPr eaLnBrk="1" hangingPunct="1">
              <a:defRPr/>
            </a:pP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592276-2FDA-4811-BDFF-BB5311725250}" type="slidenum">
              <a:rPr lang="en-US" altLang="zh-CN"/>
            </a:fld>
            <a:endParaRPr lang="en-US" altLang="zh-CN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基本</a:t>
            </a:r>
            <a:r>
              <a:rPr lang="en-US" altLang="zh-CN"/>
              <a:t>R-S</a:t>
            </a: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电位触发方式的触发器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边沿触发方式的触发器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主－从触发器方式的触发器</a:t>
            </a:r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F301C1-8036-4723-8D47-81D74FBCDC02}" type="slidenum">
              <a:rPr lang="en-US" altLang="zh-CN"/>
            </a:fld>
            <a:endParaRPr lang="en-US" altLang="zh-CN"/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T</a:t>
            </a: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zh-CN" altLang="en-US"/>
              <a:t>不设数据输入端，只要来一个时钟脉冲，触发器就翻转一次。</a:t>
            </a:r>
            <a:endParaRPr lang="zh-CN" altLang="en-US"/>
          </a:p>
          <a:p>
            <a:pPr lvl="1" eaLnBrk="1" hangingPunct="1">
              <a:defRPr/>
            </a:pPr>
            <a:r>
              <a:rPr lang="en-US" altLang="zh-CN"/>
              <a:t>T</a:t>
            </a:r>
            <a:r>
              <a:rPr lang="zh-CN" altLang="en-US"/>
              <a:t>触发器可由</a:t>
            </a:r>
            <a:r>
              <a:rPr lang="en-US" altLang="zh-CN"/>
              <a:t>D</a:t>
            </a:r>
            <a:r>
              <a:rPr lang="zh-CN" altLang="en-US"/>
              <a:t>触发器或</a:t>
            </a:r>
            <a:r>
              <a:rPr lang="en-US" altLang="zh-CN"/>
              <a:t>J-K</a:t>
            </a:r>
            <a:r>
              <a:rPr lang="zh-CN" altLang="en-US"/>
              <a:t>触发器等构成。</a:t>
            </a:r>
            <a:endParaRPr lang="zh-CN" altLang="en-US"/>
          </a:p>
          <a:p>
            <a:pPr lvl="1" eaLnBrk="1" hangingPunct="1">
              <a:defRPr/>
            </a:pPr>
            <a:r>
              <a:rPr lang="en-US" altLang="zh-CN"/>
              <a:t>T</a:t>
            </a:r>
            <a:r>
              <a:rPr lang="zh-CN" altLang="en-US"/>
              <a:t>触发器一般都是边沿触发器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59A0C4-116A-4D51-A11C-4F2A59A1349A}" type="slidenum">
              <a:rPr lang="en-US" altLang="zh-CN"/>
            </a:fld>
            <a:endParaRPr lang="en-US" altLang="zh-CN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T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grpSp>
        <p:nvGrpSpPr>
          <p:cNvPr id="91141" name="Group 4"/>
          <p:cNvGrpSpPr/>
          <p:nvPr/>
        </p:nvGrpSpPr>
        <p:grpSpPr bwMode="auto">
          <a:xfrm>
            <a:off x="381000" y="2438400"/>
            <a:ext cx="4808538" cy="2282825"/>
            <a:chOff x="1756" y="1434"/>
            <a:chExt cx="2938" cy="1438"/>
          </a:xfrm>
        </p:grpSpPr>
        <p:graphicFrame>
          <p:nvGraphicFramePr>
            <p:cNvPr id="91186" name="Object 5"/>
            <p:cNvGraphicFramePr>
              <a:graphicFrameLocks noChangeAspect="1"/>
            </p:cNvGraphicFramePr>
            <p:nvPr/>
          </p:nvGraphicFramePr>
          <p:xfrm>
            <a:off x="2789" y="2165"/>
            <a:ext cx="16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1" imgW="61595" imgH="102870" progId="Equation.3">
                    <p:embed/>
                  </p:oleObj>
                </mc:Choice>
                <mc:Fallback>
                  <p:oleObj name="公式" r:id="rId1" imgW="61595" imgH="10287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165"/>
                          <a:ext cx="169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87" name="Line 6"/>
            <p:cNvSpPr>
              <a:spLocks noChangeShapeType="1"/>
            </p:cNvSpPr>
            <p:nvPr/>
          </p:nvSpPr>
          <p:spPr bwMode="auto">
            <a:xfrm>
              <a:off x="2653" y="2024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8" name="Line 7"/>
            <p:cNvSpPr>
              <a:spLocks noChangeShapeType="1"/>
            </p:cNvSpPr>
            <p:nvPr/>
          </p:nvSpPr>
          <p:spPr bwMode="auto">
            <a:xfrm>
              <a:off x="3606" y="1706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9" name="Text Box 8"/>
            <p:cNvSpPr txBox="1">
              <a:spLocks noChangeArrowheads="1"/>
            </p:cNvSpPr>
            <p:nvPr/>
          </p:nvSpPr>
          <p:spPr bwMode="auto">
            <a:xfrm>
              <a:off x="2699" y="1434"/>
              <a:ext cx="1773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                              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       T       Q        Q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         1                    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           0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aphicFrame>
          <p:nvGraphicFramePr>
            <p:cNvPr id="91190" name="Object 9"/>
            <p:cNvGraphicFramePr>
              <a:graphicFrameLocks noChangeAspect="1"/>
            </p:cNvGraphicFramePr>
            <p:nvPr/>
          </p:nvGraphicFramePr>
          <p:xfrm>
            <a:off x="2789" y="2573"/>
            <a:ext cx="16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3" imgW="61595" imgH="102870" progId="Equation.3">
                    <p:embed/>
                  </p:oleObj>
                </mc:Choice>
                <mc:Fallback>
                  <p:oleObj name="公式" r:id="rId3" imgW="61595" imgH="10287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573"/>
                          <a:ext cx="169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1" name="Object 10"/>
            <p:cNvGraphicFramePr>
              <a:graphicFrameLocks noChangeAspect="1"/>
            </p:cNvGraphicFramePr>
            <p:nvPr/>
          </p:nvGraphicFramePr>
          <p:xfrm>
            <a:off x="3696" y="2614"/>
            <a:ext cx="24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5" imgW="102870" imgH="95885" progId="Equation.3">
                    <p:embed/>
                  </p:oleObj>
                </mc:Choice>
                <mc:Fallback>
                  <p:oleObj name="公式" r:id="rId5" imgW="102870" imgH="958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614"/>
                          <a:ext cx="24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2" name="Object 11"/>
            <p:cNvGraphicFramePr>
              <a:graphicFrameLocks noChangeAspect="1"/>
            </p:cNvGraphicFramePr>
            <p:nvPr/>
          </p:nvGraphicFramePr>
          <p:xfrm>
            <a:off x="4241" y="2568"/>
            <a:ext cx="26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7" imgW="116205" imgH="123190" progId="Equation.3">
                    <p:embed/>
                  </p:oleObj>
                </mc:Choice>
                <mc:Fallback>
                  <p:oleObj name="公式" r:id="rId7" imgW="116205" imgH="12319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568"/>
                          <a:ext cx="261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3" name="Object 12"/>
            <p:cNvGraphicFramePr>
              <a:graphicFrameLocks noChangeAspect="1"/>
            </p:cNvGraphicFramePr>
            <p:nvPr/>
          </p:nvGraphicFramePr>
          <p:xfrm>
            <a:off x="4241" y="2160"/>
            <a:ext cx="24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9" imgW="102870" imgH="95885" progId="Equation.3">
                    <p:embed/>
                  </p:oleObj>
                </mc:Choice>
                <mc:Fallback>
                  <p:oleObj name="公式" r:id="rId9" imgW="102870" imgH="9588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160"/>
                          <a:ext cx="24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4" name="Object 13"/>
            <p:cNvGraphicFramePr>
              <a:graphicFrameLocks noChangeAspect="1"/>
            </p:cNvGraphicFramePr>
            <p:nvPr/>
          </p:nvGraphicFramePr>
          <p:xfrm>
            <a:off x="3696" y="2160"/>
            <a:ext cx="26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11" imgW="116205" imgH="123190" progId="Equation.3">
                    <p:embed/>
                  </p:oleObj>
                </mc:Choice>
                <mc:Fallback>
                  <p:oleObj name="公式" r:id="rId11" imgW="116205" imgH="12319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60"/>
                          <a:ext cx="261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95" name="Text Box 14"/>
            <p:cNvSpPr txBox="1">
              <a:spLocks noChangeArrowheads="1"/>
            </p:cNvSpPr>
            <p:nvPr/>
          </p:nvSpPr>
          <p:spPr bwMode="auto">
            <a:xfrm>
              <a:off x="1756" y="2069"/>
              <a:ext cx="66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Toggle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latin typeface="Georgia" panose="02040502050405020303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Hold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556047" name="Text Box 15"/>
          <p:cNvSpPr txBox="1">
            <a:spLocks noChangeArrowheads="1"/>
          </p:cNvSpPr>
          <p:nvPr/>
        </p:nvSpPr>
        <p:spPr bwMode="auto">
          <a:xfrm>
            <a:off x="2743200" y="2133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功能表</a:t>
            </a:r>
            <a:endParaRPr lang="zh-CN" altLang="en-US" sz="2400">
              <a:latin typeface="Georgia" panose="02040502050405020303" pitchFamily="18" charset="0"/>
            </a:endParaRPr>
          </a:p>
        </p:txBody>
      </p:sp>
      <p:grpSp>
        <p:nvGrpSpPr>
          <p:cNvPr id="556076" name="Group 44"/>
          <p:cNvGrpSpPr/>
          <p:nvPr/>
        </p:nvGrpSpPr>
        <p:grpSpPr bwMode="auto">
          <a:xfrm>
            <a:off x="4800600" y="4165600"/>
            <a:ext cx="3886200" cy="2159000"/>
            <a:chOff x="3024" y="2624"/>
            <a:chExt cx="2448" cy="1360"/>
          </a:xfrm>
        </p:grpSpPr>
        <p:sp>
          <p:nvSpPr>
            <p:cNvPr id="91145" name="Rectangle 45"/>
            <p:cNvSpPr>
              <a:spLocks noChangeArrowheads="1"/>
            </p:cNvSpPr>
            <p:nvPr/>
          </p:nvSpPr>
          <p:spPr bwMode="auto">
            <a:xfrm>
              <a:off x="4454" y="2805"/>
              <a:ext cx="816" cy="1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J          Q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   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K        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91146" name="Line 46"/>
            <p:cNvSpPr>
              <a:spLocks noChangeShapeType="1"/>
            </p:cNvSpPr>
            <p:nvPr/>
          </p:nvSpPr>
          <p:spPr bwMode="auto">
            <a:xfrm>
              <a:off x="3840" y="340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47" name="Line 47"/>
            <p:cNvSpPr>
              <a:spLocks noChangeShapeType="1"/>
            </p:cNvSpPr>
            <p:nvPr/>
          </p:nvSpPr>
          <p:spPr bwMode="auto">
            <a:xfrm>
              <a:off x="3818" y="2941"/>
              <a:ext cx="6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48" name="Line 48"/>
            <p:cNvSpPr>
              <a:spLocks noChangeShapeType="1"/>
            </p:cNvSpPr>
            <p:nvPr/>
          </p:nvSpPr>
          <p:spPr bwMode="auto">
            <a:xfrm>
              <a:off x="4045" y="3848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49" name="Line 49"/>
            <p:cNvSpPr>
              <a:spLocks noChangeShapeType="1"/>
            </p:cNvSpPr>
            <p:nvPr/>
          </p:nvSpPr>
          <p:spPr bwMode="auto">
            <a:xfrm>
              <a:off x="4045" y="2941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1150" name="Picture 50" descr="dot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1" y="2927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51" name="Text Box 51"/>
            <p:cNvSpPr txBox="1">
              <a:spLocks noChangeArrowheads="1"/>
            </p:cNvSpPr>
            <p:nvPr/>
          </p:nvSpPr>
          <p:spPr bwMode="auto">
            <a:xfrm>
              <a:off x="3728" y="2624"/>
              <a:ext cx="3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“1”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91152" name="Line 52"/>
            <p:cNvSpPr>
              <a:spLocks noChangeShapeType="1"/>
            </p:cNvSpPr>
            <p:nvPr/>
          </p:nvSpPr>
          <p:spPr bwMode="auto">
            <a:xfrm>
              <a:off x="5280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3" name="Line 53"/>
            <p:cNvSpPr>
              <a:spLocks noChangeShapeType="1"/>
            </p:cNvSpPr>
            <p:nvPr/>
          </p:nvSpPr>
          <p:spPr bwMode="auto">
            <a:xfrm>
              <a:off x="5280" y="37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4" name="Rectangle 54"/>
            <p:cNvSpPr>
              <a:spLocks noChangeArrowheads="1"/>
            </p:cNvSpPr>
            <p:nvPr/>
          </p:nvSpPr>
          <p:spPr bwMode="auto">
            <a:xfrm>
              <a:off x="3648" y="3216"/>
              <a:ext cx="20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1155" name="Line 55"/>
            <p:cNvSpPr>
              <a:spLocks noChangeShapeType="1"/>
            </p:cNvSpPr>
            <p:nvPr/>
          </p:nvSpPr>
          <p:spPr bwMode="auto">
            <a:xfrm flipH="1">
              <a:off x="3360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Line 56"/>
            <p:cNvSpPr>
              <a:spLocks noChangeShapeType="1"/>
            </p:cNvSpPr>
            <p:nvPr/>
          </p:nvSpPr>
          <p:spPr bwMode="auto">
            <a:xfrm flipH="1">
              <a:off x="3360" y="33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7" name="Text Box 57"/>
            <p:cNvSpPr txBox="1">
              <a:spLocks noChangeArrowheads="1"/>
            </p:cNvSpPr>
            <p:nvPr/>
          </p:nvSpPr>
          <p:spPr bwMode="auto">
            <a:xfrm>
              <a:off x="3120" y="3168"/>
              <a:ext cx="2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T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91158" name="Rectangle 58"/>
            <p:cNvSpPr>
              <a:spLocks noChangeArrowheads="1"/>
            </p:cNvSpPr>
            <p:nvPr/>
          </p:nvSpPr>
          <p:spPr bwMode="auto">
            <a:xfrm>
              <a:off x="3024" y="340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553200" y="1219200"/>
            <a:ext cx="2005013" cy="2741613"/>
            <a:chOff x="6553200" y="1219200"/>
            <a:chExt cx="2005013" cy="2741613"/>
          </a:xfrm>
        </p:grpSpPr>
        <p:grpSp>
          <p:nvGrpSpPr>
            <p:cNvPr id="556048" name="Group 16"/>
            <p:cNvGrpSpPr/>
            <p:nvPr/>
          </p:nvGrpSpPr>
          <p:grpSpPr bwMode="auto">
            <a:xfrm>
              <a:off x="6553200" y="1219200"/>
              <a:ext cx="2005013" cy="2741613"/>
              <a:chOff x="4128" y="768"/>
              <a:chExt cx="1263" cy="1727"/>
            </a:xfrm>
          </p:grpSpPr>
          <p:sp>
            <p:nvSpPr>
              <p:cNvPr id="91159" name="Line 17"/>
              <p:cNvSpPr>
                <a:spLocks noChangeShapeType="1"/>
              </p:cNvSpPr>
              <p:nvPr/>
            </p:nvSpPr>
            <p:spPr bwMode="auto">
              <a:xfrm>
                <a:off x="4505" y="1580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0" name="Line 18"/>
              <p:cNvSpPr>
                <a:spLocks noChangeShapeType="1"/>
              </p:cNvSpPr>
              <p:nvPr/>
            </p:nvSpPr>
            <p:spPr bwMode="auto">
              <a:xfrm flipV="1">
                <a:off x="4505" y="768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1" name="Line 19"/>
              <p:cNvSpPr>
                <a:spLocks noChangeShapeType="1"/>
              </p:cNvSpPr>
              <p:nvPr/>
            </p:nvSpPr>
            <p:spPr bwMode="auto">
              <a:xfrm flipH="1">
                <a:off x="4128" y="768"/>
                <a:ext cx="3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2" name="Line 20"/>
              <p:cNvSpPr>
                <a:spLocks noChangeShapeType="1"/>
              </p:cNvSpPr>
              <p:nvPr/>
            </p:nvSpPr>
            <p:spPr bwMode="auto">
              <a:xfrm flipH="1">
                <a:off x="4128" y="1765"/>
                <a:ext cx="3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3" name="Line 21"/>
              <p:cNvSpPr>
                <a:spLocks noChangeShapeType="1"/>
              </p:cNvSpPr>
              <p:nvPr/>
            </p:nvSpPr>
            <p:spPr bwMode="auto">
              <a:xfrm>
                <a:off x="4128" y="768"/>
                <a:ext cx="0" cy="9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4" name="Line 22"/>
              <p:cNvSpPr>
                <a:spLocks noChangeShapeType="1"/>
              </p:cNvSpPr>
              <p:nvPr/>
            </p:nvSpPr>
            <p:spPr bwMode="auto">
              <a:xfrm>
                <a:off x="4996" y="1580"/>
                <a:ext cx="0" cy="2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5" name="Rectangle 23"/>
              <p:cNvSpPr>
                <a:spLocks noChangeArrowheads="1"/>
              </p:cNvSpPr>
              <p:nvPr/>
            </p:nvSpPr>
            <p:spPr bwMode="auto">
              <a:xfrm>
                <a:off x="4845" y="1838"/>
                <a:ext cx="300" cy="1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91166" name="Line 24"/>
              <p:cNvSpPr>
                <a:spLocks noChangeShapeType="1"/>
              </p:cNvSpPr>
              <p:nvPr/>
            </p:nvSpPr>
            <p:spPr bwMode="auto">
              <a:xfrm>
                <a:off x="4883" y="2022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7" name="Line 25"/>
              <p:cNvSpPr>
                <a:spLocks noChangeShapeType="1"/>
              </p:cNvSpPr>
              <p:nvPr/>
            </p:nvSpPr>
            <p:spPr bwMode="auto">
              <a:xfrm>
                <a:off x="5072" y="2022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68" name="Text Box 26"/>
              <p:cNvSpPr txBox="1">
                <a:spLocks noChangeArrowheads="1"/>
              </p:cNvSpPr>
              <p:nvPr/>
            </p:nvSpPr>
            <p:spPr bwMode="auto">
              <a:xfrm>
                <a:off x="4732" y="2207"/>
                <a:ext cx="6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T    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91169" name="Line 27"/>
              <p:cNvSpPr>
                <a:spLocks noChangeShapeType="1"/>
              </p:cNvSpPr>
              <p:nvPr/>
            </p:nvSpPr>
            <p:spPr bwMode="auto">
              <a:xfrm flipV="1">
                <a:off x="4996" y="781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1170" name="Group 28"/>
              <p:cNvGrpSpPr>
                <a:grpSpLocks noChangeAspect="1"/>
              </p:cNvGrpSpPr>
              <p:nvPr/>
            </p:nvGrpSpPr>
            <p:grpSpPr bwMode="auto">
              <a:xfrm>
                <a:off x="4269" y="960"/>
                <a:ext cx="991" cy="647"/>
                <a:chOff x="2233" y="1972"/>
                <a:chExt cx="1191" cy="795"/>
              </a:xfrm>
            </p:grpSpPr>
            <p:sp>
              <p:nvSpPr>
                <p:cNvPr id="91171" name="AutoShape 29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235" y="1975"/>
                  <a:ext cx="1189" cy="7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172" name="Rectangle 30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91173" name="Rectangle 31"/>
                <p:cNvSpPr>
                  <a:spLocks noChangeArrowheads="1"/>
                </p:cNvSpPr>
                <p:nvPr/>
              </p:nvSpPr>
              <p:spPr bwMode="auto">
                <a:xfrm>
                  <a:off x="2438" y="2426"/>
                  <a:ext cx="959" cy="2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         CP</a:t>
                  </a:r>
                  <a:endParaRPr lang="en-US" altLang="zh-CN" sz="18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1174" name="Rectangle 32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91175" name="Rectangle 33"/>
                <p:cNvSpPr>
                  <a:spLocks noChangeArrowheads="1"/>
                </p:cNvSpPr>
                <p:nvPr/>
              </p:nvSpPr>
              <p:spPr bwMode="auto">
                <a:xfrm>
                  <a:off x="3008" y="2077"/>
                  <a:ext cx="172" cy="2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Q</a:t>
                  </a:r>
                  <a:endParaRPr lang="en-US" altLang="zh-CN" sz="18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1177" name="Rectangle 37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91178" name="Rectangle 38"/>
                <p:cNvSpPr>
                  <a:spLocks noChangeArrowheads="1"/>
                </p:cNvSpPr>
                <p:nvPr/>
              </p:nvSpPr>
              <p:spPr bwMode="auto">
                <a:xfrm>
                  <a:off x="2438" y="2426"/>
                  <a:ext cx="959" cy="2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         CP</a:t>
                  </a:r>
                  <a:endParaRPr lang="en-US" altLang="zh-CN" sz="18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1179" name="Rectangle 39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91180" name="Rectangle 40"/>
                <p:cNvSpPr>
                  <a:spLocks noChangeArrowheads="1"/>
                </p:cNvSpPr>
                <p:nvPr/>
              </p:nvSpPr>
              <p:spPr bwMode="auto">
                <a:xfrm>
                  <a:off x="3008" y="2077"/>
                  <a:ext cx="172" cy="2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Q</a:t>
                  </a:r>
                  <a:endParaRPr lang="en-US" altLang="zh-CN" sz="1800">
                    <a:latin typeface="Georgia" panose="02040502050405020303" pitchFamily="18" charset="0"/>
                  </a:endParaRPr>
                </a:p>
              </p:txBody>
            </p:sp>
          </p:grpSp>
        </p:grp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6973329" y="1362031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031E05-BD3A-4971-9397-80CE456F1BE1}" type="slidenum">
              <a:rPr lang="en-US" altLang="zh-CN"/>
            </a:fld>
            <a:endParaRPr lang="en-US" altLang="zh-CN"/>
          </a:p>
        </p:txBody>
      </p:sp>
      <p:grpSp>
        <p:nvGrpSpPr>
          <p:cNvPr id="48131" name="Group 2"/>
          <p:cNvGrpSpPr/>
          <p:nvPr/>
        </p:nvGrpSpPr>
        <p:grpSpPr bwMode="auto">
          <a:xfrm>
            <a:off x="2971800" y="4800600"/>
            <a:ext cx="3733800" cy="1219200"/>
            <a:chOff x="1872" y="3024"/>
            <a:chExt cx="2352" cy="768"/>
          </a:xfrm>
        </p:grpSpPr>
        <p:sp>
          <p:nvSpPr>
            <p:cNvPr id="48162" name="Rectangle 3"/>
            <p:cNvSpPr>
              <a:spLocks noChangeArrowheads="1"/>
            </p:cNvSpPr>
            <p:nvPr/>
          </p:nvSpPr>
          <p:spPr bwMode="auto">
            <a:xfrm>
              <a:off x="3792" y="3024"/>
              <a:ext cx="432" cy="38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63" name="Rectangle 4"/>
            <p:cNvSpPr>
              <a:spLocks noChangeArrowheads="1"/>
            </p:cNvSpPr>
            <p:nvPr/>
          </p:nvSpPr>
          <p:spPr bwMode="auto">
            <a:xfrm>
              <a:off x="1872" y="3024"/>
              <a:ext cx="480" cy="38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64" name="Line 5"/>
            <p:cNvSpPr>
              <a:spLocks noChangeShapeType="1"/>
            </p:cNvSpPr>
            <p:nvPr/>
          </p:nvSpPr>
          <p:spPr bwMode="auto">
            <a:xfrm flipH="1" flipV="1">
              <a:off x="2208" y="3408"/>
              <a:ext cx="816" cy="38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5" name="Line 6"/>
            <p:cNvSpPr>
              <a:spLocks noChangeShapeType="1"/>
            </p:cNvSpPr>
            <p:nvPr/>
          </p:nvSpPr>
          <p:spPr bwMode="auto">
            <a:xfrm flipV="1">
              <a:off x="3024" y="3312"/>
              <a:ext cx="960" cy="48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132" name="Group 7"/>
          <p:cNvGrpSpPr/>
          <p:nvPr/>
        </p:nvGrpSpPr>
        <p:grpSpPr bwMode="auto">
          <a:xfrm>
            <a:off x="4343400" y="4114800"/>
            <a:ext cx="2286000" cy="1905000"/>
            <a:chOff x="2736" y="2592"/>
            <a:chExt cx="1440" cy="1200"/>
          </a:xfrm>
        </p:grpSpPr>
        <p:sp>
          <p:nvSpPr>
            <p:cNvPr id="48160" name="Rectangle 8"/>
            <p:cNvSpPr>
              <a:spLocks noChangeArrowheads="1"/>
            </p:cNvSpPr>
            <p:nvPr/>
          </p:nvSpPr>
          <p:spPr bwMode="auto">
            <a:xfrm>
              <a:off x="3216" y="2592"/>
              <a:ext cx="960" cy="336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61" name="Line 9"/>
            <p:cNvSpPr>
              <a:spLocks noChangeShapeType="1"/>
            </p:cNvSpPr>
            <p:nvPr/>
          </p:nvSpPr>
          <p:spPr bwMode="auto">
            <a:xfrm flipV="1">
              <a:off x="2736" y="2928"/>
              <a:ext cx="576" cy="86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706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5706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685800" y="1457325"/>
            <a:ext cx="7924800" cy="1300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>
                <a:sym typeface="Wingdings" panose="05000000000000000000" pitchFamily="2" charset="2"/>
              </a:rPr>
              <a:t> </a:t>
            </a:r>
            <a:endParaRPr lang="en-US" altLang="zh-CN"/>
          </a:p>
        </p:txBody>
      </p:sp>
      <p:graphicFrame>
        <p:nvGraphicFramePr>
          <p:cNvPr id="557068" name="Group 12"/>
          <p:cNvGraphicFramePr>
            <a:graphicFrameLocks noGrp="1"/>
          </p:cNvGraphicFramePr>
          <p:nvPr/>
        </p:nvGraphicFramePr>
        <p:xfrm>
          <a:off x="2843213" y="4035425"/>
          <a:ext cx="3984625" cy="1471613"/>
        </p:xfrm>
        <a:graphic>
          <a:graphicData uri="http://schemas.openxmlformats.org/drawingml/2006/table">
            <a:tbl>
              <a:tblPr/>
              <a:tblGrid>
                <a:gridCol w="996950"/>
                <a:gridCol w="995362"/>
                <a:gridCol w="996950"/>
                <a:gridCol w="995363"/>
              </a:tblGrid>
              <a:tr h="750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52" name="Line 29"/>
          <p:cNvSpPr>
            <a:spLocks noChangeShapeType="1"/>
          </p:cNvSpPr>
          <p:nvPr/>
        </p:nvSpPr>
        <p:spPr bwMode="auto">
          <a:xfrm flipH="1" flipV="1">
            <a:off x="2124075" y="3314700"/>
            <a:ext cx="719138" cy="720725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53" name="Text Box 30"/>
          <p:cNvSpPr txBox="1">
            <a:spLocks noChangeArrowheads="1"/>
          </p:cNvSpPr>
          <p:nvPr/>
        </p:nvSpPr>
        <p:spPr bwMode="auto">
          <a:xfrm>
            <a:off x="2319338" y="3048000"/>
            <a:ext cx="303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Georgia" panose="02040502050405020303" pitchFamily="18" charset="0"/>
              </a:rPr>
              <a:t>J</a:t>
            </a:r>
            <a:endParaRPr lang="en-US" altLang="zh-CN" sz="1800">
              <a:latin typeface="Georgia" panose="02040502050405020303" pitchFamily="18" charset="0"/>
            </a:endParaRPr>
          </a:p>
        </p:txBody>
      </p:sp>
      <p:sp>
        <p:nvSpPr>
          <p:cNvPr id="48154" name="Text Box 31"/>
          <p:cNvSpPr txBox="1">
            <a:spLocks noChangeArrowheads="1"/>
          </p:cNvSpPr>
          <p:nvPr/>
        </p:nvSpPr>
        <p:spPr bwMode="auto">
          <a:xfrm>
            <a:off x="2555875" y="3387725"/>
            <a:ext cx="342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Georgia" panose="02040502050405020303" pitchFamily="18" charset="0"/>
              </a:rPr>
              <a:t>K</a:t>
            </a:r>
            <a:endParaRPr lang="en-US" altLang="zh-CN" sz="1800">
              <a:latin typeface="Georgia" panose="02040502050405020303" pitchFamily="18" charset="0"/>
            </a:endParaRPr>
          </a:p>
        </p:txBody>
      </p:sp>
      <p:sp>
        <p:nvSpPr>
          <p:cNvPr id="48155" name="Text Box 32"/>
          <p:cNvSpPr txBox="1">
            <a:spLocks noChangeArrowheads="1"/>
          </p:cNvSpPr>
          <p:nvPr/>
        </p:nvSpPr>
        <p:spPr bwMode="auto">
          <a:xfrm>
            <a:off x="2032000" y="3625850"/>
            <a:ext cx="44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latin typeface="Georgia" panose="02040502050405020303" pitchFamily="18" charset="0"/>
              </a:rPr>
              <a:t>Q</a:t>
            </a:r>
            <a:r>
              <a:rPr lang="en-US" altLang="zh-CN" sz="1800" baseline="-25000" dirty="0" err="1">
                <a:latin typeface="Georgia" panose="02040502050405020303" pitchFamily="18" charset="0"/>
              </a:rPr>
              <a:t>n</a:t>
            </a:r>
            <a:endParaRPr lang="en-US" altLang="zh-CN" sz="1800" dirty="0">
              <a:latin typeface="Georgia" panose="02040502050405020303" pitchFamily="18" charset="0"/>
            </a:endParaRPr>
          </a:p>
        </p:txBody>
      </p:sp>
      <p:sp>
        <p:nvSpPr>
          <p:cNvPr id="48156" name="Text Box 33"/>
          <p:cNvSpPr txBox="1">
            <a:spLocks noChangeArrowheads="1"/>
          </p:cNvSpPr>
          <p:nvPr/>
        </p:nvSpPr>
        <p:spPr bwMode="auto">
          <a:xfrm>
            <a:off x="2967038" y="3406775"/>
            <a:ext cx="382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</a:rPr>
              <a:t>00        01          11          10</a:t>
            </a:r>
            <a:r>
              <a:rPr lang="en-US" altLang="zh-CN" sz="2400">
                <a:latin typeface="Georgia" panose="02040502050405020303" pitchFamily="18" charset="0"/>
              </a:rPr>
              <a:t>  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48157" name="Text Box 34"/>
          <p:cNvSpPr txBox="1">
            <a:spLocks noChangeArrowheads="1"/>
          </p:cNvSpPr>
          <p:nvPr/>
        </p:nvSpPr>
        <p:spPr bwMode="auto">
          <a:xfrm>
            <a:off x="2247900" y="4129088"/>
            <a:ext cx="336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0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8158" name="Text Box 35"/>
          <p:cNvSpPr txBox="1">
            <a:spLocks noChangeArrowheads="1"/>
          </p:cNvSpPr>
          <p:nvPr/>
        </p:nvSpPr>
        <p:spPr bwMode="auto">
          <a:xfrm>
            <a:off x="2555875" y="5702300"/>
            <a:ext cx="5040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                     _     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n+1</a:t>
            </a:r>
            <a:r>
              <a:rPr lang="en-US" altLang="zh-CN" sz="2400" b="1" dirty="0">
                <a:latin typeface="Georgia" panose="02040502050405020303" pitchFamily="18" charset="0"/>
              </a:rPr>
              <a:t>=D=</a:t>
            </a:r>
            <a:r>
              <a:rPr lang="en-US" altLang="zh-CN" sz="2400" b="1" dirty="0" err="1">
                <a:latin typeface="Georgia" panose="02040502050405020303" pitchFamily="18" charset="0"/>
              </a:rPr>
              <a:t>JQ</a:t>
            </a:r>
            <a:r>
              <a:rPr lang="en-US" altLang="zh-CN" sz="2400" b="1" baseline="-25000" dirty="0" err="1">
                <a:latin typeface="Georgia" panose="02040502050405020303" pitchFamily="18" charset="0"/>
              </a:rPr>
              <a:t>n</a:t>
            </a:r>
            <a:r>
              <a:rPr lang="en-US" altLang="zh-CN" sz="2400" b="1" dirty="0" err="1">
                <a:latin typeface="Georgia" panose="02040502050405020303" pitchFamily="18" charset="0"/>
              </a:rPr>
              <a:t>+KQ</a:t>
            </a:r>
            <a:r>
              <a:rPr lang="en-US" altLang="zh-CN" sz="2400" b="1" baseline="-25000" dirty="0" err="1">
                <a:latin typeface="Georgia" panose="02040502050405020303" pitchFamily="18" charset="0"/>
              </a:rPr>
              <a:t>n</a:t>
            </a:r>
            <a:r>
              <a:rPr lang="en-US" altLang="zh-CN" sz="2400" b="1" dirty="0">
                <a:latin typeface="Georgia" panose="02040502050405020303" pitchFamily="18" charset="0"/>
              </a:rPr>
              <a:t>, </a:t>
            </a:r>
            <a:r>
              <a:rPr lang="zh-CN" altLang="en-US" sz="2400" b="1" dirty="0">
                <a:latin typeface="Georgia" panose="02040502050405020303" pitchFamily="18" charset="0"/>
              </a:rPr>
              <a:t>可将</a:t>
            </a:r>
            <a:r>
              <a:rPr lang="en-US" altLang="zh-CN" sz="2400" b="1" dirty="0">
                <a:latin typeface="Georgia" panose="02040502050405020303" pitchFamily="18" charset="0"/>
              </a:rPr>
              <a:t>D</a:t>
            </a:r>
            <a:r>
              <a:rPr lang="zh-CN" altLang="en-US" sz="2400" b="1" dirty="0">
                <a:latin typeface="Georgia" panose="02040502050405020303" pitchFamily="18" charset="0"/>
              </a:rPr>
              <a:t>接成</a:t>
            </a:r>
            <a:r>
              <a:rPr lang="en-US" altLang="zh-CN" sz="2400" b="1" dirty="0">
                <a:latin typeface="Georgia" panose="02040502050405020303" pitchFamily="18" charset="0"/>
              </a:rPr>
              <a:t>JK</a:t>
            </a:r>
            <a:endParaRPr lang="en-US" altLang="zh-CN" sz="2400" b="1" dirty="0">
              <a:latin typeface="Georgia" panose="02040502050405020303" pitchFamily="18" charset="0"/>
            </a:endParaRPr>
          </a:p>
        </p:txBody>
      </p:sp>
      <p:sp>
        <p:nvSpPr>
          <p:cNvPr id="557092" name="Rectangle 36"/>
          <p:cNvSpPr>
            <a:spLocks noChangeArrowheads="1"/>
          </p:cNvSpPr>
          <p:nvPr/>
        </p:nvSpPr>
        <p:spPr bwMode="auto">
          <a:xfrm>
            <a:off x="609600" y="1371600"/>
            <a:ext cx="8382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触发器的功能互换</a:t>
            </a:r>
            <a:endParaRPr lang="zh-CN" alt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D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 T</a:t>
            </a:r>
            <a:r>
              <a:rPr lang="zh-CN" altLang="en-US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</a:rPr>
              <a:t>(J-K)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</a:t>
            </a: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zh-CN" altLang="en-US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(J-K)</a:t>
            </a: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 D</a:t>
            </a:r>
            <a:r>
              <a:rPr lang="zh-CN" altLang="en-US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D  </a:t>
            </a:r>
            <a:r>
              <a:rPr lang="en-US" altLang="zh-CN" sz="3200" dirty="0">
                <a:latin typeface="Times New Roman" panose="02020603050405020304" pitchFamily="18" charset="0"/>
              </a:rPr>
              <a:t>(J-K)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举例：用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触发器转换成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J-K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</a:t>
            </a:r>
            <a:endParaRPr lang="zh-CN" alt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41321" y="3081308"/>
            <a:ext cx="916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Georgia" panose="02040502050405020303" pitchFamily="18" charset="0"/>
              </a:rPr>
              <a:t>Q</a:t>
            </a:r>
            <a:r>
              <a:rPr lang="en-US" altLang="zh-CN" sz="2000" b="1" baseline="-25000" dirty="0">
                <a:latin typeface="Georgia" panose="02040502050405020303" pitchFamily="18" charset="0"/>
              </a:rPr>
              <a:t>n+1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8EA02C-9A82-40AE-A8BC-C2691470C248}" type="slidenum">
              <a:rPr lang="en-US" altLang="zh-CN"/>
            </a:fld>
            <a:endParaRPr lang="en-US" altLang="zh-CN"/>
          </a:p>
        </p:txBody>
      </p:sp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举例：用</a:t>
            </a:r>
            <a:r>
              <a:rPr lang="en-US" altLang="zh-CN" dirty="0"/>
              <a:t>D</a:t>
            </a:r>
            <a:r>
              <a:rPr lang="zh-CN" altLang="en-US" dirty="0"/>
              <a:t>触发器转换成</a:t>
            </a:r>
            <a:r>
              <a:rPr lang="en-US" altLang="zh-CN" dirty="0"/>
              <a:t>J-K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1524000" y="2057400"/>
            <a:ext cx="5040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                     _     _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n+1</a:t>
            </a:r>
            <a:r>
              <a:rPr lang="en-US" altLang="zh-CN" sz="2400" b="1" dirty="0">
                <a:latin typeface="Georgia" panose="02040502050405020303" pitchFamily="18" charset="0"/>
              </a:rPr>
              <a:t>=D=</a:t>
            </a:r>
            <a:r>
              <a:rPr lang="en-US" altLang="zh-CN" sz="2400" b="1" dirty="0" err="1">
                <a:latin typeface="Georgia" panose="02040502050405020303" pitchFamily="18" charset="0"/>
              </a:rPr>
              <a:t>JQ</a:t>
            </a:r>
            <a:r>
              <a:rPr lang="en-US" altLang="zh-CN" sz="2400" b="1" baseline="-25000" dirty="0" err="1">
                <a:latin typeface="Georgia" panose="02040502050405020303" pitchFamily="18" charset="0"/>
              </a:rPr>
              <a:t>n</a:t>
            </a:r>
            <a:r>
              <a:rPr lang="en-US" altLang="zh-CN" sz="2400" b="1" dirty="0" err="1">
                <a:latin typeface="Georgia" panose="02040502050405020303" pitchFamily="18" charset="0"/>
              </a:rPr>
              <a:t>+KQ</a:t>
            </a:r>
            <a:r>
              <a:rPr lang="en-US" altLang="zh-CN" sz="2400" b="1" baseline="-25000" dirty="0" err="1">
                <a:latin typeface="Georgia" panose="02040502050405020303" pitchFamily="18" charset="0"/>
              </a:rPr>
              <a:t>n</a:t>
            </a:r>
            <a:r>
              <a:rPr lang="en-US" altLang="zh-CN" sz="2400" b="1" dirty="0">
                <a:latin typeface="Georgia" panose="02040502050405020303" pitchFamily="18" charset="0"/>
              </a:rPr>
              <a:t> </a:t>
            </a:r>
            <a:endParaRPr lang="en-US" altLang="zh-CN" sz="2400" b="1" dirty="0">
              <a:latin typeface="Georgia" panose="02040502050405020303" pitchFamily="18" charset="0"/>
            </a:endParaRPr>
          </a:p>
        </p:txBody>
      </p:sp>
      <p:sp>
        <p:nvSpPr>
          <p:cNvPr id="558126" name="Rectangle 46"/>
          <p:cNvSpPr>
            <a:spLocks noChangeArrowheads="1"/>
          </p:cNvSpPr>
          <p:nvPr/>
        </p:nvSpPr>
        <p:spPr bwMode="auto">
          <a:xfrm>
            <a:off x="4953000" y="2438400"/>
            <a:ext cx="2667000" cy="3581400"/>
          </a:xfrm>
          <a:prstGeom prst="rect">
            <a:avLst/>
          </a:prstGeom>
          <a:noFill/>
          <a:ln w="28575">
            <a:solidFill>
              <a:srgbClr val="FFFF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5" name="组合 4"/>
          <p:cNvGrpSpPr/>
          <p:nvPr/>
        </p:nvGrpSpPr>
        <p:grpSpPr>
          <a:xfrm>
            <a:off x="5181600" y="1669119"/>
            <a:ext cx="3048000" cy="4960281"/>
            <a:chOff x="5181600" y="1669119"/>
            <a:chExt cx="3048000" cy="4960281"/>
          </a:xfrm>
        </p:grpSpPr>
        <p:grpSp>
          <p:nvGrpSpPr>
            <p:cNvPr id="49158" name="Group 5"/>
            <p:cNvGrpSpPr/>
            <p:nvPr/>
          </p:nvGrpSpPr>
          <p:grpSpPr bwMode="auto">
            <a:xfrm>
              <a:off x="5181600" y="1981200"/>
              <a:ext cx="3048000" cy="4648200"/>
              <a:chOff x="3264" y="1344"/>
              <a:chExt cx="1920" cy="2928"/>
            </a:xfrm>
          </p:grpSpPr>
          <p:sp>
            <p:nvSpPr>
              <p:cNvPr id="49160" name="Line 6"/>
              <p:cNvSpPr>
                <a:spLocks noChangeShapeType="1"/>
              </p:cNvSpPr>
              <p:nvPr/>
            </p:nvSpPr>
            <p:spPr bwMode="auto">
              <a:xfrm flipV="1">
                <a:off x="3840" y="153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1" name="Line 7"/>
              <p:cNvSpPr>
                <a:spLocks noChangeShapeType="1"/>
              </p:cNvSpPr>
              <p:nvPr/>
            </p:nvSpPr>
            <p:spPr bwMode="auto">
              <a:xfrm>
                <a:off x="4368" y="24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2" name="Text Box 8"/>
              <p:cNvSpPr txBox="1">
                <a:spLocks noChangeArrowheads="1"/>
              </p:cNvSpPr>
              <p:nvPr/>
            </p:nvSpPr>
            <p:spPr bwMode="auto">
              <a:xfrm>
                <a:off x="4828" y="230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9163" name="Line 9"/>
              <p:cNvSpPr>
                <a:spLocks noChangeShapeType="1"/>
              </p:cNvSpPr>
              <p:nvPr/>
            </p:nvSpPr>
            <p:spPr bwMode="auto">
              <a:xfrm flipH="1" flipV="1">
                <a:off x="4320" y="1536"/>
                <a:ext cx="4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9164" name="Group 10"/>
              <p:cNvGrpSpPr/>
              <p:nvPr/>
            </p:nvGrpSpPr>
            <p:grpSpPr bwMode="auto">
              <a:xfrm>
                <a:off x="3597" y="1869"/>
                <a:ext cx="972" cy="627"/>
                <a:chOff x="3597" y="1680"/>
                <a:chExt cx="972" cy="627"/>
              </a:xfrm>
            </p:grpSpPr>
            <p:sp>
              <p:nvSpPr>
                <p:cNvPr id="49194" name="Rectangle 11"/>
                <p:cNvSpPr>
                  <a:spLocks noChangeArrowheads="1"/>
                </p:cNvSpPr>
                <p:nvPr/>
              </p:nvSpPr>
              <p:spPr bwMode="auto">
                <a:xfrm>
                  <a:off x="3597" y="1680"/>
                  <a:ext cx="972" cy="627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9195" name="Rectangle 12"/>
                <p:cNvSpPr>
                  <a:spLocks noChangeArrowheads="1"/>
                </p:cNvSpPr>
                <p:nvPr/>
              </p:nvSpPr>
              <p:spPr bwMode="auto">
                <a:xfrm>
                  <a:off x="3768" y="2049"/>
                  <a:ext cx="706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       CP</a:t>
                  </a:r>
                  <a:endParaRPr lang="en-US" altLang="zh-CN" sz="18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9196" name="Rectangle 13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143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49165" name="Group 17"/>
              <p:cNvGrpSpPr/>
              <p:nvPr/>
            </p:nvGrpSpPr>
            <p:grpSpPr bwMode="auto">
              <a:xfrm>
                <a:off x="3456" y="2496"/>
                <a:ext cx="816" cy="768"/>
                <a:chOff x="2112" y="2544"/>
                <a:chExt cx="816" cy="768"/>
              </a:xfrm>
            </p:grpSpPr>
            <p:sp>
              <p:nvSpPr>
                <p:cNvPr id="49189" name="Rectangle 18"/>
                <p:cNvSpPr>
                  <a:spLocks noChangeArrowheads="1"/>
                </p:cNvSpPr>
                <p:nvPr/>
              </p:nvSpPr>
              <p:spPr bwMode="auto">
                <a:xfrm>
                  <a:off x="2112" y="2736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9190" name="Line 19"/>
                <p:cNvSpPr>
                  <a:spLocks noChangeShapeType="1"/>
                </p:cNvSpPr>
                <p:nvPr/>
              </p:nvSpPr>
              <p:spPr bwMode="auto">
                <a:xfrm>
                  <a:off x="2496" y="254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9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352" y="27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＋</a:t>
                  </a:r>
                  <a:endParaRPr lang="zh-CN" altLang="en-US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9192" name="Rectangle 21"/>
                <p:cNvSpPr>
                  <a:spLocks noChangeArrowheads="1"/>
                </p:cNvSpPr>
                <p:nvPr/>
              </p:nvSpPr>
              <p:spPr bwMode="auto">
                <a:xfrm>
                  <a:off x="2112" y="3024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9193" name="Line 22"/>
                <p:cNvSpPr>
                  <a:spLocks noChangeShapeType="1"/>
                </p:cNvSpPr>
                <p:nvPr/>
              </p:nvSpPr>
              <p:spPr bwMode="auto">
                <a:xfrm>
                  <a:off x="2544" y="302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9166" name="Line 23"/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7" name="Line 24"/>
              <p:cNvSpPr>
                <a:spLocks noChangeShapeType="1"/>
              </p:cNvSpPr>
              <p:nvPr/>
            </p:nvSpPr>
            <p:spPr bwMode="auto">
              <a:xfrm>
                <a:off x="4032" y="326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8" name="Line 25"/>
              <p:cNvSpPr>
                <a:spLocks noChangeShapeType="1"/>
              </p:cNvSpPr>
              <p:nvPr/>
            </p:nvSpPr>
            <p:spPr bwMode="auto">
              <a:xfrm>
                <a:off x="4320" y="172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9" name="Line 26"/>
              <p:cNvSpPr>
                <a:spLocks noChangeShapeType="1"/>
              </p:cNvSpPr>
              <p:nvPr/>
            </p:nvSpPr>
            <p:spPr bwMode="auto">
              <a:xfrm>
                <a:off x="4656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0" name="Line 27"/>
              <p:cNvSpPr>
                <a:spLocks noChangeShapeType="1"/>
              </p:cNvSpPr>
              <p:nvPr/>
            </p:nvSpPr>
            <p:spPr bwMode="auto">
              <a:xfrm flipH="1">
                <a:off x="4176" y="340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1" name="Line 28"/>
              <p:cNvSpPr>
                <a:spLocks noChangeShapeType="1"/>
              </p:cNvSpPr>
              <p:nvPr/>
            </p:nvSpPr>
            <p:spPr bwMode="auto">
              <a:xfrm flipV="1">
                <a:off x="4176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2" name="Line 29"/>
              <p:cNvSpPr>
                <a:spLocks noChangeShapeType="1"/>
              </p:cNvSpPr>
              <p:nvPr/>
            </p:nvSpPr>
            <p:spPr bwMode="auto">
              <a:xfrm>
                <a:off x="3744" y="32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3" name="Line 30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4" name="Line 31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5" name="Line 32"/>
              <p:cNvSpPr>
                <a:spLocks noChangeShapeType="1"/>
              </p:cNvSpPr>
              <p:nvPr/>
            </p:nvSpPr>
            <p:spPr bwMode="auto">
              <a:xfrm flipH="1">
                <a:off x="3264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6" name="Line 33"/>
              <p:cNvSpPr>
                <a:spLocks noChangeShapeType="1"/>
              </p:cNvSpPr>
              <p:nvPr/>
            </p:nvSpPr>
            <p:spPr bwMode="auto">
              <a:xfrm flipV="1">
                <a:off x="3600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9177" name="Group 34"/>
              <p:cNvGrpSpPr/>
              <p:nvPr/>
            </p:nvGrpSpPr>
            <p:grpSpPr bwMode="auto">
              <a:xfrm>
                <a:off x="3552" y="3456"/>
                <a:ext cx="384" cy="288"/>
                <a:chOff x="1584" y="2976"/>
                <a:chExt cx="384" cy="288"/>
              </a:xfrm>
            </p:grpSpPr>
            <p:sp>
              <p:nvSpPr>
                <p:cNvPr id="49187" name="Rectangle 35"/>
                <p:cNvSpPr>
                  <a:spLocks noChangeArrowheads="1"/>
                </p:cNvSpPr>
                <p:nvPr/>
              </p:nvSpPr>
              <p:spPr bwMode="auto">
                <a:xfrm>
                  <a:off x="1584" y="3072"/>
                  <a:ext cx="38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9188" name="Oval 36"/>
                <p:cNvSpPr>
                  <a:spLocks noChangeArrowheads="1"/>
                </p:cNvSpPr>
                <p:nvPr/>
              </p:nvSpPr>
              <p:spPr bwMode="auto">
                <a:xfrm>
                  <a:off x="1728" y="297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49178" name="Line 37"/>
              <p:cNvSpPr>
                <a:spLocks noChangeShapeType="1"/>
              </p:cNvSpPr>
              <p:nvPr/>
            </p:nvSpPr>
            <p:spPr bwMode="auto">
              <a:xfrm>
                <a:off x="3744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9" name="Rectangle 38"/>
              <p:cNvSpPr>
                <a:spLocks noChangeArrowheads="1"/>
              </p:cNvSpPr>
              <p:nvPr/>
            </p:nvSpPr>
            <p:spPr bwMode="auto">
              <a:xfrm>
                <a:off x="3936" y="3984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Georgia" panose="02040502050405020303" pitchFamily="18" charset="0"/>
                  </a:rPr>
                  <a:t>J</a:t>
                </a:r>
                <a:endParaRPr lang="en-US" altLang="zh-CN" sz="2400" b="1">
                  <a:latin typeface="Georgia" panose="02040502050405020303" pitchFamily="18" charset="0"/>
                </a:endParaRPr>
              </a:p>
            </p:txBody>
          </p:sp>
          <p:sp>
            <p:nvSpPr>
              <p:cNvPr id="49180" name="Rectangle 39"/>
              <p:cNvSpPr>
                <a:spLocks noChangeArrowheads="1"/>
              </p:cNvSpPr>
              <p:nvPr/>
            </p:nvSpPr>
            <p:spPr bwMode="auto">
              <a:xfrm>
                <a:off x="3610" y="398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Georgia" panose="02040502050405020303" pitchFamily="18" charset="0"/>
                  </a:rPr>
                  <a:t>K</a:t>
                </a:r>
                <a:endParaRPr lang="en-US" altLang="zh-CN" sz="2400" b="1">
                  <a:latin typeface="Georgia" panose="02040502050405020303" pitchFamily="18" charset="0"/>
                </a:endParaRPr>
              </a:p>
            </p:txBody>
          </p:sp>
          <p:sp>
            <p:nvSpPr>
              <p:cNvPr id="49181" name="Oval 40"/>
              <p:cNvSpPr>
                <a:spLocks noChangeArrowheads="1"/>
              </p:cNvSpPr>
              <p:nvPr/>
            </p:nvSpPr>
            <p:spPr bwMode="auto">
              <a:xfrm>
                <a:off x="379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9182" name="Oval 41"/>
              <p:cNvSpPr>
                <a:spLocks noChangeArrowheads="1"/>
              </p:cNvSpPr>
              <p:nvPr/>
            </p:nvSpPr>
            <p:spPr bwMode="auto"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9184" name="Rectangle 45"/>
              <p:cNvSpPr>
                <a:spLocks noChangeArrowheads="1"/>
              </p:cNvSpPr>
              <p:nvPr/>
            </p:nvSpPr>
            <p:spPr bwMode="auto">
              <a:xfrm>
                <a:off x="3648" y="1344"/>
                <a:ext cx="143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2" name="Text Box 55"/>
            <p:cNvSpPr txBox="1">
              <a:spLocks noChangeArrowheads="1"/>
            </p:cNvSpPr>
            <p:nvPr/>
          </p:nvSpPr>
          <p:spPr bwMode="auto">
            <a:xfrm>
              <a:off x="6671121" y="262500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" name="Text Box 55"/>
            <p:cNvSpPr txBox="1">
              <a:spLocks noChangeArrowheads="1"/>
            </p:cNvSpPr>
            <p:nvPr/>
          </p:nvSpPr>
          <p:spPr bwMode="auto">
            <a:xfrm>
              <a:off x="6803452" y="1669119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1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5766A0-2324-443D-9AE1-ABCB872A9D75}" type="slidenum">
              <a:rPr lang="en-US" altLang="zh-CN"/>
            </a:fld>
            <a:endParaRPr lang="en-US" altLang="zh-CN"/>
          </a:p>
        </p:txBody>
      </p:sp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77200" cy="480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/>
              <a:t>触发器小结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触发方式是关键：边沿、脉冲、电位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触发方式不同，触发器功能完全不同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用的最多是</a:t>
            </a:r>
            <a:r>
              <a:rPr lang="en-US" altLang="zh-CN" b="1"/>
              <a:t>D</a:t>
            </a:r>
            <a:r>
              <a:rPr lang="zh-CN" altLang="en-US" b="1"/>
              <a:t>触发器，</a:t>
            </a:r>
            <a:r>
              <a:rPr lang="en-US" altLang="zh-CN" b="1"/>
              <a:t>JK</a:t>
            </a:r>
            <a:r>
              <a:rPr lang="zh-CN" altLang="en-US" b="1"/>
              <a:t>多用作计数器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几种的触发器功能可以互换的</a:t>
            </a: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触发器的时钟关系配合最重要</a:t>
            </a:r>
            <a:endParaRPr lang="zh-CN" altLang="en-US" b="1"/>
          </a:p>
          <a:p>
            <a:pPr eaLnBrk="1" hangingPunct="1">
              <a:defRPr/>
            </a:pPr>
            <a:endParaRPr lang="en-US" altLang="zh-CN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4A6205-FB78-4F4B-A594-8A8F045AB007}" type="slidenum">
              <a:rPr lang="en-US" altLang="zh-CN"/>
            </a:fld>
            <a:endParaRPr lang="en-US" altLang="zh-CN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>
                <a:latin typeface="华文行楷" panose="02010800040101010101" pitchFamily="2" charset="-122"/>
                <a:ea typeface="华文行楷" panose="02010800040101010101" pitchFamily="2" charset="-122"/>
              </a:rPr>
              <a:t>第三章 同步时序电路</a:t>
            </a:r>
            <a:endParaRPr lang="zh-CN" altLang="en-US" sz="48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400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anose="03010101010201010101" pitchFamily="66" charset="0"/>
              </a:rPr>
              <a:t>Synchronous  Sequential Logic Circuit</a:t>
            </a:r>
            <a:endParaRPr lang="en-US" altLang="zh-CN" sz="4000">
              <a:effectLst>
                <a:outerShdw blurRad="38100" dist="38100" dir="2700000" algn="tl">
                  <a:srgbClr val="000000"/>
                </a:outerShdw>
              </a:effectLst>
              <a:latin typeface="Monotype Corsiva" panose="03010101010201010101" pitchFamily="66" charset="0"/>
            </a:endParaRPr>
          </a:p>
        </p:txBody>
      </p:sp>
      <p:sp>
        <p:nvSpPr>
          <p:cNvPr id="595972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</a:t>
            </a:r>
            <a:endParaRPr lang="zh-CN" altLang="en-US" sz="2800" b="1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同步时序电路的分析与设计方法</a:t>
            </a:r>
            <a:endParaRPr lang="zh-CN" altLang="en-US" sz="28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计数器</a:t>
            </a:r>
            <a:endParaRPr lang="zh-CN" altLang="en-US" sz="28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移位寄存器</a:t>
            </a:r>
            <a:endParaRPr lang="zh-CN" altLang="en-US" sz="24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95973" name="Rectangle 5"/>
          <p:cNvSpPr>
            <a:spLocks noChangeArrowheads="1"/>
          </p:cNvSpPr>
          <p:nvPr/>
        </p:nvSpPr>
        <p:spPr bwMode="auto">
          <a:xfrm>
            <a:off x="762000" y="33210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027" name="Rectangle 3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时序电路的一般结构</a:t>
            </a:r>
            <a:endParaRPr lang="zh-CN" altLang="en-US" b="1" dirty="0">
              <a:solidFill>
                <a:schemeClr val="tx2"/>
              </a:solidFill>
              <a:latin typeface="Georgia" panose="02040502050405020303" pitchFamily="18" charset="0"/>
            </a:endParaRPr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658B2A-9492-4EFB-863E-B1D9E55A5BAC}" type="slidenum">
              <a:rPr lang="en-US" altLang="zh-CN"/>
            </a:fld>
            <a:endParaRPr lang="en-US" altLang="zh-CN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1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grpSp>
        <p:nvGrpSpPr>
          <p:cNvPr id="2" name="组合 1"/>
          <p:cNvGrpSpPr/>
          <p:nvPr/>
        </p:nvGrpSpPr>
        <p:grpSpPr>
          <a:xfrm>
            <a:off x="129381" y="2348880"/>
            <a:ext cx="5814225" cy="3625850"/>
            <a:chOff x="956469" y="2420938"/>
            <a:chExt cx="5814225" cy="3625850"/>
          </a:xfrm>
        </p:grpSpPr>
        <p:sp>
          <p:nvSpPr>
            <p:cNvPr id="52246" name="Text Box 21"/>
            <p:cNvSpPr txBox="1">
              <a:spLocks noChangeArrowheads="1"/>
            </p:cNvSpPr>
            <p:nvPr/>
          </p:nvSpPr>
          <p:spPr bwMode="auto">
            <a:xfrm>
              <a:off x="2403948" y="4897582"/>
              <a:ext cx="553998" cy="38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52228" name="Rectangle 3"/>
            <p:cNvSpPr>
              <a:spLocks noChangeArrowheads="1"/>
            </p:cNvSpPr>
            <p:nvPr/>
          </p:nvSpPr>
          <p:spPr bwMode="auto">
            <a:xfrm>
              <a:off x="2914651" y="2565400"/>
              <a:ext cx="2014538" cy="1295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latin typeface="Georgia" panose="02040502050405020303" pitchFamily="18" charset="0"/>
                </a:rPr>
                <a:t>组合电路</a:t>
              </a:r>
              <a:endParaRPr lang="zh-CN" altLang="en-US">
                <a:latin typeface="Georgia" panose="02040502050405020303" pitchFamily="18" charset="0"/>
              </a:endParaRPr>
            </a:p>
          </p:txBody>
        </p:sp>
        <p:sp>
          <p:nvSpPr>
            <p:cNvPr id="52229" name="Rectangle 4"/>
            <p:cNvSpPr>
              <a:spLocks noChangeArrowheads="1"/>
            </p:cNvSpPr>
            <p:nvPr/>
          </p:nvSpPr>
          <p:spPr bwMode="auto">
            <a:xfrm>
              <a:off x="2771778" y="4724400"/>
              <a:ext cx="1707720" cy="7921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latin typeface="Georgia" panose="02040502050405020303" pitchFamily="18" charset="0"/>
                </a:rPr>
                <a:t>记忆电路</a:t>
              </a:r>
              <a:endParaRPr lang="zh-CN" altLang="en-US" sz="2800" dirty="0">
                <a:latin typeface="Georgia" panose="02040502050405020303" pitchFamily="18" charset="0"/>
              </a:endParaRPr>
            </a:p>
          </p:txBody>
        </p:sp>
        <p:sp>
          <p:nvSpPr>
            <p:cNvPr id="52230" name="Line 5"/>
            <p:cNvSpPr>
              <a:spLocks noChangeShapeType="1"/>
            </p:cNvSpPr>
            <p:nvPr/>
          </p:nvSpPr>
          <p:spPr bwMode="auto">
            <a:xfrm>
              <a:off x="4922844" y="3716338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1" name="Line 6"/>
            <p:cNvSpPr>
              <a:spLocks noChangeShapeType="1"/>
            </p:cNvSpPr>
            <p:nvPr/>
          </p:nvSpPr>
          <p:spPr bwMode="auto">
            <a:xfrm>
              <a:off x="4494219" y="4941888"/>
              <a:ext cx="863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2" name="Line 7"/>
            <p:cNvSpPr>
              <a:spLocks noChangeShapeType="1"/>
            </p:cNvSpPr>
            <p:nvPr/>
          </p:nvSpPr>
          <p:spPr bwMode="auto">
            <a:xfrm>
              <a:off x="5357819" y="3716338"/>
              <a:ext cx="0" cy="1225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3" name="Line 8"/>
            <p:cNvSpPr>
              <a:spLocks noChangeShapeType="1"/>
            </p:cNvSpPr>
            <p:nvPr/>
          </p:nvSpPr>
          <p:spPr bwMode="auto">
            <a:xfrm>
              <a:off x="2479675" y="3716338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4" name="Line 9"/>
            <p:cNvSpPr>
              <a:spLocks noChangeShapeType="1"/>
            </p:cNvSpPr>
            <p:nvPr/>
          </p:nvSpPr>
          <p:spPr bwMode="auto">
            <a:xfrm flipV="1">
              <a:off x="2484438" y="4940299"/>
              <a:ext cx="28734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5" name="Line 10"/>
            <p:cNvSpPr>
              <a:spLocks noChangeShapeType="1"/>
            </p:cNvSpPr>
            <p:nvPr/>
          </p:nvSpPr>
          <p:spPr bwMode="auto">
            <a:xfrm>
              <a:off x="2484438" y="3716338"/>
              <a:ext cx="0" cy="1225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6" name="Text Box 11"/>
            <p:cNvSpPr txBox="1">
              <a:spLocks noChangeArrowheads="1"/>
            </p:cNvSpPr>
            <p:nvPr/>
          </p:nvSpPr>
          <p:spPr bwMode="auto">
            <a:xfrm>
              <a:off x="2420374" y="4092676"/>
              <a:ext cx="1403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内部输入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52237" name="Line 12"/>
            <p:cNvSpPr>
              <a:spLocks noChangeShapeType="1"/>
            </p:cNvSpPr>
            <p:nvPr/>
          </p:nvSpPr>
          <p:spPr bwMode="auto">
            <a:xfrm>
              <a:off x="4922844" y="3284538"/>
              <a:ext cx="8667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8" name="Line 13"/>
            <p:cNvSpPr>
              <a:spLocks noChangeShapeType="1"/>
            </p:cNvSpPr>
            <p:nvPr/>
          </p:nvSpPr>
          <p:spPr bwMode="auto">
            <a:xfrm>
              <a:off x="4494219" y="5373688"/>
              <a:ext cx="1295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9" name="Line 14"/>
            <p:cNvSpPr>
              <a:spLocks noChangeShapeType="1"/>
            </p:cNvSpPr>
            <p:nvPr/>
          </p:nvSpPr>
          <p:spPr bwMode="auto">
            <a:xfrm>
              <a:off x="5789619" y="3284538"/>
              <a:ext cx="0" cy="2089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0" name="Line 15"/>
            <p:cNvSpPr>
              <a:spLocks noChangeShapeType="1"/>
            </p:cNvSpPr>
            <p:nvPr/>
          </p:nvSpPr>
          <p:spPr bwMode="auto">
            <a:xfrm>
              <a:off x="2047875" y="3284538"/>
              <a:ext cx="8667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Line 16"/>
            <p:cNvSpPr>
              <a:spLocks noChangeShapeType="1"/>
            </p:cNvSpPr>
            <p:nvPr/>
          </p:nvSpPr>
          <p:spPr bwMode="auto">
            <a:xfrm>
              <a:off x="2052638" y="5373688"/>
              <a:ext cx="7191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Line 17"/>
            <p:cNvSpPr>
              <a:spLocks noChangeShapeType="1"/>
            </p:cNvSpPr>
            <p:nvPr/>
          </p:nvSpPr>
          <p:spPr bwMode="auto">
            <a:xfrm>
              <a:off x="2051050" y="3284538"/>
              <a:ext cx="0" cy="2089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Text Box 18"/>
            <p:cNvSpPr txBox="1">
              <a:spLocks noChangeArrowheads="1"/>
            </p:cNvSpPr>
            <p:nvPr/>
          </p:nvSpPr>
          <p:spPr bwMode="auto">
            <a:xfrm>
              <a:off x="2393950" y="3357563"/>
              <a:ext cx="549275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…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44" name="Text Box 19"/>
            <p:cNvSpPr txBox="1">
              <a:spLocks noChangeArrowheads="1"/>
            </p:cNvSpPr>
            <p:nvPr/>
          </p:nvSpPr>
          <p:spPr bwMode="auto">
            <a:xfrm>
              <a:off x="4953006" y="3357563"/>
              <a:ext cx="549275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…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45" name="Text Box 20"/>
            <p:cNvSpPr txBox="1">
              <a:spLocks noChangeArrowheads="1"/>
            </p:cNvSpPr>
            <p:nvPr/>
          </p:nvSpPr>
          <p:spPr bwMode="auto">
            <a:xfrm>
              <a:off x="4953006" y="4960938"/>
              <a:ext cx="549275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…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47" name="Text Box 22"/>
            <p:cNvSpPr txBox="1">
              <a:spLocks noChangeArrowheads="1"/>
            </p:cNvSpPr>
            <p:nvPr/>
          </p:nvSpPr>
          <p:spPr bwMode="auto">
            <a:xfrm>
              <a:off x="956469" y="5516563"/>
              <a:ext cx="2622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（记忆电路输出）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52248" name="Text Box 23"/>
            <p:cNvSpPr txBox="1">
              <a:spLocks noChangeArrowheads="1"/>
            </p:cNvSpPr>
            <p:nvPr/>
          </p:nvSpPr>
          <p:spPr bwMode="auto">
            <a:xfrm>
              <a:off x="3883819" y="5589588"/>
              <a:ext cx="2622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（记忆电路输入）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52249" name="Text Box 24"/>
            <p:cNvSpPr txBox="1">
              <a:spLocks noChangeArrowheads="1"/>
            </p:cNvSpPr>
            <p:nvPr/>
          </p:nvSpPr>
          <p:spPr bwMode="auto">
            <a:xfrm>
              <a:off x="4021362" y="4064000"/>
              <a:ext cx="1403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内部输出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52250" name="Line 25"/>
            <p:cNvSpPr>
              <a:spLocks noChangeShapeType="1"/>
            </p:cNvSpPr>
            <p:nvPr/>
          </p:nvSpPr>
          <p:spPr bwMode="auto">
            <a:xfrm>
              <a:off x="4926019" y="2708275"/>
              <a:ext cx="1296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1" name="Line 26"/>
            <p:cNvSpPr>
              <a:spLocks noChangeShapeType="1"/>
            </p:cNvSpPr>
            <p:nvPr/>
          </p:nvSpPr>
          <p:spPr bwMode="auto">
            <a:xfrm>
              <a:off x="4926019" y="3141663"/>
              <a:ext cx="1296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Text Box 27"/>
            <p:cNvSpPr txBox="1">
              <a:spLocks noChangeArrowheads="1"/>
            </p:cNvSpPr>
            <p:nvPr/>
          </p:nvSpPr>
          <p:spPr bwMode="auto">
            <a:xfrm>
              <a:off x="4997456" y="2781300"/>
              <a:ext cx="549275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…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53" name="Text Box 28"/>
            <p:cNvSpPr txBox="1">
              <a:spLocks noChangeArrowheads="1"/>
            </p:cNvSpPr>
            <p:nvPr/>
          </p:nvSpPr>
          <p:spPr bwMode="auto">
            <a:xfrm>
              <a:off x="2438400" y="2781300"/>
              <a:ext cx="549275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…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54" name="Line 29"/>
            <p:cNvSpPr>
              <a:spLocks noChangeShapeType="1"/>
            </p:cNvSpPr>
            <p:nvPr/>
          </p:nvSpPr>
          <p:spPr bwMode="auto">
            <a:xfrm flipH="1">
              <a:off x="1619250" y="3141663"/>
              <a:ext cx="12969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5" name="Line 30"/>
            <p:cNvSpPr>
              <a:spLocks noChangeShapeType="1"/>
            </p:cNvSpPr>
            <p:nvPr/>
          </p:nvSpPr>
          <p:spPr bwMode="auto">
            <a:xfrm flipH="1">
              <a:off x="1619250" y="2708275"/>
              <a:ext cx="12969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6" name="Text Box 31"/>
            <p:cNvSpPr txBox="1">
              <a:spLocks noChangeArrowheads="1"/>
            </p:cNvSpPr>
            <p:nvPr/>
          </p:nvSpPr>
          <p:spPr bwMode="auto">
            <a:xfrm>
              <a:off x="1116013" y="2420938"/>
              <a:ext cx="4873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X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57" name="Text Box 32"/>
            <p:cNvSpPr txBox="1">
              <a:spLocks noChangeArrowheads="1"/>
            </p:cNvSpPr>
            <p:nvPr/>
          </p:nvSpPr>
          <p:spPr bwMode="auto">
            <a:xfrm>
              <a:off x="1131888" y="2900363"/>
              <a:ext cx="5207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X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n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58" name="Text Box 33"/>
            <p:cNvSpPr txBox="1">
              <a:spLocks noChangeArrowheads="1"/>
            </p:cNvSpPr>
            <p:nvPr/>
          </p:nvSpPr>
          <p:spPr bwMode="auto">
            <a:xfrm>
              <a:off x="6223006" y="2420938"/>
              <a:ext cx="4556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Z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259" name="Text Box 34"/>
            <p:cNvSpPr txBox="1">
              <a:spLocks noChangeArrowheads="1"/>
            </p:cNvSpPr>
            <p:nvPr/>
          </p:nvSpPr>
          <p:spPr bwMode="auto">
            <a:xfrm>
              <a:off x="6223006" y="2971800"/>
              <a:ext cx="5476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Z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m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878955" y="1308601"/>
            <a:ext cx="3048000" cy="4960281"/>
            <a:chOff x="5181600" y="1669119"/>
            <a:chExt cx="3048000" cy="4960281"/>
          </a:xfrm>
        </p:grpSpPr>
        <p:grpSp>
          <p:nvGrpSpPr>
            <p:cNvPr id="4" name="Group 5"/>
            <p:cNvGrpSpPr/>
            <p:nvPr/>
          </p:nvGrpSpPr>
          <p:grpSpPr bwMode="auto">
            <a:xfrm>
              <a:off x="5181600" y="1981200"/>
              <a:ext cx="3048000" cy="4648200"/>
              <a:chOff x="3264" y="1344"/>
              <a:chExt cx="1920" cy="2928"/>
            </a:xfrm>
          </p:grpSpPr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 flipV="1">
                <a:off x="3840" y="153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4368" y="24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 Box 8"/>
              <p:cNvSpPr txBox="1">
                <a:spLocks noChangeArrowheads="1"/>
              </p:cNvSpPr>
              <p:nvPr/>
            </p:nvSpPr>
            <p:spPr bwMode="auto">
              <a:xfrm>
                <a:off x="4828" y="230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 flipH="1" flipV="1">
                <a:off x="4320" y="1536"/>
                <a:ext cx="4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" name="Group 10"/>
              <p:cNvGrpSpPr/>
              <p:nvPr/>
            </p:nvGrpSpPr>
            <p:grpSpPr bwMode="auto">
              <a:xfrm>
                <a:off x="3597" y="1869"/>
                <a:ext cx="972" cy="627"/>
                <a:chOff x="3597" y="1680"/>
                <a:chExt cx="972" cy="627"/>
              </a:xfrm>
            </p:grpSpPr>
            <p:sp>
              <p:nvSpPr>
                <p:cNvPr id="39" name="Rectangle 11"/>
                <p:cNvSpPr>
                  <a:spLocks noChangeArrowheads="1"/>
                </p:cNvSpPr>
                <p:nvPr/>
              </p:nvSpPr>
              <p:spPr bwMode="auto">
                <a:xfrm>
                  <a:off x="3597" y="1680"/>
                  <a:ext cx="972" cy="627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0" name="Rectangle 12"/>
                <p:cNvSpPr>
                  <a:spLocks noChangeArrowheads="1"/>
                </p:cNvSpPr>
                <p:nvPr/>
              </p:nvSpPr>
              <p:spPr bwMode="auto">
                <a:xfrm>
                  <a:off x="3768" y="2049"/>
                  <a:ext cx="706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       CP</a:t>
                  </a:r>
                  <a:endParaRPr lang="en-US" altLang="zh-CN" sz="18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1" name="Rectangle 13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143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12" name="Group 17"/>
              <p:cNvGrpSpPr/>
              <p:nvPr/>
            </p:nvGrpSpPr>
            <p:grpSpPr bwMode="auto">
              <a:xfrm>
                <a:off x="3456" y="2496"/>
                <a:ext cx="816" cy="768"/>
                <a:chOff x="2112" y="2544"/>
                <a:chExt cx="816" cy="768"/>
              </a:xfrm>
            </p:grpSpPr>
            <p:sp>
              <p:nvSpPr>
                <p:cNvPr id="33" name="Rectangle 18"/>
                <p:cNvSpPr>
                  <a:spLocks noChangeArrowheads="1"/>
                </p:cNvSpPr>
                <p:nvPr/>
              </p:nvSpPr>
              <p:spPr bwMode="auto">
                <a:xfrm>
                  <a:off x="2112" y="2736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34" name="Line 19"/>
                <p:cNvSpPr>
                  <a:spLocks noChangeShapeType="1"/>
                </p:cNvSpPr>
                <p:nvPr/>
              </p:nvSpPr>
              <p:spPr bwMode="auto">
                <a:xfrm>
                  <a:off x="2496" y="254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352" y="27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＋</a:t>
                  </a:r>
                  <a:endParaRPr lang="zh-CN" altLang="en-US" sz="240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2112" y="3024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37" name="Line 22"/>
                <p:cNvSpPr>
                  <a:spLocks noChangeShapeType="1"/>
                </p:cNvSpPr>
                <p:nvPr/>
              </p:nvSpPr>
              <p:spPr bwMode="auto">
                <a:xfrm>
                  <a:off x="2544" y="302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" name="Line 23"/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24"/>
              <p:cNvSpPr>
                <a:spLocks noChangeShapeType="1"/>
              </p:cNvSpPr>
              <p:nvPr/>
            </p:nvSpPr>
            <p:spPr bwMode="auto">
              <a:xfrm>
                <a:off x="4032" y="326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25"/>
              <p:cNvSpPr>
                <a:spLocks noChangeShapeType="1"/>
              </p:cNvSpPr>
              <p:nvPr/>
            </p:nvSpPr>
            <p:spPr bwMode="auto">
              <a:xfrm>
                <a:off x="4320" y="172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26"/>
              <p:cNvSpPr>
                <a:spLocks noChangeShapeType="1"/>
              </p:cNvSpPr>
              <p:nvPr/>
            </p:nvSpPr>
            <p:spPr bwMode="auto">
              <a:xfrm>
                <a:off x="4656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27"/>
              <p:cNvSpPr>
                <a:spLocks noChangeShapeType="1"/>
              </p:cNvSpPr>
              <p:nvPr/>
            </p:nvSpPr>
            <p:spPr bwMode="auto">
              <a:xfrm flipH="1">
                <a:off x="4176" y="340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8"/>
              <p:cNvSpPr>
                <a:spLocks noChangeShapeType="1"/>
              </p:cNvSpPr>
              <p:nvPr/>
            </p:nvSpPr>
            <p:spPr bwMode="auto">
              <a:xfrm flipV="1">
                <a:off x="4176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9"/>
              <p:cNvSpPr>
                <a:spLocks noChangeShapeType="1"/>
              </p:cNvSpPr>
              <p:nvPr/>
            </p:nvSpPr>
            <p:spPr bwMode="auto">
              <a:xfrm>
                <a:off x="3744" y="32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30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31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2"/>
              <p:cNvSpPr>
                <a:spLocks noChangeShapeType="1"/>
              </p:cNvSpPr>
              <p:nvPr/>
            </p:nvSpPr>
            <p:spPr bwMode="auto">
              <a:xfrm flipH="1">
                <a:off x="3264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3"/>
              <p:cNvSpPr>
                <a:spLocks noChangeShapeType="1"/>
              </p:cNvSpPr>
              <p:nvPr/>
            </p:nvSpPr>
            <p:spPr bwMode="auto">
              <a:xfrm flipV="1">
                <a:off x="3600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4" name="Group 34"/>
              <p:cNvGrpSpPr/>
              <p:nvPr/>
            </p:nvGrpSpPr>
            <p:grpSpPr bwMode="auto">
              <a:xfrm>
                <a:off x="3552" y="3456"/>
                <a:ext cx="384" cy="288"/>
                <a:chOff x="1584" y="2976"/>
                <a:chExt cx="384" cy="288"/>
              </a:xfrm>
            </p:grpSpPr>
            <p:sp>
              <p:nvSpPr>
                <p:cNvPr id="31" name="Rectangle 35"/>
                <p:cNvSpPr>
                  <a:spLocks noChangeArrowheads="1"/>
                </p:cNvSpPr>
                <p:nvPr/>
              </p:nvSpPr>
              <p:spPr bwMode="auto">
                <a:xfrm>
                  <a:off x="1584" y="3072"/>
                  <a:ext cx="38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32" name="Oval 36"/>
                <p:cNvSpPr>
                  <a:spLocks noChangeArrowheads="1"/>
                </p:cNvSpPr>
                <p:nvPr/>
              </p:nvSpPr>
              <p:spPr bwMode="auto">
                <a:xfrm>
                  <a:off x="1728" y="297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25" name="Line 37"/>
              <p:cNvSpPr>
                <a:spLocks noChangeShapeType="1"/>
              </p:cNvSpPr>
              <p:nvPr/>
            </p:nvSpPr>
            <p:spPr bwMode="auto">
              <a:xfrm>
                <a:off x="3744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Rectangle 38"/>
              <p:cNvSpPr>
                <a:spLocks noChangeArrowheads="1"/>
              </p:cNvSpPr>
              <p:nvPr/>
            </p:nvSpPr>
            <p:spPr bwMode="auto">
              <a:xfrm>
                <a:off x="3936" y="3984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Georgia" panose="02040502050405020303" pitchFamily="18" charset="0"/>
                  </a:rPr>
                  <a:t>J</a:t>
                </a:r>
                <a:endParaRPr lang="en-US" altLang="zh-CN" sz="2400" b="1">
                  <a:latin typeface="Georgia" panose="02040502050405020303" pitchFamily="18" charset="0"/>
                </a:endParaRPr>
              </a:p>
            </p:txBody>
          </p:sp>
          <p:sp>
            <p:nvSpPr>
              <p:cNvPr id="27" name="Rectangle 39"/>
              <p:cNvSpPr>
                <a:spLocks noChangeArrowheads="1"/>
              </p:cNvSpPr>
              <p:nvPr/>
            </p:nvSpPr>
            <p:spPr bwMode="auto">
              <a:xfrm>
                <a:off x="3610" y="398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Georgia" panose="02040502050405020303" pitchFamily="18" charset="0"/>
                  </a:rPr>
                  <a:t>K</a:t>
                </a:r>
                <a:endParaRPr lang="en-US" altLang="zh-CN" sz="2400" b="1">
                  <a:latin typeface="Georgia" panose="02040502050405020303" pitchFamily="18" charset="0"/>
                </a:endParaRPr>
              </a:p>
            </p:txBody>
          </p:sp>
          <p:sp>
            <p:nvSpPr>
              <p:cNvPr id="28" name="Oval 40"/>
              <p:cNvSpPr>
                <a:spLocks noChangeArrowheads="1"/>
              </p:cNvSpPr>
              <p:nvPr/>
            </p:nvSpPr>
            <p:spPr bwMode="auto">
              <a:xfrm>
                <a:off x="379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Oval 41"/>
              <p:cNvSpPr>
                <a:spLocks noChangeArrowheads="1"/>
              </p:cNvSpPr>
              <p:nvPr/>
            </p:nvSpPr>
            <p:spPr bwMode="auto"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0" name="Rectangle 45"/>
              <p:cNvSpPr>
                <a:spLocks noChangeArrowheads="1"/>
              </p:cNvSpPr>
              <p:nvPr/>
            </p:nvSpPr>
            <p:spPr bwMode="auto">
              <a:xfrm>
                <a:off x="3648" y="1344"/>
                <a:ext cx="143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Text Box 55"/>
            <p:cNvSpPr txBox="1">
              <a:spLocks noChangeArrowheads="1"/>
            </p:cNvSpPr>
            <p:nvPr/>
          </p:nvSpPr>
          <p:spPr bwMode="auto">
            <a:xfrm>
              <a:off x="6671121" y="262500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auto">
            <a:xfrm>
              <a:off x="6803452" y="1669119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C4F5ED-5022-4F04-A894-BAC839B6228A}" type="slidenum">
              <a:rPr lang="en-US" altLang="zh-CN"/>
            </a:fld>
            <a:endParaRPr lang="en-US" altLang="zh-CN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2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同步时序电路</a:t>
            </a: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同步时序电路的特点：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zh-CN" altLang="en-US" b="1" dirty="0"/>
              <a:t>各触发器使用同一个</a:t>
            </a:r>
            <a:r>
              <a:rPr lang="en-US" altLang="zh-CN" b="1" dirty="0"/>
              <a:t>CP;</a:t>
            </a:r>
            <a:endParaRPr lang="en-US" altLang="zh-CN" b="1" dirty="0"/>
          </a:p>
          <a:p>
            <a:pPr lvl="2" eaLnBrk="1" hangingPunct="1">
              <a:defRPr/>
            </a:pPr>
            <a:r>
              <a:rPr lang="zh-CN" altLang="en-US" b="1" dirty="0"/>
              <a:t>只有约定时钟到来，电路状态才能改变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一个脉冲只能改变一次状态</a:t>
            </a:r>
            <a:endParaRPr lang="zh-CN" altLang="en-US" b="1" dirty="0">
              <a:solidFill>
                <a:srgbClr val="FFC000"/>
              </a:solidFill>
            </a:endParaRPr>
          </a:p>
          <a:p>
            <a:pPr lvl="1" eaLnBrk="1" hangingPunct="1">
              <a:defRPr/>
            </a:pPr>
            <a:r>
              <a:rPr lang="zh-CN" altLang="en-US" b="1" dirty="0"/>
              <a:t>同步时序电路的分析工具：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zh-CN" altLang="en-US" b="1" dirty="0"/>
              <a:t>时序电路涉及触发器及电路的状态变化，必须引入状态表、状态图等工具。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zh-CN" altLang="en-US" b="1" dirty="0"/>
              <a:t>状态图</a:t>
            </a:r>
            <a:r>
              <a:rPr lang="en-US" altLang="zh-CN" b="1" dirty="0"/>
              <a:t>(State Diagram)</a:t>
            </a:r>
            <a:endParaRPr lang="en-US" altLang="zh-CN" b="1" dirty="0"/>
          </a:p>
          <a:p>
            <a:pPr lvl="2" eaLnBrk="1" hangingPunct="1">
              <a:defRPr/>
            </a:pPr>
            <a:r>
              <a:rPr lang="zh-CN" altLang="en-US" b="1" dirty="0"/>
              <a:t>状态表</a:t>
            </a:r>
            <a:r>
              <a:rPr lang="en-US" altLang="zh-CN" b="1" dirty="0"/>
              <a:t>(State Table)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43CDB4-EE99-4745-B13A-FCA67286E6BB}" type="slidenum">
              <a:rPr lang="en-US" altLang="zh-CN"/>
            </a:fld>
            <a:endParaRPr lang="en-US" altLang="zh-CN"/>
          </a:p>
        </p:txBody>
      </p:sp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3058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609600" y="1371600"/>
            <a:ext cx="8153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同步时序电路的基本概念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功能表：描述电路输入输出关系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b="1">
                <a:latin typeface="Times New Roman" panose="02020603050405020304" pitchFamily="18" charset="0"/>
              </a:rPr>
              <a:t>现态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n </a:t>
            </a:r>
            <a:r>
              <a:rPr lang="zh-CN" altLang="en-US" b="1">
                <a:latin typeface="Times New Roman" panose="02020603050405020304" pitchFamily="18" charset="0"/>
              </a:rPr>
              <a:t>：约定时钟跳变到来之前电路的状态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b="1">
                <a:latin typeface="Times New Roman" panose="02020603050405020304" pitchFamily="18" charset="0"/>
              </a:rPr>
              <a:t>次态</a:t>
            </a:r>
            <a:r>
              <a:rPr lang="en-US" altLang="zh-CN" b="1">
                <a:latin typeface="Times New Roman" panose="02020603050405020304" pitchFamily="18" charset="0"/>
              </a:rPr>
              <a:t>Q</a:t>
            </a:r>
            <a:r>
              <a:rPr lang="en-US" altLang="zh-CN" b="1" baseline="-25000">
                <a:latin typeface="Times New Roman" panose="02020603050405020304" pitchFamily="18" charset="0"/>
              </a:rPr>
              <a:t>n+1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：约定时钟跳变到来之后电路的状态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b="1">
                <a:latin typeface="Times New Roman" panose="02020603050405020304" pitchFamily="18" charset="0"/>
              </a:rPr>
              <a:t>状态表与状态图：反映输入与状态转换的关系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b="1">
                <a:latin typeface="Times New Roman" panose="02020603050405020304" pitchFamily="18" charset="0"/>
              </a:rPr>
              <a:t>状态方程：状态转换的表达式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b="1">
                <a:latin typeface="Times New Roman" panose="02020603050405020304" pitchFamily="18" charset="0"/>
              </a:rPr>
              <a:t>激励表：从现态转变到次态，对输入数据的要求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445800-C85C-4E4C-BC43-71972C6F177B}" type="slidenum">
              <a:rPr lang="en-US" altLang="zh-CN"/>
            </a:fld>
            <a:endParaRPr lang="en-US" altLang="zh-CN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4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触发器的功能表、激励表、状态表、状态图与状态方程</a:t>
            </a:r>
            <a:endParaRPr lang="zh-CN" altLang="en-US"/>
          </a:p>
          <a:p>
            <a:pPr lvl="1" eaLnBrk="1" hangingPunct="1">
              <a:defRPr/>
            </a:pPr>
            <a:r>
              <a:rPr lang="en-US" altLang="zh-CN"/>
              <a:t>D</a:t>
            </a: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en-US" altLang="zh-CN"/>
              <a:t>J-K</a:t>
            </a:r>
            <a:r>
              <a:rPr lang="zh-CN" altLang="en-US"/>
              <a:t>触发器</a:t>
            </a:r>
            <a:endParaRPr lang="zh-CN" altLang="en-US"/>
          </a:p>
          <a:p>
            <a:pPr lvl="1" eaLnBrk="1" hangingPunct="1">
              <a:defRPr/>
            </a:pPr>
            <a:r>
              <a:rPr lang="en-US" altLang="zh-CN"/>
              <a:t>T</a:t>
            </a:r>
            <a:r>
              <a:rPr lang="zh-CN" altLang="en-US"/>
              <a:t>触发器</a:t>
            </a:r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62CA13-132D-4466-8C74-C64BEBBA7E5A}" type="slidenum">
              <a:rPr lang="en-US" altLang="zh-CN"/>
            </a:fld>
            <a:endParaRPr lang="en-US" altLang="zh-CN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5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rgbClr val="FFFF00"/>
                </a:solidFill>
              </a:rPr>
              <a:t>D</a:t>
            </a:r>
            <a:r>
              <a:rPr lang="zh-CN" altLang="en-US">
                <a:solidFill>
                  <a:srgbClr val="FFFF00"/>
                </a:solidFill>
              </a:rPr>
              <a:t>触发器</a:t>
            </a:r>
            <a:r>
              <a:rPr lang="zh-CN" altLang="en-US"/>
              <a:t>的功能表、激励表、状态表、状态图与状态方程</a:t>
            </a:r>
            <a:endParaRPr lang="zh-CN" altLang="en-US"/>
          </a:p>
        </p:txBody>
      </p:sp>
      <p:graphicFrame>
        <p:nvGraphicFramePr>
          <p:cNvPr id="602116" name="Group 4"/>
          <p:cNvGraphicFramePr>
            <a:graphicFrameLocks noGrp="1"/>
          </p:cNvGraphicFramePr>
          <p:nvPr/>
        </p:nvGraphicFramePr>
        <p:xfrm>
          <a:off x="1371600" y="3200400"/>
          <a:ext cx="2514600" cy="2611444"/>
        </p:xfrm>
        <a:graphic>
          <a:graphicData uri="http://schemas.openxmlformats.org/drawingml/2006/table">
            <a:tbl>
              <a:tblPr/>
              <a:tblGrid>
                <a:gridCol w="1552575"/>
                <a:gridCol w="962025"/>
              </a:tblGrid>
              <a:tr h="5571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30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2127" name="Text Box 15"/>
          <p:cNvSpPr txBox="1">
            <a:spLocks noChangeArrowheads="1"/>
          </p:cNvSpPr>
          <p:nvPr/>
        </p:nvSpPr>
        <p:spPr bwMode="auto">
          <a:xfrm>
            <a:off x="1447800" y="274320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触发器功能表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602128" name="Text Box 16"/>
          <p:cNvSpPr txBox="1">
            <a:spLocks noChangeArrowheads="1"/>
          </p:cNvSpPr>
          <p:nvPr/>
        </p:nvSpPr>
        <p:spPr bwMode="auto">
          <a:xfrm>
            <a:off x="1447800" y="5943600"/>
            <a:ext cx="2087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(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简化功能表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  <a:endParaRPr lang="en-US" altLang="zh-CN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graphicFrame>
        <p:nvGraphicFramePr>
          <p:cNvPr id="602143" name="Group 31"/>
          <p:cNvGraphicFramePr>
            <a:graphicFrameLocks noGrp="1"/>
          </p:cNvGraphicFramePr>
          <p:nvPr/>
        </p:nvGraphicFramePr>
        <p:xfrm>
          <a:off x="5172075" y="3230563"/>
          <a:ext cx="2447925" cy="2590807"/>
        </p:xfrm>
        <a:graphic>
          <a:graphicData uri="http://schemas.openxmlformats.org/drawingml/2006/table">
            <a:tbl>
              <a:tblPr/>
              <a:tblGrid>
                <a:gridCol w="1657350"/>
                <a:gridCol w="790575"/>
              </a:tblGrid>
              <a:tr h="53647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29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73" name="Text Box 28"/>
          <p:cNvSpPr txBox="1">
            <a:spLocks noChangeArrowheads="1"/>
          </p:cNvSpPr>
          <p:nvPr/>
        </p:nvSpPr>
        <p:spPr bwMode="auto">
          <a:xfrm>
            <a:off x="5795963" y="2743200"/>
            <a:ext cx="1366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激励表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E7DDF8-4A68-4B39-943C-8C579DC23D91}" type="slidenum">
              <a:rPr lang="en-US" altLang="zh-CN"/>
            </a:fld>
            <a:endParaRPr lang="en-US" altLang="zh-CN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6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触发器</a:t>
            </a:r>
            <a:r>
              <a:rPr lang="zh-CN" altLang="en-US" dirty="0"/>
              <a:t>的功能表、激励表、状态表、状态图与状态方程</a:t>
            </a:r>
            <a:endParaRPr lang="zh-CN" altLang="en-US" dirty="0"/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990600" y="2938463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anose="02040502050405020303" pitchFamily="18" charset="0"/>
              </a:rPr>
              <a:t>状态表（ 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n+1</a:t>
            </a:r>
            <a:r>
              <a:rPr lang="zh-CN" altLang="en-US" sz="2400" b="1" dirty="0">
                <a:latin typeface="Georgia" panose="02040502050405020303" pitchFamily="18" charset="0"/>
              </a:rPr>
              <a:t>）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grpSp>
        <p:nvGrpSpPr>
          <p:cNvPr id="58374" name="Group 5"/>
          <p:cNvGrpSpPr/>
          <p:nvPr/>
        </p:nvGrpSpPr>
        <p:grpSpPr bwMode="auto">
          <a:xfrm>
            <a:off x="566738" y="3517900"/>
            <a:ext cx="2187575" cy="1511300"/>
            <a:chOff x="3755" y="1780"/>
            <a:chExt cx="1378" cy="1378"/>
          </a:xfrm>
        </p:grpSpPr>
        <p:sp>
          <p:nvSpPr>
            <p:cNvPr id="603142" name="Rectangle 6"/>
            <p:cNvSpPr>
              <a:spLocks noChangeArrowheads="1"/>
            </p:cNvSpPr>
            <p:nvPr/>
          </p:nvSpPr>
          <p:spPr bwMode="auto">
            <a:xfrm>
              <a:off x="4587" y="2622"/>
              <a:ext cx="546" cy="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/>
                <a:t>   1</a:t>
              </a:r>
              <a:endParaRPr lang="en-US" altLang="zh-CN"/>
            </a:p>
          </p:txBody>
        </p:sp>
        <p:sp>
          <p:nvSpPr>
            <p:cNvPr id="603143" name="Rectangle 7"/>
            <p:cNvSpPr>
              <a:spLocks noChangeArrowheads="1"/>
            </p:cNvSpPr>
            <p:nvPr/>
          </p:nvSpPr>
          <p:spPr bwMode="auto">
            <a:xfrm>
              <a:off x="4041" y="2622"/>
              <a:ext cx="546" cy="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/>
                <a:t>   0 </a:t>
              </a:r>
              <a:endParaRPr lang="en-US" altLang="zh-CN"/>
            </a:p>
          </p:txBody>
        </p:sp>
        <p:sp>
          <p:nvSpPr>
            <p:cNvPr id="603144" name="Rectangle 8"/>
            <p:cNvSpPr>
              <a:spLocks noChangeArrowheads="1"/>
            </p:cNvSpPr>
            <p:nvPr/>
          </p:nvSpPr>
          <p:spPr bwMode="auto">
            <a:xfrm>
              <a:off x="4587" y="2077"/>
              <a:ext cx="546" cy="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/>
                <a:t>   1</a:t>
              </a:r>
              <a:endParaRPr lang="en-US" altLang="zh-CN"/>
            </a:p>
          </p:txBody>
        </p:sp>
        <p:sp>
          <p:nvSpPr>
            <p:cNvPr id="603145" name="Rectangle 9"/>
            <p:cNvSpPr>
              <a:spLocks noChangeArrowheads="1"/>
            </p:cNvSpPr>
            <p:nvPr/>
          </p:nvSpPr>
          <p:spPr bwMode="auto">
            <a:xfrm>
              <a:off x="4041" y="2077"/>
              <a:ext cx="546" cy="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/>
                <a:t>   0</a:t>
              </a:r>
              <a:endParaRPr lang="en-US" altLang="zh-CN"/>
            </a:p>
          </p:txBody>
        </p:sp>
        <p:sp>
          <p:nvSpPr>
            <p:cNvPr id="58386" name="Line 10"/>
            <p:cNvSpPr>
              <a:spLocks noChangeShapeType="1"/>
            </p:cNvSpPr>
            <p:nvPr/>
          </p:nvSpPr>
          <p:spPr bwMode="auto">
            <a:xfrm>
              <a:off x="4041" y="2077"/>
              <a:ext cx="109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Line 11"/>
            <p:cNvSpPr>
              <a:spLocks noChangeShapeType="1"/>
            </p:cNvSpPr>
            <p:nvPr/>
          </p:nvSpPr>
          <p:spPr bwMode="auto">
            <a:xfrm>
              <a:off x="4041" y="2623"/>
              <a:ext cx="1092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8" name="Line 12"/>
            <p:cNvSpPr>
              <a:spLocks noChangeShapeType="1"/>
            </p:cNvSpPr>
            <p:nvPr/>
          </p:nvSpPr>
          <p:spPr bwMode="auto">
            <a:xfrm>
              <a:off x="4041" y="3158"/>
              <a:ext cx="109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13"/>
            <p:cNvSpPr>
              <a:spLocks noChangeShapeType="1"/>
            </p:cNvSpPr>
            <p:nvPr/>
          </p:nvSpPr>
          <p:spPr bwMode="auto">
            <a:xfrm>
              <a:off x="4041" y="2077"/>
              <a:ext cx="0" cy="108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14"/>
            <p:cNvSpPr>
              <a:spLocks noChangeShapeType="1"/>
            </p:cNvSpPr>
            <p:nvPr/>
          </p:nvSpPr>
          <p:spPr bwMode="auto">
            <a:xfrm>
              <a:off x="4587" y="2077"/>
              <a:ext cx="0" cy="108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15"/>
            <p:cNvSpPr>
              <a:spLocks noChangeShapeType="1"/>
            </p:cNvSpPr>
            <p:nvPr/>
          </p:nvSpPr>
          <p:spPr bwMode="auto">
            <a:xfrm>
              <a:off x="5133" y="2077"/>
              <a:ext cx="0" cy="108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2" name="Line 16"/>
            <p:cNvSpPr>
              <a:spLocks noChangeShapeType="1"/>
            </p:cNvSpPr>
            <p:nvPr/>
          </p:nvSpPr>
          <p:spPr bwMode="auto">
            <a:xfrm flipH="1" flipV="1">
              <a:off x="3755" y="1780"/>
              <a:ext cx="286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75" name="Text Box 17"/>
          <p:cNvSpPr txBox="1">
            <a:spLocks noChangeArrowheads="1"/>
          </p:cNvSpPr>
          <p:nvPr/>
        </p:nvSpPr>
        <p:spPr bwMode="auto">
          <a:xfrm>
            <a:off x="1096963" y="3373438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   0         1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603154" name="Rectangle 18"/>
          <p:cNvSpPr>
            <a:spLocks noChangeArrowheads="1"/>
          </p:cNvSpPr>
          <p:nvPr/>
        </p:nvSpPr>
        <p:spPr bwMode="auto">
          <a:xfrm>
            <a:off x="304800" y="3494088"/>
            <a:ext cx="554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n</a:t>
            </a:r>
            <a:endParaRPr lang="en-US" altLang="zh-CN" sz="2800" baseline="-2500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58377" name="Text Box 19"/>
          <p:cNvSpPr txBox="1">
            <a:spLocks noChangeArrowheads="1"/>
          </p:cNvSpPr>
          <p:nvPr/>
        </p:nvSpPr>
        <p:spPr bwMode="auto">
          <a:xfrm>
            <a:off x="593725" y="3949700"/>
            <a:ext cx="360363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0</a:t>
            </a:r>
            <a:endParaRPr lang="en-US" altLang="zh-CN" sz="2400">
              <a:latin typeface="Georgia" panose="02040502050405020303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1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8378" name="Text Box 20"/>
          <p:cNvSpPr txBox="1">
            <a:spLocks noChangeArrowheads="1"/>
          </p:cNvSpPr>
          <p:nvPr/>
        </p:nvSpPr>
        <p:spPr bwMode="auto">
          <a:xfrm>
            <a:off x="666750" y="3302000"/>
            <a:ext cx="358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D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pic>
        <p:nvPicPr>
          <p:cNvPr id="58379" name="Picture 2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3738563"/>
            <a:ext cx="3097212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0" name="Text Box 22"/>
          <p:cNvSpPr txBox="1">
            <a:spLocks noChangeArrowheads="1"/>
          </p:cNvSpPr>
          <p:nvPr/>
        </p:nvSpPr>
        <p:spPr bwMode="auto">
          <a:xfrm>
            <a:off x="4467225" y="3162300"/>
            <a:ext cx="1296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状态图</a:t>
            </a:r>
            <a:endParaRPr lang="zh-CN" altLang="en-US" sz="2400" b="1">
              <a:latin typeface="Georgia" panose="02040502050405020303" pitchFamily="18" charset="0"/>
            </a:endParaRPr>
          </a:p>
        </p:txBody>
      </p:sp>
      <p:sp>
        <p:nvSpPr>
          <p:cNvPr id="603159" name="Text Box 23"/>
          <p:cNvSpPr txBox="1">
            <a:spLocks noChangeArrowheads="1"/>
          </p:cNvSpPr>
          <p:nvPr/>
        </p:nvSpPr>
        <p:spPr bwMode="auto">
          <a:xfrm>
            <a:off x="6858000" y="3186113"/>
            <a:ext cx="190976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状态方程：</a:t>
            </a: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n+1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F65D5A-097E-4978-BA5D-8D21879114BD}" type="slidenum">
              <a:rPr lang="en-US" altLang="zh-CN"/>
            </a:fld>
            <a:endParaRPr lang="en-US" altLang="zh-CN"/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0425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7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触发器</a:t>
            </a:r>
            <a:r>
              <a:rPr lang="zh-CN" altLang="en-US" dirty="0"/>
              <a:t>的功能表、激励表、状态表、状态图与状态方程</a:t>
            </a:r>
            <a:endParaRPr lang="zh-CN" altLang="en-US" dirty="0"/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1143000" y="2362200"/>
            <a:ext cx="176688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功能表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604205" name="Group 45"/>
          <p:cNvGraphicFramePr>
            <a:graphicFrameLocks noGrp="1"/>
          </p:cNvGraphicFramePr>
          <p:nvPr/>
        </p:nvGraphicFramePr>
        <p:xfrm>
          <a:off x="533400" y="2819400"/>
          <a:ext cx="2808288" cy="3986556"/>
        </p:xfrm>
        <a:graphic>
          <a:graphicData uri="http://schemas.openxmlformats.org/drawingml/2006/table">
            <a:tbl>
              <a:tblPr/>
              <a:tblGrid>
                <a:gridCol w="1966913"/>
                <a:gridCol w="841375"/>
              </a:tblGrid>
              <a:tr h="45705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     K     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91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11303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7018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22352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7686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32258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6830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41402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5974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09" name="AutoShape 16"/>
          <p:cNvSpPr/>
          <p:nvPr/>
        </p:nvSpPr>
        <p:spPr bwMode="auto">
          <a:xfrm>
            <a:off x="3538538" y="3471863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59410" name="AutoShape 17"/>
          <p:cNvSpPr/>
          <p:nvPr/>
        </p:nvSpPr>
        <p:spPr bwMode="auto">
          <a:xfrm>
            <a:off x="3538538" y="4264025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59411" name="AutoShape 18"/>
          <p:cNvSpPr/>
          <p:nvPr/>
        </p:nvSpPr>
        <p:spPr bwMode="auto">
          <a:xfrm>
            <a:off x="3538538" y="52006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59412" name="AutoShape 19"/>
          <p:cNvSpPr/>
          <p:nvPr/>
        </p:nvSpPr>
        <p:spPr bwMode="auto">
          <a:xfrm>
            <a:off x="3538538" y="60642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59413" name="Text Box 20"/>
          <p:cNvSpPr txBox="1">
            <a:spLocks noChangeArrowheads="1"/>
          </p:cNvSpPr>
          <p:nvPr/>
        </p:nvSpPr>
        <p:spPr bwMode="auto">
          <a:xfrm>
            <a:off x="3951288" y="3417888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 Hold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9414" name="Text Box 21"/>
          <p:cNvSpPr txBox="1">
            <a:spLocks noChangeArrowheads="1"/>
          </p:cNvSpPr>
          <p:nvPr/>
        </p:nvSpPr>
        <p:spPr bwMode="auto">
          <a:xfrm>
            <a:off x="4022725" y="4210050"/>
            <a:ext cx="115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Store 0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9415" name="Text Box 22"/>
          <p:cNvSpPr txBox="1">
            <a:spLocks noChangeArrowheads="1"/>
          </p:cNvSpPr>
          <p:nvPr/>
        </p:nvSpPr>
        <p:spPr bwMode="auto">
          <a:xfrm>
            <a:off x="4022725" y="5146675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Store 1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9416" name="Text Box 23"/>
          <p:cNvSpPr txBox="1">
            <a:spLocks noChangeArrowheads="1"/>
          </p:cNvSpPr>
          <p:nvPr/>
        </p:nvSpPr>
        <p:spPr bwMode="auto">
          <a:xfrm>
            <a:off x="4022725" y="6010275"/>
            <a:ext cx="100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Count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grpSp>
        <p:nvGrpSpPr>
          <p:cNvPr id="604206" name="Group 46"/>
          <p:cNvGrpSpPr/>
          <p:nvPr/>
        </p:nvGrpSpPr>
        <p:grpSpPr bwMode="auto">
          <a:xfrm>
            <a:off x="5638800" y="3505200"/>
            <a:ext cx="2808288" cy="2305050"/>
            <a:chOff x="3559" y="2196"/>
            <a:chExt cx="1769" cy="1452"/>
          </a:xfrm>
        </p:grpSpPr>
        <p:sp>
          <p:nvSpPr>
            <p:cNvPr id="604184" name="Rectangle 24"/>
            <p:cNvSpPr>
              <a:spLocks noChangeArrowheads="1"/>
            </p:cNvSpPr>
            <p:nvPr/>
          </p:nvSpPr>
          <p:spPr bwMode="auto">
            <a:xfrm>
              <a:off x="4829" y="2513"/>
              <a:ext cx="499" cy="1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FF00"/>
                  </a:solidFill>
                </a:rPr>
                <a:t>x</a:t>
              </a:r>
              <a:endParaRPr lang="en-US" altLang="zh-CN" sz="2400">
                <a:solidFill>
                  <a:srgbClr val="FFFF00"/>
                </a:solidFill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00FF00"/>
                  </a:solidFill>
                </a:rPr>
                <a:t>x</a:t>
              </a:r>
              <a:endParaRPr lang="en-US" altLang="zh-CN" sz="2400">
                <a:solidFill>
                  <a:srgbClr val="00FF00"/>
                </a:solidFill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  <a:endParaRPr lang="en-US" altLang="zh-CN" sz="2400">
                <a:solidFill>
                  <a:srgbClr val="FF0000"/>
                </a:solidFill>
              </a:endParaRP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66FF"/>
                  </a:solidFill>
                </a:rPr>
                <a:t>0</a:t>
              </a:r>
              <a:endParaRPr lang="en-US" altLang="zh-CN" sz="2400">
                <a:solidFill>
                  <a:srgbClr val="FF66FF"/>
                </a:solidFill>
              </a:endParaRPr>
            </a:p>
          </p:txBody>
        </p:sp>
        <p:sp>
          <p:nvSpPr>
            <p:cNvPr id="604185" name="Rectangle 25"/>
            <p:cNvSpPr>
              <a:spLocks noChangeArrowheads="1"/>
            </p:cNvSpPr>
            <p:nvPr/>
          </p:nvSpPr>
          <p:spPr bwMode="auto">
            <a:xfrm>
              <a:off x="3604" y="2514"/>
              <a:ext cx="1270" cy="1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914400" indent="-4572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295400" indent="-3810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FF00"/>
                  </a:solidFill>
                </a:rPr>
                <a:t>0     0       0</a:t>
              </a:r>
              <a:endParaRPr lang="en-US" altLang="zh-CN" sz="2400">
                <a:solidFill>
                  <a:srgbClr val="FFFF00"/>
                </a:solidFill>
              </a:endParaRP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00FF00"/>
                  </a:solidFill>
                </a:rPr>
                <a:t>0     1       1</a:t>
              </a:r>
              <a:endParaRPr lang="en-US" altLang="zh-CN" sz="2400">
                <a:solidFill>
                  <a:srgbClr val="00FF00"/>
                </a:solidFill>
              </a:endParaRP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0000"/>
                  </a:solidFill>
                </a:rPr>
                <a:t>1     0       x</a:t>
              </a:r>
              <a:endParaRPr lang="en-US" altLang="zh-CN" sz="2400">
                <a:solidFill>
                  <a:srgbClr val="FF0000"/>
                </a:solidFill>
              </a:endParaRP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66FF"/>
                  </a:solidFill>
                </a:rPr>
                <a:t>1     1       x</a:t>
              </a:r>
              <a:endParaRPr lang="en-US" altLang="zh-CN" sz="2400">
                <a:solidFill>
                  <a:srgbClr val="FF66FF"/>
                </a:solidFill>
              </a:endParaRPr>
            </a:p>
          </p:txBody>
        </p:sp>
        <p:sp>
          <p:nvSpPr>
            <p:cNvPr id="604186" name="Rectangle 26"/>
            <p:cNvSpPr>
              <a:spLocks noChangeArrowheads="1"/>
            </p:cNvSpPr>
            <p:nvPr/>
          </p:nvSpPr>
          <p:spPr bwMode="auto">
            <a:xfrm>
              <a:off x="4829" y="2196"/>
              <a:ext cx="499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/>
                <a:t>K</a:t>
              </a:r>
              <a:endParaRPr lang="en-US" altLang="zh-CN" sz="2400"/>
            </a:p>
          </p:txBody>
        </p:sp>
        <p:sp>
          <p:nvSpPr>
            <p:cNvPr id="604187" name="Rectangle 27"/>
            <p:cNvSpPr>
              <a:spLocks noChangeArrowheads="1"/>
            </p:cNvSpPr>
            <p:nvPr/>
          </p:nvSpPr>
          <p:spPr bwMode="auto">
            <a:xfrm>
              <a:off x="3559" y="2196"/>
              <a:ext cx="1270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n    </a:t>
              </a: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n+1</a:t>
              </a:r>
              <a:r>
                <a:rPr lang="en-US" altLang="zh-CN" sz="2400" dirty="0"/>
                <a:t> </a:t>
              </a:r>
              <a:r>
                <a:rPr lang="en-US" altLang="zh-CN" sz="2400" baseline="-25000" dirty="0"/>
                <a:t>  </a:t>
              </a:r>
              <a:r>
                <a:rPr lang="en-US" altLang="zh-CN" sz="2400" dirty="0"/>
                <a:t> J   </a:t>
              </a:r>
              <a:endParaRPr lang="en-US" altLang="zh-CN" sz="2400" dirty="0"/>
            </a:p>
          </p:txBody>
        </p:sp>
        <p:sp>
          <p:nvSpPr>
            <p:cNvPr id="59423" name="Line 28"/>
            <p:cNvSpPr>
              <a:spLocks noChangeShapeType="1"/>
            </p:cNvSpPr>
            <p:nvPr/>
          </p:nvSpPr>
          <p:spPr bwMode="auto">
            <a:xfrm>
              <a:off x="3559" y="2196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4" name="Line 29"/>
            <p:cNvSpPr>
              <a:spLocks noChangeShapeType="1"/>
            </p:cNvSpPr>
            <p:nvPr/>
          </p:nvSpPr>
          <p:spPr bwMode="auto">
            <a:xfrm>
              <a:off x="3559" y="2559"/>
              <a:ext cx="17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5" name="Line 30"/>
            <p:cNvSpPr>
              <a:spLocks noChangeShapeType="1"/>
            </p:cNvSpPr>
            <p:nvPr/>
          </p:nvSpPr>
          <p:spPr bwMode="auto">
            <a:xfrm>
              <a:off x="3559" y="3648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6" name="Line 31"/>
            <p:cNvSpPr>
              <a:spLocks noChangeShapeType="1"/>
            </p:cNvSpPr>
            <p:nvPr/>
          </p:nvSpPr>
          <p:spPr bwMode="auto">
            <a:xfrm>
              <a:off x="3559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7" name="Line 32"/>
            <p:cNvSpPr>
              <a:spLocks noChangeShapeType="1"/>
            </p:cNvSpPr>
            <p:nvPr/>
          </p:nvSpPr>
          <p:spPr bwMode="auto">
            <a:xfrm>
              <a:off x="4466" y="2197"/>
              <a:ext cx="0" cy="1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8" name="Line 33"/>
            <p:cNvSpPr>
              <a:spLocks noChangeShapeType="1"/>
            </p:cNvSpPr>
            <p:nvPr/>
          </p:nvSpPr>
          <p:spPr bwMode="auto">
            <a:xfrm>
              <a:off x="5328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194" name="Rectangle 34"/>
          <p:cNvSpPr>
            <a:spLocks noChangeArrowheads="1"/>
          </p:cNvSpPr>
          <p:nvPr/>
        </p:nvSpPr>
        <p:spPr bwMode="auto">
          <a:xfrm>
            <a:off x="6608763" y="2838450"/>
            <a:ext cx="16335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/>
              <a:t>激励表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FEDE12-73AA-4FB7-B6E5-C2E3C0B67668}" type="slidenum">
              <a:rPr lang="en-US" altLang="zh-CN"/>
            </a:fld>
            <a:endParaRPr lang="en-US" altLang="zh-CN"/>
          </a:p>
        </p:txBody>
      </p:sp>
      <p:sp>
        <p:nvSpPr>
          <p:cNvPr id="6051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触发器</a:t>
            </a:r>
            <a:r>
              <a:rPr lang="zh-CN" altLang="en-US" dirty="0"/>
              <a:t>的功能表、激励表、状态表、状态图与状态方程</a:t>
            </a: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24863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8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grpSp>
        <p:nvGrpSpPr>
          <p:cNvPr id="60421" name="Group 4"/>
          <p:cNvGrpSpPr/>
          <p:nvPr/>
        </p:nvGrpSpPr>
        <p:grpSpPr bwMode="auto">
          <a:xfrm>
            <a:off x="304800" y="2743200"/>
            <a:ext cx="3733800" cy="3276600"/>
            <a:chOff x="144" y="2016"/>
            <a:chExt cx="2352" cy="2064"/>
          </a:xfrm>
        </p:grpSpPr>
        <p:sp>
          <p:nvSpPr>
            <p:cNvPr id="605189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05190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  <a:endParaRPr lang="en-US" altLang="zh-CN" sz="2400" b="1">
                <a:ea typeface="幼圆" panose="02010509060101010101" pitchFamily="49" charset="-122"/>
              </a:endParaRPr>
            </a:p>
          </p:txBody>
        </p:sp>
        <p:sp>
          <p:nvSpPr>
            <p:cNvPr id="605191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0435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9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0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1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4" name="Text Box 17"/>
            <p:cNvSpPr txBox="1">
              <a:spLocks noChangeArrowheads="1"/>
            </p:cNvSpPr>
            <p:nvPr/>
          </p:nvSpPr>
          <p:spPr bwMode="auto">
            <a:xfrm>
              <a:off x="279" y="22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J</a:t>
              </a:r>
              <a:endParaRPr lang="en-US" altLang="zh-CN" sz="2400"/>
            </a:p>
          </p:txBody>
        </p:sp>
        <p:sp>
          <p:nvSpPr>
            <p:cNvPr id="60445" name="Text Box 18"/>
            <p:cNvSpPr txBox="1">
              <a:spLocks noChangeArrowheads="1"/>
            </p:cNvSpPr>
            <p:nvPr/>
          </p:nvSpPr>
          <p:spPr bwMode="auto">
            <a:xfrm>
              <a:off x="416" y="24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K</a:t>
              </a:r>
              <a:endParaRPr lang="en-US" altLang="zh-CN" sz="2400"/>
            </a:p>
          </p:txBody>
        </p:sp>
        <p:sp>
          <p:nvSpPr>
            <p:cNvPr id="605203" name="Text Box 19"/>
            <p:cNvSpPr txBox="1">
              <a:spLocks noChangeArrowheads="1"/>
            </p:cNvSpPr>
            <p:nvPr/>
          </p:nvSpPr>
          <p:spPr bwMode="auto">
            <a:xfrm>
              <a:off x="144" y="255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0447" name="Group 20"/>
            <p:cNvGrpSpPr/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0462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60463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  <a:endParaRPr lang="en-US" altLang="zh-CN" sz="2400"/>
              </a:p>
            </p:txBody>
          </p:sp>
        </p:grpSp>
        <p:sp>
          <p:nvSpPr>
            <p:cNvPr id="60448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00</a:t>
              </a:r>
              <a:endParaRPr lang="en-US" altLang="zh-CN" sz="2400" dirty="0"/>
            </a:p>
          </p:txBody>
        </p:sp>
        <p:sp>
          <p:nvSpPr>
            <p:cNvPr id="60449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  <a:endParaRPr lang="en-US" altLang="zh-CN" sz="2400"/>
            </a:p>
          </p:txBody>
        </p:sp>
        <p:sp>
          <p:nvSpPr>
            <p:cNvPr id="60450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  <a:endParaRPr lang="en-US" altLang="zh-CN" sz="2400"/>
            </a:p>
          </p:txBody>
        </p:sp>
        <p:sp>
          <p:nvSpPr>
            <p:cNvPr id="60451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10</a:t>
              </a:r>
              <a:endParaRPr lang="en-US" altLang="zh-CN" sz="2400" dirty="0"/>
            </a:p>
          </p:txBody>
        </p:sp>
        <p:sp>
          <p:nvSpPr>
            <p:cNvPr id="60452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53" name="Rectangle 28"/>
            <p:cNvSpPr>
              <a:spLocks noChangeArrowheads="1"/>
            </p:cNvSpPr>
            <p:nvPr/>
          </p:nvSpPr>
          <p:spPr bwMode="auto">
            <a:xfrm>
              <a:off x="672" y="2901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54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455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56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0457" name="Rectangle 32"/>
            <p:cNvSpPr>
              <a:spLocks noChangeArrowheads="1"/>
            </p:cNvSpPr>
            <p:nvPr/>
          </p:nvSpPr>
          <p:spPr bwMode="auto">
            <a:xfrm>
              <a:off x="644" y="336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  <a:endParaRPr lang="en-US" altLang="zh-CN" sz="2400" b="1">
                <a:solidFill>
                  <a:schemeClr val="folHlink"/>
                </a:solidFill>
              </a:endParaRPr>
            </a:p>
          </p:txBody>
        </p:sp>
        <p:sp>
          <p:nvSpPr>
            <p:cNvPr id="60458" name="Rectangle 33"/>
            <p:cNvSpPr>
              <a:spLocks noChangeArrowheads="1"/>
            </p:cNvSpPr>
            <p:nvPr/>
          </p:nvSpPr>
          <p:spPr bwMode="auto">
            <a:xfrm>
              <a:off x="1680" y="33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60459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5219" name="Rectangle 35"/>
            <p:cNvSpPr>
              <a:spLocks noChangeArrowheads="1"/>
            </p:cNvSpPr>
            <p:nvPr/>
          </p:nvSpPr>
          <p:spPr bwMode="auto">
            <a:xfrm>
              <a:off x="1152" y="2016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状态表</a:t>
              </a:r>
              <a:endPara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05220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0422" name="Group 37"/>
          <p:cNvGrpSpPr/>
          <p:nvPr/>
        </p:nvGrpSpPr>
        <p:grpSpPr bwMode="auto">
          <a:xfrm>
            <a:off x="4286250" y="2698750"/>
            <a:ext cx="4705350" cy="1949450"/>
            <a:chOff x="2700" y="1700"/>
            <a:chExt cx="2964" cy="1228"/>
          </a:xfrm>
        </p:grpSpPr>
        <p:pic>
          <p:nvPicPr>
            <p:cNvPr id="60427" name="Picture 3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0" y="2130"/>
              <a:ext cx="2964" cy="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223" name="Rectangle 39"/>
            <p:cNvSpPr>
              <a:spLocks noChangeArrowheads="1"/>
            </p:cNvSpPr>
            <p:nvPr/>
          </p:nvSpPr>
          <p:spPr bwMode="auto">
            <a:xfrm>
              <a:off x="3697" y="170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状态图</a:t>
              </a:r>
              <a:endPara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grpSp>
          <p:nvGrpSpPr>
            <p:cNvPr id="60429" name="Group 40"/>
            <p:cNvGrpSpPr/>
            <p:nvPr/>
          </p:nvGrpSpPr>
          <p:grpSpPr bwMode="auto">
            <a:xfrm>
              <a:off x="4786" y="1749"/>
              <a:ext cx="816" cy="288"/>
              <a:chOff x="2381" y="3022"/>
              <a:chExt cx="816" cy="288"/>
            </a:xfrm>
          </p:grpSpPr>
          <p:sp>
            <p:nvSpPr>
              <p:cNvPr id="60430" name="Text Box 41"/>
              <p:cNvSpPr txBox="1">
                <a:spLocks noChangeArrowheads="1"/>
              </p:cNvSpPr>
              <p:nvPr/>
            </p:nvSpPr>
            <p:spPr bwMode="auto">
              <a:xfrm>
                <a:off x="2381" y="3022"/>
                <a:ext cx="8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JK, JK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60431" name="Line 42"/>
              <p:cNvSpPr>
                <a:spLocks noChangeShapeType="1"/>
              </p:cNvSpPr>
              <p:nvPr/>
            </p:nvSpPr>
            <p:spPr bwMode="auto">
              <a:xfrm flipV="1">
                <a:off x="2448" y="3264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0423" name="Group 43"/>
          <p:cNvGrpSpPr/>
          <p:nvPr/>
        </p:nvGrpSpPr>
        <p:grpSpPr bwMode="auto">
          <a:xfrm>
            <a:off x="5334000" y="5029200"/>
            <a:ext cx="2562225" cy="1187450"/>
            <a:chOff x="3651" y="3317"/>
            <a:chExt cx="1614" cy="748"/>
          </a:xfrm>
        </p:grpSpPr>
        <p:sp>
          <p:nvSpPr>
            <p:cNvPr id="605228" name="Rectangle 44"/>
            <p:cNvSpPr>
              <a:spLocks noChangeArrowheads="1"/>
            </p:cNvSpPr>
            <p:nvPr/>
          </p:nvSpPr>
          <p:spPr bwMode="auto">
            <a:xfrm>
              <a:off x="3651" y="3317"/>
              <a:ext cx="161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</a:t>
              </a:r>
              <a:r>
                <a:rPr lang="zh-CN" altLang="en-US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状态方程</a:t>
              </a:r>
              <a:endPara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defRPr/>
              </a:pPr>
              <a:endPara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n+1 </a:t>
              </a:r>
              <a:r>
                <a:rPr lang="en-US" altLang="zh-CN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=J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 </a:t>
              </a:r>
              <a:r>
                <a:rPr lang="en-US" altLang="zh-CN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+K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 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0425" name="Line 45"/>
            <p:cNvSpPr>
              <a:spLocks noChangeShapeType="1"/>
            </p:cNvSpPr>
            <p:nvPr/>
          </p:nvSpPr>
          <p:spPr bwMode="auto">
            <a:xfrm>
              <a:off x="4357" y="383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6" name="Line 46"/>
            <p:cNvSpPr>
              <a:spLocks noChangeShapeType="1"/>
            </p:cNvSpPr>
            <p:nvPr/>
          </p:nvSpPr>
          <p:spPr bwMode="auto">
            <a:xfrm>
              <a:off x="4765" y="383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0A67EC-81A3-4826-A92D-3CA71BFA9B3D}" type="slidenum">
              <a:rPr lang="en-US" altLang="zh-CN"/>
            </a:fld>
            <a:endParaRPr lang="en-US" altLang="zh-CN"/>
          </a:p>
        </p:txBody>
      </p:sp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04813"/>
            <a:ext cx="8534400" cy="6492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9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rgbClr val="FFFF00"/>
                </a:solidFill>
              </a:rPr>
              <a:t>T</a:t>
            </a:r>
            <a:r>
              <a:rPr lang="zh-CN" altLang="en-US">
                <a:solidFill>
                  <a:srgbClr val="FFFF00"/>
                </a:solidFill>
              </a:rPr>
              <a:t>触发器</a:t>
            </a:r>
            <a:r>
              <a:rPr lang="zh-CN" altLang="en-US"/>
              <a:t>的功能表、激励表、状态表、状态图与状态方程</a:t>
            </a:r>
            <a:endParaRPr lang="zh-CN" altLang="en-US"/>
          </a:p>
        </p:txBody>
      </p:sp>
      <p:graphicFrame>
        <p:nvGraphicFramePr>
          <p:cNvPr id="606237" name="Group 29"/>
          <p:cNvGraphicFramePr>
            <a:graphicFrameLocks noGrp="1"/>
          </p:cNvGraphicFramePr>
          <p:nvPr/>
        </p:nvGraphicFramePr>
        <p:xfrm>
          <a:off x="914400" y="3505200"/>
          <a:ext cx="2362200" cy="2587632"/>
        </p:xfrm>
        <a:graphic>
          <a:graphicData uri="http://schemas.openxmlformats.org/drawingml/2006/table">
            <a:tbl>
              <a:tblPr/>
              <a:tblGrid>
                <a:gridCol w="1438275"/>
                <a:gridCol w="923925"/>
              </a:tblGrid>
              <a:tr h="53329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T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2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1     0  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6223" name="Text Box 15"/>
          <p:cNvSpPr txBox="1">
            <a:spLocks noChangeArrowheads="1"/>
          </p:cNvSpPr>
          <p:nvPr/>
        </p:nvSpPr>
        <p:spPr bwMode="auto">
          <a:xfrm>
            <a:off x="1143000" y="2819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功能表</a:t>
            </a:r>
            <a:endParaRPr lang="zh-CN" altLang="en-US" sz="2400">
              <a:latin typeface="Georgia" panose="02040502050405020303" pitchFamily="18" charset="0"/>
            </a:endParaRPr>
          </a:p>
        </p:txBody>
      </p:sp>
      <p:sp>
        <p:nvSpPr>
          <p:cNvPr id="606224" name="Text Box 16"/>
          <p:cNvSpPr txBox="1">
            <a:spLocks noChangeArrowheads="1"/>
          </p:cNvSpPr>
          <p:nvPr/>
        </p:nvSpPr>
        <p:spPr bwMode="auto">
          <a:xfrm>
            <a:off x="4838700" y="2819400"/>
            <a:ext cx="118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激励表</a:t>
            </a:r>
            <a:endParaRPr lang="zh-CN" altLang="en-US" sz="24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graphicFrame>
        <p:nvGraphicFramePr>
          <p:cNvPr id="606240" name="Group 32"/>
          <p:cNvGraphicFramePr>
            <a:graphicFrameLocks noGrp="1"/>
          </p:cNvGraphicFramePr>
          <p:nvPr/>
        </p:nvGraphicFramePr>
        <p:xfrm>
          <a:off x="4343400" y="3522663"/>
          <a:ext cx="2295525" cy="2572088"/>
        </p:xfrm>
        <a:graphic>
          <a:graphicData uri="http://schemas.openxmlformats.org/drawingml/2006/table">
            <a:tbl>
              <a:tblPr/>
              <a:tblGrid>
                <a:gridCol w="1554163"/>
                <a:gridCol w="741362"/>
              </a:tblGrid>
              <a:tr h="51788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3863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0A42A3-72E2-4373-A6D8-B953FD7DF3B9}" type="slidenum">
              <a:rPr lang="en-US" altLang="zh-CN"/>
            </a:fld>
            <a:endParaRPr lang="en-US" altLang="zh-CN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10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rgbClr val="FFFF00"/>
                </a:solidFill>
              </a:rPr>
              <a:t>T</a:t>
            </a:r>
            <a:r>
              <a:rPr lang="zh-CN" altLang="en-US">
                <a:solidFill>
                  <a:srgbClr val="FFFF00"/>
                </a:solidFill>
              </a:rPr>
              <a:t>触发器</a:t>
            </a:r>
            <a:r>
              <a:rPr lang="zh-CN" altLang="en-US"/>
              <a:t>的功能表、激励表、状态表、状态图与状态方程</a:t>
            </a:r>
            <a:endParaRPr lang="zh-CN" altLang="en-US"/>
          </a:p>
        </p:txBody>
      </p:sp>
      <p:grpSp>
        <p:nvGrpSpPr>
          <p:cNvPr id="62469" name="Group 4"/>
          <p:cNvGrpSpPr/>
          <p:nvPr/>
        </p:nvGrpSpPr>
        <p:grpSpPr bwMode="auto">
          <a:xfrm>
            <a:off x="762000" y="2881313"/>
            <a:ext cx="2339975" cy="2833687"/>
            <a:chOff x="480" y="1815"/>
            <a:chExt cx="1474" cy="1785"/>
          </a:xfrm>
        </p:grpSpPr>
        <p:sp>
          <p:nvSpPr>
            <p:cNvPr id="62473" name="Text Box 5"/>
            <p:cNvSpPr txBox="1">
              <a:spLocks noChangeArrowheads="1"/>
            </p:cNvSpPr>
            <p:nvPr/>
          </p:nvSpPr>
          <p:spPr bwMode="auto">
            <a:xfrm>
              <a:off x="1002" y="1815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>
                  <a:latin typeface="Georgia" panose="02040502050405020303" pitchFamily="18" charset="0"/>
                </a:rPr>
                <a:t>状态表</a:t>
              </a:r>
              <a:endParaRPr lang="zh-CN" altLang="en-US" sz="2400" b="1">
                <a:latin typeface="Georgia" panose="02040502050405020303" pitchFamily="18" charset="0"/>
              </a:endParaRPr>
            </a:p>
          </p:txBody>
        </p:sp>
        <p:grpSp>
          <p:nvGrpSpPr>
            <p:cNvPr id="62474" name="Group 6"/>
            <p:cNvGrpSpPr/>
            <p:nvPr/>
          </p:nvGrpSpPr>
          <p:grpSpPr bwMode="auto">
            <a:xfrm>
              <a:off x="576" y="2253"/>
              <a:ext cx="1378" cy="952"/>
              <a:chOff x="3755" y="1780"/>
              <a:chExt cx="1378" cy="1378"/>
            </a:xfrm>
          </p:grpSpPr>
          <p:sp>
            <p:nvSpPr>
              <p:cNvPr id="607239" name="Rectangle 7"/>
              <p:cNvSpPr>
                <a:spLocks noChangeArrowheads="1"/>
              </p:cNvSpPr>
              <p:nvPr/>
            </p:nvSpPr>
            <p:spPr bwMode="auto">
              <a:xfrm>
                <a:off x="4587" y="2622"/>
                <a:ext cx="546" cy="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  0</a:t>
                </a:r>
                <a:endParaRPr lang="en-US" altLang="zh-CN"/>
              </a:p>
            </p:txBody>
          </p:sp>
          <p:sp>
            <p:nvSpPr>
              <p:cNvPr id="607240" name="Rectangle 8"/>
              <p:cNvSpPr>
                <a:spLocks noChangeArrowheads="1"/>
              </p:cNvSpPr>
              <p:nvPr/>
            </p:nvSpPr>
            <p:spPr bwMode="auto">
              <a:xfrm>
                <a:off x="4041" y="2622"/>
                <a:ext cx="546" cy="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  1 </a:t>
                </a:r>
                <a:endParaRPr lang="en-US" altLang="zh-CN"/>
              </a:p>
            </p:txBody>
          </p:sp>
          <p:sp>
            <p:nvSpPr>
              <p:cNvPr id="607241" name="Rectangle 9"/>
              <p:cNvSpPr>
                <a:spLocks noChangeArrowheads="1"/>
              </p:cNvSpPr>
              <p:nvPr/>
            </p:nvSpPr>
            <p:spPr bwMode="auto">
              <a:xfrm>
                <a:off x="4587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  1</a:t>
                </a:r>
                <a:endParaRPr lang="en-US" altLang="zh-CN"/>
              </a:p>
            </p:txBody>
          </p:sp>
          <p:sp>
            <p:nvSpPr>
              <p:cNvPr id="607242" name="Rectangle 10"/>
              <p:cNvSpPr>
                <a:spLocks noChangeArrowheads="1"/>
              </p:cNvSpPr>
              <p:nvPr/>
            </p:nvSpPr>
            <p:spPr bwMode="auto">
              <a:xfrm>
                <a:off x="4041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/>
                  <a:t>   0</a:t>
                </a:r>
                <a:endParaRPr lang="en-US" altLang="zh-CN"/>
              </a:p>
            </p:txBody>
          </p:sp>
          <p:sp>
            <p:nvSpPr>
              <p:cNvPr id="62484" name="Line 11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5" name="Line 12"/>
              <p:cNvSpPr>
                <a:spLocks noChangeShapeType="1"/>
              </p:cNvSpPr>
              <p:nvPr/>
            </p:nvSpPr>
            <p:spPr bwMode="auto">
              <a:xfrm>
                <a:off x="4041" y="2623"/>
                <a:ext cx="1092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6" name="Line 13"/>
              <p:cNvSpPr>
                <a:spLocks noChangeShapeType="1"/>
              </p:cNvSpPr>
              <p:nvPr/>
            </p:nvSpPr>
            <p:spPr bwMode="auto">
              <a:xfrm>
                <a:off x="4041" y="3158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7" name="Line 14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0" cy="1081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8" name="Line 15"/>
              <p:cNvSpPr>
                <a:spLocks noChangeShapeType="1"/>
              </p:cNvSpPr>
              <p:nvPr/>
            </p:nvSpPr>
            <p:spPr bwMode="auto">
              <a:xfrm>
                <a:off x="4587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9" name="Line 16"/>
              <p:cNvSpPr>
                <a:spLocks noChangeShapeType="1"/>
              </p:cNvSpPr>
              <p:nvPr/>
            </p:nvSpPr>
            <p:spPr bwMode="auto">
              <a:xfrm>
                <a:off x="5133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0" name="Line 17"/>
              <p:cNvSpPr>
                <a:spLocks noChangeShapeType="1"/>
              </p:cNvSpPr>
              <p:nvPr/>
            </p:nvSpPr>
            <p:spPr bwMode="auto">
              <a:xfrm flipH="1" flipV="1">
                <a:off x="3755" y="1780"/>
                <a:ext cx="286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475" name="Text Box 18"/>
            <p:cNvSpPr txBox="1">
              <a:spLocks noChangeArrowheads="1"/>
            </p:cNvSpPr>
            <p:nvPr/>
          </p:nvSpPr>
          <p:spPr bwMode="auto">
            <a:xfrm>
              <a:off x="662" y="2144"/>
              <a:ext cx="2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T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607251" name="Rectangle 19"/>
            <p:cNvSpPr>
              <a:spLocks noChangeArrowheads="1"/>
            </p:cNvSpPr>
            <p:nvPr/>
          </p:nvSpPr>
          <p:spPr bwMode="auto">
            <a:xfrm>
              <a:off x="480" y="2254"/>
              <a:ext cx="3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8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</a:t>
              </a:r>
              <a:endParaRPr lang="en-US" altLang="zh-CN" sz="28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2477" name="Text Box 20"/>
            <p:cNvSpPr txBox="1">
              <a:spLocks noChangeArrowheads="1"/>
            </p:cNvSpPr>
            <p:nvPr/>
          </p:nvSpPr>
          <p:spPr bwMode="auto">
            <a:xfrm>
              <a:off x="864" y="2149"/>
              <a:ext cx="10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Georgia" panose="02040502050405020303" pitchFamily="18" charset="0"/>
                </a:rPr>
                <a:t>   </a:t>
              </a:r>
              <a:r>
                <a:rPr lang="en-US" altLang="zh-CN" sz="2800">
                  <a:latin typeface="Times New Roman" panose="02020603050405020304" pitchFamily="18" charset="0"/>
                </a:rPr>
                <a:t>0        1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2478" name="Text Box 21"/>
            <p:cNvSpPr txBox="1">
              <a:spLocks noChangeArrowheads="1"/>
            </p:cNvSpPr>
            <p:nvPr/>
          </p:nvSpPr>
          <p:spPr bwMode="auto">
            <a:xfrm>
              <a:off x="637" y="2485"/>
              <a:ext cx="227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  <a:endParaRPr lang="en-US" altLang="zh-CN" sz="2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07254" name="Rectangle 22"/>
            <p:cNvSpPr>
              <a:spLocks noChangeArrowheads="1"/>
            </p:cNvSpPr>
            <p:nvPr/>
          </p:nvSpPr>
          <p:spPr bwMode="auto">
            <a:xfrm>
              <a:off x="1152" y="331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n+1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aphicFrame>
        <p:nvGraphicFramePr>
          <p:cNvPr id="62470" name="Object 23"/>
          <p:cNvGraphicFramePr>
            <a:graphicFrameLocks noChangeAspect="1"/>
          </p:cNvGraphicFramePr>
          <p:nvPr/>
        </p:nvGraphicFramePr>
        <p:xfrm>
          <a:off x="4191000" y="3505200"/>
          <a:ext cx="3816350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1" imgW="3667125" imgH="1152525" progId="Paint.Picture">
                  <p:embed/>
                </p:oleObj>
              </mc:Choice>
              <mc:Fallback>
                <p:oleObj name="位图图像" r:id="rId1" imgW="3667125" imgH="1152525" progId="Paint.Picture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505200"/>
                        <a:ext cx="3816350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56" name="Rectangle 24"/>
          <p:cNvSpPr>
            <a:spLocks noChangeArrowheads="1"/>
          </p:cNvSpPr>
          <p:nvPr/>
        </p:nvSpPr>
        <p:spPr bwMode="auto">
          <a:xfrm>
            <a:off x="5410200" y="2947988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状态图</a:t>
            </a:r>
            <a:endParaRPr lang="zh-CN" altLang="en-US" sz="24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607257" name="Rectangle 25"/>
          <p:cNvSpPr>
            <a:spLocks noChangeArrowheads="1"/>
          </p:cNvSpPr>
          <p:nvPr/>
        </p:nvSpPr>
        <p:spPr bwMode="auto">
          <a:xfrm>
            <a:off x="4648200" y="5292725"/>
            <a:ext cx="2376488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状态方程：</a:t>
            </a:r>
            <a:endParaRPr lang="zh-CN" alt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n+1 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T </a:t>
            </a:r>
            <a:r>
              <a:rPr lang="en-US" altLang="zh-CN" sz="3200" dirty="0">
                <a:latin typeface="宋体" panose="02010600030101010101" pitchFamily="2" charset="-122"/>
              </a:rPr>
              <a:t>⊕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n</a:t>
            </a:r>
            <a:endParaRPr lang="en-US" altLang="zh-CN" sz="2800" baseline="-2500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0B900-B93E-4225-8AAF-21C94AD8BDD8}" type="slidenum">
              <a:rPr lang="en-US" altLang="zh-CN"/>
            </a:fld>
            <a:endParaRPr lang="en-US" altLang="zh-CN"/>
          </a:p>
        </p:txBody>
      </p:sp>
      <p:sp>
        <p:nvSpPr>
          <p:cNvPr id="657410" name="Rectangle 2"/>
          <p:cNvSpPr>
            <a:spLocks noChangeArrowheads="1"/>
          </p:cNvSpPr>
          <p:nvPr/>
        </p:nvSpPr>
        <p:spPr bwMode="auto">
          <a:xfrm>
            <a:off x="609600" y="1143000"/>
            <a:ext cx="8153400" cy="509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526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098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同步时序电路的分析</a:t>
            </a:r>
            <a:endParaRPr lang="zh-CN" altLang="en-US" sz="32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给定一个逻辑电路，分析该电路完成的逻辑功能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分析过程：逻辑图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状态图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文字描述</a:t>
            </a:r>
            <a:endParaRPr lang="zh-CN" altLang="en-US" sz="32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6858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  <a:endParaRPr lang="zh-CN" altLang="en-US"/>
          </a:p>
        </p:txBody>
      </p:sp>
      <p:sp>
        <p:nvSpPr>
          <p:cNvPr id="657412" name="Rectangle 4"/>
          <p:cNvSpPr>
            <a:spLocks noChangeArrowheads="1"/>
          </p:cNvSpPr>
          <p:nvPr/>
        </p:nvSpPr>
        <p:spPr bwMode="auto">
          <a:xfrm>
            <a:off x="609600" y="3124200"/>
            <a:ext cx="85344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同步时序电路的设计</a:t>
            </a:r>
            <a:endParaRPr lang="zh-CN" altLang="en-US" sz="32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根据要求的逻辑功能，设计能够完成该逻辑功能的电路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同步时序电路设计过程是同步时序电路分析的逆过程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设计过程：文字描述 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状态图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逻辑图</a:t>
            </a:r>
            <a:endParaRPr lang="zh-CN" altLang="en-US" sz="3200" b="1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2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2BD92-5B0F-48DC-B5C7-62874995F872}" type="slidenum">
              <a:rPr lang="en-US" altLang="zh-CN"/>
            </a:fld>
            <a:endParaRPr lang="en-US" altLang="zh-CN"/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/>
              <a:t> </a:t>
            </a:r>
            <a:r>
              <a:rPr lang="zh-CN" altLang="en-US" sz="3600"/>
              <a:t>同步时序电路的分析与设计方法（</a:t>
            </a:r>
            <a:r>
              <a:rPr lang="en-US" altLang="zh-CN" sz="3600"/>
              <a:t>23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小结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时序电路的一般结构</a:t>
            </a:r>
            <a:endParaRPr lang="zh-CN" altLang="en-US" b="1" dirty="0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同步时序电路的特点</a:t>
            </a:r>
            <a:endParaRPr lang="zh-CN" altLang="en-US" b="1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/>
              <a:t>同一个</a:t>
            </a:r>
            <a:r>
              <a:rPr lang="en-US" altLang="zh-CN" b="1" dirty="0"/>
              <a:t>CP</a:t>
            </a:r>
            <a:r>
              <a:rPr lang="zh-CN" altLang="en-US" b="1" dirty="0"/>
              <a:t>；时钟到来，状态改变；一个脉冲只能改变一次状态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同步时序电路的分析工具</a:t>
            </a:r>
            <a:endParaRPr lang="zh-CN" altLang="en-US" b="1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/>
              <a:t>状态图、状态表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同步时序电路的基本概念</a:t>
            </a:r>
            <a:endParaRPr lang="zh-CN" altLang="en-US" b="1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/>
              <a:t>功能表、现态</a:t>
            </a:r>
            <a:r>
              <a:rPr lang="en-US" altLang="zh-CN" dirty="0"/>
              <a:t>Q</a:t>
            </a:r>
            <a:r>
              <a:rPr lang="en-US" altLang="zh-CN" baseline="-25000" dirty="0"/>
              <a:t>n </a:t>
            </a:r>
            <a:r>
              <a:rPr lang="zh-CN" altLang="en-US" baseline="-25000" dirty="0"/>
              <a:t>、</a:t>
            </a:r>
            <a:r>
              <a:rPr lang="zh-CN" altLang="en-US" b="1" dirty="0"/>
              <a:t>次态</a:t>
            </a:r>
            <a:r>
              <a:rPr lang="en-US" altLang="zh-CN" b="1" dirty="0"/>
              <a:t>Q</a:t>
            </a:r>
            <a:r>
              <a:rPr lang="en-US" altLang="zh-CN" b="1" baseline="-25000" dirty="0"/>
              <a:t>n+1</a:t>
            </a:r>
            <a:r>
              <a:rPr lang="zh-CN" altLang="en-US" b="1" baseline="-25000" dirty="0"/>
              <a:t>、</a:t>
            </a:r>
            <a:r>
              <a:rPr lang="zh-CN" altLang="en-US" baseline="-25000" dirty="0"/>
              <a:t> </a:t>
            </a:r>
            <a:r>
              <a:rPr lang="zh-CN" altLang="en-US" b="1" dirty="0"/>
              <a:t>状态表、状态图、状态方程、激励表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三种触发器的功能表、激励表、状态表、状态图与状态方程</a:t>
            </a:r>
            <a:endParaRPr lang="zh-CN" alt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0</TotalTime>
  <Words>9651</Words>
  <Application>WPS 演示</Application>
  <PresentationFormat>全屏显示(4:3)</PresentationFormat>
  <Paragraphs>2608</Paragraphs>
  <Slides>63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63</vt:i4>
      </vt:variant>
    </vt:vector>
  </HeadingPairs>
  <TitlesOfParts>
    <vt:vector size="91" baseType="lpstr">
      <vt:lpstr>Arial</vt:lpstr>
      <vt:lpstr>宋体</vt:lpstr>
      <vt:lpstr>Wingdings</vt:lpstr>
      <vt:lpstr>Tahoma</vt:lpstr>
      <vt:lpstr>华文行楷</vt:lpstr>
      <vt:lpstr>Georgia</vt:lpstr>
      <vt:lpstr>Symbol</vt:lpstr>
      <vt:lpstr>Times New Roman</vt:lpstr>
      <vt:lpstr>Wingdings 3</vt:lpstr>
      <vt:lpstr>微软雅黑</vt:lpstr>
      <vt:lpstr>Arial Unicode MS</vt:lpstr>
      <vt:lpstr>幼圆</vt:lpstr>
      <vt:lpstr>Monotype Corsiva</vt:lpstr>
      <vt:lpstr>Shimmer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第四章 同步时序电路</vt:lpstr>
      <vt:lpstr>PowerPoint 演示文稿</vt:lpstr>
      <vt:lpstr>触发器</vt:lpstr>
      <vt:lpstr>触发器</vt:lpstr>
      <vt:lpstr>负边沿触发的J-K触发器原理</vt:lpstr>
      <vt:lpstr>触发器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负边沿JK触发器——74ls112</vt:lpstr>
      <vt:lpstr>正边沿JK触发器——74ls109</vt:lpstr>
      <vt:lpstr>PowerPoint 演示文稿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PowerPoint 演示文稿</vt:lpstr>
      <vt:lpstr>触发器</vt:lpstr>
      <vt:lpstr>触发器</vt:lpstr>
      <vt:lpstr>触发器</vt:lpstr>
      <vt:lpstr>PowerPoint 演示文稿</vt:lpstr>
      <vt:lpstr>触发器</vt:lpstr>
      <vt:lpstr>触发器</vt:lpstr>
      <vt:lpstr>PowerPoint 演示文稿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第三章 同步时序电路</vt:lpstr>
      <vt:lpstr>同步时序电路的分析与设计方法（1）</vt:lpstr>
      <vt:lpstr>同步时序电路的分析与设计方法（2）</vt:lpstr>
      <vt:lpstr>同步时序电路的分析与设计方法（3）</vt:lpstr>
      <vt:lpstr>同步时序电路的分析与设计方法（4）</vt:lpstr>
      <vt:lpstr>同步时序电路的分析与设计方法（5）</vt:lpstr>
      <vt:lpstr>同步时序电路的分析与设计方法（6）</vt:lpstr>
      <vt:lpstr>同步时序电路的分析与设计方法（7）</vt:lpstr>
      <vt:lpstr>同步时序电路的分析与设计方法（8）</vt:lpstr>
      <vt:lpstr>同步时序电路的分析与设计方法（9）</vt:lpstr>
      <vt:lpstr>同步时序电路的分析与设计方法（10）</vt:lpstr>
      <vt:lpstr>同步时序电路的分析与设计方法</vt:lpstr>
      <vt:lpstr> 同步时序电路的分析与设计方法（23）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张芝源(2024010701)</cp:lastModifiedBy>
  <cp:revision>361</cp:revision>
  <dcterms:created xsi:type="dcterms:W3CDTF">2002-01-04T07:22:00Z</dcterms:created>
  <dcterms:modified xsi:type="dcterms:W3CDTF">2026-06-07T09:38:55Z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AD641DD46F6E45099B0C1B0AECA2C956_12</vt:lpwstr>
  </property>
</Properties>
</file>