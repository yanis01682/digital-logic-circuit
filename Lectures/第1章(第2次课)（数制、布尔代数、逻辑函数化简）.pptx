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416" r:id="rId5"/>
    <p:sldId id="417" r:id="rId6"/>
    <p:sldId id="258" r:id="rId7"/>
    <p:sldId id="259" r:id="rId8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9" r:id="rId18"/>
    <p:sldId id="268" r:id="rId19"/>
    <p:sldId id="270" r:id="rId20"/>
    <p:sldId id="271" r:id="rId21"/>
    <p:sldId id="272" r:id="rId22"/>
    <p:sldId id="273" r:id="rId23"/>
    <p:sldId id="274" r:id="rId24"/>
    <p:sldId id="419" r:id="rId25"/>
    <p:sldId id="420" r:id="rId26"/>
    <p:sldId id="421" r:id="rId27"/>
    <p:sldId id="422" r:id="rId28"/>
    <p:sldId id="423" r:id="rId29"/>
    <p:sldId id="424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413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406" r:id="rId70"/>
    <p:sldId id="319" r:id="rId71"/>
    <p:sldId id="320" r:id="rId72"/>
    <p:sldId id="405" r:id="rId73"/>
    <p:sldId id="321" r:id="rId74"/>
    <p:sldId id="322" r:id="rId75"/>
    <p:sldId id="323" r:id="rId76"/>
    <p:sldId id="412" r:id="rId7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28B6"/>
    <a:srgbClr val="191652"/>
    <a:srgbClr val="1F26A9"/>
    <a:srgbClr val="404FE0"/>
    <a:srgbClr val="3855E4"/>
    <a:srgbClr val="3819E4"/>
    <a:srgbClr val="6992ED"/>
    <a:srgbClr val="5BA3F3"/>
    <a:srgbClr val="8BBDF5"/>
    <a:srgbClr val="CAFD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46" autoAdjust="0"/>
    <p:restoredTop sz="86246" autoAdjust="0"/>
  </p:normalViewPr>
  <p:slideViewPr>
    <p:cSldViewPr showGuides="1">
      <p:cViewPr varScale="1">
        <p:scale>
          <a:sx n="54" d="100"/>
          <a:sy n="54" d="100"/>
        </p:scale>
        <p:origin x="1520" y="48"/>
      </p:cViewPr>
      <p:guideLst>
        <p:guide orient="horz" pos="2160"/>
        <p:guide pos="384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  <p:sld r:id="rId39" collapse="1"/>
      <p:sld r:id="rId40" collapse="1"/>
      <p:sld r:id="rId41" collapse="1"/>
      <p:sld r:id="rId42" collapse="1"/>
      <p:sld r:id="rId43" collapse="1"/>
      <p:sld r:id="rId44" collapse="1"/>
      <p:sld r:id="rId45" collapse="1"/>
      <p:sld r:id="rId46" collapse="1"/>
      <p:sld r:id="rId47" collapse="1"/>
      <p:sld r:id="rId48" collapse="1"/>
      <p:sld r:id="rId49" collapse="1"/>
      <p:sld r:id="rId50" collapse="1"/>
      <p:sld r:id="rId51" collapse="1"/>
      <p:sld r:id="rId52" collapse="1"/>
      <p:sld r:id="rId53" collapse="1"/>
      <p:sld r:id="rId54" collapse="1"/>
      <p:sld r:id="rId55" collapse="1"/>
      <p:sld r:id="rId56" collapse="1"/>
      <p:sld r:id="rId57" collapse="1"/>
      <p:sld r:id="rId58" collapse="1"/>
      <p:sld r:id="rId59" collapse="1"/>
      <p:sld r:id="rId60" collapse="1"/>
      <p:sld r:id="rId61" collapse="1"/>
      <p:sld r:id="rId6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0" Type="http://schemas.openxmlformats.org/officeDocument/2006/relationships/tableStyles" Target="tableStyles.xml"/><Relationship Id="rId8" Type="http://schemas.openxmlformats.org/officeDocument/2006/relationships/slide" Target="slides/slide6.xml"/><Relationship Id="rId79" Type="http://schemas.openxmlformats.org/officeDocument/2006/relationships/viewProps" Target="viewProps.xml"/><Relationship Id="rId78" Type="http://schemas.openxmlformats.org/officeDocument/2006/relationships/presProps" Target="presProps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9" Type="http://schemas.openxmlformats.org/officeDocument/2006/relationships/slide" Target="slides/slide12.xml"/><Relationship Id="rId8" Type="http://schemas.openxmlformats.org/officeDocument/2006/relationships/slide" Target="slides/slide11.xml"/><Relationship Id="rId7" Type="http://schemas.openxmlformats.org/officeDocument/2006/relationships/slide" Target="slides/slide10.xml"/><Relationship Id="rId62" Type="http://schemas.openxmlformats.org/officeDocument/2006/relationships/slide" Target="slides/slide73.xml"/><Relationship Id="rId61" Type="http://schemas.openxmlformats.org/officeDocument/2006/relationships/slide" Target="slides/slide72.xml"/><Relationship Id="rId60" Type="http://schemas.openxmlformats.org/officeDocument/2006/relationships/slide" Target="slides/slide71.xml"/><Relationship Id="rId6" Type="http://schemas.openxmlformats.org/officeDocument/2006/relationships/slide" Target="slides/slide9.xml"/><Relationship Id="rId59" Type="http://schemas.openxmlformats.org/officeDocument/2006/relationships/slide" Target="slides/slide69.xml"/><Relationship Id="rId58" Type="http://schemas.openxmlformats.org/officeDocument/2006/relationships/slide" Target="slides/slide68.xml"/><Relationship Id="rId57" Type="http://schemas.openxmlformats.org/officeDocument/2006/relationships/slide" Target="slides/slide66.xml"/><Relationship Id="rId56" Type="http://schemas.openxmlformats.org/officeDocument/2006/relationships/slide" Target="slides/slide65.xml"/><Relationship Id="rId55" Type="http://schemas.openxmlformats.org/officeDocument/2006/relationships/slide" Target="slides/slide64.xml"/><Relationship Id="rId54" Type="http://schemas.openxmlformats.org/officeDocument/2006/relationships/slide" Target="slides/slide63.xml"/><Relationship Id="rId53" Type="http://schemas.openxmlformats.org/officeDocument/2006/relationships/slide" Target="slides/slide62.xml"/><Relationship Id="rId52" Type="http://schemas.openxmlformats.org/officeDocument/2006/relationships/slide" Target="slides/slide61.xml"/><Relationship Id="rId51" Type="http://schemas.openxmlformats.org/officeDocument/2006/relationships/slide" Target="slides/slide60.xml"/><Relationship Id="rId50" Type="http://schemas.openxmlformats.org/officeDocument/2006/relationships/slide" Target="slides/slide59.xml"/><Relationship Id="rId5" Type="http://schemas.openxmlformats.org/officeDocument/2006/relationships/slide" Target="slides/slide8.xml"/><Relationship Id="rId49" Type="http://schemas.openxmlformats.org/officeDocument/2006/relationships/slide" Target="slides/slide58.xml"/><Relationship Id="rId48" Type="http://schemas.openxmlformats.org/officeDocument/2006/relationships/slide" Target="slides/slide57.xml"/><Relationship Id="rId47" Type="http://schemas.openxmlformats.org/officeDocument/2006/relationships/slide" Target="slides/slide55.xml"/><Relationship Id="rId46" Type="http://schemas.openxmlformats.org/officeDocument/2006/relationships/slide" Target="slides/slide54.xml"/><Relationship Id="rId45" Type="http://schemas.openxmlformats.org/officeDocument/2006/relationships/slide" Target="slides/slide53.xml"/><Relationship Id="rId44" Type="http://schemas.openxmlformats.org/officeDocument/2006/relationships/slide" Target="slides/slide52.xml"/><Relationship Id="rId43" Type="http://schemas.openxmlformats.org/officeDocument/2006/relationships/slide" Target="slides/slide51.xml"/><Relationship Id="rId42" Type="http://schemas.openxmlformats.org/officeDocument/2006/relationships/slide" Target="slides/slide50.xml"/><Relationship Id="rId41" Type="http://schemas.openxmlformats.org/officeDocument/2006/relationships/slide" Target="slides/slide47.xml"/><Relationship Id="rId40" Type="http://schemas.openxmlformats.org/officeDocument/2006/relationships/slide" Target="slides/slide46.xml"/><Relationship Id="rId4" Type="http://schemas.openxmlformats.org/officeDocument/2006/relationships/slide" Target="slides/slide7.xml"/><Relationship Id="rId39" Type="http://schemas.openxmlformats.org/officeDocument/2006/relationships/slide" Target="slides/slide45.xml"/><Relationship Id="rId38" Type="http://schemas.openxmlformats.org/officeDocument/2006/relationships/slide" Target="slides/slide44.xml"/><Relationship Id="rId37" Type="http://schemas.openxmlformats.org/officeDocument/2006/relationships/slide" Target="slides/slide43.xml"/><Relationship Id="rId36" Type="http://schemas.openxmlformats.org/officeDocument/2006/relationships/slide" Target="slides/slide42.xml"/><Relationship Id="rId35" Type="http://schemas.openxmlformats.org/officeDocument/2006/relationships/slide" Target="slides/slide41.xml"/><Relationship Id="rId34" Type="http://schemas.openxmlformats.org/officeDocument/2006/relationships/slide" Target="slides/slide40.xml"/><Relationship Id="rId33" Type="http://schemas.openxmlformats.org/officeDocument/2006/relationships/slide" Target="slides/slide38.xml"/><Relationship Id="rId32" Type="http://schemas.openxmlformats.org/officeDocument/2006/relationships/slide" Target="slides/slide37.xml"/><Relationship Id="rId31" Type="http://schemas.openxmlformats.org/officeDocument/2006/relationships/slide" Target="slides/slide36.xml"/><Relationship Id="rId30" Type="http://schemas.openxmlformats.org/officeDocument/2006/relationships/slide" Target="slides/slide35.xml"/><Relationship Id="rId3" Type="http://schemas.openxmlformats.org/officeDocument/2006/relationships/slide" Target="slides/slide6.xml"/><Relationship Id="rId29" Type="http://schemas.openxmlformats.org/officeDocument/2006/relationships/slide" Target="slides/slide34.xml"/><Relationship Id="rId28" Type="http://schemas.openxmlformats.org/officeDocument/2006/relationships/slide" Target="slides/slide33.xml"/><Relationship Id="rId27" Type="http://schemas.openxmlformats.org/officeDocument/2006/relationships/slide" Target="slides/slide32.xml"/><Relationship Id="rId26" Type="http://schemas.openxmlformats.org/officeDocument/2006/relationships/slide" Target="slides/slide31.xml"/><Relationship Id="rId25" Type="http://schemas.openxmlformats.org/officeDocument/2006/relationships/slide" Target="slides/slide30.xml"/><Relationship Id="rId24" Type="http://schemas.openxmlformats.org/officeDocument/2006/relationships/slide" Target="slides/slide29.xml"/><Relationship Id="rId23" Type="http://schemas.openxmlformats.org/officeDocument/2006/relationships/slide" Target="slides/slide28.xml"/><Relationship Id="rId22" Type="http://schemas.openxmlformats.org/officeDocument/2006/relationships/slide" Target="slides/slide27.xml"/><Relationship Id="rId21" Type="http://schemas.openxmlformats.org/officeDocument/2006/relationships/slide" Target="slides/slide26.xml"/><Relationship Id="rId20" Type="http://schemas.openxmlformats.org/officeDocument/2006/relationships/slide" Target="slides/slide25.xml"/><Relationship Id="rId2" Type="http://schemas.openxmlformats.org/officeDocument/2006/relationships/slide" Target="slides/slide5.xml"/><Relationship Id="rId19" Type="http://schemas.openxmlformats.org/officeDocument/2006/relationships/slide" Target="slides/slide24.xml"/><Relationship Id="rId18" Type="http://schemas.openxmlformats.org/officeDocument/2006/relationships/slide" Target="slides/slide23.xml"/><Relationship Id="rId17" Type="http://schemas.openxmlformats.org/officeDocument/2006/relationships/slide" Target="slides/slide22.xml"/><Relationship Id="rId16" Type="http://schemas.openxmlformats.org/officeDocument/2006/relationships/slide" Target="slides/slide21.xml"/><Relationship Id="rId15" Type="http://schemas.openxmlformats.org/officeDocument/2006/relationships/slide" Target="slides/slide20.xml"/><Relationship Id="rId14" Type="http://schemas.openxmlformats.org/officeDocument/2006/relationships/slide" Target="slides/slide18.xml"/><Relationship Id="rId13" Type="http://schemas.openxmlformats.org/officeDocument/2006/relationships/slide" Target="slides/slide17.xml"/><Relationship Id="rId12" Type="http://schemas.openxmlformats.org/officeDocument/2006/relationships/slide" Target="slides/slide15.xml"/><Relationship Id="rId11" Type="http://schemas.openxmlformats.org/officeDocument/2006/relationships/slide" Target="slides/slide14.xml"/><Relationship Id="rId10" Type="http://schemas.openxmlformats.org/officeDocument/2006/relationships/slide" Target="slides/slide13.xml"/><Relationship Id="rId1" Type="http://schemas.openxmlformats.org/officeDocument/2006/relationships/slide" Target="slides/slide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19.vml.rels><?xml version="1.0" encoding="UTF-8" standalone="yes"?>
<Relationships xmlns="http://schemas.openxmlformats.org/package/2006/relationships"><Relationship Id="rId5" Type="http://schemas.openxmlformats.org/officeDocument/2006/relationships/image" Target="../media/image65.wmf"/><Relationship Id="rId4" Type="http://schemas.openxmlformats.org/officeDocument/2006/relationships/image" Target="../media/image64.wmf"/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wmf"/></Relationships>
</file>

<file path=ppt/drawings/_rels/vmlDrawing23.vml.rels><?xml version="1.0" encoding="UTF-8" standalone="yes"?>
<Relationships xmlns="http://schemas.openxmlformats.org/package/2006/relationships"><Relationship Id="rId5" Type="http://schemas.openxmlformats.org/officeDocument/2006/relationships/image" Target="../media/image80.wmf"/><Relationship Id="rId4" Type="http://schemas.openxmlformats.org/officeDocument/2006/relationships/image" Target="../media/image79.wmf"/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2.wmf"/><Relationship Id="rId1" Type="http://schemas.openxmlformats.org/officeDocument/2006/relationships/image" Target="../media/image81.wmf"/></Relationships>
</file>

<file path=ppt/drawings/_rels/vmlDrawing25.vml.rels><?xml version="1.0" encoding="UTF-8" standalone="yes"?>
<Relationships xmlns="http://schemas.openxmlformats.org/package/2006/relationships"><Relationship Id="rId5" Type="http://schemas.openxmlformats.org/officeDocument/2006/relationships/image" Target="../media/image87.wmf"/><Relationship Id="rId4" Type="http://schemas.openxmlformats.org/officeDocument/2006/relationships/image" Target="../media/image86.wmf"/><Relationship Id="rId3" Type="http://schemas.openxmlformats.org/officeDocument/2006/relationships/image" Target="../media/image85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/Relationships>
</file>

<file path=ppt/drawings/_rels/vmlDrawing26.vml.rels><?xml version="1.0" encoding="UTF-8" standalone="yes"?>
<Relationships xmlns="http://schemas.openxmlformats.org/package/2006/relationships"><Relationship Id="rId5" Type="http://schemas.openxmlformats.org/officeDocument/2006/relationships/image" Target="../media/image92.wmf"/><Relationship Id="rId4" Type="http://schemas.openxmlformats.org/officeDocument/2006/relationships/image" Target="../media/image91.wmf"/><Relationship Id="rId3" Type="http://schemas.openxmlformats.org/officeDocument/2006/relationships/image" Target="../media/image90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/Relationships>
</file>

<file path=ppt/drawings/_rels/vmlDrawing27.vml.rels><?xml version="1.0" encoding="UTF-8" standalone="yes"?>
<Relationships xmlns="http://schemas.openxmlformats.org/package/2006/relationships"><Relationship Id="rId5" Type="http://schemas.openxmlformats.org/officeDocument/2006/relationships/image" Target="../media/image97.wmf"/><Relationship Id="rId4" Type="http://schemas.openxmlformats.org/officeDocument/2006/relationships/image" Target="../media/image96.wmf"/><Relationship Id="rId3" Type="http://schemas.openxmlformats.org/officeDocument/2006/relationships/image" Target="../media/image95.wmf"/><Relationship Id="rId2" Type="http://schemas.openxmlformats.org/officeDocument/2006/relationships/image" Target="../media/image94.wmf"/><Relationship Id="rId1" Type="http://schemas.openxmlformats.org/officeDocument/2006/relationships/image" Target="../media/image93.w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99.wmf"/><Relationship Id="rId1" Type="http://schemas.openxmlformats.org/officeDocument/2006/relationships/image" Target="../media/image98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0.w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wmf"/><Relationship Id="rId1" Type="http://schemas.openxmlformats.org/officeDocument/2006/relationships/image" Target="../media/image101.wmf"/></Relationships>
</file>

<file path=ppt/drawings/_rels/vmlDrawing31.vml.rels><?xml version="1.0" encoding="UTF-8" standalone="yes"?>
<Relationships xmlns="http://schemas.openxmlformats.org/package/2006/relationships"><Relationship Id="rId6" Type="http://schemas.openxmlformats.org/officeDocument/2006/relationships/image" Target="../media/image108.wmf"/><Relationship Id="rId5" Type="http://schemas.openxmlformats.org/officeDocument/2006/relationships/image" Target="../media/image107.wmf"/><Relationship Id="rId4" Type="http://schemas.openxmlformats.org/officeDocument/2006/relationships/image" Target="../media/image106.wmf"/><Relationship Id="rId3" Type="http://schemas.openxmlformats.org/officeDocument/2006/relationships/image" Target="../media/image105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2068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2068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068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68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48E3F28C-D99B-46F9-A990-A4AE384149EF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E3F28C-D99B-46F9-A990-A4AE384149E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2421</a:t>
            </a:r>
            <a:r>
              <a:rPr lang="zh-CN" altLang="en-US" dirty="0"/>
              <a:t>的编码码表和教材上有所不同，充分说明了可以有多种编码方案。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E3F28C-D99B-46F9-A990-A4AE384149E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格雷码：可靠性高，广泛用于输入输出。</a:t>
            </a:r>
            <a:br>
              <a:rPr lang="en-US" altLang="zh-CN" dirty="0"/>
            </a:br>
            <a:r>
              <a:rPr lang="zh-CN" altLang="en-US" dirty="0"/>
              <a:t>格雷码</a:t>
            </a:r>
            <a:r>
              <a:rPr lang="en-US" altLang="zh-CN" dirty="0"/>
              <a:t>1</a:t>
            </a:r>
            <a:r>
              <a:rPr lang="zh-CN" altLang="en-US" dirty="0"/>
              <a:t>：中央对称</a:t>
            </a:r>
            <a:endParaRPr lang="en-US" altLang="zh-CN" dirty="0"/>
          </a:p>
          <a:p>
            <a:r>
              <a:rPr lang="zh-CN" altLang="en-US" dirty="0"/>
              <a:t>格雷码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0-9</a:t>
            </a:r>
            <a:r>
              <a:rPr lang="zh-CN" altLang="en-US" dirty="0"/>
              <a:t>可循环</a:t>
            </a:r>
            <a:br>
              <a:rPr lang="en-US" altLang="zh-CN" dirty="0"/>
            </a:br>
            <a:r>
              <a:rPr lang="zh-CN" altLang="en-US" dirty="0"/>
              <a:t>典型格雷码，</a:t>
            </a:r>
            <a:r>
              <a:rPr lang="en-US" altLang="zh-CN" dirty="0"/>
              <a:t>15</a:t>
            </a:r>
            <a:r>
              <a:rPr lang="zh-CN" altLang="en-US" dirty="0"/>
              <a:t>对应为</a:t>
            </a:r>
            <a:r>
              <a:rPr lang="en-US" altLang="zh-CN" dirty="0"/>
              <a:t>1000</a:t>
            </a:r>
            <a:r>
              <a:rPr lang="zh-CN" altLang="en-US" dirty="0"/>
              <a:t>实现</a:t>
            </a:r>
            <a:r>
              <a:rPr lang="en-US" altLang="zh-CN" dirty="0"/>
              <a:t>0-15</a:t>
            </a:r>
            <a:r>
              <a:rPr lang="zh-CN" altLang="en-US" dirty="0"/>
              <a:t>可循环，可以扩展到任意大的数字，不需要码表，直接计算可以获得格雷码与二进制编码之间的双向映射关系。</a:t>
            </a:r>
            <a:br>
              <a:rPr lang="en-US" altLang="zh-CN" dirty="0"/>
            </a:br>
            <a:r>
              <a:rPr lang="zh-CN" altLang="en-US" dirty="0"/>
              <a:t>修改格雷码，既循环，又中央对称，同时其</a:t>
            </a:r>
            <a:r>
              <a:rPr lang="en-US" altLang="zh-CN" dirty="0"/>
              <a:t>0</a:t>
            </a:r>
            <a:r>
              <a:rPr lang="zh-CN" altLang="en-US" dirty="0"/>
              <a:t>对应典型格雷码的</a:t>
            </a:r>
            <a:r>
              <a:rPr lang="en-US" altLang="zh-CN" dirty="0"/>
              <a:t>3</a:t>
            </a:r>
            <a:r>
              <a:rPr lang="zh-CN" altLang="en-US" dirty="0"/>
              <a:t>，所有又称余</a:t>
            </a:r>
            <a:r>
              <a:rPr lang="en-US" altLang="zh-CN" dirty="0"/>
              <a:t>3</a:t>
            </a:r>
            <a:r>
              <a:rPr lang="zh-CN" altLang="en-US" dirty="0"/>
              <a:t>循环码。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E3F28C-D99B-46F9-A990-A4AE384149E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术语“布尔代数”得名于乔治</a:t>
            </a:r>
            <a:r>
              <a:rPr lang="en-US" altLang="zh-CN" dirty="0"/>
              <a:t>·</a:t>
            </a:r>
            <a:r>
              <a:rPr lang="zh-CN" altLang="en-US" dirty="0"/>
              <a:t>布尔（</a:t>
            </a:r>
            <a:r>
              <a:rPr lang="en-US" altLang="zh-CN" dirty="0"/>
              <a:t>1815–1864</a:t>
            </a:r>
            <a:r>
              <a:rPr lang="zh-CN" altLang="en-US" dirty="0"/>
              <a:t>），他是自学成材的英国数学家。他最初在</a:t>
            </a:r>
            <a:r>
              <a:rPr lang="en-US" altLang="zh-CN" dirty="0"/>
              <a:t>1847</a:t>
            </a:r>
            <a:r>
              <a:rPr lang="zh-CN" altLang="en-US" dirty="0"/>
              <a:t>年出版的一个小册子</a:t>
            </a:r>
            <a:r>
              <a:rPr lang="en-US" altLang="zh-CN" dirty="0"/>
              <a:t>《</a:t>
            </a:r>
            <a:r>
              <a:rPr lang="zh-CN" altLang="en-US" dirty="0"/>
              <a:t>逻辑的数学分析</a:t>
            </a:r>
            <a:r>
              <a:rPr lang="en-US" altLang="zh-CN" dirty="0"/>
              <a:t>》</a:t>
            </a:r>
            <a:r>
              <a:rPr lang="zh-CN" altLang="en-US" dirty="0"/>
              <a:t>中介入了代数逻辑系统，用来响应在奥古斯都</a:t>
            </a:r>
            <a:r>
              <a:rPr lang="en-US" altLang="zh-CN" dirty="0"/>
              <a:t>·</a:t>
            </a:r>
            <a:r>
              <a:rPr lang="zh-CN" altLang="en-US" dirty="0"/>
              <a:t>德</a:t>
            </a:r>
            <a:r>
              <a:rPr lang="en-US" altLang="zh-CN" dirty="0"/>
              <a:t>·</a:t>
            </a:r>
            <a:r>
              <a:rPr lang="zh-CN" altLang="en-US" dirty="0"/>
              <a:t>摩根和</a:t>
            </a:r>
            <a:r>
              <a:rPr lang="en-US" altLang="zh-CN" dirty="0"/>
              <a:t>William Hamilton</a:t>
            </a:r>
            <a:r>
              <a:rPr lang="zh-CN" altLang="en-US" dirty="0"/>
              <a:t>之间的公开论战，后来又出现在</a:t>
            </a:r>
            <a:r>
              <a:rPr lang="en-US" altLang="zh-CN" dirty="0"/>
              <a:t>1854</a:t>
            </a:r>
            <a:r>
              <a:rPr lang="zh-CN" altLang="en-US" dirty="0"/>
              <a:t>年出版的更充实的书</a:t>
            </a:r>
            <a:r>
              <a:rPr lang="en-US" altLang="zh-CN" dirty="0"/>
              <a:t>《</a:t>
            </a:r>
            <a:r>
              <a:rPr lang="zh-CN" altLang="en-US" dirty="0"/>
              <a:t>思维规律</a:t>
            </a:r>
            <a:r>
              <a:rPr lang="en-US" altLang="zh-CN" dirty="0"/>
              <a:t>》</a:t>
            </a:r>
            <a:r>
              <a:rPr lang="zh-CN" altLang="en-US"/>
              <a:t>中。布尔的公式化在一些重要方面不同于上述描述。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E3F28C-D99B-46F9-A990-A4AE384149E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99DC8E-3E0C-4B83-A882-B6D750375AC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3F28C-D99B-46F9-A990-A4AE384149E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2400"/>
          </a:p>
        </p:txBody>
      </p:sp>
      <p:sp useBgFill="1">
        <p:nvSpPr>
          <p:cNvPr id="13" name="圆角矩形 12"/>
          <p:cNvSpPr/>
          <p:nvPr/>
        </p:nvSpPr>
        <p:spPr>
          <a:xfrm>
            <a:off x="65313" y="69771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400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3B061D8E-4950-4DB0-BB32-CFD201569AB6}" type="slidenum">
              <a:rPr lang="en-US" altLang="zh-CN" smtClean="0"/>
            </a:fld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62936" y="1449319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400"/>
          </a:p>
        </p:txBody>
      </p:sp>
      <p:sp>
        <p:nvSpPr>
          <p:cNvPr id="10" name="矩形 9"/>
          <p:cNvSpPr/>
          <p:nvPr/>
        </p:nvSpPr>
        <p:spPr>
          <a:xfrm>
            <a:off x="62936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400"/>
          </a:p>
        </p:txBody>
      </p:sp>
      <p:sp>
        <p:nvSpPr>
          <p:cNvPr id="11" name="矩形 10"/>
          <p:cNvSpPr/>
          <p:nvPr/>
        </p:nvSpPr>
        <p:spPr>
          <a:xfrm>
            <a:off x="62936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40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7200" y="1505946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3996" y="274638"/>
            <a:ext cx="7772400" cy="9857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5E2-CB68-42E6-A5AF-574D39E186A5}" type="slidenum">
              <a:rPr lang="en-US" altLang="zh-CN" smtClean="0"/>
            </a:fld>
            <a:endParaRPr lang="en-US" altLang="zh-CN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363996" y="1412776"/>
            <a:ext cx="7772400" cy="4607024"/>
          </a:xfrm>
        </p:spPr>
        <p:txBody>
          <a:bodyPr vert="horz"/>
          <a:lstStyle>
            <a:lvl1pPr>
              <a:defRPr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612140" indent="-360045">
              <a:buFont typeface="Wingdings" panose="05000000000000000000" pitchFamily="2" charset="2"/>
              <a:buChar char="Ø"/>
              <a:defRPr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864235" indent="-360045">
              <a:buFont typeface="Wingdings" panose="05000000000000000000" pitchFamily="2" charset="2"/>
              <a:buChar char="ü"/>
              <a:defRPr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>
              <a:defRPr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>
              <a:defRPr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2400"/>
          </a:p>
        </p:txBody>
      </p:sp>
      <p:sp useBgFill="1">
        <p:nvSpPr>
          <p:cNvPr id="8" name="圆角矩形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400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359532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359532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  <a:p>
            <a:pPr lvl="1" eaLnBrk="1" latinLnBrk="0" hangingPunct="1"/>
            <a:r>
              <a:rPr kumimoji="0" lang="zh-CN" altLang="en-US"/>
              <a:t>第二级</a:t>
            </a:r>
            <a:endParaRPr kumimoji="0" lang="zh-CN" altLang="en-US"/>
          </a:p>
          <a:p>
            <a:pPr lvl="2" eaLnBrk="1" latinLnBrk="0" hangingPunct="1"/>
            <a:r>
              <a:rPr kumimoji="0" lang="zh-CN" altLang="en-US"/>
              <a:t>第三级</a:t>
            </a:r>
            <a:endParaRPr kumimoji="0" lang="zh-CN" altLang="en-US"/>
          </a:p>
          <a:p>
            <a:pPr lvl="3" eaLnBrk="1" latinLnBrk="0" hangingPunct="1"/>
            <a:r>
              <a:rPr kumimoji="0" lang="zh-CN" altLang="en-US"/>
              <a:t>第四级</a:t>
            </a:r>
            <a:endParaRPr kumimoji="0" lang="zh-CN" altLang="en-US"/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172201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46305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109AAC4A-EDF0-4754-98EB-862E1BF9EADE}" type="slidenum">
              <a:rPr lang="en-US" altLang="zh-CN" smtClean="0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slow">
    <p:pull/>
  </p:transition>
  <p:hf hdr="0" ftr="0" dt="0"/>
  <p:txStyles>
    <p:titleStyle>
      <a:lvl1pPr algn="l" rtl="0" eaLnBrk="1" latinLnBrk="0" hangingPunct="1">
        <a:spcBef>
          <a:spcPct val="0"/>
        </a:spcBef>
        <a:buNone/>
        <a:defRPr kumimoji="0" sz="4000" b="1" kern="120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j-cs"/>
        </a:defRPr>
      </a:lvl1pPr>
    </p:titleStyle>
    <p:bodyStyle>
      <a:lvl1pPr marL="360045" indent="-360045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" panose="05000000000000000000" pitchFamily="2" charset="2"/>
        <a:buChar char="n"/>
        <a:defRPr kumimoji="0" sz="3600" b="1" kern="120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1pPr>
      <a:lvl2pPr marL="612140" indent="-360045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" panose="05000000000000000000" pitchFamily="2" charset="2"/>
        <a:buChar char="p"/>
        <a:defRPr kumimoji="0" sz="3200" b="1" kern="120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2pPr>
      <a:lvl3pPr marL="864235" indent="-360045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" panose="05000000000000000000" pitchFamily="2" charset="2"/>
        <a:buChar char="l"/>
        <a:defRPr kumimoji="0" sz="2800" kern="120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wmf"/><Relationship Id="rId1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7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6.wmf"/><Relationship Id="rId1" Type="http://schemas.openxmlformats.org/officeDocument/2006/relationships/oleObject" Target="../embeddings/oleObject4.bin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9.wmf"/><Relationship Id="rId1" Type="http://schemas.openxmlformats.org/officeDocument/2006/relationships/oleObject" Target="../embeddings/oleObject7.bin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11.wmf"/><Relationship Id="rId1" Type="http://schemas.openxmlformats.org/officeDocument/2006/relationships/oleObject" Target="../embeddings/oleObject9.bin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13.wmf"/><Relationship Id="rId1" Type="http://schemas.openxmlformats.org/officeDocument/2006/relationships/oleObject" Target="../embeddings/oleObject11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wmf"/><Relationship Id="rId1" Type="http://schemas.openxmlformats.org/officeDocument/2006/relationships/oleObject" Target="../embeddings/oleObject13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17.wmf"/><Relationship Id="rId1" Type="http://schemas.openxmlformats.org/officeDocument/2006/relationships/oleObject" Target="../embeddings/oleObject14.bin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wmf"/><Relationship Id="rId3" Type="http://schemas.openxmlformats.org/officeDocument/2006/relationships/oleObject" Target="../embeddings/oleObject17.bin"/><Relationship Id="rId2" Type="http://schemas.openxmlformats.org/officeDocument/2006/relationships/image" Target="../media/image19.wmf"/><Relationship Id="rId1" Type="http://schemas.openxmlformats.org/officeDocument/2006/relationships/oleObject" Target="../embeddings/oleObject16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wmf"/><Relationship Id="rId1" Type="http://schemas.openxmlformats.org/officeDocument/2006/relationships/oleObject" Target="../embeddings/oleObject18.bin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wmf"/><Relationship Id="rId1" Type="http://schemas.openxmlformats.org/officeDocument/2006/relationships/oleObject" Target="../embeddings/oleObject19.bin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wmf"/><Relationship Id="rId1" Type="http://schemas.openxmlformats.org/officeDocument/2006/relationships/oleObject" Target="../embeddings/oleObject20.bin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wmf"/><Relationship Id="rId1" Type="http://schemas.openxmlformats.org/officeDocument/2006/relationships/oleObject" Target="../embeddings/oleObject21.bin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wmf"/><Relationship Id="rId1" Type="http://schemas.openxmlformats.org/officeDocument/2006/relationships/oleObject" Target="../embeddings/oleObject22.bin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wmf"/><Relationship Id="rId1" Type="http://schemas.openxmlformats.org/officeDocument/2006/relationships/oleObject" Target="../embeddings/oleObject23.bin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7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9.wmf"/><Relationship Id="rId3" Type="http://schemas.openxmlformats.org/officeDocument/2006/relationships/oleObject" Target="../embeddings/oleObject25.bin"/><Relationship Id="rId2" Type="http://schemas.openxmlformats.org/officeDocument/2006/relationships/image" Target="../media/image28.wmf"/><Relationship Id="rId1" Type="http://schemas.openxmlformats.org/officeDocument/2006/relationships/oleObject" Target="../embeddings/oleObject24.bin"/></Relationships>
</file>

<file path=ppt/slides/_rels/slide4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8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1.wmf"/><Relationship Id="rId3" Type="http://schemas.openxmlformats.org/officeDocument/2006/relationships/oleObject" Target="../embeddings/oleObject27.bin"/><Relationship Id="rId2" Type="http://schemas.openxmlformats.org/officeDocument/2006/relationships/image" Target="../media/image30.wmf"/><Relationship Id="rId1" Type="http://schemas.openxmlformats.org/officeDocument/2006/relationships/oleObject" Target="../embeddings/oleObject26.bin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GIF"/><Relationship Id="rId8" Type="http://schemas.openxmlformats.org/officeDocument/2006/relationships/image" Target="../media/image38.GIF"/><Relationship Id="rId7" Type="http://schemas.openxmlformats.org/officeDocument/2006/relationships/image" Target="../media/image37.GIF"/><Relationship Id="rId6" Type="http://schemas.openxmlformats.org/officeDocument/2006/relationships/image" Target="../media/image36.GIF"/><Relationship Id="rId5" Type="http://schemas.openxmlformats.org/officeDocument/2006/relationships/image" Target="../media/image35.GIF"/><Relationship Id="rId4" Type="http://schemas.openxmlformats.org/officeDocument/2006/relationships/image" Target="../media/image34.GIF"/><Relationship Id="rId3" Type="http://schemas.openxmlformats.org/officeDocument/2006/relationships/image" Target="../media/image33.GIF"/><Relationship Id="rId2" Type="http://schemas.openxmlformats.org/officeDocument/2006/relationships/image" Target="NULL" TargetMode="External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45.GIF"/><Relationship Id="rId14" Type="http://schemas.openxmlformats.org/officeDocument/2006/relationships/image" Target="../media/image44.GIF"/><Relationship Id="rId13" Type="http://schemas.openxmlformats.org/officeDocument/2006/relationships/image" Target="../media/image43.GIF"/><Relationship Id="rId12" Type="http://schemas.openxmlformats.org/officeDocument/2006/relationships/image" Target="../media/image42.GIF"/><Relationship Id="rId11" Type="http://schemas.openxmlformats.org/officeDocument/2006/relationships/image" Target="../media/image41.GIF"/><Relationship Id="rId10" Type="http://schemas.openxmlformats.org/officeDocument/2006/relationships/image" Target="../media/image40.GIF"/><Relationship Id="rId1" Type="http://schemas.openxmlformats.org/officeDocument/2006/relationships/image" Target="../media/image32.GIF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GIF"/><Relationship Id="rId8" Type="http://schemas.openxmlformats.org/officeDocument/2006/relationships/image" Target="../media/image52.GIF"/><Relationship Id="rId7" Type="http://schemas.openxmlformats.org/officeDocument/2006/relationships/image" Target="../media/image51.GIF"/><Relationship Id="rId6" Type="http://schemas.openxmlformats.org/officeDocument/2006/relationships/image" Target="../media/image50.GIF"/><Relationship Id="rId5" Type="http://schemas.openxmlformats.org/officeDocument/2006/relationships/image" Target="../media/image49.GIF"/><Relationship Id="rId4" Type="http://schemas.openxmlformats.org/officeDocument/2006/relationships/image" Target="../media/image48.GIF"/><Relationship Id="rId3" Type="http://schemas.openxmlformats.org/officeDocument/2006/relationships/image" Target="../media/image47.GIF"/><Relationship Id="rId2" Type="http://schemas.openxmlformats.org/officeDocument/2006/relationships/image" Target="NULL" TargetMode="Externa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60.GIF"/><Relationship Id="rId15" Type="http://schemas.openxmlformats.org/officeDocument/2006/relationships/image" Target="../media/image59.GIF"/><Relationship Id="rId14" Type="http://schemas.openxmlformats.org/officeDocument/2006/relationships/image" Target="../media/image58.GIF"/><Relationship Id="rId13" Type="http://schemas.openxmlformats.org/officeDocument/2006/relationships/image" Target="../media/image57.GIF"/><Relationship Id="rId12" Type="http://schemas.openxmlformats.org/officeDocument/2006/relationships/image" Target="../media/image56.GIF"/><Relationship Id="rId11" Type="http://schemas.openxmlformats.org/officeDocument/2006/relationships/image" Target="../media/image55.GIF"/><Relationship Id="rId10" Type="http://schemas.openxmlformats.org/officeDocument/2006/relationships/image" Target="../media/image54.GIF"/><Relationship Id="rId1" Type="http://schemas.openxmlformats.org/officeDocument/2006/relationships/image" Target="../media/image46.GI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.bin"/><Relationship Id="rId8" Type="http://schemas.openxmlformats.org/officeDocument/2006/relationships/image" Target="../media/image64.wmf"/><Relationship Id="rId7" Type="http://schemas.openxmlformats.org/officeDocument/2006/relationships/oleObject" Target="../embeddings/oleObject31.bin"/><Relationship Id="rId6" Type="http://schemas.openxmlformats.org/officeDocument/2006/relationships/image" Target="../media/image63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62.wmf"/><Relationship Id="rId3" Type="http://schemas.openxmlformats.org/officeDocument/2006/relationships/oleObject" Target="../embeddings/oleObject29.bin"/><Relationship Id="rId2" Type="http://schemas.openxmlformats.org/officeDocument/2006/relationships/image" Target="../media/image61.wmf"/><Relationship Id="rId12" Type="http://schemas.openxmlformats.org/officeDocument/2006/relationships/vmlDrawing" Target="../drawings/vmlDrawing19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65.wmf"/><Relationship Id="rId1" Type="http://schemas.openxmlformats.org/officeDocument/2006/relationships/oleObject" Target="../embeddings/oleObject28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0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8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67.wmf"/><Relationship Id="rId3" Type="http://schemas.openxmlformats.org/officeDocument/2006/relationships/oleObject" Target="../embeddings/oleObject34.bin"/><Relationship Id="rId2" Type="http://schemas.openxmlformats.org/officeDocument/2006/relationships/image" Target="../media/image66.wmf"/><Relationship Id="rId1" Type="http://schemas.openxmlformats.org/officeDocument/2006/relationships/oleObject" Target="../embeddings/oleObject33.bin"/></Relationships>
</file>

<file path=ppt/slides/_rels/slide5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0.wmf"/><Relationship Id="rId3" Type="http://schemas.openxmlformats.org/officeDocument/2006/relationships/oleObject" Target="../embeddings/oleObject37.bin"/><Relationship Id="rId2" Type="http://schemas.openxmlformats.org/officeDocument/2006/relationships/image" Target="../media/image69.wmf"/><Relationship Id="rId1" Type="http://schemas.openxmlformats.org/officeDocument/2006/relationships/oleObject" Target="../embeddings/oleObject36.bin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1.wmf"/><Relationship Id="rId1" Type="http://schemas.openxmlformats.org/officeDocument/2006/relationships/oleObject" Target="../embeddings/oleObject38.bin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5.png"/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image" Target="../media/image72.png"/></Relationships>
</file>

<file path=ppt/slides/_rels/slide5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3.bin"/><Relationship Id="rId8" Type="http://schemas.openxmlformats.org/officeDocument/2006/relationships/image" Target="../media/image79.wmf"/><Relationship Id="rId7" Type="http://schemas.openxmlformats.org/officeDocument/2006/relationships/oleObject" Target="../embeddings/oleObject42.bin"/><Relationship Id="rId6" Type="http://schemas.openxmlformats.org/officeDocument/2006/relationships/image" Target="../media/image78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77.wmf"/><Relationship Id="rId3" Type="http://schemas.openxmlformats.org/officeDocument/2006/relationships/oleObject" Target="../embeddings/oleObject40.bin"/><Relationship Id="rId2" Type="http://schemas.openxmlformats.org/officeDocument/2006/relationships/image" Target="../media/image76.wmf"/><Relationship Id="rId12" Type="http://schemas.openxmlformats.org/officeDocument/2006/relationships/vmlDrawing" Target="../drawings/vmlDrawing23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80.wmf"/><Relationship Id="rId1" Type="http://schemas.openxmlformats.org/officeDocument/2006/relationships/oleObject" Target="../embeddings/oleObject39.bin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2.wmf"/><Relationship Id="rId3" Type="http://schemas.openxmlformats.org/officeDocument/2006/relationships/oleObject" Target="../embeddings/oleObject45.bin"/><Relationship Id="rId2" Type="http://schemas.openxmlformats.org/officeDocument/2006/relationships/image" Target="../media/image81.wmf"/><Relationship Id="rId1" Type="http://schemas.openxmlformats.org/officeDocument/2006/relationships/oleObject" Target="../embeddings/oleObject44.bin"/></Relationships>
</file>

<file path=ppt/slides/_rels/slide6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0.bin"/><Relationship Id="rId8" Type="http://schemas.openxmlformats.org/officeDocument/2006/relationships/image" Target="../media/image86.wmf"/><Relationship Id="rId7" Type="http://schemas.openxmlformats.org/officeDocument/2006/relationships/oleObject" Target="../embeddings/oleObject49.bin"/><Relationship Id="rId6" Type="http://schemas.openxmlformats.org/officeDocument/2006/relationships/image" Target="../media/image85.w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84.wmf"/><Relationship Id="rId3" Type="http://schemas.openxmlformats.org/officeDocument/2006/relationships/oleObject" Target="../embeddings/oleObject47.bin"/><Relationship Id="rId2" Type="http://schemas.openxmlformats.org/officeDocument/2006/relationships/image" Target="../media/image83.wmf"/><Relationship Id="rId12" Type="http://schemas.openxmlformats.org/officeDocument/2006/relationships/vmlDrawing" Target="../drawings/vmlDrawing25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87.wmf"/><Relationship Id="rId1" Type="http://schemas.openxmlformats.org/officeDocument/2006/relationships/oleObject" Target="../embeddings/oleObject46.bin"/></Relationships>
</file>

<file path=ppt/slides/_rels/slide6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5.bin"/><Relationship Id="rId8" Type="http://schemas.openxmlformats.org/officeDocument/2006/relationships/image" Target="../media/image91.wmf"/><Relationship Id="rId7" Type="http://schemas.openxmlformats.org/officeDocument/2006/relationships/oleObject" Target="../embeddings/oleObject54.bin"/><Relationship Id="rId6" Type="http://schemas.openxmlformats.org/officeDocument/2006/relationships/image" Target="../media/image90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89.wmf"/><Relationship Id="rId3" Type="http://schemas.openxmlformats.org/officeDocument/2006/relationships/oleObject" Target="../embeddings/oleObject52.bin"/><Relationship Id="rId2" Type="http://schemas.openxmlformats.org/officeDocument/2006/relationships/image" Target="../media/image88.wmf"/><Relationship Id="rId12" Type="http://schemas.openxmlformats.org/officeDocument/2006/relationships/vmlDrawing" Target="../drawings/vmlDrawing26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92.wmf"/><Relationship Id="rId1" Type="http://schemas.openxmlformats.org/officeDocument/2006/relationships/oleObject" Target="../embeddings/oleObject51.bin"/></Relationships>
</file>

<file path=ppt/slides/_rels/slide6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0.bin"/><Relationship Id="rId8" Type="http://schemas.openxmlformats.org/officeDocument/2006/relationships/image" Target="../media/image96.wmf"/><Relationship Id="rId7" Type="http://schemas.openxmlformats.org/officeDocument/2006/relationships/oleObject" Target="../embeddings/oleObject59.bin"/><Relationship Id="rId6" Type="http://schemas.openxmlformats.org/officeDocument/2006/relationships/image" Target="../media/image95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94.wmf"/><Relationship Id="rId3" Type="http://schemas.openxmlformats.org/officeDocument/2006/relationships/oleObject" Target="../embeddings/oleObject57.bin"/><Relationship Id="rId2" Type="http://schemas.openxmlformats.org/officeDocument/2006/relationships/image" Target="../media/image93.wmf"/><Relationship Id="rId12" Type="http://schemas.openxmlformats.org/officeDocument/2006/relationships/vmlDrawing" Target="../drawings/vmlDrawing27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97.wmf"/><Relationship Id="rId1" Type="http://schemas.openxmlformats.org/officeDocument/2006/relationships/oleObject" Target="../embeddings/oleObject56.bin"/></Relationships>
</file>

<file path=ppt/slides/_rels/slide6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8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9.wmf"/><Relationship Id="rId3" Type="http://schemas.openxmlformats.org/officeDocument/2006/relationships/oleObject" Target="../embeddings/oleObject62.bin"/><Relationship Id="rId2" Type="http://schemas.openxmlformats.org/officeDocument/2006/relationships/image" Target="../media/image98.wmf"/><Relationship Id="rId1" Type="http://schemas.openxmlformats.org/officeDocument/2006/relationships/oleObject" Target="../embeddings/oleObject61.bin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0.wmf"/><Relationship Id="rId1" Type="http://schemas.openxmlformats.org/officeDocument/2006/relationships/oleObject" Target="../embeddings/oleObject63.bin"/></Relationships>
</file>

<file path=ppt/slides/_rels/slide7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0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2.wmf"/><Relationship Id="rId3" Type="http://schemas.openxmlformats.org/officeDocument/2006/relationships/oleObject" Target="../embeddings/oleObject65.bin"/><Relationship Id="rId2" Type="http://schemas.openxmlformats.org/officeDocument/2006/relationships/image" Target="../media/image101.wmf"/><Relationship Id="rId1" Type="http://schemas.openxmlformats.org/officeDocument/2006/relationships/oleObject" Target="../embeddings/oleObject64.bin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0.bin"/><Relationship Id="rId8" Type="http://schemas.openxmlformats.org/officeDocument/2006/relationships/image" Target="../media/image106.wmf"/><Relationship Id="rId7" Type="http://schemas.openxmlformats.org/officeDocument/2006/relationships/oleObject" Target="../embeddings/oleObject69.bin"/><Relationship Id="rId6" Type="http://schemas.openxmlformats.org/officeDocument/2006/relationships/image" Target="../media/image105.w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104.wmf"/><Relationship Id="rId3" Type="http://schemas.openxmlformats.org/officeDocument/2006/relationships/oleObject" Target="../embeddings/oleObject67.bin"/><Relationship Id="rId2" Type="http://schemas.openxmlformats.org/officeDocument/2006/relationships/image" Target="../media/image103.wmf"/><Relationship Id="rId14" Type="http://schemas.openxmlformats.org/officeDocument/2006/relationships/vmlDrawing" Target="../drawings/vmlDrawing31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08.wmf"/><Relationship Id="rId11" Type="http://schemas.openxmlformats.org/officeDocument/2006/relationships/oleObject" Target="../embeddings/oleObject71.bin"/><Relationship Id="rId10" Type="http://schemas.openxmlformats.org/officeDocument/2006/relationships/image" Target="../media/image107.wmf"/><Relationship Id="rId1" Type="http://schemas.openxmlformats.org/officeDocument/2006/relationships/oleObject" Target="../embeddings/oleObject66.bin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242226" y="3573477"/>
            <a:ext cx="4800600" cy="2376487"/>
          </a:xfrm>
          <a:noFill/>
        </p:spPr>
        <p:txBody>
          <a:bodyPr lIns="91440" tIns="45720" rIns="91440" bIns="45720" anchor="t">
            <a:norm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清华大学计算机系</a:t>
            </a:r>
            <a:endParaRPr lang="zh-CN" altLang="en-US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陶品</a:t>
            </a:r>
            <a:endParaRPr lang="zh-CN" altLang="en-US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4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taopin@tsinghua.edu.cn</a:t>
            </a:r>
            <a:endParaRPr lang="en-US" altLang="zh-CN" sz="24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办公室：</a:t>
            </a:r>
            <a:r>
              <a:rPr 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自强楼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1-902 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13717813059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9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01671" y="1412889"/>
            <a:ext cx="5829300" cy="1592263"/>
          </a:xfrm>
        </p:spPr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数字逻辑电路</a:t>
            </a:r>
            <a:endParaRPr lang="en-US" altLang="zh-CN" sz="320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课程基本情况（</a:t>
            </a:r>
            <a:r>
              <a:rPr lang="en-US" altLang="zh-CN" dirty="0"/>
              <a:t>5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381F3-B85C-4CB8-89E8-2A40C90A23BC}" type="slidenum">
              <a:rPr lang="en-US" altLang="zh-CN"/>
            </a:fld>
            <a:endParaRPr lang="en-US" altLang="zh-CN"/>
          </a:p>
        </p:txBody>
      </p:sp>
      <p:sp>
        <p:nvSpPr>
          <p:cNvPr id="962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67544" y="1524000"/>
            <a:ext cx="8568952" cy="4497288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zh-CN" altLang="en-US" sz="2800" dirty="0">
                <a:latin typeface="宋体" panose="02010600030101010101" pitchFamily="2" charset="-122"/>
              </a:rPr>
              <a:t>教学形式：</a:t>
            </a:r>
            <a:r>
              <a:rPr lang="zh-CN" altLang="en-US" sz="2400" dirty="0">
                <a:latin typeface="宋体" panose="02010600030101010101" pitchFamily="2" charset="-122"/>
              </a:rPr>
              <a:t>讲课，辅导，网上、定时和现场答疑</a:t>
            </a:r>
            <a:endParaRPr lang="zh-CN" altLang="en-US" sz="2400" dirty="0"/>
          </a:p>
          <a:p>
            <a:pPr algn="just">
              <a:lnSpc>
                <a:spcPct val="90000"/>
              </a:lnSpc>
            </a:pPr>
            <a:r>
              <a:rPr lang="zh-CN" altLang="en-US" sz="2800" dirty="0">
                <a:latin typeface="宋体" panose="02010600030101010101" pitchFamily="2" charset="-122"/>
              </a:rPr>
              <a:t>学时安排：</a:t>
            </a:r>
            <a:r>
              <a:rPr lang="en-US" altLang="zh-CN" sz="2800" dirty="0">
                <a:latin typeface="宋体" panose="02010600030101010101" pitchFamily="2" charset="-122"/>
              </a:rPr>
              <a:t>3</a:t>
            </a:r>
            <a:r>
              <a:rPr lang="zh-CN" altLang="en-US" sz="2800" dirty="0">
                <a:latin typeface="宋体" panose="02010600030101010101" pitchFamily="2" charset="-122"/>
              </a:rPr>
              <a:t>学分，共</a:t>
            </a:r>
            <a:r>
              <a:rPr lang="en-US" altLang="zh-CN" sz="2800" dirty="0">
                <a:latin typeface="宋体" panose="02010600030101010101" pitchFamily="2" charset="-122"/>
              </a:rPr>
              <a:t>48</a:t>
            </a:r>
            <a:r>
              <a:rPr lang="zh-CN" altLang="en-US" sz="2800" dirty="0">
                <a:latin typeface="宋体" panose="02010600030101010101" pitchFamily="2" charset="-122"/>
              </a:rPr>
              <a:t>学时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 dirty="0">
                <a:latin typeface="宋体" panose="02010600030101010101" pitchFamily="2" charset="-122"/>
              </a:rPr>
              <a:t>教学内容</a:t>
            </a:r>
            <a:r>
              <a:rPr lang="zh-CN" altLang="en-US" sz="2800" dirty="0"/>
              <a:t> </a:t>
            </a:r>
            <a:endParaRPr lang="zh-CN" altLang="en-US" sz="2800" dirty="0"/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第一章：前言和基本知识介绍  （第</a:t>
            </a:r>
            <a:r>
              <a:rPr lang="en-US" altLang="zh-CN" sz="2400" dirty="0">
                <a:latin typeface="宋体" panose="02010600030101010101" pitchFamily="2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</a:rPr>
              <a:t>周，前</a:t>
            </a:r>
            <a:r>
              <a:rPr lang="en-US" altLang="zh-CN" sz="2400" dirty="0"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</a:rPr>
              <a:t>学时）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第二章  逻辑代数和化简方法  （第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6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学时）</a:t>
            </a:r>
            <a:endParaRPr lang="zh-CN" altLang="en-US" sz="2400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第三章：门电路 	        （第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学时）</a:t>
            </a:r>
            <a:endParaRPr lang="zh-CN" altLang="en-US" sz="2400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第四章：组合逻辑电路        （第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5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～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7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9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学时）</a:t>
            </a:r>
            <a:endParaRPr lang="zh-CN" altLang="en-US" sz="2400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第五章：时序逻辑电路        （第</a:t>
            </a:r>
            <a:r>
              <a:rPr lang="en-US" altLang="zh-CN" sz="2400" dirty="0">
                <a:latin typeface="宋体" panose="02010600030101010101" pitchFamily="2" charset="-122"/>
              </a:rPr>
              <a:t>8</a:t>
            </a:r>
            <a:r>
              <a:rPr lang="zh-CN" altLang="en-US" sz="2400" dirty="0">
                <a:latin typeface="宋体" panose="02010600030101010101" pitchFamily="2" charset="-122"/>
              </a:rPr>
              <a:t>～</a:t>
            </a:r>
            <a:r>
              <a:rPr lang="en-US" altLang="zh-CN" sz="2400" dirty="0">
                <a:latin typeface="宋体" panose="02010600030101010101" pitchFamily="2" charset="-122"/>
              </a:rPr>
              <a:t>12</a:t>
            </a:r>
            <a:r>
              <a:rPr lang="zh-CN" altLang="en-US" sz="2400" dirty="0"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latin typeface="宋体" panose="02010600030101010101" pitchFamily="2" charset="-122"/>
              </a:rPr>
              <a:t>15</a:t>
            </a:r>
            <a:r>
              <a:rPr lang="zh-CN" altLang="en-US" sz="2400" dirty="0">
                <a:latin typeface="宋体" panose="02010600030101010101" pitchFamily="2" charset="-122"/>
              </a:rPr>
              <a:t>学时）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第六章：可编程逻辑电路	   （第</a:t>
            </a:r>
            <a:r>
              <a:rPr lang="en-US" altLang="zh-CN" sz="2400" dirty="0">
                <a:latin typeface="宋体" panose="02010600030101010101" pitchFamily="2" charset="-122"/>
              </a:rPr>
              <a:t>13</a:t>
            </a:r>
            <a:r>
              <a:rPr lang="zh-CN" altLang="en-US" sz="2400" dirty="0">
                <a:latin typeface="宋体" panose="02010600030101010101" pitchFamily="2" charset="-122"/>
              </a:rPr>
              <a:t>～</a:t>
            </a:r>
            <a:r>
              <a:rPr lang="en-US" altLang="zh-CN" sz="2400" dirty="0">
                <a:latin typeface="宋体" panose="02010600030101010101" pitchFamily="2" charset="-122"/>
              </a:rPr>
              <a:t>15</a:t>
            </a:r>
            <a:r>
              <a:rPr lang="zh-CN" altLang="en-US" sz="2400" dirty="0"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latin typeface="宋体" panose="02010600030101010101" pitchFamily="2" charset="-122"/>
              </a:rPr>
              <a:t>9</a:t>
            </a:r>
            <a:r>
              <a:rPr lang="zh-CN" altLang="en-US" sz="2400" dirty="0">
                <a:latin typeface="宋体" panose="02010600030101010101" pitchFamily="2" charset="-122"/>
              </a:rPr>
              <a:t>学时）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数字逻辑电路课程总复习	  （第</a:t>
            </a:r>
            <a:r>
              <a:rPr lang="en-US" altLang="zh-CN" sz="2400" dirty="0">
                <a:latin typeface="宋体" panose="02010600030101010101" pitchFamily="2" charset="-122"/>
              </a:rPr>
              <a:t>16</a:t>
            </a:r>
            <a:r>
              <a:rPr lang="zh-CN" altLang="en-US" sz="2400" dirty="0">
                <a:latin typeface="宋体" panose="02010600030101010101" pitchFamily="2" charset="-122"/>
              </a:rPr>
              <a:t>周，</a:t>
            </a:r>
            <a:r>
              <a:rPr lang="en-US" altLang="zh-CN" sz="2400" dirty="0"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</a:rPr>
              <a:t>学时）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5E2-CB68-42E6-A5AF-574D39E186A5}" type="slidenum">
              <a:rPr lang="en-US" altLang="zh-CN" smtClean="0"/>
            </a:fld>
            <a:endParaRPr lang="en-US" altLang="zh-CN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165"/>
          <a:stretch>
            <a:fillRect/>
          </a:stretch>
        </p:blipFill>
        <p:spPr bwMode="auto">
          <a:xfrm>
            <a:off x="809581" y="2095936"/>
            <a:ext cx="6070499" cy="356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21550" y="1460579"/>
            <a:ext cx="3186354" cy="864096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zh-CN" sz="2800" dirty="0"/>
              <a:t>2.6</a:t>
            </a: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）～（</a:t>
            </a:r>
            <a:r>
              <a:rPr lang="en-US" altLang="zh-CN" sz="2800" dirty="0"/>
              <a:t>6</a:t>
            </a:r>
            <a:r>
              <a:rPr lang="zh-CN" altLang="en-US" sz="2800" dirty="0"/>
              <a:t>）</a:t>
            </a:r>
            <a:endParaRPr lang="zh-CN" altLang="en-US" sz="28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endParaRPr lang="zh-CN" altLang="en-US" dirty="0"/>
          </a:p>
        </p:txBody>
      </p:sp>
    </p:spTree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endParaRPr lang="zh-CN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6906E-C178-4169-BCEA-6CD24A32C7C1}" type="slidenum">
              <a:rPr lang="en-US" altLang="zh-CN"/>
            </a:fld>
            <a:endParaRPr lang="en-US" altLang="zh-CN"/>
          </a:p>
        </p:txBody>
      </p:sp>
      <p:sp>
        <p:nvSpPr>
          <p:cNvPr id="3010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14400" y="1268760"/>
            <a:ext cx="7772400" cy="4752528"/>
          </a:xfrm>
        </p:spPr>
        <p:txBody>
          <a:bodyPr>
            <a:normAutofit fontScale="72500"/>
          </a:bodyPr>
          <a:lstStyle/>
          <a:p>
            <a:pPr>
              <a:lnSpc>
                <a:spcPct val="110000"/>
              </a:lnSpc>
            </a:pPr>
            <a:r>
              <a:rPr lang="zh-CN" altLang="en-US" sz="2800" dirty="0"/>
              <a:t>每周一布置课程作业，请同学们当周周日</a:t>
            </a:r>
            <a:r>
              <a:rPr lang="en-US" altLang="zh-CN" sz="2800" dirty="0"/>
              <a:t>23:59</a:t>
            </a:r>
            <a:r>
              <a:rPr lang="zh-CN" altLang="en-US" sz="2800" dirty="0"/>
              <a:t>之前完成，并在网络学堂的“课程作业”栏目中提交。助教在下周周日</a:t>
            </a:r>
            <a:r>
              <a:rPr lang="en-US" altLang="zh-CN" sz="2800" dirty="0"/>
              <a:t>23:59</a:t>
            </a:r>
            <a:r>
              <a:rPr lang="zh-CN" altLang="en-US" sz="2800" dirty="0"/>
              <a:t>之前批改完成。</a:t>
            </a:r>
            <a:endParaRPr lang="en-US" altLang="zh-CN" sz="2800" dirty="0"/>
          </a:p>
          <a:p>
            <a:pPr>
              <a:lnSpc>
                <a:spcPct val="110000"/>
              </a:lnSpc>
            </a:pPr>
            <a:endParaRPr lang="en-US" altLang="zh-CN" sz="2800" dirty="0"/>
          </a:p>
          <a:p>
            <a:pPr>
              <a:lnSpc>
                <a:spcPct val="110000"/>
              </a:lnSpc>
            </a:pPr>
            <a:r>
              <a:rPr lang="zh-CN" altLang="en-US" sz="2800" dirty="0"/>
              <a:t>因特殊情况未能按时完成，请在</a:t>
            </a:r>
            <a:r>
              <a:rPr lang="zh-CN" altLang="en-US" sz="2800" dirty="0">
                <a:solidFill>
                  <a:srgbClr val="0070C0"/>
                </a:solidFill>
              </a:rPr>
              <a:t>第</a:t>
            </a:r>
            <a:r>
              <a:rPr lang="en-US" altLang="zh-CN" sz="2800" dirty="0">
                <a:solidFill>
                  <a:srgbClr val="0070C0"/>
                </a:solidFill>
              </a:rPr>
              <a:t>16</a:t>
            </a:r>
            <a:r>
              <a:rPr lang="zh-CN" altLang="en-US" sz="2800" dirty="0">
                <a:solidFill>
                  <a:srgbClr val="0070C0"/>
                </a:solidFill>
              </a:rPr>
              <a:t>周结束之前</a:t>
            </a:r>
            <a:r>
              <a:rPr lang="zh-CN" altLang="en-US" sz="2800" dirty="0"/>
              <a:t>自行</a:t>
            </a:r>
            <a:r>
              <a:rPr lang="en-US" altLang="zh-CN" sz="2800" dirty="0"/>
              <a:t>email</a:t>
            </a:r>
            <a:r>
              <a:rPr lang="zh-CN" altLang="en-US" sz="2800" dirty="0"/>
              <a:t>联系助教补交，邮件标题请按</a:t>
            </a:r>
            <a:r>
              <a:rPr lang="en-US" altLang="en-US" sz="2800" dirty="0"/>
              <a:t> </a:t>
            </a:r>
            <a:r>
              <a:rPr lang="zh-CN" altLang="en-US" sz="2800" dirty="0"/>
              <a:t>姓名</a:t>
            </a:r>
            <a:r>
              <a:rPr lang="en-US" altLang="zh-CN" sz="2800" dirty="0"/>
              <a:t>-</a:t>
            </a:r>
            <a:r>
              <a:rPr lang="zh-CN" altLang="en-US" sz="2800" dirty="0"/>
              <a:t>第</a:t>
            </a:r>
            <a:r>
              <a:rPr lang="en-US" altLang="zh-CN" sz="2800" dirty="0"/>
              <a:t>X</a:t>
            </a:r>
            <a:r>
              <a:rPr lang="zh-CN" altLang="en-US" sz="2800" dirty="0"/>
              <a:t>次作业</a:t>
            </a:r>
            <a:r>
              <a:rPr lang="en-US" altLang="en-US" sz="2800" dirty="0"/>
              <a:t> </a:t>
            </a:r>
            <a:r>
              <a:rPr lang="zh-CN" altLang="en-US" sz="2800" dirty="0"/>
              <a:t>格式注明补交人和作业批次。</a:t>
            </a:r>
            <a:r>
              <a:rPr lang="zh-CN" altLang="en-US" sz="2800" dirty="0"/>
              <a:t>补交的每份作业扣</a:t>
            </a:r>
            <a:r>
              <a:rPr lang="en-US" altLang="zh-CN" sz="2800" dirty="0"/>
              <a:t>0.5</a:t>
            </a:r>
            <a:r>
              <a:rPr lang="zh-CN" altLang="en-US" sz="2800" dirty="0"/>
              <a:t>分，缺交一次扣</a:t>
            </a:r>
            <a:r>
              <a:rPr lang="en-US" altLang="zh-CN" sz="2800" dirty="0"/>
              <a:t>2</a:t>
            </a:r>
            <a:r>
              <a:rPr lang="zh-CN" altLang="en-US" sz="2800" dirty="0"/>
              <a:t>分（平时成绩共计</a:t>
            </a:r>
            <a:r>
              <a:rPr lang="en-US" altLang="zh-CN" sz="2800" dirty="0"/>
              <a:t>20</a:t>
            </a:r>
            <a:r>
              <a:rPr lang="zh-CN" altLang="en-US" sz="2800" dirty="0"/>
              <a:t>分）。</a:t>
            </a:r>
            <a:endParaRPr lang="en-US" altLang="zh-CN" sz="2800" dirty="0"/>
          </a:p>
          <a:p>
            <a:pPr lvl="1">
              <a:lnSpc>
                <a:spcPct val="110000"/>
              </a:lnSpc>
            </a:pPr>
            <a:r>
              <a:rPr lang="zh-CN" altLang="en-US" sz="2400" dirty="0"/>
              <a:t>计</a:t>
            </a:r>
            <a:r>
              <a:rPr lang="en-US" altLang="zh-CN" sz="2400" dirty="0"/>
              <a:t>41</a:t>
            </a:r>
            <a:r>
              <a:rPr lang="zh-CN" altLang="en-US" sz="2400" dirty="0"/>
              <a:t>，</a:t>
            </a:r>
            <a:r>
              <a:rPr lang="en-US" altLang="zh-CN" sz="2400" dirty="0"/>
              <a:t>42</a:t>
            </a:r>
            <a:r>
              <a:rPr lang="zh-CN" altLang="en-US" sz="2400" dirty="0"/>
              <a:t>，</a:t>
            </a:r>
            <a:r>
              <a:rPr lang="en-US" altLang="zh-CN" sz="2400" dirty="0"/>
              <a:t>43</a:t>
            </a:r>
            <a:r>
              <a:rPr lang="zh-CN" altLang="en-US" sz="2400" dirty="0"/>
              <a:t>，</a:t>
            </a:r>
            <a:r>
              <a:rPr lang="en-US" altLang="zh-CN" sz="2400" dirty="0"/>
              <a:t>44</a:t>
            </a:r>
            <a:r>
              <a:rPr lang="zh-CN" altLang="en-US" sz="2400" dirty="0"/>
              <a:t>，</a:t>
            </a:r>
            <a:r>
              <a:rPr lang="en-US" altLang="zh-CN" sz="2400" dirty="0"/>
              <a:t>45</a:t>
            </a:r>
            <a:r>
              <a:rPr lang="zh-CN" altLang="en-US" sz="2400" dirty="0"/>
              <a:t>，</a:t>
            </a:r>
            <a:r>
              <a:rPr lang="en-US" altLang="zh-CN" sz="2400" dirty="0"/>
              <a:t>46</a:t>
            </a:r>
            <a:r>
              <a:rPr lang="zh-CN" altLang="en-US" sz="2400" dirty="0"/>
              <a:t>联系</a:t>
            </a:r>
            <a:r>
              <a:rPr lang="en-US" altLang="zh-CN" sz="2400" dirty="0"/>
              <a:t>TA</a:t>
            </a:r>
            <a:r>
              <a:rPr lang="zh-CN" altLang="en-US" sz="2400" dirty="0"/>
              <a:t>，李助教补交作业</a:t>
            </a:r>
            <a:r>
              <a:rPr lang="en-US" altLang="zh-CN" sz="2400" dirty="0"/>
              <a:t>(li-yang23@mails.tsinghua.edu.cn)</a:t>
            </a:r>
            <a:endParaRPr lang="en-US" altLang="zh-CN" sz="2400" dirty="0"/>
          </a:p>
          <a:p>
            <a:pPr lvl="1">
              <a:lnSpc>
                <a:spcPct val="110000"/>
              </a:lnSpc>
            </a:pPr>
            <a:r>
              <a:rPr lang="zh-CN" altLang="en-US" sz="2400" dirty="0"/>
              <a:t>其他班级的同学联系</a:t>
            </a:r>
            <a:r>
              <a:rPr lang="en-US" altLang="zh-CN" sz="2400" dirty="0"/>
              <a:t>TA</a:t>
            </a:r>
            <a:r>
              <a:rPr lang="zh-CN" altLang="en-US" sz="2400" dirty="0"/>
              <a:t>，陈助教补交作业</a:t>
            </a:r>
            <a:r>
              <a:rPr lang="en-US" altLang="zh-CN" sz="2400" dirty="0"/>
              <a:t>(chenym22@mails.tsinghua.edu.cn</a:t>
            </a:r>
            <a:r>
              <a:rPr lang="zh-CN" altLang="en-US" sz="2400" dirty="0"/>
              <a:t>）</a:t>
            </a:r>
            <a:endParaRPr lang="zh-CN" altLang="en-US" sz="2400" dirty="0"/>
          </a:p>
        </p:txBody>
      </p:sp>
    </p:spTree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371600" y="381000"/>
            <a:ext cx="6457950" cy="1143000"/>
          </a:xfrm>
        </p:spPr>
        <p:txBody>
          <a:bodyPr/>
          <a:lstStyle/>
          <a:p>
            <a:r>
              <a:rPr lang="zh-CN" altLang="en-US"/>
              <a:t>第一章 数制和码制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59675-76BE-427C-BC63-5B1206CD81CC}" type="slidenum">
              <a:rPr lang="en-US" altLang="zh-CN"/>
            </a:fld>
            <a:endParaRPr lang="en-US" altLang="zh-CN"/>
          </a:p>
        </p:txBody>
      </p:sp>
      <p:sp>
        <p:nvSpPr>
          <p:cNvPr id="228356" name="Rectangle 1028"/>
          <p:cNvSpPr>
            <a:spLocks noGrp="1" noChangeArrowheads="1"/>
          </p:cNvSpPr>
          <p:nvPr>
            <p:ph sz="quarter" idx="1"/>
          </p:nvPr>
        </p:nvSpPr>
        <p:spPr>
          <a:noFill/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本章内容	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	</a:t>
            </a:r>
            <a:r>
              <a:rPr lang="en-US" altLang="zh-CN" dirty="0"/>
              <a:t>1.1  </a:t>
            </a:r>
            <a:r>
              <a:rPr lang="zh-CN" altLang="en-US" dirty="0"/>
              <a:t>数制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	</a:t>
            </a:r>
            <a:r>
              <a:rPr lang="en-US" altLang="zh-CN" dirty="0"/>
              <a:t>1.2  </a:t>
            </a:r>
            <a:r>
              <a:rPr lang="zh-CN" altLang="en-US" dirty="0"/>
              <a:t>码制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	</a:t>
            </a:r>
            <a:endParaRPr lang="zh-CN" altLang="en-US" dirty="0"/>
          </a:p>
        </p:txBody>
      </p:sp>
    </p:spTree>
  </p:cSld>
  <p:clrMapOvr>
    <a:masterClrMapping/>
  </p:clrMapOvr>
  <p:transition spd="slow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数制和码制（</a:t>
            </a:r>
            <a:r>
              <a:rPr lang="en-US" altLang="zh-CN"/>
              <a:t>1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882FF-BDE5-4288-AA77-DA95541367B8}" type="slidenum">
              <a:rPr lang="en-US" altLang="zh-CN"/>
            </a:fld>
            <a:endParaRPr lang="en-US" altLang="zh-CN"/>
          </a:p>
        </p:txBody>
      </p:sp>
      <p:sp>
        <p:nvSpPr>
          <p:cNvPr id="2365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67544" y="1484784"/>
            <a:ext cx="8208912" cy="4724400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数制</a:t>
            </a:r>
            <a:endParaRPr lang="zh-CN" altLang="en-US" dirty="0"/>
          </a:p>
          <a:p>
            <a:pPr lvl="1"/>
            <a:r>
              <a:rPr lang="zh-CN" altLang="en-US" dirty="0"/>
              <a:t>十进制、二进制、八进制、十六进制</a:t>
            </a:r>
            <a:endParaRPr lang="zh-CN" altLang="en-US" dirty="0"/>
          </a:p>
          <a:p>
            <a:pPr lvl="1"/>
            <a:r>
              <a:rPr lang="zh-CN" altLang="en-US" dirty="0"/>
              <a:t>数制转换</a:t>
            </a:r>
            <a:endParaRPr lang="zh-CN" altLang="en-US" dirty="0"/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码制</a:t>
            </a:r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十进制数的二进制编码</a:t>
            </a:r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  <a:p>
            <a:pPr lvl="2"/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8421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码（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BCD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码）、余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3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码、余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3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循环码、格雷码</a:t>
            </a:r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字符编码</a:t>
            </a:r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  <a:p>
            <a:pPr lvl="2"/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7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位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ASCII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、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8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位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ASCII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slow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数制和码制（</a:t>
            </a:r>
            <a:r>
              <a:rPr lang="en-US" altLang="zh-CN"/>
              <a:t>2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1C0A3-B873-4145-AEDF-D45C08418200}" type="slidenum">
              <a:rPr lang="en-US" altLang="zh-CN"/>
            </a:fld>
            <a:endParaRPr lang="en-US" altLang="zh-CN"/>
          </a:p>
        </p:txBody>
      </p:sp>
      <p:sp>
        <p:nvSpPr>
          <p:cNvPr id="2385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67543" y="1484784"/>
            <a:ext cx="8280919" cy="4953000"/>
          </a:xfrm>
        </p:spPr>
        <p:txBody>
          <a:bodyPr/>
          <a:lstStyle/>
          <a:p>
            <a:r>
              <a:rPr lang="zh-CN" altLang="en-US" dirty="0"/>
              <a:t>数制</a:t>
            </a:r>
            <a:endParaRPr lang="zh-CN" altLang="en-US" dirty="0"/>
          </a:p>
          <a:p>
            <a:pPr lvl="1"/>
            <a:r>
              <a:rPr lang="zh-CN" altLang="en-US" dirty="0"/>
              <a:t>一个进位计数包含两个基本因素</a:t>
            </a:r>
            <a:endParaRPr lang="zh-CN" altLang="en-US" dirty="0"/>
          </a:p>
          <a:p>
            <a:pPr lvl="2"/>
            <a:r>
              <a:rPr lang="zh-CN" altLang="en-US" dirty="0"/>
              <a:t>基数（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7</a:t>
            </a:r>
            <a:r>
              <a:rPr lang="zh-CN" altLang="en-US" dirty="0"/>
              <a:t>、</a:t>
            </a:r>
            <a:r>
              <a:rPr lang="en-US" altLang="zh-CN" dirty="0"/>
              <a:t>5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位权（</a:t>
            </a:r>
            <a:r>
              <a:rPr lang="en-US" altLang="zh-CN" dirty="0"/>
              <a:t>100</a:t>
            </a:r>
            <a:r>
              <a:rPr lang="zh-CN" altLang="en-US" dirty="0"/>
              <a:t>、</a:t>
            </a:r>
            <a:r>
              <a:rPr lang="en-US" altLang="zh-CN" dirty="0"/>
              <a:t>10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0.1</a:t>
            </a:r>
            <a:r>
              <a:rPr lang="zh-CN" altLang="en-US" dirty="0"/>
              <a:t>、</a:t>
            </a:r>
            <a:r>
              <a:rPr lang="en-US" altLang="zh-CN" dirty="0"/>
              <a:t>0.01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graphicFrame>
        <p:nvGraphicFramePr>
          <p:cNvPr id="238596" name="Object 4"/>
          <p:cNvGraphicFramePr>
            <a:graphicFrameLocks noChangeAspect="1"/>
          </p:cNvGraphicFramePr>
          <p:nvPr/>
        </p:nvGraphicFramePr>
        <p:xfrm>
          <a:off x="611560" y="4653136"/>
          <a:ext cx="8136903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" name="Equation" r:id="rId1" imgW="92659200" imgH="4876800" progId="Equation.DSMT4">
                  <p:embed/>
                </p:oleObj>
              </mc:Choice>
              <mc:Fallback>
                <p:oleObj name="Equation" r:id="rId1" imgW="92659200" imgH="4876800" progId="Equation.DSMT4">
                  <p:embed/>
                  <p:pic>
                    <p:nvPicPr>
                      <p:cNvPr id="0" name="图片 1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4653136"/>
                        <a:ext cx="8136903" cy="4270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数制和码制（</a:t>
            </a:r>
            <a:r>
              <a:rPr lang="en-US" altLang="zh-CN"/>
              <a:t>3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1C0A3-B873-4145-AEDF-D45C08418200}" type="slidenum">
              <a:rPr lang="en-US" altLang="zh-CN"/>
            </a:fld>
            <a:endParaRPr lang="en-US" altLang="zh-CN"/>
          </a:p>
        </p:txBody>
      </p:sp>
      <p:sp>
        <p:nvSpPr>
          <p:cNvPr id="2385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3538" y="1524000"/>
            <a:ext cx="8262918" cy="4953000"/>
          </a:xfrm>
        </p:spPr>
        <p:txBody>
          <a:bodyPr/>
          <a:lstStyle/>
          <a:p>
            <a:r>
              <a:rPr lang="zh-CN" altLang="en-US" dirty="0"/>
              <a:t>数制</a:t>
            </a:r>
            <a:endParaRPr lang="zh-CN" altLang="en-US" dirty="0"/>
          </a:p>
          <a:p>
            <a:pPr lvl="1"/>
            <a:r>
              <a:rPr lang="zh-CN" altLang="en-US" dirty="0"/>
              <a:t>一个进位计数包含两个基本因素</a:t>
            </a:r>
            <a:endParaRPr lang="zh-CN" altLang="en-US" dirty="0"/>
          </a:p>
          <a:p>
            <a:pPr lvl="2"/>
            <a:r>
              <a:rPr lang="zh-CN" altLang="en-US" dirty="0"/>
              <a:t>基数：</a:t>
            </a:r>
            <a:endParaRPr lang="zh-CN" altLang="en-US" dirty="0"/>
          </a:p>
          <a:p>
            <a:pPr lvl="3"/>
            <a:r>
              <a:rPr lang="zh-CN" altLang="en-US" dirty="0"/>
              <a:t>数制中数码的个数</a:t>
            </a:r>
            <a:endParaRPr lang="zh-CN" altLang="en-US" dirty="0"/>
          </a:p>
          <a:p>
            <a:pPr lvl="3"/>
            <a:r>
              <a:rPr lang="zh-CN" altLang="en-US" dirty="0"/>
              <a:t>基数为</a:t>
            </a:r>
            <a:r>
              <a:rPr lang="en-US" altLang="zh-CN" dirty="0"/>
              <a:t>R</a:t>
            </a:r>
            <a:r>
              <a:rPr lang="zh-CN" altLang="en-US" dirty="0"/>
              <a:t>的数制（简称</a:t>
            </a:r>
            <a:r>
              <a:rPr lang="en-US" altLang="zh-CN" dirty="0"/>
              <a:t>R</a:t>
            </a:r>
            <a:r>
              <a:rPr lang="zh-CN" altLang="en-US" dirty="0"/>
              <a:t>进制）包含</a:t>
            </a:r>
            <a:r>
              <a:rPr lang="en-US" altLang="zh-CN" dirty="0"/>
              <a:t>0</a:t>
            </a:r>
            <a:r>
              <a:rPr lang="zh-CN" altLang="en-US" dirty="0"/>
              <a:t>～</a:t>
            </a:r>
            <a:r>
              <a:rPr lang="en-US" altLang="zh-CN" dirty="0"/>
              <a:t>R</a:t>
            </a:r>
            <a:r>
              <a:rPr lang="zh-CN" altLang="en-US" dirty="0"/>
              <a:t>－</a:t>
            </a:r>
            <a:r>
              <a:rPr lang="en-US" altLang="zh-CN" dirty="0"/>
              <a:t>1</a:t>
            </a:r>
            <a:r>
              <a:rPr lang="zh-CN" altLang="en-US" dirty="0"/>
              <a:t>的数码</a:t>
            </a:r>
            <a:endParaRPr lang="zh-CN" altLang="en-US" dirty="0"/>
          </a:p>
          <a:p>
            <a:pPr lvl="3"/>
            <a:r>
              <a:rPr lang="zh-CN" altLang="en-US" dirty="0"/>
              <a:t>进位规律是“逢</a:t>
            </a:r>
            <a:r>
              <a:rPr lang="en-US" altLang="zh-CN" dirty="0"/>
              <a:t>R</a:t>
            </a:r>
            <a:r>
              <a:rPr lang="zh-CN" altLang="en-US" dirty="0"/>
              <a:t>进一”。</a:t>
            </a:r>
            <a:endParaRPr lang="zh-CN" altLang="en-US" dirty="0"/>
          </a:p>
        </p:txBody>
      </p:sp>
      <p:graphicFrame>
        <p:nvGraphicFramePr>
          <p:cNvPr id="238596" name="Object 4"/>
          <p:cNvGraphicFramePr>
            <a:graphicFrameLocks noChangeAspect="1"/>
          </p:cNvGraphicFramePr>
          <p:nvPr/>
        </p:nvGraphicFramePr>
        <p:xfrm>
          <a:off x="755576" y="4748227"/>
          <a:ext cx="7776864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5" name="Equation" r:id="rId1" imgW="92659200" imgH="4876800" progId="Equation.DSMT4">
                  <p:embed/>
                </p:oleObj>
              </mc:Choice>
              <mc:Fallback>
                <p:oleObj name="Equation" r:id="rId1" imgW="92659200" imgH="4876800" progId="Equation.DSMT4">
                  <p:embed/>
                  <p:pic>
                    <p:nvPicPr>
                      <p:cNvPr id="0" name="图片 21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4748227"/>
                        <a:ext cx="7776864" cy="4270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2123728" y="4725144"/>
            <a:ext cx="216024" cy="5760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084168" y="4725144"/>
            <a:ext cx="216024" cy="5760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716016" y="4725144"/>
            <a:ext cx="216024" cy="5760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419872" y="4725144"/>
            <a:ext cx="216024" cy="5760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452320" y="4725144"/>
            <a:ext cx="216024" cy="5760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数制和码制（</a:t>
            </a:r>
            <a:r>
              <a:rPr lang="en-US" altLang="zh-CN"/>
              <a:t>4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655AE-A015-42D3-A9D9-20912D85CE1C}" type="slidenum">
              <a:rPr lang="en-US" altLang="zh-CN"/>
            </a:fld>
            <a:endParaRPr lang="en-US" altLang="zh-CN"/>
          </a:p>
        </p:txBody>
      </p:sp>
      <p:sp>
        <p:nvSpPr>
          <p:cNvPr id="2406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3538" y="1524000"/>
            <a:ext cx="8334926" cy="4953000"/>
          </a:xfrm>
        </p:spPr>
        <p:txBody>
          <a:bodyPr/>
          <a:lstStyle/>
          <a:p>
            <a:r>
              <a:rPr lang="zh-CN" altLang="en-US" dirty="0"/>
              <a:t>数制</a:t>
            </a:r>
            <a:endParaRPr lang="zh-CN" altLang="en-US" dirty="0"/>
          </a:p>
          <a:p>
            <a:pPr lvl="1"/>
            <a:r>
              <a:rPr lang="zh-CN" altLang="en-US" dirty="0"/>
              <a:t>一个进位计数包含两个基本因素</a:t>
            </a:r>
            <a:endParaRPr lang="zh-CN" altLang="en-US" dirty="0"/>
          </a:p>
          <a:p>
            <a:pPr lvl="2"/>
            <a:r>
              <a:rPr lang="zh-CN" altLang="en-US" dirty="0"/>
              <a:t>位权：</a:t>
            </a:r>
            <a:endParaRPr lang="zh-CN" altLang="en-US" dirty="0"/>
          </a:p>
          <a:p>
            <a:pPr lvl="3"/>
            <a:r>
              <a:rPr lang="en-US" altLang="zh-CN" dirty="0"/>
              <a:t>R</a:t>
            </a:r>
            <a:r>
              <a:rPr lang="zh-CN" altLang="en-US" dirty="0"/>
              <a:t>进制数中处于不同位数的数码，代表不同的权值</a:t>
            </a:r>
            <a:endParaRPr lang="zh-CN" altLang="en-US" dirty="0"/>
          </a:p>
          <a:p>
            <a:pPr lvl="3"/>
            <a:r>
              <a:rPr lang="zh-CN" altLang="en-US" dirty="0"/>
              <a:t>某个数位上的数值由本位数码的值乘以本位对应的固定常数</a:t>
            </a:r>
            <a:endParaRPr lang="zh-CN" altLang="en-US" dirty="0"/>
          </a:p>
          <a:p>
            <a:pPr lvl="3"/>
            <a:r>
              <a:rPr lang="zh-CN" altLang="en-US" dirty="0"/>
              <a:t>该固定常数称为位权</a:t>
            </a:r>
            <a:endParaRPr lang="zh-CN" altLang="en-US" dirty="0"/>
          </a:p>
          <a:p>
            <a:pPr lvl="3"/>
            <a:r>
              <a:rPr lang="zh-CN" altLang="en-US" dirty="0"/>
              <a:t>不同的数位有不同的位权</a:t>
            </a:r>
            <a:endParaRPr lang="zh-CN" altLang="en-US" dirty="0"/>
          </a:p>
        </p:txBody>
      </p:sp>
      <p:graphicFrame>
        <p:nvGraphicFramePr>
          <p:cNvPr id="240644" name="Object 4"/>
          <p:cNvGraphicFramePr>
            <a:graphicFrameLocks noChangeAspect="1"/>
          </p:cNvGraphicFramePr>
          <p:nvPr/>
        </p:nvGraphicFramePr>
        <p:xfrm>
          <a:off x="611560" y="5541963"/>
          <a:ext cx="7776864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2" name="公式" r:id="rId1" imgW="93268800" imgH="4876800" progId="Equation.3">
                  <p:embed/>
                </p:oleObj>
              </mc:Choice>
              <mc:Fallback>
                <p:oleObj name="公式" r:id="rId1" imgW="93268800" imgH="4876800" progId="Equation.3">
                  <p:embed/>
                  <p:pic>
                    <p:nvPicPr>
                      <p:cNvPr id="0" name="图片 31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5541963"/>
                        <a:ext cx="7776864" cy="4254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2483768" y="5517232"/>
            <a:ext cx="432048" cy="5760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444208" y="5517232"/>
            <a:ext cx="504056" cy="5760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148064" y="5517232"/>
            <a:ext cx="432048" cy="5760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779912" y="5517232"/>
            <a:ext cx="432048" cy="5760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812360" y="5517232"/>
            <a:ext cx="576064" cy="5760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数制和码制（</a:t>
            </a:r>
            <a:r>
              <a:rPr lang="en-US" altLang="zh-CN"/>
              <a:t>5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34ECA-C143-42AC-BEDF-5A79E049790B}" type="slidenum">
              <a:rPr lang="en-US" altLang="zh-CN"/>
            </a:fld>
            <a:endParaRPr lang="en-US" altLang="zh-CN"/>
          </a:p>
        </p:txBody>
      </p:sp>
      <p:sp>
        <p:nvSpPr>
          <p:cNvPr id="2416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3538" y="1524000"/>
            <a:ext cx="8262918" cy="4785320"/>
          </a:xfrm>
        </p:spPr>
        <p:txBody>
          <a:bodyPr>
            <a:normAutofit fontScale="92500"/>
          </a:bodyPr>
          <a:lstStyle/>
          <a:p>
            <a:r>
              <a:rPr lang="en-US" altLang="zh-CN" dirty="0"/>
              <a:t>R</a:t>
            </a:r>
            <a:r>
              <a:rPr lang="zh-CN" altLang="en-US" dirty="0"/>
              <a:t>进制数</a:t>
            </a:r>
            <a:r>
              <a:rPr lang="en-US" altLang="zh-CN" dirty="0"/>
              <a:t>N</a:t>
            </a:r>
            <a:r>
              <a:rPr lang="zh-CN" altLang="en-US" dirty="0"/>
              <a:t>的表示方式</a:t>
            </a:r>
            <a:endParaRPr lang="zh-CN" altLang="en-US" dirty="0"/>
          </a:p>
          <a:p>
            <a:pPr lvl="1"/>
            <a:r>
              <a:rPr lang="zh-CN" altLang="en-US" dirty="0"/>
              <a:t>并列表示方式</a:t>
            </a:r>
            <a:endParaRPr lang="zh-CN" altLang="en-US" dirty="0"/>
          </a:p>
          <a:p>
            <a:pPr lvl="2"/>
            <a:endParaRPr lang="zh-CN" altLang="en-US" dirty="0"/>
          </a:p>
          <a:p>
            <a:pPr lvl="2">
              <a:lnSpc>
                <a:spcPct val="150000"/>
              </a:lnSpc>
            </a:pPr>
            <a:r>
              <a:rPr lang="zh-CN" altLang="en-US" sz="2400" dirty="0"/>
              <a:t> </a:t>
            </a:r>
            <a:r>
              <a:rPr lang="en-US" altLang="zh-CN" sz="2400" dirty="0"/>
              <a:t>n</a:t>
            </a:r>
            <a:r>
              <a:rPr lang="zh-CN" altLang="en-US" sz="2400" dirty="0"/>
              <a:t>为整数部分的数位，</a:t>
            </a:r>
            <a:r>
              <a:rPr lang="en-US" altLang="zh-CN" sz="2400" dirty="0"/>
              <a:t>m</a:t>
            </a:r>
            <a:r>
              <a:rPr lang="zh-CN" altLang="en-US" sz="2400" dirty="0"/>
              <a:t>为小数部分的数位，</a:t>
            </a:r>
            <a:r>
              <a:rPr lang="en-US" altLang="zh-CN" sz="2400" dirty="0"/>
              <a:t>R</a:t>
            </a:r>
            <a:r>
              <a:rPr lang="zh-CN" altLang="en-US" sz="2400" dirty="0"/>
              <a:t>表示基数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多项式标识方式</a:t>
            </a:r>
            <a:endParaRPr lang="zh-CN" altLang="en-US" dirty="0"/>
          </a:p>
          <a:p>
            <a:pPr lvl="2"/>
            <a:endParaRPr lang="en-US" altLang="zh-CN" sz="2400" dirty="0"/>
          </a:p>
          <a:p>
            <a:pPr lvl="2"/>
            <a:endParaRPr lang="en-US" altLang="zh-CN" sz="2400" dirty="0"/>
          </a:p>
          <a:p>
            <a:pPr lvl="2"/>
            <a:endParaRPr lang="en-US" altLang="zh-CN" sz="2400" dirty="0"/>
          </a:p>
          <a:p>
            <a:pPr lvl="2"/>
            <a:endParaRPr lang="en-US" altLang="zh-CN" sz="2400" dirty="0"/>
          </a:p>
          <a:p>
            <a:pPr lvl="2"/>
            <a:r>
              <a:rPr lang="en-US" altLang="zh-CN" sz="2400" dirty="0"/>
              <a:t>K</a:t>
            </a:r>
            <a:r>
              <a:rPr lang="en-US" altLang="zh-CN" sz="2400" baseline="-25000" dirty="0"/>
              <a:t>i</a:t>
            </a:r>
            <a:r>
              <a:rPr lang="zh-CN" altLang="en-US" sz="2400" dirty="0"/>
              <a:t>表示不同数位的数码，（</a:t>
            </a:r>
            <a:r>
              <a:rPr lang="en-US" altLang="zh-CN" sz="2400" dirty="0"/>
              <a:t>R</a:t>
            </a:r>
            <a:r>
              <a:rPr lang="zh-CN" altLang="en-US" sz="2400" dirty="0"/>
              <a:t>－</a:t>
            </a:r>
            <a:r>
              <a:rPr lang="en-US" altLang="zh-CN" sz="2400" dirty="0"/>
              <a:t>1</a:t>
            </a:r>
            <a:r>
              <a:rPr lang="zh-CN" altLang="en-US" sz="2400" dirty="0"/>
              <a:t>）</a:t>
            </a:r>
            <a:r>
              <a:rPr lang="zh-CN" altLang="en-US" sz="2400" dirty="0">
                <a:sym typeface="Symbol" panose="05050102010706020507" pitchFamily="18" charset="2"/>
              </a:rPr>
              <a:t> </a:t>
            </a:r>
            <a:r>
              <a:rPr lang="en-US" altLang="zh-CN" sz="2400" dirty="0">
                <a:sym typeface="Symbol" panose="05050102010706020507" pitchFamily="18" charset="2"/>
              </a:rPr>
              <a:t>K</a:t>
            </a:r>
            <a:r>
              <a:rPr lang="en-US" altLang="zh-CN" sz="2400" baseline="-25000" dirty="0"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sym typeface="Symbol" panose="05050102010706020507" pitchFamily="18" charset="2"/>
              </a:rPr>
              <a:t>  0</a:t>
            </a:r>
            <a:endParaRPr lang="en-US" altLang="zh-CN" sz="2400" dirty="0"/>
          </a:p>
          <a:p>
            <a:pPr lvl="1"/>
            <a:endParaRPr lang="en-US" altLang="zh-CN" dirty="0"/>
          </a:p>
        </p:txBody>
      </p:sp>
      <p:graphicFrame>
        <p:nvGraphicFramePr>
          <p:cNvPr id="241669" name="Object 5"/>
          <p:cNvGraphicFramePr>
            <a:graphicFrameLocks noChangeAspect="1"/>
          </p:cNvGraphicFramePr>
          <p:nvPr/>
        </p:nvGraphicFramePr>
        <p:xfrm>
          <a:off x="1485720" y="2667000"/>
          <a:ext cx="6326639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3" name="Equation" r:id="rId1" imgW="2565400" imgH="228600" progId="Equation.3">
                  <p:embed/>
                </p:oleObj>
              </mc:Choice>
              <mc:Fallback>
                <p:oleObj name="Equation" r:id="rId1" imgW="2565400" imgH="228600" progId="Equation.3">
                  <p:embed/>
                  <p:pic>
                    <p:nvPicPr>
                      <p:cNvPr id="0" name="图片 43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5720" y="2667000"/>
                        <a:ext cx="6326639" cy="5222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1675" name="Group 11"/>
          <p:cNvGrpSpPr/>
          <p:nvPr/>
        </p:nvGrpSpPr>
        <p:grpSpPr bwMode="auto">
          <a:xfrm>
            <a:off x="1071004" y="4444336"/>
            <a:ext cx="7389428" cy="1433514"/>
            <a:chOff x="429" y="3024"/>
            <a:chExt cx="5027" cy="903"/>
          </a:xfrm>
        </p:grpSpPr>
        <p:grpSp>
          <p:nvGrpSpPr>
            <p:cNvPr id="241673" name="Group 9"/>
            <p:cNvGrpSpPr/>
            <p:nvPr/>
          </p:nvGrpSpPr>
          <p:grpSpPr bwMode="auto">
            <a:xfrm>
              <a:off x="747" y="3024"/>
              <a:ext cx="4709" cy="903"/>
              <a:chOff x="747" y="3024"/>
              <a:chExt cx="4709" cy="903"/>
            </a:xfrm>
          </p:grpSpPr>
          <p:graphicFrame>
            <p:nvGraphicFramePr>
              <p:cNvPr id="241670" name="Object 6"/>
              <p:cNvGraphicFramePr>
                <a:graphicFrameLocks noChangeAspect="1"/>
              </p:cNvGraphicFramePr>
              <p:nvPr/>
            </p:nvGraphicFramePr>
            <p:xfrm>
              <a:off x="768" y="3024"/>
              <a:ext cx="4688" cy="3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54" name="Equation" r:id="rId3" imgW="3543300" imgH="241300" progId="Equation.3">
                      <p:embed/>
                    </p:oleObj>
                  </mc:Choice>
                  <mc:Fallback>
                    <p:oleObj name="Equation" r:id="rId3" imgW="3543300" imgH="241300" progId="Equation.3">
                      <p:embed/>
                      <p:pic>
                        <p:nvPicPr>
                          <p:cNvPr id="0" name="图片 435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8" y="3024"/>
                            <a:ext cx="4688" cy="34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1671" name="Object 7"/>
              <p:cNvGraphicFramePr>
                <a:graphicFrameLocks noChangeAspect="1"/>
              </p:cNvGraphicFramePr>
              <p:nvPr/>
            </p:nvGraphicFramePr>
            <p:xfrm>
              <a:off x="747" y="3315"/>
              <a:ext cx="1872" cy="6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55" name="Equation" r:id="rId5" imgW="1320165" imgH="431800" progId="Equation.3">
                      <p:embed/>
                    </p:oleObj>
                  </mc:Choice>
                  <mc:Fallback>
                    <p:oleObj name="Equation" r:id="rId5" imgW="1320165" imgH="431800" progId="Equation.3">
                      <p:embed/>
                      <p:pic>
                        <p:nvPicPr>
                          <p:cNvPr id="0" name="图片 435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47" y="3315"/>
                            <a:ext cx="1872" cy="61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41674" name="Rectangle 10"/>
            <p:cNvSpPr>
              <a:spLocks noChangeArrowheads="1"/>
            </p:cNvSpPr>
            <p:nvPr/>
          </p:nvSpPr>
          <p:spPr bwMode="auto">
            <a:xfrm>
              <a:off x="429" y="3428"/>
              <a:ext cx="363" cy="3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L="0" lvl="1">
                <a:spcBef>
                  <a:spcPct val="50000"/>
                </a:spcBef>
                <a:buClr>
                  <a:schemeClr val="folHlink"/>
                </a:buClr>
              </a:pPr>
              <a:r>
                <a:rPr lang="zh-CN" altLang="en-US" sz="2600" b="1"/>
                <a:t>或</a:t>
              </a:r>
              <a:endParaRPr lang="zh-CN" altLang="en-US" sz="2600" b="1"/>
            </a:p>
          </p:txBody>
        </p:sp>
      </p:grp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667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数制和码制（</a:t>
            </a:r>
            <a:r>
              <a:rPr lang="en-US" altLang="zh-CN"/>
              <a:t>6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08151-604D-49A3-B990-4EDAF9454131}" type="slidenum">
              <a:rPr lang="en-US" altLang="zh-CN"/>
            </a:fld>
            <a:endParaRPr lang="en-US" altLang="zh-CN"/>
          </a:p>
        </p:txBody>
      </p:sp>
      <p:sp>
        <p:nvSpPr>
          <p:cNvPr id="2375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456476" cy="4607024"/>
          </a:xfrm>
        </p:spPr>
        <p:txBody>
          <a:bodyPr/>
          <a:lstStyle/>
          <a:p>
            <a:r>
              <a:rPr lang="zh-CN" altLang="en-US" dirty="0"/>
              <a:t>十进制数</a:t>
            </a:r>
            <a:endParaRPr lang="zh-CN" altLang="en-US" dirty="0"/>
          </a:p>
          <a:p>
            <a:pPr lvl="1"/>
            <a:r>
              <a:rPr lang="zh-CN" altLang="en-US" dirty="0"/>
              <a:t>基数为</a:t>
            </a:r>
            <a:r>
              <a:rPr lang="en-US" altLang="zh-CN" dirty="0"/>
              <a:t>10</a:t>
            </a:r>
            <a:r>
              <a:rPr lang="zh-CN" altLang="en-US" dirty="0"/>
              <a:t>，数码</a:t>
            </a:r>
            <a:r>
              <a:rPr lang="en-US" altLang="zh-CN" dirty="0"/>
              <a:t>0</a:t>
            </a:r>
            <a:r>
              <a:rPr lang="zh-CN" altLang="en-US" dirty="0"/>
              <a:t>～</a:t>
            </a:r>
            <a:r>
              <a:rPr lang="en-US" altLang="zh-CN" dirty="0"/>
              <a:t>9</a:t>
            </a:r>
            <a:endParaRPr lang="en-US" altLang="zh-CN" dirty="0"/>
          </a:p>
          <a:p>
            <a:pPr lvl="1"/>
            <a:r>
              <a:rPr lang="zh-CN" altLang="en-US" dirty="0"/>
              <a:t>任意一个十进制数可以表示为</a:t>
            </a:r>
            <a:endParaRPr lang="zh-CN" altLang="en-US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权值</a:t>
            </a:r>
            <a:r>
              <a:rPr lang="en-US" altLang="zh-CN" dirty="0"/>
              <a:t>10</a:t>
            </a:r>
            <a:r>
              <a:rPr lang="en-US" altLang="zh-CN" baseline="30000" dirty="0"/>
              <a:t>i</a:t>
            </a:r>
            <a:endParaRPr lang="en-US" altLang="zh-CN" baseline="30000" dirty="0"/>
          </a:p>
          <a:p>
            <a:pPr lvl="1"/>
            <a:r>
              <a:rPr lang="zh-CN" altLang="en-US" dirty="0"/>
              <a:t>如</a:t>
            </a:r>
            <a:r>
              <a:rPr lang="en-US" altLang="zh-CN" dirty="0"/>
              <a:t>143.75</a:t>
            </a:r>
            <a:endParaRPr lang="en-US" altLang="zh-CN" dirty="0"/>
          </a:p>
        </p:txBody>
      </p:sp>
      <p:graphicFrame>
        <p:nvGraphicFramePr>
          <p:cNvPr id="237572" name="Object 4"/>
          <p:cNvGraphicFramePr>
            <a:graphicFrameLocks noChangeAspect="1"/>
          </p:cNvGraphicFramePr>
          <p:nvPr/>
        </p:nvGraphicFramePr>
        <p:xfrm>
          <a:off x="4716016" y="3212976"/>
          <a:ext cx="2808312" cy="640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0" name="Equation" r:id="rId1" imgW="26822400" imgH="6400800" progId="Equation.DSMT4">
                  <p:embed/>
                </p:oleObj>
              </mc:Choice>
              <mc:Fallback>
                <p:oleObj name="Equation" r:id="rId1" imgW="26822400" imgH="6400800" progId="Equation.DSMT4">
                  <p:embed/>
                  <p:pic>
                    <p:nvPicPr>
                      <p:cNvPr id="0" name="图片 52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016" y="3212976"/>
                        <a:ext cx="2808312" cy="64045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573" name="Object 5"/>
          <p:cNvGraphicFramePr>
            <a:graphicFrameLocks noChangeAspect="1"/>
          </p:cNvGraphicFramePr>
          <p:nvPr/>
        </p:nvGraphicFramePr>
        <p:xfrm>
          <a:off x="899592" y="5229200"/>
          <a:ext cx="7552247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1" name="Equation" r:id="rId3" imgW="92659200" imgH="4876800" progId="Equation.DSMT4">
                  <p:embed/>
                </p:oleObj>
              </mc:Choice>
              <mc:Fallback>
                <p:oleObj name="Equation" r:id="rId3" imgW="92659200" imgH="4876800" progId="Equation.DSMT4">
                  <p:embed/>
                  <p:pic>
                    <p:nvPicPr>
                      <p:cNvPr id="0" name="图片 52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5229200"/>
                        <a:ext cx="7552247" cy="4254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数制和码制（</a:t>
            </a:r>
            <a:r>
              <a:rPr lang="en-US" altLang="zh-CN"/>
              <a:t>7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56B06-DF00-4AFD-884B-D54747B7D9A9}" type="slidenum">
              <a:rPr lang="en-US" altLang="zh-CN"/>
            </a:fld>
            <a:endParaRPr lang="en-US" altLang="zh-CN"/>
          </a:p>
        </p:txBody>
      </p:sp>
      <p:sp>
        <p:nvSpPr>
          <p:cNvPr id="2437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二进制数</a:t>
            </a:r>
            <a:endParaRPr lang="zh-CN" altLang="en-US" dirty="0"/>
          </a:p>
          <a:p>
            <a:pPr lvl="1"/>
            <a:r>
              <a:rPr lang="zh-CN" altLang="en-US" dirty="0"/>
              <a:t>基数为</a:t>
            </a:r>
            <a:r>
              <a:rPr lang="en-US" altLang="zh-CN" dirty="0"/>
              <a:t>2</a:t>
            </a:r>
            <a:r>
              <a:rPr lang="zh-CN" altLang="en-US" dirty="0"/>
              <a:t>，数码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任意一个二进制数可以表示为</a:t>
            </a:r>
            <a:endParaRPr lang="zh-CN" altLang="en-US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权值</a:t>
            </a:r>
            <a:r>
              <a:rPr lang="en-US" altLang="zh-CN" dirty="0"/>
              <a:t>2</a:t>
            </a:r>
            <a:r>
              <a:rPr lang="en-US" altLang="zh-CN" baseline="30000" dirty="0"/>
              <a:t>i</a:t>
            </a:r>
            <a:endParaRPr lang="en-US" altLang="zh-CN" baseline="30000" dirty="0"/>
          </a:p>
          <a:p>
            <a:pPr lvl="1"/>
            <a:r>
              <a:rPr lang="zh-CN" altLang="en-US" dirty="0"/>
              <a:t>如</a:t>
            </a:r>
            <a:r>
              <a:rPr lang="en-US" altLang="zh-CN" dirty="0"/>
              <a:t>101.11</a:t>
            </a:r>
            <a:endParaRPr lang="en-US" altLang="zh-CN" dirty="0"/>
          </a:p>
        </p:txBody>
      </p:sp>
      <p:graphicFrame>
        <p:nvGraphicFramePr>
          <p:cNvPr id="243716" name="Object 4"/>
          <p:cNvGraphicFramePr>
            <a:graphicFrameLocks noChangeAspect="1"/>
          </p:cNvGraphicFramePr>
          <p:nvPr/>
        </p:nvGraphicFramePr>
        <p:xfrm>
          <a:off x="5076056" y="3212976"/>
          <a:ext cx="2448272" cy="711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14" name="Equation" r:id="rId1" imgW="25298400" imgH="6400800" progId="Equation.DSMT4">
                  <p:embed/>
                </p:oleObj>
              </mc:Choice>
              <mc:Fallback>
                <p:oleObj name="Equation" r:id="rId1" imgW="25298400" imgH="6400800" progId="Equation.DSMT4">
                  <p:embed/>
                  <p:pic>
                    <p:nvPicPr>
                      <p:cNvPr id="0" name="图片 63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056" y="3212976"/>
                        <a:ext cx="2448272" cy="7115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17" name="Object 5"/>
          <p:cNvGraphicFramePr>
            <a:graphicFrameLocks noChangeAspect="1"/>
          </p:cNvGraphicFramePr>
          <p:nvPr/>
        </p:nvGraphicFramePr>
        <p:xfrm>
          <a:off x="755576" y="5157192"/>
          <a:ext cx="7776864" cy="108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15" name="Equation" r:id="rId3" imgW="86868000" imgH="12192000" progId="Equation.DSMT4">
                  <p:embed/>
                </p:oleObj>
              </mc:Choice>
              <mc:Fallback>
                <p:oleObj name="Equation" r:id="rId3" imgW="86868000" imgH="12192000" progId="Equation.DSMT4">
                  <p:embed/>
                  <p:pic>
                    <p:nvPicPr>
                      <p:cNvPr id="0" name="图片 63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5157192"/>
                        <a:ext cx="7776864" cy="10801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数制和码制（</a:t>
            </a:r>
            <a:r>
              <a:rPr lang="en-US" altLang="zh-CN"/>
              <a:t>8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C6AC-4698-4348-BB5E-669D6517A129}" type="slidenum">
              <a:rPr lang="en-US" altLang="zh-CN"/>
            </a:fld>
            <a:endParaRPr lang="en-US" altLang="zh-CN"/>
          </a:p>
        </p:txBody>
      </p:sp>
      <p:sp>
        <p:nvSpPr>
          <p:cNvPr id="2447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456476" cy="4607024"/>
          </a:xfrm>
        </p:spPr>
        <p:txBody>
          <a:bodyPr/>
          <a:lstStyle/>
          <a:p>
            <a:r>
              <a:rPr lang="zh-CN" altLang="en-US" dirty="0"/>
              <a:t>八进制数</a:t>
            </a:r>
            <a:endParaRPr lang="zh-CN" altLang="en-US" dirty="0"/>
          </a:p>
          <a:p>
            <a:pPr lvl="1"/>
            <a:r>
              <a:rPr lang="zh-CN" altLang="en-US" dirty="0"/>
              <a:t>基数为</a:t>
            </a:r>
            <a:r>
              <a:rPr lang="en-US" altLang="zh-CN" dirty="0"/>
              <a:t>8</a:t>
            </a:r>
            <a:r>
              <a:rPr lang="zh-CN" altLang="en-US" dirty="0"/>
              <a:t>，数码</a:t>
            </a:r>
            <a:r>
              <a:rPr lang="en-US" altLang="zh-CN" dirty="0"/>
              <a:t>0</a:t>
            </a:r>
            <a:r>
              <a:rPr lang="zh-CN" altLang="en-US" dirty="0"/>
              <a:t>～</a:t>
            </a:r>
            <a:r>
              <a:rPr lang="en-US" altLang="zh-CN" dirty="0"/>
              <a:t>7</a:t>
            </a:r>
            <a:endParaRPr lang="en-US" altLang="zh-CN" dirty="0"/>
          </a:p>
          <a:p>
            <a:pPr lvl="1"/>
            <a:r>
              <a:rPr lang="zh-CN" altLang="en-US" dirty="0"/>
              <a:t>任意一个八进制数可以表示为</a:t>
            </a:r>
            <a:endParaRPr lang="en-US" altLang="zh-CN" dirty="0"/>
          </a:p>
          <a:p>
            <a:pPr lvl="1"/>
            <a:endParaRPr lang="zh-CN" altLang="en-US" dirty="0"/>
          </a:p>
          <a:p>
            <a:r>
              <a:rPr lang="zh-CN" altLang="en-US" dirty="0"/>
              <a:t>十六进制数</a:t>
            </a:r>
            <a:endParaRPr lang="zh-CN" altLang="en-US" dirty="0"/>
          </a:p>
          <a:p>
            <a:pPr lvl="1"/>
            <a:r>
              <a:rPr lang="zh-CN" altLang="en-US" dirty="0"/>
              <a:t>基数为</a:t>
            </a:r>
            <a:r>
              <a:rPr lang="en-US" altLang="zh-CN" dirty="0"/>
              <a:t>16</a:t>
            </a:r>
            <a:r>
              <a:rPr lang="zh-CN" altLang="en-US" dirty="0"/>
              <a:t>，数码</a:t>
            </a:r>
            <a:r>
              <a:rPr lang="en-US" altLang="zh-CN" dirty="0"/>
              <a:t>0</a:t>
            </a:r>
            <a:r>
              <a:rPr lang="zh-CN" altLang="en-US" dirty="0"/>
              <a:t>～</a:t>
            </a:r>
            <a:r>
              <a:rPr lang="en-US" altLang="zh-CN" dirty="0"/>
              <a:t>9</a:t>
            </a:r>
            <a:r>
              <a:rPr lang="zh-CN" altLang="en-US" dirty="0"/>
              <a:t>，</a:t>
            </a:r>
            <a:r>
              <a:rPr lang="en-US" altLang="zh-CN" dirty="0"/>
              <a:t>A B C D E F</a:t>
            </a:r>
            <a:endParaRPr lang="en-US" altLang="zh-CN" dirty="0"/>
          </a:p>
          <a:p>
            <a:pPr lvl="1"/>
            <a:r>
              <a:rPr lang="zh-CN" altLang="en-US" dirty="0"/>
              <a:t>任意一个十六进制数可以表示为</a:t>
            </a:r>
            <a:endParaRPr lang="zh-CN" altLang="en-US" dirty="0"/>
          </a:p>
          <a:p>
            <a:pPr lvl="1"/>
            <a:endParaRPr lang="en-US" altLang="zh-CN" dirty="0"/>
          </a:p>
        </p:txBody>
      </p:sp>
      <p:graphicFrame>
        <p:nvGraphicFramePr>
          <p:cNvPr id="244740" name="Object 4"/>
          <p:cNvGraphicFramePr>
            <a:graphicFrameLocks noChangeAspect="1"/>
          </p:cNvGraphicFramePr>
          <p:nvPr/>
        </p:nvGraphicFramePr>
        <p:xfrm>
          <a:off x="5796136" y="3140968"/>
          <a:ext cx="2646294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8" name="公式" r:id="rId1" imgW="25298400" imgH="6400800" progId="Equation.3">
                  <p:embed/>
                </p:oleObj>
              </mc:Choice>
              <mc:Fallback>
                <p:oleObj name="公式" r:id="rId1" imgW="25298400" imgH="6400800" progId="Equation.3">
                  <p:embed/>
                  <p:pic>
                    <p:nvPicPr>
                      <p:cNvPr id="0" name="图片 73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6136" y="3140968"/>
                        <a:ext cx="2646294" cy="6480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42" name="Object 6"/>
          <p:cNvGraphicFramePr>
            <a:graphicFrameLocks noChangeAspect="1"/>
          </p:cNvGraphicFramePr>
          <p:nvPr/>
        </p:nvGraphicFramePr>
        <p:xfrm>
          <a:off x="5796136" y="5589240"/>
          <a:ext cx="3096344" cy="642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9" name="公式" r:id="rId3" imgW="26822400" imgH="6400800" progId="Equation.3">
                  <p:embed/>
                </p:oleObj>
              </mc:Choice>
              <mc:Fallback>
                <p:oleObj name="公式" r:id="rId3" imgW="26822400" imgH="6400800" progId="Equation.3">
                  <p:embed/>
                  <p:pic>
                    <p:nvPicPr>
                      <p:cNvPr id="0" name="图片 73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6136" y="5589240"/>
                        <a:ext cx="3096344" cy="64244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数制和码制（</a:t>
            </a:r>
            <a:r>
              <a:rPr lang="en-US" altLang="zh-CN"/>
              <a:t>9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3695E-606F-4D04-AB2B-5D1C4425C3A0}" type="slidenum">
              <a:rPr lang="en-US" altLang="zh-CN"/>
            </a:fld>
            <a:endParaRPr lang="en-US" altLang="zh-CN"/>
          </a:p>
        </p:txBody>
      </p:sp>
      <p:sp>
        <p:nvSpPr>
          <p:cNvPr id="2426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84468" cy="4607024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数制转换</a:t>
            </a:r>
            <a:endParaRPr lang="zh-CN" altLang="en-US" dirty="0"/>
          </a:p>
          <a:p>
            <a:pPr lvl="1"/>
            <a:r>
              <a:rPr lang="zh-CN" altLang="en-US" dirty="0"/>
              <a:t>二－十进制互换</a:t>
            </a:r>
            <a:endParaRPr lang="zh-CN" altLang="en-US" dirty="0"/>
          </a:p>
          <a:p>
            <a:pPr lvl="1"/>
            <a:r>
              <a:rPr lang="zh-CN" altLang="en-US" dirty="0"/>
              <a:t>二－八进制互换</a:t>
            </a:r>
            <a:endParaRPr lang="zh-CN" altLang="en-US" dirty="0"/>
          </a:p>
          <a:p>
            <a:pPr lvl="1"/>
            <a:r>
              <a:rPr lang="zh-CN" altLang="en-US" dirty="0"/>
              <a:t>二－十六进制互换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小常识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    </a:t>
            </a:r>
            <a:r>
              <a:rPr lang="en-US" altLang="zh-CN" dirty="0"/>
              <a:t>K</a:t>
            </a:r>
            <a:r>
              <a:rPr lang="zh-CN" altLang="en-US" dirty="0"/>
              <a:t>，</a:t>
            </a:r>
            <a:r>
              <a:rPr lang="en-US" altLang="zh-CN" dirty="0"/>
              <a:t>M</a:t>
            </a:r>
            <a:r>
              <a:rPr lang="zh-CN" altLang="en-US" dirty="0"/>
              <a:t>，</a:t>
            </a:r>
            <a:r>
              <a:rPr lang="en-US" altLang="zh-CN" dirty="0"/>
              <a:t>G</a:t>
            </a:r>
            <a:r>
              <a:rPr lang="zh-CN" altLang="en-US" dirty="0"/>
              <a:t>，</a:t>
            </a:r>
            <a:r>
              <a:rPr lang="en-US" altLang="zh-CN" dirty="0"/>
              <a:t>T</a:t>
            </a:r>
            <a:r>
              <a:rPr lang="zh-CN" altLang="en-US" dirty="0"/>
              <a:t>，</a:t>
            </a:r>
            <a:r>
              <a:rPr lang="en-US" altLang="zh-CN" dirty="0"/>
              <a:t>P</a:t>
            </a:r>
            <a:r>
              <a:rPr lang="zh-CN" altLang="en-US" dirty="0"/>
              <a:t>，</a:t>
            </a:r>
            <a:r>
              <a:rPr lang="en-US" altLang="zh-CN" dirty="0"/>
              <a:t>E</a:t>
            </a:r>
            <a:r>
              <a:rPr lang="zh-CN" altLang="en-US" dirty="0"/>
              <a:t>，</a:t>
            </a:r>
            <a:r>
              <a:rPr lang="en-US" altLang="zh-CN" dirty="0"/>
              <a:t>Z</a:t>
            </a:r>
            <a:r>
              <a:rPr lang="zh-CN" altLang="en-US" dirty="0"/>
              <a:t>，</a:t>
            </a:r>
            <a:r>
              <a:rPr lang="en-US" altLang="zh-CN" dirty="0"/>
              <a:t>Y</a:t>
            </a:r>
            <a:r>
              <a:rPr lang="zh-CN" altLang="en-US" dirty="0"/>
              <a:t>，</a:t>
            </a:r>
            <a:r>
              <a:rPr lang="en-US" altLang="zh-CN" dirty="0"/>
              <a:t>B……</a:t>
            </a:r>
            <a:r>
              <a:rPr lang="zh-CN" altLang="en-US" dirty="0"/>
              <a:t>各自的含义</a:t>
            </a:r>
            <a:endParaRPr lang="zh-CN" altLang="en-US" dirty="0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691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数制和码制（</a:t>
            </a:r>
            <a:r>
              <a:rPr lang="en-US" altLang="zh-CN"/>
              <a:t>10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A705-17E4-4931-AE66-271B23427A7D}" type="slidenum">
              <a:rPr lang="en-US" altLang="zh-CN"/>
            </a:fld>
            <a:endParaRPr lang="en-US" altLang="zh-CN"/>
          </a:p>
        </p:txBody>
      </p:sp>
      <p:sp>
        <p:nvSpPr>
          <p:cNvPr id="2457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3538" y="1268760"/>
            <a:ext cx="8622958" cy="4446240"/>
          </a:xfrm>
        </p:spPr>
        <p:txBody>
          <a:bodyPr/>
          <a:lstStyle/>
          <a:p>
            <a:r>
              <a:rPr lang="zh-CN" altLang="en-US" dirty="0"/>
              <a:t>二－十进制互换</a:t>
            </a:r>
            <a:endParaRPr lang="zh-CN" altLang="en-US" dirty="0"/>
          </a:p>
          <a:p>
            <a:pPr lvl="1"/>
            <a:r>
              <a:rPr lang="zh-CN" altLang="en-US" dirty="0"/>
              <a:t>二</a:t>
            </a:r>
            <a:r>
              <a:rPr lang="zh-CN" altLang="en-US" dirty="0">
                <a:sym typeface="Symbol" panose="05050102010706020507" pitchFamily="18" charset="2"/>
              </a:rPr>
              <a:t>－</a:t>
            </a:r>
            <a:r>
              <a:rPr lang="zh-CN" altLang="en-US" dirty="0"/>
              <a:t>十进制转换：将（</a:t>
            </a:r>
            <a:r>
              <a:rPr lang="en-US" altLang="zh-CN" dirty="0"/>
              <a:t>1101)</a:t>
            </a:r>
            <a:r>
              <a:rPr lang="en-US" altLang="zh-CN" baseline="-25000" dirty="0"/>
              <a:t>2 </a:t>
            </a:r>
            <a:r>
              <a:rPr lang="zh-CN" altLang="en-US" dirty="0"/>
              <a:t>转成十进制数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十－二进制转换：将</a:t>
            </a:r>
            <a:r>
              <a:rPr lang="en-US" altLang="zh-CN" dirty="0"/>
              <a:t>75</a:t>
            </a:r>
            <a:r>
              <a:rPr lang="zh-CN" altLang="en-US" dirty="0"/>
              <a:t>转成二进制数</a:t>
            </a:r>
            <a:endParaRPr lang="zh-CN" altLang="en-US" dirty="0"/>
          </a:p>
        </p:txBody>
      </p:sp>
      <p:graphicFrame>
        <p:nvGraphicFramePr>
          <p:cNvPr id="245764" name="Object 4"/>
          <p:cNvGraphicFramePr>
            <a:graphicFrameLocks noChangeAspect="1"/>
          </p:cNvGraphicFramePr>
          <p:nvPr/>
        </p:nvGraphicFramePr>
        <p:xfrm>
          <a:off x="1115616" y="2492896"/>
          <a:ext cx="6922944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9" name="Equation" r:id="rId1" imgW="2781300" imgH="241300" progId="Equation.3">
                  <p:embed/>
                </p:oleObj>
              </mc:Choice>
              <mc:Fallback>
                <p:oleObj name="Equation" r:id="rId1" imgW="2781300" imgH="241300" progId="Equation.3">
                  <p:embed/>
                  <p:pic>
                    <p:nvPicPr>
                      <p:cNvPr id="0" name="图片 82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2492896"/>
                        <a:ext cx="6922944" cy="6000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5811" name="Group 51"/>
          <p:cNvGrpSpPr/>
          <p:nvPr/>
        </p:nvGrpSpPr>
        <p:grpSpPr bwMode="auto">
          <a:xfrm>
            <a:off x="3213889" y="3532007"/>
            <a:ext cx="4094559" cy="538162"/>
            <a:chOff x="2544" y="2064"/>
            <a:chExt cx="3439" cy="339"/>
          </a:xfrm>
        </p:grpSpPr>
        <p:grpSp>
          <p:nvGrpSpPr>
            <p:cNvPr id="245770" name="Group 10"/>
            <p:cNvGrpSpPr/>
            <p:nvPr/>
          </p:nvGrpSpPr>
          <p:grpSpPr bwMode="auto">
            <a:xfrm>
              <a:off x="2544" y="2112"/>
              <a:ext cx="1200" cy="291"/>
              <a:chOff x="1440" y="2496"/>
              <a:chExt cx="1200" cy="291"/>
            </a:xfrm>
          </p:grpSpPr>
          <p:sp>
            <p:nvSpPr>
              <p:cNvPr id="245765" name="Line 5"/>
              <p:cNvSpPr>
                <a:spLocks noChangeShapeType="1"/>
              </p:cNvSpPr>
              <p:nvPr/>
            </p:nvSpPr>
            <p:spPr bwMode="auto">
              <a:xfrm>
                <a:off x="1680" y="254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>
                  <a:latin typeface="方正姚体" panose="02010601030101010101" pitchFamily="2" charset="-122"/>
                  <a:ea typeface="方正姚体" panose="02010601030101010101" pitchFamily="2" charset="-122"/>
                </a:endParaRPr>
              </a:p>
            </p:txBody>
          </p:sp>
          <p:sp>
            <p:nvSpPr>
              <p:cNvPr id="245766" name="Text Box 6"/>
              <p:cNvSpPr txBox="1">
                <a:spLocks noChangeArrowheads="1"/>
              </p:cNvSpPr>
              <p:nvPr/>
            </p:nvSpPr>
            <p:spPr bwMode="auto">
              <a:xfrm>
                <a:off x="1776" y="2496"/>
                <a:ext cx="864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方正姚体" panose="02010601030101010101" pitchFamily="2" charset="-122"/>
                    <a:ea typeface="方正姚体" panose="02010601030101010101" pitchFamily="2" charset="-122"/>
                  </a:rPr>
                  <a:t>75</a:t>
                </a:r>
                <a:endParaRPr lang="en-US" altLang="zh-CN" dirty="0">
                  <a:latin typeface="方正姚体" panose="02010601030101010101" pitchFamily="2" charset="-122"/>
                  <a:ea typeface="方正姚体" panose="02010601030101010101" pitchFamily="2" charset="-122"/>
                </a:endParaRPr>
              </a:p>
            </p:txBody>
          </p:sp>
          <p:sp>
            <p:nvSpPr>
              <p:cNvPr id="245767" name="Line 7"/>
              <p:cNvSpPr>
                <a:spLocks noChangeShapeType="1"/>
              </p:cNvSpPr>
              <p:nvPr/>
            </p:nvSpPr>
            <p:spPr bwMode="auto">
              <a:xfrm>
                <a:off x="1680" y="2736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>
                  <a:latin typeface="方正姚体" panose="02010601030101010101" pitchFamily="2" charset="-122"/>
                  <a:ea typeface="方正姚体" panose="02010601030101010101" pitchFamily="2" charset="-122"/>
                </a:endParaRPr>
              </a:p>
            </p:txBody>
          </p:sp>
          <p:sp>
            <p:nvSpPr>
              <p:cNvPr id="245768" name="Text Box 8"/>
              <p:cNvSpPr txBox="1">
                <a:spLocks noChangeArrowheads="1"/>
              </p:cNvSpPr>
              <p:nvPr/>
            </p:nvSpPr>
            <p:spPr bwMode="auto">
              <a:xfrm>
                <a:off x="1440" y="2496"/>
                <a:ext cx="192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latin typeface="方正姚体" panose="02010601030101010101" pitchFamily="2" charset="-122"/>
                    <a:ea typeface="方正姚体" panose="02010601030101010101" pitchFamily="2" charset="-122"/>
                  </a:rPr>
                  <a:t>2</a:t>
                </a:r>
                <a:endParaRPr lang="en-US" altLang="zh-CN">
                  <a:latin typeface="方正姚体" panose="02010601030101010101" pitchFamily="2" charset="-122"/>
                  <a:ea typeface="方正姚体" panose="02010601030101010101" pitchFamily="2" charset="-122"/>
                </a:endParaRPr>
              </a:p>
            </p:txBody>
          </p:sp>
        </p:grpSp>
        <p:sp>
          <p:nvSpPr>
            <p:cNvPr id="245769" name="Text Box 9"/>
            <p:cNvSpPr txBox="1">
              <a:spLocks noChangeArrowheads="1"/>
            </p:cNvSpPr>
            <p:nvPr/>
          </p:nvSpPr>
          <p:spPr bwMode="auto">
            <a:xfrm>
              <a:off x="3312" y="2064"/>
              <a:ext cx="2671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………………</a:t>
              </a:r>
              <a:r>
                <a:rPr lang="zh-CN" altLang="en-US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余数＝</a:t>
              </a:r>
              <a:r>
                <a:rPr lang="en-US" altLang="zh-CN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1</a:t>
              </a:r>
              <a:endPara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</p:grpSp>
      <p:grpSp>
        <p:nvGrpSpPr>
          <p:cNvPr id="245812" name="Group 52"/>
          <p:cNvGrpSpPr/>
          <p:nvPr/>
        </p:nvGrpSpPr>
        <p:grpSpPr bwMode="auto">
          <a:xfrm>
            <a:off x="3209578" y="3913007"/>
            <a:ext cx="4242846" cy="538162"/>
            <a:chOff x="2590" y="2304"/>
            <a:chExt cx="2883" cy="339"/>
          </a:xfrm>
        </p:grpSpPr>
        <p:grpSp>
          <p:nvGrpSpPr>
            <p:cNvPr id="245771" name="Group 11"/>
            <p:cNvGrpSpPr/>
            <p:nvPr/>
          </p:nvGrpSpPr>
          <p:grpSpPr bwMode="auto">
            <a:xfrm>
              <a:off x="2590" y="2343"/>
              <a:ext cx="1106" cy="300"/>
              <a:chOff x="1486" y="2487"/>
              <a:chExt cx="1106" cy="300"/>
            </a:xfrm>
          </p:grpSpPr>
          <p:sp>
            <p:nvSpPr>
              <p:cNvPr id="245772" name="Line 12"/>
              <p:cNvSpPr>
                <a:spLocks noChangeShapeType="1"/>
              </p:cNvSpPr>
              <p:nvPr/>
            </p:nvSpPr>
            <p:spPr bwMode="auto">
              <a:xfrm>
                <a:off x="1680" y="254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>
                  <a:latin typeface="方正姚体" panose="02010601030101010101" pitchFamily="2" charset="-122"/>
                  <a:ea typeface="方正姚体" panose="02010601030101010101" pitchFamily="2" charset="-122"/>
                </a:endParaRPr>
              </a:p>
            </p:txBody>
          </p:sp>
          <p:sp>
            <p:nvSpPr>
              <p:cNvPr id="245773" name="Text Box 13"/>
              <p:cNvSpPr txBox="1">
                <a:spLocks noChangeArrowheads="1"/>
              </p:cNvSpPr>
              <p:nvPr/>
            </p:nvSpPr>
            <p:spPr bwMode="auto">
              <a:xfrm>
                <a:off x="1776" y="2496"/>
                <a:ext cx="816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方正姚体" panose="02010601030101010101" pitchFamily="2" charset="-122"/>
                    <a:ea typeface="方正姚体" panose="02010601030101010101" pitchFamily="2" charset="-122"/>
                  </a:rPr>
                  <a:t>37</a:t>
                </a:r>
                <a:endParaRPr lang="en-US" altLang="zh-CN" dirty="0">
                  <a:latin typeface="方正姚体" panose="02010601030101010101" pitchFamily="2" charset="-122"/>
                  <a:ea typeface="方正姚体" panose="02010601030101010101" pitchFamily="2" charset="-122"/>
                </a:endParaRPr>
              </a:p>
            </p:txBody>
          </p:sp>
          <p:sp>
            <p:nvSpPr>
              <p:cNvPr id="245774" name="Line 14"/>
              <p:cNvSpPr>
                <a:spLocks noChangeShapeType="1"/>
              </p:cNvSpPr>
              <p:nvPr/>
            </p:nvSpPr>
            <p:spPr bwMode="auto">
              <a:xfrm>
                <a:off x="1680" y="2736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>
                  <a:latin typeface="方正姚体" panose="02010601030101010101" pitchFamily="2" charset="-122"/>
                  <a:ea typeface="方正姚体" panose="02010601030101010101" pitchFamily="2" charset="-122"/>
                </a:endParaRPr>
              </a:p>
            </p:txBody>
          </p:sp>
          <p:sp>
            <p:nvSpPr>
              <p:cNvPr id="245775" name="Text Box 15"/>
              <p:cNvSpPr txBox="1">
                <a:spLocks noChangeArrowheads="1"/>
              </p:cNvSpPr>
              <p:nvPr/>
            </p:nvSpPr>
            <p:spPr bwMode="auto">
              <a:xfrm>
                <a:off x="1486" y="2487"/>
                <a:ext cx="192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方正姚体" panose="02010601030101010101" pitchFamily="2" charset="-122"/>
                    <a:ea typeface="方正姚体" panose="02010601030101010101" pitchFamily="2" charset="-122"/>
                  </a:rPr>
                  <a:t>2</a:t>
                </a:r>
                <a:endParaRPr lang="en-US" altLang="zh-CN" dirty="0">
                  <a:latin typeface="方正姚体" panose="02010601030101010101" pitchFamily="2" charset="-122"/>
                  <a:ea typeface="方正姚体" panose="02010601030101010101" pitchFamily="2" charset="-122"/>
                </a:endParaRPr>
              </a:p>
            </p:txBody>
          </p:sp>
        </p:grpSp>
        <p:sp>
          <p:nvSpPr>
            <p:cNvPr id="245776" name="Text Box 16"/>
            <p:cNvSpPr txBox="1">
              <a:spLocks noChangeArrowheads="1"/>
            </p:cNvSpPr>
            <p:nvPr/>
          </p:nvSpPr>
          <p:spPr bwMode="auto">
            <a:xfrm>
              <a:off x="3214" y="2304"/>
              <a:ext cx="2259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………………</a:t>
              </a:r>
              <a:r>
                <a:rPr lang="zh-CN" altLang="en-US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余数＝</a:t>
              </a:r>
              <a:r>
                <a:rPr lang="en-US" altLang="zh-CN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1</a:t>
              </a:r>
              <a:endPara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</p:grpSp>
      <p:grpSp>
        <p:nvGrpSpPr>
          <p:cNvPr id="245813" name="Group 53"/>
          <p:cNvGrpSpPr/>
          <p:nvPr/>
        </p:nvGrpSpPr>
        <p:grpSpPr bwMode="auto">
          <a:xfrm>
            <a:off x="3213889" y="4294013"/>
            <a:ext cx="4238625" cy="2405063"/>
            <a:chOff x="2544" y="2544"/>
            <a:chExt cx="3560" cy="1515"/>
          </a:xfrm>
        </p:grpSpPr>
        <p:grpSp>
          <p:nvGrpSpPr>
            <p:cNvPr id="245778" name="Group 18"/>
            <p:cNvGrpSpPr/>
            <p:nvPr/>
          </p:nvGrpSpPr>
          <p:grpSpPr bwMode="auto">
            <a:xfrm>
              <a:off x="2544" y="2592"/>
              <a:ext cx="969" cy="291"/>
              <a:chOff x="1440" y="2496"/>
              <a:chExt cx="969" cy="291"/>
            </a:xfrm>
          </p:grpSpPr>
          <p:sp>
            <p:nvSpPr>
              <p:cNvPr id="245779" name="Line 19"/>
              <p:cNvSpPr>
                <a:spLocks noChangeShapeType="1"/>
              </p:cNvSpPr>
              <p:nvPr/>
            </p:nvSpPr>
            <p:spPr bwMode="auto">
              <a:xfrm>
                <a:off x="1680" y="254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>
                  <a:latin typeface="方正姚体" panose="02010601030101010101" pitchFamily="2" charset="-122"/>
                  <a:ea typeface="方正姚体" panose="02010601030101010101" pitchFamily="2" charset="-122"/>
                </a:endParaRPr>
              </a:p>
            </p:txBody>
          </p:sp>
          <p:sp>
            <p:nvSpPr>
              <p:cNvPr id="245780" name="Text Box 20"/>
              <p:cNvSpPr txBox="1">
                <a:spLocks noChangeArrowheads="1"/>
              </p:cNvSpPr>
              <p:nvPr/>
            </p:nvSpPr>
            <p:spPr bwMode="auto">
              <a:xfrm>
                <a:off x="1776" y="2496"/>
                <a:ext cx="633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方正姚体" panose="02010601030101010101" pitchFamily="2" charset="-122"/>
                    <a:ea typeface="方正姚体" panose="02010601030101010101" pitchFamily="2" charset="-122"/>
                  </a:rPr>
                  <a:t>18</a:t>
                </a:r>
                <a:endParaRPr lang="en-US" altLang="zh-CN" dirty="0">
                  <a:latin typeface="方正姚体" panose="02010601030101010101" pitchFamily="2" charset="-122"/>
                  <a:ea typeface="方正姚体" panose="02010601030101010101" pitchFamily="2" charset="-122"/>
                </a:endParaRPr>
              </a:p>
            </p:txBody>
          </p:sp>
          <p:sp>
            <p:nvSpPr>
              <p:cNvPr id="245781" name="Line 21"/>
              <p:cNvSpPr>
                <a:spLocks noChangeShapeType="1"/>
              </p:cNvSpPr>
              <p:nvPr/>
            </p:nvSpPr>
            <p:spPr bwMode="auto">
              <a:xfrm>
                <a:off x="1680" y="2736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>
                  <a:latin typeface="方正姚体" panose="02010601030101010101" pitchFamily="2" charset="-122"/>
                  <a:ea typeface="方正姚体" panose="02010601030101010101" pitchFamily="2" charset="-122"/>
                </a:endParaRPr>
              </a:p>
            </p:txBody>
          </p:sp>
          <p:sp>
            <p:nvSpPr>
              <p:cNvPr id="245782" name="Text Box 22"/>
              <p:cNvSpPr txBox="1">
                <a:spLocks noChangeArrowheads="1"/>
              </p:cNvSpPr>
              <p:nvPr/>
            </p:nvSpPr>
            <p:spPr bwMode="auto">
              <a:xfrm>
                <a:off x="1440" y="2496"/>
                <a:ext cx="192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latin typeface="方正姚体" panose="02010601030101010101" pitchFamily="2" charset="-122"/>
                    <a:ea typeface="方正姚体" panose="02010601030101010101" pitchFamily="2" charset="-122"/>
                  </a:rPr>
                  <a:t>2</a:t>
                </a:r>
                <a:endParaRPr lang="en-US" altLang="zh-CN">
                  <a:latin typeface="方正姚体" panose="02010601030101010101" pitchFamily="2" charset="-122"/>
                  <a:ea typeface="方正姚体" panose="02010601030101010101" pitchFamily="2" charset="-122"/>
                </a:endParaRPr>
              </a:p>
            </p:txBody>
          </p:sp>
        </p:grpSp>
        <p:sp>
          <p:nvSpPr>
            <p:cNvPr id="245783" name="Text Box 23"/>
            <p:cNvSpPr txBox="1">
              <a:spLocks noChangeArrowheads="1"/>
            </p:cNvSpPr>
            <p:nvPr/>
          </p:nvSpPr>
          <p:spPr bwMode="auto">
            <a:xfrm>
              <a:off x="3312" y="2544"/>
              <a:ext cx="2792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………………</a:t>
              </a:r>
              <a:r>
                <a:rPr lang="zh-CN" altLang="en-US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余数＝</a:t>
              </a:r>
              <a:r>
                <a:rPr lang="en-US" altLang="zh-CN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0</a:t>
              </a:r>
              <a:endPara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  <p:grpSp>
          <p:nvGrpSpPr>
            <p:cNvPr id="245784" name="Group 24"/>
            <p:cNvGrpSpPr/>
            <p:nvPr/>
          </p:nvGrpSpPr>
          <p:grpSpPr bwMode="auto">
            <a:xfrm>
              <a:off x="2544" y="2832"/>
              <a:ext cx="720" cy="291"/>
              <a:chOff x="1440" y="2496"/>
              <a:chExt cx="720" cy="291"/>
            </a:xfrm>
          </p:grpSpPr>
          <p:sp>
            <p:nvSpPr>
              <p:cNvPr id="245785" name="Line 25"/>
              <p:cNvSpPr>
                <a:spLocks noChangeShapeType="1"/>
              </p:cNvSpPr>
              <p:nvPr/>
            </p:nvSpPr>
            <p:spPr bwMode="auto">
              <a:xfrm>
                <a:off x="1680" y="254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>
                  <a:latin typeface="方正姚体" panose="02010601030101010101" pitchFamily="2" charset="-122"/>
                  <a:ea typeface="方正姚体" panose="02010601030101010101" pitchFamily="2" charset="-122"/>
                </a:endParaRPr>
              </a:p>
            </p:txBody>
          </p:sp>
          <p:sp>
            <p:nvSpPr>
              <p:cNvPr id="245786" name="Text Box 26"/>
              <p:cNvSpPr txBox="1">
                <a:spLocks noChangeArrowheads="1"/>
              </p:cNvSpPr>
              <p:nvPr/>
            </p:nvSpPr>
            <p:spPr bwMode="auto">
              <a:xfrm>
                <a:off x="1776" y="2496"/>
                <a:ext cx="336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方正姚体" panose="02010601030101010101" pitchFamily="2" charset="-122"/>
                    <a:ea typeface="方正姚体" panose="02010601030101010101" pitchFamily="2" charset="-122"/>
                  </a:rPr>
                  <a:t>9</a:t>
                </a:r>
                <a:endParaRPr lang="en-US" altLang="zh-CN" dirty="0">
                  <a:latin typeface="方正姚体" panose="02010601030101010101" pitchFamily="2" charset="-122"/>
                  <a:ea typeface="方正姚体" panose="02010601030101010101" pitchFamily="2" charset="-122"/>
                </a:endParaRPr>
              </a:p>
            </p:txBody>
          </p:sp>
          <p:sp>
            <p:nvSpPr>
              <p:cNvPr id="245787" name="Line 27"/>
              <p:cNvSpPr>
                <a:spLocks noChangeShapeType="1"/>
              </p:cNvSpPr>
              <p:nvPr/>
            </p:nvSpPr>
            <p:spPr bwMode="auto">
              <a:xfrm>
                <a:off x="1680" y="2736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>
                  <a:latin typeface="方正姚体" panose="02010601030101010101" pitchFamily="2" charset="-122"/>
                  <a:ea typeface="方正姚体" panose="02010601030101010101" pitchFamily="2" charset="-122"/>
                </a:endParaRPr>
              </a:p>
            </p:txBody>
          </p:sp>
          <p:sp>
            <p:nvSpPr>
              <p:cNvPr id="245788" name="Text Box 28"/>
              <p:cNvSpPr txBox="1">
                <a:spLocks noChangeArrowheads="1"/>
              </p:cNvSpPr>
              <p:nvPr/>
            </p:nvSpPr>
            <p:spPr bwMode="auto">
              <a:xfrm>
                <a:off x="1440" y="2496"/>
                <a:ext cx="192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latin typeface="方正姚体" panose="02010601030101010101" pitchFamily="2" charset="-122"/>
                    <a:ea typeface="方正姚体" panose="02010601030101010101" pitchFamily="2" charset="-122"/>
                  </a:rPr>
                  <a:t>2</a:t>
                </a:r>
                <a:endParaRPr lang="en-US" altLang="zh-CN">
                  <a:latin typeface="方正姚体" panose="02010601030101010101" pitchFamily="2" charset="-122"/>
                  <a:ea typeface="方正姚体" panose="02010601030101010101" pitchFamily="2" charset="-122"/>
                </a:endParaRPr>
              </a:p>
            </p:txBody>
          </p:sp>
        </p:grpSp>
        <p:sp>
          <p:nvSpPr>
            <p:cNvPr id="245789" name="Text Box 29"/>
            <p:cNvSpPr txBox="1">
              <a:spLocks noChangeArrowheads="1"/>
            </p:cNvSpPr>
            <p:nvPr/>
          </p:nvSpPr>
          <p:spPr bwMode="auto">
            <a:xfrm>
              <a:off x="3312" y="2784"/>
              <a:ext cx="2671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………………</a:t>
              </a:r>
              <a:r>
                <a:rPr lang="zh-CN" altLang="en-US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余数＝</a:t>
              </a:r>
              <a:r>
                <a:rPr lang="en-US" altLang="zh-CN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1</a:t>
              </a:r>
              <a:endPara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  <p:grpSp>
          <p:nvGrpSpPr>
            <p:cNvPr id="245790" name="Group 30"/>
            <p:cNvGrpSpPr/>
            <p:nvPr/>
          </p:nvGrpSpPr>
          <p:grpSpPr bwMode="auto">
            <a:xfrm>
              <a:off x="2544" y="3072"/>
              <a:ext cx="720" cy="291"/>
              <a:chOff x="1440" y="2496"/>
              <a:chExt cx="720" cy="291"/>
            </a:xfrm>
          </p:grpSpPr>
          <p:sp>
            <p:nvSpPr>
              <p:cNvPr id="245791" name="Line 31"/>
              <p:cNvSpPr>
                <a:spLocks noChangeShapeType="1"/>
              </p:cNvSpPr>
              <p:nvPr/>
            </p:nvSpPr>
            <p:spPr bwMode="auto">
              <a:xfrm>
                <a:off x="1680" y="254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>
                  <a:latin typeface="方正姚体" panose="02010601030101010101" pitchFamily="2" charset="-122"/>
                  <a:ea typeface="方正姚体" panose="02010601030101010101" pitchFamily="2" charset="-122"/>
                </a:endParaRPr>
              </a:p>
            </p:txBody>
          </p:sp>
          <p:sp>
            <p:nvSpPr>
              <p:cNvPr id="245792" name="Text Box 32"/>
              <p:cNvSpPr txBox="1">
                <a:spLocks noChangeArrowheads="1"/>
              </p:cNvSpPr>
              <p:nvPr/>
            </p:nvSpPr>
            <p:spPr bwMode="auto">
              <a:xfrm>
                <a:off x="1776" y="2496"/>
                <a:ext cx="336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latin typeface="方正姚体" panose="02010601030101010101" pitchFamily="2" charset="-122"/>
                    <a:ea typeface="方正姚体" panose="02010601030101010101" pitchFamily="2" charset="-122"/>
                  </a:rPr>
                  <a:t>4</a:t>
                </a:r>
                <a:endParaRPr lang="en-US" altLang="zh-CN">
                  <a:latin typeface="方正姚体" panose="02010601030101010101" pitchFamily="2" charset="-122"/>
                  <a:ea typeface="方正姚体" panose="02010601030101010101" pitchFamily="2" charset="-122"/>
                </a:endParaRPr>
              </a:p>
            </p:txBody>
          </p:sp>
          <p:sp>
            <p:nvSpPr>
              <p:cNvPr id="245793" name="Line 33"/>
              <p:cNvSpPr>
                <a:spLocks noChangeShapeType="1"/>
              </p:cNvSpPr>
              <p:nvPr/>
            </p:nvSpPr>
            <p:spPr bwMode="auto">
              <a:xfrm>
                <a:off x="1680" y="2736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>
                  <a:latin typeface="方正姚体" panose="02010601030101010101" pitchFamily="2" charset="-122"/>
                  <a:ea typeface="方正姚体" panose="02010601030101010101" pitchFamily="2" charset="-122"/>
                </a:endParaRPr>
              </a:p>
            </p:txBody>
          </p:sp>
          <p:sp>
            <p:nvSpPr>
              <p:cNvPr id="245794" name="Text Box 34"/>
              <p:cNvSpPr txBox="1">
                <a:spLocks noChangeArrowheads="1"/>
              </p:cNvSpPr>
              <p:nvPr/>
            </p:nvSpPr>
            <p:spPr bwMode="auto">
              <a:xfrm>
                <a:off x="1440" y="2496"/>
                <a:ext cx="192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latin typeface="方正姚体" panose="02010601030101010101" pitchFamily="2" charset="-122"/>
                    <a:ea typeface="方正姚体" panose="02010601030101010101" pitchFamily="2" charset="-122"/>
                  </a:rPr>
                  <a:t>2</a:t>
                </a:r>
                <a:endParaRPr lang="en-US" altLang="zh-CN">
                  <a:latin typeface="方正姚体" panose="02010601030101010101" pitchFamily="2" charset="-122"/>
                  <a:ea typeface="方正姚体" panose="02010601030101010101" pitchFamily="2" charset="-122"/>
                </a:endParaRPr>
              </a:p>
            </p:txBody>
          </p:sp>
        </p:grpSp>
        <p:sp>
          <p:nvSpPr>
            <p:cNvPr id="245795" name="Text Box 35"/>
            <p:cNvSpPr txBox="1">
              <a:spLocks noChangeArrowheads="1"/>
            </p:cNvSpPr>
            <p:nvPr/>
          </p:nvSpPr>
          <p:spPr bwMode="auto">
            <a:xfrm>
              <a:off x="3312" y="3024"/>
              <a:ext cx="2671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………………</a:t>
              </a:r>
              <a:r>
                <a:rPr lang="zh-CN" altLang="en-US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余数＝</a:t>
              </a:r>
              <a:r>
                <a:rPr lang="en-US" altLang="zh-CN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0</a:t>
              </a:r>
              <a:endPara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  <p:grpSp>
          <p:nvGrpSpPr>
            <p:cNvPr id="245796" name="Group 36"/>
            <p:cNvGrpSpPr/>
            <p:nvPr/>
          </p:nvGrpSpPr>
          <p:grpSpPr bwMode="auto">
            <a:xfrm>
              <a:off x="2544" y="3312"/>
              <a:ext cx="720" cy="291"/>
              <a:chOff x="1440" y="2496"/>
              <a:chExt cx="720" cy="291"/>
            </a:xfrm>
          </p:grpSpPr>
          <p:sp>
            <p:nvSpPr>
              <p:cNvPr id="245797" name="Line 37"/>
              <p:cNvSpPr>
                <a:spLocks noChangeShapeType="1"/>
              </p:cNvSpPr>
              <p:nvPr/>
            </p:nvSpPr>
            <p:spPr bwMode="auto">
              <a:xfrm>
                <a:off x="1680" y="254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>
                  <a:latin typeface="方正姚体" panose="02010601030101010101" pitchFamily="2" charset="-122"/>
                  <a:ea typeface="方正姚体" panose="02010601030101010101" pitchFamily="2" charset="-122"/>
                </a:endParaRPr>
              </a:p>
            </p:txBody>
          </p:sp>
          <p:sp>
            <p:nvSpPr>
              <p:cNvPr id="245798" name="Text Box 38"/>
              <p:cNvSpPr txBox="1">
                <a:spLocks noChangeArrowheads="1"/>
              </p:cNvSpPr>
              <p:nvPr/>
            </p:nvSpPr>
            <p:spPr bwMode="auto">
              <a:xfrm>
                <a:off x="1776" y="2496"/>
                <a:ext cx="336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latin typeface="方正姚体" panose="02010601030101010101" pitchFamily="2" charset="-122"/>
                    <a:ea typeface="方正姚体" panose="02010601030101010101" pitchFamily="2" charset="-122"/>
                  </a:rPr>
                  <a:t>2</a:t>
                </a:r>
                <a:endParaRPr lang="en-US" altLang="zh-CN">
                  <a:latin typeface="方正姚体" panose="02010601030101010101" pitchFamily="2" charset="-122"/>
                  <a:ea typeface="方正姚体" panose="02010601030101010101" pitchFamily="2" charset="-122"/>
                </a:endParaRPr>
              </a:p>
            </p:txBody>
          </p:sp>
          <p:sp>
            <p:nvSpPr>
              <p:cNvPr id="245799" name="Line 39"/>
              <p:cNvSpPr>
                <a:spLocks noChangeShapeType="1"/>
              </p:cNvSpPr>
              <p:nvPr/>
            </p:nvSpPr>
            <p:spPr bwMode="auto">
              <a:xfrm>
                <a:off x="1680" y="2736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>
                  <a:latin typeface="方正姚体" panose="02010601030101010101" pitchFamily="2" charset="-122"/>
                  <a:ea typeface="方正姚体" panose="02010601030101010101" pitchFamily="2" charset="-122"/>
                </a:endParaRPr>
              </a:p>
            </p:txBody>
          </p:sp>
          <p:sp>
            <p:nvSpPr>
              <p:cNvPr id="245800" name="Text Box 40"/>
              <p:cNvSpPr txBox="1">
                <a:spLocks noChangeArrowheads="1"/>
              </p:cNvSpPr>
              <p:nvPr/>
            </p:nvSpPr>
            <p:spPr bwMode="auto">
              <a:xfrm>
                <a:off x="1440" y="2496"/>
                <a:ext cx="192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latin typeface="方正姚体" panose="02010601030101010101" pitchFamily="2" charset="-122"/>
                    <a:ea typeface="方正姚体" panose="02010601030101010101" pitchFamily="2" charset="-122"/>
                  </a:rPr>
                  <a:t>2</a:t>
                </a:r>
                <a:endParaRPr lang="en-US" altLang="zh-CN">
                  <a:latin typeface="方正姚体" panose="02010601030101010101" pitchFamily="2" charset="-122"/>
                  <a:ea typeface="方正姚体" panose="02010601030101010101" pitchFamily="2" charset="-122"/>
                </a:endParaRPr>
              </a:p>
            </p:txBody>
          </p:sp>
        </p:grpSp>
        <p:sp>
          <p:nvSpPr>
            <p:cNvPr id="245801" name="Text Box 41"/>
            <p:cNvSpPr txBox="1">
              <a:spLocks noChangeArrowheads="1"/>
            </p:cNvSpPr>
            <p:nvPr/>
          </p:nvSpPr>
          <p:spPr bwMode="auto">
            <a:xfrm>
              <a:off x="3312" y="3264"/>
              <a:ext cx="2671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………………</a:t>
              </a:r>
              <a:r>
                <a:rPr lang="zh-CN" altLang="en-US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余数＝</a:t>
              </a:r>
              <a:r>
                <a:rPr lang="en-US" altLang="zh-CN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0</a:t>
              </a:r>
              <a:endPara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  <p:grpSp>
          <p:nvGrpSpPr>
            <p:cNvPr id="245802" name="Group 42"/>
            <p:cNvGrpSpPr/>
            <p:nvPr/>
          </p:nvGrpSpPr>
          <p:grpSpPr bwMode="auto">
            <a:xfrm>
              <a:off x="2544" y="3552"/>
              <a:ext cx="720" cy="291"/>
              <a:chOff x="1440" y="2496"/>
              <a:chExt cx="720" cy="291"/>
            </a:xfrm>
          </p:grpSpPr>
          <p:sp>
            <p:nvSpPr>
              <p:cNvPr id="245803" name="Line 43"/>
              <p:cNvSpPr>
                <a:spLocks noChangeShapeType="1"/>
              </p:cNvSpPr>
              <p:nvPr/>
            </p:nvSpPr>
            <p:spPr bwMode="auto">
              <a:xfrm>
                <a:off x="1680" y="254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>
                  <a:latin typeface="方正姚体" panose="02010601030101010101" pitchFamily="2" charset="-122"/>
                  <a:ea typeface="方正姚体" panose="02010601030101010101" pitchFamily="2" charset="-122"/>
                </a:endParaRPr>
              </a:p>
            </p:txBody>
          </p:sp>
          <p:sp>
            <p:nvSpPr>
              <p:cNvPr id="245804" name="Text Box 44"/>
              <p:cNvSpPr txBox="1">
                <a:spLocks noChangeArrowheads="1"/>
              </p:cNvSpPr>
              <p:nvPr/>
            </p:nvSpPr>
            <p:spPr bwMode="auto">
              <a:xfrm>
                <a:off x="1776" y="2496"/>
                <a:ext cx="336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latin typeface="方正姚体" panose="02010601030101010101" pitchFamily="2" charset="-122"/>
                    <a:ea typeface="方正姚体" panose="02010601030101010101" pitchFamily="2" charset="-122"/>
                  </a:rPr>
                  <a:t>1</a:t>
                </a:r>
                <a:endParaRPr lang="en-US" altLang="zh-CN">
                  <a:latin typeface="方正姚体" panose="02010601030101010101" pitchFamily="2" charset="-122"/>
                  <a:ea typeface="方正姚体" panose="02010601030101010101" pitchFamily="2" charset="-122"/>
                </a:endParaRPr>
              </a:p>
            </p:txBody>
          </p:sp>
          <p:sp>
            <p:nvSpPr>
              <p:cNvPr id="245805" name="Line 45"/>
              <p:cNvSpPr>
                <a:spLocks noChangeShapeType="1"/>
              </p:cNvSpPr>
              <p:nvPr/>
            </p:nvSpPr>
            <p:spPr bwMode="auto">
              <a:xfrm>
                <a:off x="1680" y="2736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>
                  <a:latin typeface="方正姚体" panose="02010601030101010101" pitchFamily="2" charset="-122"/>
                  <a:ea typeface="方正姚体" panose="02010601030101010101" pitchFamily="2" charset="-122"/>
                </a:endParaRPr>
              </a:p>
            </p:txBody>
          </p:sp>
          <p:sp>
            <p:nvSpPr>
              <p:cNvPr id="245806" name="Text Box 46"/>
              <p:cNvSpPr txBox="1">
                <a:spLocks noChangeArrowheads="1"/>
              </p:cNvSpPr>
              <p:nvPr/>
            </p:nvSpPr>
            <p:spPr bwMode="auto">
              <a:xfrm>
                <a:off x="1440" y="2496"/>
                <a:ext cx="192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latin typeface="方正姚体" panose="02010601030101010101" pitchFamily="2" charset="-122"/>
                    <a:ea typeface="方正姚体" panose="02010601030101010101" pitchFamily="2" charset="-122"/>
                  </a:rPr>
                  <a:t>2</a:t>
                </a:r>
                <a:endParaRPr lang="en-US" altLang="zh-CN">
                  <a:latin typeface="方正姚体" panose="02010601030101010101" pitchFamily="2" charset="-122"/>
                  <a:ea typeface="方正姚体" panose="02010601030101010101" pitchFamily="2" charset="-122"/>
                </a:endParaRPr>
              </a:p>
            </p:txBody>
          </p:sp>
        </p:grpSp>
        <p:sp>
          <p:nvSpPr>
            <p:cNvPr id="245807" name="Text Box 47"/>
            <p:cNvSpPr txBox="1">
              <a:spLocks noChangeArrowheads="1"/>
            </p:cNvSpPr>
            <p:nvPr/>
          </p:nvSpPr>
          <p:spPr bwMode="auto">
            <a:xfrm>
              <a:off x="3312" y="3504"/>
              <a:ext cx="2671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………………</a:t>
              </a:r>
              <a:r>
                <a:rPr lang="zh-CN" altLang="en-US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余数＝</a:t>
              </a:r>
              <a:r>
                <a:rPr lang="en-US" altLang="zh-CN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1</a:t>
              </a:r>
              <a:endPara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  <p:sp>
          <p:nvSpPr>
            <p:cNvPr id="245808" name="Rectangle 48"/>
            <p:cNvSpPr>
              <a:spLocks noChangeArrowheads="1"/>
            </p:cNvSpPr>
            <p:nvPr/>
          </p:nvSpPr>
          <p:spPr bwMode="auto">
            <a:xfrm>
              <a:off x="2880" y="3768"/>
              <a:ext cx="284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0</a:t>
              </a:r>
              <a:endPara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</p:grpSp>
      <p:sp>
        <p:nvSpPr>
          <p:cNvPr id="245810" name="Text Box 50"/>
          <p:cNvSpPr txBox="1">
            <a:spLocks noChangeArrowheads="1"/>
          </p:cNvSpPr>
          <p:nvPr/>
        </p:nvSpPr>
        <p:spPr bwMode="auto">
          <a:xfrm>
            <a:off x="527838" y="4648207"/>
            <a:ext cx="2686050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（</a:t>
            </a: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75)</a:t>
            </a:r>
            <a:r>
              <a:rPr lang="en-US" altLang="zh-CN" sz="3600" baseline="-25000" dirty="0">
                <a:latin typeface="方正姚体" panose="02010601030101010101" pitchFamily="2" charset="-122"/>
                <a:ea typeface="方正姚体" panose="02010601030101010101" pitchFamily="2" charset="-122"/>
              </a:rPr>
              <a:t>10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   ＝</a:t>
            </a:r>
            <a:endParaRPr lang="en-US" altLang="zh-CN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     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 （</a:t>
            </a: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1001011)</a:t>
            </a:r>
            <a:r>
              <a:rPr lang="en-US" altLang="zh-CN" sz="3200" baseline="-25000" dirty="0">
                <a:latin typeface="方正姚体" panose="02010601030101010101" pitchFamily="2" charset="-122"/>
                <a:ea typeface="方正姚体" panose="02010601030101010101" pitchFamily="2" charset="-122"/>
              </a:rPr>
              <a:t>2</a:t>
            </a:r>
            <a:endParaRPr lang="en-US" altLang="zh-CN" sz="3200" baseline="-250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245817" name="Line 57"/>
          <p:cNvSpPr>
            <a:spLocks noChangeShapeType="1"/>
          </p:cNvSpPr>
          <p:nvPr/>
        </p:nvSpPr>
        <p:spPr bwMode="auto">
          <a:xfrm flipV="1">
            <a:off x="7740352" y="3684407"/>
            <a:ext cx="0" cy="243840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45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45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45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45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9" dur="500"/>
                                        <p:tgtEl>
                                          <p:spTgt spid="245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45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63" grpId="0" build="p"/>
      <p:bldP spid="245810" grpId="0" autoUpdateAnimBg="0"/>
      <p:bldP spid="2458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ea typeface="宋体" panose="02010600030101010101" pitchFamily="2" charset="-122"/>
              </a:rPr>
              <a:t>基数转换中常用的数</a:t>
            </a:r>
            <a:endParaRPr lang="zh-CN" altLang="en-US" sz="2800">
              <a:ea typeface="宋体" panose="02010600030101010101" pitchFamily="2" charset="-122"/>
            </a:endParaRPr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648CE-56AE-4165-8916-F2EEC37AD8E3}" type="slidenum">
              <a:rPr lang="zh-CN" altLang="en-US"/>
            </a:fld>
            <a:endParaRPr lang="en-US" altLang="zh-CN"/>
          </a:p>
        </p:txBody>
      </p:sp>
      <p:pic>
        <p:nvPicPr>
          <p:cNvPr id="254980" name="Picture 4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953598" y="1371600"/>
            <a:ext cx="6714746" cy="430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54981" name="Rectangle 5"/>
          <p:cNvSpPr>
            <a:spLocks noChangeArrowheads="1"/>
          </p:cNvSpPr>
          <p:nvPr/>
        </p:nvSpPr>
        <p:spPr bwMode="auto">
          <a:xfrm>
            <a:off x="3253696" y="5787576"/>
            <a:ext cx="2228850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 anchorCtr="1">
            <a:spAutoFit/>
          </a:bodyPr>
          <a:lstStyle/>
          <a:p>
            <a:pPr marL="533400" indent="-53340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</a:pPr>
            <a:r>
              <a:rPr lang="zh-CN" altLang="en-US" sz="2000" b="1" dirty="0">
                <a:latin typeface="宋体" panose="02010600030101010101" pitchFamily="2" charset="-122"/>
              </a:rPr>
              <a:t>表</a:t>
            </a:r>
            <a:r>
              <a:rPr lang="en-US" altLang="zh-CN" sz="2000" b="1" dirty="0">
                <a:latin typeface="宋体" panose="02010600030101010101" pitchFamily="2" charset="-122"/>
              </a:rPr>
              <a:t>1-1   2</a:t>
            </a:r>
            <a:r>
              <a:rPr lang="zh-CN" altLang="en-US" sz="2000" b="1" dirty="0">
                <a:latin typeface="宋体" panose="02010600030101010101" pitchFamily="2" charset="-122"/>
              </a:rPr>
              <a:t>的幂表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255079" name="Freeform 103"/>
          <p:cNvSpPr/>
          <p:nvPr/>
        </p:nvSpPr>
        <p:spPr bwMode="auto">
          <a:xfrm>
            <a:off x="1010748" y="2362201"/>
            <a:ext cx="6714746" cy="3048000"/>
          </a:xfrm>
          <a:custGeom>
            <a:avLst/>
            <a:gdLst/>
            <a:ahLst/>
            <a:cxnLst>
              <a:cxn ang="0">
                <a:pos x="0" y="48"/>
              </a:cxn>
              <a:cxn ang="0">
                <a:pos x="0" y="1920"/>
              </a:cxn>
              <a:cxn ang="0">
                <a:pos x="2784" y="1920"/>
              </a:cxn>
              <a:cxn ang="0">
                <a:pos x="3264" y="240"/>
              </a:cxn>
              <a:cxn ang="0">
                <a:pos x="4608" y="240"/>
              </a:cxn>
              <a:cxn ang="0">
                <a:pos x="4608" y="0"/>
              </a:cxn>
              <a:cxn ang="0">
                <a:pos x="0" y="0"/>
              </a:cxn>
              <a:cxn ang="0">
                <a:pos x="0" y="96"/>
              </a:cxn>
            </a:cxnLst>
            <a:rect l="0" t="0" r="r" b="b"/>
            <a:pathLst>
              <a:path w="4608" h="1920">
                <a:moveTo>
                  <a:pt x="0" y="48"/>
                </a:moveTo>
                <a:lnTo>
                  <a:pt x="0" y="1920"/>
                </a:lnTo>
                <a:lnTo>
                  <a:pt x="2784" y="1920"/>
                </a:lnTo>
                <a:lnTo>
                  <a:pt x="3264" y="240"/>
                </a:lnTo>
                <a:lnTo>
                  <a:pt x="4608" y="240"/>
                </a:lnTo>
                <a:lnTo>
                  <a:pt x="4608" y="0"/>
                </a:lnTo>
                <a:lnTo>
                  <a:pt x="0" y="0"/>
                </a:lnTo>
                <a:lnTo>
                  <a:pt x="0" y="96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dash"/>
            <a:round/>
          </a:ln>
          <a:effectLst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数制和码制（</a:t>
            </a:r>
            <a:r>
              <a:rPr lang="en-US" altLang="zh-CN"/>
              <a:t>11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FBA7F-9B59-4D8C-B344-5AA79D08C620}" type="slidenum">
              <a:rPr lang="en-US" altLang="zh-CN"/>
            </a:fld>
            <a:endParaRPr lang="en-US" altLang="zh-CN"/>
          </a:p>
        </p:txBody>
      </p:sp>
      <p:sp>
        <p:nvSpPr>
          <p:cNvPr id="24678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二－八进制互换</a:t>
            </a:r>
            <a:endParaRPr lang="zh-CN" altLang="en-US" dirty="0"/>
          </a:p>
          <a:p>
            <a:pPr lvl="1"/>
            <a:r>
              <a:rPr lang="zh-CN" altLang="en-US" dirty="0"/>
              <a:t>二</a:t>
            </a:r>
            <a:r>
              <a:rPr lang="zh-CN" altLang="en-US" dirty="0">
                <a:sym typeface="Symbol" panose="05050102010706020507" pitchFamily="18" charset="2"/>
              </a:rPr>
              <a:t>－</a:t>
            </a:r>
            <a:r>
              <a:rPr lang="zh-CN" altLang="en-US" dirty="0"/>
              <a:t>八进制转换：将（</a:t>
            </a:r>
            <a:r>
              <a:rPr lang="en-US" altLang="zh-CN" dirty="0"/>
              <a:t>1101101)</a:t>
            </a:r>
            <a:r>
              <a:rPr lang="en-US" altLang="zh-CN" baseline="-25000" dirty="0"/>
              <a:t>2 </a:t>
            </a:r>
            <a:r>
              <a:rPr lang="zh-CN" altLang="en-US" dirty="0"/>
              <a:t>转成八进制数</a:t>
            </a:r>
            <a:endParaRPr lang="zh-CN" altLang="en-US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  <a:p>
            <a:pPr lvl="1"/>
            <a:r>
              <a:rPr lang="zh-CN" altLang="en-US" dirty="0"/>
              <a:t>八</a:t>
            </a:r>
            <a:r>
              <a:rPr lang="zh-CN" altLang="en-US" dirty="0">
                <a:sym typeface="Symbol" panose="05050102010706020507" pitchFamily="18" charset="2"/>
              </a:rPr>
              <a:t>－</a:t>
            </a:r>
            <a:r>
              <a:rPr lang="zh-CN" altLang="en-US" dirty="0"/>
              <a:t>二进制转换：将（</a:t>
            </a:r>
            <a:r>
              <a:rPr lang="en-US" altLang="zh-CN" dirty="0"/>
              <a:t>573)</a:t>
            </a:r>
            <a:r>
              <a:rPr lang="en-US" altLang="zh-CN" sz="3600" baseline="-25000" dirty="0"/>
              <a:t>8 </a:t>
            </a:r>
            <a:r>
              <a:rPr lang="zh-CN" altLang="en-US" dirty="0"/>
              <a:t>转成二进制数</a:t>
            </a:r>
            <a:endParaRPr lang="zh-CN" altLang="en-US" dirty="0"/>
          </a:p>
          <a:p>
            <a:endParaRPr lang="en-US" altLang="zh-CN" dirty="0"/>
          </a:p>
        </p:txBody>
      </p:sp>
      <p:graphicFrame>
        <p:nvGraphicFramePr>
          <p:cNvPr id="246788" name="Object 4"/>
          <p:cNvGraphicFramePr>
            <a:graphicFrameLocks noChangeAspect="1"/>
          </p:cNvGraphicFramePr>
          <p:nvPr/>
        </p:nvGraphicFramePr>
        <p:xfrm>
          <a:off x="2616325" y="3123307"/>
          <a:ext cx="5772099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86" name="Equation" r:id="rId1" imgW="2082800" imgH="228600" progId="Equation.3">
                  <p:embed/>
                </p:oleObj>
              </mc:Choice>
              <mc:Fallback>
                <p:oleObj name="Equation" r:id="rId1" imgW="2082800" imgH="228600" progId="Equation.3">
                  <p:embed/>
                  <p:pic>
                    <p:nvPicPr>
                      <p:cNvPr id="0" name="图片 93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6325" y="3123307"/>
                        <a:ext cx="5772099" cy="5937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789" name="Object 5"/>
          <p:cNvGraphicFramePr>
            <a:graphicFrameLocks noChangeAspect="1"/>
          </p:cNvGraphicFramePr>
          <p:nvPr/>
        </p:nvGraphicFramePr>
        <p:xfrm>
          <a:off x="2571750" y="4833838"/>
          <a:ext cx="5744666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87" name="Equation" r:id="rId3" imgW="2159000" imgH="457200" progId="Equation.3">
                  <p:embed/>
                </p:oleObj>
              </mc:Choice>
              <mc:Fallback>
                <p:oleObj name="Equation" r:id="rId3" imgW="2159000" imgH="457200" progId="Equation.3">
                  <p:embed/>
                  <p:pic>
                    <p:nvPicPr>
                      <p:cNvPr id="0" name="图片 93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0" y="4833838"/>
                        <a:ext cx="5744666" cy="11874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数制和码制（</a:t>
            </a:r>
            <a:r>
              <a:rPr lang="en-US" altLang="zh-CN"/>
              <a:t>12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6BF0-AD6B-467F-BF70-822BAF477E92}" type="slidenum">
              <a:rPr lang="en-US" altLang="zh-CN"/>
            </a:fld>
            <a:endParaRPr lang="en-US" altLang="zh-CN"/>
          </a:p>
        </p:txBody>
      </p:sp>
      <p:sp>
        <p:nvSpPr>
          <p:cNvPr id="2488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84468" cy="4607024"/>
          </a:xfrm>
        </p:spPr>
        <p:txBody>
          <a:bodyPr/>
          <a:lstStyle/>
          <a:p>
            <a:r>
              <a:rPr lang="zh-CN" altLang="en-US" dirty="0"/>
              <a:t>二－十六进制互换</a:t>
            </a:r>
            <a:endParaRPr lang="zh-CN" altLang="en-US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二</a:t>
            </a:r>
            <a:r>
              <a:rPr lang="zh-CN" altLang="en-US" dirty="0">
                <a:sym typeface="Symbol" panose="05050102010706020507" pitchFamily="18" charset="2"/>
              </a:rPr>
              <a:t>－</a:t>
            </a:r>
            <a:r>
              <a:rPr lang="zh-CN" altLang="en-US" dirty="0"/>
              <a:t>十六进制转换：将（</a:t>
            </a:r>
            <a:r>
              <a:rPr lang="en-US" altLang="zh-CN" dirty="0"/>
              <a:t>1101101)</a:t>
            </a:r>
            <a:r>
              <a:rPr lang="en-US" altLang="zh-CN" baseline="-25000" dirty="0"/>
              <a:t>2 </a:t>
            </a:r>
            <a:r>
              <a:rPr lang="zh-CN" altLang="en-US" dirty="0"/>
              <a:t>转成十六进制数</a:t>
            </a:r>
            <a:endParaRPr lang="zh-CN" altLang="en-US" dirty="0"/>
          </a:p>
          <a:p>
            <a:pPr lvl="1"/>
            <a:endParaRPr lang="zh-CN" altLang="en-US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十六</a:t>
            </a:r>
            <a:r>
              <a:rPr lang="zh-CN" altLang="en-US" dirty="0">
                <a:sym typeface="Symbol" panose="05050102010706020507" pitchFamily="18" charset="2"/>
              </a:rPr>
              <a:t>－</a:t>
            </a:r>
            <a:r>
              <a:rPr lang="zh-CN" altLang="en-US" dirty="0"/>
              <a:t>二进制转换：将（</a:t>
            </a:r>
            <a:r>
              <a:rPr lang="en-US" altLang="zh-CN" dirty="0"/>
              <a:t>5A3F)</a:t>
            </a:r>
            <a:r>
              <a:rPr lang="en-US" altLang="zh-CN" sz="3600" baseline="-25000" dirty="0"/>
              <a:t>16 </a:t>
            </a:r>
            <a:r>
              <a:rPr lang="zh-CN" altLang="en-US" dirty="0"/>
              <a:t>转成二进制数</a:t>
            </a:r>
            <a:endParaRPr lang="zh-CN" altLang="en-US" dirty="0"/>
          </a:p>
          <a:p>
            <a:endParaRPr lang="en-US" altLang="zh-CN" dirty="0"/>
          </a:p>
        </p:txBody>
      </p:sp>
      <p:graphicFrame>
        <p:nvGraphicFramePr>
          <p:cNvPr id="248836" name="Object 4"/>
          <p:cNvGraphicFramePr>
            <a:graphicFrameLocks noChangeAspect="1"/>
          </p:cNvGraphicFramePr>
          <p:nvPr/>
        </p:nvGraphicFramePr>
        <p:xfrm>
          <a:off x="2411760" y="3645024"/>
          <a:ext cx="5914856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0" name="Equation" r:id="rId1" imgW="2120900" imgH="228600" progId="Equation.3">
                  <p:embed/>
                </p:oleObj>
              </mc:Choice>
              <mc:Fallback>
                <p:oleObj name="Equation" r:id="rId1" imgW="2120900" imgH="228600" progId="Equation.3">
                  <p:embed/>
                  <p:pic>
                    <p:nvPicPr>
                      <p:cNvPr id="0" name="图片 104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3645024"/>
                        <a:ext cx="5914856" cy="5937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37" name="Object 5"/>
          <p:cNvGraphicFramePr>
            <a:graphicFrameLocks noChangeAspect="1"/>
          </p:cNvGraphicFramePr>
          <p:nvPr/>
        </p:nvGraphicFramePr>
        <p:xfrm>
          <a:off x="2394277" y="5373216"/>
          <a:ext cx="6354187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1" name="Equation" r:id="rId3" imgW="2235200" imgH="457200" progId="Equation.3">
                  <p:embed/>
                </p:oleObj>
              </mc:Choice>
              <mc:Fallback>
                <p:oleObj name="Equation" r:id="rId3" imgW="2235200" imgH="457200" progId="Equation.3">
                  <p:embed/>
                  <p:pic>
                    <p:nvPicPr>
                      <p:cNvPr id="0" name="图片 104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4277" y="5373216"/>
                        <a:ext cx="6354187" cy="11874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DA807-57B9-435B-860D-89F0287967DE}" type="slidenum">
              <a:rPr lang="zh-CN" altLang="en-US"/>
            </a:fld>
            <a:endParaRPr lang="en-US" altLang="zh-CN"/>
          </a:p>
        </p:txBody>
      </p:sp>
      <p:pic>
        <p:nvPicPr>
          <p:cNvPr id="256003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1187624" y="1066800"/>
            <a:ext cx="6696744" cy="4800600"/>
          </a:xfrm>
        </p:spPr>
      </p:pic>
      <p:sp>
        <p:nvSpPr>
          <p:cNvPr id="256004" name="Rectangle 4"/>
          <p:cNvSpPr>
            <a:spLocks noChangeArrowheads="1"/>
          </p:cNvSpPr>
          <p:nvPr/>
        </p:nvSpPr>
        <p:spPr bwMode="auto">
          <a:xfrm>
            <a:off x="2987824" y="5872468"/>
            <a:ext cx="3032601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ctr" anchorCtr="1">
            <a:spAutoFit/>
          </a:bodyPr>
          <a:lstStyle/>
          <a:p>
            <a:pPr marL="533400" indent="-53340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</a:pPr>
            <a:r>
              <a:rPr lang="zh-CN" altLang="en-US" sz="2000" b="1" dirty="0">
                <a:latin typeface="宋体" panose="02010600030101010101" pitchFamily="2" charset="-122"/>
              </a:rPr>
              <a:t>表</a:t>
            </a:r>
            <a:r>
              <a:rPr lang="en-US" altLang="zh-CN" sz="2000" b="1" dirty="0">
                <a:latin typeface="宋体" panose="02010600030101010101" pitchFamily="2" charset="-122"/>
              </a:rPr>
              <a:t>1-2 </a:t>
            </a:r>
            <a:r>
              <a:rPr lang="zh-CN" altLang="en-US" sz="2000" b="1" dirty="0">
                <a:latin typeface="宋体" panose="02010600030101010101" pitchFamily="2" charset="-122"/>
              </a:rPr>
              <a:t>不同基的码表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数制和码制（</a:t>
            </a:r>
            <a:r>
              <a:rPr lang="en-US" altLang="zh-CN"/>
              <a:t>13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FC72C-4896-4500-9A34-6ABB379E5F59}" type="slidenum">
              <a:rPr lang="en-US" altLang="zh-CN"/>
            </a:fld>
            <a:endParaRPr lang="en-US" altLang="zh-CN"/>
          </a:p>
        </p:txBody>
      </p:sp>
      <p:sp>
        <p:nvSpPr>
          <p:cNvPr id="2498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3538" y="1524000"/>
            <a:ext cx="8334926" cy="4648200"/>
          </a:xfrm>
        </p:spPr>
        <p:txBody>
          <a:bodyPr/>
          <a:lstStyle/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数制</a:t>
            </a:r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/>
              <a:t>码制</a:t>
            </a:r>
            <a:endParaRPr lang="zh-CN" altLang="en-US" dirty="0"/>
          </a:p>
          <a:p>
            <a:pPr lvl="1"/>
            <a:r>
              <a:rPr lang="zh-CN" altLang="en-US" dirty="0"/>
              <a:t>原码、反码、补码</a:t>
            </a:r>
            <a:endParaRPr lang="en-US" altLang="zh-CN" dirty="0"/>
          </a:p>
          <a:p>
            <a:pPr lvl="1"/>
            <a:r>
              <a:rPr lang="zh-CN" altLang="en-US" dirty="0"/>
              <a:t>十进制数的二进制编码</a:t>
            </a:r>
            <a:endParaRPr lang="zh-CN" altLang="en-US" dirty="0"/>
          </a:p>
          <a:p>
            <a:pPr lvl="2"/>
            <a:r>
              <a:rPr lang="en-US" altLang="zh-CN" dirty="0"/>
              <a:t>8421</a:t>
            </a:r>
            <a:r>
              <a:rPr lang="zh-CN" altLang="en-US" dirty="0"/>
              <a:t>码（</a:t>
            </a:r>
            <a:r>
              <a:rPr lang="en-US" altLang="zh-CN" dirty="0"/>
              <a:t>BCD</a:t>
            </a:r>
            <a:r>
              <a:rPr lang="zh-CN" altLang="en-US" dirty="0"/>
              <a:t>码）、余</a:t>
            </a:r>
            <a:r>
              <a:rPr lang="en-US" altLang="zh-CN" dirty="0"/>
              <a:t>3</a:t>
            </a:r>
            <a:r>
              <a:rPr lang="zh-CN" altLang="en-US" dirty="0"/>
              <a:t>码、格雷码</a:t>
            </a:r>
            <a:endParaRPr lang="zh-CN" altLang="en-US" dirty="0"/>
          </a:p>
          <a:p>
            <a:pPr lvl="1"/>
            <a:r>
              <a:rPr lang="zh-CN" altLang="en-US" dirty="0"/>
              <a:t>字符编码</a:t>
            </a:r>
            <a:endParaRPr lang="zh-CN" altLang="en-US" dirty="0"/>
          </a:p>
          <a:p>
            <a:pPr lvl="2"/>
            <a:r>
              <a:rPr lang="en-US" altLang="zh-CN" dirty="0"/>
              <a:t>7</a:t>
            </a:r>
            <a:r>
              <a:rPr lang="zh-CN" altLang="en-US" dirty="0"/>
              <a:t>位</a:t>
            </a:r>
            <a:r>
              <a:rPr lang="en-US" altLang="zh-CN" dirty="0"/>
              <a:t>ASCII</a:t>
            </a:r>
            <a:r>
              <a:rPr lang="zh-CN" altLang="en-US" dirty="0"/>
              <a:t>、</a:t>
            </a:r>
            <a:r>
              <a:rPr lang="en-US" altLang="zh-CN" dirty="0"/>
              <a:t>8</a:t>
            </a:r>
            <a:r>
              <a:rPr lang="zh-CN" altLang="en-US" dirty="0"/>
              <a:t>位</a:t>
            </a:r>
            <a:r>
              <a:rPr lang="en-US" altLang="zh-CN" dirty="0"/>
              <a:t>ASCII</a:t>
            </a:r>
            <a:endParaRPr lang="en-US" altLang="zh-CN" dirty="0"/>
          </a:p>
        </p:txBody>
      </p:sp>
    </p:spTree>
  </p:cSld>
  <p:clrMapOvr>
    <a:masterClrMapping/>
  </p:clrMapOvr>
  <p:transition spd="slow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数制和码制（</a:t>
            </a:r>
            <a:r>
              <a:rPr lang="en-US" altLang="zh-CN"/>
              <a:t>14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216C-18A3-466E-BD90-37CCADC359B9}" type="slidenum">
              <a:rPr lang="en-US" altLang="zh-CN"/>
            </a:fld>
            <a:endParaRPr lang="en-US" altLang="zh-CN"/>
          </a:p>
        </p:txBody>
      </p:sp>
      <p:sp>
        <p:nvSpPr>
          <p:cNvPr id="2508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3538" y="1524000"/>
            <a:ext cx="8334926" cy="514508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zh-CN" altLang="en-US" dirty="0"/>
              <a:t>十进制数的二进制编码</a:t>
            </a:r>
            <a:endParaRPr lang="zh-CN" altLang="en-US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8421</a:t>
            </a:r>
            <a:r>
              <a:rPr lang="zh-CN" altLang="en-US" dirty="0"/>
              <a:t>码（</a:t>
            </a:r>
            <a:r>
              <a:rPr lang="en-US" altLang="zh-CN" dirty="0"/>
              <a:t>BCD</a:t>
            </a:r>
            <a:r>
              <a:rPr lang="zh-CN" altLang="en-US" dirty="0"/>
              <a:t>码：</a:t>
            </a:r>
            <a:r>
              <a:rPr lang="en-US" altLang="zh-CN" dirty="0"/>
              <a:t>binary-code-decimal</a:t>
            </a:r>
            <a:r>
              <a:rPr lang="zh-CN" altLang="en-US" dirty="0"/>
              <a:t>）</a:t>
            </a:r>
            <a:r>
              <a:rPr lang="en-US" altLang="zh-CN" dirty="0"/>
              <a:t>(</a:t>
            </a:r>
            <a:r>
              <a:rPr lang="zh-CN" altLang="en-US" dirty="0"/>
              <a:t>有权码</a:t>
            </a:r>
            <a:r>
              <a:rPr lang="en-US" altLang="zh-CN" dirty="0"/>
              <a:t>)</a:t>
            </a:r>
            <a:endParaRPr lang="en-US" altLang="zh-CN" dirty="0"/>
          </a:p>
          <a:p>
            <a:pPr lvl="2">
              <a:lnSpc>
                <a:spcPct val="90000"/>
              </a:lnSpc>
            </a:pPr>
            <a:r>
              <a:rPr lang="en-US" altLang="zh-CN" dirty="0"/>
              <a:t>4</a:t>
            </a:r>
            <a:r>
              <a:rPr lang="zh-CN" altLang="en-US" dirty="0"/>
              <a:t>位二进制码从高到低权值为</a:t>
            </a:r>
            <a:r>
              <a:rPr lang="en-US" altLang="zh-CN" dirty="0"/>
              <a:t>2</a:t>
            </a:r>
            <a:r>
              <a:rPr lang="en-US" altLang="zh-CN" sz="3200" baseline="30000" dirty="0"/>
              <a:t>3 </a:t>
            </a:r>
            <a:r>
              <a:rPr lang="en-US" altLang="zh-CN" dirty="0"/>
              <a:t>(8)</a:t>
            </a:r>
            <a:r>
              <a:rPr lang="en-US" altLang="zh-CN" sz="3200" baseline="30000" dirty="0"/>
              <a:t> </a:t>
            </a:r>
            <a:r>
              <a:rPr lang="en-US" altLang="zh-CN" dirty="0"/>
              <a:t>,2</a:t>
            </a:r>
            <a:r>
              <a:rPr lang="en-US" altLang="zh-CN" sz="3200" baseline="30000" dirty="0"/>
              <a:t>2 </a:t>
            </a:r>
            <a:r>
              <a:rPr lang="en-US" altLang="zh-CN" dirty="0"/>
              <a:t>(4)</a:t>
            </a:r>
            <a:r>
              <a:rPr lang="en-US" altLang="zh-CN" sz="3200" baseline="30000" dirty="0"/>
              <a:t> </a:t>
            </a:r>
            <a:r>
              <a:rPr lang="en-US" altLang="zh-CN" sz="2000" dirty="0"/>
              <a:t>,</a:t>
            </a:r>
            <a:r>
              <a:rPr lang="en-US" altLang="zh-CN" dirty="0"/>
              <a:t> 2</a:t>
            </a:r>
            <a:r>
              <a:rPr lang="en-US" altLang="zh-CN" sz="3200" baseline="30000" dirty="0"/>
              <a:t>1 </a:t>
            </a:r>
            <a:r>
              <a:rPr lang="en-US" altLang="zh-CN" dirty="0"/>
              <a:t>(2)</a:t>
            </a:r>
            <a:r>
              <a:rPr lang="en-US" altLang="zh-CN" sz="3200" baseline="30000" dirty="0"/>
              <a:t> </a:t>
            </a:r>
            <a:r>
              <a:rPr lang="en-US" altLang="zh-CN" dirty="0"/>
              <a:t>, 2</a:t>
            </a:r>
            <a:r>
              <a:rPr lang="en-US" altLang="zh-CN" sz="3200" baseline="30000" dirty="0"/>
              <a:t>0 </a:t>
            </a:r>
            <a:r>
              <a:rPr lang="en-US" altLang="zh-CN" dirty="0"/>
              <a:t>(1)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5421</a:t>
            </a:r>
            <a:r>
              <a:rPr lang="zh-CN" altLang="en-US" dirty="0"/>
              <a:t>码 </a:t>
            </a:r>
            <a:r>
              <a:rPr lang="en-US" altLang="zh-CN" dirty="0"/>
              <a:t>(</a:t>
            </a:r>
            <a:r>
              <a:rPr lang="zh-CN" altLang="en-US" dirty="0"/>
              <a:t>有权码</a:t>
            </a:r>
            <a:r>
              <a:rPr lang="en-US" altLang="zh-CN" dirty="0"/>
              <a:t>)</a:t>
            </a:r>
            <a:endParaRPr lang="en-US" altLang="zh-CN" dirty="0"/>
          </a:p>
          <a:p>
            <a:pPr lvl="2">
              <a:lnSpc>
                <a:spcPct val="90000"/>
              </a:lnSpc>
            </a:pPr>
            <a:r>
              <a:rPr lang="en-US" altLang="zh-CN" dirty="0"/>
              <a:t>4</a:t>
            </a:r>
            <a:r>
              <a:rPr lang="zh-CN" altLang="en-US" dirty="0"/>
              <a:t>位二进制码从高到低权值分别为</a:t>
            </a:r>
            <a:r>
              <a:rPr lang="en-US" altLang="zh-CN" dirty="0"/>
              <a:t>5</a:t>
            </a:r>
            <a:r>
              <a:rPr lang="zh-CN" altLang="en-US" dirty="0"/>
              <a:t>， </a:t>
            </a:r>
            <a:r>
              <a:rPr lang="en-US" altLang="zh-CN" dirty="0"/>
              <a:t>4</a:t>
            </a:r>
            <a:r>
              <a:rPr lang="zh-CN" altLang="en-US" dirty="0"/>
              <a:t>， </a:t>
            </a:r>
            <a:r>
              <a:rPr lang="en-US" altLang="zh-CN" dirty="0"/>
              <a:t>2</a:t>
            </a:r>
            <a:r>
              <a:rPr lang="zh-CN" altLang="en-US" dirty="0"/>
              <a:t>， </a:t>
            </a:r>
            <a:r>
              <a:rPr lang="en-US" altLang="zh-CN" dirty="0"/>
              <a:t>1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2421</a:t>
            </a:r>
            <a:r>
              <a:rPr lang="zh-CN" altLang="en-US" dirty="0"/>
              <a:t>码 </a:t>
            </a:r>
            <a:r>
              <a:rPr lang="en-US" altLang="zh-CN" dirty="0"/>
              <a:t>(</a:t>
            </a:r>
            <a:r>
              <a:rPr lang="zh-CN" altLang="en-US" dirty="0"/>
              <a:t>有权码</a:t>
            </a:r>
            <a:r>
              <a:rPr lang="en-US" altLang="zh-CN" dirty="0"/>
              <a:t>)</a:t>
            </a:r>
            <a:endParaRPr lang="en-US" altLang="zh-CN" dirty="0"/>
          </a:p>
          <a:p>
            <a:pPr lvl="2">
              <a:lnSpc>
                <a:spcPct val="90000"/>
              </a:lnSpc>
            </a:pPr>
            <a:r>
              <a:rPr lang="en-US" altLang="zh-CN" dirty="0"/>
              <a:t>4</a:t>
            </a:r>
            <a:r>
              <a:rPr lang="zh-CN" altLang="en-US" dirty="0"/>
              <a:t>位二进制码从高到低权值分别为</a:t>
            </a:r>
            <a:r>
              <a:rPr lang="en-US" altLang="zh-CN" dirty="0"/>
              <a:t>2</a:t>
            </a:r>
            <a:r>
              <a:rPr lang="zh-CN" altLang="en-US" dirty="0"/>
              <a:t>， </a:t>
            </a:r>
            <a:r>
              <a:rPr lang="en-US" altLang="zh-CN" dirty="0"/>
              <a:t>4</a:t>
            </a:r>
            <a:r>
              <a:rPr lang="zh-CN" altLang="en-US" dirty="0"/>
              <a:t>， </a:t>
            </a:r>
            <a:r>
              <a:rPr lang="en-US" altLang="zh-CN" dirty="0"/>
              <a:t>2</a:t>
            </a:r>
            <a:r>
              <a:rPr lang="zh-CN" altLang="en-US" dirty="0"/>
              <a:t>， </a:t>
            </a:r>
            <a:r>
              <a:rPr lang="en-US" altLang="zh-CN" dirty="0"/>
              <a:t>1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zh-CN" altLang="en-US" dirty="0"/>
              <a:t>余三码 </a:t>
            </a:r>
            <a:r>
              <a:rPr lang="en-US" altLang="zh-CN" dirty="0"/>
              <a:t>(</a:t>
            </a:r>
            <a:r>
              <a:rPr lang="zh-CN" altLang="en-US" dirty="0"/>
              <a:t>无权码</a:t>
            </a:r>
            <a:r>
              <a:rPr lang="en-US" altLang="zh-CN" dirty="0"/>
              <a:t>)</a:t>
            </a:r>
            <a:endParaRPr lang="en-US" altLang="zh-CN" dirty="0"/>
          </a:p>
          <a:p>
            <a:pPr lvl="2">
              <a:lnSpc>
                <a:spcPct val="90000"/>
              </a:lnSpc>
            </a:pPr>
            <a:r>
              <a:rPr lang="zh-CN" altLang="en-US" dirty="0"/>
              <a:t>十进制数用余三码表示，比</a:t>
            </a:r>
            <a:r>
              <a:rPr lang="en-US" altLang="zh-CN" dirty="0"/>
              <a:t>8421</a:t>
            </a:r>
            <a:r>
              <a:rPr lang="zh-CN" altLang="en-US" dirty="0"/>
              <a:t>码在二进制上多</a:t>
            </a:r>
            <a:r>
              <a:rPr lang="en-US" altLang="zh-CN" dirty="0"/>
              <a:t>3</a:t>
            </a:r>
            <a:endParaRPr lang="en-US" altLang="zh-CN" dirty="0"/>
          </a:p>
          <a:p>
            <a:pPr lvl="2">
              <a:lnSpc>
                <a:spcPct val="90000"/>
              </a:lnSpc>
            </a:pPr>
            <a:r>
              <a:rPr lang="zh-CN" altLang="en-US" dirty="0"/>
              <a:t>余三码＝</a:t>
            </a:r>
            <a:r>
              <a:rPr lang="en-US" altLang="zh-CN" dirty="0"/>
              <a:t>8421</a:t>
            </a:r>
            <a:r>
              <a:rPr lang="zh-CN" altLang="en-US" dirty="0"/>
              <a:t>码＋（</a:t>
            </a:r>
            <a:r>
              <a:rPr lang="en-US" altLang="zh-CN" dirty="0"/>
              <a:t>0011</a:t>
            </a:r>
            <a:r>
              <a:rPr lang="zh-CN" altLang="en-US" dirty="0"/>
              <a:t>）</a:t>
            </a:r>
            <a:r>
              <a:rPr lang="en-US" altLang="zh-CN" sz="3200" baseline="-25000" dirty="0"/>
              <a:t>2</a:t>
            </a:r>
            <a:endParaRPr lang="en-US" altLang="zh-CN" sz="3200" baseline="-25000" dirty="0"/>
          </a:p>
        </p:txBody>
      </p:sp>
    </p:spTree>
  </p:cSld>
  <p:clrMapOvr>
    <a:masterClrMapping/>
  </p:clrMapOvr>
  <p:transition spd="slow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数制和码制（</a:t>
            </a:r>
            <a:r>
              <a:rPr lang="en-US" altLang="zh-CN" dirty="0"/>
              <a:t>15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216C-18A3-466E-BD90-37CCADC359B9}" type="slidenum">
              <a:rPr lang="en-US" altLang="zh-CN"/>
            </a:fld>
            <a:endParaRPr lang="en-US" altLang="zh-CN"/>
          </a:p>
        </p:txBody>
      </p:sp>
      <p:sp>
        <p:nvSpPr>
          <p:cNvPr id="2508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3538" y="1524000"/>
            <a:ext cx="8334926" cy="51450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dirty="0"/>
              <a:t>十进制数的二进制编码（</a:t>
            </a:r>
            <a:r>
              <a:rPr lang="en-US" altLang="zh-CN" dirty="0"/>
              <a:t>BCD</a:t>
            </a:r>
            <a:r>
              <a:rPr lang="zh-CN" altLang="en-US" dirty="0"/>
              <a:t>码），</a:t>
            </a:r>
            <a:r>
              <a:rPr lang="en-US" altLang="zh-CN" dirty="0"/>
              <a:t>8421</a:t>
            </a:r>
            <a:r>
              <a:rPr lang="zh-CN" altLang="en-US" dirty="0"/>
              <a:t>码、</a:t>
            </a:r>
            <a:r>
              <a:rPr lang="en-US" altLang="zh-CN" dirty="0"/>
              <a:t>5421</a:t>
            </a:r>
            <a:r>
              <a:rPr lang="zh-CN" altLang="en-US" dirty="0"/>
              <a:t>码等。</a:t>
            </a:r>
            <a:endParaRPr lang="zh-CN" altLang="en-US" dirty="0"/>
          </a:p>
          <a:p>
            <a:pPr>
              <a:lnSpc>
                <a:spcPct val="90000"/>
              </a:lnSpc>
            </a:pPr>
            <a:endParaRPr lang="en-US" altLang="zh-CN" sz="3200" baseline="-25000" dirty="0"/>
          </a:p>
        </p:txBody>
      </p:sp>
      <p:sp>
        <p:nvSpPr>
          <p:cNvPr id="9" name="AutoShape 2"/>
          <p:cNvSpPr>
            <a:spLocks noChangeArrowheads="1"/>
          </p:cNvSpPr>
          <p:nvPr/>
        </p:nvSpPr>
        <p:spPr bwMode="auto">
          <a:xfrm>
            <a:off x="899592" y="2909664"/>
            <a:ext cx="7200800" cy="2895600"/>
          </a:xfrm>
          <a:prstGeom prst="horizontalScroll">
            <a:avLst>
              <a:gd name="adj" fmla="val 5153"/>
            </a:avLst>
          </a:prstGeom>
          <a:solidFill>
            <a:srgbClr val="E7FFE7">
              <a:alpha val="50000"/>
            </a:srgbClr>
          </a:solidFill>
          <a:ln w="9525">
            <a:solidFill>
              <a:srgbClr val="FF00FF"/>
            </a:solidFill>
            <a:round/>
          </a:ln>
          <a:effectLst/>
        </p:spPr>
        <p:txBody>
          <a:bodyPr wrap="none" anchor="ctr"/>
          <a:lstStyle/>
          <a:p>
            <a:endParaRPr lang="zh-CN" altLang="en-US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013882" y="3062073"/>
            <a:ext cx="7086510" cy="25730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indent="762000">
              <a:lnSpc>
                <a:spcPct val="160000"/>
              </a:lnSpc>
              <a:spcBef>
                <a:spcPct val="50000"/>
              </a:spcBef>
            </a:pPr>
            <a:r>
              <a:rPr lang="en-US" altLang="zh-CN" sz="3600" b="1" dirty="0" err="1">
                <a:latin typeface="方正姚体" panose="02010601030101010101" pitchFamily="2" charset="-122"/>
                <a:ea typeface="方正姚体" panose="02010601030101010101" pitchFamily="2" charset="-122"/>
              </a:rPr>
              <a:t>Binary_code_decimal</a:t>
            </a:r>
            <a:endParaRPr lang="en-US" altLang="zh-CN" sz="28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indent="762000">
              <a:lnSpc>
                <a:spcPct val="160000"/>
              </a:lnSpc>
              <a:spcBef>
                <a:spcPct val="50000"/>
              </a:spcBef>
            </a:pPr>
            <a:r>
              <a:rPr lang="zh-CN" altLang="en-US" sz="2800" dirty="0">
                <a:latin typeface="方正姚体" panose="02010601030101010101" pitchFamily="2" charset="-122"/>
                <a:ea typeface="方正姚体" panose="02010601030101010101" pitchFamily="2" charset="-122"/>
              </a:rPr>
              <a:t>简称为二</a:t>
            </a:r>
            <a:r>
              <a: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rPr>
              <a:t>——</a:t>
            </a:r>
            <a:r>
              <a:rPr lang="zh-CN" altLang="en-US" sz="2800" dirty="0">
                <a:latin typeface="方正姚体" panose="02010601030101010101" pitchFamily="2" charset="-122"/>
                <a:ea typeface="方正姚体" panose="02010601030101010101" pitchFamily="2" charset="-122"/>
              </a:rPr>
              <a:t>十进制码或</a:t>
            </a:r>
            <a:r>
              <a: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rPr>
              <a:t>BCD</a:t>
            </a:r>
            <a:r>
              <a:rPr lang="zh-CN" altLang="zh-CN" sz="2800" dirty="0">
                <a:latin typeface="方正姚体" panose="02010601030101010101" pitchFamily="2" charset="-122"/>
                <a:ea typeface="方正姚体" panose="02010601030101010101" pitchFamily="2" charset="-122"/>
              </a:rPr>
              <a:t>码，即用若干位</a:t>
            </a:r>
            <a:r>
              <a: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rPr>
              <a:t>(4</a:t>
            </a:r>
            <a:r>
              <a:rPr lang="zh-CN" altLang="en-US" sz="2800" dirty="0">
                <a:latin typeface="方正姚体" panose="02010601030101010101" pitchFamily="2" charset="-122"/>
                <a:ea typeface="方正姚体" panose="02010601030101010101" pitchFamily="2" charset="-122"/>
              </a:rPr>
              <a:t>位</a:t>
            </a:r>
            <a:r>
              <a: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rPr>
              <a:t>)</a:t>
            </a:r>
            <a:r>
              <a:rPr lang="zh-CN" altLang="zh-CN" sz="2800" dirty="0">
                <a:latin typeface="方正姚体" panose="02010601030101010101" pitchFamily="2" charset="-122"/>
                <a:ea typeface="方正姚体" panose="02010601030101010101" pitchFamily="2" charset="-122"/>
              </a:rPr>
              <a:t>二进制数来表示一位十进制数。</a:t>
            </a:r>
            <a:endParaRPr lang="zh-CN" altLang="en-US" sz="28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utoUpdateAnimBg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数制和码制（</a:t>
            </a:r>
            <a:r>
              <a:rPr lang="en-US" altLang="zh-CN" dirty="0"/>
              <a:t>16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216C-18A3-466E-BD90-37CCADC359B9}" type="slidenum">
              <a:rPr lang="en-US" altLang="zh-CN"/>
            </a:fld>
            <a:endParaRPr lang="en-US" altLang="zh-CN"/>
          </a:p>
        </p:txBody>
      </p:sp>
      <p:sp>
        <p:nvSpPr>
          <p:cNvPr id="2508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3538" y="1524000"/>
            <a:ext cx="8334926" cy="51450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8421 BCD</a:t>
            </a:r>
            <a:r>
              <a:rPr lang="zh-CN" altLang="en-US" dirty="0"/>
              <a:t>码</a:t>
            </a:r>
            <a:endParaRPr lang="en-US" altLang="zh-CN" sz="3200" baseline="-25000" dirty="0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629573" y="2223442"/>
            <a:ext cx="7974875" cy="13849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indent="762000">
              <a:spcBef>
                <a:spcPct val="50000"/>
              </a:spcBef>
            </a:pPr>
            <a:r>
              <a:rPr kumimoji="0"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简称</a:t>
            </a:r>
            <a:r>
              <a:rPr kumimoji="0"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8421</a:t>
            </a:r>
            <a:r>
              <a:rPr kumimoji="0"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码。按</a:t>
            </a:r>
            <a:r>
              <a:rPr kumimoji="0"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kumimoji="0"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位二进制数的自然顺序，取前十个数依次表示十进制的</a:t>
            </a:r>
            <a:r>
              <a:rPr kumimoji="0"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kumimoji="0"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～</a:t>
            </a:r>
            <a:r>
              <a:rPr kumimoji="0"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9</a:t>
            </a:r>
            <a:r>
              <a:rPr kumimoji="0"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，后</a:t>
            </a:r>
            <a:r>
              <a:rPr kumimoji="0"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kumimoji="0"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个数不允许出现，若出现则认为是非法的或错误的。</a:t>
            </a:r>
            <a:endParaRPr kumimoji="0" lang="zh-CN" altLang="en-US" sz="2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629562" y="3608437"/>
            <a:ext cx="7974886" cy="169277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indent="762000">
              <a:spcBef>
                <a:spcPct val="50000"/>
              </a:spcBef>
            </a:pPr>
            <a:r>
              <a:rPr kumimoji="0"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8421</a:t>
            </a:r>
            <a:r>
              <a:rPr kumimoji="0"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码是一种</a:t>
            </a:r>
            <a:r>
              <a:rPr kumimoji="0" lang="zh-CN" altLang="en-US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有权码</a:t>
            </a:r>
            <a:r>
              <a:rPr kumimoji="0"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，每位有固定的权，从高到低依次为</a:t>
            </a:r>
            <a:r>
              <a:rPr kumimoji="0"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8, 4, 2, 1</a:t>
            </a:r>
            <a:r>
              <a:rPr kumimoji="0"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，如 </a:t>
            </a:r>
            <a:r>
              <a:rPr kumimoji="0"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:</a:t>
            </a:r>
            <a:br>
              <a: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rPr>
            </a:br>
            <a:br>
              <a:rPr lang="en-US" altLang="zh-CN" sz="1600" dirty="0">
                <a:latin typeface="方正姚体" panose="02010601030101010101" pitchFamily="2" charset="-122"/>
                <a:ea typeface="方正姚体" panose="02010601030101010101" pitchFamily="2" charset="-122"/>
              </a:rPr>
            </a:br>
            <a:r>
              <a: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rPr>
              <a:t>       8421</a:t>
            </a:r>
            <a:r>
              <a:rPr lang="zh-CN" altLang="en-US" sz="2800" dirty="0">
                <a:latin typeface="方正姚体" panose="02010601030101010101" pitchFamily="2" charset="-122"/>
                <a:ea typeface="方正姚体" panose="02010601030101010101" pitchFamily="2" charset="-122"/>
              </a:rPr>
              <a:t>码    </a:t>
            </a:r>
            <a:r>
              <a: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rPr>
              <a:t>0111=0</a:t>
            </a:r>
            <a:r>
              <a: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  <a:sym typeface="Symbol" panose="05050102010706020507" pitchFamily="18" charset="2"/>
              </a:rPr>
              <a:t>8+</a:t>
            </a:r>
            <a:r>
              <a: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rPr>
              <a:t>1</a:t>
            </a:r>
            <a:r>
              <a: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  <a:sym typeface="Symbol" panose="05050102010706020507" pitchFamily="18" charset="2"/>
              </a:rPr>
              <a:t>4+</a:t>
            </a:r>
            <a:r>
              <a: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rPr>
              <a:t>1</a:t>
            </a:r>
            <a:r>
              <a: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  <a:sym typeface="Symbol" panose="05050102010706020507" pitchFamily="18" charset="2"/>
              </a:rPr>
              <a:t>2+</a:t>
            </a:r>
            <a:r>
              <a: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rPr>
              <a:t>1</a:t>
            </a:r>
            <a:r>
              <a: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  <a:sym typeface="Symbol" panose="05050102010706020507" pitchFamily="18" charset="2"/>
              </a:rPr>
              <a:t>1=7</a:t>
            </a:r>
            <a:endParaRPr lang="en-US" altLang="zh-CN" sz="28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971600" y="5565751"/>
            <a:ext cx="6490879" cy="50000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160000"/>
              </a:lnSpc>
              <a:spcBef>
                <a:spcPct val="50000"/>
              </a:spcBef>
            </a:pPr>
            <a:r>
              <a:rPr lang="zh-CN" altLang="en-US" sz="2000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举例：</a:t>
            </a:r>
            <a:r>
              <a:rPr lang="en-US" altLang="zh-CN" sz="2000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N=</a:t>
            </a:r>
            <a:r>
              <a:rPr lang="zh-CN" altLang="en-US" sz="2000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（</a:t>
            </a:r>
            <a:r>
              <a:rPr lang="en-US" altLang="zh-CN" sz="2000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93</a:t>
            </a:r>
            <a:r>
              <a:rPr lang="zh-CN" altLang="en-US" sz="2000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）</a:t>
            </a:r>
            <a:r>
              <a:rPr lang="en-US" altLang="zh-CN" sz="2000" b="1" baseline="-25000" dirty="0">
                <a:latin typeface="方正姚体" panose="02010601030101010101" pitchFamily="2" charset="-122"/>
                <a:ea typeface="方正姚体" panose="02010601030101010101" pitchFamily="2" charset="-122"/>
              </a:rPr>
              <a:t>10</a:t>
            </a:r>
            <a:r>
              <a:rPr lang="zh-CN" altLang="en-US" sz="2000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， 则有：</a:t>
            </a:r>
            <a:r>
              <a:rPr lang="en-US" altLang="zh-CN" sz="2000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N=</a:t>
            </a:r>
            <a:r>
              <a:rPr lang="zh-CN" altLang="en-US" sz="2000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（</a:t>
            </a:r>
            <a:r>
              <a:rPr lang="en-US" altLang="zh-CN" sz="2000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1001 0011</a:t>
            </a:r>
            <a:r>
              <a:rPr lang="zh-CN" altLang="en-US" sz="2000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）</a:t>
            </a:r>
            <a:r>
              <a:rPr lang="en-US" altLang="zh-CN" sz="1600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8421BCD</a:t>
            </a:r>
            <a:r>
              <a:rPr lang="zh-CN" altLang="en-US" sz="2000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等等</a:t>
            </a:r>
            <a:endParaRPr lang="zh-CN" altLang="en-US" sz="2000" b="1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ransition spd="slow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数制和码制（</a:t>
            </a:r>
            <a:r>
              <a:rPr lang="en-US" altLang="zh-CN" dirty="0"/>
              <a:t>17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216C-18A3-466E-BD90-37CCADC359B9}" type="slidenum">
              <a:rPr lang="en-US" altLang="zh-CN"/>
            </a:fld>
            <a:endParaRPr lang="en-US" altLang="zh-CN"/>
          </a:p>
        </p:txBody>
      </p:sp>
      <p:sp>
        <p:nvSpPr>
          <p:cNvPr id="2508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3538" y="1524000"/>
            <a:ext cx="8334926" cy="51450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5421</a:t>
            </a:r>
            <a:r>
              <a:rPr lang="zh-CN" altLang="en-US" dirty="0"/>
              <a:t>码</a:t>
            </a:r>
            <a:endParaRPr lang="en-US" altLang="zh-CN" sz="3200" baseline="-25000" dirty="0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629573" y="2223442"/>
            <a:ext cx="7974875" cy="181588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indent="762000">
              <a:spcBef>
                <a:spcPct val="50000"/>
              </a:spcBef>
            </a:pPr>
            <a:r>
              <a:rPr kumimoji="0"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简称</a:t>
            </a:r>
            <a:r>
              <a:rPr kumimoji="0"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5421</a:t>
            </a:r>
            <a:r>
              <a:rPr kumimoji="0"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码。按</a:t>
            </a:r>
            <a:r>
              <a:rPr kumimoji="0"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kumimoji="0"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位二进制数</a:t>
            </a:r>
            <a:r>
              <a:rPr kumimoji="0"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(B</a:t>
            </a:r>
            <a:r>
              <a:rPr kumimoji="0" lang="en-US" altLang="zh-CN" sz="2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kumimoji="0"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kumimoji="0" lang="en-US" altLang="zh-CN" sz="2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kumimoji="0" lang="en-US" altLang="zh-CN" sz="2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kumimoji="0" lang="en-US" altLang="zh-CN" sz="2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kumimoji="0"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kumimoji="0"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的自然顺序值，取前十个数依次表示十进制的</a:t>
            </a:r>
            <a:r>
              <a:rPr kumimoji="0"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kumimoji="0"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～</a:t>
            </a:r>
            <a:r>
              <a:rPr kumimoji="0"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9</a:t>
            </a:r>
            <a:r>
              <a:rPr kumimoji="0"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kumimoji="0"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5421</a:t>
            </a:r>
            <a:r>
              <a:rPr kumimoji="0"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码也是一种有权码，每位有固定的权，从高到低依次为</a:t>
            </a:r>
            <a:r>
              <a:rPr kumimoji="0" lang="en-US" altLang="zh-CN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5421 </a:t>
            </a:r>
            <a:r>
              <a:rPr kumimoji="0"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kumimoji="0" lang="zh-CN" altLang="en-US" sz="2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43608" y="4251805"/>
            <a:ext cx="6192688" cy="1001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ct val="25000"/>
              </a:spcBef>
              <a:buClr>
                <a:srgbClr val="FF0000"/>
              </a:buClr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例如：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N=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 （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93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10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 则有：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indent="762000">
              <a:lnSpc>
                <a:spcPct val="115000"/>
              </a:lnSpc>
              <a:spcBef>
                <a:spcPct val="25000"/>
              </a:spcBef>
              <a:buClr>
                <a:srgbClr val="FF0000"/>
              </a:buClr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           N=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11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00 0011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5421BCD</a:t>
            </a:r>
            <a:endParaRPr lang="en-US" altLang="zh-CN" baseline="-25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71600" y="551723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 10</a:t>
            </a:r>
            <a:r>
              <a:rPr lang="zh-CN" altLang="en-US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进制</a:t>
            </a:r>
            <a:r>
              <a:rPr lang="en-US" altLang="zh-CN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5</a:t>
            </a:r>
            <a:r>
              <a:rPr lang="zh-CN" altLang="en-US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的</a:t>
            </a:r>
            <a:r>
              <a:rPr lang="en-US" altLang="zh-CN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5421</a:t>
            </a:r>
            <a:r>
              <a:rPr lang="zh-CN" altLang="en-US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编码应该是？</a:t>
            </a:r>
            <a:endParaRPr lang="zh-CN" altLang="en-US" dirty="0"/>
          </a:p>
        </p:txBody>
      </p:sp>
    </p:spTree>
  </p:cSld>
  <p:clrMapOvr>
    <a:masterClrMapping/>
  </p:clrMapOvr>
  <p:transition spd="slow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数制和码制（</a:t>
            </a:r>
            <a:r>
              <a:rPr lang="en-US" altLang="zh-CN" dirty="0"/>
              <a:t>18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216C-18A3-466E-BD90-37CCADC359B9}" type="slidenum">
              <a:rPr lang="en-US" altLang="zh-CN"/>
            </a:fld>
            <a:endParaRPr lang="en-US" altLang="zh-CN"/>
          </a:p>
        </p:txBody>
      </p:sp>
      <p:sp>
        <p:nvSpPr>
          <p:cNvPr id="2508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3538" y="1524000"/>
            <a:ext cx="8334926" cy="51450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2421</a:t>
            </a:r>
            <a:r>
              <a:rPr lang="zh-CN" altLang="en-US" dirty="0"/>
              <a:t>码</a:t>
            </a:r>
            <a:endParaRPr lang="en-US" altLang="zh-CN" sz="3200" baseline="-25000" dirty="0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629573" y="2223442"/>
            <a:ext cx="7974875" cy="181588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indent="762000">
              <a:spcBef>
                <a:spcPct val="50000"/>
              </a:spcBef>
            </a:pPr>
            <a:r>
              <a:rPr kumimoji="0"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简称</a:t>
            </a:r>
            <a:r>
              <a:rPr kumimoji="0"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2421</a:t>
            </a:r>
            <a:r>
              <a:rPr kumimoji="0"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码。按</a:t>
            </a:r>
            <a:r>
              <a:rPr kumimoji="0"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kumimoji="0"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位二进制数</a:t>
            </a:r>
            <a:r>
              <a:rPr kumimoji="0"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(B</a:t>
            </a:r>
            <a:r>
              <a:rPr kumimoji="0" lang="en-US" altLang="zh-CN" sz="2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kumimoji="0"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kumimoji="0" lang="en-US" altLang="zh-CN" sz="2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kumimoji="0" lang="en-US" altLang="zh-CN" sz="2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kumimoji="0" lang="en-US" altLang="zh-CN" sz="2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kumimoji="0"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kumimoji="0"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的自然顺序值，取前十个数依次表示十进制的</a:t>
            </a:r>
            <a:r>
              <a:rPr kumimoji="0"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kumimoji="0"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～</a:t>
            </a:r>
            <a:r>
              <a:rPr kumimoji="0"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9</a:t>
            </a:r>
            <a:r>
              <a:rPr kumimoji="0"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kumimoji="0"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2421</a:t>
            </a:r>
            <a:r>
              <a:rPr kumimoji="0"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码是一种有权码，每位有固定的权，从高到低依次为</a:t>
            </a:r>
            <a:r>
              <a:rPr kumimoji="0" lang="en-US" altLang="zh-CN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2421 </a:t>
            </a:r>
            <a:r>
              <a:rPr kumimoji="0"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kumimoji="0" lang="zh-CN" altLang="en-US" sz="2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87624" y="4127392"/>
            <a:ext cx="6552728" cy="1001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ct val="25000"/>
              </a:spcBef>
              <a:buClr>
                <a:srgbClr val="FF0000"/>
              </a:buClr>
            </a:pP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例如：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N=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93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r>
              <a:rPr lang="en-US" altLang="zh-CN" sz="2400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10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， 则有：</a:t>
            </a:r>
            <a:endParaRPr lang="zh-CN" altLang="en-US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15000"/>
              </a:lnSpc>
              <a:spcBef>
                <a:spcPct val="25000"/>
              </a:spcBef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            N=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sz="2400" dirty="0">
                <a:solidFill>
                  <a:srgbClr val="FF33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1111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0011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r>
              <a: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2421BCD</a:t>
            </a:r>
            <a:endParaRPr lang="zh-CN" altLang="en-US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71600" y="551723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 10</a:t>
            </a:r>
            <a:r>
              <a:rPr lang="zh-CN" altLang="en-US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进制</a:t>
            </a:r>
            <a:r>
              <a:rPr lang="en-US" altLang="zh-CN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5</a:t>
            </a:r>
            <a:r>
              <a:rPr lang="zh-CN" altLang="en-US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的</a:t>
            </a:r>
            <a:r>
              <a:rPr lang="en-US" altLang="zh-CN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2421</a:t>
            </a:r>
            <a:r>
              <a:rPr lang="zh-CN" altLang="en-US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编码应该是？</a:t>
            </a:r>
            <a:endParaRPr lang="zh-CN" altLang="en-US" dirty="0"/>
          </a:p>
        </p:txBody>
      </p:sp>
    </p:spTree>
  </p:cSld>
  <p:clrMapOvr>
    <a:masterClrMapping/>
  </p:clrMapOvr>
  <p:transition spd="slow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数制和码制（</a:t>
            </a:r>
            <a:r>
              <a:rPr lang="en-US" altLang="zh-CN" dirty="0"/>
              <a:t>19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216C-18A3-466E-BD90-37CCADC359B9}" type="slidenum">
              <a:rPr lang="en-US" altLang="zh-CN"/>
            </a:fld>
            <a:endParaRPr lang="en-US" altLang="zh-CN"/>
          </a:p>
        </p:txBody>
      </p:sp>
      <p:sp>
        <p:nvSpPr>
          <p:cNvPr id="2508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3538" y="1524000"/>
            <a:ext cx="8334926" cy="51450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dirty="0"/>
              <a:t>无权编码</a:t>
            </a:r>
            <a:endParaRPr lang="en-US" altLang="zh-CN" sz="3200" baseline="-25000" dirty="0"/>
          </a:p>
        </p:txBody>
      </p:sp>
      <p:sp>
        <p:nvSpPr>
          <p:cNvPr id="5" name="AutoShape 2"/>
          <p:cNvSpPr>
            <a:spLocks noChangeArrowheads="1"/>
          </p:cNvSpPr>
          <p:nvPr/>
        </p:nvSpPr>
        <p:spPr bwMode="auto">
          <a:xfrm>
            <a:off x="971600" y="3356992"/>
            <a:ext cx="7507224" cy="2638425"/>
          </a:xfrm>
          <a:prstGeom prst="foldedCorner">
            <a:avLst>
              <a:gd name="adj" fmla="val 12500"/>
            </a:avLst>
          </a:prstGeom>
          <a:solidFill>
            <a:srgbClr val="E7FFE7">
              <a:alpha val="50000"/>
            </a:srgbClr>
          </a:solidFill>
          <a:ln w="9525">
            <a:solidFill>
              <a:srgbClr val="FF00FF"/>
            </a:solidFill>
            <a:round/>
          </a:ln>
          <a:effectLst/>
        </p:spPr>
        <p:txBody>
          <a:bodyPr wrap="none" anchor="ctr"/>
          <a:lstStyle/>
          <a:p>
            <a:endParaRPr lang="zh-CN" altLang="en-US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209721" y="2060848"/>
            <a:ext cx="1175322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CC3300"/>
                </a:solidFill>
              </a:rPr>
              <a:t> 余</a:t>
            </a:r>
            <a:r>
              <a:rPr lang="en-US" altLang="zh-CN" sz="2800" b="1" dirty="0">
                <a:solidFill>
                  <a:srgbClr val="CC3300"/>
                </a:solidFill>
              </a:rPr>
              <a:t>3</a:t>
            </a:r>
            <a:r>
              <a:rPr lang="zh-CN" altLang="en-US" sz="2800" b="1" dirty="0">
                <a:solidFill>
                  <a:srgbClr val="CC3300"/>
                </a:solidFill>
              </a:rPr>
              <a:t>码</a:t>
            </a:r>
            <a:endParaRPr lang="zh-CN" altLang="en-US" sz="2800" b="1" dirty="0">
              <a:solidFill>
                <a:srgbClr val="CC3300"/>
              </a:solidFill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145226" y="3763160"/>
            <a:ext cx="7117574" cy="190205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indent="666750">
              <a:lnSpc>
                <a:spcPct val="140000"/>
              </a:lnSpc>
              <a:spcBef>
                <a:spcPct val="50000"/>
              </a:spcBef>
            </a:pPr>
            <a:r>
              <a:rPr lang="zh-CN" altLang="en-US" sz="2800" dirty="0">
                <a:latin typeface="方正姚体" panose="02010601030101010101" pitchFamily="2" charset="-122"/>
                <a:ea typeface="方正姚体" panose="02010601030101010101" pitchFamily="2" charset="-122"/>
              </a:rPr>
              <a:t>由</a:t>
            </a:r>
            <a:r>
              <a: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rPr>
              <a:t>8421</a:t>
            </a:r>
            <a:r>
              <a:rPr lang="zh-CN" altLang="en-US" sz="2800" dirty="0">
                <a:latin typeface="方正姚体" panose="02010601030101010101" pitchFamily="2" charset="-122"/>
                <a:ea typeface="方正姚体" panose="02010601030101010101" pitchFamily="2" charset="-122"/>
              </a:rPr>
              <a:t>码加</a:t>
            </a:r>
            <a:r>
              <a: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rPr>
              <a:t>3</a:t>
            </a:r>
            <a:r>
              <a:rPr lang="zh-CN" altLang="en-US" sz="2800" dirty="0">
                <a:latin typeface="方正姚体" panose="02010601030101010101" pitchFamily="2" charset="-122"/>
                <a:ea typeface="方正姚体" panose="02010601030101010101" pitchFamily="2" charset="-122"/>
              </a:rPr>
              <a:t>形成，是一种</a:t>
            </a:r>
            <a:r>
              <a:rPr lang="zh-CN" altLang="en-US" sz="2800" b="1" dirty="0">
                <a:solidFill>
                  <a:srgbClr val="FF33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无权码</a:t>
            </a:r>
            <a:r>
              <a:rPr lang="zh-CN" altLang="en-US" sz="2800" dirty="0">
                <a:latin typeface="方正姚体" panose="02010601030101010101" pitchFamily="2" charset="-122"/>
                <a:ea typeface="方正姚体" panose="02010601030101010101" pitchFamily="2" charset="-122"/>
              </a:rPr>
              <a:t>。如果两个余</a:t>
            </a:r>
            <a:r>
              <a: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rPr>
              <a:t>3</a:t>
            </a:r>
            <a:r>
              <a:rPr lang="zh-CN" altLang="en-US" sz="2800" dirty="0">
                <a:latin typeface="方正姚体" panose="02010601030101010101" pitchFamily="2" charset="-122"/>
                <a:ea typeface="方正姚体" panose="02010601030101010101" pitchFamily="2" charset="-122"/>
              </a:rPr>
              <a:t>码相加没有进位，则和数要减</a:t>
            </a:r>
            <a:r>
              <a: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rPr>
              <a:t>3</a:t>
            </a:r>
            <a:r>
              <a:rPr lang="zh-CN" altLang="en-US" sz="2800" dirty="0">
                <a:latin typeface="方正姚体" panose="02010601030101010101" pitchFamily="2" charset="-122"/>
                <a:ea typeface="方正姚体" panose="02010601030101010101" pitchFamily="2" charset="-122"/>
              </a:rPr>
              <a:t>，否则和数要加</a:t>
            </a:r>
            <a:r>
              <a: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rPr>
              <a:t>3</a:t>
            </a:r>
            <a:r>
              <a:rPr lang="zh-CN" altLang="en-US" sz="2800" dirty="0">
                <a:latin typeface="方正姚体" panose="02010601030101010101" pitchFamily="2" charset="-122"/>
                <a:ea typeface="方正姚体" panose="02010601030101010101" pitchFamily="2" charset="-122"/>
              </a:rPr>
              <a:t>。</a:t>
            </a:r>
            <a:endParaRPr lang="zh-CN" altLang="en-US" sz="28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1209715" y="2563398"/>
            <a:ext cx="268317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CC3300"/>
                </a:solidFill>
              </a:rPr>
              <a:t>8421</a:t>
            </a:r>
            <a:r>
              <a:rPr lang="zh-CN" altLang="en-US" sz="2800" b="1" dirty="0">
                <a:solidFill>
                  <a:srgbClr val="CC3300"/>
                </a:solidFill>
              </a:rPr>
              <a:t>码再加</a:t>
            </a:r>
            <a:r>
              <a:rPr lang="en-US" altLang="zh-CN" sz="2800" b="1" dirty="0">
                <a:solidFill>
                  <a:srgbClr val="CC3300"/>
                </a:solidFill>
              </a:rPr>
              <a:t>0011</a:t>
            </a:r>
            <a:endParaRPr lang="zh-CN" altLang="en-US" sz="2800" b="1" dirty="0">
              <a:solidFill>
                <a:srgbClr val="CC3300"/>
              </a:solidFill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utoUpdateAnimBg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数制和码制（</a:t>
            </a:r>
            <a:r>
              <a:rPr lang="en-US" altLang="zh-CN" dirty="0"/>
              <a:t>20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216C-18A3-466E-BD90-37CCADC359B9}" type="slidenum">
              <a:rPr lang="en-US" altLang="zh-CN"/>
            </a:fld>
            <a:endParaRPr lang="en-US" altLang="zh-CN"/>
          </a:p>
        </p:txBody>
      </p:sp>
      <p:sp>
        <p:nvSpPr>
          <p:cNvPr id="2508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3538" y="1524000"/>
            <a:ext cx="8334926" cy="51450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dirty="0"/>
              <a:t>余三码计算举例</a:t>
            </a:r>
            <a:endParaRPr lang="en-US" altLang="zh-CN" sz="3200" baseline="-25000" dirty="0"/>
          </a:p>
        </p:txBody>
      </p:sp>
      <p:grpSp>
        <p:nvGrpSpPr>
          <p:cNvPr id="5" name="Group 2"/>
          <p:cNvGrpSpPr/>
          <p:nvPr/>
        </p:nvGrpSpPr>
        <p:grpSpPr bwMode="auto">
          <a:xfrm>
            <a:off x="1331273" y="3684030"/>
            <a:ext cx="2697958" cy="1476374"/>
            <a:chOff x="944" y="1593"/>
            <a:chExt cx="2266" cy="930"/>
          </a:xfrm>
        </p:grpSpPr>
        <p:sp>
          <p:nvSpPr>
            <p:cNvPr id="7" name="Text Box 3"/>
            <p:cNvSpPr txBox="1">
              <a:spLocks noChangeArrowheads="1"/>
            </p:cNvSpPr>
            <p:nvPr/>
          </p:nvSpPr>
          <p:spPr bwMode="auto">
            <a:xfrm>
              <a:off x="944" y="1593"/>
              <a:ext cx="1889" cy="60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        </a:t>
              </a:r>
              <a:r>
                <a:rPr lang="en-US" altLang="zh-CN" sz="28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0  1  0  0</a:t>
              </a:r>
              <a:endPara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  <a:p>
              <a:r>
                <a:rPr lang="zh-CN" altLang="en-US" sz="28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＋</a:t>
              </a:r>
              <a:r>
                <a:rPr lang="en-US" altLang="zh-CN" sz="28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)   0  1  1  0</a:t>
              </a:r>
              <a:endPara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  <p:sp>
          <p:nvSpPr>
            <p:cNvPr id="8" name="Line 4"/>
            <p:cNvSpPr>
              <a:spLocks noChangeShapeType="1"/>
            </p:cNvSpPr>
            <p:nvPr/>
          </p:nvSpPr>
          <p:spPr bwMode="auto">
            <a:xfrm flipV="1">
              <a:off x="1197" y="2193"/>
              <a:ext cx="2013" cy="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>
              <a:off x="1559" y="2193"/>
              <a:ext cx="1211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>
                  <a:latin typeface="方正姚体" panose="02010601030101010101" pitchFamily="2" charset="-122"/>
                  <a:ea typeface="方正姚体" panose="02010601030101010101" pitchFamily="2" charset="-122"/>
                </a:rPr>
                <a:t>1  0  1  0</a:t>
              </a:r>
              <a:endParaRPr lang="en-US" altLang="zh-CN" sz="2800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</p:grpSp>
      <p:grpSp>
        <p:nvGrpSpPr>
          <p:cNvPr id="10" name="Group 6"/>
          <p:cNvGrpSpPr/>
          <p:nvPr/>
        </p:nvGrpSpPr>
        <p:grpSpPr bwMode="auto">
          <a:xfrm>
            <a:off x="1331263" y="5101671"/>
            <a:ext cx="2697958" cy="1063624"/>
            <a:chOff x="944" y="2486"/>
            <a:chExt cx="2266" cy="670"/>
          </a:xfrm>
        </p:grpSpPr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944" y="2486"/>
              <a:ext cx="556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－</a:t>
              </a:r>
              <a:r>
                <a:rPr lang="en-US" altLang="zh-CN" sz="28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)</a:t>
              </a:r>
              <a:endPara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1571" y="2490"/>
              <a:ext cx="1211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>
                  <a:latin typeface="方正姚体" panose="02010601030101010101" pitchFamily="2" charset="-122"/>
                  <a:ea typeface="方正姚体" panose="02010601030101010101" pitchFamily="2" charset="-122"/>
                </a:rPr>
                <a:t>0  0  1  1</a:t>
              </a:r>
              <a:endParaRPr lang="en-US" altLang="zh-CN" sz="2800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1149" y="2844"/>
              <a:ext cx="20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  <p:sp>
          <p:nvSpPr>
            <p:cNvPr id="14" name="Text Box 10"/>
            <p:cNvSpPr txBox="1">
              <a:spLocks noChangeArrowheads="1"/>
            </p:cNvSpPr>
            <p:nvPr/>
          </p:nvSpPr>
          <p:spPr bwMode="auto">
            <a:xfrm>
              <a:off x="1583" y="2826"/>
              <a:ext cx="1211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0  1  1  1</a:t>
              </a:r>
              <a:endPara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</p:grp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683568" y="2736336"/>
            <a:ext cx="3780202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例如：</a:t>
            </a:r>
            <a:r>
              <a: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rPr>
              <a:t>0100+0110=0111</a:t>
            </a:r>
            <a:endParaRPr lang="en-US" altLang="zh-CN" sz="2800" b="1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grpSp>
        <p:nvGrpSpPr>
          <p:cNvPr id="16" name="Group 12"/>
          <p:cNvGrpSpPr/>
          <p:nvPr/>
        </p:nvGrpSpPr>
        <p:grpSpPr bwMode="auto">
          <a:xfrm>
            <a:off x="4976203" y="3684032"/>
            <a:ext cx="2836070" cy="1476375"/>
            <a:chOff x="3115" y="1593"/>
            <a:chExt cx="2382" cy="930"/>
          </a:xfrm>
        </p:grpSpPr>
        <p:sp>
          <p:nvSpPr>
            <p:cNvPr id="17" name="Text Box 13"/>
            <p:cNvSpPr txBox="1">
              <a:spLocks noChangeArrowheads="1"/>
            </p:cNvSpPr>
            <p:nvPr/>
          </p:nvSpPr>
          <p:spPr bwMode="auto">
            <a:xfrm>
              <a:off x="3115" y="1593"/>
              <a:ext cx="1838" cy="60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        </a:t>
              </a:r>
              <a:r>
                <a:rPr lang="en-US" altLang="zh-CN" sz="28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1  0  0  0</a:t>
              </a:r>
              <a:endPara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  <a:p>
              <a:r>
                <a:rPr lang="zh-CN" altLang="en-US" sz="28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＋</a:t>
              </a:r>
              <a:r>
                <a:rPr lang="en-US" altLang="zh-CN" sz="28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)   1  0  0  1</a:t>
              </a:r>
              <a:endPara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  <p:sp>
          <p:nvSpPr>
            <p:cNvPr id="18" name="Line 14"/>
            <p:cNvSpPr>
              <a:spLocks noChangeShapeType="1"/>
            </p:cNvSpPr>
            <p:nvPr/>
          </p:nvSpPr>
          <p:spPr bwMode="auto">
            <a:xfrm flipV="1">
              <a:off x="3280" y="2211"/>
              <a:ext cx="21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  <p:sp>
          <p:nvSpPr>
            <p:cNvPr id="19" name="Text Box 15"/>
            <p:cNvSpPr txBox="1">
              <a:spLocks noChangeArrowheads="1"/>
            </p:cNvSpPr>
            <p:nvPr/>
          </p:nvSpPr>
          <p:spPr bwMode="auto">
            <a:xfrm>
              <a:off x="3280" y="2193"/>
              <a:ext cx="2217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zh-CN" sz="28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  1  0  0  0  1</a:t>
              </a:r>
              <a:endPara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</p:grpSp>
      <p:grpSp>
        <p:nvGrpSpPr>
          <p:cNvPr id="20" name="Group 16"/>
          <p:cNvGrpSpPr/>
          <p:nvPr/>
        </p:nvGrpSpPr>
        <p:grpSpPr bwMode="auto">
          <a:xfrm>
            <a:off x="4932139" y="5101677"/>
            <a:ext cx="2880120" cy="1063627"/>
            <a:chOff x="3078" y="2486"/>
            <a:chExt cx="2419" cy="670"/>
          </a:xfrm>
        </p:grpSpPr>
        <p:sp>
          <p:nvSpPr>
            <p:cNvPr id="21" name="Rectangle 17"/>
            <p:cNvSpPr>
              <a:spLocks noChangeArrowheads="1"/>
            </p:cNvSpPr>
            <p:nvPr/>
          </p:nvSpPr>
          <p:spPr bwMode="auto">
            <a:xfrm>
              <a:off x="3078" y="2486"/>
              <a:ext cx="607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＋</a:t>
              </a:r>
              <a:r>
                <a:rPr lang="en-US" altLang="zh-CN" sz="28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)</a:t>
              </a:r>
              <a:endPara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  <p:sp>
          <p:nvSpPr>
            <p:cNvPr id="22" name="Text Box 18"/>
            <p:cNvSpPr txBox="1">
              <a:spLocks noChangeArrowheads="1"/>
            </p:cNvSpPr>
            <p:nvPr/>
          </p:nvSpPr>
          <p:spPr bwMode="auto">
            <a:xfrm>
              <a:off x="3717" y="2490"/>
              <a:ext cx="1211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0  0  1  1</a:t>
              </a:r>
              <a:endPara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  <p:sp>
          <p:nvSpPr>
            <p:cNvPr id="23" name="Line 19"/>
            <p:cNvSpPr>
              <a:spLocks noChangeShapeType="1"/>
            </p:cNvSpPr>
            <p:nvPr/>
          </p:nvSpPr>
          <p:spPr bwMode="auto">
            <a:xfrm flipV="1">
              <a:off x="3232" y="2844"/>
              <a:ext cx="21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  <p:sp>
          <p:nvSpPr>
            <p:cNvPr id="24" name="Text Box 20"/>
            <p:cNvSpPr txBox="1">
              <a:spLocks noChangeArrowheads="1"/>
            </p:cNvSpPr>
            <p:nvPr/>
          </p:nvSpPr>
          <p:spPr bwMode="auto">
            <a:xfrm>
              <a:off x="3280" y="2826"/>
              <a:ext cx="2217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zh-CN" sz="2800" b="1" dirty="0">
                  <a:solidFill>
                    <a:srgbClr val="FF00FF"/>
                  </a:solidFill>
                  <a:latin typeface="方正姚体" panose="02010601030101010101" pitchFamily="2" charset="-122"/>
                  <a:ea typeface="方正姚体" panose="02010601030101010101" pitchFamily="2" charset="-122"/>
                </a:rPr>
                <a:t>  1</a:t>
              </a:r>
              <a:r>
                <a:rPr lang="en-US" altLang="zh-CN" sz="28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  0  1  0  0</a:t>
              </a:r>
              <a:endPara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  <p:sp>
          <p:nvSpPr>
            <p:cNvPr id="25" name="Rectangle 21"/>
            <p:cNvSpPr>
              <a:spLocks noChangeArrowheads="1"/>
            </p:cNvSpPr>
            <p:nvPr/>
          </p:nvSpPr>
          <p:spPr bwMode="auto">
            <a:xfrm>
              <a:off x="3498" y="2877"/>
              <a:ext cx="245" cy="234"/>
            </a:xfrm>
            <a:prstGeom prst="rect">
              <a:avLst/>
            </a:prstGeom>
            <a:noFill/>
            <a:ln w="19050">
              <a:solidFill>
                <a:srgbClr val="FF00FF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</p:grpSp>
      <p:sp>
        <p:nvSpPr>
          <p:cNvPr id="26" name="TextBox 6"/>
          <p:cNvSpPr txBox="1"/>
          <p:nvPr/>
        </p:nvSpPr>
        <p:spPr>
          <a:xfrm>
            <a:off x="1725968" y="2231285"/>
            <a:ext cx="63744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     1       3        4             5       6        11</a:t>
            </a:r>
            <a:endParaRPr lang="zh-CN" altLang="en-US" sz="2800" dirty="0">
              <a:solidFill>
                <a:srgbClr val="FF0000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4843277" y="2708919"/>
            <a:ext cx="2969083" cy="523220"/>
            <a:chOff x="4843277" y="1772816"/>
            <a:chExt cx="2969083" cy="523220"/>
          </a:xfrm>
        </p:grpSpPr>
        <p:sp>
          <p:nvSpPr>
            <p:cNvPr id="28" name="Rectangle 24"/>
            <p:cNvSpPr>
              <a:spLocks noChangeArrowheads="1"/>
            </p:cNvSpPr>
            <p:nvPr/>
          </p:nvSpPr>
          <p:spPr bwMode="auto">
            <a:xfrm>
              <a:off x="4843277" y="1772816"/>
              <a:ext cx="2969083" cy="52322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1000+1001= </a:t>
              </a:r>
              <a:r>
                <a:rPr lang="en-US" altLang="zh-CN" sz="2800" b="1" dirty="0">
                  <a:solidFill>
                    <a:srgbClr val="FF00FF"/>
                  </a:solidFill>
                  <a:latin typeface="方正姚体" panose="02010601030101010101" pitchFamily="2" charset="-122"/>
                  <a:ea typeface="方正姚体" panose="02010601030101010101" pitchFamily="2" charset="-122"/>
                </a:rPr>
                <a:t>1</a:t>
              </a:r>
              <a:r>
                <a:rPr lang="en-US" altLang="zh-CN" sz="28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0100</a:t>
              </a:r>
              <a:endPara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  <p:sp>
          <p:nvSpPr>
            <p:cNvPr id="29" name="Rectangle 23"/>
            <p:cNvSpPr>
              <a:spLocks noChangeArrowheads="1"/>
            </p:cNvSpPr>
            <p:nvPr/>
          </p:nvSpPr>
          <p:spPr bwMode="auto">
            <a:xfrm>
              <a:off x="6805959" y="1887546"/>
              <a:ext cx="214313" cy="361951"/>
            </a:xfrm>
            <a:prstGeom prst="rect">
              <a:avLst/>
            </a:prstGeom>
            <a:noFill/>
            <a:ln w="9525">
              <a:solidFill>
                <a:srgbClr val="FF00FF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</p:grp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dvAuto="0" autoUpdateAnimBg="0" build="p"/>
      <p:bldP spid="2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数制和码制（</a:t>
            </a:r>
            <a:r>
              <a:rPr lang="en-US" altLang="zh-CN" dirty="0"/>
              <a:t>21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8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84135-47B9-40D4-ADF9-E596475D3CCB}" type="slidenum">
              <a:rPr lang="en-US" altLang="zh-CN"/>
            </a:fld>
            <a:endParaRPr lang="en-US" altLang="zh-CN"/>
          </a:p>
        </p:txBody>
      </p:sp>
      <p:graphicFrame>
        <p:nvGraphicFramePr>
          <p:cNvPr id="252012" name="Group 108"/>
          <p:cNvGraphicFramePr>
            <a:graphicFrameLocks noGrp="1"/>
          </p:cNvGraphicFramePr>
          <p:nvPr/>
        </p:nvGraphicFramePr>
        <p:xfrm>
          <a:off x="1908397" y="1556792"/>
          <a:ext cx="5903962" cy="4679952"/>
        </p:xfrm>
        <a:graphic>
          <a:graphicData uri="http://schemas.openxmlformats.org/drawingml/2006/table">
            <a:tbl>
              <a:tblPr/>
              <a:tblGrid>
                <a:gridCol w="1180218"/>
                <a:gridCol w="1181653"/>
                <a:gridCol w="1180218"/>
                <a:gridCol w="1181655"/>
                <a:gridCol w="1180218"/>
              </a:tblGrid>
              <a:tr h="534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十进制数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8421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码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5421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码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2421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码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余三码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420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0101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2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3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1100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0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1101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2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1110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2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1100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1111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1100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52010" name="Text Box 106"/>
          <p:cNvSpPr txBox="1">
            <a:spLocks noChangeArrowheads="1"/>
          </p:cNvSpPr>
          <p:nvPr/>
        </p:nvSpPr>
        <p:spPr bwMode="auto">
          <a:xfrm>
            <a:off x="1216643" y="1773238"/>
            <a:ext cx="457200" cy="378565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/>
              <a:t>四种十进制数的编码表</a:t>
            </a:r>
            <a:endParaRPr lang="zh-CN" altLang="en-US" b="1"/>
          </a:p>
        </p:txBody>
      </p:sp>
    </p:spTree>
  </p:cSld>
  <p:clrMapOvr>
    <a:masterClrMapping/>
  </p:clrMapOvr>
  <p:transition spd="slow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数制和码制（</a:t>
            </a:r>
            <a:r>
              <a:rPr lang="en-US" altLang="zh-CN" dirty="0"/>
              <a:t>22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300EE-E1B7-4F4B-941C-9BBB78016456}" type="slidenum">
              <a:rPr lang="en-US" altLang="zh-CN"/>
            </a:fld>
            <a:endParaRPr lang="en-US" altLang="zh-CN"/>
          </a:p>
        </p:txBody>
      </p:sp>
      <p:sp>
        <p:nvSpPr>
          <p:cNvPr id="2529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23732" y="1524001"/>
            <a:ext cx="8324732" cy="4572000"/>
          </a:xfrm>
        </p:spPr>
        <p:txBody>
          <a:bodyPr/>
          <a:lstStyle/>
          <a:p>
            <a:r>
              <a:rPr lang="zh-CN" altLang="en-US" dirty="0"/>
              <a:t>格雷码</a:t>
            </a:r>
            <a:endParaRPr lang="zh-CN" altLang="en-US" dirty="0"/>
          </a:p>
          <a:p>
            <a:pPr lvl="1"/>
            <a:r>
              <a:rPr lang="zh-CN" altLang="en-US" dirty="0"/>
              <a:t>一种无权码</a:t>
            </a:r>
            <a:endParaRPr lang="zh-CN" altLang="en-US" dirty="0"/>
          </a:p>
          <a:p>
            <a:pPr lvl="1"/>
            <a:r>
              <a:rPr lang="zh-CN" altLang="en-US" dirty="0"/>
              <a:t>有多种形式</a:t>
            </a:r>
            <a:endParaRPr lang="zh-CN" altLang="en-US" dirty="0"/>
          </a:p>
          <a:p>
            <a:pPr lvl="1"/>
            <a:r>
              <a:rPr lang="zh-CN" altLang="en-US" dirty="0"/>
              <a:t>编码特点：任何相邻的十进制数的格雷码仅有一位不同。</a:t>
            </a:r>
            <a:endParaRPr lang="zh-CN" altLang="en-US" dirty="0"/>
          </a:p>
          <a:p>
            <a:pPr lvl="1"/>
            <a:r>
              <a:rPr lang="zh-CN" altLang="en-US" dirty="0"/>
              <a:t>应用优势</a:t>
            </a:r>
            <a:r>
              <a:rPr lang="en-US" altLang="zh-CN" dirty="0"/>
              <a:t>:</a:t>
            </a:r>
            <a:r>
              <a:rPr lang="zh-CN" altLang="en-US" dirty="0"/>
              <a:t>可以减少代码变换中电路瞬间产生的错误，可靠性较好。</a:t>
            </a:r>
            <a:endParaRPr lang="zh-CN" altLang="en-US" dirty="0"/>
          </a:p>
        </p:txBody>
      </p:sp>
    </p:spTree>
  </p:cSld>
  <p:clrMapOvr>
    <a:masterClrMapping/>
  </p:clrMapOvr>
  <p:transition spd="slow">
    <p:pull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数制和码制（</a:t>
            </a:r>
            <a:r>
              <a:rPr lang="en-US" altLang="zh-CN" dirty="0"/>
              <a:t>23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9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E309D-0411-4CDE-8D83-2FA7A28F680A}" type="slidenum">
              <a:rPr lang="en-US" altLang="zh-CN"/>
            </a:fld>
            <a:endParaRPr lang="en-US" altLang="zh-CN"/>
          </a:p>
        </p:txBody>
      </p:sp>
      <p:sp>
        <p:nvSpPr>
          <p:cNvPr id="25395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十进制数的四种格雷码表</a:t>
            </a:r>
            <a:endParaRPr lang="zh-CN" altLang="en-US" dirty="0"/>
          </a:p>
        </p:txBody>
      </p:sp>
      <p:graphicFrame>
        <p:nvGraphicFramePr>
          <p:cNvPr id="254075" name="Group 123"/>
          <p:cNvGraphicFramePr>
            <a:graphicFrameLocks noGrp="1"/>
          </p:cNvGraphicFramePr>
          <p:nvPr/>
        </p:nvGraphicFramePr>
        <p:xfrm>
          <a:off x="1205625" y="2286000"/>
          <a:ext cx="6750751" cy="4009236"/>
        </p:xfrm>
        <a:graphic>
          <a:graphicData uri="http://schemas.openxmlformats.org/drawingml/2006/table">
            <a:tbl>
              <a:tblPr/>
              <a:tblGrid>
                <a:gridCol w="1028269"/>
                <a:gridCol w="1131971"/>
                <a:gridCol w="1080120"/>
                <a:gridCol w="1215135"/>
                <a:gridCol w="1147628"/>
                <a:gridCol w="1147628"/>
              </a:tblGrid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十进制数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8421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码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格雷码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格雷码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典型格雷码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修改格雷码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0000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0000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0000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0010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0001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0001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0001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55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0010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0011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0011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0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0100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0110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0101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1110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0111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1100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0110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0101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1101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0111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0100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1111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1000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1100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1100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1110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2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1001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1101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1010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标注: 弯曲线形 1"/>
          <p:cNvSpPr/>
          <p:nvPr/>
        </p:nvSpPr>
        <p:spPr>
          <a:xfrm flipH="1">
            <a:off x="323528" y="2132856"/>
            <a:ext cx="801924" cy="36004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690100"/>
              <a:gd name="adj6" fmla="val -2994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对称</a:t>
            </a:r>
            <a:endParaRPr lang="zh-CN" altLang="en-US" dirty="0"/>
          </a:p>
        </p:txBody>
      </p:sp>
      <p:sp>
        <p:nvSpPr>
          <p:cNvPr id="7" name="标注: 弯曲线形 6"/>
          <p:cNvSpPr/>
          <p:nvPr/>
        </p:nvSpPr>
        <p:spPr>
          <a:xfrm flipH="1">
            <a:off x="4922204" y="6381328"/>
            <a:ext cx="801924" cy="36004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32406"/>
              <a:gd name="adj6" fmla="val -7036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扩充</a:t>
            </a:r>
            <a:endParaRPr lang="zh-CN" altLang="en-US" dirty="0"/>
          </a:p>
        </p:txBody>
      </p:sp>
      <p:sp>
        <p:nvSpPr>
          <p:cNvPr id="3" name="箭头: 下 2"/>
          <p:cNvSpPr/>
          <p:nvPr/>
        </p:nvSpPr>
        <p:spPr>
          <a:xfrm>
            <a:off x="5940152" y="6438900"/>
            <a:ext cx="504056" cy="228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弧形 13"/>
          <p:cNvSpPr/>
          <p:nvPr/>
        </p:nvSpPr>
        <p:spPr>
          <a:xfrm>
            <a:off x="7524328" y="3065688"/>
            <a:ext cx="1040415" cy="3106512"/>
          </a:xfrm>
          <a:prstGeom prst="arc">
            <a:avLst>
              <a:gd name="adj1" fmla="val 16200000"/>
              <a:gd name="adj2" fmla="val 5517334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8172400" y="4293096"/>
            <a:ext cx="75608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对称循环</a:t>
            </a:r>
            <a:endParaRPr lang="zh-CN" altLang="en-US" sz="2000" dirty="0"/>
          </a:p>
        </p:txBody>
      </p:sp>
      <p:sp>
        <p:nvSpPr>
          <p:cNvPr id="21" name="标注: 弯曲线形 20"/>
          <p:cNvSpPr/>
          <p:nvPr/>
        </p:nvSpPr>
        <p:spPr>
          <a:xfrm flipH="1">
            <a:off x="323528" y="3645024"/>
            <a:ext cx="801924" cy="36004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690100"/>
              <a:gd name="adj6" fmla="val -2994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循环</a:t>
            </a:r>
            <a:endParaRPr lang="zh-CN" altLang="en-US" dirty="0"/>
          </a:p>
        </p:txBody>
      </p:sp>
      <p:sp>
        <p:nvSpPr>
          <p:cNvPr id="22" name="标注: 弯曲线形 21"/>
          <p:cNvSpPr/>
          <p:nvPr/>
        </p:nvSpPr>
        <p:spPr>
          <a:xfrm flipH="1">
            <a:off x="3707904" y="6381328"/>
            <a:ext cx="801924" cy="36004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32406"/>
              <a:gd name="adj6" fmla="val -7036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循环</a:t>
            </a:r>
            <a:endParaRPr lang="zh-CN" altLang="en-US" dirty="0"/>
          </a:p>
        </p:txBody>
      </p:sp>
      <p:cxnSp>
        <p:nvCxnSpPr>
          <p:cNvPr id="5" name="直接连接符 4"/>
          <p:cNvCxnSpPr/>
          <p:nvPr/>
        </p:nvCxnSpPr>
        <p:spPr>
          <a:xfrm flipH="1">
            <a:off x="6660232" y="3068960"/>
            <a:ext cx="288032" cy="93610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H="1">
            <a:off x="6660232" y="6165304"/>
            <a:ext cx="288032" cy="93610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3" grpId="0" animBg="1"/>
      <p:bldP spid="14" grpId="0" animBg="1"/>
      <p:bldP spid="15" grpId="0" animBg="1"/>
      <p:bldP spid="21" grpId="0" animBg="1"/>
      <p:bldP spid="2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数制和码制（</a:t>
            </a:r>
            <a:r>
              <a:rPr lang="en-US" altLang="zh-CN" dirty="0"/>
              <a:t>24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F5FF-843C-4FAA-920C-6D9A98619C0C}" type="slidenum">
              <a:rPr lang="en-US" altLang="zh-CN"/>
            </a:fld>
            <a:endParaRPr lang="en-US" altLang="zh-CN"/>
          </a:p>
        </p:txBody>
      </p:sp>
      <p:sp>
        <p:nvSpPr>
          <p:cNvPr id="2549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240452" cy="4607024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dirty="0"/>
              <a:t>格雷码的特点</a:t>
            </a:r>
            <a:endParaRPr lang="zh-CN" altLang="en-US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dirty="0"/>
              <a:t>编码特点：任何相邻十进制数的格雷码仅有一位不同</a:t>
            </a:r>
            <a:endParaRPr lang="zh-CN" altLang="en-US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dirty="0"/>
              <a:t>格雷码</a:t>
            </a:r>
            <a:r>
              <a:rPr lang="en-US" altLang="zh-CN" dirty="0"/>
              <a:t>1</a:t>
            </a:r>
            <a:r>
              <a:rPr lang="zh-CN" altLang="en-US" dirty="0"/>
              <a:t>：除最高位以外，中线对称。</a:t>
            </a:r>
            <a:endParaRPr lang="zh-CN" altLang="en-US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dirty="0"/>
              <a:t>典型格雷码：可以对十进制编码，也可以对任意大的二进制数进行编码。</a:t>
            </a:r>
            <a:r>
              <a:rPr lang="zh-CN" altLang="en-US" dirty="0">
                <a:solidFill>
                  <a:srgbClr val="FF0000"/>
                </a:solidFill>
              </a:rPr>
              <a:t>（需记住编码规律）</a:t>
            </a:r>
            <a:br>
              <a:rPr lang="en-US" altLang="zh-CN" dirty="0"/>
            </a:br>
            <a:r>
              <a:rPr lang="zh-CN" altLang="en-US" dirty="0"/>
              <a:t>编码规则：</a:t>
            </a:r>
            <a:r>
              <a:rPr lang="en-US" altLang="zh-CN" dirty="0" err="1"/>
              <a:t>G</a:t>
            </a:r>
            <a:r>
              <a:rPr lang="en-US" altLang="zh-CN" baseline="-25000" dirty="0" err="1"/>
              <a:t>i</a:t>
            </a:r>
            <a:r>
              <a:rPr lang="zh-CN" altLang="en-US" dirty="0"/>
              <a:t>＝</a:t>
            </a:r>
            <a:r>
              <a:rPr lang="en-US" altLang="zh-CN" dirty="0"/>
              <a:t>B</a:t>
            </a:r>
            <a:r>
              <a:rPr lang="en-US" altLang="zh-CN" baseline="-25000" dirty="0"/>
              <a:t>i</a:t>
            </a:r>
            <a:r>
              <a:rPr lang="zh-CN" altLang="en-US" baseline="-25000" dirty="0"/>
              <a:t>＋</a:t>
            </a:r>
            <a:r>
              <a:rPr lang="en-US" altLang="zh-CN" baseline="-25000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 B</a:t>
            </a:r>
            <a:r>
              <a:rPr lang="en-US" altLang="zh-CN" baseline="-25000" dirty="0"/>
              <a:t>i</a:t>
            </a:r>
            <a:r>
              <a:rPr lang="zh-CN" altLang="en-US" dirty="0"/>
              <a:t> </a:t>
            </a:r>
            <a:br>
              <a:rPr lang="en-US" altLang="zh-CN" dirty="0"/>
            </a:br>
            <a:r>
              <a:rPr lang="zh-CN" altLang="en-US" dirty="0"/>
              <a:t>解码规则：</a:t>
            </a:r>
            <a:r>
              <a:rPr lang="zh-CN" altLang="en-US" dirty="0">
                <a:solidFill>
                  <a:srgbClr val="FF0000"/>
                </a:solidFill>
              </a:rPr>
              <a:t>？？？（思考题）</a:t>
            </a:r>
            <a:endParaRPr lang="en-US" altLang="zh-CN" baseline="-25000" dirty="0">
              <a:solidFill>
                <a:srgbClr val="FF0000"/>
              </a:solidFill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dirty="0"/>
              <a:t>修改格雷码：中线对称反射，“余三循环码” </a:t>
            </a:r>
            <a:r>
              <a:rPr lang="en-US" altLang="zh-CN" dirty="0"/>
              <a:t>(</a:t>
            </a:r>
            <a:r>
              <a:rPr lang="zh-CN" altLang="en-US" dirty="0"/>
              <a:t>循环码的特点：相邻两个编码之间只有一位数不同，而且首尾两个编码之间也只有一位数不同</a:t>
            </a:r>
            <a:r>
              <a:rPr lang="en-US" altLang="zh-CN" dirty="0"/>
              <a:t>)</a:t>
            </a:r>
            <a:endParaRPr lang="en-US" altLang="zh-CN" dirty="0"/>
          </a:p>
        </p:txBody>
      </p:sp>
    </p:spTree>
  </p:cSld>
  <p:clrMapOvr>
    <a:masterClrMapping/>
  </p:clrMapOvr>
  <p:transition spd="slow">
    <p:pull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数制和码制（</a:t>
            </a:r>
            <a:r>
              <a:rPr lang="en-US" altLang="zh-CN" dirty="0"/>
              <a:t>25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6119-5AC6-4C67-81E5-0556104781BE}" type="slidenum">
              <a:rPr lang="en-US" altLang="zh-CN"/>
            </a:fld>
            <a:endParaRPr lang="en-US" altLang="zh-CN"/>
          </a:p>
        </p:txBody>
      </p:sp>
      <p:sp>
        <p:nvSpPr>
          <p:cNvPr id="2560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12460" cy="51125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dirty="0"/>
              <a:t>字符编码</a:t>
            </a:r>
            <a:endParaRPr lang="zh-CN" altLang="en-US" dirty="0"/>
          </a:p>
          <a:p>
            <a:pPr lvl="1">
              <a:lnSpc>
                <a:spcPct val="90000"/>
              </a:lnSpc>
            </a:pPr>
            <a:r>
              <a:rPr lang="zh-CN" altLang="en-US" dirty="0"/>
              <a:t>数字系统中，需要对符号，文字，图象等进行编码</a:t>
            </a:r>
            <a:endParaRPr lang="zh-CN" altLang="en-US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7</a:t>
            </a:r>
            <a:r>
              <a:rPr lang="zh-CN" altLang="en-US" dirty="0"/>
              <a:t>位</a:t>
            </a:r>
            <a:r>
              <a:rPr lang="en-US" altLang="zh-CN" dirty="0"/>
              <a:t>ASCII</a:t>
            </a:r>
            <a:r>
              <a:rPr lang="zh-CN" altLang="en-US" dirty="0"/>
              <a:t>、</a:t>
            </a:r>
            <a:r>
              <a:rPr lang="en-US" altLang="zh-CN" dirty="0"/>
              <a:t>8</a:t>
            </a:r>
            <a:r>
              <a:rPr lang="zh-CN" altLang="en-US" dirty="0"/>
              <a:t>位</a:t>
            </a:r>
            <a:r>
              <a:rPr lang="en-US" altLang="zh-CN" dirty="0"/>
              <a:t>ASCII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dirty="0"/>
              <a:t>7</a:t>
            </a:r>
            <a:r>
              <a:rPr lang="zh-CN" altLang="en-US" dirty="0"/>
              <a:t>位</a:t>
            </a:r>
            <a:r>
              <a:rPr lang="en-US" altLang="zh-CN" dirty="0"/>
              <a:t>ASCII</a:t>
            </a:r>
            <a:r>
              <a:rPr lang="zh-CN" altLang="en-US" dirty="0"/>
              <a:t>编码（教材</a:t>
            </a:r>
            <a:r>
              <a:rPr lang="en-US" altLang="zh-CN" dirty="0"/>
              <a:t>13</a:t>
            </a:r>
            <a:r>
              <a:rPr lang="zh-CN" altLang="en-US" dirty="0"/>
              <a:t>页）</a:t>
            </a:r>
            <a:endParaRPr lang="zh-CN" altLang="en-US" dirty="0"/>
          </a:p>
          <a:p>
            <a:pPr lvl="1">
              <a:lnSpc>
                <a:spcPct val="90000"/>
              </a:lnSpc>
            </a:pPr>
            <a:r>
              <a:rPr lang="zh-CN" altLang="en-US" dirty="0"/>
              <a:t>高</a:t>
            </a:r>
            <a:r>
              <a:rPr lang="en-US" altLang="zh-CN" dirty="0"/>
              <a:t>3</a:t>
            </a:r>
            <a:r>
              <a:rPr lang="zh-CN" altLang="en-US" dirty="0"/>
              <a:t>位</a:t>
            </a:r>
            <a:r>
              <a:rPr lang="en-US" altLang="zh-CN" dirty="0"/>
              <a:t>b</a:t>
            </a:r>
            <a:r>
              <a:rPr lang="en-US" altLang="zh-CN" baseline="-25000" dirty="0"/>
              <a:t>6</a:t>
            </a:r>
            <a:r>
              <a:rPr lang="en-US" altLang="zh-CN" dirty="0"/>
              <a:t>b</a:t>
            </a:r>
            <a:r>
              <a:rPr lang="en-US" altLang="zh-CN" baseline="-25000" dirty="0"/>
              <a:t>5</a:t>
            </a:r>
            <a:r>
              <a:rPr lang="en-US" altLang="zh-CN" dirty="0"/>
              <a:t>b</a:t>
            </a:r>
            <a:r>
              <a:rPr lang="en-US" altLang="zh-CN" baseline="-25000" dirty="0"/>
              <a:t>4</a:t>
            </a:r>
            <a:r>
              <a:rPr lang="zh-CN" altLang="en-US" dirty="0"/>
              <a:t>区分</a:t>
            </a:r>
            <a:endParaRPr lang="zh-CN" altLang="en-US" dirty="0"/>
          </a:p>
          <a:p>
            <a:pPr lvl="2">
              <a:lnSpc>
                <a:spcPct val="90000"/>
              </a:lnSpc>
            </a:pPr>
            <a:r>
              <a:rPr lang="en-US" altLang="zh-CN" dirty="0"/>
              <a:t>b</a:t>
            </a:r>
            <a:r>
              <a:rPr lang="en-US" altLang="zh-CN" sz="3000" baseline="-25000" dirty="0"/>
              <a:t>6</a:t>
            </a:r>
            <a:r>
              <a:rPr lang="en-US" altLang="zh-CN" dirty="0"/>
              <a:t>b</a:t>
            </a:r>
            <a:r>
              <a:rPr lang="en-US" altLang="zh-CN" sz="3000" baseline="-25000" dirty="0"/>
              <a:t>5</a:t>
            </a:r>
            <a:r>
              <a:rPr lang="en-US" altLang="zh-CN" dirty="0"/>
              <a:t>b</a:t>
            </a:r>
            <a:r>
              <a:rPr lang="en-US" altLang="zh-CN" sz="3000" baseline="-25000" dirty="0"/>
              <a:t>4 </a:t>
            </a:r>
            <a:r>
              <a:rPr lang="zh-CN" altLang="en-US" dirty="0"/>
              <a:t>（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000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001</a:t>
            </a:r>
            <a:r>
              <a:rPr lang="zh-CN" altLang="en-US" dirty="0"/>
              <a:t>）：控制字符</a:t>
            </a:r>
            <a:endParaRPr lang="zh-CN" altLang="en-US" dirty="0"/>
          </a:p>
          <a:p>
            <a:pPr lvl="2">
              <a:lnSpc>
                <a:spcPct val="90000"/>
              </a:lnSpc>
            </a:pPr>
            <a:r>
              <a:rPr lang="en-US" altLang="zh-CN" dirty="0"/>
              <a:t>b</a:t>
            </a:r>
            <a:r>
              <a:rPr lang="en-US" altLang="zh-CN" sz="3000" baseline="-25000" dirty="0"/>
              <a:t>6</a:t>
            </a:r>
            <a:r>
              <a:rPr lang="en-US" altLang="zh-CN" dirty="0"/>
              <a:t>b</a:t>
            </a:r>
            <a:r>
              <a:rPr lang="en-US" altLang="zh-CN" sz="3000" baseline="-25000" dirty="0"/>
              <a:t>5</a:t>
            </a:r>
            <a:r>
              <a:rPr lang="en-US" altLang="zh-CN" dirty="0"/>
              <a:t>b</a:t>
            </a:r>
            <a:r>
              <a:rPr lang="en-US" altLang="zh-CN" sz="3000" baseline="-25000" dirty="0"/>
              <a:t>4 </a:t>
            </a:r>
            <a:r>
              <a:rPr lang="zh-CN" altLang="en-US" dirty="0"/>
              <a:t>（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010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011</a:t>
            </a:r>
            <a:r>
              <a:rPr lang="zh-CN" altLang="en-US" dirty="0"/>
              <a:t>）：数字及通用符号</a:t>
            </a:r>
            <a:endParaRPr lang="zh-CN" altLang="en-US" dirty="0"/>
          </a:p>
          <a:p>
            <a:pPr lvl="2">
              <a:lnSpc>
                <a:spcPct val="90000"/>
              </a:lnSpc>
            </a:pPr>
            <a:r>
              <a:rPr lang="en-US" altLang="zh-CN" dirty="0"/>
              <a:t>b</a:t>
            </a:r>
            <a:r>
              <a:rPr lang="en-US" altLang="zh-CN" sz="3000" baseline="-25000" dirty="0"/>
              <a:t>6</a:t>
            </a:r>
            <a:r>
              <a:rPr lang="en-US" altLang="zh-CN" dirty="0"/>
              <a:t>b</a:t>
            </a:r>
            <a:r>
              <a:rPr lang="en-US" altLang="zh-CN" sz="3000" baseline="-25000" dirty="0"/>
              <a:t>5</a:t>
            </a:r>
            <a:r>
              <a:rPr lang="en-US" altLang="zh-CN" dirty="0"/>
              <a:t>b</a:t>
            </a:r>
            <a:r>
              <a:rPr lang="en-US" altLang="zh-CN" sz="3000" baseline="-25000" dirty="0"/>
              <a:t>4 </a:t>
            </a:r>
            <a:r>
              <a:rPr lang="zh-CN" altLang="en-US" dirty="0"/>
              <a:t>（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101</a:t>
            </a:r>
            <a:r>
              <a:rPr lang="zh-CN" altLang="en-US" dirty="0"/>
              <a:t>）：大写英文字母</a:t>
            </a:r>
            <a:endParaRPr lang="zh-CN" altLang="en-US" dirty="0"/>
          </a:p>
          <a:p>
            <a:pPr lvl="2">
              <a:lnSpc>
                <a:spcPct val="90000"/>
              </a:lnSpc>
            </a:pPr>
            <a:r>
              <a:rPr lang="en-US" altLang="zh-CN" dirty="0"/>
              <a:t>b</a:t>
            </a:r>
            <a:r>
              <a:rPr lang="en-US" altLang="zh-CN" sz="3000" baseline="-25000" dirty="0"/>
              <a:t>6</a:t>
            </a:r>
            <a:r>
              <a:rPr lang="en-US" altLang="zh-CN" dirty="0"/>
              <a:t>b</a:t>
            </a:r>
            <a:r>
              <a:rPr lang="en-US" altLang="zh-CN" sz="3000" baseline="-25000" dirty="0"/>
              <a:t>5</a:t>
            </a:r>
            <a:r>
              <a:rPr lang="en-US" altLang="zh-CN" dirty="0"/>
              <a:t>b</a:t>
            </a:r>
            <a:r>
              <a:rPr lang="en-US" altLang="zh-CN" sz="3000" baseline="-25000" dirty="0"/>
              <a:t>4 </a:t>
            </a:r>
            <a:r>
              <a:rPr lang="zh-CN" altLang="en-US" dirty="0"/>
              <a:t>（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110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111</a:t>
            </a:r>
            <a:r>
              <a:rPr lang="zh-CN" altLang="en-US" dirty="0"/>
              <a:t>）：小写英文字母</a:t>
            </a:r>
            <a:endParaRPr lang="zh-CN" altLang="en-US" dirty="0"/>
          </a:p>
        </p:txBody>
      </p:sp>
    </p:spTree>
  </p:cSld>
  <p:clrMapOvr>
    <a:masterClrMapping/>
  </p:clrMapOvr>
  <p:transition spd="slow">
    <p:pull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数制和码制</a:t>
            </a:r>
            <a:r>
              <a:rPr lang="en-US" altLang="zh-CN">
                <a:latin typeface="Times New Roman" panose="02020603050405020304"/>
              </a:rPr>
              <a:t>——</a:t>
            </a:r>
            <a:r>
              <a:rPr lang="zh-CN" altLang="en-US"/>
              <a:t>小结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471F-0E46-48E1-9F3F-B48F83A044B3}" type="slidenum">
              <a:rPr lang="en-US" altLang="zh-CN"/>
            </a:fld>
            <a:endParaRPr lang="en-US" altLang="zh-CN"/>
          </a:p>
        </p:txBody>
      </p:sp>
      <p:sp>
        <p:nvSpPr>
          <p:cNvPr id="2600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3538" y="1524000"/>
            <a:ext cx="8262918" cy="507365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zh-CN" altLang="en-US" dirty="0"/>
              <a:t>数制</a:t>
            </a:r>
            <a:endParaRPr lang="zh-CN" altLang="en-US" dirty="0"/>
          </a:p>
          <a:p>
            <a:pPr lvl="1">
              <a:lnSpc>
                <a:spcPct val="90000"/>
              </a:lnSpc>
            </a:pPr>
            <a:r>
              <a:rPr lang="zh-CN" altLang="en-US" dirty="0"/>
              <a:t>十进制、二进制、八进制、十六进制</a:t>
            </a:r>
            <a:endParaRPr lang="zh-CN" altLang="en-US" dirty="0"/>
          </a:p>
          <a:p>
            <a:pPr lvl="1">
              <a:lnSpc>
                <a:spcPct val="90000"/>
              </a:lnSpc>
            </a:pPr>
            <a:r>
              <a:rPr lang="zh-CN" altLang="en-US" dirty="0"/>
              <a:t>数制转换</a:t>
            </a:r>
            <a:endParaRPr lang="zh-CN" altLang="en-US" dirty="0"/>
          </a:p>
          <a:p>
            <a:pPr>
              <a:lnSpc>
                <a:spcPct val="90000"/>
              </a:lnSpc>
            </a:pPr>
            <a:r>
              <a:rPr lang="zh-CN" altLang="en-US" dirty="0"/>
              <a:t>码制</a:t>
            </a:r>
            <a:endParaRPr lang="zh-CN" altLang="en-US" dirty="0"/>
          </a:p>
          <a:p>
            <a:pPr lvl="1">
              <a:lnSpc>
                <a:spcPct val="90000"/>
              </a:lnSpc>
            </a:pPr>
            <a:r>
              <a:rPr lang="zh-CN" altLang="en-US" dirty="0"/>
              <a:t>十进制数的二进制编码</a:t>
            </a:r>
            <a:endParaRPr lang="zh-CN" altLang="en-US" dirty="0"/>
          </a:p>
          <a:p>
            <a:pPr lvl="2">
              <a:lnSpc>
                <a:spcPct val="90000"/>
              </a:lnSpc>
            </a:pPr>
            <a:r>
              <a:rPr lang="en-US" altLang="zh-CN" dirty="0"/>
              <a:t>8421</a:t>
            </a:r>
            <a:r>
              <a:rPr lang="zh-CN" altLang="en-US" dirty="0"/>
              <a:t>码（</a:t>
            </a:r>
            <a:r>
              <a:rPr lang="en-US" altLang="zh-CN" dirty="0"/>
              <a:t>BCD</a:t>
            </a:r>
            <a:r>
              <a:rPr lang="zh-CN" altLang="en-US" dirty="0"/>
              <a:t>码）、余</a:t>
            </a:r>
            <a:r>
              <a:rPr lang="en-US" altLang="zh-CN" dirty="0"/>
              <a:t>3</a:t>
            </a:r>
            <a:r>
              <a:rPr lang="zh-CN" altLang="en-US" dirty="0"/>
              <a:t>码、余</a:t>
            </a:r>
            <a:r>
              <a:rPr lang="en-US" altLang="zh-CN" dirty="0"/>
              <a:t>3</a:t>
            </a:r>
            <a:r>
              <a:rPr lang="zh-CN" altLang="en-US" dirty="0"/>
              <a:t>循环码、格雷码</a:t>
            </a:r>
            <a:endParaRPr lang="zh-CN" altLang="en-US" dirty="0"/>
          </a:p>
          <a:p>
            <a:pPr lvl="1">
              <a:lnSpc>
                <a:spcPct val="90000"/>
              </a:lnSpc>
            </a:pPr>
            <a:r>
              <a:rPr lang="zh-CN" altLang="en-US" dirty="0"/>
              <a:t>字符编码</a:t>
            </a:r>
            <a:endParaRPr lang="zh-CN" altLang="en-US" dirty="0"/>
          </a:p>
          <a:p>
            <a:pPr lvl="2">
              <a:lnSpc>
                <a:spcPct val="90000"/>
              </a:lnSpc>
            </a:pPr>
            <a:r>
              <a:rPr lang="en-US" altLang="zh-CN" dirty="0"/>
              <a:t>7</a:t>
            </a:r>
            <a:r>
              <a:rPr lang="zh-CN" altLang="en-US" dirty="0"/>
              <a:t>位</a:t>
            </a:r>
            <a:r>
              <a:rPr lang="en-US" altLang="zh-CN" dirty="0"/>
              <a:t>ASCII</a:t>
            </a:r>
            <a:r>
              <a:rPr lang="zh-CN" altLang="en-US" dirty="0"/>
              <a:t>、</a:t>
            </a:r>
            <a:r>
              <a:rPr lang="en-US" altLang="zh-CN" dirty="0"/>
              <a:t>8</a:t>
            </a:r>
            <a:r>
              <a:rPr lang="zh-CN" altLang="en-US" dirty="0"/>
              <a:t>位</a:t>
            </a:r>
            <a:r>
              <a:rPr lang="en-US" altLang="zh-CN" dirty="0"/>
              <a:t>ASCII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zh-CN" altLang="en-US" dirty="0"/>
              <a:t>原码、补码与反码：带符号的二进制数编码，将在计算机原理课程学习</a:t>
            </a:r>
            <a:endParaRPr lang="zh-CN" altLang="en-US" dirty="0"/>
          </a:p>
        </p:txBody>
      </p:sp>
    </p:spTree>
  </p:cSld>
  <p:clrMapOvr>
    <a:masterClrMapping/>
  </p:clrMapOvr>
  <p:transition spd="slow">
    <p:pull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第二章 逻辑代数（</a:t>
            </a:r>
            <a:r>
              <a:rPr lang="en-US" altLang="zh-CN"/>
              <a:t>1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D4CD4-8676-4B22-8D73-317C25337D85}" type="slidenum">
              <a:rPr lang="en-US" altLang="zh-CN"/>
            </a:fld>
            <a:endParaRPr lang="en-US" altLang="zh-CN"/>
          </a:p>
        </p:txBody>
      </p:sp>
      <p:sp>
        <p:nvSpPr>
          <p:cNvPr id="1054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12460" cy="4607024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本章内容	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	</a:t>
            </a:r>
            <a:r>
              <a:rPr lang="en-US" altLang="zh-CN" dirty="0"/>
              <a:t>2.1 </a:t>
            </a:r>
            <a:r>
              <a:rPr lang="zh-CN" altLang="en-US" dirty="0"/>
              <a:t>逻辑代数的基本运算与公式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	</a:t>
            </a:r>
            <a:r>
              <a:rPr lang="en-US" altLang="zh-CN" dirty="0"/>
              <a:t>2.2 </a:t>
            </a:r>
            <a:r>
              <a:rPr lang="zh-CN" altLang="en-US" dirty="0"/>
              <a:t>公式法化简逻辑函数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	</a:t>
            </a:r>
            <a:r>
              <a:rPr lang="en-US" altLang="zh-CN" dirty="0"/>
              <a:t>2.3 </a:t>
            </a:r>
            <a:r>
              <a:rPr lang="zh-CN" altLang="en-US" dirty="0"/>
              <a:t>图解法</a:t>
            </a:r>
            <a:r>
              <a:rPr lang="en-US" altLang="zh-CN" dirty="0"/>
              <a:t>(</a:t>
            </a:r>
            <a:r>
              <a:rPr lang="zh-CN" altLang="en-US" dirty="0"/>
              <a:t>卡诺图</a:t>
            </a:r>
            <a:r>
              <a:rPr lang="en-US" altLang="zh-CN" dirty="0"/>
              <a:t>)</a:t>
            </a:r>
            <a:r>
              <a:rPr lang="zh-CN" altLang="en-US" dirty="0"/>
              <a:t>化简逻辑函数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	</a:t>
            </a:r>
            <a:r>
              <a:rPr lang="en-US" altLang="zh-CN" dirty="0"/>
              <a:t>2.4 </a:t>
            </a:r>
            <a:r>
              <a:rPr lang="zh-CN" altLang="en-US" dirty="0"/>
              <a:t>逻辑函数的表格法化简</a:t>
            </a:r>
            <a:r>
              <a:rPr lang="en-US" altLang="zh-CN" dirty="0"/>
              <a:t>(Q-M</a:t>
            </a:r>
            <a:r>
              <a:rPr lang="zh-CN" altLang="en-US" dirty="0"/>
              <a:t>法 </a:t>
            </a:r>
            <a:r>
              <a:rPr lang="en-US" altLang="zh-CN" dirty="0"/>
              <a:t>)</a:t>
            </a:r>
            <a:endParaRPr lang="en-US" altLang="zh-CN" dirty="0"/>
          </a:p>
        </p:txBody>
      </p:sp>
    </p:spTree>
  </p:cSld>
  <p:clrMapOvr>
    <a:masterClrMapping/>
  </p:clrMapOvr>
  <p:transition spd="slow">
    <p:pull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第二章 逻辑代数（</a:t>
            </a:r>
            <a:r>
              <a:rPr lang="en-US" altLang="zh-CN"/>
              <a:t>2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EFAB2-4000-4513-8A1E-A804DBEA9497}" type="slidenum">
              <a:rPr lang="en-US" altLang="zh-CN"/>
            </a:fld>
            <a:endParaRPr lang="en-US" altLang="zh-CN"/>
          </a:p>
        </p:txBody>
      </p:sp>
      <p:sp>
        <p:nvSpPr>
          <p:cNvPr id="1075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12460" cy="4607024"/>
          </a:xfrm>
        </p:spPr>
        <p:txBody>
          <a:bodyPr/>
          <a:lstStyle/>
          <a:p>
            <a:pPr>
              <a:buNone/>
            </a:pPr>
            <a:r>
              <a:rPr lang="zh-CN" altLang="en-US" dirty="0"/>
              <a:t>	</a:t>
            </a:r>
            <a:r>
              <a:rPr lang="en-US" altLang="zh-CN" dirty="0">
                <a:solidFill>
                  <a:srgbClr val="0070C0"/>
                </a:solidFill>
              </a:rPr>
              <a:t>2.1 </a:t>
            </a:r>
            <a:r>
              <a:rPr lang="zh-CN" altLang="en-US" dirty="0">
                <a:solidFill>
                  <a:srgbClr val="0070C0"/>
                </a:solidFill>
              </a:rPr>
              <a:t>逻辑代数的基本运算与公式</a:t>
            </a:r>
            <a:endParaRPr lang="zh-CN" altLang="en-US" dirty="0">
              <a:solidFill>
                <a:srgbClr val="0070C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	</a:t>
            </a:r>
            <a:r>
              <a:rPr lang="en-US" altLang="zh-CN" dirty="0"/>
              <a:t>2.2 </a:t>
            </a:r>
            <a:r>
              <a:rPr lang="zh-CN" altLang="en-US" dirty="0"/>
              <a:t>公式法化简逻辑函数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	</a:t>
            </a:r>
            <a:r>
              <a:rPr lang="en-US" altLang="zh-CN" dirty="0"/>
              <a:t>2.3 </a:t>
            </a:r>
            <a:r>
              <a:rPr lang="zh-CN" altLang="en-US" dirty="0"/>
              <a:t>图解法</a:t>
            </a:r>
            <a:r>
              <a:rPr lang="en-US" altLang="zh-CN" dirty="0"/>
              <a:t>(</a:t>
            </a:r>
            <a:r>
              <a:rPr lang="zh-CN" altLang="en-US" dirty="0"/>
              <a:t>卡诺图</a:t>
            </a:r>
            <a:r>
              <a:rPr lang="en-US" altLang="zh-CN" dirty="0"/>
              <a:t>)</a:t>
            </a:r>
            <a:r>
              <a:rPr lang="zh-CN" altLang="en-US" dirty="0"/>
              <a:t>化简逻辑函数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	</a:t>
            </a:r>
            <a:r>
              <a:rPr lang="en-US" altLang="zh-CN" dirty="0"/>
              <a:t>2.4 </a:t>
            </a:r>
            <a:r>
              <a:rPr lang="zh-CN" altLang="en-US" dirty="0"/>
              <a:t>逻辑函数的表格法化简</a:t>
            </a:r>
            <a:r>
              <a:rPr lang="en-US" altLang="zh-CN" dirty="0"/>
              <a:t>(Q-M</a:t>
            </a:r>
            <a:r>
              <a:rPr lang="zh-CN" altLang="en-US" dirty="0"/>
              <a:t>法 </a:t>
            </a:r>
            <a:r>
              <a:rPr lang="en-US" altLang="zh-CN" dirty="0"/>
              <a:t>)</a:t>
            </a:r>
            <a:endParaRPr lang="en-US" altLang="zh-CN" dirty="0"/>
          </a:p>
        </p:txBody>
      </p:sp>
    </p:spTree>
  </p:cSld>
  <p:clrMapOvr>
    <a:masterClrMapping/>
  </p:clrMapOvr>
  <p:transition spd="slow">
    <p:pull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第二章 逻辑代数（</a:t>
            </a:r>
            <a:r>
              <a:rPr lang="en-US" altLang="zh-CN"/>
              <a:t>3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D3053-2942-4604-BB9D-D86F8E0C94A9}" type="slidenum">
              <a:rPr lang="en-US" altLang="zh-CN"/>
            </a:fld>
            <a:endParaRPr lang="en-US" altLang="zh-CN"/>
          </a:p>
        </p:txBody>
      </p:sp>
      <p:sp>
        <p:nvSpPr>
          <p:cNvPr id="1085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12460" cy="4752528"/>
          </a:xfrm>
        </p:spPr>
        <p:txBody>
          <a:bodyPr>
            <a:normAutofit fontScale="92500"/>
          </a:bodyPr>
          <a:lstStyle/>
          <a:p>
            <a:r>
              <a:rPr lang="en-US" altLang="zh-CN" dirty="0"/>
              <a:t>2.1  </a:t>
            </a:r>
            <a:r>
              <a:rPr lang="zh-CN" altLang="en-US" dirty="0"/>
              <a:t>逻辑代数的基本运算与公式</a:t>
            </a:r>
            <a:endParaRPr lang="zh-CN" altLang="en-US" dirty="0"/>
          </a:p>
          <a:p>
            <a:pPr lvl="1"/>
            <a:r>
              <a:rPr lang="zh-CN" altLang="en-US" dirty="0"/>
              <a:t>逻辑代数：又叫布尔代数，开关代数。是二进制运算的基础，用代数方法研究逻辑问题。由英国数学家布尔和德</a:t>
            </a:r>
            <a:r>
              <a:rPr lang="en-US" altLang="zh-CN" dirty="0"/>
              <a:t>.</a:t>
            </a:r>
            <a:r>
              <a:rPr lang="zh-CN" altLang="en-US" dirty="0"/>
              <a:t>摩根于</a:t>
            </a:r>
            <a:r>
              <a:rPr lang="en-US" altLang="zh-CN" dirty="0"/>
              <a:t>1847</a:t>
            </a:r>
            <a:r>
              <a:rPr lang="zh-CN" altLang="en-US" dirty="0"/>
              <a:t>年提出。</a:t>
            </a:r>
            <a:endParaRPr lang="zh-CN" altLang="en-US" dirty="0"/>
          </a:p>
          <a:p>
            <a:pPr lvl="1"/>
            <a:r>
              <a:rPr lang="zh-CN" altLang="en-US" dirty="0"/>
              <a:t>逻辑函数的表示：真值表，表达式，逻辑门。</a:t>
            </a:r>
            <a:endParaRPr lang="zh-CN" altLang="en-US" dirty="0"/>
          </a:p>
          <a:p>
            <a:pPr lvl="1"/>
            <a:r>
              <a:rPr lang="zh-CN" altLang="en-US" dirty="0"/>
              <a:t>逻辑代数的基本运算：与、或、非</a:t>
            </a:r>
            <a:endParaRPr lang="zh-CN" altLang="en-US" dirty="0"/>
          </a:p>
          <a:p>
            <a:pPr lvl="2">
              <a:buFont typeface="Wingdings" panose="05000000000000000000" pitchFamily="2" charset="2"/>
              <a:buNone/>
            </a:pPr>
            <a:r>
              <a:rPr lang="zh-CN" altLang="en-US" dirty="0"/>
              <a:t>	 </a:t>
            </a:r>
            <a:r>
              <a:rPr lang="en-US" altLang="zh-CN" dirty="0"/>
              <a:t>(1)  </a:t>
            </a:r>
            <a:r>
              <a:rPr lang="zh-CN" altLang="en-US" dirty="0"/>
              <a:t>与运算，逻辑乘</a:t>
            </a:r>
            <a:endParaRPr lang="zh-CN" altLang="en-US" dirty="0"/>
          </a:p>
          <a:p>
            <a:pPr lvl="2">
              <a:buFont typeface="Wingdings" panose="05000000000000000000" pitchFamily="2" charset="2"/>
              <a:buNone/>
            </a:pPr>
            <a:r>
              <a:rPr lang="zh-CN" altLang="en-US" dirty="0"/>
              <a:t>	 </a:t>
            </a:r>
            <a:r>
              <a:rPr lang="en-US" altLang="zh-CN" dirty="0"/>
              <a:t>(2)  </a:t>
            </a:r>
            <a:r>
              <a:rPr lang="zh-CN" altLang="en-US" dirty="0"/>
              <a:t>或运算，逻辑加</a:t>
            </a:r>
            <a:endParaRPr lang="zh-CN" altLang="en-US" dirty="0"/>
          </a:p>
          <a:p>
            <a:pPr lvl="2">
              <a:buFont typeface="Wingdings" panose="05000000000000000000" pitchFamily="2" charset="2"/>
              <a:buNone/>
            </a:pPr>
            <a:r>
              <a:rPr lang="zh-CN" altLang="en-US" dirty="0"/>
              <a:t>	 </a:t>
            </a:r>
            <a:r>
              <a:rPr lang="en-US" altLang="zh-CN" dirty="0"/>
              <a:t>(3)  </a:t>
            </a:r>
            <a:r>
              <a:rPr lang="zh-CN" altLang="en-US" dirty="0"/>
              <a:t>非运算，取反</a:t>
            </a:r>
            <a:endParaRPr lang="zh-CN" altLang="en-US" dirty="0"/>
          </a:p>
        </p:txBody>
      </p:sp>
    </p:spTree>
  </p:cSld>
  <p:clrMapOvr>
    <a:masterClrMapping/>
  </p:clrMapOvr>
  <p:transition spd="slow">
    <p:pull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第二章 逻辑代数（</a:t>
            </a:r>
            <a:r>
              <a:rPr lang="en-US" altLang="zh-CN"/>
              <a:t>4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D3AC7-E1B8-422D-9B1D-C5723703DF88}" type="slidenum">
              <a:rPr lang="en-US" altLang="zh-CN"/>
            </a:fld>
            <a:endParaRPr lang="en-US" altLang="zh-CN"/>
          </a:p>
        </p:txBody>
      </p:sp>
      <p:sp>
        <p:nvSpPr>
          <p:cNvPr id="1095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84468" cy="4607024"/>
          </a:xfrm>
        </p:spPr>
        <p:txBody>
          <a:bodyPr>
            <a:normAutofit/>
          </a:bodyPr>
          <a:lstStyle/>
          <a:p>
            <a:r>
              <a:rPr lang="en-US" altLang="zh-CN" dirty="0"/>
              <a:t>2.1  </a:t>
            </a:r>
            <a:r>
              <a:rPr lang="zh-CN" altLang="en-US" dirty="0"/>
              <a:t>逻辑代数的基本运算与公式</a:t>
            </a:r>
            <a:endParaRPr lang="zh-CN" altLang="en-US" dirty="0"/>
          </a:p>
          <a:p>
            <a:pPr lvl="1"/>
            <a:r>
              <a:rPr lang="zh-CN" altLang="en-US" dirty="0"/>
              <a:t>逻辑代数和普通代数的共同之处：变量和变量的运算。</a:t>
            </a:r>
            <a:endParaRPr lang="zh-CN" altLang="en-US" dirty="0"/>
          </a:p>
          <a:p>
            <a:pPr lvl="1"/>
            <a:r>
              <a:rPr lang="zh-CN" altLang="en-US" dirty="0"/>
              <a:t>逻辑代数一般用字母表示变量。</a:t>
            </a:r>
            <a:endParaRPr lang="zh-CN" altLang="en-US" dirty="0"/>
          </a:p>
          <a:p>
            <a:pPr lvl="1"/>
            <a:r>
              <a:rPr lang="zh-CN" altLang="en-US" dirty="0"/>
              <a:t>逻辑变量的取值：“</a:t>
            </a:r>
            <a:r>
              <a:rPr lang="en-US" altLang="zh-CN" dirty="0"/>
              <a:t>0”</a:t>
            </a:r>
            <a:r>
              <a:rPr lang="zh-CN" altLang="en-US" dirty="0"/>
              <a:t>或“</a:t>
            </a:r>
            <a:r>
              <a:rPr lang="en-US" altLang="zh-CN" dirty="0"/>
              <a:t>1”</a:t>
            </a:r>
            <a:r>
              <a:rPr lang="zh-CN" altLang="en-US" dirty="0"/>
              <a:t>。</a:t>
            </a:r>
            <a:endParaRPr lang="zh-CN" altLang="en-US" dirty="0"/>
          </a:p>
          <a:p>
            <a:pPr lvl="1"/>
            <a:r>
              <a:rPr lang="zh-CN" altLang="en-US" dirty="0"/>
              <a:t>逻辑代数的基本运算：与、或、非</a:t>
            </a:r>
            <a:endParaRPr lang="zh-CN" altLang="en-US" dirty="0"/>
          </a:p>
        </p:txBody>
      </p:sp>
    </p:spTree>
  </p:cSld>
  <p:clrMapOvr>
    <a:masterClrMapping/>
  </p:clrMapOvr>
  <p:transition spd="slow">
    <p:pull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第二章 逻辑代数（</a:t>
            </a:r>
            <a:r>
              <a:rPr lang="en-US" altLang="zh-CN"/>
              <a:t>4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F3259-C407-49DF-86BC-02188C990305}" type="slidenum">
              <a:rPr lang="en-US" altLang="zh-CN"/>
            </a:fld>
            <a:endParaRPr lang="en-US" altLang="zh-CN"/>
          </a:p>
        </p:txBody>
      </p:sp>
      <p:sp>
        <p:nvSpPr>
          <p:cNvPr id="2713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12460" cy="4607024"/>
          </a:xfrm>
        </p:spPr>
        <p:txBody>
          <a:bodyPr/>
          <a:lstStyle/>
          <a:p>
            <a:r>
              <a:rPr lang="en-US" altLang="zh-CN" dirty="0"/>
              <a:t>2.1  </a:t>
            </a:r>
            <a:r>
              <a:rPr lang="zh-CN" altLang="en-US" dirty="0"/>
              <a:t>逻辑代数的基本运算与公式</a:t>
            </a:r>
            <a:endParaRPr lang="zh-CN" altLang="en-US" dirty="0"/>
          </a:p>
          <a:p>
            <a:pPr lvl="1"/>
            <a:r>
              <a:rPr lang="zh-CN" altLang="en-US" dirty="0">
                <a:solidFill>
                  <a:srgbClr val="0070C0"/>
                </a:solidFill>
              </a:rPr>
              <a:t>逻辑代数的基本运算</a:t>
            </a:r>
            <a:endParaRPr lang="zh-CN" altLang="en-US" dirty="0">
              <a:solidFill>
                <a:srgbClr val="0070C0"/>
              </a:solidFill>
            </a:endParaRPr>
          </a:p>
          <a:p>
            <a:pPr lvl="1"/>
            <a:r>
              <a:rPr lang="zh-CN" altLang="en-US" dirty="0"/>
              <a:t>逻辑代数的基本公式</a:t>
            </a:r>
            <a:endParaRPr lang="zh-CN" altLang="en-US" dirty="0"/>
          </a:p>
        </p:txBody>
      </p:sp>
    </p:spTree>
  </p:cSld>
  <p:clrMapOvr>
    <a:masterClrMapping/>
  </p:clrMapOvr>
  <p:transition spd="slow">
    <p:pull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object 9"/>
          <p:cNvGraphicFramePr>
            <a:graphicFrameLocks noGrp="1"/>
          </p:cNvGraphicFramePr>
          <p:nvPr/>
        </p:nvGraphicFramePr>
        <p:xfrm>
          <a:off x="1331651" y="4205439"/>
          <a:ext cx="6172195" cy="10662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21"/>
                <a:gridCol w="397207"/>
                <a:gridCol w="354343"/>
                <a:gridCol w="345231"/>
                <a:gridCol w="341202"/>
                <a:gridCol w="342917"/>
                <a:gridCol w="342917"/>
                <a:gridCol w="342917"/>
                <a:gridCol w="342917"/>
                <a:gridCol w="342917"/>
                <a:gridCol w="342917"/>
                <a:gridCol w="342917"/>
                <a:gridCol w="342917"/>
                <a:gridCol w="342917"/>
                <a:gridCol w="342917"/>
                <a:gridCol w="342917"/>
                <a:gridCol w="343517"/>
                <a:gridCol w="330587"/>
              </a:tblGrid>
              <a:tr h="278169">
                <a:tc>
                  <a:txBody>
                    <a:bodyPr/>
                    <a:lstStyle/>
                    <a:p>
                      <a:pPr marR="5715" algn="ctr">
                        <a:lnSpc>
                          <a:spcPts val="2005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0</a:t>
                      </a:r>
                      <a:endParaRPr sz="1800" dirty="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ts val="2005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0</a:t>
                      </a:r>
                      <a:endParaRPr sz="1800" dirty="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0</a:t>
                      </a:r>
                      <a:endParaRPr sz="1800" dirty="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005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0</a:t>
                      </a:r>
                      <a:endParaRPr sz="1800" dirty="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0</a:t>
                      </a:r>
                      <a:endParaRPr sz="1800" dirty="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0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0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0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0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0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ts val="2005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R="5715"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0</a:t>
                      </a:r>
                      <a:endParaRPr sz="1800" dirty="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1800" dirty="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0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0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0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0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0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0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0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0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</a:tr>
              <a:tr h="254000">
                <a:tc>
                  <a:txBody>
                    <a:bodyPr/>
                    <a:lstStyle/>
                    <a:p>
                      <a:pPr marR="5715"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1800" dirty="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0</a:t>
                      </a:r>
                      <a:endParaRPr sz="1800" dirty="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0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0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0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0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0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0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0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0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</a:tr>
              <a:tr h="280130"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1800" dirty="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1800" dirty="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0</a:t>
                      </a:r>
                      <a:endParaRPr sz="1800" dirty="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0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0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0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0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0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0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0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1800" dirty="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第二章 逻辑代数（</a:t>
            </a:r>
            <a:r>
              <a:rPr lang="en-US" altLang="zh-CN"/>
              <a:t>5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5E2-CB68-42E6-A5AF-574D39E186A5}" type="slidenum">
              <a:rPr lang="en-US" altLang="zh-CN" smtClean="0"/>
            </a:fld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sz="quarter" idx="1"/>
          </p:nvPr>
        </p:nvSpPr>
        <p:spPr>
          <a:xfrm>
            <a:off x="363996" y="1412776"/>
            <a:ext cx="8456476" cy="4607024"/>
          </a:xfrm>
        </p:spPr>
        <p:txBody>
          <a:bodyPr/>
          <a:lstStyle/>
          <a:p>
            <a:r>
              <a:rPr lang="zh-CN" altLang="en-US" dirty="0"/>
              <a:t>对于一个</a:t>
            </a:r>
            <a:r>
              <a:rPr lang="en-US" altLang="zh-CN" dirty="0"/>
              <a:t>2</a:t>
            </a:r>
            <a:r>
              <a:rPr lang="zh-CN" altLang="en-US" dirty="0"/>
              <a:t>输入变量，一共有多少种逻辑？</a:t>
            </a:r>
            <a:endParaRPr lang="zh-CN" altLang="en-US" dirty="0"/>
          </a:p>
        </p:txBody>
      </p:sp>
      <p:sp>
        <p:nvSpPr>
          <p:cNvPr id="5" name="object 3"/>
          <p:cNvSpPr/>
          <p:nvPr/>
        </p:nvSpPr>
        <p:spPr>
          <a:xfrm>
            <a:off x="3956732" y="2717293"/>
            <a:ext cx="685800" cy="738664"/>
          </a:xfrm>
          <a:custGeom>
            <a:avLst/>
            <a:gdLst/>
            <a:ahLst/>
            <a:cxnLst/>
            <a:rect l="l" t="t" r="r" b="b"/>
            <a:pathLst>
              <a:path w="914400" h="711707">
                <a:moveTo>
                  <a:pt x="0" y="0"/>
                </a:moveTo>
                <a:lnTo>
                  <a:pt x="0" y="711707"/>
                </a:lnTo>
                <a:lnTo>
                  <a:pt x="914400" y="711707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 </a:t>
            </a:r>
            <a:endParaRPr lang="en-US" dirty="0"/>
          </a:p>
          <a:p>
            <a:endParaRPr dirty="0"/>
          </a:p>
        </p:txBody>
      </p:sp>
      <p:sp>
        <p:nvSpPr>
          <p:cNvPr id="8" name="object 6"/>
          <p:cNvSpPr txBox="1"/>
          <p:nvPr/>
        </p:nvSpPr>
        <p:spPr>
          <a:xfrm>
            <a:off x="3281255" y="2703226"/>
            <a:ext cx="282633" cy="7977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ct val="144000"/>
              </a:lnSpc>
            </a:pPr>
            <a:r>
              <a:rPr sz="1800" dirty="0">
                <a:latin typeface="Tahoma" panose="020B0604030504040204"/>
                <a:cs typeface="Tahoma" panose="020B0604030504040204"/>
              </a:rPr>
              <a:t>X Y</a:t>
            </a:r>
            <a:endParaRPr sz="18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9" name="object 7"/>
          <p:cNvSpPr txBox="1"/>
          <p:nvPr/>
        </p:nvSpPr>
        <p:spPr>
          <a:xfrm>
            <a:off x="5014196" y="2945976"/>
            <a:ext cx="10858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00" dirty="0">
                <a:latin typeface="Tahoma" panose="020B0604030504040204"/>
                <a:cs typeface="Tahoma" panose="020B0604030504040204"/>
              </a:rPr>
              <a:t>F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0" name="object 8"/>
          <p:cNvSpPr/>
          <p:nvPr/>
        </p:nvSpPr>
        <p:spPr>
          <a:xfrm>
            <a:off x="2021060" y="3771607"/>
            <a:ext cx="1143" cy="369332"/>
          </a:xfrm>
          <a:custGeom>
            <a:avLst/>
            <a:gdLst/>
            <a:ahLst/>
            <a:cxnLst/>
            <a:rect l="l" t="t" r="r" b="b"/>
            <a:pathLst>
              <a:path w="1524" h="1396746">
                <a:moveTo>
                  <a:pt x="0" y="0"/>
                </a:moveTo>
                <a:lnTo>
                  <a:pt x="1524" y="1396746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1" name="object 10"/>
          <p:cNvSpPr txBox="1"/>
          <p:nvPr/>
        </p:nvSpPr>
        <p:spPr>
          <a:xfrm>
            <a:off x="1462896" y="3821905"/>
            <a:ext cx="66083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525145" algn="l"/>
              </a:tabLst>
            </a:pPr>
            <a:r>
              <a:rPr sz="1800" dirty="0">
                <a:latin typeface="Tahoma" panose="020B0604030504040204"/>
                <a:cs typeface="Tahoma" panose="020B0604030504040204"/>
              </a:rPr>
              <a:t>X</a:t>
            </a:r>
            <a:r>
              <a:rPr lang="en-US" sz="1800" dirty="0">
                <a:latin typeface="Tahoma" panose="020B0604030504040204"/>
                <a:cs typeface="Tahoma" panose="020B0604030504040204"/>
              </a:rPr>
              <a:t>   </a:t>
            </a:r>
            <a:r>
              <a:rPr sz="1800" dirty="0">
                <a:latin typeface="Tahoma" panose="020B0604030504040204"/>
                <a:cs typeface="Tahoma" panose="020B0604030504040204"/>
              </a:rPr>
              <a:t>Y</a:t>
            </a:r>
            <a:endParaRPr sz="18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2" name="object 11"/>
          <p:cNvSpPr txBox="1"/>
          <p:nvPr/>
        </p:nvSpPr>
        <p:spPr>
          <a:xfrm>
            <a:off x="3059832" y="3821911"/>
            <a:ext cx="337020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00" spc="-5" dirty="0">
                <a:latin typeface="Tahoma" panose="020B0604030504040204"/>
                <a:cs typeface="Tahoma" panose="020B0604030504040204"/>
              </a:rPr>
              <a:t>1</a:t>
            </a:r>
            <a:r>
              <a:rPr sz="1800" dirty="0">
                <a:latin typeface="Tahoma" panose="020B0604030504040204"/>
                <a:cs typeface="Tahoma" panose="020B0604030504040204"/>
              </a:rPr>
              <a:t>6</a:t>
            </a:r>
            <a:r>
              <a:rPr lang="zh-CN" altLang="en-US" sz="1800" dirty="0">
                <a:latin typeface="Tahoma" panose="020B0604030504040204"/>
                <a:cs typeface="Tahoma" panose="020B0604030504040204"/>
              </a:rPr>
              <a:t>种可能的逻辑函数</a:t>
            </a:r>
            <a:r>
              <a:rPr sz="1800" spc="-5" dirty="0">
                <a:latin typeface="Tahoma" panose="020B0604030504040204"/>
                <a:cs typeface="Tahoma" panose="020B0604030504040204"/>
              </a:rPr>
              <a:t>(</a:t>
            </a:r>
            <a:r>
              <a:rPr sz="1800" spc="-10" dirty="0">
                <a:latin typeface="Tahoma" panose="020B0604030504040204"/>
                <a:cs typeface="Tahoma" panose="020B0604030504040204"/>
              </a:rPr>
              <a:t>F</a:t>
            </a:r>
            <a:r>
              <a:rPr sz="1800" spc="-7" baseline="-23000" dirty="0">
                <a:latin typeface="Tahoma" panose="020B0604030504040204"/>
                <a:cs typeface="Tahoma" panose="020B0604030504040204"/>
              </a:rPr>
              <a:t>0</a:t>
            </a:r>
            <a:r>
              <a:rPr sz="1800" dirty="0">
                <a:latin typeface="Tahoma" panose="020B0604030504040204"/>
                <a:cs typeface="Tahoma" panose="020B0604030504040204"/>
              </a:rPr>
              <a:t>–</a:t>
            </a:r>
            <a:r>
              <a:rPr sz="1800" spc="-5" dirty="0">
                <a:latin typeface="Tahoma" panose="020B0604030504040204"/>
                <a:cs typeface="Tahoma" panose="020B0604030504040204"/>
              </a:rPr>
              <a:t>F</a:t>
            </a:r>
            <a:r>
              <a:rPr sz="1800" spc="-7" baseline="-23000" dirty="0">
                <a:latin typeface="Tahoma" panose="020B0604030504040204"/>
                <a:cs typeface="Tahoma" panose="020B0604030504040204"/>
              </a:rPr>
              <a:t>15</a:t>
            </a:r>
            <a:r>
              <a:rPr sz="1800" dirty="0">
                <a:latin typeface="Tahoma" panose="020B0604030504040204"/>
                <a:cs typeface="Tahoma" panose="020B0604030504040204"/>
              </a:rPr>
              <a:t>)</a:t>
            </a:r>
            <a:endParaRPr sz="1800" dirty="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1923563" y="5241507"/>
            <a:ext cx="6248836" cy="1094671"/>
            <a:chOff x="1040751" y="5241504"/>
            <a:chExt cx="8331781" cy="1094672"/>
          </a:xfrm>
        </p:grpSpPr>
        <p:sp>
          <p:nvSpPr>
            <p:cNvPr id="13" name="object 12"/>
            <p:cNvSpPr txBox="1"/>
            <p:nvPr/>
          </p:nvSpPr>
          <p:spPr>
            <a:xfrm>
              <a:off x="2123599" y="5589237"/>
              <a:ext cx="144145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600" dirty="0">
                  <a:latin typeface="Tahoma" panose="020B0604030504040204"/>
                  <a:cs typeface="Tahoma" panose="020B0604030504040204"/>
                </a:rPr>
                <a:t>X</a:t>
              </a:r>
              <a:endParaRPr sz="1600" dirty="0">
                <a:latin typeface="Tahoma" panose="020B0604030504040204"/>
                <a:cs typeface="Tahoma" panose="020B0604030504040204"/>
              </a:endParaRPr>
            </a:p>
          </p:txBody>
        </p:sp>
        <p:sp>
          <p:nvSpPr>
            <p:cNvPr id="14" name="object 13"/>
            <p:cNvSpPr txBox="1"/>
            <p:nvPr/>
          </p:nvSpPr>
          <p:spPr>
            <a:xfrm>
              <a:off x="2843872" y="5517232"/>
              <a:ext cx="287444" cy="25259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600" dirty="0">
                  <a:latin typeface="Tahoma" panose="020B0604030504040204"/>
                  <a:cs typeface="Tahoma" panose="020B0604030504040204"/>
                </a:rPr>
                <a:t>Y</a:t>
              </a:r>
              <a:endParaRPr sz="1600" dirty="0">
                <a:latin typeface="Tahoma" panose="020B0604030504040204"/>
                <a:cs typeface="Tahoma" panose="020B0604030504040204"/>
              </a:endParaRPr>
            </a:p>
          </p:txBody>
        </p:sp>
        <p:sp>
          <p:nvSpPr>
            <p:cNvPr id="15" name="object 14"/>
            <p:cNvSpPr/>
            <p:nvPr/>
          </p:nvSpPr>
          <p:spPr>
            <a:xfrm>
              <a:off x="2311396" y="5275679"/>
              <a:ext cx="460404" cy="369332"/>
            </a:xfrm>
            <a:custGeom>
              <a:avLst/>
              <a:gdLst/>
              <a:ahLst/>
              <a:cxnLst/>
              <a:rect l="l" t="t" r="r" b="b"/>
              <a:pathLst>
                <a:path w="393192" h="241553">
                  <a:moveTo>
                    <a:pt x="393192" y="0"/>
                  </a:moveTo>
                  <a:lnTo>
                    <a:pt x="0" y="24155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>
              <a:spAutoFit/>
            </a:bodyPr>
            <a:lstStyle/>
            <a:p/>
          </p:txBody>
        </p:sp>
        <p:sp>
          <p:nvSpPr>
            <p:cNvPr id="16" name="object 15"/>
            <p:cNvSpPr/>
            <p:nvPr/>
          </p:nvSpPr>
          <p:spPr>
            <a:xfrm>
              <a:off x="3103941" y="5250532"/>
              <a:ext cx="571500" cy="369332"/>
            </a:xfrm>
            <a:custGeom>
              <a:avLst/>
              <a:gdLst/>
              <a:ahLst/>
              <a:cxnLst/>
              <a:rect l="l" t="t" r="r" b="b"/>
              <a:pathLst>
                <a:path w="571500" h="266700">
                  <a:moveTo>
                    <a:pt x="571500" y="0"/>
                  </a:moveTo>
                  <a:lnTo>
                    <a:pt x="0" y="2667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>
              <a:spAutoFit/>
            </a:bodyPr>
            <a:lstStyle/>
            <a:p/>
          </p:txBody>
        </p:sp>
        <p:sp>
          <p:nvSpPr>
            <p:cNvPr id="17" name="object 16"/>
            <p:cNvSpPr txBox="1"/>
            <p:nvPr/>
          </p:nvSpPr>
          <p:spPr>
            <a:xfrm>
              <a:off x="4379979" y="5855930"/>
              <a:ext cx="1982155" cy="46166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algn="ctr">
                <a:lnSpc>
                  <a:spcPts val="1760"/>
                </a:lnSpc>
              </a:pPr>
              <a:r>
                <a:rPr sz="1600" dirty="0">
                  <a:latin typeface="Tahoma" panose="020B0604030504040204"/>
                  <a:cs typeface="Tahoma" panose="020B0604030504040204"/>
                </a:rPr>
                <a:t>X</a:t>
              </a:r>
              <a:r>
                <a:rPr sz="1600" spc="-5" dirty="0">
                  <a:latin typeface="Tahoma" panose="020B0604030504040204"/>
                  <a:cs typeface="Tahoma" panose="020B0604030504040204"/>
                </a:rPr>
                <a:t> </a:t>
              </a:r>
              <a:r>
                <a:rPr sz="1600" spc="-5" dirty="0">
                  <a:solidFill>
                    <a:srgbClr val="EB2B05"/>
                  </a:solidFill>
                  <a:latin typeface="Tahoma" panose="020B0604030504040204"/>
                  <a:cs typeface="Tahoma" panose="020B0604030504040204"/>
                </a:rPr>
                <a:t>NO</a:t>
              </a:r>
              <a:r>
                <a:rPr sz="1600" dirty="0">
                  <a:solidFill>
                    <a:srgbClr val="EB2B05"/>
                  </a:solidFill>
                  <a:latin typeface="Tahoma" panose="020B0604030504040204"/>
                  <a:cs typeface="Tahoma" panose="020B0604030504040204"/>
                </a:rPr>
                <a:t>R</a:t>
              </a:r>
              <a:r>
                <a:rPr sz="1600" spc="-5" dirty="0">
                  <a:solidFill>
                    <a:srgbClr val="EB2B05"/>
                  </a:solidFill>
                  <a:latin typeface="Tahoma" panose="020B0604030504040204"/>
                  <a:cs typeface="Tahoma" panose="020B0604030504040204"/>
                </a:rPr>
                <a:t> </a:t>
              </a:r>
              <a:r>
                <a:rPr sz="1600" dirty="0">
                  <a:latin typeface="Tahoma" panose="020B0604030504040204"/>
                  <a:cs typeface="Tahoma" panose="020B0604030504040204"/>
                </a:rPr>
                <a:t>Y</a:t>
              </a:r>
              <a:endParaRPr sz="1600" dirty="0">
                <a:latin typeface="Tahoma" panose="020B0604030504040204"/>
                <a:cs typeface="Tahoma" panose="020B0604030504040204"/>
              </a:endParaRPr>
            </a:p>
            <a:p>
              <a:pPr algn="ctr">
                <a:lnSpc>
                  <a:spcPts val="1760"/>
                </a:lnSpc>
              </a:pPr>
              <a:r>
                <a:rPr sz="1600" spc="-5" dirty="0">
                  <a:solidFill>
                    <a:srgbClr val="EB2B05"/>
                  </a:solidFill>
                  <a:latin typeface="Tahoma" panose="020B0604030504040204"/>
                  <a:cs typeface="Tahoma" panose="020B0604030504040204"/>
                </a:rPr>
                <a:t>NO</a:t>
              </a:r>
              <a:r>
                <a:rPr sz="1600" dirty="0">
                  <a:solidFill>
                    <a:srgbClr val="EB2B05"/>
                  </a:solidFill>
                  <a:latin typeface="Tahoma" panose="020B0604030504040204"/>
                  <a:cs typeface="Tahoma" panose="020B0604030504040204"/>
                </a:rPr>
                <a:t>T</a:t>
              </a:r>
              <a:r>
                <a:rPr sz="1600" spc="-5" dirty="0">
                  <a:solidFill>
                    <a:srgbClr val="EB2B05"/>
                  </a:solidFill>
                  <a:latin typeface="Tahoma" panose="020B0604030504040204"/>
                  <a:cs typeface="Tahoma" panose="020B0604030504040204"/>
                </a:rPr>
                <a:t> </a:t>
              </a:r>
              <a:r>
                <a:rPr sz="1600" spc="-5" dirty="0">
                  <a:latin typeface="Tahoma" panose="020B0604030504040204"/>
                  <a:cs typeface="Tahoma" panose="020B0604030504040204"/>
                </a:rPr>
                <a:t>(</a:t>
              </a:r>
              <a:r>
                <a:rPr sz="1600" dirty="0">
                  <a:latin typeface="Tahoma" panose="020B0604030504040204"/>
                  <a:cs typeface="Tahoma" panose="020B0604030504040204"/>
                </a:rPr>
                <a:t>X</a:t>
              </a:r>
              <a:r>
                <a:rPr sz="1600" spc="-10" dirty="0">
                  <a:latin typeface="Tahoma" panose="020B0604030504040204"/>
                  <a:cs typeface="Tahoma" panose="020B0604030504040204"/>
                </a:rPr>
                <a:t> </a:t>
              </a:r>
              <a:r>
                <a:rPr sz="1600" dirty="0">
                  <a:solidFill>
                    <a:srgbClr val="EB2B05"/>
                  </a:solidFill>
                  <a:latin typeface="Tahoma" panose="020B0604030504040204"/>
                  <a:cs typeface="Tahoma" panose="020B0604030504040204"/>
                </a:rPr>
                <a:t>OR</a:t>
              </a:r>
              <a:r>
                <a:rPr sz="1600" spc="-5" dirty="0">
                  <a:solidFill>
                    <a:srgbClr val="EB2B05"/>
                  </a:solidFill>
                  <a:latin typeface="Tahoma" panose="020B0604030504040204"/>
                  <a:cs typeface="Tahoma" panose="020B0604030504040204"/>
                </a:rPr>
                <a:t> </a:t>
              </a:r>
              <a:r>
                <a:rPr sz="1600" dirty="0">
                  <a:latin typeface="Tahoma" panose="020B0604030504040204"/>
                  <a:cs typeface="Tahoma" panose="020B0604030504040204"/>
                </a:rPr>
                <a:t>Y)</a:t>
              </a:r>
              <a:endParaRPr sz="1600" dirty="0">
                <a:latin typeface="Tahoma" panose="020B0604030504040204"/>
                <a:cs typeface="Tahoma" panose="020B0604030504040204"/>
              </a:endParaRPr>
            </a:p>
          </p:txBody>
        </p:sp>
        <p:sp>
          <p:nvSpPr>
            <p:cNvPr id="18" name="object 17"/>
            <p:cNvSpPr txBox="1"/>
            <p:nvPr/>
          </p:nvSpPr>
          <p:spPr>
            <a:xfrm>
              <a:off x="7512949" y="5854661"/>
              <a:ext cx="1859583" cy="46166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algn="ctr">
                <a:lnSpc>
                  <a:spcPts val="1760"/>
                </a:lnSpc>
              </a:pPr>
              <a:r>
                <a:rPr sz="1600" dirty="0">
                  <a:latin typeface="Tahoma" panose="020B0604030504040204"/>
                  <a:cs typeface="Tahoma" panose="020B0604030504040204"/>
                </a:rPr>
                <a:t>X</a:t>
              </a:r>
              <a:r>
                <a:rPr sz="1600" spc="-5" dirty="0">
                  <a:latin typeface="Tahoma" panose="020B0604030504040204"/>
                  <a:cs typeface="Tahoma" panose="020B0604030504040204"/>
                </a:rPr>
                <a:t> </a:t>
              </a:r>
              <a:r>
                <a:rPr sz="1600" spc="-5" dirty="0">
                  <a:solidFill>
                    <a:srgbClr val="EB2B05"/>
                  </a:solidFill>
                  <a:latin typeface="Tahoma" panose="020B0604030504040204"/>
                  <a:cs typeface="Tahoma" panose="020B0604030504040204"/>
                </a:rPr>
                <a:t>NAN</a:t>
              </a:r>
              <a:r>
                <a:rPr sz="1600" dirty="0">
                  <a:solidFill>
                    <a:srgbClr val="EB2B05"/>
                  </a:solidFill>
                  <a:latin typeface="Tahoma" panose="020B0604030504040204"/>
                  <a:cs typeface="Tahoma" panose="020B0604030504040204"/>
                </a:rPr>
                <a:t>D</a:t>
              </a:r>
              <a:r>
                <a:rPr sz="1600" spc="-5" dirty="0">
                  <a:solidFill>
                    <a:srgbClr val="EB2B05"/>
                  </a:solidFill>
                  <a:latin typeface="Tahoma" panose="020B0604030504040204"/>
                  <a:cs typeface="Tahoma" panose="020B0604030504040204"/>
                </a:rPr>
                <a:t> </a:t>
              </a:r>
              <a:r>
                <a:rPr sz="1600" dirty="0">
                  <a:latin typeface="Tahoma" panose="020B0604030504040204"/>
                  <a:cs typeface="Tahoma" panose="020B0604030504040204"/>
                </a:rPr>
                <a:t>Y</a:t>
              </a:r>
              <a:endParaRPr sz="1600" dirty="0">
                <a:latin typeface="Tahoma" panose="020B0604030504040204"/>
                <a:cs typeface="Tahoma" panose="020B0604030504040204"/>
              </a:endParaRPr>
            </a:p>
            <a:p>
              <a:pPr algn="ctr">
                <a:lnSpc>
                  <a:spcPts val="1760"/>
                </a:lnSpc>
              </a:pPr>
              <a:r>
                <a:rPr sz="1600" spc="-5" dirty="0">
                  <a:solidFill>
                    <a:srgbClr val="EB2B05"/>
                  </a:solidFill>
                  <a:latin typeface="Tahoma" panose="020B0604030504040204"/>
                  <a:cs typeface="Tahoma" panose="020B0604030504040204"/>
                </a:rPr>
                <a:t>NO</a:t>
              </a:r>
              <a:r>
                <a:rPr sz="1600" dirty="0">
                  <a:solidFill>
                    <a:srgbClr val="EB2B05"/>
                  </a:solidFill>
                  <a:latin typeface="Tahoma" panose="020B0604030504040204"/>
                  <a:cs typeface="Tahoma" panose="020B0604030504040204"/>
                </a:rPr>
                <a:t>T</a:t>
              </a:r>
              <a:r>
                <a:rPr sz="1600" spc="-5" dirty="0">
                  <a:solidFill>
                    <a:srgbClr val="EB2B05"/>
                  </a:solidFill>
                  <a:latin typeface="Tahoma" panose="020B0604030504040204"/>
                  <a:cs typeface="Tahoma" panose="020B0604030504040204"/>
                </a:rPr>
                <a:t> </a:t>
              </a:r>
              <a:r>
                <a:rPr sz="1600" spc="-5" dirty="0">
                  <a:latin typeface="Tahoma" panose="020B0604030504040204"/>
                  <a:cs typeface="Tahoma" panose="020B0604030504040204"/>
                </a:rPr>
                <a:t>(</a:t>
              </a:r>
              <a:r>
                <a:rPr sz="1600" dirty="0">
                  <a:latin typeface="Tahoma" panose="020B0604030504040204"/>
                  <a:cs typeface="Tahoma" panose="020B0604030504040204"/>
                </a:rPr>
                <a:t>X</a:t>
              </a:r>
              <a:r>
                <a:rPr sz="1600" spc="-10" dirty="0">
                  <a:latin typeface="Tahoma" panose="020B0604030504040204"/>
                  <a:cs typeface="Tahoma" panose="020B0604030504040204"/>
                </a:rPr>
                <a:t> </a:t>
              </a:r>
              <a:r>
                <a:rPr sz="1600" spc="-5" dirty="0">
                  <a:solidFill>
                    <a:srgbClr val="EB2B05"/>
                  </a:solidFill>
                  <a:latin typeface="Tahoma" panose="020B0604030504040204"/>
                  <a:cs typeface="Tahoma" panose="020B0604030504040204"/>
                </a:rPr>
                <a:t>AN</a:t>
              </a:r>
              <a:r>
                <a:rPr sz="1600" dirty="0">
                  <a:solidFill>
                    <a:srgbClr val="EB2B05"/>
                  </a:solidFill>
                  <a:latin typeface="Tahoma" panose="020B0604030504040204"/>
                  <a:cs typeface="Tahoma" panose="020B0604030504040204"/>
                </a:rPr>
                <a:t>D</a:t>
              </a:r>
              <a:r>
                <a:rPr sz="1600" spc="-5" dirty="0">
                  <a:solidFill>
                    <a:srgbClr val="EB2B05"/>
                  </a:solidFill>
                  <a:latin typeface="Tahoma" panose="020B0604030504040204"/>
                  <a:cs typeface="Tahoma" panose="020B0604030504040204"/>
                </a:rPr>
                <a:t> </a:t>
              </a:r>
              <a:r>
                <a:rPr sz="1600" dirty="0">
                  <a:latin typeface="Tahoma" panose="020B0604030504040204"/>
                  <a:cs typeface="Tahoma" panose="020B0604030504040204"/>
                </a:rPr>
                <a:t>Y)</a:t>
              </a:r>
              <a:endParaRPr sz="1600" dirty="0">
                <a:latin typeface="Tahoma" panose="020B0604030504040204"/>
                <a:cs typeface="Tahoma" panose="020B0604030504040204"/>
              </a:endParaRPr>
            </a:p>
          </p:txBody>
        </p:sp>
        <p:sp>
          <p:nvSpPr>
            <p:cNvPr id="19" name="object 18"/>
            <p:cNvSpPr/>
            <p:nvPr/>
          </p:nvSpPr>
          <p:spPr>
            <a:xfrm>
              <a:off x="7876143" y="5267925"/>
              <a:ext cx="332389" cy="532735"/>
            </a:xfrm>
            <a:custGeom>
              <a:avLst/>
              <a:gdLst/>
              <a:ahLst/>
              <a:cxnLst/>
              <a:rect l="l" t="t" r="r" b="b"/>
              <a:pathLst>
                <a:path w="364998" h="569976">
                  <a:moveTo>
                    <a:pt x="0" y="0"/>
                  </a:moveTo>
                  <a:lnTo>
                    <a:pt x="364998" y="56997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>
              <a:spAutoFit/>
            </a:bodyPr>
            <a:lstStyle/>
            <a:p/>
          </p:txBody>
        </p:sp>
        <p:sp>
          <p:nvSpPr>
            <p:cNvPr id="20" name="object 19"/>
            <p:cNvSpPr/>
            <p:nvPr/>
          </p:nvSpPr>
          <p:spPr>
            <a:xfrm>
              <a:off x="5076056" y="5309198"/>
              <a:ext cx="153537" cy="460630"/>
            </a:xfrm>
            <a:custGeom>
              <a:avLst/>
              <a:gdLst/>
              <a:ahLst/>
              <a:cxnLst/>
              <a:rect l="l" t="t" r="r" b="b"/>
              <a:pathLst>
                <a:path w="342900" h="784098">
                  <a:moveTo>
                    <a:pt x="0" y="0"/>
                  </a:moveTo>
                  <a:lnTo>
                    <a:pt x="342900" y="78409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>
              <a:spAutoFit/>
            </a:bodyPr>
            <a:lstStyle/>
            <a:p/>
          </p:txBody>
        </p:sp>
        <p:sp>
          <p:nvSpPr>
            <p:cNvPr id="21" name="object 20"/>
            <p:cNvSpPr txBox="1"/>
            <p:nvPr/>
          </p:nvSpPr>
          <p:spPr>
            <a:xfrm>
              <a:off x="8773840" y="5539587"/>
              <a:ext cx="136525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600" dirty="0">
                  <a:latin typeface="Tahoma" panose="020B0604030504040204"/>
                  <a:cs typeface="Tahoma" panose="020B0604030504040204"/>
                </a:rPr>
                <a:t>1</a:t>
              </a:r>
              <a:endParaRPr sz="1600" dirty="0">
                <a:latin typeface="Tahoma" panose="020B0604030504040204"/>
                <a:cs typeface="Tahoma" panose="020B0604030504040204"/>
              </a:endParaRPr>
            </a:p>
          </p:txBody>
        </p:sp>
        <p:sp>
          <p:nvSpPr>
            <p:cNvPr id="22" name="object 21"/>
            <p:cNvSpPr/>
            <p:nvPr/>
          </p:nvSpPr>
          <p:spPr>
            <a:xfrm>
              <a:off x="1172270" y="5241504"/>
              <a:ext cx="203453" cy="369332"/>
            </a:xfrm>
            <a:custGeom>
              <a:avLst/>
              <a:gdLst/>
              <a:ahLst/>
              <a:cxnLst/>
              <a:rect l="l" t="t" r="r" b="b"/>
              <a:pathLst>
                <a:path w="178307" h="127253">
                  <a:moveTo>
                    <a:pt x="178307" y="0"/>
                  </a:moveTo>
                  <a:lnTo>
                    <a:pt x="0" y="12725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>
              <a:spAutoFit/>
            </a:bodyPr>
            <a:lstStyle/>
            <a:p/>
          </p:txBody>
        </p:sp>
        <p:sp>
          <p:nvSpPr>
            <p:cNvPr id="23" name="object 22"/>
            <p:cNvSpPr/>
            <p:nvPr/>
          </p:nvSpPr>
          <p:spPr>
            <a:xfrm>
              <a:off x="8296969" y="5318731"/>
              <a:ext cx="426691" cy="270505"/>
            </a:xfrm>
            <a:custGeom>
              <a:avLst/>
              <a:gdLst/>
              <a:ahLst/>
              <a:cxnLst/>
              <a:rect l="l" t="t" r="r" b="b"/>
              <a:pathLst>
                <a:path w="152400" h="126492">
                  <a:moveTo>
                    <a:pt x="0" y="0"/>
                  </a:moveTo>
                  <a:lnTo>
                    <a:pt x="152400" y="12649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>
              <a:spAutoFit/>
            </a:bodyPr>
            <a:lstStyle/>
            <a:p/>
          </p:txBody>
        </p:sp>
        <p:sp>
          <p:nvSpPr>
            <p:cNvPr id="24" name="object 23"/>
            <p:cNvSpPr/>
            <p:nvPr/>
          </p:nvSpPr>
          <p:spPr>
            <a:xfrm>
              <a:off x="6876256" y="5301208"/>
              <a:ext cx="334180" cy="250118"/>
            </a:xfrm>
            <a:custGeom>
              <a:avLst/>
              <a:gdLst/>
              <a:ahLst/>
              <a:cxnLst/>
              <a:rect l="l" t="t" r="r" b="b"/>
              <a:pathLst>
                <a:path w="368807" h="241553">
                  <a:moveTo>
                    <a:pt x="0" y="0"/>
                  </a:moveTo>
                  <a:lnTo>
                    <a:pt x="368807" y="24155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>
              <a:spAutoFit/>
            </a:bodyPr>
            <a:lstStyle/>
            <a:p/>
          </p:txBody>
        </p:sp>
        <p:sp>
          <p:nvSpPr>
            <p:cNvPr id="25" name="object 24"/>
            <p:cNvSpPr txBox="1"/>
            <p:nvPr/>
          </p:nvSpPr>
          <p:spPr>
            <a:xfrm>
              <a:off x="1040751" y="5609679"/>
              <a:ext cx="1198573" cy="55656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600" dirty="0">
                  <a:latin typeface="Tahoma" panose="020B0604030504040204"/>
                  <a:cs typeface="Tahoma" panose="020B0604030504040204"/>
                </a:rPr>
                <a:t>0</a:t>
              </a:r>
              <a:endParaRPr sz="1600" dirty="0">
                <a:latin typeface="Tahoma" panose="020B0604030504040204"/>
                <a:cs typeface="Tahoma" panose="020B0604030504040204"/>
              </a:endParaRPr>
            </a:p>
            <a:p>
              <a:pPr marL="28575">
                <a:spcBef>
                  <a:spcPts val="480"/>
                </a:spcBef>
              </a:pPr>
              <a:r>
                <a:rPr sz="1600" dirty="0">
                  <a:latin typeface="Tahoma" panose="020B0604030504040204"/>
                  <a:cs typeface="Tahoma" panose="020B0604030504040204"/>
                </a:rPr>
                <a:t>X</a:t>
              </a:r>
              <a:r>
                <a:rPr sz="1600" spc="-5" dirty="0">
                  <a:latin typeface="Tahoma" panose="020B0604030504040204"/>
                  <a:cs typeface="Tahoma" panose="020B0604030504040204"/>
                </a:rPr>
                <a:t> </a:t>
              </a:r>
              <a:r>
                <a:rPr sz="1600" spc="-5" dirty="0">
                  <a:solidFill>
                    <a:srgbClr val="FF5050"/>
                  </a:solidFill>
                  <a:latin typeface="Tahoma" panose="020B0604030504040204"/>
                  <a:cs typeface="Tahoma" panose="020B0604030504040204"/>
                </a:rPr>
                <a:t>AN</a:t>
              </a:r>
              <a:r>
                <a:rPr sz="1600" dirty="0">
                  <a:solidFill>
                    <a:srgbClr val="FF5050"/>
                  </a:solidFill>
                  <a:latin typeface="Tahoma" panose="020B0604030504040204"/>
                  <a:cs typeface="Tahoma" panose="020B0604030504040204"/>
                </a:rPr>
                <a:t>D</a:t>
              </a:r>
              <a:r>
                <a:rPr sz="1600" spc="-5" dirty="0">
                  <a:solidFill>
                    <a:srgbClr val="FF5050"/>
                  </a:solidFill>
                  <a:latin typeface="Tahoma" panose="020B0604030504040204"/>
                  <a:cs typeface="Tahoma" panose="020B0604030504040204"/>
                </a:rPr>
                <a:t> </a:t>
              </a:r>
              <a:r>
                <a:rPr sz="1600" dirty="0">
                  <a:latin typeface="Tahoma" panose="020B0604030504040204"/>
                  <a:cs typeface="Tahoma" panose="020B0604030504040204"/>
                </a:rPr>
                <a:t>Y</a:t>
              </a:r>
              <a:endParaRPr sz="1600" dirty="0">
                <a:latin typeface="Tahoma" panose="020B0604030504040204"/>
                <a:cs typeface="Tahoma" panose="020B0604030504040204"/>
              </a:endParaRPr>
            </a:p>
          </p:txBody>
        </p:sp>
        <p:sp>
          <p:nvSpPr>
            <p:cNvPr id="26" name="object 25"/>
            <p:cNvSpPr txBox="1"/>
            <p:nvPr/>
          </p:nvSpPr>
          <p:spPr>
            <a:xfrm>
              <a:off x="6876256" y="5554439"/>
              <a:ext cx="1118603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600" spc="-5" dirty="0">
                  <a:solidFill>
                    <a:srgbClr val="EB2B05"/>
                  </a:solidFill>
                  <a:latin typeface="Tahoma" panose="020B0604030504040204"/>
                  <a:cs typeface="Tahoma" panose="020B0604030504040204"/>
                </a:rPr>
                <a:t>NO</a:t>
              </a:r>
              <a:r>
                <a:rPr sz="1600" dirty="0">
                  <a:solidFill>
                    <a:srgbClr val="EB2B05"/>
                  </a:solidFill>
                  <a:latin typeface="Tahoma" panose="020B0604030504040204"/>
                  <a:cs typeface="Tahoma" panose="020B0604030504040204"/>
                </a:rPr>
                <a:t>T</a:t>
              </a:r>
              <a:r>
                <a:rPr sz="1600" spc="-5" dirty="0">
                  <a:solidFill>
                    <a:srgbClr val="EB2B05"/>
                  </a:solidFill>
                  <a:latin typeface="Tahoma" panose="020B0604030504040204"/>
                  <a:cs typeface="Tahoma" panose="020B0604030504040204"/>
                </a:rPr>
                <a:t> </a:t>
              </a:r>
              <a:r>
                <a:rPr sz="1600" dirty="0">
                  <a:latin typeface="Tahoma" panose="020B0604030504040204"/>
                  <a:cs typeface="Tahoma" panose="020B0604030504040204"/>
                </a:rPr>
                <a:t>X</a:t>
              </a:r>
              <a:endParaRPr sz="1600" dirty="0">
                <a:latin typeface="Tahoma" panose="020B0604030504040204"/>
                <a:cs typeface="Tahoma" panose="020B0604030504040204"/>
              </a:endParaRPr>
            </a:p>
          </p:txBody>
        </p:sp>
        <p:sp>
          <p:nvSpPr>
            <p:cNvPr id="27" name="object 26"/>
            <p:cNvSpPr txBox="1"/>
            <p:nvPr/>
          </p:nvSpPr>
          <p:spPr>
            <a:xfrm>
              <a:off x="2815283" y="5805261"/>
              <a:ext cx="1660707" cy="5309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600" dirty="0">
                  <a:latin typeface="Tahoma" panose="020B0604030504040204"/>
                  <a:cs typeface="Tahoma" panose="020B0604030504040204"/>
                </a:rPr>
                <a:t>X</a:t>
              </a:r>
              <a:r>
                <a:rPr sz="1600" spc="-5" dirty="0">
                  <a:latin typeface="Tahoma" panose="020B0604030504040204"/>
                  <a:cs typeface="Tahoma" panose="020B0604030504040204"/>
                </a:rPr>
                <a:t> </a:t>
              </a:r>
              <a:r>
                <a:rPr sz="1600" spc="-5" dirty="0">
                  <a:solidFill>
                    <a:srgbClr val="EB2B05"/>
                  </a:solidFill>
                  <a:latin typeface="Tahoma" panose="020B0604030504040204"/>
                  <a:cs typeface="Tahoma" panose="020B0604030504040204"/>
                </a:rPr>
                <a:t>XO</a:t>
              </a:r>
              <a:r>
                <a:rPr sz="1600" dirty="0">
                  <a:solidFill>
                    <a:srgbClr val="EB2B05"/>
                  </a:solidFill>
                  <a:latin typeface="Tahoma" panose="020B0604030504040204"/>
                  <a:cs typeface="Tahoma" panose="020B0604030504040204"/>
                </a:rPr>
                <a:t>R</a:t>
              </a:r>
              <a:r>
                <a:rPr sz="1600" spc="-5" dirty="0">
                  <a:solidFill>
                    <a:srgbClr val="EB2B05"/>
                  </a:solidFill>
                  <a:latin typeface="Tahoma" panose="020B0604030504040204"/>
                  <a:cs typeface="Tahoma" panose="020B0604030504040204"/>
                </a:rPr>
                <a:t> </a:t>
              </a:r>
              <a:r>
                <a:rPr sz="1600" dirty="0">
                  <a:latin typeface="Tahoma" panose="020B0604030504040204"/>
                  <a:cs typeface="Tahoma" panose="020B0604030504040204"/>
                </a:rPr>
                <a:t>Y</a:t>
              </a:r>
              <a:endParaRPr sz="1600" dirty="0">
                <a:latin typeface="Tahoma" panose="020B0604030504040204"/>
                <a:cs typeface="Tahoma" panose="020B0604030504040204"/>
              </a:endParaRPr>
            </a:p>
            <a:p>
              <a:pPr marL="567690">
                <a:spcBef>
                  <a:spcPts val="315"/>
                </a:spcBef>
              </a:pPr>
              <a:r>
                <a:rPr sz="1600" dirty="0">
                  <a:latin typeface="Tahoma" panose="020B0604030504040204"/>
                  <a:cs typeface="Tahoma" panose="020B0604030504040204"/>
                </a:rPr>
                <a:t>X</a:t>
              </a:r>
              <a:r>
                <a:rPr sz="1600" spc="-5" dirty="0">
                  <a:latin typeface="Tahoma" panose="020B0604030504040204"/>
                  <a:cs typeface="Tahoma" panose="020B0604030504040204"/>
                </a:rPr>
                <a:t> </a:t>
              </a:r>
              <a:r>
                <a:rPr sz="1600" dirty="0">
                  <a:solidFill>
                    <a:srgbClr val="EB2B05"/>
                  </a:solidFill>
                  <a:latin typeface="Tahoma" panose="020B0604030504040204"/>
                  <a:cs typeface="Tahoma" panose="020B0604030504040204"/>
                </a:rPr>
                <a:t>OR</a:t>
              </a:r>
              <a:r>
                <a:rPr sz="1600" spc="-5" dirty="0">
                  <a:solidFill>
                    <a:srgbClr val="EB2B05"/>
                  </a:solidFill>
                  <a:latin typeface="Tahoma" panose="020B0604030504040204"/>
                  <a:cs typeface="Tahoma" panose="020B0604030504040204"/>
                </a:rPr>
                <a:t> </a:t>
              </a:r>
              <a:r>
                <a:rPr sz="1600" dirty="0">
                  <a:latin typeface="Tahoma" panose="020B0604030504040204"/>
                  <a:cs typeface="Tahoma" panose="020B0604030504040204"/>
                </a:rPr>
                <a:t>Y</a:t>
              </a:r>
              <a:endParaRPr sz="1600" dirty="0">
                <a:latin typeface="Tahoma" panose="020B0604030504040204"/>
                <a:cs typeface="Tahoma" panose="020B0604030504040204"/>
              </a:endParaRPr>
            </a:p>
          </p:txBody>
        </p:sp>
        <p:sp>
          <p:nvSpPr>
            <p:cNvPr id="28" name="object 27"/>
            <p:cNvSpPr txBox="1"/>
            <p:nvPr/>
          </p:nvSpPr>
          <p:spPr>
            <a:xfrm>
              <a:off x="6362133" y="5915490"/>
              <a:ext cx="982253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600" spc="-5" dirty="0">
                  <a:solidFill>
                    <a:srgbClr val="EB2B05"/>
                  </a:solidFill>
                  <a:latin typeface="Tahoma" panose="020B0604030504040204"/>
                  <a:cs typeface="Tahoma" panose="020B0604030504040204"/>
                </a:rPr>
                <a:t>NO</a:t>
              </a:r>
              <a:r>
                <a:rPr sz="1600" dirty="0">
                  <a:solidFill>
                    <a:srgbClr val="EB2B05"/>
                  </a:solidFill>
                  <a:latin typeface="Tahoma" panose="020B0604030504040204"/>
                  <a:cs typeface="Tahoma" panose="020B0604030504040204"/>
                </a:rPr>
                <a:t>T</a:t>
              </a:r>
              <a:r>
                <a:rPr sz="1600" spc="-5" dirty="0">
                  <a:solidFill>
                    <a:srgbClr val="EB2B05"/>
                  </a:solidFill>
                  <a:latin typeface="Tahoma" panose="020B0604030504040204"/>
                  <a:cs typeface="Tahoma" panose="020B0604030504040204"/>
                </a:rPr>
                <a:t> </a:t>
              </a:r>
              <a:r>
                <a:rPr sz="1600" dirty="0">
                  <a:latin typeface="Tahoma" panose="020B0604030504040204"/>
                  <a:cs typeface="Tahoma" panose="020B0604030504040204"/>
                </a:rPr>
                <a:t>Y</a:t>
              </a:r>
              <a:endParaRPr sz="1600" dirty="0">
                <a:latin typeface="Tahoma" panose="020B0604030504040204"/>
                <a:cs typeface="Tahoma" panose="020B0604030504040204"/>
              </a:endParaRPr>
            </a:p>
          </p:txBody>
        </p:sp>
        <p:sp>
          <p:nvSpPr>
            <p:cNvPr id="29" name="object 28"/>
            <p:cNvSpPr/>
            <p:nvPr/>
          </p:nvSpPr>
          <p:spPr>
            <a:xfrm>
              <a:off x="1552014" y="5244998"/>
              <a:ext cx="317487" cy="609663"/>
            </a:xfrm>
            <a:custGeom>
              <a:avLst/>
              <a:gdLst/>
              <a:ahLst/>
              <a:cxnLst/>
              <a:rect l="l" t="t" r="r" b="b"/>
              <a:pathLst>
                <a:path w="355854" h="432053">
                  <a:moveTo>
                    <a:pt x="355854" y="0"/>
                  </a:moveTo>
                  <a:lnTo>
                    <a:pt x="0" y="432053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>
              <a:spAutoFit/>
            </a:bodyPr>
            <a:lstStyle/>
            <a:p/>
          </p:txBody>
        </p:sp>
        <p:sp>
          <p:nvSpPr>
            <p:cNvPr id="30" name="object 29"/>
            <p:cNvSpPr/>
            <p:nvPr/>
          </p:nvSpPr>
          <p:spPr>
            <a:xfrm>
              <a:off x="4095867" y="5254719"/>
              <a:ext cx="541979" cy="761966"/>
            </a:xfrm>
            <a:custGeom>
              <a:avLst/>
              <a:gdLst/>
              <a:ahLst/>
              <a:cxnLst/>
              <a:rect l="l" t="t" r="r" b="b"/>
              <a:pathLst>
                <a:path w="368046" h="622553">
                  <a:moveTo>
                    <a:pt x="368046" y="0"/>
                  </a:moveTo>
                  <a:lnTo>
                    <a:pt x="0" y="62255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>
              <a:spAutoFit/>
            </a:bodyPr>
            <a:lstStyle/>
            <a:p/>
          </p:txBody>
        </p:sp>
        <p:sp>
          <p:nvSpPr>
            <p:cNvPr id="31" name="object 30"/>
            <p:cNvSpPr/>
            <p:nvPr/>
          </p:nvSpPr>
          <p:spPr>
            <a:xfrm>
              <a:off x="5996493" y="5250530"/>
              <a:ext cx="649752" cy="604131"/>
            </a:xfrm>
            <a:custGeom>
              <a:avLst/>
              <a:gdLst/>
              <a:ahLst/>
              <a:cxnLst/>
              <a:rect l="l" t="t" r="r" b="b"/>
              <a:pathLst>
                <a:path w="546353" h="266700">
                  <a:moveTo>
                    <a:pt x="0" y="0"/>
                  </a:moveTo>
                  <a:lnTo>
                    <a:pt x="546353" y="2667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>
              <a:spAutoFit/>
            </a:bodyPr>
            <a:lstStyle/>
            <a:p/>
          </p:txBody>
        </p:sp>
        <p:sp>
          <p:nvSpPr>
            <p:cNvPr id="32" name="object 31"/>
            <p:cNvSpPr/>
            <p:nvPr/>
          </p:nvSpPr>
          <p:spPr>
            <a:xfrm>
              <a:off x="3534723" y="5280247"/>
              <a:ext cx="605229" cy="481102"/>
            </a:xfrm>
            <a:custGeom>
              <a:avLst/>
              <a:gdLst/>
              <a:ahLst/>
              <a:cxnLst/>
              <a:rect l="l" t="t" r="r" b="b"/>
              <a:pathLst>
                <a:path w="342900" h="381000">
                  <a:moveTo>
                    <a:pt x="34290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>
              <a:spAutoFit/>
            </a:bodyPr>
            <a:lstStyle/>
            <a:p/>
          </p:txBody>
        </p:sp>
        <p:sp>
          <p:nvSpPr>
            <p:cNvPr id="33" name="object 32"/>
            <p:cNvSpPr txBox="1"/>
            <p:nvPr/>
          </p:nvSpPr>
          <p:spPr>
            <a:xfrm>
              <a:off x="5532107" y="5559040"/>
              <a:ext cx="870501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600" dirty="0">
                  <a:latin typeface="Tahoma" panose="020B0604030504040204"/>
                  <a:cs typeface="Tahoma" panose="020B0604030504040204"/>
                </a:rPr>
                <a:t>X</a:t>
              </a:r>
              <a:r>
                <a:rPr sz="1600" spc="-5" dirty="0">
                  <a:latin typeface="Tahoma" panose="020B0604030504040204"/>
                  <a:cs typeface="Tahoma" panose="020B0604030504040204"/>
                </a:rPr>
                <a:t> </a:t>
              </a:r>
              <a:r>
                <a:rPr sz="1600" dirty="0">
                  <a:latin typeface="Tahoma" panose="020B0604030504040204"/>
                  <a:cs typeface="Tahoma" panose="020B0604030504040204"/>
                </a:rPr>
                <a:t>=</a:t>
              </a:r>
              <a:r>
                <a:rPr sz="1600" spc="-5" dirty="0">
                  <a:latin typeface="Tahoma" panose="020B0604030504040204"/>
                  <a:cs typeface="Tahoma" panose="020B0604030504040204"/>
                </a:rPr>
                <a:t> </a:t>
              </a:r>
              <a:r>
                <a:rPr sz="1600" dirty="0">
                  <a:latin typeface="Tahoma" panose="020B0604030504040204"/>
                  <a:cs typeface="Tahoma" panose="020B0604030504040204"/>
                </a:rPr>
                <a:t>Y</a:t>
              </a:r>
              <a:endParaRPr sz="1600" dirty="0">
                <a:latin typeface="Tahoma" panose="020B0604030504040204"/>
                <a:cs typeface="Tahoma" panose="020B0604030504040204"/>
              </a:endParaRPr>
            </a:p>
          </p:txBody>
        </p:sp>
        <p:sp>
          <p:nvSpPr>
            <p:cNvPr id="34" name="object 33"/>
            <p:cNvSpPr/>
            <p:nvPr/>
          </p:nvSpPr>
          <p:spPr>
            <a:xfrm>
              <a:off x="5540817" y="5280248"/>
              <a:ext cx="319151" cy="308989"/>
            </a:xfrm>
            <a:custGeom>
              <a:avLst/>
              <a:gdLst/>
              <a:ahLst/>
              <a:cxnLst/>
              <a:rect l="l" t="t" r="r" b="b"/>
              <a:pathLst>
                <a:path w="317753" h="381000">
                  <a:moveTo>
                    <a:pt x="0" y="0"/>
                  </a:moveTo>
                  <a:lnTo>
                    <a:pt x="317753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>
              <a:spAutoFit/>
            </a:bodyPr>
            <a:lstStyle/>
            <a:p/>
          </p:txBody>
        </p:sp>
      </p:grpSp>
      <p:sp>
        <p:nvSpPr>
          <p:cNvPr id="37" name="右箭头 36"/>
          <p:cNvSpPr/>
          <p:nvPr/>
        </p:nvSpPr>
        <p:spPr>
          <a:xfrm>
            <a:off x="3592463" y="2807825"/>
            <a:ext cx="335693" cy="27699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右箭头 38"/>
          <p:cNvSpPr/>
          <p:nvPr/>
        </p:nvSpPr>
        <p:spPr>
          <a:xfrm>
            <a:off x="3599859" y="3153109"/>
            <a:ext cx="335693" cy="27699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右箭头 39"/>
          <p:cNvSpPr/>
          <p:nvPr/>
        </p:nvSpPr>
        <p:spPr>
          <a:xfrm>
            <a:off x="4640858" y="2960224"/>
            <a:ext cx="335693" cy="27699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第二章 逻辑代数（</a:t>
            </a:r>
            <a:r>
              <a:rPr lang="en-US" altLang="zh-CN"/>
              <a:t>6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9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4D43-49D7-482E-885A-E8B0C6BBE01D}" type="slidenum">
              <a:rPr lang="en-US" altLang="zh-CN"/>
            </a:fld>
            <a:endParaRPr lang="en-US" altLang="zh-CN"/>
          </a:p>
        </p:txBody>
      </p:sp>
      <p:sp>
        <p:nvSpPr>
          <p:cNvPr id="1157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84468" cy="4607024"/>
          </a:xfrm>
        </p:spPr>
        <p:txBody>
          <a:bodyPr/>
          <a:lstStyle/>
          <a:p>
            <a:r>
              <a:rPr lang="en-US" altLang="zh-CN" dirty="0"/>
              <a:t>2.1  </a:t>
            </a:r>
            <a:r>
              <a:rPr lang="zh-CN" altLang="en-US" dirty="0"/>
              <a:t>逻辑代数的基本运算与公式</a:t>
            </a:r>
            <a:endParaRPr lang="zh-CN" altLang="en-US" dirty="0"/>
          </a:p>
          <a:p>
            <a:pPr lvl="1"/>
            <a:r>
              <a:rPr lang="zh-CN" altLang="en-US" dirty="0"/>
              <a:t>逻辑代数的基本运算：与、或、非</a:t>
            </a:r>
            <a:endParaRPr lang="zh-CN" altLang="en-US" dirty="0"/>
          </a:p>
          <a:p>
            <a:pPr lvl="2">
              <a:buFont typeface="Wingdings" panose="05000000000000000000" pitchFamily="2" charset="2"/>
              <a:buNone/>
            </a:pPr>
            <a:r>
              <a:rPr lang="zh-CN" altLang="en-US" dirty="0"/>
              <a:t> </a:t>
            </a:r>
            <a:r>
              <a:rPr lang="en-US" altLang="zh-CN" dirty="0"/>
              <a:t>(1)  </a:t>
            </a:r>
            <a:r>
              <a:rPr lang="zh-CN" altLang="en-US" dirty="0"/>
              <a:t>与运算，逻辑乘</a:t>
            </a:r>
            <a:endParaRPr lang="zh-CN" altLang="en-US" dirty="0"/>
          </a:p>
        </p:txBody>
      </p:sp>
      <p:graphicFrame>
        <p:nvGraphicFramePr>
          <p:cNvPr id="115798" name="Group 86"/>
          <p:cNvGraphicFramePr>
            <a:graphicFrameLocks noGrp="1"/>
          </p:cNvGraphicFramePr>
          <p:nvPr/>
        </p:nvGraphicFramePr>
        <p:xfrm>
          <a:off x="1943101" y="3200401"/>
          <a:ext cx="2514600" cy="2164635"/>
        </p:xfrm>
        <a:graphic>
          <a:graphicData uri="http://schemas.openxmlformats.org/drawingml/2006/table">
            <a:tbl>
              <a:tblPr/>
              <a:tblGrid>
                <a:gridCol w="838200"/>
                <a:gridCol w="838200"/>
                <a:gridCol w="838200"/>
              </a:tblGrid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115793" name="Group 81"/>
          <p:cNvGrpSpPr/>
          <p:nvPr/>
        </p:nvGrpSpPr>
        <p:grpSpPr bwMode="auto">
          <a:xfrm>
            <a:off x="4743451" y="2590800"/>
            <a:ext cx="3086100" cy="1447800"/>
            <a:chOff x="3024" y="1872"/>
            <a:chExt cx="2592" cy="912"/>
          </a:xfrm>
        </p:grpSpPr>
        <p:grpSp>
          <p:nvGrpSpPr>
            <p:cNvPr id="115719" name="Group 7"/>
            <p:cNvGrpSpPr/>
            <p:nvPr/>
          </p:nvGrpSpPr>
          <p:grpSpPr bwMode="auto">
            <a:xfrm>
              <a:off x="3648" y="1872"/>
              <a:ext cx="288" cy="192"/>
              <a:chOff x="2832" y="1968"/>
              <a:chExt cx="288" cy="192"/>
            </a:xfrm>
          </p:grpSpPr>
          <p:sp>
            <p:nvSpPr>
              <p:cNvPr id="115716" name="Oval 4"/>
              <p:cNvSpPr>
                <a:spLocks noChangeArrowheads="1"/>
              </p:cNvSpPr>
              <p:nvPr/>
            </p:nvSpPr>
            <p:spPr bwMode="auto">
              <a:xfrm>
                <a:off x="2832" y="2064"/>
                <a:ext cx="96" cy="9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17" name="Oval 5"/>
              <p:cNvSpPr>
                <a:spLocks noChangeArrowheads="1"/>
              </p:cNvSpPr>
              <p:nvPr/>
            </p:nvSpPr>
            <p:spPr bwMode="auto">
              <a:xfrm>
                <a:off x="3024" y="2064"/>
                <a:ext cx="96" cy="9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18" name="Line 6"/>
              <p:cNvSpPr>
                <a:spLocks noChangeShapeType="1"/>
              </p:cNvSpPr>
              <p:nvPr/>
            </p:nvSpPr>
            <p:spPr bwMode="auto">
              <a:xfrm flipV="1">
                <a:off x="2880" y="1968"/>
                <a:ext cx="192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115720" name="Group 8"/>
            <p:cNvGrpSpPr/>
            <p:nvPr/>
          </p:nvGrpSpPr>
          <p:grpSpPr bwMode="auto">
            <a:xfrm>
              <a:off x="4368" y="1872"/>
              <a:ext cx="288" cy="192"/>
              <a:chOff x="2832" y="1968"/>
              <a:chExt cx="288" cy="192"/>
            </a:xfrm>
          </p:grpSpPr>
          <p:sp>
            <p:nvSpPr>
              <p:cNvPr id="115721" name="Oval 9"/>
              <p:cNvSpPr>
                <a:spLocks noChangeArrowheads="1"/>
              </p:cNvSpPr>
              <p:nvPr/>
            </p:nvSpPr>
            <p:spPr bwMode="auto">
              <a:xfrm>
                <a:off x="2832" y="2064"/>
                <a:ext cx="96" cy="9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22" name="Oval 10"/>
              <p:cNvSpPr>
                <a:spLocks noChangeArrowheads="1"/>
              </p:cNvSpPr>
              <p:nvPr/>
            </p:nvSpPr>
            <p:spPr bwMode="auto">
              <a:xfrm>
                <a:off x="3024" y="2064"/>
                <a:ext cx="96" cy="9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23" name="Line 11"/>
              <p:cNvSpPr>
                <a:spLocks noChangeShapeType="1"/>
              </p:cNvSpPr>
              <p:nvPr/>
            </p:nvSpPr>
            <p:spPr bwMode="auto">
              <a:xfrm flipV="1">
                <a:off x="2880" y="1968"/>
                <a:ext cx="192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15724" name="Line 12"/>
            <p:cNvSpPr>
              <a:spLocks noChangeShapeType="1"/>
            </p:cNvSpPr>
            <p:nvPr/>
          </p:nvSpPr>
          <p:spPr bwMode="auto">
            <a:xfrm>
              <a:off x="3936" y="201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15728" name="Group 16"/>
            <p:cNvGrpSpPr/>
            <p:nvPr/>
          </p:nvGrpSpPr>
          <p:grpSpPr bwMode="auto">
            <a:xfrm>
              <a:off x="4992" y="2304"/>
              <a:ext cx="240" cy="240"/>
              <a:chOff x="2832" y="2688"/>
              <a:chExt cx="240" cy="240"/>
            </a:xfrm>
          </p:grpSpPr>
          <p:sp>
            <p:nvSpPr>
              <p:cNvPr id="115725" name="Oval 13"/>
              <p:cNvSpPr>
                <a:spLocks noChangeArrowheads="1"/>
              </p:cNvSpPr>
              <p:nvPr/>
            </p:nvSpPr>
            <p:spPr bwMode="auto">
              <a:xfrm>
                <a:off x="2832" y="2688"/>
                <a:ext cx="240" cy="24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26" name="Line 14"/>
              <p:cNvSpPr>
                <a:spLocks noChangeShapeType="1"/>
              </p:cNvSpPr>
              <p:nvPr/>
            </p:nvSpPr>
            <p:spPr bwMode="auto">
              <a:xfrm>
                <a:off x="2880" y="2736"/>
                <a:ext cx="144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5727" name="Line 15"/>
              <p:cNvSpPr>
                <a:spLocks noChangeShapeType="1"/>
              </p:cNvSpPr>
              <p:nvPr/>
            </p:nvSpPr>
            <p:spPr bwMode="auto">
              <a:xfrm flipH="1">
                <a:off x="2880" y="2736"/>
                <a:ext cx="144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15729" name="Line 17"/>
            <p:cNvSpPr>
              <a:spLocks noChangeShapeType="1"/>
            </p:cNvSpPr>
            <p:nvPr/>
          </p:nvSpPr>
          <p:spPr bwMode="auto">
            <a:xfrm>
              <a:off x="4656" y="201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5730" name="Line 18"/>
            <p:cNvSpPr>
              <a:spLocks noChangeShapeType="1"/>
            </p:cNvSpPr>
            <p:nvPr/>
          </p:nvSpPr>
          <p:spPr bwMode="auto">
            <a:xfrm>
              <a:off x="5136" y="201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5731" name="Line 19"/>
            <p:cNvSpPr>
              <a:spLocks noChangeShapeType="1"/>
            </p:cNvSpPr>
            <p:nvPr/>
          </p:nvSpPr>
          <p:spPr bwMode="auto">
            <a:xfrm>
              <a:off x="5136" y="254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5732" name="Line 20"/>
            <p:cNvSpPr>
              <a:spLocks noChangeShapeType="1"/>
            </p:cNvSpPr>
            <p:nvPr/>
          </p:nvSpPr>
          <p:spPr bwMode="auto">
            <a:xfrm flipH="1">
              <a:off x="3264" y="2784"/>
              <a:ext cx="1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5733" name="Line 21"/>
            <p:cNvSpPr>
              <a:spLocks noChangeShapeType="1"/>
            </p:cNvSpPr>
            <p:nvPr/>
          </p:nvSpPr>
          <p:spPr bwMode="auto">
            <a:xfrm flipV="1">
              <a:off x="3264" y="244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5734" name="Line 22"/>
            <p:cNvSpPr>
              <a:spLocks noChangeShapeType="1"/>
            </p:cNvSpPr>
            <p:nvPr/>
          </p:nvSpPr>
          <p:spPr bwMode="auto">
            <a:xfrm>
              <a:off x="3264" y="201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5735" name="Line 23"/>
            <p:cNvSpPr>
              <a:spLocks noChangeShapeType="1"/>
            </p:cNvSpPr>
            <p:nvPr/>
          </p:nvSpPr>
          <p:spPr bwMode="auto">
            <a:xfrm>
              <a:off x="3168" y="2448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5736" name="Line 24"/>
            <p:cNvSpPr>
              <a:spLocks noChangeShapeType="1"/>
            </p:cNvSpPr>
            <p:nvPr/>
          </p:nvSpPr>
          <p:spPr bwMode="auto">
            <a:xfrm>
              <a:off x="3024" y="2400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5737" name="Line 25"/>
            <p:cNvSpPr>
              <a:spLocks noChangeShapeType="1"/>
            </p:cNvSpPr>
            <p:nvPr/>
          </p:nvSpPr>
          <p:spPr bwMode="auto">
            <a:xfrm>
              <a:off x="3264" y="201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5738" name="Text Box 26"/>
            <p:cNvSpPr txBox="1">
              <a:spLocks noChangeArrowheads="1"/>
            </p:cNvSpPr>
            <p:nvPr/>
          </p:nvSpPr>
          <p:spPr bwMode="auto">
            <a:xfrm>
              <a:off x="3648" y="2064"/>
              <a:ext cx="336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A</a:t>
              </a:r>
              <a:endParaRPr lang="en-US" altLang="zh-CN"/>
            </a:p>
          </p:txBody>
        </p:sp>
        <p:sp>
          <p:nvSpPr>
            <p:cNvPr id="115739" name="Text Box 27"/>
            <p:cNvSpPr txBox="1">
              <a:spLocks noChangeArrowheads="1"/>
            </p:cNvSpPr>
            <p:nvPr/>
          </p:nvSpPr>
          <p:spPr bwMode="auto">
            <a:xfrm>
              <a:off x="4368" y="2064"/>
              <a:ext cx="336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B</a:t>
              </a:r>
              <a:endParaRPr lang="en-US" altLang="zh-CN"/>
            </a:p>
          </p:txBody>
        </p:sp>
        <p:sp>
          <p:nvSpPr>
            <p:cNvPr id="115768" name="Text Box 56"/>
            <p:cNvSpPr txBox="1">
              <a:spLocks noChangeArrowheads="1"/>
            </p:cNvSpPr>
            <p:nvPr/>
          </p:nvSpPr>
          <p:spPr bwMode="auto">
            <a:xfrm>
              <a:off x="5280" y="2256"/>
              <a:ext cx="336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F</a:t>
              </a:r>
              <a:endParaRPr lang="en-US" altLang="zh-CN"/>
            </a:p>
          </p:txBody>
        </p:sp>
      </p:grpSp>
      <p:graphicFrame>
        <p:nvGraphicFramePr>
          <p:cNvPr id="115799" name="Object 87"/>
          <p:cNvGraphicFramePr>
            <a:graphicFrameLocks noChangeAspect="1"/>
          </p:cNvGraphicFramePr>
          <p:nvPr/>
        </p:nvGraphicFramePr>
        <p:xfrm>
          <a:off x="2465766" y="5808108"/>
          <a:ext cx="1530170" cy="4292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8" name="Equation" r:id="rId1" imgW="17983200" imgH="3962400" progId="Equation.DSMT4">
                  <p:embed/>
                </p:oleObj>
              </mc:Choice>
              <mc:Fallback>
                <p:oleObj name="Equation" r:id="rId1" imgW="17983200" imgH="3962400" progId="Equation.DSMT4">
                  <p:embed/>
                  <p:pic>
                    <p:nvPicPr>
                      <p:cNvPr id="0" name="图片 113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5766" y="5808108"/>
                        <a:ext cx="1530170" cy="4292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5801" name="Group 89"/>
          <p:cNvGrpSpPr/>
          <p:nvPr/>
        </p:nvGrpSpPr>
        <p:grpSpPr bwMode="auto">
          <a:xfrm>
            <a:off x="4743462" y="4114800"/>
            <a:ext cx="3042048" cy="1295400"/>
            <a:chOff x="3024" y="3024"/>
            <a:chExt cx="2555" cy="816"/>
          </a:xfrm>
        </p:grpSpPr>
        <p:grpSp>
          <p:nvGrpSpPr>
            <p:cNvPr id="115794" name="Group 82"/>
            <p:cNvGrpSpPr/>
            <p:nvPr/>
          </p:nvGrpSpPr>
          <p:grpSpPr bwMode="auto">
            <a:xfrm>
              <a:off x="3024" y="3024"/>
              <a:ext cx="2208" cy="816"/>
              <a:chOff x="3024" y="3024"/>
              <a:chExt cx="2208" cy="816"/>
            </a:xfrm>
          </p:grpSpPr>
          <p:sp>
            <p:nvSpPr>
              <p:cNvPr id="115770" name="Oval 58"/>
              <p:cNvSpPr>
                <a:spLocks noChangeArrowheads="1"/>
              </p:cNvSpPr>
              <p:nvPr/>
            </p:nvSpPr>
            <p:spPr bwMode="auto">
              <a:xfrm>
                <a:off x="3648" y="3024"/>
                <a:ext cx="96" cy="96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115771" name="Oval 59"/>
              <p:cNvSpPr>
                <a:spLocks noChangeArrowheads="1"/>
              </p:cNvSpPr>
              <p:nvPr/>
            </p:nvSpPr>
            <p:spPr bwMode="auto">
              <a:xfrm>
                <a:off x="3840" y="3024"/>
                <a:ext cx="96" cy="96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115772" name="Line 60"/>
              <p:cNvSpPr>
                <a:spLocks noChangeShapeType="1"/>
              </p:cNvSpPr>
              <p:nvPr/>
            </p:nvSpPr>
            <p:spPr bwMode="auto">
              <a:xfrm>
                <a:off x="3744" y="3072"/>
                <a:ext cx="96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  <a:effectLst/>
            </p:spPr>
            <p:txBody>
              <a:bodyPr wrap="none"/>
              <a:lstStyle/>
              <a:p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115774" name="Oval 62"/>
              <p:cNvSpPr>
                <a:spLocks noChangeArrowheads="1"/>
              </p:cNvSpPr>
              <p:nvPr/>
            </p:nvSpPr>
            <p:spPr bwMode="auto">
              <a:xfrm>
                <a:off x="4368" y="3024"/>
                <a:ext cx="96" cy="96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75" name="Oval 63"/>
              <p:cNvSpPr>
                <a:spLocks noChangeArrowheads="1"/>
              </p:cNvSpPr>
              <p:nvPr/>
            </p:nvSpPr>
            <p:spPr bwMode="auto">
              <a:xfrm>
                <a:off x="4560" y="3024"/>
                <a:ext cx="96" cy="96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76" name="Line 64"/>
              <p:cNvSpPr>
                <a:spLocks noChangeShapeType="1"/>
              </p:cNvSpPr>
              <p:nvPr/>
            </p:nvSpPr>
            <p:spPr bwMode="auto">
              <a:xfrm>
                <a:off x="4464" y="3072"/>
                <a:ext cx="96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5777" name="Line 65"/>
              <p:cNvSpPr>
                <a:spLocks noChangeShapeType="1"/>
              </p:cNvSpPr>
              <p:nvPr/>
            </p:nvSpPr>
            <p:spPr bwMode="auto">
              <a:xfrm>
                <a:off x="3936" y="3072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115778" name="Group 66"/>
              <p:cNvGrpSpPr/>
              <p:nvPr/>
            </p:nvGrpSpPr>
            <p:grpSpPr bwMode="auto">
              <a:xfrm>
                <a:off x="4992" y="3360"/>
                <a:ext cx="240" cy="240"/>
                <a:chOff x="2832" y="2688"/>
                <a:chExt cx="240" cy="240"/>
              </a:xfrm>
            </p:grpSpPr>
            <p:sp>
              <p:nvSpPr>
                <p:cNvPr id="115779" name="Oval 67"/>
                <p:cNvSpPr>
                  <a:spLocks noChangeArrowheads="1"/>
                </p:cNvSpPr>
                <p:nvPr/>
              </p:nvSpPr>
              <p:spPr bwMode="auto">
                <a:xfrm>
                  <a:off x="2832" y="2688"/>
                  <a:ext cx="240" cy="240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5780" name="Line 68"/>
                <p:cNvSpPr>
                  <a:spLocks noChangeShapeType="1"/>
                </p:cNvSpPr>
                <p:nvPr/>
              </p:nvSpPr>
              <p:spPr bwMode="auto">
                <a:xfrm>
                  <a:off x="2880" y="2736"/>
                  <a:ext cx="144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15781" name="Line 69"/>
                <p:cNvSpPr>
                  <a:spLocks noChangeShapeType="1"/>
                </p:cNvSpPr>
                <p:nvPr/>
              </p:nvSpPr>
              <p:spPr bwMode="auto">
                <a:xfrm flipH="1">
                  <a:off x="2880" y="2736"/>
                  <a:ext cx="144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115782" name="Line 70"/>
              <p:cNvSpPr>
                <a:spLocks noChangeShapeType="1"/>
              </p:cNvSpPr>
              <p:nvPr/>
            </p:nvSpPr>
            <p:spPr bwMode="auto">
              <a:xfrm>
                <a:off x="4656" y="3072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5783" name="Line 71"/>
              <p:cNvSpPr>
                <a:spLocks noChangeShapeType="1"/>
              </p:cNvSpPr>
              <p:nvPr/>
            </p:nvSpPr>
            <p:spPr bwMode="auto">
              <a:xfrm>
                <a:off x="5136" y="3072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5784" name="Line 72"/>
              <p:cNvSpPr>
                <a:spLocks noChangeShapeType="1"/>
              </p:cNvSpPr>
              <p:nvPr/>
            </p:nvSpPr>
            <p:spPr bwMode="auto">
              <a:xfrm>
                <a:off x="5136" y="360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5785" name="Line 73"/>
              <p:cNvSpPr>
                <a:spLocks noChangeShapeType="1"/>
              </p:cNvSpPr>
              <p:nvPr/>
            </p:nvSpPr>
            <p:spPr bwMode="auto">
              <a:xfrm flipH="1">
                <a:off x="3264" y="3840"/>
                <a:ext cx="18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5786" name="Line 74"/>
              <p:cNvSpPr>
                <a:spLocks noChangeShapeType="1"/>
              </p:cNvSpPr>
              <p:nvPr/>
            </p:nvSpPr>
            <p:spPr bwMode="auto">
              <a:xfrm flipV="1">
                <a:off x="3264" y="3504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5787" name="Line 75"/>
              <p:cNvSpPr>
                <a:spLocks noChangeShapeType="1"/>
              </p:cNvSpPr>
              <p:nvPr/>
            </p:nvSpPr>
            <p:spPr bwMode="auto">
              <a:xfrm>
                <a:off x="3264" y="3072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5788" name="Line 76"/>
              <p:cNvSpPr>
                <a:spLocks noChangeShapeType="1"/>
              </p:cNvSpPr>
              <p:nvPr/>
            </p:nvSpPr>
            <p:spPr bwMode="auto">
              <a:xfrm>
                <a:off x="3168" y="3504"/>
                <a:ext cx="19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5789" name="Line 77"/>
              <p:cNvSpPr>
                <a:spLocks noChangeShapeType="1"/>
              </p:cNvSpPr>
              <p:nvPr/>
            </p:nvSpPr>
            <p:spPr bwMode="auto">
              <a:xfrm>
                <a:off x="3024" y="3456"/>
                <a:ext cx="43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5790" name="Line 78"/>
              <p:cNvSpPr>
                <a:spLocks noChangeShapeType="1"/>
              </p:cNvSpPr>
              <p:nvPr/>
            </p:nvSpPr>
            <p:spPr bwMode="auto">
              <a:xfrm>
                <a:off x="3264" y="3072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5791" name="Text Box 79"/>
              <p:cNvSpPr txBox="1">
                <a:spLocks noChangeArrowheads="1"/>
              </p:cNvSpPr>
              <p:nvPr/>
            </p:nvSpPr>
            <p:spPr bwMode="auto">
              <a:xfrm>
                <a:off x="3648" y="3120"/>
                <a:ext cx="336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A</a:t>
                </a:r>
                <a:endParaRPr lang="en-US" altLang="zh-CN"/>
              </a:p>
            </p:txBody>
          </p:sp>
          <p:sp>
            <p:nvSpPr>
              <p:cNvPr id="115792" name="Text Box 80"/>
              <p:cNvSpPr txBox="1">
                <a:spLocks noChangeArrowheads="1"/>
              </p:cNvSpPr>
              <p:nvPr/>
            </p:nvSpPr>
            <p:spPr bwMode="auto">
              <a:xfrm>
                <a:off x="4368" y="3120"/>
                <a:ext cx="336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B</a:t>
                </a:r>
                <a:endParaRPr lang="en-US" altLang="zh-CN"/>
              </a:p>
            </p:txBody>
          </p:sp>
        </p:grpSp>
        <p:sp>
          <p:nvSpPr>
            <p:cNvPr id="115800" name="Rectangle 88"/>
            <p:cNvSpPr>
              <a:spLocks noChangeArrowheads="1"/>
            </p:cNvSpPr>
            <p:nvPr/>
          </p:nvSpPr>
          <p:spPr bwMode="auto">
            <a:xfrm>
              <a:off x="5280" y="3360"/>
              <a:ext cx="299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F</a:t>
              </a:r>
              <a:endParaRPr lang="en-US" altLang="zh-CN"/>
            </a:p>
          </p:txBody>
        </p:sp>
      </p:grpSp>
      <p:grpSp>
        <p:nvGrpSpPr>
          <p:cNvPr id="115802" name="Group 90"/>
          <p:cNvGrpSpPr/>
          <p:nvPr/>
        </p:nvGrpSpPr>
        <p:grpSpPr bwMode="auto">
          <a:xfrm>
            <a:off x="4686310" y="5638810"/>
            <a:ext cx="1513285" cy="796926"/>
            <a:chOff x="3877" y="2053"/>
            <a:chExt cx="1271" cy="502"/>
          </a:xfrm>
        </p:grpSpPr>
        <p:sp>
          <p:nvSpPr>
            <p:cNvPr id="115803" name="Rectangle 91"/>
            <p:cNvSpPr>
              <a:spLocks noChangeArrowheads="1"/>
            </p:cNvSpPr>
            <p:nvPr/>
          </p:nvSpPr>
          <p:spPr bwMode="auto">
            <a:xfrm>
              <a:off x="4377" y="2114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804" name="Line 92"/>
            <p:cNvSpPr>
              <a:spLocks noChangeShapeType="1"/>
            </p:cNvSpPr>
            <p:nvPr/>
          </p:nvSpPr>
          <p:spPr bwMode="auto">
            <a:xfrm flipH="1">
              <a:off x="4104" y="2205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805" name="Line 93"/>
            <p:cNvSpPr>
              <a:spLocks noChangeShapeType="1"/>
            </p:cNvSpPr>
            <p:nvPr/>
          </p:nvSpPr>
          <p:spPr bwMode="auto">
            <a:xfrm flipH="1">
              <a:off x="4105" y="2387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806" name="Line 94"/>
            <p:cNvSpPr>
              <a:spLocks noChangeShapeType="1"/>
            </p:cNvSpPr>
            <p:nvPr/>
          </p:nvSpPr>
          <p:spPr bwMode="auto">
            <a:xfrm flipH="1">
              <a:off x="4604" y="2296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807" name="Text Box 95"/>
            <p:cNvSpPr txBox="1">
              <a:spLocks noChangeArrowheads="1"/>
            </p:cNvSpPr>
            <p:nvPr/>
          </p:nvSpPr>
          <p:spPr bwMode="auto">
            <a:xfrm>
              <a:off x="3877" y="2264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B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15808" name="Text Box 96"/>
            <p:cNvSpPr txBox="1">
              <a:spLocks noChangeArrowheads="1"/>
            </p:cNvSpPr>
            <p:nvPr/>
          </p:nvSpPr>
          <p:spPr bwMode="auto">
            <a:xfrm>
              <a:off x="3878" y="2053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A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15809" name="Text Box 97"/>
            <p:cNvSpPr txBox="1">
              <a:spLocks noChangeArrowheads="1"/>
            </p:cNvSpPr>
            <p:nvPr/>
          </p:nvSpPr>
          <p:spPr bwMode="auto">
            <a:xfrm>
              <a:off x="4921" y="2144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F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5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5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5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第二章 逻辑代数（</a:t>
            </a:r>
            <a:r>
              <a:rPr lang="en-US" altLang="zh-CN"/>
              <a:t>7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7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1A2BC-3173-45AF-A403-3DF0D2B623BC}" type="slidenum">
              <a:rPr lang="en-US" altLang="zh-CN"/>
            </a:fld>
            <a:endParaRPr lang="en-US" altLang="zh-CN"/>
          </a:p>
        </p:txBody>
      </p:sp>
      <p:sp>
        <p:nvSpPr>
          <p:cNvPr id="11673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2.1  </a:t>
            </a:r>
            <a:r>
              <a:rPr lang="zh-CN" altLang="en-US" dirty="0"/>
              <a:t>逻辑代数的基本运算与公式</a:t>
            </a:r>
            <a:endParaRPr lang="zh-CN" altLang="en-US" dirty="0"/>
          </a:p>
          <a:p>
            <a:pPr lvl="1"/>
            <a:r>
              <a:rPr lang="zh-CN" altLang="en-US" dirty="0"/>
              <a:t>逻辑代数的基本运算：与、或、非</a:t>
            </a:r>
            <a:endParaRPr lang="zh-CN" altLang="en-US" dirty="0"/>
          </a:p>
          <a:p>
            <a:pPr lvl="2">
              <a:buFont typeface="Wingdings" panose="05000000000000000000" pitchFamily="2" charset="2"/>
              <a:buNone/>
            </a:pPr>
            <a:r>
              <a:rPr lang="zh-CN" altLang="en-US" dirty="0"/>
              <a:t>  </a:t>
            </a:r>
            <a:r>
              <a:rPr lang="en-US" altLang="zh-CN" dirty="0"/>
              <a:t>(2)  </a:t>
            </a:r>
            <a:r>
              <a:rPr lang="zh-CN" altLang="en-US" dirty="0"/>
              <a:t>或运算，逻辑加</a:t>
            </a:r>
            <a:endParaRPr lang="zh-CN" altLang="en-US" dirty="0"/>
          </a:p>
        </p:txBody>
      </p:sp>
      <p:graphicFrame>
        <p:nvGraphicFramePr>
          <p:cNvPr id="116833" name="Group 97"/>
          <p:cNvGraphicFramePr>
            <a:graphicFrameLocks noGrp="1"/>
          </p:cNvGraphicFramePr>
          <p:nvPr/>
        </p:nvGraphicFramePr>
        <p:xfrm>
          <a:off x="1943101" y="3235326"/>
          <a:ext cx="2514600" cy="2164635"/>
        </p:xfrm>
        <a:graphic>
          <a:graphicData uri="http://schemas.openxmlformats.org/drawingml/2006/table">
            <a:tbl>
              <a:tblPr/>
              <a:tblGrid>
                <a:gridCol w="838200"/>
                <a:gridCol w="819150"/>
                <a:gridCol w="857250"/>
              </a:tblGrid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6792" name="Object 56"/>
          <p:cNvGraphicFramePr>
            <a:graphicFrameLocks noChangeAspect="1"/>
          </p:cNvGraphicFramePr>
          <p:nvPr/>
        </p:nvGraphicFramePr>
        <p:xfrm>
          <a:off x="2477274" y="5733271"/>
          <a:ext cx="1590670" cy="432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3" name="Equation" r:id="rId1" imgW="18592800" imgH="3962400" progId="Equation.DSMT4">
                  <p:embed/>
                </p:oleObj>
              </mc:Choice>
              <mc:Fallback>
                <p:oleObj name="Equation" r:id="rId1" imgW="18592800" imgH="3962400" progId="Equation.DSMT4">
                  <p:embed/>
                  <p:pic>
                    <p:nvPicPr>
                      <p:cNvPr id="0" name="图片 123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7274" y="5733271"/>
                        <a:ext cx="1590670" cy="4329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6823" name="Group 87"/>
          <p:cNvGrpSpPr/>
          <p:nvPr/>
        </p:nvGrpSpPr>
        <p:grpSpPr bwMode="auto">
          <a:xfrm>
            <a:off x="4743451" y="2819413"/>
            <a:ext cx="3086100" cy="1787525"/>
            <a:chOff x="3024" y="2090"/>
            <a:chExt cx="2592" cy="1126"/>
          </a:xfrm>
        </p:grpSpPr>
        <p:grpSp>
          <p:nvGrpSpPr>
            <p:cNvPr id="116767" name="Group 31"/>
            <p:cNvGrpSpPr/>
            <p:nvPr/>
          </p:nvGrpSpPr>
          <p:grpSpPr bwMode="auto">
            <a:xfrm>
              <a:off x="3984" y="2090"/>
              <a:ext cx="288" cy="192"/>
              <a:chOff x="2832" y="1968"/>
              <a:chExt cx="288" cy="192"/>
            </a:xfrm>
          </p:grpSpPr>
          <p:sp>
            <p:nvSpPr>
              <p:cNvPr id="116768" name="Oval 32"/>
              <p:cNvSpPr>
                <a:spLocks noChangeArrowheads="1"/>
              </p:cNvSpPr>
              <p:nvPr/>
            </p:nvSpPr>
            <p:spPr bwMode="auto">
              <a:xfrm>
                <a:off x="2832" y="2064"/>
                <a:ext cx="96" cy="9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769" name="Oval 33"/>
              <p:cNvSpPr>
                <a:spLocks noChangeArrowheads="1"/>
              </p:cNvSpPr>
              <p:nvPr/>
            </p:nvSpPr>
            <p:spPr bwMode="auto">
              <a:xfrm>
                <a:off x="3024" y="2064"/>
                <a:ext cx="96" cy="9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770" name="Line 34"/>
              <p:cNvSpPr>
                <a:spLocks noChangeShapeType="1"/>
              </p:cNvSpPr>
              <p:nvPr/>
            </p:nvSpPr>
            <p:spPr bwMode="auto">
              <a:xfrm flipV="1">
                <a:off x="2880" y="1968"/>
                <a:ext cx="192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116771" name="Group 35"/>
            <p:cNvGrpSpPr/>
            <p:nvPr/>
          </p:nvGrpSpPr>
          <p:grpSpPr bwMode="auto">
            <a:xfrm>
              <a:off x="3984" y="2522"/>
              <a:ext cx="288" cy="192"/>
              <a:chOff x="2832" y="1968"/>
              <a:chExt cx="288" cy="192"/>
            </a:xfrm>
          </p:grpSpPr>
          <p:sp>
            <p:nvSpPr>
              <p:cNvPr id="116772" name="Oval 36"/>
              <p:cNvSpPr>
                <a:spLocks noChangeArrowheads="1"/>
              </p:cNvSpPr>
              <p:nvPr/>
            </p:nvSpPr>
            <p:spPr bwMode="auto">
              <a:xfrm>
                <a:off x="2832" y="2064"/>
                <a:ext cx="96" cy="9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773" name="Oval 37"/>
              <p:cNvSpPr>
                <a:spLocks noChangeArrowheads="1"/>
              </p:cNvSpPr>
              <p:nvPr/>
            </p:nvSpPr>
            <p:spPr bwMode="auto">
              <a:xfrm>
                <a:off x="3024" y="2064"/>
                <a:ext cx="96" cy="9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774" name="Line 38"/>
              <p:cNvSpPr>
                <a:spLocks noChangeShapeType="1"/>
              </p:cNvSpPr>
              <p:nvPr/>
            </p:nvSpPr>
            <p:spPr bwMode="auto">
              <a:xfrm flipV="1">
                <a:off x="2880" y="1968"/>
                <a:ext cx="192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16775" name="Line 39"/>
            <p:cNvSpPr>
              <a:spLocks noChangeShapeType="1"/>
            </p:cNvSpPr>
            <p:nvPr/>
          </p:nvSpPr>
          <p:spPr bwMode="auto">
            <a:xfrm>
              <a:off x="3648" y="223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16776" name="Group 40"/>
            <p:cNvGrpSpPr/>
            <p:nvPr/>
          </p:nvGrpSpPr>
          <p:grpSpPr bwMode="auto">
            <a:xfrm>
              <a:off x="4992" y="2736"/>
              <a:ext cx="240" cy="240"/>
              <a:chOff x="2832" y="2688"/>
              <a:chExt cx="240" cy="240"/>
            </a:xfrm>
          </p:grpSpPr>
          <p:sp>
            <p:nvSpPr>
              <p:cNvPr id="116777" name="Oval 41"/>
              <p:cNvSpPr>
                <a:spLocks noChangeArrowheads="1"/>
              </p:cNvSpPr>
              <p:nvPr/>
            </p:nvSpPr>
            <p:spPr bwMode="auto">
              <a:xfrm>
                <a:off x="2832" y="2688"/>
                <a:ext cx="240" cy="24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778" name="Line 42"/>
              <p:cNvSpPr>
                <a:spLocks noChangeShapeType="1"/>
              </p:cNvSpPr>
              <p:nvPr/>
            </p:nvSpPr>
            <p:spPr bwMode="auto">
              <a:xfrm>
                <a:off x="2880" y="2736"/>
                <a:ext cx="144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6779" name="Line 43"/>
              <p:cNvSpPr>
                <a:spLocks noChangeShapeType="1"/>
              </p:cNvSpPr>
              <p:nvPr/>
            </p:nvSpPr>
            <p:spPr bwMode="auto">
              <a:xfrm flipH="1">
                <a:off x="2880" y="2736"/>
                <a:ext cx="144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16780" name="Line 44"/>
            <p:cNvSpPr>
              <a:spLocks noChangeShapeType="1"/>
            </p:cNvSpPr>
            <p:nvPr/>
          </p:nvSpPr>
          <p:spPr bwMode="auto">
            <a:xfrm flipV="1">
              <a:off x="4608" y="247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6781" name="Line 45"/>
            <p:cNvSpPr>
              <a:spLocks noChangeShapeType="1"/>
            </p:cNvSpPr>
            <p:nvPr/>
          </p:nvSpPr>
          <p:spPr bwMode="auto">
            <a:xfrm>
              <a:off x="5136" y="247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6782" name="Line 46"/>
            <p:cNvSpPr>
              <a:spLocks noChangeShapeType="1"/>
            </p:cNvSpPr>
            <p:nvPr/>
          </p:nvSpPr>
          <p:spPr bwMode="auto">
            <a:xfrm>
              <a:off x="5136" y="297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6783" name="Line 47"/>
            <p:cNvSpPr>
              <a:spLocks noChangeShapeType="1"/>
            </p:cNvSpPr>
            <p:nvPr/>
          </p:nvSpPr>
          <p:spPr bwMode="auto">
            <a:xfrm flipH="1">
              <a:off x="3264" y="3216"/>
              <a:ext cx="1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6784" name="Line 48"/>
            <p:cNvSpPr>
              <a:spLocks noChangeShapeType="1"/>
            </p:cNvSpPr>
            <p:nvPr/>
          </p:nvSpPr>
          <p:spPr bwMode="auto">
            <a:xfrm flipV="1">
              <a:off x="3264" y="2880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6785" name="Line 49"/>
            <p:cNvSpPr>
              <a:spLocks noChangeShapeType="1"/>
            </p:cNvSpPr>
            <p:nvPr/>
          </p:nvSpPr>
          <p:spPr bwMode="auto">
            <a:xfrm>
              <a:off x="3264" y="2448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6786" name="Line 50"/>
            <p:cNvSpPr>
              <a:spLocks noChangeShapeType="1"/>
            </p:cNvSpPr>
            <p:nvPr/>
          </p:nvSpPr>
          <p:spPr bwMode="auto">
            <a:xfrm>
              <a:off x="3168" y="2880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6787" name="Line 51"/>
            <p:cNvSpPr>
              <a:spLocks noChangeShapeType="1"/>
            </p:cNvSpPr>
            <p:nvPr/>
          </p:nvSpPr>
          <p:spPr bwMode="auto">
            <a:xfrm>
              <a:off x="3024" y="2832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6788" name="Line 52"/>
            <p:cNvSpPr>
              <a:spLocks noChangeShapeType="1"/>
            </p:cNvSpPr>
            <p:nvPr/>
          </p:nvSpPr>
          <p:spPr bwMode="auto">
            <a:xfrm>
              <a:off x="3264" y="24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6789" name="Text Box 53"/>
            <p:cNvSpPr txBox="1">
              <a:spLocks noChangeArrowheads="1"/>
            </p:cNvSpPr>
            <p:nvPr/>
          </p:nvSpPr>
          <p:spPr bwMode="auto">
            <a:xfrm>
              <a:off x="4032" y="2234"/>
              <a:ext cx="336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A</a:t>
              </a:r>
              <a:endParaRPr lang="en-US" altLang="zh-CN"/>
            </a:p>
          </p:txBody>
        </p:sp>
        <p:sp>
          <p:nvSpPr>
            <p:cNvPr id="116790" name="Text Box 54"/>
            <p:cNvSpPr txBox="1">
              <a:spLocks noChangeArrowheads="1"/>
            </p:cNvSpPr>
            <p:nvPr/>
          </p:nvSpPr>
          <p:spPr bwMode="auto">
            <a:xfrm>
              <a:off x="4032" y="2714"/>
              <a:ext cx="336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B</a:t>
              </a:r>
              <a:endParaRPr lang="en-US" altLang="zh-CN"/>
            </a:p>
          </p:txBody>
        </p:sp>
        <p:sp>
          <p:nvSpPr>
            <p:cNvPr id="116791" name="Text Box 55"/>
            <p:cNvSpPr txBox="1">
              <a:spLocks noChangeArrowheads="1"/>
            </p:cNvSpPr>
            <p:nvPr/>
          </p:nvSpPr>
          <p:spPr bwMode="auto">
            <a:xfrm>
              <a:off x="5280" y="2688"/>
              <a:ext cx="336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F</a:t>
              </a:r>
              <a:endParaRPr lang="en-US" altLang="zh-CN"/>
            </a:p>
          </p:txBody>
        </p:sp>
        <p:sp>
          <p:nvSpPr>
            <p:cNvPr id="116818" name="Line 82"/>
            <p:cNvSpPr>
              <a:spLocks noChangeShapeType="1"/>
            </p:cNvSpPr>
            <p:nvPr/>
          </p:nvSpPr>
          <p:spPr bwMode="auto">
            <a:xfrm>
              <a:off x="3648" y="223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6819" name="Line 83"/>
            <p:cNvSpPr>
              <a:spLocks noChangeShapeType="1"/>
            </p:cNvSpPr>
            <p:nvPr/>
          </p:nvSpPr>
          <p:spPr bwMode="auto">
            <a:xfrm>
              <a:off x="3648" y="266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6820" name="Line 84"/>
            <p:cNvSpPr>
              <a:spLocks noChangeShapeType="1"/>
            </p:cNvSpPr>
            <p:nvPr/>
          </p:nvSpPr>
          <p:spPr bwMode="auto">
            <a:xfrm>
              <a:off x="4272" y="223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6821" name="Line 85"/>
            <p:cNvSpPr>
              <a:spLocks noChangeShapeType="1"/>
            </p:cNvSpPr>
            <p:nvPr/>
          </p:nvSpPr>
          <p:spPr bwMode="auto">
            <a:xfrm>
              <a:off x="4608" y="223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6822" name="Line 86"/>
            <p:cNvSpPr>
              <a:spLocks noChangeShapeType="1"/>
            </p:cNvSpPr>
            <p:nvPr/>
          </p:nvSpPr>
          <p:spPr bwMode="auto">
            <a:xfrm>
              <a:off x="4272" y="266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16824" name="Group 88"/>
          <p:cNvGrpSpPr/>
          <p:nvPr/>
        </p:nvGrpSpPr>
        <p:grpSpPr bwMode="auto">
          <a:xfrm>
            <a:off x="5143510" y="5486410"/>
            <a:ext cx="1513285" cy="796926"/>
            <a:chOff x="3878" y="3265"/>
            <a:chExt cx="1271" cy="502"/>
          </a:xfrm>
        </p:grpSpPr>
        <p:sp>
          <p:nvSpPr>
            <p:cNvPr id="116825" name="Rectangle 89"/>
            <p:cNvSpPr>
              <a:spLocks noChangeArrowheads="1"/>
            </p:cNvSpPr>
            <p:nvPr/>
          </p:nvSpPr>
          <p:spPr bwMode="auto">
            <a:xfrm>
              <a:off x="4377" y="3339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26" name="Line 90"/>
            <p:cNvSpPr>
              <a:spLocks noChangeShapeType="1"/>
            </p:cNvSpPr>
            <p:nvPr/>
          </p:nvSpPr>
          <p:spPr bwMode="auto">
            <a:xfrm flipH="1">
              <a:off x="4105" y="3430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27" name="Line 91"/>
            <p:cNvSpPr>
              <a:spLocks noChangeShapeType="1"/>
            </p:cNvSpPr>
            <p:nvPr/>
          </p:nvSpPr>
          <p:spPr bwMode="auto">
            <a:xfrm flipH="1">
              <a:off x="4106" y="3612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28" name="Line 92"/>
            <p:cNvSpPr>
              <a:spLocks noChangeShapeType="1"/>
            </p:cNvSpPr>
            <p:nvPr/>
          </p:nvSpPr>
          <p:spPr bwMode="auto">
            <a:xfrm flipH="1">
              <a:off x="4604" y="3521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29" name="Text Box 93"/>
            <p:cNvSpPr txBox="1">
              <a:spLocks noChangeArrowheads="1"/>
            </p:cNvSpPr>
            <p:nvPr/>
          </p:nvSpPr>
          <p:spPr bwMode="auto">
            <a:xfrm>
              <a:off x="3878" y="3476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B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16830" name="Text Box 94"/>
            <p:cNvSpPr txBox="1">
              <a:spLocks noChangeArrowheads="1"/>
            </p:cNvSpPr>
            <p:nvPr/>
          </p:nvSpPr>
          <p:spPr bwMode="auto">
            <a:xfrm>
              <a:off x="3879" y="3265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A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16831" name="Text Box 95"/>
            <p:cNvSpPr txBox="1">
              <a:spLocks noChangeArrowheads="1"/>
            </p:cNvSpPr>
            <p:nvPr/>
          </p:nvSpPr>
          <p:spPr bwMode="auto">
            <a:xfrm>
              <a:off x="4922" y="3385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F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16832" name="Text Box 96"/>
            <p:cNvSpPr txBox="1">
              <a:spLocks noChangeArrowheads="1"/>
            </p:cNvSpPr>
            <p:nvPr/>
          </p:nvSpPr>
          <p:spPr bwMode="auto">
            <a:xfrm>
              <a:off x="4331" y="3385"/>
              <a:ext cx="273" cy="25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000" dirty="0">
                  <a:latin typeface="Tahoma" panose="020B0604030504040204" pitchFamily="34" charset="0"/>
                </a:rPr>
                <a:t>+</a:t>
              </a:r>
              <a:endParaRPr kumimoji="0" lang="en-US" altLang="zh-CN" sz="2000" dirty="0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6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68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68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6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第二章 逻辑代数（</a:t>
            </a:r>
            <a:r>
              <a:rPr lang="en-US" altLang="zh-CN"/>
              <a:t>8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5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AFFC3-E0F2-4CF7-83F4-3B307CF4E902}" type="slidenum">
              <a:rPr lang="en-US" altLang="zh-CN"/>
            </a:fld>
            <a:endParaRPr lang="en-US" altLang="zh-CN"/>
          </a:p>
        </p:txBody>
      </p:sp>
      <p:sp>
        <p:nvSpPr>
          <p:cNvPr id="11776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/>
              <a:t>2.1  </a:t>
            </a:r>
            <a:r>
              <a:rPr lang="zh-CN" altLang="en-US"/>
              <a:t>逻辑代数的基本运算与公式</a:t>
            </a:r>
            <a:endParaRPr lang="zh-CN" altLang="en-US"/>
          </a:p>
          <a:p>
            <a:pPr lvl="1"/>
            <a:r>
              <a:rPr lang="zh-CN" altLang="en-US"/>
              <a:t>逻辑代数的基本运算：与、或、非</a:t>
            </a:r>
            <a:endParaRPr lang="zh-CN" altLang="en-US"/>
          </a:p>
          <a:p>
            <a:pPr lvl="2">
              <a:buFont typeface="Wingdings" panose="05000000000000000000" pitchFamily="2" charset="2"/>
              <a:buNone/>
            </a:pPr>
            <a:r>
              <a:rPr lang="zh-CN" altLang="en-US"/>
              <a:t>  </a:t>
            </a:r>
            <a:r>
              <a:rPr lang="en-US" altLang="zh-CN"/>
              <a:t>(3)  </a:t>
            </a:r>
            <a:r>
              <a:rPr lang="zh-CN" altLang="en-US"/>
              <a:t>非运算，取反</a:t>
            </a:r>
            <a:endParaRPr lang="zh-CN" altLang="en-US"/>
          </a:p>
          <a:p>
            <a:endParaRPr lang="en-US" altLang="zh-CN"/>
          </a:p>
        </p:txBody>
      </p:sp>
      <p:graphicFrame>
        <p:nvGraphicFramePr>
          <p:cNvPr id="117828" name="Group 68"/>
          <p:cNvGraphicFramePr>
            <a:graphicFrameLocks noGrp="1"/>
          </p:cNvGraphicFramePr>
          <p:nvPr/>
        </p:nvGraphicFramePr>
        <p:xfrm>
          <a:off x="2457451" y="3581401"/>
          <a:ext cx="1676400" cy="1298781"/>
        </p:xfrm>
        <a:graphic>
          <a:graphicData uri="http://schemas.openxmlformats.org/drawingml/2006/table">
            <a:tbl>
              <a:tblPr/>
              <a:tblGrid>
                <a:gridCol w="838200"/>
                <a:gridCol w="838200"/>
              </a:tblGrid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7821" name="Object 61"/>
          <p:cNvGraphicFramePr>
            <a:graphicFrameLocks noChangeAspect="1"/>
          </p:cNvGraphicFramePr>
          <p:nvPr/>
        </p:nvGraphicFramePr>
        <p:xfrm>
          <a:off x="2843820" y="5157192"/>
          <a:ext cx="1152116" cy="5735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6" name="Equation" r:id="rId1" imgW="11277600" imgH="5181600" progId="Equation.DSMT4">
                  <p:embed/>
                </p:oleObj>
              </mc:Choice>
              <mc:Fallback>
                <p:oleObj name="Equation" r:id="rId1" imgW="11277600" imgH="5181600" progId="Equation.DSMT4">
                  <p:embed/>
                  <p:pic>
                    <p:nvPicPr>
                      <p:cNvPr id="0" name="图片 133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20" y="5157192"/>
                        <a:ext cx="1152116" cy="5735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7830" name="Group 70"/>
          <p:cNvGrpSpPr/>
          <p:nvPr/>
        </p:nvGrpSpPr>
        <p:grpSpPr bwMode="auto">
          <a:xfrm>
            <a:off x="4629150" y="3429000"/>
            <a:ext cx="3086100" cy="1295400"/>
            <a:chOff x="3024" y="2400"/>
            <a:chExt cx="2592" cy="816"/>
          </a:xfrm>
        </p:grpSpPr>
        <p:sp>
          <p:nvSpPr>
            <p:cNvPr id="117789" name="Text Box 29"/>
            <p:cNvSpPr txBox="1">
              <a:spLocks noChangeArrowheads="1"/>
            </p:cNvSpPr>
            <p:nvPr/>
          </p:nvSpPr>
          <p:spPr bwMode="auto">
            <a:xfrm>
              <a:off x="5280" y="2688"/>
              <a:ext cx="336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F</a:t>
              </a:r>
              <a:endParaRPr lang="en-US" altLang="zh-CN"/>
            </a:p>
          </p:txBody>
        </p:sp>
        <p:grpSp>
          <p:nvGrpSpPr>
            <p:cNvPr id="117829" name="Group 69"/>
            <p:cNvGrpSpPr/>
            <p:nvPr/>
          </p:nvGrpSpPr>
          <p:grpSpPr bwMode="auto">
            <a:xfrm>
              <a:off x="3024" y="2400"/>
              <a:ext cx="2208" cy="816"/>
              <a:chOff x="3024" y="2400"/>
              <a:chExt cx="2208" cy="816"/>
            </a:xfrm>
          </p:grpSpPr>
          <p:sp>
            <p:nvSpPr>
              <p:cNvPr id="117770" name="Oval 10"/>
              <p:cNvSpPr>
                <a:spLocks noChangeArrowheads="1"/>
              </p:cNvSpPr>
              <p:nvPr/>
            </p:nvSpPr>
            <p:spPr bwMode="auto">
              <a:xfrm>
                <a:off x="4416" y="2880"/>
                <a:ext cx="96" cy="9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7771" name="Oval 11"/>
              <p:cNvSpPr>
                <a:spLocks noChangeArrowheads="1"/>
              </p:cNvSpPr>
              <p:nvPr/>
            </p:nvSpPr>
            <p:spPr bwMode="auto">
              <a:xfrm>
                <a:off x="4416" y="2688"/>
                <a:ext cx="96" cy="9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7772" name="Line 12"/>
              <p:cNvSpPr>
                <a:spLocks noChangeShapeType="1"/>
              </p:cNvSpPr>
              <p:nvPr/>
            </p:nvSpPr>
            <p:spPr bwMode="auto">
              <a:xfrm>
                <a:off x="4512" y="2784"/>
                <a:ext cx="96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117774" name="Group 14"/>
              <p:cNvGrpSpPr/>
              <p:nvPr/>
            </p:nvGrpSpPr>
            <p:grpSpPr bwMode="auto">
              <a:xfrm>
                <a:off x="4992" y="2736"/>
                <a:ext cx="240" cy="240"/>
                <a:chOff x="2832" y="2688"/>
                <a:chExt cx="240" cy="240"/>
              </a:xfrm>
            </p:grpSpPr>
            <p:sp>
              <p:nvSpPr>
                <p:cNvPr id="117775" name="Oval 15"/>
                <p:cNvSpPr>
                  <a:spLocks noChangeArrowheads="1"/>
                </p:cNvSpPr>
                <p:nvPr/>
              </p:nvSpPr>
              <p:spPr bwMode="auto">
                <a:xfrm>
                  <a:off x="2832" y="2688"/>
                  <a:ext cx="240" cy="240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7776" name="Line 16"/>
                <p:cNvSpPr>
                  <a:spLocks noChangeShapeType="1"/>
                </p:cNvSpPr>
                <p:nvPr/>
              </p:nvSpPr>
              <p:spPr bwMode="auto">
                <a:xfrm>
                  <a:off x="2880" y="2736"/>
                  <a:ext cx="144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17777" name="Line 17"/>
                <p:cNvSpPr>
                  <a:spLocks noChangeShapeType="1"/>
                </p:cNvSpPr>
                <p:nvPr/>
              </p:nvSpPr>
              <p:spPr bwMode="auto">
                <a:xfrm flipH="1">
                  <a:off x="2880" y="2736"/>
                  <a:ext cx="144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117778" name="Line 18"/>
              <p:cNvSpPr>
                <a:spLocks noChangeShapeType="1"/>
              </p:cNvSpPr>
              <p:nvPr/>
            </p:nvSpPr>
            <p:spPr bwMode="auto">
              <a:xfrm flipV="1">
                <a:off x="3984" y="2448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7779" name="Line 19"/>
              <p:cNvSpPr>
                <a:spLocks noChangeShapeType="1"/>
              </p:cNvSpPr>
              <p:nvPr/>
            </p:nvSpPr>
            <p:spPr bwMode="auto">
              <a:xfrm>
                <a:off x="5136" y="2448"/>
                <a:ext cx="0" cy="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7780" name="Line 20"/>
              <p:cNvSpPr>
                <a:spLocks noChangeShapeType="1"/>
              </p:cNvSpPr>
              <p:nvPr/>
            </p:nvSpPr>
            <p:spPr bwMode="auto">
              <a:xfrm>
                <a:off x="5136" y="2976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7781" name="Line 21"/>
              <p:cNvSpPr>
                <a:spLocks noChangeShapeType="1"/>
              </p:cNvSpPr>
              <p:nvPr/>
            </p:nvSpPr>
            <p:spPr bwMode="auto">
              <a:xfrm flipH="1">
                <a:off x="3264" y="3216"/>
                <a:ext cx="18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7782" name="Line 22"/>
              <p:cNvSpPr>
                <a:spLocks noChangeShapeType="1"/>
              </p:cNvSpPr>
              <p:nvPr/>
            </p:nvSpPr>
            <p:spPr bwMode="auto">
              <a:xfrm flipV="1">
                <a:off x="3264" y="2880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7783" name="Line 23"/>
              <p:cNvSpPr>
                <a:spLocks noChangeShapeType="1"/>
              </p:cNvSpPr>
              <p:nvPr/>
            </p:nvSpPr>
            <p:spPr bwMode="auto">
              <a:xfrm>
                <a:off x="3264" y="2448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7784" name="Line 24"/>
              <p:cNvSpPr>
                <a:spLocks noChangeShapeType="1"/>
              </p:cNvSpPr>
              <p:nvPr/>
            </p:nvSpPr>
            <p:spPr bwMode="auto">
              <a:xfrm>
                <a:off x="3168" y="2880"/>
                <a:ext cx="19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7785" name="Line 25"/>
              <p:cNvSpPr>
                <a:spLocks noChangeShapeType="1"/>
              </p:cNvSpPr>
              <p:nvPr/>
            </p:nvSpPr>
            <p:spPr bwMode="auto">
              <a:xfrm>
                <a:off x="3024" y="2832"/>
                <a:ext cx="43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7786" name="Line 26"/>
              <p:cNvSpPr>
                <a:spLocks noChangeShapeType="1"/>
              </p:cNvSpPr>
              <p:nvPr/>
            </p:nvSpPr>
            <p:spPr bwMode="auto">
              <a:xfrm>
                <a:off x="3264" y="244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7822" name="Line 62"/>
              <p:cNvSpPr>
                <a:spLocks noChangeShapeType="1"/>
              </p:cNvSpPr>
              <p:nvPr/>
            </p:nvSpPr>
            <p:spPr bwMode="auto">
              <a:xfrm>
                <a:off x="4464" y="2448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7823" name="Line 63"/>
              <p:cNvSpPr>
                <a:spLocks noChangeShapeType="1"/>
              </p:cNvSpPr>
              <p:nvPr/>
            </p:nvSpPr>
            <p:spPr bwMode="auto">
              <a:xfrm>
                <a:off x="4464" y="2976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7824" name="Rectangle 64"/>
              <p:cNvSpPr>
                <a:spLocks noChangeArrowheads="1"/>
              </p:cNvSpPr>
              <p:nvPr/>
            </p:nvSpPr>
            <p:spPr bwMode="auto">
              <a:xfrm>
                <a:off x="3648" y="2400"/>
                <a:ext cx="336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7825" name="Rectangle 65"/>
              <p:cNvSpPr>
                <a:spLocks noChangeArrowheads="1"/>
              </p:cNvSpPr>
              <p:nvPr/>
            </p:nvSpPr>
            <p:spPr bwMode="auto">
              <a:xfrm>
                <a:off x="4133" y="2640"/>
                <a:ext cx="331" cy="3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A</a:t>
                </a:r>
                <a:endParaRPr lang="en-US" altLang="zh-CN" sz="2800"/>
              </a:p>
            </p:txBody>
          </p:sp>
          <p:sp>
            <p:nvSpPr>
              <p:cNvPr id="117826" name="Rectangle 66"/>
              <p:cNvSpPr>
                <a:spLocks noChangeArrowheads="1"/>
              </p:cNvSpPr>
              <p:nvPr/>
            </p:nvSpPr>
            <p:spPr bwMode="auto">
              <a:xfrm>
                <a:off x="3696" y="2544"/>
                <a:ext cx="356" cy="3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R</a:t>
                </a:r>
                <a:endParaRPr lang="en-US" altLang="zh-CN" sz="2800"/>
              </a:p>
            </p:txBody>
          </p:sp>
        </p:grpSp>
      </p:grpSp>
      <p:grpSp>
        <p:nvGrpSpPr>
          <p:cNvPr id="117831" name="Group 71"/>
          <p:cNvGrpSpPr/>
          <p:nvPr/>
        </p:nvGrpSpPr>
        <p:grpSpPr bwMode="auto">
          <a:xfrm>
            <a:off x="5086360" y="5257814"/>
            <a:ext cx="1565672" cy="576263"/>
            <a:chOff x="3878" y="1479"/>
            <a:chExt cx="1315" cy="363"/>
          </a:xfrm>
        </p:grpSpPr>
        <p:sp>
          <p:nvSpPr>
            <p:cNvPr id="117832" name="Rectangle 72"/>
            <p:cNvSpPr>
              <a:spLocks noChangeArrowheads="1"/>
            </p:cNvSpPr>
            <p:nvPr/>
          </p:nvSpPr>
          <p:spPr bwMode="auto">
            <a:xfrm>
              <a:off x="4377" y="1479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7833" name="Oval 73"/>
            <p:cNvSpPr>
              <a:spLocks noChangeArrowheads="1"/>
            </p:cNvSpPr>
            <p:nvPr/>
          </p:nvSpPr>
          <p:spPr bwMode="auto">
            <a:xfrm>
              <a:off x="4603" y="1615"/>
              <a:ext cx="91" cy="9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7834" name="Line 74"/>
            <p:cNvSpPr>
              <a:spLocks noChangeShapeType="1"/>
            </p:cNvSpPr>
            <p:nvPr/>
          </p:nvSpPr>
          <p:spPr bwMode="auto">
            <a:xfrm flipH="1">
              <a:off x="4104" y="1661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35" name="Line 75"/>
            <p:cNvSpPr>
              <a:spLocks noChangeShapeType="1"/>
            </p:cNvSpPr>
            <p:nvPr/>
          </p:nvSpPr>
          <p:spPr bwMode="auto">
            <a:xfrm flipH="1">
              <a:off x="4694" y="1661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36" name="Text Box 76"/>
            <p:cNvSpPr txBox="1">
              <a:spLocks noChangeArrowheads="1"/>
            </p:cNvSpPr>
            <p:nvPr/>
          </p:nvSpPr>
          <p:spPr bwMode="auto">
            <a:xfrm>
              <a:off x="3878" y="1525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A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17837" name="Text Box 77"/>
            <p:cNvSpPr txBox="1">
              <a:spLocks noChangeArrowheads="1"/>
            </p:cNvSpPr>
            <p:nvPr/>
          </p:nvSpPr>
          <p:spPr bwMode="auto">
            <a:xfrm>
              <a:off x="4966" y="1525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F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7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7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7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第二章 逻辑代数（</a:t>
            </a:r>
            <a:r>
              <a:rPr lang="en-US" altLang="zh-CN"/>
              <a:t>9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4351-DC15-4F6F-A2AD-D8F248D50D6E}" type="slidenum">
              <a:rPr lang="en-US" altLang="zh-CN"/>
            </a:fld>
            <a:endParaRPr lang="en-US" altLang="zh-CN"/>
          </a:p>
        </p:txBody>
      </p:sp>
      <p:sp>
        <p:nvSpPr>
          <p:cNvPr id="264196" name="Rectangle 4"/>
          <p:cNvSpPr>
            <a:spLocks noGrp="1" noChangeArrowheads="1"/>
          </p:cNvSpPr>
          <p:nvPr>
            <p:ph sz="quarter" idx="1"/>
          </p:nvPr>
        </p:nvSpPr>
        <p:spPr>
          <a:noFill/>
        </p:spPr>
        <p:txBody>
          <a:bodyPr/>
          <a:lstStyle/>
          <a:p>
            <a:r>
              <a:rPr lang="en-US" altLang="zh-CN"/>
              <a:t>2.1  </a:t>
            </a:r>
            <a:r>
              <a:rPr lang="zh-CN" altLang="en-US"/>
              <a:t>逻辑代数的基本运算与公式</a:t>
            </a:r>
            <a:endParaRPr lang="zh-CN" altLang="en-US"/>
          </a:p>
          <a:p>
            <a:pPr lvl="1"/>
            <a:r>
              <a:rPr lang="zh-CN" altLang="en-US"/>
              <a:t>其他基本的逻辑电路</a:t>
            </a:r>
            <a:endParaRPr lang="zh-CN" altLang="en-US"/>
          </a:p>
          <a:p>
            <a:pPr lvl="2"/>
            <a:r>
              <a:rPr lang="zh-CN" altLang="en-US"/>
              <a:t>“与非”门：实现“与非”运算的电路。</a:t>
            </a:r>
            <a:endParaRPr lang="zh-CN" altLang="en-US"/>
          </a:p>
        </p:txBody>
      </p:sp>
      <p:graphicFrame>
        <p:nvGraphicFramePr>
          <p:cNvPr id="264319" name="Group 127"/>
          <p:cNvGraphicFramePr>
            <a:graphicFrameLocks noGrp="1"/>
          </p:cNvGraphicFramePr>
          <p:nvPr/>
        </p:nvGraphicFramePr>
        <p:xfrm>
          <a:off x="1475656" y="3429001"/>
          <a:ext cx="3953594" cy="2278269"/>
        </p:xfrm>
        <a:graphic>
          <a:graphicData uri="http://schemas.openxmlformats.org/drawingml/2006/table">
            <a:tbl>
              <a:tblPr/>
              <a:tblGrid>
                <a:gridCol w="477158"/>
                <a:gridCol w="545323"/>
                <a:gridCol w="1431474"/>
                <a:gridCol w="1499639"/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F’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AB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64223" name="Object 31"/>
          <p:cNvGraphicFramePr>
            <a:graphicFrameLocks noChangeAspect="1"/>
          </p:cNvGraphicFramePr>
          <p:nvPr/>
        </p:nvGraphicFramePr>
        <p:xfrm>
          <a:off x="5956400" y="3645024"/>
          <a:ext cx="1436797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0" name="Equation" r:id="rId1" imgW="13716000" imgH="5181600" progId="Equation.DSMT4">
                  <p:embed/>
                </p:oleObj>
              </mc:Choice>
              <mc:Fallback>
                <p:oleObj name="Equation" r:id="rId1" imgW="13716000" imgH="5181600" progId="Equation.DSMT4">
                  <p:embed/>
                  <p:pic>
                    <p:nvPicPr>
                      <p:cNvPr id="0" name="图片 144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400" y="3645024"/>
                        <a:ext cx="1436797" cy="5905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4233" name="Group 41"/>
          <p:cNvGrpSpPr/>
          <p:nvPr/>
        </p:nvGrpSpPr>
        <p:grpSpPr bwMode="auto">
          <a:xfrm>
            <a:off x="5886460" y="4724410"/>
            <a:ext cx="2069915" cy="796926"/>
            <a:chOff x="3216" y="2928"/>
            <a:chExt cx="1379" cy="502"/>
          </a:xfrm>
        </p:grpSpPr>
        <p:sp>
          <p:nvSpPr>
            <p:cNvPr id="264225" name="Rectangle 33"/>
            <p:cNvSpPr>
              <a:spLocks noChangeArrowheads="1"/>
            </p:cNvSpPr>
            <p:nvPr/>
          </p:nvSpPr>
          <p:spPr bwMode="auto">
            <a:xfrm>
              <a:off x="3716" y="2989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4226" name="Line 34"/>
            <p:cNvSpPr>
              <a:spLocks noChangeShapeType="1"/>
            </p:cNvSpPr>
            <p:nvPr/>
          </p:nvSpPr>
          <p:spPr bwMode="auto">
            <a:xfrm flipH="1">
              <a:off x="3443" y="3080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227" name="Line 35"/>
            <p:cNvSpPr>
              <a:spLocks noChangeShapeType="1"/>
            </p:cNvSpPr>
            <p:nvPr/>
          </p:nvSpPr>
          <p:spPr bwMode="auto">
            <a:xfrm flipH="1">
              <a:off x="3444" y="3262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228" name="Line 36"/>
            <p:cNvSpPr>
              <a:spLocks noChangeShapeType="1"/>
            </p:cNvSpPr>
            <p:nvPr/>
          </p:nvSpPr>
          <p:spPr bwMode="auto">
            <a:xfrm flipH="1">
              <a:off x="4032" y="3168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229" name="Text Box 37"/>
            <p:cNvSpPr txBox="1">
              <a:spLocks noChangeArrowheads="1"/>
            </p:cNvSpPr>
            <p:nvPr/>
          </p:nvSpPr>
          <p:spPr bwMode="auto">
            <a:xfrm>
              <a:off x="3216" y="3139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B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264230" name="Text Box 38"/>
            <p:cNvSpPr txBox="1">
              <a:spLocks noChangeArrowheads="1"/>
            </p:cNvSpPr>
            <p:nvPr/>
          </p:nvSpPr>
          <p:spPr bwMode="auto">
            <a:xfrm>
              <a:off x="3217" y="2928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A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264231" name="Text Box 39"/>
            <p:cNvSpPr txBox="1">
              <a:spLocks noChangeArrowheads="1"/>
            </p:cNvSpPr>
            <p:nvPr/>
          </p:nvSpPr>
          <p:spPr bwMode="auto">
            <a:xfrm>
              <a:off x="4368" y="3024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F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264232" name="Oval 40"/>
            <p:cNvSpPr>
              <a:spLocks noChangeArrowheads="1"/>
            </p:cNvSpPr>
            <p:nvPr/>
          </p:nvSpPr>
          <p:spPr bwMode="auto">
            <a:xfrm>
              <a:off x="3936" y="3120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4298" name="Group 106"/>
          <p:cNvGrpSpPr/>
          <p:nvPr/>
        </p:nvGrpSpPr>
        <p:grpSpPr bwMode="auto">
          <a:xfrm>
            <a:off x="4211960" y="3429008"/>
            <a:ext cx="1085851" cy="523876"/>
            <a:chOff x="4032" y="1584"/>
            <a:chExt cx="912" cy="330"/>
          </a:xfrm>
        </p:grpSpPr>
        <p:sp>
          <p:nvSpPr>
            <p:cNvPr id="264296" name="Rectangle 104"/>
            <p:cNvSpPr>
              <a:spLocks noChangeArrowheads="1"/>
            </p:cNvSpPr>
            <p:nvPr/>
          </p:nvSpPr>
          <p:spPr bwMode="auto">
            <a:xfrm>
              <a:off x="4032" y="1584"/>
              <a:ext cx="912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dirty="0"/>
                <a:t>F=AB</a:t>
              </a:r>
              <a:endParaRPr lang="en-US" altLang="zh-CN" sz="2800" dirty="0"/>
            </a:p>
          </p:txBody>
        </p:sp>
        <p:sp>
          <p:nvSpPr>
            <p:cNvPr id="264295" name="Line 103"/>
            <p:cNvSpPr>
              <a:spLocks noChangeShapeType="1"/>
            </p:cNvSpPr>
            <p:nvPr/>
          </p:nvSpPr>
          <p:spPr bwMode="auto">
            <a:xfrm>
              <a:off x="4530" y="1632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4318" name="Group 126"/>
          <p:cNvGrpSpPr/>
          <p:nvPr/>
        </p:nvGrpSpPr>
        <p:grpSpPr bwMode="auto">
          <a:xfrm>
            <a:off x="4625589" y="3933056"/>
            <a:ext cx="367904" cy="1819276"/>
            <a:chOff x="2925" y="2532"/>
            <a:chExt cx="309" cy="1146"/>
          </a:xfrm>
        </p:grpSpPr>
        <p:sp>
          <p:nvSpPr>
            <p:cNvPr id="264314" name="Rectangle 122"/>
            <p:cNvSpPr>
              <a:spLocks noChangeArrowheads="1"/>
            </p:cNvSpPr>
            <p:nvPr/>
          </p:nvSpPr>
          <p:spPr bwMode="auto">
            <a:xfrm>
              <a:off x="2928" y="2532"/>
              <a:ext cx="306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dirty="0"/>
                <a:t>1</a:t>
              </a:r>
              <a:endParaRPr lang="en-US" altLang="zh-CN" sz="2800" dirty="0"/>
            </a:p>
          </p:txBody>
        </p:sp>
        <p:sp>
          <p:nvSpPr>
            <p:cNvPr id="264315" name="Rectangle 123"/>
            <p:cNvSpPr>
              <a:spLocks noChangeArrowheads="1"/>
            </p:cNvSpPr>
            <p:nvPr/>
          </p:nvSpPr>
          <p:spPr bwMode="auto">
            <a:xfrm>
              <a:off x="2928" y="2793"/>
              <a:ext cx="306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/>
                <a:t>1</a:t>
              </a:r>
              <a:endParaRPr lang="en-US" altLang="zh-CN" sz="2800"/>
            </a:p>
          </p:txBody>
        </p:sp>
        <p:sp>
          <p:nvSpPr>
            <p:cNvPr id="264316" name="Rectangle 124"/>
            <p:cNvSpPr>
              <a:spLocks noChangeArrowheads="1"/>
            </p:cNvSpPr>
            <p:nvPr/>
          </p:nvSpPr>
          <p:spPr bwMode="auto">
            <a:xfrm>
              <a:off x="2928" y="3072"/>
              <a:ext cx="306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/>
                <a:t>1</a:t>
              </a:r>
              <a:endParaRPr lang="en-US" altLang="zh-CN" sz="2800"/>
            </a:p>
          </p:txBody>
        </p:sp>
        <p:sp>
          <p:nvSpPr>
            <p:cNvPr id="264317" name="Rectangle 125"/>
            <p:cNvSpPr>
              <a:spLocks noChangeArrowheads="1"/>
            </p:cNvSpPr>
            <p:nvPr/>
          </p:nvSpPr>
          <p:spPr bwMode="auto">
            <a:xfrm>
              <a:off x="2925" y="3348"/>
              <a:ext cx="306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/>
                <a:t>0</a:t>
              </a:r>
              <a:endParaRPr lang="en-US" altLang="zh-CN" sz="2800"/>
            </a:p>
          </p:txBody>
        </p:sp>
      </p:grp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4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4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64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4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4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64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第二章 逻辑代数（</a:t>
            </a:r>
            <a:r>
              <a:rPr lang="en-US" altLang="zh-CN"/>
              <a:t>10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5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7379F-E325-4011-B4D1-724939167004}" type="slidenum">
              <a:rPr lang="en-US" altLang="zh-CN"/>
            </a:fld>
            <a:endParaRPr lang="en-US" altLang="zh-CN"/>
          </a:p>
        </p:txBody>
      </p:sp>
      <p:sp>
        <p:nvSpPr>
          <p:cNvPr id="265221" name="Rectangle 5"/>
          <p:cNvSpPr>
            <a:spLocks noGrp="1" noChangeArrowheads="1"/>
          </p:cNvSpPr>
          <p:nvPr>
            <p:ph sz="quarter" idx="1"/>
          </p:nvPr>
        </p:nvSpPr>
        <p:spPr>
          <a:noFill/>
        </p:spPr>
        <p:txBody>
          <a:bodyPr/>
          <a:lstStyle/>
          <a:p>
            <a:r>
              <a:rPr lang="en-US" altLang="zh-CN"/>
              <a:t>2.1  </a:t>
            </a:r>
            <a:r>
              <a:rPr lang="zh-CN" altLang="en-US"/>
              <a:t>逻辑代数的基本运算与公式</a:t>
            </a:r>
            <a:endParaRPr lang="zh-CN" altLang="en-US"/>
          </a:p>
          <a:p>
            <a:pPr lvl="1"/>
            <a:r>
              <a:rPr lang="zh-CN" altLang="en-US"/>
              <a:t>其他基本的逻辑电路</a:t>
            </a:r>
            <a:endParaRPr lang="zh-CN" altLang="en-US"/>
          </a:p>
          <a:p>
            <a:pPr lvl="2"/>
            <a:r>
              <a:rPr lang="zh-CN" altLang="en-US"/>
              <a:t>“或非”门：实现“或非”运算的电路。</a:t>
            </a:r>
            <a:endParaRPr lang="zh-CN" altLang="en-US"/>
          </a:p>
        </p:txBody>
      </p:sp>
      <p:graphicFrame>
        <p:nvGraphicFramePr>
          <p:cNvPr id="265273" name="Group 57"/>
          <p:cNvGraphicFramePr>
            <a:graphicFrameLocks noGrp="1"/>
          </p:cNvGraphicFramePr>
          <p:nvPr/>
        </p:nvGraphicFramePr>
        <p:xfrm>
          <a:off x="827585" y="3429001"/>
          <a:ext cx="4629060" cy="2278269"/>
        </p:xfrm>
        <a:graphic>
          <a:graphicData uri="http://schemas.openxmlformats.org/drawingml/2006/table">
            <a:tbl>
              <a:tblPr/>
              <a:tblGrid>
                <a:gridCol w="558680"/>
                <a:gridCol w="638491"/>
                <a:gridCol w="1915473"/>
                <a:gridCol w="1516416"/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F’</a:t>
                      </a: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65254" name="Object 38"/>
          <p:cNvGraphicFramePr>
            <a:graphicFrameLocks noChangeAspect="1"/>
          </p:cNvGraphicFramePr>
          <p:nvPr/>
        </p:nvGraphicFramePr>
        <p:xfrm>
          <a:off x="5635447" y="3633793"/>
          <a:ext cx="174486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4" name="Equation" r:id="rId1" imgW="18592800" imgH="5181600" progId="Equation.DSMT4">
                  <p:embed/>
                </p:oleObj>
              </mc:Choice>
              <mc:Fallback>
                <p:oleObj name="Equation" r:id="rId1" imgW="18592800" imgH="5181600" progId="Equation.DSMT4">
                  <p:embed/>
                  <p:pic>
                    <p:nvPicPr>
                      <p:cNvPr id="0" name="图片 154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5447" y="3633793"/>
                        <a:ext cx="1744865" cy="5143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5274" name="Group 58"/>
          <p:cNvGrpSpPr/>
          <p:nvPr/>
        </p:nvGrpSpPr>
        <p:grpSpPr bwMode="auto">
          <a:xfrm>
            <a:off x="4012417" y="3443285"/>
            <a:ext cx="1444228" cy="523874"/>
            <a:chOff x="3936" y="1440"/>
            <a:chExt cx="1213" cy="330"/>
          </a:xfrm>
        </p:grpSpPr>
        <p:sp>
          <p:nvSpPr>
            <p:cNvPr id="265265" name="Rectangle 49"/>
            <p:cNvSpPr>
              <a:spLocks noChangeArrowheads="1"/>
            </p:cNvSpPr>
            <p:nvPr/>
          </p:nvSpPr>
          <p:spPr bwMode="auto">
            <a:xfrm>
              <a:off x="3936" y="1440"/>
              <a:ext cx="1213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/>
                <a:t>F=A</a:t>
              </a:r>
              <a:r>
                <a:rPr lang="zh-CN" altLang="en-US" sz="2800"/>
                <a:t>＋</a:t>
              </a:r>
              <a:r>
                <a:rPr lang="en-US" altLang="zh-CN" sz="2800"/>
                <a:t>B</a:t>
              </a:r>
              <a:endParaRPr lang="en-US" altLang="zh-CN" sz="2800"/>
            </a:p>
          </p:txBody>
        </p:sp>
        <p:sp>
          <p:nvSpPr>
            <p:cNvPr id="265266" name="Line 50"/>
            <p:cNvSpPr>
              <a:spLocks noChangeShapeType="1"/>
            </p:cNvSpPr>
            <p:nvPr/>
          </p:nvSpPr>
          <p:spPr bwMode="auto">
            <a:xfrm flipV="1">
              <a:off x="4332" y="1485"/>
              <a:ext cx="739" cy="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5275" name="Group 59"/>
          <p:cNvGrpSpPr/>
          <p:nvPr/>
        </p:nvGrpSpPr>
        <p:grpSpPr bwMode="auto">
          <a:xfrm>
            <a:off x="4408542" y="3886206"/>
            <a:ext cx="364332" cy="1833563"/>
            <a:chOff x="4464" y="768"/>
            <a:chExt cx="306" cy="1155"/>
          </a:xfrm>
        </p:grpSpPr>
        <p:sp>
          <p:nvSpPr>
            <p:cNvPr id="265268" name="Rectangle 52"/>
            <p:cNvSpPr>
              <a:spLocks noChangeArrowheads="1"/>
            </p:cNvSpPr>
            <p:nvPr/>
          </p:nvSpPr>
          <p:spPr bwMode="auto">
            <a:xfrm>
              <a:off x="4464" y="768"/>
              <a:ext cx="306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/>
                <a:t>1</a:t>
              </a:r>
              <a:endParaRPr lang="en-US" altLang="zh-CN" sz="2800"/>
            </a:p>
          </p:txBody>
        </p:sp>
        <p:sp>
          <p:nvSpPr>
            <p:cNvPr id="265269" name="Rectangle 53"/>
            <p:cNvSpPr>
              <a:spLocks noChangeArrowheads="1"/>
            </p:cNvSpPr>
            <p:nvPr/>
          </p:nvSpPr>
          <p:spPr bwMode="auto">
            <a:xfrm>
              <a:off x="4464" y="1065"/>
              <a:ext cx="306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/>
                <a:t>0</a:t>
              </a:r>
              <a:endParaRPr lang="en-US" altLang="zh-CN" sz="2800"/>
            </a:p>
          </p:txBody>
        </p:sp>
        <p:sp>
          <p:nvSpPr>
            <p:cNvPr id="265270" name="Rectangle 54"/>
            <p:cNvSpPr>
              <a:spLocks noChangeArrowheads="1"/>
            </p:cNvSpPr>
            <p:nvPr/>
          </p:nvSpPr>
          <p:spPr bwMode="auto">
            <a:xfrm>
              <a:off x="4464" y="1332"/>
              <a:ext cx="306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/>
                <a:t>0</a:t>
              </a:r>
              <a:endParaRPr lang="en-US" altLang="zh-CN" sz="2800"/>
            </a:p>
          </p:txBody>
        </p:sp>
        <p:sp>
          <p:nvSpPr>
            <p:cNvPr id="265271" name="Rectangle 55"/>
            <p:cNvSpPr>
              <a:spLocks noChangeArrowheads="1"/>
            </p:cNvSpPr>
            <p:nvPr/>
          </p:nvSpPr>
          <p:spPr bwMode="auto">
            <a:xfrm>
              <a:off x="4464" y="1593"/>
              <a:ext cx="306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/>
                <a:t>0</a:t>
              </a:r>
              <a:endParaRPr lang="en-US" altLang="zh-CN" sz="2800"/>
            </a:p>
          </p:txBody>
        </p:sp>
      </p:grpSp>
      <p:grpSp>
        <p:nvGrpSpPr>
          <p:cNvPr id="265277" name="Group 61"/>
          <p:cNvGrpSpPr/>
          <p:nvPr/>
        </p:nvGrpSpPr>
        <p:grpSpPr bwMode="auto">
          <a:xfrm>
            <a:off x="5543560" y="4724410"/>
            <a:ext cx="2412816" cy="796926"/>
            <a:chOff x="3696" y="2976"/>
            <a:chExt cx="1379" cy="502"/>
          </a:xfrm>
        </p:grpSpPr>
        <p:grpSp>
          <p:nvGrpSpPr>
            <p:cNvPr id="265255" name="Group 39"/>
            <p:cNvGrpSpPr/>
            <p:nvPr/>
          </p:nvGrpSpPr>
          <p:grpSpPr bwMode="auto">
            <a:xfrm>
              <a:off x="3696" y="2976"/>
              <a:ext cx="1379" cy="502"/>
              <a:chOff x="3216" y="2928"/>
              <a:chExt cx="1379" cy="502"/>
            </a:xfrm>
          </p:grpSpPr>
          <p:sp>
            <p:nvSpPr>
              <p:cNvPr id="265256" name="Rectangle 40"/>
              <p:cNvSpPr>
                <a:spLocks noChangeArrowheads="1"/>
              </p:cNvSpPr>
              <p:nvPr/>
            </p:nvSpPr>
            <p:spPr bwMode="auto">
              <a:xfrm>
                <a:off x="3716" y="2989"/>
                <a:ext cx="226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5257" name="Line 41"/>
              <p:cNvSpPr>
                <a:spLocks noChangeShapeType="1"/>
              </p:cNvSpPr>
              <p:nvPr/>
            </p:nvSpPr>
            <p:spPr bwMode="auto">
              <a:xfrm flipH="1">
                <a:off x="3443" y="3080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5258" name="Line 42"/>
              <p:cNvSpPr>
                <a:spLocks noChangeShapeType="1"/>
              </p:cNvSpPr>
              <p:nvPr/>
            </p:nvSpPr>
            <p:spPr bwMode="auto">
              <a:xfrm flipH="1">
                <a:off x="3444" y="3262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5259" name="Line 43"/>
              <p:cNvSpPr>
                <a:spLocks noChangeShapeType="1"/>
              </p:cNvSpPr>
              <p:nvPr/>
            </p:nvSpPr>
            <p:spPr bwMode="auto">
              <a:xfrm flipH="1">
                <a:off x="4032" y="3168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5260" name="Text Box 44"/>
              <p:cNvSpPr txBox="1">
                <a:spLocks noChangeArrowheads="1"/>
              </p:cNvSpPr>
              <p:nvPr/>
            </p:nvSpPr>
            <p:spPr bwMode="auto">
              <a:xfrm>
                <a:off x="3216" y="3139"/>
                <a:ext cx="227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B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65261" name="Text Box 45"/>
              <p:cNvSpPr txBox="1">
                <a:spLocks noChangeArrowheads="1"/>
              </p:cNvSpPr>
              <p:nvPr/>
            </p:nvSpPr>
            <p:spPr bwMode="auto">
              <a:xfrm>
                <a:off x="3217" y="2928"/>
                <a:ext cx="227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A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65262" name="Text Box 46"/>
              <p:cNvSpPr txBox="1">
                <a:spLocks noChangeArrowheads="1"/>
              </p:cNvSpPr>
              <p:nvPr/>
            </p:nvSpPr>
            <p:spPr bwMode="auto">
              <a:xfrm>
                <a:off x="4368" y="3024"/>
                <a:ext cx="227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F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65263" name="Oval 47"/>
              <p:cNvSpPr>
                <a:spLocks noChangeArrowheads="1"/>
              </p:cNvSpPr>
              <p:nvPr/>
            </p:nvSpPr>
            <p:spPr bwMode="auto">
              <a:xfrm>
                <a:off x="3936" y="3120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65276" name="Text Box 60"/>
            <p:cNvSpPr txBox="1">
              <a:spLocks noChangeArrowheads="1"/>
            </p:cNvSpPr>
            <p:nvPr/>
          </p:nvSpPr>
          <p:spPr bwMode="auto">
            <a:xfrm>
              <a:off x="4224" y="3072"/>
              <a:ext cx="336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+</a:t>
              </a:r>
              <a:endParaRPr lang="en-US" altLang="zh-CN" dirty="0"/>
            </a:p>
          </p:txBody>
        </p:sp>
      </p:grp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5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5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5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5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65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65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第二章 逻辑代数（</a:t>
            </a:r>
            <a:r>
              <a:rPr lang="en-US" altLang="zh-CN"/>
              <a:t>11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5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70008-FB00-4FBE-AFDF-FEEA633C6E2C}" type="slidenum">
              <a:rPr lang="en-US" altLang="zh-CN"/>
            </a:fld>
            <a:endParaRPr lang="en-US" altLang="zh-CN"/>
          </a:p>
        </p:txBody>
      </p:sp>
      <p:sp>
        <p:nvSpPr>
          <p:cNvPr id="266244" name="Rectangle 4"/>
          <p:cNvSpPr>
            <a:spLocks noGrp="1" noChangeArrowheads="1"/>
          </p:cNvSpPr>
          <p:nvPr>
            <p:ph sz="quarter" idx="1"/>
          </p:nvPr>
        </p:nvSpPr>
        <p:spPr>
          <a:noFill/>
        </p:spPr>
        <p:txBody>
          <a:bodyPr/>
          <a:lstStyle/>
          <a:p>
            <a:r>
              <a:rPr lang="en-US" altLang="zh-CN"/>
              <a:t>2.1  </a:t>
            </a:r>
            <a:r>
              <a:rPr lang="zh-CN" altLang="en-US"/>
              <a:t>逻辑代数的基本运算与公式</a:t>
            </a:r>
            <a:endParaRPr lang="zh-CN" altLang="en-US"/>
          </a:p>
          <a:p>
            <a:pPr lvl="1"/>
            <a:r>
              <a:rPr lang="zh-CN" altLang="en-US"/>
              <a:t>其他基本的逻辑电路</a:t>
            </a:r>
            <a:endParaRPr lang="zh-CN" altLang="en-US"/>
          </a:p>
          <a:p>
            <a:pPr lvl="2"/>
            <a:r>
              <a:rPr lang="zh-CN" altLang="en-US"/>
              <a:t>“与或非”门：实现“与或非”运算的电路。</a:t>
            </a:r>
            <a:endParaRPr lang="zh-CN" altLang="en-US"/>
          </a:p>
        </p:txBody>
      </p:sp>
      <p:graphicFrame>
        <p:nvGraphicFramePr>
          <p:cNvPr id="266277" name="Object 37"/>
          <p:cNvGraphicFramePr>
            <a:graphicFrameLocks noChangeAspect="1"/>
          </p:cNvGraphicFramePr>
          <p:nvPr/>
        </p:nvGraphicFramePr>
        <p:xfrm>
          <a:off x="2556413" y="3501008"/>
          <a:ext cx="2031066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8" name="Equation" r:id="rId1" imgW="22250400" imgH="5181600" progId="Equation.DSMT4">
                  <p:embed/>
                </p:oleObj>
              </mc:Choice>
              <mc:Fallback>
                <p:oleObj name="Equation" r:id="rId1" imgW="22250400" imgH="5181600" progId="Equation.DSMT4">
                  <p:embed/>
                  <p:pic>
                    <p:nvPicPr>
                      <p:cNvPr id="0" name="图片 164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6413" y="3501008"/>
                        <a:ext cx="2031066" cy="5040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6318" name="Group 78"/>
          <p:cNvGrpSpPr/>
          <p:nvPr/>
        </p:nvGrpSpPr>
        <p:grpSpPr bwMode="auto">
          <a:xfrm>
            <a:off x="3886211" y="4910137"/>
            <a:ext cx="1046560" cy="576262"/>
            <a:chOff x="2544" y="3093"/>
            <a:chExt cx="879" cy="363"/>
          </a:xfrm>
        </p:grpSpPr>
        <p:sp>
          <p:nvSpPr>
            <p:cNvPr id="266279" name="Rectangle 39"/>
            <p:cNvSpPr>
              <a:spLocks noChangeArrowheads="1"/>
            </p:cNvSpPr>
            <p:nvPr/>
          </p:nvSpPr>
          <p:spPr bwMode="auto">
            <a:xfrm>
              <a:off x="2544" y="3093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282" name="Line 42"/>
            <p:cNvSpPr>
              <a:spLocks noChangeShapeType="1"/>
            </p:cNvSpPr>
            <p:nvPr/>
          </p:nvSpPr>
          <p:spPr bwMode="auto">
            <a:xfrm flipH="1">
              <a:off x="2860" y="3272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285" name="Text Box 45"/>
            <p:cNvSpPr txBox="1">
              <a:spLocks noChangeArrowheads="1"/>
            </p:cNvSpPr>
            <p:nvPr/>
          </p:nvSpPr>
          <p:spPr bwMode="auto">
            <a:xfrm>
              <a:off x="3196" y="3128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F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266286" name="Oval 46"/>
            <p:cNvSpPr>
              <a:spLocks noChangeArrowheads="1"/>
            </p:cNvSpPr>
            <p:nvPr/>
          </p:nvSpPr>
          <p:spPr bwMode="auto">
            <a:xfrm>
              <a:off x="2764" y="322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6315" name="Group 75"/>
          <p:cNvGrpSpPr/>
          <p:nvPr/>
        </p:nvGrpSpPr>
        <p:grpSpPr bwMode="auto">
          <a:xfrm>
            <a:off x="1771650" y="4267210"/>
            <a:ext cx="1190625" cy="796926"/>
            <a:chOff x="768" y="2688"/>
            <a:chExt cx="1000" cy="502"/>
          </a:xfrm>
        </p:grpSpPr>
        <p:sp>
          <p:nvSpPr>
            <p:cNvPr id="266288" name="Rectangle 48"/>
            <p:cNvSpPr>
              <a:spLocks noChangeArrowheads="1"/>
            </p:cNvSpPr>
            <p:nvPr/>
          </p:nvSpPr>
          <p:spPr bwMode="auto">
            <a:xfrm>
              <a:off x="1268" y="2749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289" name="Line 49"/>
            <p:cNvSpPr>
              <a:spLocks noChangeShapeType="1"/>
            </p:cNvSpPr>
            <p:nvPr/>
          </p:nvSpPr>
          <p:spPr bwMode="auto">
            <a:xfrm flipH="1">
              <a:off x="995" y="2840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290" name="Line 50"/>
            <p:cNvSpPr>
              <a:spLocks noChangeShapeType="1"/>
            </p:cNvSpPr>
            <p:nvPr/>
          </p:nvSpPr>
          <p:spPr bwMode="auto">
            <a:xfrm flipH="1">
              <a:off x="996" y="3022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291" name="Line 51"/>
            <p:cNvSpPr>
              <a:spLocks noChangeShapeType="1"/>
            </p:cNvSpPr>
            <p:nvPr/>
          </p:nvSpPr>
          <p:spPr bwMode="auto">
            <a:xfrm flipH="1">
              <a:off x="1495" y="2931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292" name="Text Box 52"/>
            <p:cNvSpPr txBox="1">
              <a:spLocks noChangeArrowheads="1"/>
            </p:cNvSpPr>
            <p:nvPr/>
          </p:nvSpPr>
          <p:spPr bwMode="auto">
            <a:xfrm>
              <a:off x="768" y="2899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B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266293" name="Text Box 53"/>
            <p:cNvSpPr txBox="1">
              <a:spLocks noChangeArrowheads="1"/>
            </p:cNvSpPr>
            <p:nvPr/>
          </p:nvSpPr>
          <p:spPr bwMode="auto">
            <a:xfrm>
              <a:off x="769" y="2688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A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266316" name="Group 76"/>
          <p:cNvGrpSpPr/>
          <p:nvPr/>
        </p:nvGrpSpPr>
        <p:grpSpPr bwMode="auto">
          <a:xfrm>
            <a:off x="1771660" y="5257810"/>
            <a:ext cx="1189435" cy="796926"/>
            <a:chOff x="768" y="3312"/>
            <a:chExt cx="999" cy="502"/>
          </a:xfrm>
        </p:grpSpPr>
        <p:sp>
          <p:nvSpPr>
            <p:cNvPr id="266296" name="Rectangle 56"/>
            <p:cNvSpPr>
              <a:spLocks noChangeArrowheads="1"/>
            </p:cNvSpPr>
            <p:nvPr/>
          </p:nvSpPr>
          <p:spPr bwMode="auto">
            <a:xfrm>
              <a:off x="1267" y="3386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297" name="Line 57"/>
            <p:cNvSpPr>
              <a:spLocks noChangeShapeType="1"/>
            </p:cNvSpPr>
            <p:nvPr/>
          </p:nvSpPr>
          <p:spPr bwMode="auto">
            <a:xfrm flipH="1">
              <a:off x="995" y="3477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298" name="Line 58"/>
            <p:cNvSpPr>
              <a:spLocks noChangeShapeType="1"/>
            </p:cNvSpPr>
            <p:nvPr/>
          </p:nvSpPr>
          <p:spPr bwMode="auto">
            <a:xfrm flipH="1">
              <a:off x="996" y="3659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299" name="Line 59"/>
            <p:cNvSpPr>
              <a:spLocks noChangeShapeType="1"/>
            </p:cNvSpPr>
            <p:nvPr/>
          </p:nvSpPr>
          <p:spPr bwMode="auto">
            <a:xfrm flipH="1">
              <a:off x="1494" y="3568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00" name="Text Box 60"/>
            <p:cNvSpPr txBox="1">
              <a:spLocks noChangeArrowheads="1"/>
            </p:cNvSpPr>
            <p:nvPr/>
          </p:nvSpPr>
          <p:spPr bwMode="auto">
            <a:xfrm>
              <a:off x="768" y="3523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D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266301" name="Text Box 61"/>
            <p:cNvSpPr txBox="1">
              <a:spLocks noChangeArrowheads="1"/>
            </p:cNvSpPr>
            <p:nvPr/>
          </p:nvSpPr>
          <p:spPr bwMode="auto">
            <a:xfrm>
              <a:off x="769" y="3312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C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266317" name="Group 77"/>
          <p:cNvGrpSpPr/>
          <p:nvPr/>
        </p:nvGrpSpPr>
        <p:grpSpPr bwMode="auto">
          <a:xfrm>
            <a:off x="2971800" y="4648200"/>
            <a:ext cx="919163" cy="990600"/>
            <a:chOff x="1776" y="2928"/>
            <a:chExt cx="772" cy="624"/>
          </a:xfrm>
        </p:grpSpPr>
        <p:sp>
          <p:nvSpPr>
            <p:cNvPr id="266305" name="Rectangle 65"/>
            <p:cNvSpPr>
              <a:spLocks noChangeArrowheads="1"/>
            </p:cNvSpPr>
            <p:nvPr/>
          </p:nvSpPr>
          <p:spPr bwMode="auto">
            <a:xfrm>
              <a:off x="2048" y="3093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306" name="Line 66"/>
            <p:cNvSpPr>
              <a:spLocks noChangeShapeType="1"/>
            </p:cNvSpPr>
            <p:nvPr/>
          </p:nvSpPr>
          <p:spPr bwMode="auto">
            <a:xfrm flipH="1">
              <a:off x="1776" y="3184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07" name="Line 67"/>
            <p:cNvSpPr>
              <a:spLocks noChangeShapeType="1"/>
            </p:cNvSpPr>
            <p:nvPr/>
          </p:nvSpPr>
          <p:spPr bwMode="auto">
            <a:xfrm flipH="1">
              <a:off x="1777" y="3366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08" name="Line 68"/>
            <p:cNvSpPr>
              <a:spLocks noChangeShapeType="1"/>
            </p:cNvSpPr>
            <p:nvPr/>
          </p:nvSpPr>
          <p:spPr bwMode="auto">
            <a:xfrm flipH="1">
              <a:off x="2275" y="3275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12" name="Text Box 72"/>
            <p:cNvSpPr txBox="1">
              <a:spLocks noChangeArrowheads="1"/>
            </p:cNvSpPr>
            <p:nvPr/>
          </p:nvSpPr>
          <p:spPr bwMode="auto">
            <a:xfrm>
              <a:off x="2048" y="3139"/>
              <a:ext cx="227" cy="25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000">
                  <a:latin typeface="Tahoma" panose="020B0604030504040204" pitchFamily="34" charset="0"/>
                </a:rPr>
                <a:t>+</a:t>
              </a:r>
              <a:endParaRPr kumimoji="0" lang="en-US" altLang="zh-CN" sz="2000">
                <a:latin typeface="Tahoma" panose="020B0604030504040204" pitchFamily="34" charset="0"/>
              </a:endParaRPr>
            </a:p>
          </p:txBody>
        </p:sp>
        <p:sp>
          <p:nvSpPr>
            <p:cNvPr id="266313" name="Line 73"/>
            <p:cNvSpPr>
              <a:spLocks noChangeShapeType="1"/>
            </p:cNvSpPr>
            <p:nvPr/>
          </p:nvSpPr>
          <p:spPr bwMode="auto">
            <a:xfrm>
              <a:off x="1776" y="29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14" name="Line 74"/>
            <p:cNvSpPr>
              <a:spLocks noChangeShapeType="1"/>
            </p:cNvSpPr>
            <p:nvPr/>
          </p:nvSpPr>
          <p:spPr bwMode="auto">
            <a:xfrm>
              <a:off x="1776" y="336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6337" name="Group 97"/>
          <p:cNvGrpSpPr/>
          <p:nvPr/>
        </p:nvGrpSpPr>
        <p:grpSpPr bwMode="auto">
          <a:xfrm>
            <a:off x="5600700" y="4343407"/>
            <a:ext cx="2427684" cy="1528763"/>
            <a:chOff x="3648" y="2592"/>
            <a:chExt cx="1490" cy="963"/>
          </a:xfrm>
        </p:grpSpPr>
        <p:sp>
          <p:nvSpPr>
            <p:cNvPr id="266320" name="Rectangle 80"/>
            <p:cNvSpPr>
              <a:spLocks noChangeArrowheads="1"/>
            </p:cNvSpPr>
            <p:nvPr/>
          </p:nvSpPr>
          <p:spPr bwMode="auto">
            <a:xfrm>
              <a:off x="4128" y="2688"/>
              <a:ext cx="144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321" name="Line 81"/>
            <p:cNvSpPr>
              <a:spLocks noChangeShapeType="1"/>
            </p:cNvSpPr>
            <p:nvPr/>
          </p:nvSpPr>
          <p:spPr bwMode="auto">
            <a:xfrm flipH="1">
              <a:off x="3888" y="278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22" name="Line 82"/>
            <p:cNvSpPr>
              <a:spLocks noChangeShapeType="1"/>
            </p:cNvSpPr>
            <p:nvPr/>
          </p:nvSpPr>
          <p:spPr bwMode="auto">
            <a:xfrm flipH="1" flipV="1">
              <a:off x="3888" y="297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23" name="Line 83"/>
            <p:cNvSpPr>
              <a:spLocks noChangeShapeType="1"/>
            </p:cNvSpPr>
            <p:nvPr/>
          </p:nvSpPr>
          <p:spPr bwMode="auto">
            <a:xfrm flipH="1">
              <a:off x="4512" y="3072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24" name="Text Box 84"/>
            <p:cNvSpPr txBox="1">
              <a:spLocks noChangeArrowheads="1"/>
            </p:cNvSpPr>
            <p:nvPr/>
          </p:nvSpPr>
          <p:spPr bwMode="auto">
            <a:xfrm>
              <a:off x="3648" y="2832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B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266325" name="Text Box 85"/>
            <p:cNvSpPr txBox="1">
              <a:spLocks noChangeArrowheads="1"/>
            </p:cNvSpPr>
            <p:nvPr/>
          </p:nvSpPr>
          <p:spPr bwMode="auto">
            <a:xfrm>
              <a:off x="3649" y="2592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A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266327" name="Rectangle 87"/>
            <p:cNvSpPr>
              <a:spLocks noChangeArrowheads="1"/>
            </p:cNvSpPr>
            <p:nvPr/>
          </p:nvSpPr>
          <p:spPr bwMode="auto">
            <a:xfrm>
              <a:off x="4128" y="3072"/>
              <a:ext cx="144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328" name="Line 88"/>
            <p:cNvSpPr>
              <a:spLocks noChangeShapeType="1"/>
            </p:cNvSpPr>
            <p:nvPr/>
          </p:nvSpPr>
          <p:spPr bwMode="auto">
            <a:xfrm flipH="1">
              <a:off x="3888" y="316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29" name="Line 89"/>
            <p:cNvSpPr>
              <a:spLocks noChangeShapeType="1"/>
            </p:cNvSpPr>
            <p:nvPr/>
          </p:nvSpPr>
          <p:spPr bwMode="auto">
            <a:xfrm flipH="1">
              <a:off x="3888" y="336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31" name="Text Box 91"/>
            <p:cNvSpPr txBox="1">
              <a:spLocks noChangeArrowheads="1"/>
            </p:cNvSpPr>
            <p:nvPr/>
          </p:nvSpPr>
          <p:spPr bwMode="auto">
            <a:xfrm>
              <a:off x="3648" y="3264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D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266332" name="Text Box 92"/>
            <p:cNvSpPr txBox="1">
              <a:spLocks noChangeArrowheads="1"/>
            </p:cNvSpPr>
            <p:nvPr/>
          </p:nvSpPr>
          <p:spPr bwMode="auto">
            <a:xfrm>
              <a:off x="3649" y="3024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C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266333" name="Rectangle 93"/>
            <p:cNvSpPr>
              <a:spLocks noChangeArrowheads="1"/>
            </p:cNvSpPr>
            <p:nvPr/>
          </p:nvSpPr>
          <p:spPr bwMode="auto">
            <a:xfrm>
              <a:off x="4272" y="2688"/>
              <a:ext cx="144" cy="7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334" name="Text Box 94"/>
            <p:cNvSpPr txBox="1">
              <a:spLocks noChangeArrowheads="1"/>
            </p:cNvSpPr>
            <p:nvPr/>
          </p:nvSpPr>
          <p:spPr bwMode="auto">
            <a:xfrm>
              <a:off x="4224" y="2928"/>
              <a:ext cx="240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+</a:t>
              </a:r>
              <a:endParaRPr lang="en-US" altLang="zh-CN"/>
            </a:p>
          </p:txBody>
        </p:sp>
        <p:sp>
          <p:nvSpPr>
            <p:cNvPr id="266335" name="Oval 95"/>
            <p:cNvSpPr>
              <a:spLocks noChangeArrowheads="1"/>
            </p:cNvSpPr>
            <p:nvPr/>
          </p:nvSpPr>
          <p:spPr bwMode="auto">
            <a:xfrm>
              <a:off x="4416" y="302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336" name="Rectangle 96"/>
            <p:cNvSpPr>
              <a:spLocks noChangeArrowheads="1"/>
            </p:cNvSpPr>
            <p:nvPr/>
          </p:nvSpPr>
          <p:spPr bwMode="auto">
            <a:xfrm>
              <a:off x="4848" y="2928"/>
              <a:ext cx="290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kumimoji="0" lang="en-US" altLang="zh-CN">
                  <a:latin typeface="Tahoma" panose="020B0604030504040204" pitchFamily="34" charset="0"/>
                </a:rPr>
                <a:t>F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sp>
        <p:nvSpPr>
          <p:cNvPr id="266338" name="Rectangle 98"/>
          <p:cNvSpPr>
            <a:spLocks noChangeArrowheads="1"/>
          </p:cNvSpPr>
          <p:nvPr/>
        </p:nvSpPr>
        <p:spPr bwMode="auto">
          <a:xfrm>
            <a:off x="5514976" y="5973778"/>
            <a:ext cx="2419252" cy="584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3200"/>
              <a:t>“</a:t>
            </a:r>
            <a:r>
              <a:rPr lang="zh-CN" altLang="en-US" sz="3200"/>
              <a:t>与或非”门</a:t>
            </a:r>
            <a:endParaRPr lang="zh-CN" altLang="en-US" sz="3200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6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6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66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66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66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66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6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6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38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第二章 逻辑代数（</a:t>
            </a:r>
            <a:r>
              <a:rPr lang="en-US" altLang="zh-CN"/>
              <a:t>12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4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2E51-0BB8-488D-A820-D0870B83DC5D}" type="slidenum">
              <a:rPr lang="en-US" altLang="zh-CN"/>
            </a:fld>
            <a:endParaRPr lang="en-US" altLang="zh-CN"/>
          </a:p>
        </p:txBody>
      </p:sp>
      <p:sp>
        <p:nvSpPr>
          <p:cNvPr id="2672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12460" cy="4607024"/>
          </a:xfrm>
          <a:noFill/>
        </p:spPr>
        <p:txBody>
          <a:bodyPr/>
          <a:lstStyle/>
          <a:p>
            <a:r>
              <a:rPr lang="en-US" altLang="zh-CN" dirty="0"/>
              <a:t>2.1  </a:t>
            </a:r>
            <a:r>
              <a:rPr lang="zh-CN" altLang="en-US" dirty="0"/>
              <a:t>逻辑代数的基本运算与公式</a:t>
            </a:r>
            <a:endParaRPr lang="zh-CN" altLang="en-US" dirty="0"/>
          </a:p>
          <a:p>
            <a:pPr lvl="1"/>
            <a:r>
              <a:rPr lang="zh-CN" altLang="en-US" dirty="0"/>
              <a:t>其他基本的逻辑电路</a:t>
            </a:r>
            <a:endParaRPr lang="zh-CN" altLang="en-US" dirty="0"/>
          </a:p>
          <a:p>
            <a:pPr lvl="2"/>
            <a:r>
              <a:rPr lang="zh-CN" altLang="en-US" dirty="0"/>
              <a:t>“异或”门：实现“异或”运算的电路。</a:t>
            </a:r>
            <a:endParaRPr lang="zh-CN" altLang="en-US" dirty="0"/>
          </a:p>
        </p:txBody>
      </p:sp>
      <p:graphicFrame>
        <p:nvGraphicFramePr>
          <p:cNvPr id="267268" name="Object 4"/>
          <p:cNvGraphicFramePr>
            <a:graphicFrameLocks noChangeAspect="1"/>
          </p:cNvGraphicFramePr>
          <p:nvPr/>
        </p:nvGraphicFramePr>
        <p:xfrm>
          <a:off x="2051720" y="3284984"/>
          <a:ext cx="1872208" cy="4467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4" name="Equation" r:id="rId1" imgW="19202400" imgH="4267200" progId="Equation.DSMT4">
                  <p:embed/>
                </p:oleObj>
              </mc:Choice>
              <mc:Fallback>
                <p:oleObj name="Equation" r:id="rId1" imgW="19202400" imgH="4267200" progId="Equation.DSMT4">
                  <p:embed/>
                  <p:pic>
                    <p:nvPicPr>
                      <p:cNvPr id="0" name="图片 175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3284984"/>
                        <a:ext cx="1872208" cy="4467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312" name="Rectangle 48"/>
          <p:cNvSpPr>
            <a:spLocks noChangeArrowheads="1"/>
          </p:cNvSpPr>
          <p:nvPr/>
        </p:nvSpPr>
        <p:spPr bwMode="auto">
          <a:xfrm>
            <a:off x="5486411" y="5715014"/>
            <a:ext cx="2008883" cy="584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3200"/>
              <a:t>“</a:t>
            </a:r>
            <a:r>
              <a:rPr lang="zh-CN" altLang="en-US" sz="3200"/>
              <a:t>异或”门</a:t>
            </a:r>
            <a:endParaRPr lang="zh-CN" altLang="en-US" sz="3200"/>
          </a:p>
        </p:txBody>
      </p:sp>
      <p:graphicFrame>
        <p:nvGraphicFramePr>
          <p:cNvPr id="267313" name="Object 49"/>
          <p:cNvGraphicFramePr>
            <a:graphicFrameLocks noChangeAspect="1"/>
          </p:cNvGraphicFramePr>
          <p:nvPr/>
        </p:nvGraphicFramePr>
        <p:xfrm>
          <a:off x="4031950" y="3212976"/>
          <a:ext cx="2098830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5" name="Equation" r:id="rId3" imgW="18592800" imgH="5181600" progId="Equation.DSMT4">
                  <p:embed/>
                </p:oleObj>
              </mc:Choice>
              <mc:Fallback>
                <p:oleObj name="Equation" r:id="rId3" imgW="18592800" imgH="5181600" progId="Equation.DSMT4">
                  <p:embed/>
                  <p:pic>
                    <p:nvPicPr>
                      <p:cNvPr id="0" name="图片 175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1950" y="3212976"/>
                        <a:ext cx="2098830" cy="5040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314" name="Group 50"/>
          <p:cNvGraphicFramePr>
            <a:graphicFrameLocks noGrp="1"/>
          </p:cNvGraphicFramePr>
          <p:nvPr/>
        </p:nvGraphicFramePr>
        <p:xfrm>
          <a:off x="1885951" y="4265614"/>
          <a:ext cx="2514600" cy="2164635"/>
        </p:xfrm>
        <a:graphic>
          <a:graphicData uri="http://schemas.openxmlformats.org/drawingml/2006/table">
            <a:tbl>
              <a:tblPr/>
              <a:tblGrid>
                <a:gridCol w="838200"/>
                <a:gridCol w="819150"/>
                <a:gridCol w="857250"/>
              </a:tblGrid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67343" name="Group 79"/>
          <p:cNvGrpSpPr/>
          <p:nvPr/>
        </p:nvGrpSpPr>
        <p:grpSpPr bwMode="auto">
          <a:xfrm>
            <a:off x="5257800" y="4800608"/>
            <a:ext cx="3058615" cy="982663"/>
            <a:chOff x="3456" y="3024"/>
            <a:chExt cx="1920" cy="619"/>
          </a:xfrm>
        </p:grpSpPr>
        <p:sp>
          <p:nvSpPr>
            <p:cNvPr id="267270" name="Rectangle 6"/>
            <p:cNvSpPr>
              <a:spLocks noChangeArrowheads="1"/>
            </p:cNvSpPr>
            <p:nvPr/>
          </p:nvSpPr>
          <p:spPr bwMode="auto">
            <a:xfrm>
              <a:off x="4004" y="3085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271" name="Line 7"/>
            <p:cNvSpPr>
              <a:spLocks noChangeShapeType="1"/>
            </p:cNvSpPr>
            <p:nvPr/>
          </p:nvSpPr>
          <p:spPr bwMode="auto">
            <a:xfrm flipH="1">
              <a:off x="4224" y="3264"/>
              <a:ext cx="27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272" name="Text Box 8"/>
            <p:cNvSpPr txBox="1">
              <a:spLocks noChangeArrowheads="1"/>
            </p:cNvSpPr>
            <p:nvPr/>
          </p:nvSpPr>
          <p:spPr bwMode="auto">
            <a:xfrm>
              <a:off x="4560" y="3120"/>
              <a:ext cx="816" cy="52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anose="020B0604030504040204" pitchFamily="34" charset="0"/>
                </a:rPr>
                <a:t>F=A</a:t>
              </a:r>
              <a:r>
                <a:rPr kumimoji="0" lang="en-US" altLang="zh-CN" dirty="0">
                  <a:latin typeface="Tahoma" panose="020B0604030504040204" pitchFamily="34" charset="0"/>
                  <a:sym typeface="Symbol" panose="05050102010706020507" pitchFamily="18" charset="2"/>
                </a:rPr>
                <a:t></a:t>
              </a:r>
              <a:r>
                <a:rPr kumimoji="0" lang="en-US" altLang="zh-CN" dirty="0">
                  <a:latin typeface="Tahoma" panose="020B0604030504040204" pitchFamily="34" charset="0"/>
                </a:rPr>
                <a:t>B</a:t>
              </a:r>
              <a:endParaRPr kumimoji="0" lang="en-US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267290" name="Line 26"/>
            <p:cNvSpPr>
              <a:spLocks noChangeShapeType="1"/>
            </p:cNvSpPr>
            <p:nvPr/>
          </p:nvSpPr>
          <p:spPr bwMode="auto">
            <a:xfrm flipH="1">
              <a:off x="3731" y="3176"/>
              <a:ext cx="27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291" name="Line 27"/>
            <p:cNvSpPr>
              <a:spLocks noChangeShapeType="1"/>
            </p:cNvSpPr>
            <p:nvPr/>
          </p:nvSpPr>
          <p:spPr bwMode="auto">
            <a:xfrm flipH="1">
              <a:off x="3732" y="3358"/>
              <a:ext cx="27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293" name="Text Box 29"/>
            <p:cNvSpPr txBox="1">
              <a:spLocks noChangeArrowheads="1"/>
            </p:cNvSpPr>
            <p:nvPr/>
          </p:nvSpPr>
          <p:spPr bwMode="auto">
            <a:xfrm>
              <a:off x="4019" y="3150"/>
              <a:ext cx="240" cy="25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000">
                  <a:latin typeface="Tahoma" panose="020B0604030504040204" pitchFamily="34" charset="0"/>
                  <a:sym typeface="Symbol" panose="05050102010706020507" pitchFamily="18" charset="2"/>
                </a:rPr>
                <a:t></a:t>
              </a:r>
              <a:endParaRPr kumimoji="0" lang="en-US" altLang="zh-CN" sz="2000">
                <a:latin typeface="Tahoma" panose="020B0604030504040204" pitchFamily="34" charset="0"/>
              </a:endParaRPr>
            </a:p>
          </p:txBody>
        </p:sp>
        <p:sp>
          <p:nvSpPr>
            <p:cNvPr id="267340" name="Text Box 76"/>
            <p:cNvSpPr txBox="1">
              <a:spLocks noChangeArrowheads="1"/>
            </p:cNvSpPr>
            <p:nvPr/>
          </p:nvSpPr>
          <p:spPr bwMode="auto">
            <a:xfrm>
              <a:off x="3456" y="3024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A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267341" name="Text Box 77"/>
            <p:cNvSpPr txBox="1">
              <a:spLocks noChangeArrowheads="1"/>
            </p:cNvSpPr>
            <p:nvPr/>
          </p:nvSpPr>
          <p:spPr bwMode="auto">
            <a:xfrm>
              <a:off x="3456" y="3264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B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7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7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7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7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67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7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7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312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第二章 逻辑代数（</a:t>
            </a:r>
            <a:r>
              <a:rPr lang="en-US" altLang="zh-CN"/>
              <a:t>13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4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32EAF-662F-425C-A059-AC3E1C25561E}" type="slidenum">
              <a:rPr lang="en-US" altLang="zh-CN"/>
            </a:fld>
            <a:endParaRPr lang="en-US" altLang="zh-CN"/>
          </a:p>
        </p:txBody>
      </p:sp>
      <p:sp>
        <p:nvSpPr>
          <p:cNvPr id="2693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84468" cy="4607024"/>
          </a:xfrm>
          <a:noFill/>
        </p:spPr>
        <p:txBody>
          <a:bodyPr/>
          <a:lstStyle/>
          <a:p>
            <a:r>
              <a:rPr lang="en-US" altLang="zh-CN" dirty="0"/>
              <a:t>2.1  </a:t>
            </a:r>
            <a:r>
              <a:rPr lang="zh-CN" altLang="en-US" dirty="0"/>
              <a:t>逻辑代数的基本运算与公式</a:t>
            </a:r>
            <a:endParaRPr lang="zh-CN" altLang="en-US" dirty="0"/>
          </a:p>
          <a:p>
            <a:pPr lvl="1"/>
            <a:r>
              <a:rPr lang="zh-CN" altLang="en-US" dirty="0"/>
              <a:t>其他基本的逻辑电路</a:t>
            </a:r>
            <a:endParaRPr lang="zh-CN" altLang="en-US" dirty="0"/>
          </a:p>
          <a:p>
            <a:pPr lvl="2"/>
            <a:r>
              <a:rPr lang="zh-CN" altLang="en-US" dirty="0"/>
              <a:t>“同或”门</a:t>
            </a:r>
            <a:r>
              <a:rPr lang="en-US" altLang="zh-CN" dirty="0"/>
              <a:t>(“</a:t>
            </a:r>
            <a:r>
              <a:rPr lang="zh-CN" altLang="en-US" dirty="0"/>
              <a:t>异或非”门</a:t>
            </a:r>
            <a:r>
              <a:rPr lang="en-US" altLang="zh-CN" dirty="0"/>
              <a:t>)</a:t>
            </a:r>
            <a:r>
              <a:rPr lang="zh-CN" altLang="en-US" dirty="0"/>
              <a:t>：实现“同或”运算的电路。</a:t>
            </a:r>
            <a:endParaRPr lang="zh-CN" altLang="en-US" dirty="0"/>
          </a:p>
        </p:txBody>
      </p:sp>
      <p:graphicFrame>
        <p:nvGraphicFramePr>
          <p:cNvPr id="269316" name="Object 4"/>
          <p:cNvGraphicFramePr>
            <a:graphicFrameLocks noChangeAspect="1"/>
          </p:cNvGraphicFramePr>
          <p:nvPr/>
        </p:nvGraphicFramePr>
        <p:xfrm>
          <a:off x="3293858" y="3140968"/>
          <a:ext cx="2070230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06" name="Equation" r:id="rId1" imgW="19202400" imgH="5486400" progId="Equation.DSMT4">
                  <p:embed/>
                </p:oleObj>
              </mc:Choice>
              <mc:Fallback>
                <p:oleObj name="Equation" r:id="rId1" imgW="19202400" imgH="5486400" progId="Equation.DSMT4">
                  <p:embed/>
                  <p:pic>
                    <p:nvPicPr>
                      <p:cNvPr id="0" name="图片 186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3858" y="3140968"/>
                        <a:ext cx="2070230" cy="6480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317" name="Rectangle 5"/>
          <p:cNvSpPr>
            <a:spLocks noChangeArrowheads="1"/>
          </p:cNvSpPr>
          <p:nvPr/>
        </p:nvSpPr>
        <p:spPr bwMode="auto">
          <a:xfrm>
            <a:off x="5486411" y="5715014"/>
            <a:ext cx="2008883" cy="584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3200"/>
              <a:t>“</a:t>
            </a:r>
            <a:r>
              <a:rPr lang="zh-CN" altLang="en-US" sz="3200"/>
              <a:t>同或”门</a:t>
            </a:r>
            <a:endParaRPr lang="zh-CN" altLang="en-US" sz="3200"/>
          </a:p>
        </p:txBody>
      </p:sp>
      <p:graphicFrame>
        <p:nvGraphicFramePr>
          <p:cNvPr id="269318" name="Object 6"/>
          <p:cNvGraphicFramePr>
            <a:graphicFrameLocks noChangeAspect="1"/>
          </p:cNvGraphicFramePr>
          <p:nvPr/>
        </p:nvGraphicFramePr>
        <p:xfrm>
          <a:off x="5616320" y="3140968"/>
          <a:ext cx="2268048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07" name="Equation" r:id="rId3" imgW="18592800" imgH="5181600" progId="Equation.DSMT4">
                  <p:embed/>
                </p:oleObj>
              </mc:Choice>
              <mc:Fallback>
                <p:oleObj name="Equation" r:id="rId3" imgW="18592800" imgH="5181600" progId="Equation.DSMT4">
                  <p:embed/>
                  <p:pic>
                    <p:nvPicPr>
                      <p:cNvPr id="0" name="图片 186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6320" y="3140968"/>
                        <a:ext cx="2268048" cy="5760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57" name="Group 45"/>
          <p:cNvGraphicFramePr>
            <a:graphicFrameLocks noGrp="1"/>
          </p:cNvGraphicFramePr>
          <p:nvPr/>
        </p:nvGraphicFramePr>
        <p:xfrm>
          <a:off x="1187624" y="4265614"/>
          <a:ext cx="3212927" cy="2164635"/>
        </p:xfrm>
        <a:graphic>
          <a:graphicData uri="http://schemas.openxmlformats.org/drawingml/2006/table">
            <a:tbl>
              <a:tblPr/>
              <a:tblGrid>
                <a:gridCol w="1070976"/>
                <a:gridCol w="1046635"/>
                <a:gridCol w="1095316"/>
              </a:tblGrid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69356" name="Group 44"/>
          <p:cNvGrpSpPr/>
          <p:nvPr/>
        </p:nvGrpSpPr>
        <p:grpSpPr bwMode="auto">
          <a:xfrm>
            <a:off x="4788024" y="4800608"/>
            <a:ext cx="3634680" cy="982663"/>
            <a:chOff x="3456" y="3024"/>
            <a:chExt cx="2016" cy="619"/>
          </a:xfrm>
        </p:grpSpPr>
        <p:sp>
          <p:nvSpPr>
            <p:cNvPr id="269346" name="Rectangle 34"/>
            <p:cNvSpPr>
              <a:spLocks noChangeArrowheads="1"/>
            </p:cNvSpPr>
            <p:nvPr/>
          </p:nvSpPr>
          <p:spPr bwMode="auto">
            <a:xfrm>
              <a:off x="4004" y="3085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9347" name="Line 35"/>
            <p:cNvSpPr>
              <a:spLocks noChangeShapeType="1"/>
            </p:cNvSpPr>
            <p:nvPr/>
          </p:nvSpPr>
          <p:spPr bwMode="auto">
            <a:xfrm flipH="1">
              <a:off x="4320" y="3264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9348" name="Text Box 36"/>
            <p:cNvSpPr txBox="1">
              <a:spLocks noChangeArrowheads="1"/>
            </p:cNvSpPr>
            <p:nvPr/>
          </p:nvSpPr>
          <p:spPr bwMode="auto">
            <a:xfrm>
              <a:off x="4560" y="3120"/>
              <a:ext cx="912" cy="52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anose="020B0604030504040204" pitchFamily="34" charset="0"/>
                </a:rPr>
                <a:t>F=A </a:t>
              </a:r>
              <a:r>
                <a:rPr kumimoji="0" lang="en-US" altLang="zh-CN" dirty="0">
                  <a:latin typeface="Tahoma" panose="020B0604030504040204" pitchFamily="34" charset="0"/>
                  <a:sym typeface="Symbol" panose="05050102010706020507" pitchFamily="18" charset="2"/>
                </a:rPr>
                <a:t></a:t>
              </a:r>
              <a:r>
                <a:rPr kumimoji="0" lang="en-US" altLang="zh-CN" sz="2000" dirty="0">
                  <a:latin typeface="Tahoma" panose="020B0604030504040204" pitchFamily="34" charset="0"/>
                  <a:sym typeface="Symbol" panose="05050102010706020507" pitchFamily="18" charset="2"/>
                </a:rPr>
                <a:t> </a:t>
              </a:r>
              <a:r>
                <a:rPr kumimoji="0" lang="en-US" altLang="zh-CN" dirty="0">
                  <a:latin typeface="Tahoma" panose="020B0604030504040204" pitchFamily="34" charset="0"/>
                  <a:sym typeface="Symbol" panose="05050102010706020507" pitchFamily="18" charset="2"/>
                </a:rPr>
                <a:t>B</a:t>
              </a:r>
              <a:endParaRPr kumimoji="0" lang="en-US" altLang="zh-CN" dirty="0">
                <a:latin typeface="Tahoma" panose="020B060403050404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269349" name="Line 37"/>
            <p:cNvSpPr>
              <a:spLocks noChangeShapeType="1"/>
            </p:cNvSpPr>
            <p:nvPr/>
          </p:nvSpPr>
          <p:spPr bwMode="auto">
            <a:xfrm flipH="1">
              <a:off x="3731" y="3176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9350" name="Line 38"/>
            <p:cNvSpPr>
              <a:spLocks noChangeShapeType="1"/>
            </p:cNvSpPr>
            <p:nvPr/>
          </p:nvSpPr>
          <p:spPr bwMode="auto">
            <a:xfrm flipH="1">
              <a:off x="3732" y="3358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9351" name="Text Box 39"/>
            <p:cNvSpPr txBox="1">
              <a:spLocks noChangeArrowheads="1"/>
            </p:cNvSpPr>
            <p:nvPr/>
          </p:nvSpPr>
          <p:spPr bwMode="auto">
            <a:xfrm>
              <a:off x="4019" y="3150"/>
              <a:ext cx="240" cy="25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000" dirty="0">
                  <a:latin typeface="Tahoma" panose="020B0604030504040204" pitchFamily="34" charset="0"/>
                  <a:sym typeface="Symbol" panose="05050102010706020507" pitchFamily="18" charset="2"/>
                </a:rPr>
                <a:t></a:t>
              </a:r>
              <a:endParaRPr kumimoji="0" lang="en-US" altLang="zh-CN" sz="2000" dirty="0">
                <a:latin typeface="Tahoma" panose="020B0604030504040204" pitchFamily="34" charset="0"/>
              </a:endParaRPr>
            </a:p>
          </p:txBody>
        </p:sp>
        <p:sp>
          <p:nvSpPr>
            <p:cNvPr id="269352" name="Text Box 40"/>
            <p:cNvSpPr txBox="1">
              <a:spLocks noChangeArrowheads="1"/>
            </p:cNvSpPr>
            <p:nvPr/>
          </p:nvSpPr>
          <p:spPr bwMode="auto">
            <a:xfrm>
              <a:off x="3456" y="3024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A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269353" name="Text Box 41"/>
            <p:cNvSpPr txBox="1">
              <a:spLocks noChangeArrowheads="1"/>
            </p:cNvSpPr>
            <p:nvPr/>
          </p:nvSpPr>
          <p:spPr bwMode="auto">
            <a:xfrm>
              <a:off x="3456" y="3264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B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269354" name="Line 42"/>
            <p:cNvSpPr>
              <a:spLocks noChangeShapeType="1"/>
            </p:cNvSpPr>
            <p:nvPr/>
          </p:nvSpPr>
          <p:spPr bwMode="auto">
            <a:xfrm>
              <a:off x="4774" y="3120"/>
              <a:ext cx="4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9355" name="Oval 43"/>
            <p:cNvSpPr>
              <a:spLocks noChangeArrowheads="1"/>
            </p:cNvSpPr>
            <p:nvPr/>
          </p:nvSpPr>
          <p:spPr bwMode="auto">
            <a:xfrm>
              <a:off x="4224" y="3216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9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9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9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9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69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9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9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17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第二章 逻辑代数（</a:t>
            </a:r>
            <a:r>
              <a:rPr lang="en-US" altLang="zh-CN"/>
              <a:t>14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5E2-CB68-42E6-A5AF-574D39E186A5}" type="slidenum">
              <a:rPr lang="en-US" altLang="zh-CN" smtClean="0"/>
            </a:fld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/>
              <a:t>常用逻辑门符号</a:t>
            </a:r>
            <a:endParaRPr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755577" y="2092472"/>
          <a:ext cx="7938305" cy="4504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7661"/>
                <a:gridCol w="1587661"/>
                <a:gridCol w="1587661"/>
                <a:gridCol w="1587661"/>
                <a:gridCol w="1587661"/>
              </a:tblGrid>
              <a:tr h="11262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</a:rPr>
                        <a:t>符号名称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>
                          <a:effectLst/>
                        </a:rPr>
                        <a:t>国标符号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</a:rPr>
                        <a:t>常用符号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>
                          <a:effectLst/>
                        </a:rPr>
                        <a:t>国际流行符号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>
                          <a:effectLst/>
                        </a:rPr>
                        <a:t>IEEE</a:t>
                      </a:r>
                      <a:r>
                        <a:rPr lang="zh-CN" sz="2400" kern="0">
                          <a:effectLst/>
                        </a:rPr>
                        <a:t>逻辑符号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262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</a:rPr>
                        <a:t>与门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262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>
                          <a:effectLst/>
                        </a:rPr>
                        <a:t>或门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262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</a:rPr>
                        <a:t>非门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77538" name="Picture 34" descr="http://col.njtu.edu.cn/jingpinke/szlj/shuziwangluo/fulu/images/fuhao1.gif"/>
          <p:cNvPicPr>
            <a:picLocks noChangeAspect="1" noChangeArrowheads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3435313"/>
            <a:ext cx="1489826" cy="713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537" name="Picture 33" descr="http://col.njtu.edu.cn/jingpinke/szlj/shuziwangluo/fulu/images/fuhao2.gif"/>
          <p:cNvPicPr>
            <a:picLocks noChangeAspect="1" noChangeArrowheads="1"/>
          </p:cNvPicPr>
          <p:nvPr/>
        </p:nvPicPr>
        <p:blipFill>
          <a:blip r:embed="rId3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3449191"/>
            <a:ext cx="1460860" cy="699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536" name="Picture 32" descr="http://col.njtu.edu.cn/jingpinke/szlj/shuziwangluo/fulu/images/fuhao3.gif"/>
          <p:cNvPicPr>
            <a:picLocks noChangeAspect="1" noChangeArrowheads="1"/>
          </p:cNvPicPr>
          <p:nvPr/>
        </p:nvPicPr>
        <p:blipFill>
          <a:blip r:embed="rId4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1420" y="3573030"/>
            <a:ext cx="1460860" cy="49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535" name="Picture 31" descr="http://col.njtu.edu.cn/jingpinke/szlj/shuziwangluo/fulu/images/fuhao4.gif"/>
          <p:cNvPicPr>
            <a:picLocks noChangeAspect="1" noChangeArrowheads="1"/>
          </p:cNvPicPr>
          <p:nvPr/>
        </p:nvPicPr>
        <p:blipFill>
          <a:blip r:embed="rId5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98" y="3435072"/>
            <a:ext cx="1492029" cy="714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534" name="Picture 30" descr="http://col.njtu.edu.cn/jingpinke/szlj/shuziwangluo/fulu/images/fuhao5.gif"/>
          <p:cNvPicPr>
            <a:picLocks noChangeAspect="1" noChangeArrowheads="1"/>
          </p:cNvPicPr>
          <p:nvPr/>
        </p:nvPicPr>
        <p:blipFill>
          <a:blip r:embed="rId6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4581142"/>
            <a:ext cx="1489826" cy="713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533" name="Picture 29" descr="http://col.njtu.edu.cn/jingpinke/szlj/shuziwangluo/fulu/images/fuhao6.gif"/>
          <p:cNvPicPr>
            <a:picLocks noChangeAspect="1" noChangeArrowheads="1"/>
          </p:cNvPicPr>
          <p:nvPr/>
        </p:nvPicPr>
        <p:blipFill>
          <a:blip r:embed="rId7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4200" y="4594602"/>
            <a:ext cx="1533904" cy="706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532" name="Picture 28" descr="http://col.njtu.edu.cn/jingpinke/szlj/shuziwangluo/fulu/images/fuhao7.gif"/>
          <p:cNvPicPr>
            <a:picLocks noChangeAspect="1" noChangeArrowheads="1"/>
          </p:cNvPicPr>
          <p:nvPr/>
        </p:nvPicPr>
        <p:blipFill>
          <a:blip r:embed="rId8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1420" y="4628090"/>
            <a:ext cx="1460860" cy="601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531" name="Picture 27" descr="http://col.njtu.edu.cn/jingpinke/szlj/shuziwangluo/fulu/images/fuhao8.gif"/>
          <p:cNvPicPr>
            <a:picLocks noChangeAspect="1" noChangeArrowheads="1"/>
          </p:cNvPicPr>
          <p:nvPr/>
        </p:nvPicPr>
        <p:blipFill>
          <a:blip r:embed="rId9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4577548"/>
            <a:ext cx="1512168" cy="723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530" name="Picture 26" descr="http://col.njtu.edu.cn/jingpinke/szlj/shuziwangluo/fulu/images/fuhao9.gif"/>
          <p:cNvPicPr>
            <a:picLocks noChangeAspect="1" noChangeArrowheads="1"/>
          </p:cNvPicPr>
          <p:nvPr/>
        </p:nvPicPr>
        <p:blipFill>
          <a:blip r:embed="rId10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913" y="5517232"/>
            <a:ext cx="1033824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529" name="Picture 25" descr="http://col.njtu.edu.cn/jingpinke/szlj/shuziwangluo/fulu/images/fuhao10.gif"/>
          <p:cNvPicPr>
            <a:picLocks noChangeAspect="1" noChangeArrowheads="1"/>
          </p:cNvPicPr>
          <p:nvPr/>
        </p:nvPicPr>
        <p:blipFill>
          <a:blip r:embed="rId1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5204" y="6093296"/>
            <a:ext cx="1033824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528" name="Picture 24" descr="http://col.njtu.edu.cn/jingpinke/szlj/shuziwangluo/fulu/images/fuhao11.gif"/>
          <p:cNvPicPr>
            <a:picLocks noChangeAspect="1" noChangeArrowheads="1"/>
          </p:cNvPicPr>
          <p:nvPr/>
        </p:nvPicPr>
        <p:blipFill>
          <a:blip r:embed="rId12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234" y="5517232"/>
            <a:ext cx="1033824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527" name="Picture 23" descr="http://col.njtu.edu.cn/jingpinke/szlj/shuziwangluo/fulu/images/fuhao12.gif"/>
          <p:cNvPicPr>
            <a:picLocks noChangeAspect="1" noChangeArrowheads="1"/>
          </p:cNvPicPr>
          <p:nvPr/>
        </p:nvPicPr>
        <p:blipFill>
          <a:blip r:embed="rId13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6217" y="6093296"/>
            <a:ext cx="1043487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526" name="Picture 22" descr="http://col.njtu.edu.cn/jingpinke/szlj/shuziwangluo/fulu/images/fuhao13.gif"/>
          <p:cNvPicPr>
            <a:picLocks noChangeAspect="1" noChangeArrowheads="1"/>
          </p:cNvPicPr>
          <p:nvPr/>
        </p:nvPicPr>
        <p:blipFill>
          <a:blip r:embed="rId14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8865" y="5545807"/>
            <a:ext cx="1053149" cy="43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525" name="Picture 21" descr="http://col.njtu.edu.cn/jingpinke/szlj/shuziwangluo/fulu/images/fuhao14.gif"/>
          <p:cNvPicPr>
            <a:picLocks noChangeAspect="1" noChangeArrowheads="1"/>
          </p:cNvPicPr>
          <p:nvPr/>
        </p:nvPicPr>
        <p:blipFill>
          <a:blip r:embed="rId15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7444" y="6121872"/>
            <a:ext cx="1053149" cy="43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524" name="Picture 20" descr="http://col.njtu.edu.cn/jingpinke/szlj/shuziwangluo/fulu/images/fuhao11.gif"/>
          <p:cNvPicPr>
            <a:picLocks noChangeAspect="1" noChangeArrowheads="1"/>
          </p:cNvPicPr>
          <p:nvPr/>
        </p:nvPicPr>
        <p:blipFill>
          <a:blip r:embed="rId12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025" y="5517232"/>
            <a:ext cx="1033824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523" name="Picture 19" descr="http://col.njtu.edu.cn/jingpinke/szlj/shuziwangluo/fulu/images/fuhao12.gif"/>
          <p:cNvPicPr>
            <a:picLocks noChangeAspect="1" noChangeArrowheads="1"/>
          </p:cNvPicPr>
          <p:nvPr/>
        </p:nvPicPr>
        <p:blipFill>
          <a:blip r:embed="rId13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6305" y="6093296"/>
            <a:ext cx="1043487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椭圆 5"/>
          <p:cNvSpPr/>
          <p:nvPr/>
        </p:nvSpPr>
        <p:spPr>
          <a:xfrm>
            <a:off x="4599024" y="4802645"/>
            <a:ext cx="189000" cy="252000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+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901586" y="1988840"/>
            <a:ext cx="1653189" cy="4678660"/>
          </a:xfrm>
          <a:custGeom>
            <a:avLst/>
            <a:gdLst>
              <a:gd name="connsiteX0" fmla="*/ 0 w 1653189"/>
              <a:gd name="connsiteY0" fmla="*/ 0 h 4678660"/>
              <a:gd name="connsiteX1" fmla="*/ 551063 w 1653189"/>
              <a:gd name="connsiteY1" fmla="*/ 0 h 4678660"/>
              <a:gd name="connsiteX2" fmla="*/ 1118658 w 1653189"/>
              <a:gd name="connsiteY2" fmla="*/ 0 h 4678660"/>
              <a:gd name="connsiteX3" fmla="*/ 1653189 w 1653189"/>
              <a:gd name="connsiteY3" fmla="*/ 0 h 4678660"/>
              <a:gd name="connsiteX4" fmla="*/ 1653189 w 1653189"/>
              <a:gd name="connsiteY4" fmla="*/ 538046 h 4678660"/>
              <a:gd name="connsiteX5" fmla="*/ 1653189 w 1653189"/>
              <a:gd name="connsiteY5" fmla="*/ 1122878 h 4678660"/>
              <a:gd name="connsiteX6" fmla="*/ 1653189 w 1653189"/>
              <a:gd name="connsiteY6" fmla="*/ 1660924 h 4678660"/>
              <a:gd name="connsiteX7" fmla="*/ 1653189 w 1653189"/>
              <a:gd name="connsiteY7" fmla="*/ 2292543 h 4678660"/>
              <a:gd name="connsiteX8" fmla="*/ 1653189 w 1653189"/>
              <a:gd name="connsiteY8" fmla="*/ 2924163 h 4678660"/>
              <a:gd name="connsiteX9" fmla="*/ 1653189 w 1653189"/>
              <a:gd name="connsiteY9" fmla="*/ 3508995 h 4678660"/>
              <a:gd name="connsiteX10" fmla="*/ 1653189 w 1653189"/>
              <a:gd name="connsiteY10" fmla="*/ 3953468 h 4678660"/>
              <a:gd name="connsiteX11" fmla="*/ 1653189 w 1653189"/>
              <a:gd name="connsiteY11" fmla="*/ 4678660 h 4678660"/>
              <a:gd name="connsiteX12" fmla="*/ 1069062 w 1653189"/>
              <a:gd name="connsiteY12" fmla="*/ 4678660 h 4678660"/>
              <a:gd name="connsiteX13" fmla="*/ 567595 w 1653189"/>
              <a:gd name="connsiteY13" fmla="*/ 4678660 h 4678660"/>
              <a:gd name="connsiteX14" fmla="*/ 0 w 1653189"/>
              <a:gd name="connsiteY14" fmla="*/ 4678660 h 4678660"/>
              <a:gd name="connsiteX15" fmla="*/ 0 w 1653189"/>
              <a:gd name="connsiteY15" fmla="*/ 4140614 h 4678660"/>
              <a:gd name="connsiteX16" fmla="*/ 0 w 1653189"/>
              <a:gd name="connsiteY16" fmla="*/ 3555782 h 4678660"/>
              <a:gd name="connsiteX17" fmla="*/ 0 w 1653189"/>
              <a:gd name="connsiteY17" fmla="*/ 2877376 h 4678660"/>
              <a:gd name="connsiteX18" fmla="*/ 0 w 1653189"/>
              <a:gd name="connsiteY18" fmla="*/ 2245757 h 4678660"/>
              <a:gd name="connsiteX19" fmla="*/ 0 w 1653189"/>
              <a:gd name="connsiteY19" fmla="*/ 1801284 h 4678660"/>
              <a:gd name="connsiteX20" fmla="*/ 0 w 1653189"/>
              <a:gd name="connsiteY20" fmla="*/ 1356811 h 4678660"/>
              <a:gd name="connsiteX21" fmla="*/ 0 w 1653189"/>
              <a:gd name="connsiteY21" fmla="*/ 771979 h 4678660"/>
              <a:gd name="connsiteX22" fmla="*/ 0 w 1653189"/>
              <a:gd name="connsiteY22" fmla="*/ 0 h 4678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53189" h="4678660" extrusionOk="0">
                <a:moveTo>
                  <a:pt x="0" y="0"/>
                </a:moveTo>
                <a:cubicBezTo>
                  <a:pt x="116256" y="-50477"/>
                  <a:pt x="306385" y="11644"/>
                  <a:pt x="551063" y="0"/>
                </a:cubicBezTo>
                <a:cubicBezTo>
                  <a:pt x="795741" y="-11644"/>
                  <a:pt x="898351" y="37782"/>
                  <a:pt x="1118658" y="0"/>
                </a:cubicBezTo>
                <a:cubicBezTo>
                  <a:pt x="1338966" y="-37782"/>
                  <a:pt x="1477881" y="17135"/>
                  <a:pt x="1653189" y="0"/>
                </a:cubicBezTo>
                <a:cubicBezTo>
                  <a:pt x="1687449" y="158223"/>
                  <a:pt x="1642236" y="272547"/>
                  <a:pt x="1653189" y="538046"/>
                </a:cubicBezTo>
                <a:cubicBezTo>
                  <a:pt x="1664142" y="803545"/>
                  <a:pt x="1624221" y="860038"/>
                  <a:pt x="1653189" y="1122878"/>
                </a:cubicBezTo>
                <a:cubicBezTo>
                  <a:pt x="1682157" y="1385718"/>
                  <a:pt x="1607031" y="1449148"/>
                  <a:pt x="1653189" y="1660924"/>
                </a:cubicBezTo>
                <a:cubicBezTo>
                  <a:pt x="1699347" y="1872700"/>
                  <a:pt x="1593204" y="2100296"/>
                  <a:pt x="1653189" y="2292543"/>
                </a:cubicBezTo>
                <a:cubicBezTo>
                  <a:pt x="1713174" y="2484790"/>
                  <a:pt x="1650227" y="2793041"/>
                  <a:pt x="1653189" y="2924163"/>
                </a:cubicBezTo>
                <a:cubicBezTo>
                  <a:pt x="1656151" y="3055285"/>
                  <a:pt x="1608985" y="3292505"/>
                  <a:pt x="1653189" y="3508995"/>
                </a:cubicBezTo>
                <a:cubicBezTo>
                  <a:pt x="1697393" y="3725485"/>
                  <a:pt x="1609515" y="3859322"/>
                  <a:pt x="1653189" y="3953468"/>
                </a:cubicBezTo>
                <a:cubicBezTo>
                  <a:pt x="1696863" y="4047614"/>
                  <a:pt x="1650816" y="4338430"/>
                  <a:pt x="1653189" y="4678660"/>
                </a:cubicBezTo>
                <a:cubicBezTo>
                  <a:pt x="1398386" y="4732482"/>
                  <a:pt x="1199953" y="4625625"/>
                  <a:pt x="1069062" y="4678660"/>
                </a:cubicBezTo>
                <a:cubicBezTo>
                  <a:pt x="938171" y="4731695"/>
                  <a:pt x="805500" y="4653530"/>
                  <a:pt x="567595" y="4678660"/>
                </a:cubicBezTo>
                <a:cubicBezTo>
                  <a:pt x="329690" y="4703790"/>
                  <a:pt x="146004" y="4674984"/>
                  <a:pt x="0" y="4678660"/>
                </a:cubicBezTo>
                <a:cubicBezTo>
                  <a:pt x="-27077" y="4501347"/>
                  <a:pt x="39231" y="4299951"/>
                  <a:pt x="0" y="4140614"/>
                </a:cubicBezTo>
                <a:cubicBezTo>
                  <a:pt x="-39231" y="3981277"/>
                  <a:pt x="21032" y="3804533"/>
                  <a:pt x="0" y="3555782"/>
                </a:cubicBezTo>
                <a:cubicBezTo>
                  <a:pt x="-21032" y="3307031"/>
                  <a:pt x="69602" y="3207826"/>
                  <a:pt x="0" y="2877376"/>
                </a:cubicBezTo>
                <a:cubicBezTo>
                  <a:pt x="-69602" y="2546926"/>
                  <a:pt x="5079" y="2507257"/>
                  <a:pt x="0" y="2245757"/>
                </a:cubicBezTo>
                <a:cubicBezTo>
                  <a:pt x="-5079" y="1984257"/>
                  <a:pt x="19295" y="1990215"/>
                  <a:pt x="0" y="1801284"/>
                </a:cubicBezTo>
                <a:cubicBezTo>
                  <a:pt x="-19295" y="1612353"/>
                  <a:pt x="4688" y="1536600"/>
                  <a:pt x="0" y="1356811"/>
                </a:cubicBezTo>
                <a:cubicBezTo>
                  <a:pt x="-4688" y="1177022"/>
                  <a:pt x="68061" y="1032938"/>
                  <a:pt x="0" y="771979"/>
                </a:cubicBezTo>
                <a:cubicBezTo>
                  <a:pt x="-68061" y="511020"/>
                  <a:pt x="23917" y="162631"/>
                  <a:pt x="0" y="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ll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755576" y="2073439"/>
          <a:ext cx="7920880" cy="45959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176"/>
                <a:gridCol w="1584176"/>
                <a:gridCol w="1584176"/>
                <a:gridCol w="1584176"/>
                <a:gridCol w="1584176"/>
              </a:tblGrid>
              <a:tr h="91918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</a:rPr>
                        <a:t>符号名称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>
                          <a:effectLst/>
                        </a:rPr>
                        <a:t>国标符号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>
                          <a:effectLst/>
                        </a:rPr>
                        <a:t>常用符号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>
                          <a:effectLst/>
                        </a:rPr>
                        <a:t>国际流行符号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>
                          <a:effectLst/>
                        </a:rPr>
                        <a:t>IEEE</a:t>
                      </a:r>
                      <a:r>
                        <a:rPr lang="zh-CN" sz="2400" kern="0">
                          <a:effectLst/>
                        </a:rPr>
                        <a:t>逻辑符号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91918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</a:rPr>
                        <a:t>与非门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91918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>
                          <a:effectLst/>
                        </a:rPr>
                        <a:t>或非门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91918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>
                          <a:effectLst/>
                        </a:rPr>
                        <a:t>异或门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91918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>
                          <a:effectLst/>
                        </a:rPr>
                        <a:t>同或门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第二章 逻辑代数（</a:t>
            </a:r>
            <a:r>
              <a:rPr lang="en-US" altLang="zh-CN"/>
              <a:t>15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5E2-CB68-42E6-A5AF-574D39E186A5}" type="slidenum">
              <a:rPr lang="en-US" altLang="zh-CN" smtClean="0"/>
            </a:fld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/>
              <a:t>常用逻辑门符号</a:t>
            </a:r>
            <a:endParaRPr lang="zh-CN" altLang="en-US"/>
          </a:p>
        </p:txBody>
      </p:sp>
      <p:pic>
        <p:nvPicPr>
          <p:cNvPr id="10" name="Picture 6" descr="http://col.njtu.edu.cn/jingpinke/szlj/shuziwangluo/fulu/images/fuhao27.gif"/>
          <p:cNvPicPr>
            <a:picLocks noChangeAspect="1" noChangeArrowheads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5845646"/>
            <a:ext cx="1392172" cy="675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5" descr="http://col.njtu.edu.cn/jingpinke/szlj/shuziwangluo/fulu/images/fuhao28.gif"/>
          <p:cNvPicPr>
            <a:picLocks noChangeAspect="1" noChangeArrowheads="1"/>
          </p:cNvPicPr>
          <p:nvPr/>
        </p:nvPicPr>
        <p:blipFill>
          <a:blip r:embed="rId3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32" y="5850599"/>
            <a:ext cx="1407018" cy="656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http://col.njtu.edu.cn/jingpinke/szlj/shuziwangluo/fulu/images/fuhao29.gif"/>
          <p:cNvPicPr>
            <a:picLocks noChangeAspect="1" noChangeArrowheads="1"/>
          </p:cNvPicPr>
          <p:nvPr/>
        </p:nvPicPr>
        <p:blipFill>
          <a:blip r:embed="rId4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9547" y="5904160"/>
            <a:ext cx="1432733" cy="54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3" descr="http://col.njtu.edu.cn/jingpinke/szlj/shuziwangluo/fulu/images/fuhao30.gif"/>
          <p:cNvPicPr>
            <a:picLocks noChangeAspect="1" noChangeArrowheads="1"/>
          </p:cNvPicPr>
          <p:nvPr/>
        </p:nvPicPr>
        <p:blipFill>
          <a:blip r:embed="rId5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2322" y="5852476"/>
            <a:ext cx="1372126" cy="640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椭圆 6"/>
          <p:cNvSpPr/>
          <p:nvPr/>
        </p:nvSpPr>
        <p:spPr>
          <a:xfrm>
            <a:off x="4572000" y="6057320"/>
            <a:ext cx="252456" cy="252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•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14" name="Picture 10" descr="http://col.njtu.edu.cn/jingpinke/szlj/shuziwangluo/fulu/images/fuhao23.gif"/>
          <p:cNvPicPr>
            <a:picLocks noChangeAspect="1" noChangeArrowheads="1"/>
          </p:cNvPicPr>
          <p:nvPr/>
        </p:nvPicPr>
        <p:blipFill>
          <a:blip r:embed="rId6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4985901"/>
            <a:ext cx="1392172" cy="675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9" descr="http://col.njtu.edu.cn/jingpinke/szlj/shuziwangluo/fulu/images/fuhao24.gif"/>
          <p:cNvPicPr>
            <a:picLocks noChangeAspect="1" noChangeArrowheads="1"/>
          </p:cNvPicPr>
          <p:nvPr/>
        </p:nvPicPr>
        <p:blipFill>
          <a:blip r:embed="rId7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32" y="5013177"/>
            <a:ext cx="1382258" cy="644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http://col.njtu.edu.cn/jingpinke/szlj/shuziwangluo/fulu/images/fuhao25.gif"/>
          <p:cNvPicPr>
            <a:picLocks noChangeAspect="1" noChangeArrowheads="1"/>
          </p:cNvPicPr>
          <p:nvPr/>
        </p:nvPicPr>
        <p:blipFill>
          <a:blip r:embed="rId8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9547" y="5089204"/>
            <a:ext cx="1432733" cy="572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7" descr="http://col.njtu.edu.cn/jingpinke/szlj/shuziwangluo/fulu/images/fuhao26.gif"/>
          <p:cNvPicPr>
            <a:picLocks noChangeAspect="1" noChangeArrowheads="1"/>
          </p:cNvPicPr>
          <p:nvPr/>
        </p:nvPicPr>
        <p:blipFill>
          <a:blip r:embed="rId9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2322" y="5022010"/>
            <a:ext cx="1372126" cy="664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椭圆 4"/>
          <p:cNvSpPr/>
          <p:nvPr/>
        </p:nvSpPr>
        <p:spPr>
          <a:xfrm>
            <a:off x="4580552" y="5197575"/>
            <a:ext cx="252456" cy="252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+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8" name="Picture 14" descr="http://col.njtu.edu.cn/jingpinke/szlj/shuziwangluo/fulu/images/fuhao19.gif"/>
          <p:cNvPicPr>
            <a:picLocks noChangeAspect="1" noChangeArrowheads="1"/>
          </p:cNvPicPr>
          <p:nvPr/>
        </p:nvPicPr>
        <p:blipFill>
          <a:blip r:embed="rId10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4038625"/>
            <a:ext cx="1392172" cy="675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3" descr="http://col.njtu.edu.cn/jingpinke/szlj/shuziwangluo/fulu/images/fuhao20.gif"/>
          <p:cNvPicPr>
            <a:picLocks noChangeAspect="1" noChangeArrowheads="1"/>
          </p:cNvPicPr>
          <p:nvPr/>
        </p:nvPicPr>
        <p:blipFill>
          <a:blip r:embed="rId1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32" y="4080410"/>
            <a:ext cx="1382258" cy="644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2" descr="http://col.njtu.edu.cn/jingpinke/szlj/shuziwangluo/fulu/images/fuhao21.gif"/>
          <p:cNvPicPr>
            <a:picLocks noChangeAspect="1" noChangeArrowheads="1"/>
          </p:cNvPicPr>
          <p:nvPr/>
        </p:nvPicPr>
        <p:blipFill>
          <a:blip r:embed="rId12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9548" y="4147699"/>
            <a:ext cx="1430064" cy="566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1" descr="http://col.njtu.edu.cn/jingpinke/szlj/shuziwangluo/fulu/images/fuhao22.gif"/>
          <p:cNvPicPr>
            <a:picLocks noChangeAspect="1" noChangeArrowheads="1"/>
          </p:cNvPicPr>
          <p:nvPr/>
        </p:nvPicPr>
        <p:blipFill>
          <a:blip r:embed="rId13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2321" y="4038637"/>
            <a:ext cx="1372126" cy="640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椭圆 7"/>
          <p:cNvSpPr/>
          <p:nvPr/>
        </p:nvSpPr>
        <p:spPr>
          <a:xfrm>
            <a:off x="4599024" y="4257120"/>
            <a:ext cx="189000" cy="252000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+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22" name="Picture 18" descr="http://col.njtu.edu.cn/jingpinke/szlj/shuziwangluo/fulu/images/fuhao15.gif"/>
          <p:cNvPicPr>
            <a:picLocks noChangeAspect="1" noChangeArrowheads="1"/>
          </p:cNvPicPr>
          <p:nvPr/>
        </p:nvPicPr>
        <p:blipFill>
          <a:blip r:embed="rId14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3100587"/>
            <a:ext cx="1392172" cy="675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7" descr="http://col.njtu.edu.cn/jingpinke/szlj/shuziwangluo/fulu/images/fuhao16.gif"/>
          <p:cNvPicPr>
            <a:picLocks noChangeAspect="1" noChangeArrowheads="1"/>
          </p:cNvPicPr>
          <p:nvPr/>
        </p:nvPicPr>
        <p:blipFill>
          <a:blip r:embed="rId15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31" y="3128321"/>
            <a:ext cx="1388429" cy="647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6" descr="http://col.njtu.edu.cn/jingpinke/szlj/shuziwangluo/fulu/images/fuhao17.gif"/>
          <p:cNvPicPr>
            <a:picLocks noChangeAspect="1" noChangeArrowheads="1"/>
          </p:cNvPicPr>
          <p:nvPr/>
        </p:nvPicPr>
        <p:blipFill>
          <a:blip r:embed="rId16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9558" y="3262061"/>
            <a:ext cx="1430064" cy="471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15" descr="http://col.njtu.edu.cn/jingpinke/szlj/shuziwangluo/fulu/images/fuhao18.gif"/>
          <p:cNvPicPr>
            <a:picLocks noChangeAspect="1" noChangeArrowheads="1"/>
          </p:cNvPicPr>
          <p:nvPr/>
        </p:nvPicPr>
        <p:blipFill>
          <a:blip r:embed="rId13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2310" y="3128306"/>
            <a:ext cx="1372125" cy="640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椭圆 25"/>
          <p:cNvSpPr/>
          <p:nvPr/>
        </p:nvSpPr>
        <p:spPr>
          <a:xfrm>
            <a:off x="7767376" y="3201670"/>
            <a:ext cx="189000" cy="252000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&amp;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901586" y="1988840"/>
            <a:ext cx="1653189" cy="4678660"/>
          </a:xfrm>
          <a:custGeom>
            <a:avLst/>
            <a:gdLst>
              <a:gd name="connsiteX0" fmla="*/ 0 w 1653189"/>
              <a:gd name="connsiteY0" fmla="*/ 0 h 4678660"/>
              <a:gd name="connsiteX1" fmla="*/ 551063 w 1653189"/>
              <a:gd name="connsiteY1" fmla="*/ 0 h 4678660"/>
              <a:gd name="connsiteX2" fmla="*/ 1118658 w 1653189"/>
              <a:gd name="connsiteY2" fmla="*/ 0 h 4678660"/>
              <a:gd name="connsiteX3" fmla="*/ 1653189 w 1653189"/>
              <a:gd name="connsiteY3" fmla="*/ 0 h 4678660"/>
              <a:gd name="connsiteX4" fmla="*/ 1653189 w 1653189"/>
              <a:gd name="connsiteY4" fmla="*/ 538046 h 4678660"/>
              <a:gd name="connsiteX5" fmla="*/ 1653189 w 1653189"/>
              <a:gd name="connsiteY5" fmla="*/ 1122878 h 4678660"/>
              <a:gd name="connsiteX6" fmla="*/ 1653189 w 1653189"/>
              <a:gd name="connsiteY6" fmla="*/ 1660924 h 4678660"/>
              <a:gd name="connsiteX7" fmla="*/ 1653189 w 1653189"/>
              <a:gd name="connsiteY7" fmla="*/ 2292543 h 4678660"/>
              <a:gd name="connsiteX8" fmla="*/ 1653189 w 1653189"/>
              <a:gd name="connsiteY8" fmla="*/ 2924163 h 4678660"/>
              <a:gd name="connsiteX9" fmla="*/ 1653189 w 1653189"/>
              <a:gd name="connsiteY9" fmla="*/ 3508995 h 4678660"/>
              <a:gd name="connsiteX10" fmla="*/ 1653189 w 1653189"/>
              <a:gd name="connsiteY10" fmla="*/ 3953468 h 4678660"/>
              <a:gd name="connsiteX11" fmla="*/ 1653189 w 1653189"/>
              <a:gd name="connsiteY11" fmla="*/ 4678660 h 4678660"/>
              <a:gd name="connsiteX12" fmla="*/ 1069062 w 1653189"/>
              <a:gd name="connsiteY12" fmla="*/ 4678660 h 4678660"/>
              <a:gd name="connsiteX13" fmla="*/ 567595 w 1653189"/>
              <a:gd name="connsiteY13" fmla="*/ 4678660 h 4678660"/>
              <a:gd name="connsiteX14" fmla="*/ 0 w 1653189"/>
              <a:gd name="connsiteY14" fmla="*/ 4678660 h 4678660"/>
              <a:gd name="connsiteX15" fmla="*/ 0 w 1653189"/>
              <a:gd name="connsiteY15" fmla="*/ 4140614 h 4678660"/>
              <a:gd name="connsiteX16" fmla="*/ 0 w 1653189"/>
              <a:gd name="connsiteY16" fmla="*/ 3555782 h 4678660"/>
              <a:gd name="connsiteX17" fmla="*/ 0 w 1653189"/>
              <a:gd name="connsiteY17" fmla="*/ 2877376 h 4678660"/>
              <a:gd name="connsiteX18" fmla="*/ 0 w 1653189"/>
              <a:gd name="connsiteY18" fmla="*/ 2245757 h 4678660"/>
              <a:gd name="connsiteX19" fmla="*/ 0 w 1653189"/>
              <a:gd name="connsiteY19" fmla="*/ 1801284 h 4678660"/>
              <a:gd name="connsiteX20" fmla="*/ 0 w 1653189"/>
              <a:gd name="connsiteY20" fmla="*/ 1356811 h 4678660"/>
              <a:gd name="connsiteX21" fmla="*/ 0 w 1653189"/>
              <a:gd name="connsiteY21" fmla="*/ 771979 h 4678660"/>
              <a:gd name="connsiteX22" fmla="*/ 0 w 1653189"/>
              <a:gd name="connsiteY22" fmla="*/ 0 h 4678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53189" h="4678660" extrusionOk="0">
                <a:moveTo>
                  <a:pt x="0" y="0"/>
                </a:moveTo>
                <a:cubicBezTo>
                  <a:pt x="116256" y="-50477"/>
                  <a:pt x="306385" y="11644"/>
                  <a:pt x="551063" y="0"/>
                </a:cubicBezTo>
                <a:cubicBezTo>
                  <a:pt x="795741" y="-11644"/>
                  <a:pt x="898351" y="37782"/>
                  <a:pt x="1118658" y="0"/>
                </a:cubicBezTo>
                <a:cubicBezTo>
                  <a:pt x="1338966" y="-37782"/>
                  <a:pt x="1477881" y="17135"/>
                  <a:pt x="1653189" y="0"/>
                </a:cubicBezTo>
                <a:cubicBezTo>
                  <a:pt x="1687449" y="158223"/>
                  <a:pt x="1642236" y="272547"/>
                  <a:pt x="1653189" y="538046"/>
                </a:cubicBezTo>
                <a:cubicBezTo>
                  <a:pt x="1664142" y="803545"/>
                  <a:pt x="1624221" y="860038"/>
                  <a:pt x="1653189" y="1122878"/>
                </a:cubicBezTo>
                <a:cubicBezTo>
                  <a:pt x="1682157" y="1385718"/>
                  <a:pt x="1607031" y="1449148"/>
                  <a:pt x="1653189" y="1660924"/>
                </a:cubicBezTo>
                <a:cubicBezTo>
                  <a:pt x="1699347" y="1872700"/>
                  <a:pt x="1593204" y="2100296"/>
                  <a:pt x="1653189" y="2292543"/>
                </a:cubicBezTo>
                <a:cubicBezTo>
                  <a:pt x="1713174" y="2484790"/>
                  <a:pt x="1650227" y="2793041"/>
                  <a:pt x="1653189" y="2924163"/>
                </a:cubicBezTo>
                <a:cubicBezTo>
                  <a:pt x="1656151" y="3055285"/>
                  <a:pt x="1608985" y="3292505"/>
                  <a:pt x="1653189" y="3508995"/>
                </a:cubicBezTo>
                <a:cubicBezTo>
                  <a:pt x="1697393" y="3725485"/>
                  <a:pt x="1609515" y="3859322"/>
                  <a:pt x="1653189" y="3953468"/>
                </a:cubicBezTo>
                <a:cubicBezTo>
                  <a:pt x="1696863" y="4047614"/>
                  <a:pt x="1650816" y="4338430"/>
                  <a:pt x="1653189" y="4678660"/>
                </a:cubicBezTo>
                <a:cubicBezTo>
                  <a:pt x="1398386" y="4732482"/>
                  <a:pt x="1199953" y="4625625"/>
                  <a:pt x="1069062" y="4678660"/>
                </a:cubicBezTo>
                <a:cubicBezTo>
                  <a:pt x="938171" y="4731695"/>
                  <a:pt x="805500" y="4653530"/>
                  <a:pt x="567595" y="4678660"/>
                </a:cubicBezTo>
                <a:cubicBezTo>
                  <a:pt x="329690" y="4703790"/>
                  <a:pt x="146004" y="4674984"/>
                  <a:pt x="0" y="4678660"/>
                </a:cubicBezTo>
                <a:cubicBezTo>
                  <a:pt x="-27077" y="4501347"/>
                  <a:pt x="39231" y="4299951"/>
                  <a:pt x="0" y="4140614"/>
                </a:cubicBezTo>
                <a:cubicBezTo>
                  <a:pt x="-39231" y="3981277"/>
                  <a:pt x="21032" y="3804533"/>
                  <a:pt x="0" y="3555782"/>
                </a:cubicBezTo>
                <a:cubicBezTo>
                  <a:pt x="-21032" y="3307031"/>
                  <a:pt x="69602" y="3207826"/>
                  <a:pt x="0" y="2877376"/>
                </a:cubicBezTo>
                <a:cubicBezTo>
                  <a:pt x="-69602" y="2546926"/>
                  <a:pt x="5079" y="2507257"/>
                  <a:pt x="0" y="2245757"/>
                </a:cubicBezTo>
                <a:cubicBezTo>
                  <a:pt x="-5079" y="1984257"/>
                  <a:pt x="19295" y="1990215"/>
                  <a:pt x="0" y="1801284"/>
                </a:cubicBezTo>
                <a:cubicBezTo>
                  <a:pt x="-19295" y="1612353"/>
                  <a:pt x="4688" y="1536600"/>
                  <a:pt x="0" y="1356811"/>
                </a:cubicBezTo>
                <a:cubicBezTo>
                  <a:pt x="-4688" y="1177022"/>
                  <a:pt x="68061" y="1032938"/>
                  <a:pt x="0" y="771979"/>
                </a:cubicBezTo>
                <a:cubicBezTo>
                  <a:pt x="-68061" y="511020"/>
                  <a:pt x="23917" y="162631"/>
                  <a:pt x="0" y="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ll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第二章 逻辑代数（</a:t>
            </a:r>
            <a:r>
              <a:rPr lang="en-US" altLang="zh-CN"/>
              <a:t>13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F29DC-3059-47E7-B182-00BF598F35C8}" type="slidenum">
              <a:rPr lang="en-US" altLang="zh-CN"/>
            </a:fld>
            <a:endParaRPr lang="en-US" altLang="zh-CN"/>
          </a:p>
        </p:txBody>
      </p:sp>
      <p:sp>
        <p:nvSpPr>
          <p:cNvPr id="2703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84468" cy="4607024"/>
          </a:xfrm>
          <a:noFill/>
        </p:spPr>
        <p:txBody>
          <a:bodyPr/>
          <a:lstStyle/>
          <a:p>
            <a:r>
              <a:rPr lang="en-US" altLang="zh-CN" dirty="0"/>
              <a:t>2.1  </a:t>
            </a:r>
            <a:r>
              <a:rPr lang="zh-CN" altLang="en-US" dirty="0"/>
              <a:t>逻辑代数的基本运算与公式</a:t>
            </a:r>
            <a:endParaRPr lang="zh-CN" altLang="en-US" dirty="0"/>
          </a:p>
          <a:p>
            <a:pPr lvl="1"/>
            <a:r>
              <a:rPr lang="zh-CN" altLang="en-US" dirty="0"/>
              <a:t>逻辑代数的基本运算</a:t>
            </a:r>
            <a:r>
              <a:rPr lang="en-US" altLang="zh-CN" dirty="0"/>
              <a:t>——</a:t>
            </a:r>
            <a:r>
              <a:rPr lang="zh-CN" altLang="en-US" dirty="0"/>
              <a:t>小结</a:t>
            </a:r>
            <a:endParaRPr lang="zh-CN" altLang="en-US" dirty="0"/>
          </a:p>
          <a:p>
            <a:pPr lvl="2"/>
            <a:r>
              <a:rPr lang="zh-CN" altLang="en-US" dirty="0"/>
              <a:t>基本运算：与、或、非</a:t>
            </a:r>
            <a:endParaRPr lang="zh-CN" altLang="en-US" dirty="0"/>
          </a:p>
          <a:p>
            <a:pPr lvl="3"/>
            <a:r>
              <a:rPr lang="zh-CN" altLang="en-US" dirty="0"/>
              <a:t>电路：“与”门，“或”门，“非”门</a:t>
            </a:r>
            <a:endParaRPr lang="zh-CN" altLang="en-US" dirty="0"/>
          </a:p>
          <a:p>
            <a:pPr lvl="2"/>
            <a:r>
              <a:rPr lang="zh-CN" altLang="en-US" dirty="0"/>
              <a:t>常用运算：与非、或非、与或非、异或、同或</a:t>
            </a:r>
            <a:endParaRPr lang="zh-CN" altLang="en-US" dirty="0"/>
          </a:p>
          <a:p>
            <a:pPr lvl="3"/>
            <a:r>
              <a:rPr lang="zh-CN" altLang="en-US" dirty="0"/>
              <a:t>电路：“与非”门，“或非”门，“与或非”门</a:t>
            </a:r>
            <a:endParaRPr lang="zh-CN" altLang="en-US" dirty="0"/>
          </a:p>
          <a:p>
            <a:pPr lvl="2">
              <a:buFont typeface="Wingdings" panose="05000000000000000000" pitchFamily="2" charset="2"/>
              <a:buNone/>
            </a:pPr>
            <a:r>
              <a:rPr lang="zh-CN" altLang="en-US" dirty="0"/>
              <a:t>          “异或”门，“同或”门</a:t>
            </a:r>
            <a:endParaRPr lang="zh-CN" altLang="en-US" dirty="0"/>
          </a:p>
        </p:txBody>
      </p:sp>
    </p:spTree>
  </p:cSld>
  <p:clrMapOvr>
    <a:masterClrMapping/>
  </p:clrMapOvr>
  <p:transition spd="slow">
    <p:pull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第二章 逻辑代数（</a:t>
            </a:r>
            <a:r>
              <a:rPr lang="en-US" altLang="zh-CN"/>
              <a:t>14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5E85F-DB96-4E38-9790-BCEAF489995F}" type="slidenum">
              <a:rPr lang="en-US" altLang="zh-CN"/>
            </a:fld>
            <a:endParaRPr lang="en-US" altLang="zh-CN"/>
          </a:p>
        </p:txBody>
      </p:sp>
      <p:sp>
        <p:nvSpPr>
          <p:cNvPr id="2723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12460" cy="4607024"/>
          </a:xfrm>
        </p:spPr>
        <p:txBody>
          <a:bodyPr/>
          <a:lstStyle/>
          <a:p>
            <a:r>
              <a:rPr lang="en-US" altLang="zh-CN" dirty="0"/>
              <a:t>2.1  </a:t>
            </a:r>
            <a:r>
              <a:rPr lang="zh-CN" altLang="en-US" dirty="0"/>
              <a:t>逻辑代数的基本运算与公式</a:t>
            </a:r>
            <a:endParaRPr lang="zh-CN" altLang="en-US" dirty="0"/>
          </a:p>
          <a:p>
            <a:pPr lvl="1"/>
            <a:r>
              <a:rPr lang="zh-CN" altLang="en-US" dirty="0"/>
              <a:t>逻辑代数的基本运算</a:t>
            </a:r>
            <a:endParaRPr lang="zh-CN" altLang="en-US" dirty="0"/>
          </a:p>
          <a:p>
            <a:pPr lvl="1"/>
            <a:r>
              <a:rPr lang="zh-CN" altLang="en-US" dirty="0">
                <a:solidFill>
                  <a:srgbClr val="0070C0"/>
                </a:solidFill>
              </a:rPr>
              <a:t>逻辑代数的基本公式</a:t>
            </a:r>
            <a:endParaRPr lang="zh-CN" alt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slow">
    <p:pull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第二章 逻辑代数（</a:t>
            </a:r>
            <a:r>
              <a:rPr lang="en-US" altLang="zh-CN"/>
              <a:t>15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206CB-1E5D-41D7-9753-D19A58B7A52E}" type="slidenum">
              <a:rPr lang="en-US" altLang="zh-CN"/>
            </a:fld>
            <a:endParaRPr lang="en-US" altLang="zh-CN"/>
          </a:p>
        </p:txBody>
      </p:sp>
      <p:sp>
        <p:nvSpPr>
          <p:cNvPr id="1105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84468" cy="4607024"/>
          </a:xfrm>
        </p:spPr>
        <p:txBody>
          <a:bodyPr/>
          <a:lstStyle/>
          <a:p>
            <a:r>
              <a:rPr lang="en-US" altLang="zh-CN" dirty="0"/>
              <a:t>2.1  </a:t>
            </a:r>
            <a:r>
              <a:rPr lang="zh-CN" altLang="en-US" dirty="0"/>
              <a:t>逻辑代数的基本运算与公式</a:t>
            </a:r>
            <a:endParaRPr lang="zh-CN" altLang="en-US" dirty="0"/>
          </a:p>
          <a:p>
            <a:pPr lvl="1"/>
            <a:r>
              <a:rPr lang="zh-CN" altLang="en-US" dirty="0"/>
              <a:t>逻辑代数的基本公式</a:t>
            </a:r>
            <a:r>
              <a:rPr kumimoji="1" lang="en-US" altLang="zh-CN" sz="2800" b="0" spc="-5" dirty="0">
                <a:solidFill>
                  <a:srgbClr val="000099"/>
                </a:solidFill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(Elementary)</a:t>
            </a:r>
            <a:endParaRPr kumimoji="1" lang="zh-CN" altLang="en-US" sz="2800" b="0" spc="-5" dirty="0">
              <a:solidFill>
                <a:srgbClr val="000099"/>
              </a:solidFill>
              <a:latin typeface="Arial" panose="020B0604020202020204"/>
              <a:ea typeface="宋体" panose="02010600030101010101" pitchFamily="2" charset="-122"/>
              <a:cs typeface="Arial" panose="020B0604020202020204"/>
            </a:endParaRPr>
          </a:p>
          <a:p>
            <a:endParaRPr lang="en-US" altLang="zh-CN" dirty="0"/>
          </a:p>
        </p:txBody>
      </p:sp>
      <p:sp>
        <p:nvSpPr>
          <p:cNvPr id="110596" name="Rectangle 4"/>
          <p:cNvSpPr>
            <a:spLocks noChangeArrowheads="1"/>
          </p:cNvSpPr>
          <p:nvPr/>
        </p:nvSpPr>
        <p:spPr bwMode="auto">
          <a:xfrm>
            <a:off x="899592" y="3019433"/>
            <a:ext cx="1261884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zh-CN" altLang="en-US" sz="2800"/>
              <a:t>互补律</a:t>
            </a:r>
            <a:endParaRPr lang="zh-CN" altLang="en-US" sz="2800"/>
          </a:p>
        </p:txBody>
      </p:sp>
      <p:graphicFrame>
        <p:nvGraphicFramePr>
          <p:cNvPr id="110597" name="Object 5"/>
          <p:cNvGraphicFramePr>
            <a:graphicFrameLocks noChangeAspect="1"/>
          </p:cNvGraphicFramePr>
          <p:nvPr/>
        </p:nvGraphicFramePr>
        <p:xfrm>
          <a:off x="2237855" y="2638440"/>
          <a:ext cx="2265874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78" name="Equation" r:id="rId1" imgW="787400" imgH="508000" progId="Equation.DSMT4">
                  <p:embed/>
                </p:oleObj>
              </mc:Choice>
              <mc:Fallback>
                <p:oleObj name="Equation" r:id="rId1" imgW="787400" imgH="508000" progId="Equation.DSMT4">
                  <p:embed/>
                  <p:pic>
                    <p:nvPicPr>
                      <p:cNvPr id="0" name="图片 198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7855" y="2638440"/>
                        <a:ext cx="2265874" cy="1400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598" name="Rectangle 6"/>
          <p:cNvSpPr>
            <a:spLocks noChangeArrowheads="1"/>
          </p:cNvSpPr>
          <p:nvPr/>
        </p:nvSpPr>
        <p:spPr bwMode="auto">
          <a:xfrm>
            <a:off x="956747" y="4346584"/>
            <a:ext cx="723275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en-US" altLang="zh-CN" sz="2800"/>
              <a:t>1</a:t>
            </a:r>
            <a:r>
              <a:rPr lang="zh-CN" altLang="en-US" sz="2800"/>
              <a:t>律</a:t>
            </a:r>
            <a:endParaRPr lang="zh-CN" altLang="en-US" sz="2800"/>
          </a:p>
        </p:txBody>
      </p:sp>
      <p:graphicFrame>
        <p:nvGraphicFramePr>
          <p:cNvPr id="110599" name="Object 7"/>
          <p:cNvGraphicFramePr>
            <a:graphicFrameLocks noChangeAspect="1"/>
          </p:cNvGraphicFramePr>
          <p:nvPr/>
        </p:nvGraphicFramePr>
        <p:xfrm>
          <a:off x="2196183" y="4038600"/>
          <a:ext cx="2405199" cy="1208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79" name="公式" r:id="rId3" imgW="762000" imgH="457200" progId="Equation.3">
                  <p:embed/>
                </p:oleObj>
              </mc:Choice>
              <mc:Fallback>
                <p:oleObj name="公式" r:id="rId3" imgW="762000" imgH="457200" progId="Equation.3">
                  <p:embed/>
                  <p:pic>
                    <p:nvPicPr>
                      <p:cNvPr id="0" name="图片 198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6183" y="4038600"/>
                        <a:ext cx="2405199" cy="12080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00" name="Rectangle 8"/>
          <p:cNvSpPr>
            <a:spLocks noChangeArrowheads="1"/>
          </p:cNvSpPr>
          <p:nvPr/>
        </p:nvSpPr>
        <p:spPr bwMode="auto">
          <a:xfrm>
            <a:off x="990085" y="5729289"/>
            <a:ext cx="723275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/>
              <a:t>0</a:t>
            </a:r>
            <a:r>
              <a:rPr lang="zh-CN" altLang="en-US" sz="2800"/>
              <a:t>律</a:t>
            </a:r>
            <a:endParaRPr lang="zh-CN" altLang="en-US" sz="2800"/>
          </a:p>
        </p:txBody>
      </p:sp>
      <p:graphicFrame>
        <p:nvGraphicFramePr>
          <p:cNvPr id="110601" name="Object 9"/>
          <p:cNvGraphicFramePr>
            <a:graphicFrameLocks noChangeAspect="1"/>
          </p:cNvGraphicFramePr>
          <p:nvPr/>
        </p:nvGraphicFramePr>
        <p:xfrm>
          <a:off x="2218815" y="5351478"/>
          <a:ext cx="2419864" cy="1201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80" name="公式" r:id="rId5" imgW="800100" imgH="457200" progId="Equation.3">
                  <p:embed/>
                </p:oleObj>
              </mc:Choice>
              <mc:Fallback>
                <p:oleObj name="公式" r:id="rId5" imgW="800100" imgH="457200" progId="Equation.3">
                  <p:embed/>
                  <p:pic>
                    <p:nvPicPr>
                      <p:cNvPr id="0" name="图片 198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8815" y="5351478"/>
                        <a:ext cx="2419864" cy="12017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4970568" y="3429015"/>
          <a:ext cx="2337736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81" name="Equation" r:id="rId7" imgW="19507200" imgH="10972800" progId="Equation.DSMT4">
                  <p:embed/>
                </p:oleObj>
              </mc:Choice>
              <mc:Fallback>
                <p:oleObj name="Equation" r:id="rId7" imgW="19507200" imgH="10972800" progId="Equation.DSMT4">
                  <p:embed/>
                  <p:pic>
                    <p:nvPicPr>
                      <p:cNvPr id="0" name="图片 198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0568" y="3429015"/>
                        <a:ext cx="2337736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4906313" y="2759868"/>
            <a:ext cx="1261884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zh-CN" altLang="en-US" sz="2800"/>
              <a:t>重叠律</a:t>
            </a:r>
            <a:endParaRPr lang="zh-CN" altLang="en-US" sz="2800"/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4906313" y="5144870"/>
            <a:ext cx="1261884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/>
              <a:t>对合律</a:t>
            </a:r>
            <a:endParaRPr lang="zh-CN" altLang="en-US" sz="2800"/>
          </a:p>
        </p:txBody>
      </p:sp>
      <p:graphicFrame>
        <p:nvGraphicFramePr>
          <p:cNvPr id="15" name="Object 7"/>
          <p:cNvGraphicFramePr>
            <a:graphicFrameLocks noChangeAspect="1"/>
          </p:cNvGraphicFramePr>
          <p:nvPr/>
        </p:nvGraphicFramePr>
        <p:xfrm>
          <a:off x="5286090" y="5731442"/>
          <a:ext cx="1126337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82" name="公式" r:id="rId9" imgW="457200" imgH="241300" progId="Equation.3">
                  <p:embed/>
                </p:oleObj>
              </mc:Choice>
              <mc:Fallback>
                <p:oleObj name="公式" r:id="rId9" imgW="457200" imgH="241300" progId="Equation.3">
                  <p:embed/>
                  <p:pic>
                    <p:nvPicPr>
                      <p:cNvPr id="0" name="图片 198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090" y="5731442"/>
                        <a:ext cx="1126337" cy="6429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第二章 逻辑代数（</a:t>
            </a:r>
            <a:r>
              <a:rPr lang="en-US" altLang="zh-CN"/>
              <a:t>16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3508" y="6283131"/>
            <a:ext cx="432048" cy="457200"/>
          </a:xfrm>
        </p:spPr>
        <p:txBody>
          <a:bodyPr/>
          <a:lstStyle/>
          <a:p>
            <a:fld id="{BF60C085-6B94-4658-9F05-1E4550AA8494}" type="slidenum">
              <a:rPr lang="en-US" altLang="zh-CN"/>
            </a:fld>
            <a:endParaRPr lang="en-US" altLang="zh-CN"/>
          </a:p>
        </p:txBody>
      </p:sp>
      <p:sp>
        <p:nvSpPr>
          <p:cNvPr id="111620" name="Rectangle 4"/>
          <p:cNvSpPr>
            <a:spLocks noGrp="1" noChangeArrowheads="1"/>
          </p:cNvSpPr>
          <p:nvPr>
            <p:ph sz="quarter" idx="1"/>
          </p:nvPr>
        </p:nvSpPr>
        <p:spPr>
          <a:noFill/>
        </p:spPr>
        <p:txBody>
          <a:bodyPr/>
          <a:lstStyle/>
          <a:p>
            <a:r>
              <a:rPr lang="en-US" altLang="zh-CN"/>
              <a:t>2.1  </a:t>
            </a:r>
            <a:r>
              <a:rPr lang="zh-CN" altLang="en-US"/>
              <a:t>逻辑代数的基本运算与公式</a:t>
            </a:r>
            <a:endParaRPr lang="zh-CN" altLang="en-US"/>
          </a:p>
          <a:p>
            <a:pPr lvl="1"/>
            <a:r>
              <a:rPr lang="zh-CN" altLang="en-US"/>
              <a:t>逻辑代数的基本公式</a:t>
            </a:r>
            <a:endParaRPr lang="zh-CN" altLang="en-US"/>
          </a:p>
          <a:p>
            <a:endParaRPr lang="en-US" altLang="zh-CN"/>
          </a:p>
        </p:txBody>
      </p:sp>
      <p:sp>
        <p:nvSpPr>
          <p:cNvPr id="111621" name="Rectangle 5"/>
          <p:cNvSpPr>
            <a:spLocks noChangeArrowheads="1"/>
          </p:cNvSpPr>
          <p:nvPr/>
        </p:nvSpPr>
        <p:spPr bwMode="auto">
          <a:xfrm>
            <a:off x="899592" y="2708934"/>
            <a:ext cx="2799791" cy="8309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800" dirty="0"/>
              <a:t>交换律</a:t>
            </a:r>
            <a:endParaRPr lang="en-US" altLang="zh-CN" sz="2800" dirty="0"/>
          </a:p>
          <a:p>
            <a:r>
              <a:rPr lang="en-US" altLang="zh-CN" sz="2000" spc="-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lang="en-US" altLang="zh-CN" sz="2000" spc="-5" dirty="0" err="1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Commutativity</a:t>
            </a:r>
            <a:r>
              <a:rPr lang="en-US" altLang="zh-CN" sz="2000" spc="-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)</a:t>
            </a:r>
            <a:endParaRPr lang="zh-CN" altLang="en-US" sz="2800" dirty="0"/>
          </a:p>
        </p:txBody>
      </p:sp>
      <p:graphicFrame>
        <p:nvGraphicFramePr>
          <p:cNvPr id="111622" name="Object 6"/>
          <p:cNvGraphicFramePr>
            <a:graphicFrameLocks noChangeAspect="1"/>
          </p:cNvGraphicFramePr>
          <p:nvPr/>
        </p:nvGraphicFramePr>
        <p:xfrm>
          <a:off x="2843817" y="2743214"/>
          <a:ext cx="2463775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4" name="公式" r:id="rId1" imgW="1130300" imgH="457200" progId="Equation.3">
                  <p:embed/>
                </p:oleObj>
              </mc:Choice>
              <mc:Fallback>
                <p:oleObj name="公式" r:id="rId1" imgW="1130300" imgH="457200" progId="Equation.3">
                  <p:embed/>
                  <p:pic>
                    <p:nvPicPr>
                      <p:cNvPr id="0" name="图片 207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17" y="2743214"/>
                        <a:ext cx="2463775" cy="10699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23" name="Rectangle 7"/>
          <p:cNvSpPr>
            <a:spLocks noChangeArrowheads="1"/>
          </p:cNvSpPr>
          <p:nvPr/>
        </p:nvSpPr>
        <p:spPr bwMode="auto">
          <a:xfrm>
            <a:off x="899592" y="4084687"/>
            <a:ext cx="2756510" cy="89255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zh-CN" altLang="en-US" sz="2800" dirty="0"/>
              <a:t>结合律</a:t>
            </a:r>
            <a:endParaRPr lang="en-US" altLang="zh-CN" sz="2800" dirty="0"/>
          </a:p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en-US" altLang="zh-CN" sz="2000" spc="-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(Associativity)</a:t>
            </a:r>
            <a:endParaRPr lang="zh-CN" altLang="en-US" sz="2800" dirty="0"/>
          </a:p>
        </p:txBody>
      </p:sp>
      <p:graphicFrame>
        <p:nvGraphicFramePr>
          <p:cNvPr id="111624" name="Object 8"/>
          <p:cNvGraphicFramePr>
            <a:graphicFrameLocks noChangeAspect="1"/>
          </p:cNvGraphicFramePr>
          <p:nvPr/>
        </p:nvGraphicFramePr>
        <p:xfrm>
          <a:off x="2843818" y="4050704"/>
          <a:ext cx="4176454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5" name="公式" r:id="rId3" imgW="1917700" imgH="457200" progId="Equation.3">
                  <p:embed/>
                </p:oleObj>
              </mc:Choice>
              <mc:Fallback>
                <p:oleObj name="公式" r:id="rId3" imgW="1917700" imgH="457200" progId="Equation.3">
                  <p:embed/>
                  <p:pic>
                    <p:nvPicPr>
                      <p:cNvPr id="0" name="图片 207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18" y="4050704"/>
                        <a:ext cx="4176454" cy="11064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25" name="Rectangle 9"/>
          <p:cNvSpPr>
            <a:spLocks noChangeArrowheads="1"/>
          </p:cNvSpPr>
          <p:nvPr/>
        </p:nvSpPr>
        <p:spPr bwMode="auto">
          <a:xfrm>
            <a:off x="899592" y="5452135"/>
            <a:ext cx="2160240" cy="8309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800" dirty="0"/>
              <a:t>分配律</a:t>
            </a:r>
            <a:endParaRPr lang="en-US" altLang="zh-CN" sz="2800" dirty="0"/>
          </a:p>
          <a:p>
            <a:r>
              <a:rPr lang="en-US" altLang="zh-CN" sz="2000" spc="-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lang="en-US" altLang="zh-CN" sz="2000" spc="-5" dirty="0" err="1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Distributivity</a:t>
            </a:r>
            <a:r>
              <a:rPr lang="en-US" altLang="zh-CN" sz="2000" spc="-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)</a:t>
            </a:r>
            <a:endParaRPr lang="zh-CN" altLang="en-US" sz="2800" dirty="0"/>
          </a:p>
        </p:txBody>
      </p:sp>
      <p:graphicFrame>
        <p:nvGraphicFramePr>
          <p:cNvPr id="111626" name="Object 10"/>
          <p:cNvGraphicFramePr>
            <a:graphicFrameLocks noChangeAspect="1"/>
          </p:cNvGraphicFramePr>
          <p:nvPr/>
        </p:nvGraphicFramePr>
        <p:xfrm>
          <a:off x="2843819" y="5403850"/>
          <a:ext cx="4832148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6" name="公式" r:id="rId5" imgW="2159000" imgH="457200" progId="Equation.3">
                  <p:embed/>
                </p:oleObj>
              </mc:Choice>
              <mc:Fallback>
                <p:oleObj name="公式" r:id="rId5" imgW="2159000" imgH="457200" progId="Equation.3">
                  <p:embed/>
                  <p:pic>
                    <p:nvPicPr>
                      <p:cNvPr id="0" name="图片 207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19" y="5403850"/>
                        <a:ext cx="4832148" cy="10731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16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16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1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1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1" grpId="0"/>
      <p:bldP spid="111623" grpId="0"/>
      <p:bldP spid="1116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第二章 逻辑代数（</a:t>
            </a:r>
            <a:r>
              <a:rPr lang="en-US" altLang="zh-CN"/>
              <a:t>17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1D295-3DB7-4263-835A-A6F694CFCD36}" type="slidenum">
              <a:rPr lang="en-US" altLang="zh-CN"/>
            </a:fld>
            <a:endParaRPr lang="en-US" altLang="zh-CN"/>
          </a:p>
        </p:txBody>
      </p:sp>
      <p:sp>
        <p:nvSpPr>
          <p:cNvPr id="11264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2.1  </a:t>
            </a:r>
            <a:r>
              <a:rPr lang="zh-CN" altLang="en-US" dirty="0"/>
              <a:t>逻辑代数的基本运算与公式</a:t>
            </a:r>
            <a:endParaRPr lang="zh-CN" altLang="en-US" dirty="0"/>
          </a:p>
          <a:p>
            <a:pPr lvl="1"/>
            <a:r>
              <a:rPr lang="zh-CN" altLang="en-US" dirty="0"/>
              <a:t>逻辑代数的基本公式</a:t>
            </a:r>
            <a:endParaRPr lang="zh-CN" altLang="en-US" dirty="0"/>
          </a:p>
          <a:p>
            <a:endParaRPr lang="en-US" altLang="zh-CN" dirty="0"/>
          </a:p>
        </p:txBody>
      </p:sp>
      <p:sp>
        <p:nvSpPr>
          <p:cNvPr id="112645" name="Rectangle 5"/>
          <p:cNvSpPr>
            <a:spLocks noChangeArrowheads="1"/>
          </p:cNvSpPr>
          <p:nvPr/>
        </p:nvSpPr>
        <p:spPr bwMode="auto">
          <a:xfrm>
            <a:off x="905891" y="3124214"/>
            <a:ext cx="2527951" cy="10402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吸收律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en-US" altLang="zh-CN" sz="2800" spc="-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(Absorption)</a:t>
            </a:r>
            <a:endParaRPr lang="zh-CN" altLang="en-US" sz="2800" dirty="0"/>
          </a:p>
        </p:txBody>
      </p:sp>
      <p:sp>
        <p:nvSpPr>
          <p:cNvPr id="112646" name="Rectangle 6"/>
          <p:cNvSpPr>
            <a:spLocks noChangeArrowheads="1"/>
          </p:cNvSpPr>
          <p:nvPr/>
        </p:nvSpPr>
        <p:spPr bwMode="auto">
          <a:xfrm>
            <a:off x="904410" y="5257815"/>
            <a:ext cx="3379558" cy="116955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zh-CN" altLang="en-US" sz="2800" dirty="0"/>
              <a:t>反演律</a:t>
            </a:r>
            <a:r>
              <a:rPr lang="en-US" altLang="zh-CN" sz="2800" dirty="0"/>
              <a:t>(</a:t>
            </a:r>
            <a:r>
              <a:rPr lang="zh-CN" altLang="en-US" sz="2800" dirty="0"/>
              <a:t>德</a:t>
            </a:r>
            <a:r>
              <a:rPr lang="en-US" altLang="zh-CN" sz="2800" dirty="0"/>
              <a:t>·</a:t>
            </a:r>
            <a:r>
              <a:rPr lang="zh-CN" altLang="en-US" sz="2800" dirty="0"/>
              <a:t>摩根定律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(De</a:t>
            </a:r>
            <a:r>
              <a:rPr lang="en-US" altLang="zh-CN" sz="2800" spc="-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en-US" altLang="zh-CN" sz="28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Morgan's)</a:t>
            </a:r>
            <a:endParaRPr lang="en-US" altLang="zh-CN" sz="2800" dirty="0"/>
          </a:p>
        </p:txBody>
      </p:sp>
      <p:graphicFrame>
        <p:nvGraphicFramePr>
          <p:cNvPr id="112647" name="Object 7"/>
          <p:cNvGraphicFramePr>
            <a:graphicFrameLocks noChangeAspect="1"/>
          </p:cNvGraphicFramePr>
          <p:nvPr/>
        </p:nvGraphicFramePr>
        <p:xfrm>
          <a:off x="4626112" y="2514600"/>
          <a:ext cx="3075940" cy="238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0" name="公式" r:id="rId1" imgW="1231265" imgH="1041400" progId="Equation.3">
                  <p:embed/>
                </p:oleObj>
              </mc:Choice>
              <mc:Fallback>
                <p:oleObj name="公式" r:id="rId1" imgW="1231265" imgH="1041400" progId="Equation.3">
                  <p:embed/>
                  <p:pic>
                    <p:nvPicPr>
                      <p:cNvPr id="0" name="图片 216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6112" y="2514600"/>
                        <a:ext cx="3075940" cy="2387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8" name="Object 8"/>
          <p:cNvGraphicFramePr>
            <a:graphicFrameLocks noChangeAspect="1"/>
          </p:cNvGraphicFramePr>
          <p:nvPr/>
        </p:nvGraphicFramePr>
        <p:xfrm>
          <a:off x="4368218" y="4864115"/>
          <a:ext cx="2935115" cy="163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1" name="公式" r:id="rId3" imgW="1066165" imgH="584200" progId="Equation.3">
                  <p:embed/>
                </p:oleObj>
              </mc:Choice>
              <mc:Fallback>
                <p:oleObj name="公式" r:id="rId3" imgW="1066165" imgH="584200" progId="Equation.3">
                  <p:embed/>
                  <p:pic>
                    <p:nvPicPr>
                      <p:cNvPr id="0" name="图片 216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8218" y="4864115"/>
                        <a:ext cx="2935115" cy="16351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755576" y="2514600"/>
            <a:ext cx="7704856" cy="2387600"/>
          </a:xfrm>
          <a:custGeom>
            <a:avLst/>
            <a:gdLst>
              <a:gd name="connsiteX0" fmla="*/ 0 w 7704856"/>
              <a:gd name="connsiteY0" fmla="*/ 0 h 2387600"/>
              <a:gd name="connsiteX1" fmla="*/ 592681 w 7704856"/>
              <a:gd name="connsiteY1" fmla="*/ 0 h 2387600"/>
              <a:gd name="connsiteX2" fmla="*/ 1262411 w 7704856"/>
              <a:gd name="connsiteY2" fmla="*/ 0 h 2387600"/>
              <a:gd name="connsiteX3" fmla="*/ 1855092 w 7704856"/>
              <a:gd name="connsiteY3" fmla="*/ 0 h 2387600"/>
              <a:gd name="connsiteX4" fmla="*/ 2370725 w 7704856"/>
              <a:gd name="connsiteY4" fmla="*/ 0 h 2387600"/>
              <a:gd name="connsiteX5" fmla="*/ 2886358 w 7704856"/>
              <a:gd name="connsiteY5" fmla="*/ 0 h 2387600"/>
              <a:gd name="connsiteX6" fmla="*/ 3247893 w 7704856"/>
              <a:gd name="connsiteY6" fmla="*/ 0 h 2387600"/>
              <a:gd name="connsiteX7" fmla="*/ 3609429 w 7704856"/>
              <a:gd name="connsiteY7" fmla="*/ 0 h 2387600"/>
              <a:gd name="connsiteX8" fmla="*/ 3970964 w 7704856"/>
              <a:gd name="connsiteY8" fmla="*/ 0 h 2387600"/>
              <a:gd name="connsiteX9" fmla="*/ 4640694 w 7704856"/>
              <a:gd name="connsiteY9" fmla="*/ 0 h 2387600"/>
              <a:gd name="connsiteX10" fmla="*/ 5233375 w 7704856"/>
              <a:gd name="connsiteY10" fmla="*/ 0 h 2387600"/>
              <a:gd name="connsiteX11" fmla="*/ 5826056 w 7704856"/>
              <a:gd name="connsiteY11" fmla="*/ 0 h 2387600"/>
              <a:gd name="connsiteX12" fmla="*/ 6495786 w 7704856"/>
              <a:gd name="connsiteY12" fmla="*/ 0 h 2387600"/>
              <a:gd name="connsiteX13" fmla="*/ 7165516 w 7704856"/>
              <a:gd name="connsiteY13" fmla="*/ 0 h 2387600"/>
              <a:gd name="connsiteX14" fmla="*/ 7704856 w 7704856"/>
              <a:gd name="connsiteY14" fmla="*/ 0 h 2387600"/>
              <a:gd name="connsiteX15" fmla="*/ 7704856 w 7704856"/>
              <a:gd name="connsiteY15" fmla="*/ 573024 h 2387600"/>
              <a:gd name="connsiteX16" fmla="*/ 7704856 w 7704856"/>
              <a:gd name="connsiteY16" fmla="*/ 1169924 h 2387600"/>
              <a:gd name="connsiteX17" fmla="*/ 7704856 w 7704856"/>
              <a:gd name="connsiteY17" fmla="*/ 1814576 h 2387600"/>
              <a:gd name="connsiteX18" fmla="*/ 7704856 w 7704856"/>
              <a:gd name="connsiteY18" fmla="*/ 2387600 h 2387600"/>
              <a:gd name="connsiteX19" fmla="*/ 7112175 w 7704856"/>
              <a:gd name="connsiteY19" fmla="*/ 2387600 h 2387600"/>
              <a:gd name="connsiteX20" fmla="*/ 6750639 w 7704856"/>
              <a:gd name="connsiteY20" fmla="*/ 2387600 h 2387600"/>
              <a:gd name="connsiteX21" fmla="*/ 6389104 w 7704856"/>
              <a:gd name="connsiteY21" fmla="*/ 2387600 h 2387600"/>
              <a:gd name="connsiteX22" fmla="*/ 5950520 w 7704856"/>
              <a:gd name="connsiteY22" fmla="*/ 2387600 h 2387600"/>
              <a:gd name="connsiteX23" fmla="*/ 5357838 w 7704856"/>
              <a:gd name="connsiteY23" fmla="*/ 2387600 h 2387600"/>
              <a:gd name="connsiteX24" fmla="*/ 4611060 w 7704856"/>
              <a:gd name="connsiteY24" fmla="*/ 2387600 h 2387600"/>
              <a:gd name="connsiteX25" fmla="*/ 4095427 w 7704856"/>
              <a:gd name="connsiteY25" fmla="*/ 2387600 h 2387600"/>
              <a:gd name="connsiteX26" fmla="*/ 3579795 w 7704856"/>
              <a:gd name="connsiteY26" fmla="*/ 2387600 h 2387600"/>
              <a:gd name="connsiteX27" fmla="*/ 3141211 w 7704856"/>
              <a:gd name="connsiteY27" fmla="*/ 2387600 h 2387600"/>
              <a:gd name="connsiteX28" fmla="*/ 2548529 w 7704856"/>
              <a:gd name="connsiteY28" fmla="*/ 2387600 h 2387600"/>
              <a:gd name="connsiteX29" fmla="*/ 2109945 w 7704856"/>
              <a:gd name="connsiteY29" fmla="*/ 2387600 h 2387600"/>
              <a:gd name="connsiteX30" fmla="*/ 1363167 w 7704856"/>
              <a:gd name="connsiteY30" fmla="*/ 2387600 h 2387600"/>
              <a:gd name="connsiteX31" fmla="*/ 693437 w 7704856"/>
              <a:gd name="connsiteY31" fmla="*/ 2387600 h 2387600"/>
              <a:gd name="connsiteX32" fmla="*/ 0 w 7704856"/>
              <a:gd name="connsiteY32" fmla="*/ 2387600 h 2387600"/>
              <a:gd name="connsiteX33" fmla="*/ 0 w 7704856"/>
              <a:gd name="connsiteY33" fmla="*/ 1838452 h 2387600"/>
              <a:gd name="connsiteX34" fmla="*/ 0 w 7704856"/>
              <a:gd name="connsiteY34" fmla="*/ 1217676 h 2387600"/>
              <a:gd name="connsiteX35" fmla="*/ 0 w 7704856"/>
              <a:gd name="connsiteY35" fmla="*/ 692404 h 2387600"/>
              <a:gd name="connsiteX36" fmla="*/ 0 w 7704856"/>
              <a:gd name="connsiteY36" fmla="*/ 0 h 238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7704856" h="2387600" extrusionOk="0">
                <a:moveTo>
                  <a:pt x="0" y="0"/>
                </a:moveTo>
                <a:cubicBezTo>
                  <a:pt x="236812" y="-66582"/>
                  <a:pt x="447737" y="5459"/>
                  <a:pt x="592681" y="0"/>
                </a:cubicBezTo>
                <a:cubicBezTo>
                  <a:pt x="737625" y="-5459"/>
                  <a:pt x="1083410" y="68398"/>
                  <a:pt x="1262411" y="0"/>
                </a:cubicBezTo>
                <a:cubicBezTo>
                  <a:pt x="1441412" y="-68398"/>
                  <a:pt x="1602449" y="7950"/>
                  <a:pt x="1855092" y="0"/>
                </a:cubicBezTo>
                <a:cubicBezTo>
                  <a:pt x="2107735" y="-7950"/>
                  <a:pt x="2235442" y="7826"/>
                  <a:pt x="2370725" y="0"/>
                </a:cubicBezTo>
                <a:cubicBezTo>
                  <a:pt x="2506008" y="-7826"/>
                  <a:pt x="2679766" y="24833"/>
                  <a:pt x="2886358" y="0"/>
                </a:cubicBezTo>
                <a:cubicBezTo>
                  <a:pt x="3092950" y="-24833"/>
                  <a:pt x="3119218" y="9347"/>
                  <a:pt x="3247893" y="0"/>
                </a:cubicBezTo>
                <a:cubicBezTo>
                  <a:pt x="3376569" y="-9347"/>
                  <a:pt x="3507682" y="30336"/>
                  <a:pt x="3609429" y="0"/>
                </a:cubicBezTo>
                <a:cubicBezTo>
                  <a:pt x="3711176" y="-30336"/>
                  <a:pt x="3830563" y="18799"/>
                  <a:pt x="3970964" y="0"/>
                </a:cubicBezTo>
                <a:cubicBezTo>
                  <a:pt x="4111366" y="-18799"/>
                  <a:pt x="4389162" y="56212"/>
                  <a:pt x="4640694" y="0"/>
                </a:cubicBezTo>
                <a:cubicBezTo>
                  <a:pt x="4892226" y="-56212"/>
                  <a:pt x="4938326" y="25891"/>
                  <a:pt x="5233375" y="0"/>
                </a:cubicBezTo>
                <a:cubicBezTo>
                  <a:pt x="5528424" y="-25891"/>
                  <a:pt x="5657748" y="17074"/>
                  <a:pt x="5826056" y="0"/>
                </a:cubicBezTo>
                <a:cubicBezTo>
                  <a:pt x="5994364" y="-17074"/>
                  <a:pt x="6176689" y="27214"/>
                  <a:pt x="6495786" y="0"/>
                </a:cubicBezTo>
                <a:cubicBezTo>
                  <a:pt x="6814883" y="-27214"/>
                  <a:pt x="6999118" y="53696"/>
                  <a:pt x="7165516" y="0"/>
                </a:cubicBezTo>
                <a:cubicBezTo>
                  <a:pt x="7331914" y="-53696"/>
                  <a:pt x="7490390" y="30993"/>
                  <a:pt x="7704856" y="0"/>
                </a:cubicBezTo>
                <a:cubicBezTo>
                  <a:pt x="7759372" y="147501"/>
                  <a:pt x="7656657" y="333813"/>
                  <a:pt x="7704856" y="573024"/>
                </a:cubicBezTo>
                <a:cubicBezTo>
                  <a:pt x="7753055" y="812235"/>
                  <a:pt x="7637677" y="879302"/>
                  <a:pt x="7704856" y="1169924"/>
                </a:cubicBezTo>
                <a:cubicBezTo>
                  <a:pt x="7772035" y="1460546"/>
                  <a:pt x="7642863" y="1639172"/>
                  <a:pt x="7704856" y="1814576"/>
                </a:cubicBezTo>
                <a:cubicBezTo>
                  <a:pt x="7766849" y="1989980"/>
                  <a:pt x="7647319" y="2114703"/>
                  <a:pt x="7704856" y="2387600"/>
                </a:cubicBezTo>
                <a:cubicBezTo>
                  <a:pt x="7519290" y="2456494"/>
                  <a:pt x="7319759" y="2348651"/>
                  <a:pt x="7112175" y="2387600"/>
                </a:cubicBezTo>
                <a:cubicBezTo>
                  <a:pt x="6904591" y="2426549"/>
                  <a:pt x="6921334" y="2385304"/>
                  <a:pt x="6750639" y="2387600"/>
                </a:cubicBezTo>
                <a:cubicBezTo>
                  <a:pt x="6579944" y="2389896"/>
                  <a:pt x="6559555" y="2372146"/>
                  <a:pt x="6389104" y="2387600"/>
                </a:cubicBezTo>
                <a:cubicBezTo>
                  <a:pt x="6218653" y="2403054"/>
                  <a:pt x="6105365" y="2349853"/>
                  <a:pt x="5950520" y="2387600"/>
                </a:cubicBezTo>
                <a:cubicBezTo>
                  <a:pt x="5795675" y="2425347"/>
                  <a:pt x="5651484" y="2337032"/>
                  <a:pt x="5357838" y="2387600"/>
                </a:cubicBezTo>
                <a:cubicBezTo>
                  <a:pt x="5064192" y="2438168"/>
                  <a:pt x="4929147" y="2323837"/>
                  <a:pt x="4611060" y="2387600"/>
                </a:cubicBezTo>
                <a:cubicBezTo>
                  <a:pt x="4292973" y="2451363"/>
                  <a:pt x="4201067" y="2350744"/>
                  <a:pt x="4095427" y="2387600"/>
                </a:cubicBezTo>
                <a:cubicBezTo>
                  <a:pt x="3989787" y="2424456"/>
                  <a:pt x="3748092" y="2338243"/>
                  <a:pt x="3579795" y="2387600"/>
                </a:cubicBezTo>
                <a:cubicBezTo>
                  <a:pt x="3411498" y="2436957"/>
                  <a:pt x="3329035" y="2348860"/>
                  <a:pt x="3141211" y="2387600"/>
                </a:cubicBezTo>
                <a:cubicBezTo>
                  <a:pt x="2953387" y="2426340"/>
                  <a:pt x="2842398" y="2326919"/>
                  <a:pt x="2548529" y="2387600"/>
                </a:cubicBezTo>
                <a:cubicBezTo>
                  <a:pt x="2254660" y="2448281"/>
                  <a:pt x="2228647" y="2385290"/>
                  <a:pt x="2109945" y="2387600"/>
                </a:cubicBezTo>
                <a:cubicBezTo>
                  <a:pt x="1991243" y="2389910"/>
                  <a:pt x="1727441" y="2330853"/>
                  <a:pt x="1363167" y="2387600"/>
                </a:cubicBezTo>
                <a:cubicBezTo>
                  <a:pt x="998893" y="2444347"/>
                  <a:pt x="892975" y="2307744"/>
                  <a:pt x="693437" y="2387600"/>
                </a:cubicBezTo>
                <a:cubicBezTo>
                  <a:pt x="493899" y="2467456"/>
                  <a:pt x="318073" y="2369749"/>
                  <a:pt x="0" y="2387600"/>
                </a:cubicBezTo>
                <a:cubicBezTo>
                  <a:pt x="-18513" y="2227948"/>
                  <a:pt x="42138" y="1986566"/>
                  <a:pt x="0" y="1838452"/>
                </a:cubicBezTo>
                <a:cubicBezTo>
                  <a:pt x="-42138" y="1690338"/>
                  <a:pt x="68250" y="1350909"/>
                  <a:pt x="0" y="1217676"/>
                </a:cubicBezTo>
                <a:cubicBezTo>
                  <a:pt x="-68250" y="1084443"/>
                  <a:pt x="7983" y="834789"/>
                  <a:pt x="0" y="692404"/>
                </a:cubicBezTo>
                <a:cubicBezTo>
                  <a:pt x="-7983" y="550019"/>
                  <a:pt x="20433" y="196273"/>
                  <a:pt x="0" y="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5" grpId="0"/>
      <p:bldP spid="112646" grpId="0"/>
      <p:bldP spid="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第二章 逻辑代数（</a:t>
            </a:r>
            <a:r>
              <a:rPr lang="en-US" altLang="zh-CN"/>
              <a:t>18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98D5-6648-49E3-A53C-E8681405C938}" type="slidenum">
              <a:rPr lang="en-US" altLang="zh-CN"/>
            </a:fld>
            <a:endParaRPr lang="en-US" altLang="zh-CN"/>
          </a:p>
        </p:txBody>
      </p:sp>
      <p:sp>
        <p:nvSpPr>
          <p:cNvPr id="27545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/>
              <a:t>2.1  </a:t>
            </a:r>
            <a:r>
              <a:rPr lang="zh-CN" altLang="en-US"/>
              <a:t>逻辑代数的基本运算与公式</a:t>
            </a:r>
            <a:endParaRPr lang="zh-CN" altLang="en-US"/>
          </a:p>
          <a:p>
            <a:pPr lvl="1"/>
            <a:r>
              <a:rPr lang="zh-CN" altLang="en-US"/>
              <a:t>逻辑代数的基本公式</a:t>
            </a:r>
            <a:endParaRPr lang="zh-CN" altLang="en-US"/>
          </a:p>
          <a:p>
            <a:endParaRPr lang="en-US" altLang="zh-CN"/>
          </a:p>
        </p:txBody>
      </p:sp>
      <p:sp>
        <p:nvSpPr>
          <p:cNvPr id="275466" name="Rectangle 10"/>
          <p:cNvSpPr>
            <a:spLocks noChangeArrowheads="1"/>
          </p:cNvSpPr>
          <p:nvPr/>
        </p:nvSpPr>
        <p:spPr bwMode="auto">
          <a:xfrm>
            <a:off x="1525671" y="2924959"/>
            <a:ext cx="2398257" cy="95410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包含律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r>
              <a:rPr lang="en-US" altLang="zh-CN" sz="2800" spc="-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(Consensus)</a:t>
            </a:r>
            <a:endParaRPr lang="zh-CN" altLang="en-US" sz="2800" dirty="0"/>
          </a:p>
        </p:txBody>
      </p:sp>
      <p:graphicFrame>
        <p:nvGraphicFramePr>
          <p:cNvPr id="275467" name="Object 11"/>
          <p:cNvGraphicFramePr>
            <a:graphicFrameLocks noChangeAspect="1"/>
          </p:cNvGraphicFramePr>
          <p:nvPr/>
        </p:nvGraphicFramePr>
        <p:xfrm>
          <a:off x="1331640" y="4293111"/>
          <a:ext cx="7416824" cy="151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4" name="Equation" r:id="rId1" imgW="69799200" imgH="14020800" progId="Equation.DSMT4">
                  <p:embed/>
                </p:oleObj>
              </mc:Choice>
              <mc:Fallback>
                <p:oleObj name="Equation" r:id="rId1" imgW="69799200" imgH="14020800" progId="Equation.DSMT4">
                  <p:embed/>
                  <p:pic>
                    <p:nvPicPr>
                      <p:cNvPr id="0" name="图片 226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4293111"/>
                        <a:ext cx="7416824" cy="15128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974428" y="2780928"/>
            <a:ext cx="7990060" cy="3238872"/>
          </a:xfrm>
          <a:custGeom>
            <a:avLst/>
            <a:gdLst>
              <a:gd name="connsiteX0" fmla="*/ 0 w 7990060"/>
              <a:gd name="connsiteY0" fmla="*/ 0 h 3238872"/>
              <a:gd name="connsiteX1" fmla="*/ 570719 w 7990060"/>
              <a:gd name="connsiteY1" fmla="*/ 0 h 3238872"/>
              <a:gd name="connsiteX2" fmla="*/ 1221338 w 7990060"/>
              <a:gd name="connsiteY2" fmla="*/ 0 h 3238872"/>
              <a:gd name="connsiteX3" fmla="*/ 1792056 w 7990060"/>
              <a:gd name="connsiteY3" fmla="*/ 0 h 3238872"/>
              <a:gd name="connsiteX4" fmla="*/ 2282874 w 7990060"/>
              <a:gd name="connsiteY4" fmla="*/ 0 h 3238872"/>
              <a:gd name="connsiteX5" fmla="*/ 2773692 w 7990060"/>
              <a:gd name="connsiteY5" fmla="*/ 0 h 3238872"/>
              <a:gd name="connsiteX6" fmla="*/ 3104709 w 7990060"/>
              <a:gd name="connsiteY6" fmla="*/ 0 h 3238872"/>
              <a:gd name="connsiteX7" fmla="*/ 3435726 w 7990060"/>
              <a:gd name="connsiteY7" fmla="*/ 0 h 3238872"/>
              <a:gd name="connsiteX8" fmla="*/ 3766743 w 7990060"/>
              <a:gd name="connsiteY8" fmla="*/ 0 h 3238872"/>
              <a:gd name="connsiteX9" fmla="*/ 4417362 w 7990060"/>
              <a:gd name="connsiteY9" fmla="*/ 0 h 3238872"/>
              <a:gd name="connsiteX10" fmla="*/ 4988080 w 7990060"/>
              <a:gd name="connsiteY10" fmla="*/ 0 h 3238872"/>
              <a:gd name="connsiteX11" fmla="*/ 5558799 w 7990060"/>
              <a:gd name="connsiteY11" fmla="*/ 0 h 3238872"/>
              <a:gd name="connsiteX12" fmla="*/ 6209418 w 7990060"/>
              <a:gd name="connsiteY12" fmla="*/ 0 h 3238872"/>
              <a:gd name="connsiteX13" fmla="*/ 6860037 w 7990060"/>
              <a:gd name="connsiteY13" fmla="*/ 0 h 3238872"/>
              <a:gd name="connsiteX14" fmla="*/ 7990060 w 7990060"/>
              <a:gd name="connsiteY14" fmla="*/ 0 h 3238872"/>
              <a:gd name="connsiteX15" fmla="*/ 7990060 w 7990060"/>
              <a:gd name="connsiteY15" fmla="*/ 507423 h 3238872"/>
              <a:gd name="connsiteX16" fmla="*/ 7990060 w 7990060"/>
              <a:gd name="connsiteY16" fmla="*/ 1047235 h 3238872"/>
              <a:gd name="connsiteX17" fmla="*/ 7990060 w 7990060"/>
              <a:gd name="connsiteY17" fmla="*/ 1651825 h 3238872"/>
              <a:gd name="connsiteX18" fmla="*/ 7990060 w 7990060"/>
              <a:gd name="connsiteY18" fmla="*/ 2224025 h 3238872"/>
              <a:gd name="connsiteX19" fmla="*/ 7990060 w 7990060"/>
              <a:gd name="connsiteY19" fmla="*/ 2763837 h 3238872"/>
              <a:gd name="connsiteX20" fmla="*/ 7990060 w 7990060"/>
              <a:gd name="connsiteY20" fmla="*/ 3238872 h 3238872"/>
              <a:gd name="connsiteX21" fmla="*/ 7259540 w 7990060"/>
              <a:gd name="connsiteY21" fmla="*/ 3238872 h 3238872"/>
              <a:gd name="connsiteX22" fmla="*/ 6848623 w 7990060"/>
              <a:gd name="connsiteY22" fmla="*/ 3238872 h 3238872"/>
              <a:gd name="connsiteX23" fmla="*/ 6277904 w 7990060"/>
              <a:gd name="connsiteY23" fmla="*/ 3238872 h 3238872"/>
              <a:gd name="connsiteX24" fmla="*/ 5547385 w 7990060"/>
              <a:gd name="connsiteY24" fmla="*/ 3238872 h 3238872"/>
              <a:gd name="connsiteX25" fmla="*/ 5056567 w 7990060"/>
              <a:gd name="connsiteY25" fmla="*/ 3238872 h 3238872"/>
              <a:gd name="connsiteX26" fmla="*/ 4565749 w 7990060"/>
              <a:gd name="connsiteY26" fmla="*/ 3238872 h 3238872"/>
              <a:gd name="connsiteX27" fmla="*/ 4154831 w 7990060"/>
              <a:gd name="connsiteY27" fmla="*/ 3238872 h 3238872"/>
              <a:gd name="connsiteX28" fmla="*/ 3584113 w 7990060"/>
              <a:gd name="connsiteY28" fmla="*/ 3238872 h 3238872"/>
              <a:gd name="connsiteX29" fmla="*/ 3173195 w 7990060"/>
              <a:gd name="connsiteY29" fmla="*/ 3238872 h 3238872"/>
              <a:gd name="connsiteX30" fmla="*/ 2442675 w 7990060"/>
              <a:gd name="connsiteY30" fmla="*/ 3238872 h 3238872"/>
              <a:gd name="connsiteX31" fmla="*/ 1792056 w 7990060"/>
              <a:gd name="connsiteY31" fmla="*/ 3238872 h 3238872"/>
              <a:gd name="connsiteX32" fmla="*/ 1221338 w 7990060"/>
              <a:gd name="connsiteY32" fmla="*/ 3238872 h 3238872"/>
              <a:gd name="connsiteX33" fmla="*/ 810420 w 7990060"/>
              <a:gd name="connsiteY33" fmla="*/ 3238872 h 3238872"/>
              <a:gd name="connsiteX34" fmla="*/ 0 w 7990060"/>
              <a:gd name="connsiteY34" fmla="*/ 3238872 h 3238872"/>
              <a:gd name="connsiteX35" fmla="*/ 0 w 7990060"/>
              <a:gd name="connsiteY35" fmla="*/ 2763837 h 3238872"/>
              <a:gd name="connsiteX36" fmla="*/ 0 w 7990060"/>
              <a:gd name="connsiteY36" fmla="*/ 2191637 h 3238872"/>
              <a:gd name="connsiteX37" fmla="*/ 0 w 7990060"/>
              <a:gd name="connsiteY37" fmla="*/ 1587047 h 3238872"/>
              <a:gd name="connsiteX38" fmla="*/ 0 w 7990060"/>
              <a:gd name="connsiteY38" fmla="*/ 1079624 h 3238872"/>
              <a:gd name="connsiteX39" fmla="*/ 0 w 7990060"/>
              <a:gd name="connsiteY39" fmla="*/ 539812 h 3238872"/>
              <a:gd name="connsiteX40" fmla="*/ 0 w 7990060"/>
              <a:gd name="connsiteY40" fmla="*/ 0 h 3238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7990060" h="3238872" extrusionOk="0">
                <a:moveTo>
                  <a:pt x="0" y="0"/>
                </a:moveTo>
                <a:cubicBezTo>
                  <a:pt x="146436" y="-42515"/>
                  <a:pt x="326164" y="59102"/>
                  <a:pt x="570719" y="0"/>
                </a:cubicBezTo>
                <a:cubicBezTo>
                  <a:pt x="815274" y="-59102"/>
                  <a:pt x="1089940" y="33935"/>
                  <a:pt x="1221338" y="0"/>
                </a:cubicBezTo>
                <a:cubicBezTo>
                  <a:pt x="1352736" y="-33935"/>
                  <a:pt x="1632786" y="40495"/>
                  <a:pt x="1792056" y="0"/>
                </a:cubicBezTo>
                <a:cubicBezTo>
                  <a:pt x="1951326" y="-40495"/>
                  <a:pt x="2144340" y="27692"/>
                  <a:pt x="2282874" y="0"/>
                </a:cubicBezTo>
                <a:cubicBezTo>
                  <a:pt x="2421408" y="-27692"/>
                  <a:pt x="2614797" y="9531"/>
                  <a:pt x="2773692" y="0"/>
                </a:cubicBezTo>
                <a:cubicBezTo>
                  <a:pt x="2932587" y="-9531"/>
                  <a:pt x="2949443" y="15886"/>
                  <a:pt x="3104709" y="0"/>
                </a:cubicBezTo>
                <a:cubicBezTo>
                  <a:pt x="3259975" y="-15886"/>
                  <a:pt x="3295808" y="35096"/>
                  <a:pt x="3435726" y="0"/>
                </a:cubicBezTo>
                <a:cubicBezTo>
                  <a:pt x="3575644" y="-35096"/>
                  <a:pt x="3668309" y="1439"/>
                  <a:pt x="3766743" y="0"/>
                </a:cubicBezTo>
                <a:cubicBezTo>
                  <a:pt x="3865177" y="-1439"/>
                  <a:pt x="4188089" y="41169"/>
                  <a:pt x="4417362" y="0"/>
                </a:cubicBezTo>
                <a:cubicBezTo>
                  <a:pt x="4646635" y="-41169"/>
                  <a:pt x="4854288" y="4197"/>
                  <a:pt x="4988080" y="0"/>
                </a:cubicBezTo>
                <a:cubicBezTo>
                  <a:pt x="5121872" y="-4197"/>
                  <a:pt x="5366088" y="8919"/>
                  <a:pt x="5558799" y="0"/>
                </a:cubicBezTo>
                <a:cubicBezTo>
                  <a:pt x="5751510" y="-8919"/>
                  <a:pt x="6039292" y="71278"/>
                  <a:pt x="6209418" y="0"/>
                </a:cubicBezTo>
                <a:cubicBezTo>
                  <a:pt x="6379544" y="-71278"/>
                  <a:pt x="6603091" y="75792"/>
                  <a:pt x="6860037" y="0"/>
                </a:cubicBezTo>
                <a:cubicBezTo>
                  <a:pt x="7116983" y="-75792"/>
                  <a:pt x="7500230" y="99666"/>
                  <a:pt x="7990060" y="0"/>
                </a:cubicBezTo>
                <a:cubicBezTo>
                  <a:pt x="8047895" y="201447"/>
                  <a:pt x="7949195" y="377374"/>
                  <a:pt x="7990060" y="507423"/>
                </a:cubicBezTo>
                <a:cubicBezTo>
                  <a:pt x="8030925" y="637472"/>
                  <a:pt x="7928518" y="788219"/>
                  <a:pt x="7990060" y="1047235"/>
                </a:cubicBezTo>
                <a:cubicBezTo>
                  <a:pt x="8051602" y="1306251"/>
                  <a:pt x="7969874" y="1515221"/>
                  <a:pt x="7990060" y="1651825"/>
                </a:cubicBezTo>
                <a:cubicBezTo>
                  <a:pt x="8010246" y="1788429"/>
                  <a:pt x="7966803" y="2103813"/>
                  <a:pt x="7990060" y="2224025"/>
                </a:cubicBezTo>
                <a:cubicBezTo>
                  <a:pt x="8013317" y="2344237"/>
                  <a:pt x="7966637" y="2572252"/>
                  <a:pt x="7990060" y="2763837"/>
                </a:cubicBezTo>
                <a:cubicBezTo>
                  <a:pt x="8013483" y="2955422"/>
                  <a:pt x="7971152" y="3134619"/>
                  <a:pt x="7990060" y="3238872"/>
                </a:cubicBezTo>
                <a:cubicBezTo>
                  <a:pt x="7805650" y="3320569"/>
                  <a:pt x="7430131" y="3159802"/>
                  <a:pt x="7259540" y="3238872"/>
                </a:cubicBezTo>
                <a:cubicBezTo>
                  <a:pt x="7088949" y="3317942"/>
                  <a:pt x="6945489" y="3211751"/>
                  <a:pt x="6848623" y="3238872"/>
                </a:cubicBezTo>
                <a:cubicBezTo>
                  <a:pt x="6751757" y="3265993"/>
                  <a:pt x="6550847" y="3202357"/>
                  <a:pt x="6277904" y="3238872"/>
                </a:cubicBezTo>
                <a:cubicBezTo>
                  <a:pt x="6004961" y="3275387"/>
                  <a:pt x="5711086" y="3214821"/>
                  <a:pt x="5547385" y="3238872"/>
                </a:cubicBezTo>
                <a:cubicBezTo>
                  <a:pt x="5383684" y="3262923"/>
                  <a:pt x="5249759" y="3204710"/>
                  <a:pt x="5056567" y="3238872"/>
                </a:cubicBezTo>
                <a:cubicBezTo>
                  <a:pt x="4863375" y="3273034"/>
                  <a:pt x="4778091" y="3229706"/>
                  <a:pt x="4565749" y="3238872"/>
                </a:cubicBezTo>
                <a:cubicBezTo>
                  <a:pt x="4353407" y="3248038"/>
                  <a:pt x="4331450" y="3199964"/>
                  <a:pt x="4154831" y="3238872"/>
                </a:cubicBezTo>
                <a:cubicBezTo>
                  <a:pt x="3978212" y="3277780"/>
                  <a:pt x="3750633" y="3216080"/>
                  <a:pt x="3584113" y="3238872"/>
                </a:cubicBezTo>
                <a:cubicBezTo>
                  <a:pt x="3417593" y="3261664"/>
                  <a:pt x="3264068" y="3195617"/>
                  <a:pt x="3173195" y="3238872"/>
                </a:cubicBezTo>
                <a:cubicBezTo>
                  <a:pt x="3082322" y="3282127"/>
                  <a:pt x="2762058" y="3237457"/>
                  <a:pt x="2442675" y="3238872"/>
                </a:cubicBezTo>
                <a:cubicBezTo>
                  <a:pt x="2123292" y="3240287"/>
                  <a:pt x="2037074" y="3235967"/>
                  <a:pt x="1792056" y="3238872"/>
                </a:cubicBezTo>
                <a:cubicBezTo>
                  <a:pt x="1547038" y="3241777"/>
                  <a:pt x="1435019" y="3207406"/>
                  <a:pt x="1221338" y="3238872"/>
                </a:cubicBezTo>
                <a:cubicBezTo>
                  <a:pt x="1007657" y="3270338"/>
                  <a:pt x="973297" y="3200937"/>
                  <a:pt x="810420" y="3238872"/>
                </a:cubicBezTo>
                <a:cubicBezTo>
                  <a:pt x="647543" y="3276807"/>
                  <a:pt x="255647" y="3185938"/>
                  <a:pt x="0" y="3238872"/>
                </a:cubicBezTo>
                <a:cubicBezTo>
                  <a:pt x="-25297" y="3063093"/>
                  <a:pt x="52754" y="2934860"/>
                  <a:pt x="0" y="2763837"/>
                </a:cubicBezTo>
                <a:cubicBezTo>
                  <a:pt x="-52754" y="2592815"/>
                  <a:pt x="38421" y="2345805"/>
                  <a:pt x="0" y="2191637"/>
                </a:cubicBezTo>
                <a:cubicBezTo>
                  <a:pt x="-38421" y="2037469"/>
                  <a:pt x="61943" y="1743199"/>
                  <a:pt x="0" y="1587047"/>
                </a:cubicBezTo>
                <a:cubicBezTo>
                  <a:pt x="-61943" y="1430895"/>
                  <a:pt x="5714" y="1272897"/>
                  <a:pt x="0" y="1079624"/>
                </a:cubicBezTo>
                <a:cubicBezTo>
                  <a:pt x="-5714" y="886351"/>
                  <a:pt x="20646" y="727713"/>
                  <a:pt x="0" y="539812"/>
                </a:cubicBezTo>
                <a:cubicBezTo>
                  <a:pt x="-20646" y="351911"/>
                  <a:pt x="17807" y="250862"/>
                  <a:pt x="0" y="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5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5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5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5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66" grpId="0" autoUpdateAnimBg="0"/>
      <p:bldP spid="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逻辑代数（</a:t>
            </a:r>
            <a:r>
              <a:rPr lang="en-US" altLang="zh-CN" dirty="0"/>
              <a:t>19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5E2-CB68-42E6-A5AF-574D39E186A5}" type="slidenum">
              <a:rPr lang="en-US" altLang="zh-CN" smtClean="0"/>
            </a:fld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/>
              <a:t>反演规则</a:t>
            </a:r>
            <a:endParaRPr lang="en-US" altLang="zh-CN" dirty="0"/>
          </a:p>
          <a:p>
            <a:pPr lvl="1"/>
            <a:r>
              <a:rPr lang="zh-CN" altLang="en-US" sz="2200" dirty="0"/>
              <a:t>设</a:t>
            </a:r>
            <a:r>
              <a:rPr lang="en-US" altLang="zh-CN" sz="2200" dirty="0"/>
              <a:t>F</a:t>
            </a:r>
            <a:r>
              <a:rPr lang="zh-CN" altLang="en-US" sz="2200" dirty="0"/>
              <a:t>是逻辑函数，如将函数</a:t>
            </a:r>
            <a:r>
              <a:rPr lang="en-US" altLang="zh-CN" sz="2200" dirty="0"/>
              <a:t>F</a:t>
            </a:r>
            <a:r>
              <a:rPr lang="zh-CN" altLang="en-US" sz="2200" dirty="0"/>
              <a:t>中所有“与”符号换为“或”符号；所有“或”符号换为“与”符合；所有原变量换为反变量；所有反变量换为原变量；“</a:t>
            </a:r>
            <a:r>
              <a:rPr lang="en-US" altLang="zh-CN" sz="2200" dirty="0"/>
              <a:t>0</a:t>
            </a:r>
            <a:r>
              <a:rPr lang="zh-CN" altLang="en-US" sz="2200" dirty="0"/>
              <a:t>”换成“</a:t>
            </a:r>
            <a:r>
              <a:rPr lang="en-US" altLang="zh-CN" sz="2200" dirty="0"/>
              <a:t>1</a:t>
            </a:r>
            <a:r>
              <a:rPr lang="zh-CN" altLang="en-US" sz="2200" dirty="0"/>
              <a:t>”；“</a:t>
            </a:r>
            <a:r>
              <a:rPr lang="en-US" altLang="zh-CN" sz="2200" dirty="0"/>
              <a:t>1</a:t>
            </a:r>
            <a:r>
              <a:rPr lang="zh-CN" altLang="en-US" sz="2200" dirty="0"/>
              <a:t>”换成“</a:t>
            </a:r>
            <a:r>
              <a:rPr lang="en-US" altLang="zh-CN" sz="2200" dirty="0"/>
              <a:t>0</a:t>
            </a:r>
            <a:r>
              <a:rPr lang="zh-CN" altLang="en-US" sz="2200" dirty="0"/>
              <a:t>”，所得新的逻辑表达式为原函数的反函数。</a:t>
            </a:r>
            <a:endParaRPr lang="en-US" altLang="zh-CN" sz="2200" dirty="0"/>
          </a:p>
          <a:p>
            <a:pPr lvl="1"/>
            <a:r>
              <a:rPr lang="zh-CN" altLang="en-US" sz="2200" dirty="0"/>
              <a:t>利用反演规则可以方便地求得函数的反函数。</a:t>
            </a:r>
            <a:endParaRPr lang="en-US" altLang="zh-CN" sz="2200" dirty="0"/>
          </a:p>
          <a:p>
            <a:pPr lvl="1"/>
            <a:endParaRPr lang="en-US" altLang="zh-CN" sz="2200" dirty="0"/>
          </a:p>
          <a:p>
            <a:r>
              <a:rPr lang="zh-CN" altLang="en-US" dirty="0"/>
              <a:t>对偶规则</a:t>
            </a:r>
            <a:endParaRPr lang="en-US" altLang="zh-CN" dirty="0"/>
          </a:p>
          <a:p>
            <a:pPr lvl="1"/>
            <a:r>
              <a:rPr lang="zh-CN" altLang="en-US" sz="2200" dirty="0"/>
              <a:t>如果将逻辑函数</a:t>
            </a:r>
            <a:r>
              <a:rPr lang="en-US" altLang="zh-CN" sz="2200" dirty="0"/>
              <a:t>F</a:t>
            </a:r>
            <a:r>
              <a:rPr lang="zh-CN" altLang="en-US" sz="2200" dirty="0"/>
              <a:t>中的“与”符号换为“或”符号；将“或”符号换为“与”符号；将“</a:t>
            </a:r>
            <a:r>
              <a:rPr lang="en-US" altLang="zh-CN" sz="2200" dirty="0"/>
              <a:t>1</a:t>
            </a:r>
            <a:r>
              <a:rPr lang="zh-CN" altLang="en-US" sz="2200" dirty="0"/>
              <a:t>”换为“</a:t>
            </a:r>
            <a:r>
              <a:rPr lang="en-US" altLang="zh-CN" sz="2200" dirty="0"/>
              <a:t>0</a:t>
            </a:r>
            <a:r>
              <a:rPr lang="zh-CN" altLang="en-US" sz="2200" dirty="0"/>
              <a:t>”，将“</a:t>
            </a:r>
            <a:r>
              <a:rPr lang="en-US" altLang="zh-CN" sz="2200" dirty="0"/>
              <a:t>0</a:t>
            </a:r>
            <a:r>
              <a:rPr lang="zh-CN" altLang="en-US" sz="2200" dirty="0"/>
              <a:t>”换为“</a:t>
            </a:r>
            <a:r>
              <a:rPr lang="en-US" altLang="zh-CN" sz="2200" dirty="0"/>
              <a:t>1</a:t>
            </a:r>
            <a:r>
              <a:rPr lang="zh-CN" altLang="en-US" sz="2200" dirty="0"/>
              <a:t>”；但逻辑变量不进行反变换，得到新的逻辑函数表达式，记作</a:t>
            </a:r>
            <a:r>
              <a:rPr lang="en-US" altLang="zh-CN" sz="2200" dirty="0"/>
              <a:t>F’</a:t>
            </a:r>
            <a:r>
              <a:rPr lang="zh-CN" altLang="en-US" sz="2200" dirty="0"/>
              <a:t>，把</a:t>
            </a:r>
            <a:r>
              <a:rPr lang="en-US" altLang="zh-CN" sz="2200" dirty="0"/>
              <a:t>F’</a:t>
            </a:r>
            <a:r>
              <a:rPr lang="zh-CN" altLang="en-US" sz="2200" dirty="0"/>
              <a:t>称为</a:t>
            </a:r>
            <a:r>
              <a:rPr lang="en-US" altLang="zh-CN" sz="2200" dirty="0"/>
              <a:t>F</a:t>
            </a:r>
            <a:r>
              <a:rPr lang="zh-CN" altLang="en-US" sz="2200" dirty="0"/>
              <a:t>的对偶式，获得对偶式的规则称为对偶规则。</a:t>
            </a:r>
            <a:endParaRPr lang="zh-CN" altLang="en-US" sz="2200" dirty="0"/>
          </a:p>
        </p:txBody>
      </p:sp>
    </p:spTree>
  </p:cSld>
  <p:clrMapOvr>
    <a:masterClrMapping/>
  </p:clrMapOvr>
  <p:transition spd="slow">
    <p:pull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逻辑代数（</a:t>
            </a:r>
            <a:r>
              <a:rPr lang="en-US" altLang="zh-CN" dirty="0"/>
              <a:t>20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82652-23E6-4B61-8642-50FD12A654D8}" type="slidenum">
              <a:rPr lang="en-US" altLang="zh-CN"/>
            </a:fld>
            <a:endParaRPr lang="en-US" altLang="zh-CN"/>
          </a:p>
        </p:txBody>
      </p:sp>
      <p:sp>
        <p:nvSpPr>
          <p:cNvPr id="1136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12460" cy="4607024"/>
          </a:xfrm>
        </p:spPr>
        <p:txBody>
          <a:bodyPr/>
          <a:lstStyle/>
          <a:p>
            <a:r>
              <a:rPr lang="en-US" altLang="zh-CN" dirty="0"/>
              <a:t>2.1  </a:t>
            </a:r>
            <a:r>
              <a:rPr lang="zh-CN" altLang="en-US" dirty="0"/>
              <a:t>逻辑代数的基本运算与公式</a:t>
            </a:r>
            <a:endParaRPr lang="zh-CN" altLang="en-US" dirty="0"/>
          </a:p>
          <a:p>
            <a:pPr lvl="1"/>
            <a:r>
              <a:rPr lang="zh-CN" altLang="en-US" dirty="0"/>
              <a:t>逻辑代数的基本公式</a:t>
            </a:r>
            <a:br>
              <a:rPr lang="en-US" altLang="zh-CN" dirty="0"/>
            </a:br>
            <a:r>
              <a:rPr lang="zh-CN" altLang="en-US" sz="2400" dirty="0"/>
              <a:t>（可适用任意多个变量，以</a:t>
            </a:r>
            <a:r>
              <a:rPr lang="en-US" altLang="zh-CN" sz="2400" dirty="0"/>
              <a:t>3</a:t>
            </a:r>
            <a:r>
              <a:rPr lang="zh-CN" altLang="en-US" sz="2400" dirty="0"/>
              <a:t>变量为例）</a:t>
            </a:r>
            <a:endParaRPr lang="zh-CN" altLang="en-US" dirty="0"/>
          </a:p>
          <a:p>
            <a:endParaRPr lang="en-US" altLang="zh-CN" dirty="0"/>
          </a:p>
        </p:txBody>
      </p:sp>
      <p:sp>
        <p:nvSpPr>
          <p:cNvPr id="113674" name="Rectangle 10"/>
          <p:cNvSpPr>
            <a:spLocks noChangeArrowheads="1"/>
          </p:cNvSpPr>
          <p:nvPr/>
        </p:nvSpPr>
        <p:spPr bwMode="auto">
          <a:xfrm>
            <a:off x="1314450" y="2951654"/>
            <a:ext cx="1961406" cy="22467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800" b="1" dirty="0"/>
              <a:t>反演规则：</a:t>
            </a:r>
            <a:endParaRPr lang="en-US" altLang="zh-CN" sz="2800" b="1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b="1" dirty="0"/>
              <a:t>对偶规则：</a:t>
            </a:r>
            <a:endParaRPr lang="zh-CN" altLang="en-US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1113689" y="3471378"/>
                <a:ext cx="3962367" cy="462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/>
                        </a:rPr>
                        <m:t>F</m:t>
                      </m:r>
                      <m:r>
                        <a:rPr lang="en-US" altLang="zh-CN">
                          <a:latin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/>
                        </a:rPr>
                        <m:t>ABC</m:t>
                      </m:r>
                      <m:r>
                        <a:rPr lang="zh-CN" altLang="zh-CN">
                          <a:latin typeface="Cambria Math" panose="02040503050406030204"/>
                        </a:rPr>
                        <m:t>＋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/>
                        </a:rPr>
                        <m:t>AB</m:t>
                      </m:r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/>
                            </a:rPr>
                            <m:t>C</m:t>
                          </m:r>
                        </m:e>
                      </m:acc>
                      <m:r>
                        <a:rPr lang="zh-CN" altLang="zh-CN">
                          <a:latin typeface="Cambria Math" panose="02040503050406030204"/>
                        </a:rPr>
                        <m:t>＋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/>
                            </a:rPr>
                            <m:t>B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/>
                        </a:rPr>
                        <m:t>C</m:t>
                      </m:r>
                      <m:r>
                        <a:rPr lang="zh-CN" altLang="zh-CN">
                          <a:latin typeface="Cambria Math" panose="02040503050406030204"/>
                        </a:rPr>
                        <m:t>＋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/>
                            </a:rPr>
                            <m:t>B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/>
                            </a:rPr>
                            <m:t>C</m:t>
                          </m:r>
                        </m:e>
                      </m:acc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689" y="3471378"/>
                <a:ext cx="3962367" cy="462434"/>
              </a:xfrm>
              <a:prstGeom prst="rect">
                <a:avLst/>
              </a:prstGeom>
              <a:blipFill rotWithShape="1">
                <a:blip r:embed="rId1"/>
                <a:stretch>
                  <a:fillRect l="-13" t="-101" r="13" b="1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1043608" y="4017055"/>
                <a:ext cx="8010078" cy="4624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/>
                            </a:rPr>
                            <m:t>F</m:t>
                          </m:r>
                        </m:e>
                      </m:acc>
                      <m:r>
                        <a:rPr lang="en-US" altLang="zh-CN">
                          <a:latin typeface="Cambria Math" panose="02040503050406030204"/>
                        </a:rPr>
                        <m:t>=</m:t>
                      </m:r>
                      <m:r>
                        <a:rPr lang="zh-CN" altLang="zh-CN">
                          <a:latin typeface="Cambria Math" panose="02040503050406030204"/>
                        </a:rPr>
                        <m:t>（</m:t>
                      </m:r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/>
                            </a:rPr>
                            <m:t>A</m:t>
                          </m:r>
                        </m:e>
                      </m:acc>
                      <m:r>
                        <a:rPr lang="zh-CN" altLang="zh-CN">
                          <a:latin typeface="Cambria Math" panose="02040503050406030204"/>
                        </a:rPr>
                        <m:t>＋</m:t>
                      </m:r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/>
                            </a:rPr>
                            <m:t>B</m:t>
                          </m:r>
                        </m:e>
                      </m:acc>
                      <m:r>
                        <a:rPr lang="zh-CN" altLang="zh-CN">
                          <a:latin typeface="Cambria Math" panose="02040503050406030204"/>
                        </a:rPr>
                        <m:t>＋</m:t>
                      </m:r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/>
                            </a:rPr>
                            <m:t>C</m:t>
                          </m:r>
                        </m:e>
                      </m:acc>
                      <m:r>
                        <a:rPr lang="zh-CN" altLang="zh-CN">
                          <a:latin typeface="Cambria Math" panose="02040503050406030204"/>
                        </a:rPr>
                        <m:t>）（</m:t>
                      </m:r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/>
                            </a:rPr>
                            <m:t>A</m:t>
                          </m:r>
                        </m:e>
                      </m:acc>
                      <m:r>
                        <a:rPr lang="zh-CN" altLang="zh-CN">
                          <a:latin typeface="Cambria Math" panose="02040503050406030204"/>
                        </a:rPr>
                        <m:t>＋</m:t>
                      </m:r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/>
                            </a:rPr>
                            <m:t>B</m:t>
                          </m:r>
                        </m:e>
                      </m:acc>
                      <m:r>
                        <a:rPr lang="zh-CN" altLang="zh-CN">
                          <a:latin typeface="Cambria Math" panose="02040503050406030204"/>
                        </a:rPr>
                        <m:t>＋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/>
                        </a:rPr>
                        <m:t>C</m:t>
                      </m:r>
                      <m:r>
                        <a:rPr lang="zh-CN" altLang="zh-CN">
                          <a:latin typeface="Cambria Math" panose="02040503050406030204"/>
                        </a:rPr>
                        <m:t>）（</m:t>
                      </m:r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/>
                            </a:rPr>
                            <m:t>A</m:t>
                          </m:r>
                        </m:e>
                      </m:acc>
                      <m:r>
                        <a:rPr lang="zh-CN" altLang="zh-CN">
                          <a:latin typeface="Cambria Math" panose="02040503050406030204"/>
                        </a:rPr>
                        <m:t>＋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/>
                        </a:rPr>
                        <m:t>B</m:t>
                      </m:r>
                      <m:r>
                        <a:rPr lang="zh-CN" altLang="zh-CN">
                          <a:latin typeface="Cambria Math" panose="02040503050406030204"/>
                        </a:rPr>
                        <m:t>＋</m:t>
                      </m:r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/>
                            </a:rPr>
                            <m:t>C</m:t>
                          </m:r>
                        </m:e>
                      </m:acc>
                      <m:r>
                        <a:rPr lang="zh-CN" altLang="zh-CN">
                          <a:latin typeface="Cambria Math" panose="02040503050406030204"/>
                        </a:rPr>
                        <m:t>）（</m:t>
                      </m:r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/>
                            </a:rPr>
                            <m:t>A</m:t>
                          </m:r>
                        </m:e>
                      </m:acc>
                      <m:r>
                        <a:rPr lang="zh-CN" altLang="zh-CN">
                          <a:latin typeface="Cambria Math" panose="02040503050406030204"/>
                        </a:rPr>
                        <m:t>＋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/>
                        </a:rPr>
                        <m:t>B</m:t>
                      </m:r>
                      <m:r>
                        <a:rPr lang="zh-CN" altLang="zh-CN">
                          <a:latin typeface="Cambria Math" panose="02040503050406030204"/>
                        </a:rPr>
                        <m:t>＋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/>
                        </a:rPr>
                        <m:t>C</m:t>
                      </m:r>
                      <m:r>
                        <a:rPr lang="zh-CN" altLang="zh-CN">
                          <a:latin typeface="Cambria Math" panose="02040503050406030204"/>
                        </a:rPr>
                        <m:t>）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4017055"/>
                <a:ext cx="8010078" cy="462434"/>
              </a:xfrm>
              <a:prstGeom prst="rect">
                <a:avLst/>
              </a:prstGeom>
              <a:blipFill rotWithShape="1">
                <a:blip r:embed="rId2"/>
                <a:stretch>
                  <a:fillRect l="-4" t="-10" r="6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2033723" y="5241975"/>
                <a:ext cx="230325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/>
                        </a:rPr>
                        <m:t>F</m:t>
                      </m:r>
                      <m:r>
                        <a:rPr lang="en-US" altLang="zh-CN">
                          <a:latin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/>
                        </a:rPr>
                        <m:t>A</m:t>
                      </m:r>
                      <m:r>
                        <a:rPr lang="zh-CN" altLang="zh-CN">
                          <a:latin typeface="Cambria Math" panose="02040503050406030204"/>
                        </a:rPr>
                        <m:t>（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/>
                        </a:rPr>
                        <m:t>B</m:t>
                      </m:r>
                      <m:r>
                        <a:rPr lang="zh-CN" altLang="zh-CN">
                          <a:latin typeface="Cambria Math" panose="02040503050406030204"/>
                        </a:rPr>
                        <m:t>＋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/>
                        </a:rPr>
                        <m:t>C</m:t>
                      </m:r>
                      <m:r>
                        <a:rPr lang="zh-CN" altLang="zh-CN">
                          <a:latin typeface="Cambria Math" panose="02040503050406030204"/>
                        </a:rPr>
                        <m:t>）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3723" y="5241975"/>
                <a:ext cx="2303259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20" t="-11" r="25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2033719" y="5775648"/>
                <a:ext cx="175503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/>
                        </a:rPr>
                        <m:t>F</m:t>
                      </m:r>
                      <m:r>
                        <a:rPr lang="en-US" altLang="zh-CN">
                          <a:latin typeface="Cambria Math" panose="02040503050406030204"/>
                        </a:rPr>
                        <m:t>’=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/>
                        </a:rPr>
                        <m:t>A</m:t>
                      </m:r>
                      <m:r>
                        <a:rPr lang="zh-CN" altLang="zh-CN">
                          <a:latin typeface="Cambria Math" panose="02040503050406030204"/>
                        </a:rPr>
                        <m:t>＋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/>
                        </a:rPr>
                        <m:t>BC</m:t>
                      </m:r>
                    </m:oMath>
                  </m:oMathPara>
                </a14:m>
                <a:endParaRPr lang="zh-CN" altLang="zh-CN" dirty="0"/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3719" y="5775648"/>
                <a:ext cx="1755032" cy="461665"/>
              </a:xfrm>
              <a:prstGeom prst="rect">
                <a:avLst/>
              </a:prstGeom>
              <a:blipFill rotWithShape="1">
                <a:blip r:embed="rId4"/>
                <a:stretch>
                  <a:fillRect l="-26" t="-70" r="19" b="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4427984" y="5103475"/>
            <a:ext cx="4369901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dirty="0"/>
              <a:t>函数</a:t>
            </a:r>
            <a:r>
              <a:rPr lang="en-US" altLang="zh-CN" dirty="0"/>
              <a:t>F</a:t>
            </a:r>
            <a:r>
              <a:rPr lang="zh-CN" altLang="en-US" dirty="0"/>
              <a:t>和</a:t>
            </a:r>
            <a:r>
              <a:rPr lang="en-US" altLang="zh-CN" dirty="0"/>
              <a:t>G</a:t>
            </a:r>
            <a:r>
              <a:rPr lang="zh-CN" altLang="en-US" dirty="0"/>
              <a:t>相等，则</a:t>
            </a:r>
            <a:r>
              <a:rPr lang="en-US" altLang="zh-CN" dirty="0"/>
              <a:t>F’</a:t>
            </a:r>
            <a:r>
              <a:rPr lang="zh-CN" altLang="en-US" dirty="0"/>
              <a:t>和</a:t>
            </a:r>
            <a:r>
              <a:rPr lang="en-US" altLang="zh-CN" dirty="0"/>
              <a:t>G’</a:t>
            </a:r>
            <a:r>
              <a:rPr lang="zh-CN" altLang="en-US" dirty="0"/>
              <a:t>也相等。</a:t>
            </a:r>
            <a:endParaRPr lang="en-US" altLang="zh-CN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dirty="0"/>
              <a:t>对偶的对偶，为函数自身。</a:t>
            </a:r>
            <a:endParaRPr lang="zh-CN" altLang="en-US" dirty="0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  <p:bldP spid="18" grpId="0" animBg="1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逻辑代数（</a:t>
            </a:r>
            <a:r>
              <a:rPr lang="en-US" altLang="zh-CN" dirty="0"/>
              <a:t>21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82652-23E6-4B61-8642-50FD12A654D8}" type="slidenum">
              <a:rPr lang="en-US" altLang="zh-CN"/>
            </a:fld>
            <a:endParaRPr lang="en-US" altLang="zh-CN"/>
          </a:p>
        </p:txBody>
      </p:sp>
      <p:sp>
        <p:nvSpPr>
          <p:cNvPr id="11366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/>
              <a:t>2.1  </a:t>
            </a:r>
            <a:r>
              <a:rPr lang="zh-CN" altLang="en-US"/>
              <a:t>逻辑代数的基本运算与公式</a:t>
            </a:r>
            <a:endParaRPr lang="zh-CN" altLang="en-US"/>
          </a:p>
          <a:p>
            <a:pPr lvl="1"/>
            <a:r>
              <a:rPr lang="zh-CN" altLang="en-US"/>
              <a:t>逻辑代数的基本公式</a:t>
            </a:r>
            <a:endParaRPr lang="zh-CN" altLang="en-US"/>
          </a:p>
          <a:p>
            <a:endParaRPr lang="en-US" altLang="zh-CN"/>
          </a:p>
        </p:txBody>
      </p:sp>
      <p:sp>
        <p:nvSpPr>
          <p:cNvPr id="113674" name="Rectangle 10"/>
          <p:cNvSpPr>
            <a:spLocks noChangeArrowheads="1"/>
          </p:cNvSpPr>
          <p:nvPr/>
        </p:nvSpPr>
        <p:spPr bwMode="auto">
          <a:xfrm>
            <a:off x="882392" y="2937976"/>
            <a:ext cx="217744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800" dirty="0"/>
              <a:t>包含律推论</a:t>
            </a:r>
            <a:endParaRPr lang="zh-CN" altLang="en-US" sz="2800" dirty="0"/>
          </a:p>
        </p:txBody>
      </p:sp>
      <p:graphicFrame>
        <p:nvGraphicFramePr>
          <p:cNvPr id="113675" name="Object 11"/>
          <p:cNvGraphicFramePr>
            <a:graphicFrameLocks noChangeAspect="1"/>
          </p:cNvGraphicFramePr>
          <p:nvPr/>
        </p:nvGraphicFramePr>
        <p:xfrm>
          <a:off x="2902764" y="2636927"/>
          <a:ext cx="4535907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4" name="公式" r:id="rId1" imgW="1968500" imgH="292100" progId="Equation.3">
                  <p:embed/>
                </p:oleObj>
              </mc:Choice>
              <mc:Fallback>
                <p:oleObj name="公式" r:id="rId1" imgW="1968500" imgH="292100" progId="Equation.3">
                  <p:embed/>
                  <p:pic>
                    <p:nvPicPr>
                      <p:cNvPr id="0" name="图片 239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2764" y="2636927"/>
                        <a:ext cx="4535907" cy="7540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76" name="Rectangle 12"/>
          <p:cNvSpPr>
            <a:spLocks noChangeArrowheads="1"/>
          </p:cNvSpPr>
          <p:nvPr/>
        </p:nvSpPr>
        <p:spPr bwMode="auto">
          <a:xfrm>
            <a:off x="899581" y="3773992"/>
            <a:ext cx="1183851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800" dirty="0"/>
              <a:t>证明：</a:t>
            </a:r>
            <a:endParaRPr lang="zh-CN" altLang="en-US" sz="2800" dirty="0"/>
          </a:p>
        </p:txBody>
      </p:sp>
      <p:graphicFrame>
        <p:nvGraphicFramePr>
          <p:cNvPr id="113677" name="Object 13"/>
          <p:cNvGraphicFramePr>
            <a:graphicFrameLocks noChangeAspect="1"/>
          </p:cNvGraphicFramePr>
          <p:nvPr/>
        </p:nvGraphicFramePr>
        <p:xfrm>
          <a:off x="2351505" y="3489325"/>
          <a:ext cx="6468967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5" name="公式" r:id="rId3" imgW="2806700" imgH="292100" progId="Equation.3">
                  <p:embed/>
                </p:oleObj>
              </mc:Choice>
              <mc:Fallback>
                <p:oleObj name="公式" r:id="rId3" imgW="2806700" imgH="292100" progId="Equation.3">
                  <p:embed/>
                  <p:pic>
                    <p:nvPicPr>
                      <p:cNvPr id="0" name="图片 239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05" y="3489325"/>
                        <a:ext cx="6468967" cy="7556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8" name="Object 14"/>
          <p:cNvGraphicFramePr>
            <a:graphicFrameLocks noChangeAspect="1"/>
          </p:cNvGraphicFramePr>
          <p:nvPr/>
        </p:nvGraphicFramePr>
        <p:xfrm>
          <a:off x="4585358" y="4175125"/>
          <a:ext cx="3835032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6" name="公式" r:id="rId5" imgW="1663065" imgH="317500" progId="Equation.3">
                  <p:embed/>
                </p:oleObj>
              </mc:Choice>
              <mc:Fallback>
                <p:oleObj name="公式" r:id="rId5" imgW="1663065" imgH="317500" progId="Equation.3">
                  <p:embed/>
                  <p:pic>
                    <p:nvPicPr>
                      <p:cNvPr id="0" name="图片 239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5358" y="4175125"/>
                        <a:ext cx="3835032" cy="8207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9" name="Object 15"/>
          <p:cNvGraphicFramePr>
            <a:graphicFrameLocks noChangeAspect="1"/>
          </p:cNvGraphicFramePr>
          <p:nvPr/>
        </p:nvGraphicFramePr>
        <p:xfrm>
          <a:off x="4609458" y="4860940"/>
          <a:ext cx="2780893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7" name="公式" r:id="rId7" imgW="1206500" imgH="292100" progId="Equation.3">
                  <p:embed/>
                </p:oleObj>
              </mc:Choice>
              <mc:Fallback>
                <p:oleObj name="公式" r:id="rId7" imgW="1206500" imgH="292100" progId="Equation.3">
                  <p:embed/>
                  <p:pic>
                    <p:nvPicPr>
                      <p:cNvPr id="0" name="图片 239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9458" y="4860940"/>
                        <a:ext cx="2780893" cy="7540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80" name="Object 16"/>
          <p:cNvGraphicFramePr>
            <a:graphicFrameLocks noChangeAspect="1"/>
          </p:cNvGraphicFramePr>
          <p:nvPr/>
        </p:nvGraphicFramePr>
        <p:xfrm>
          <a:off x="4630361" y="5470525"/>
          <a:ext cx="1901972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8" name="公式" r:id="rId9" imgW="825500" imgH="292100" progId="Equation.3">
                  <p:embed/>
                </p:oleObj>
              </mc:Choice>
              <mc:Fallback>
                <p:oleObj name="公式" r:id="rId9" imgW="825500" imgH="292100" progId="Equation.3">
                  <p:embed/>
                  <p:pic>
                    <p:nvPicPr>
                      <p:cNvPr id="0" name="图片 239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0361" y="5470525"/>
                        <a:ext cx="1901972" cy="7556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/>
          <p:cNvCxnSpPr/>
          <p:nvPr/>
        </p:nvCxnSpPr>
        <p:spPr>
          <a:xfrm>
            <a:off x="2411760" y="4297212"/>
            <a:ext cx="129614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V="1">
            <a:off x="5364088" y="4244975"/>
            <a:ext cx="2376264" cy="248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3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3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3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3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3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13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13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13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13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74" grpId="0" autoUpdateAnimBg="0"/>
      <p:bldP spid="113676" grpId="0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逻辑代数（</a:t>
            </a:r>
            <a:r>
              <a:rPr lang="en-US" altLang="zh-CN" dirty="0"/>
              <a:t>22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7F0A4-7A2D-44F1-95F0-6DCC6A768C57}" type="slidenum">
              <a:rPr lang="en-US" altLang="zh-CN"/>
            </a:fld>
            <a:endParaRPr lang="en-US" altLang="zh-CN"/>
          </a:p>
        </p:txBody>
      </p:sp>
      <p:sp>
        <p:nvSpPr>
          <p:cNvPr id="2734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12460" cy="4607024"/>
          </a:xfrm>
        </p:spPr>
        <p:txBody>
          <a:bodyPr>
            <a:normAutofit/>
          </a:bodyPr>
          <a:lstStyle/>
          <a:p>
            <a:r>
              <a:rPr lang="en-US" altLang="zh-CN" dirty="0"/>
              <a:t>2.1  </a:t>
            </a:r>
            <a:r>
              <a:rPr lang="zh-CN" altLang="en-US" dirty="0"/>
              <a:t>逻辑代数的基本运算与公式</a:t>
            </a:r>
            <a:br>
              <a:rPr lang="en-US" altLang="zh-CN" dirty="0"/>
            </a:br>
            <a:r>
              <a:rPr lang="en-US" altLang="zh-CN" dirty="0"/>
              <a:t>——</a:t>
            </a:r>
            <a:r>
              <a:rPr lang="zh-CN" altLang="en-US" dirty="0"/>
              <a:t>小结</a:t>
            </a:r>
            <a:endParaRPr lang="zh-CN" altLang="en-US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逻辑代数的基本运算：基本运算、常用运算</a:t>
            </a:r>
            <a:endParaRPr lang="zh-CN" altLang="en-US" dirty="0"/>
          </a:p>
          <a:p>
            <a:pPr lvl="1"/>
            <a:r>
              <a:rPr lang="zh-CN" altLang="en-US" dirty="0"/>
              <a:t>逻辑代数的基本公式：</a:t>
            </a:r>
            <a:endParaRPr lang="en-US" altLang="zh-CN" dirty="0"/>
          </a:p>
          <a:p>
            <a:pPr lvl="1">
              <a:buNone/>
            </a:pPr>
            <a:r>
              <a:rPr lang="zh-CN" altLang="en-US" dirty="0"/>
              <a:t>    各种运算基本公式</a:t>
            </a:r>
            <a:endParaRPr lang="zh-CN" altLang="en-US" dirty="0"/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b="0" dirty="0"/>
              <a:t>      提醒注意“</a:t>
            </a:r>
            <a:r>
              <a:rPr lang="zh-CN" altLang="en-US" b="0" dirty="0">
                <a:solidFill>
                  <a:srgbClr val="FF0000"/>
                </a:solidFill>
              </a:rPr>
              <a:t>吸收律</a:t>
            </a:r>
            <a:r>
              <a:rPr lang="zh-CN" altLang="en-US" b="0" dirty="0"/>
              <a:t>”，“</a:t>
            </a:r>
            <a:r>
              <a:rPr lang="zh-CN" altLang="en-US" b="0" dirty="0">
                <a:solidFill>
                  <a:srgbClr val="FF0000"/>
                </a:solidFill>
              </a:rPr>
              <a:t>包含律</a:t>
            </a:r>
            <a:r>
              <a:rPr lang="zh-CN" altLang="en-US" b="0" dirty="0"/>
              <a:t>”</a:t>
            </a:r>
            <a:endParaRPr lang="zh-CN" altLang="en-US" b="0" dirty="0"/>
          </a:p>
        </p:txBody>
      </p:sp>
    </p:spTree>
  </p:cSld>
  <p:clrMapOvr>
    <a:masterClrMapping/>
  </p:clrMapOvr>
  <p:transition spd="slow">
    <p:pull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逻辑代数（</a:t>
            </a:r>
            <a:r>
              <a:rPr lang="en-US" altLang="zh-CN" dirty="0"/>
              <a:t>23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118D9-6306-4255-895B-CCB74F1589EA}" type="slidenum">
              <a:rPr lang="en-US" altLang="zh-CN"/>
            </a:fld>
            <a:endParaRPr lang="en-US" altLang="zh-CN"/>
          </a:p>
        </p:txBody>
      </p:sp>
      <p:sp>
        <p:nvSpPr>
          <p:cNvPr id="1198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12460" cy="4607024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	2.1 </a:t>
            </a:r>
            <a:r>
              <a:rPr lang="zh-CN" altLang="en-US" dirty="0"/>
              <a:t>逻辑代数的基本运算与公式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B0F0"/>
                </a:solidFill>
              </a:rPr>
              <a:t>	</a:t>
            </a:r>
            <a:r>
              <a:rPr lang="en-US" altLang="zh-CN" dirty="0">
                <a:solidFill>
                  <a:srgbClr val="00B0F0"/>
                </a:solidFill>
              </a:rPr>
              <a:t>2.2 </a:t>
            </a:r>
            <a:r>
              <a:rPr lang="zh-CN" altLang="en-US" dirty="0">
                <a:solidFill>
                  <a:srgbClr val="00B0F0"/>
                </a:solidFill>
              </a:rPr>
              <a:t>公式法化简逻辑函数</a:t>
            </a:r>
            <a:endParaRPr lang="zh-CN" altLang="en-US" dirty="0">
              <a:solidFill>
                <a:srgbClr val="00B0F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	</a:t>
            </a:r>
            <a:r>
              <a:rPr lang="en-US" altLang="zh-CN" dirty="0"/>
              <a:t>2.3 </a:t>
            </a:r>
            <a:r>
              <a:rPr lang="zh-CN" altLang="en-US" dirty="0"/>
              <a:t>图解法</a:t>
            </a:r>
            <a:r>
              <a:rPr lang="en-US" altLang="zh-CN" dirty="0"/>
              <a:t>(</a:t>
            </a:r>
            <a:r>
              <a:rPr lang="zh-CN" altLang="en-US" dirty="0"/>
              <a:t>卡诺图</a:t>
            </a:r>
            <a:r>
              <a:rPr lang="en-US" altLang="zh-CN" dirty="0"/>
              <a:t>)</a:t>
            </a:r>
            <a:r>
              <a:rPr lang="zh-CN" altLang="en-US" dirty="0"/>
              <a:t>化简逻辑函数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	</a:t>
            </a:r>
            <a:r>
              <a:rPr lang="en-US" altLang="zh-CN" dirty="0"/>
              <a:t>2.4 </a:t>
            </a:r>
            <a:r>
              <a:rPr lang="zh-CN" altLang="en-US" dirty="0"/>
              <a:t>逻辑函数的表格法化简</a:t>
            </a:r>
            <a:r>
              <a:rPr lang="en-US" altLang="zh-CN" dirty="0"/>
              <a:t>(Q-M</a:t>
            </a:r>
            <a:r>
              <a:rPr lang="zh-CN" altLang="en-US" dirty="0"/>
              <a:t>法 </a:t>
            </a:r>
            <a:r>
              <a:rPr lang="en-US" altLang="zh-CN" dirty="0"/>
              <a:t>)</a:t>
            </a:r>
            <a:endParaRPr lang="en-US" altLang="zh-CN" dirty="0"/>
          </a:p>
        </p:txBody>
      </p:sp>
    </p:spTree>
  </p:cSld>
  <p:clrMapOvr>
    <a:masterClrMapping/>
  </p:clrMapOvr>
  <p:transition spd="slow">
    <p:pull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逻辑代数（</a:t>
            </a:r>
            <a:r>
              <a:rPr lang="en-US" altLang="zh-CN" dirty="0"/>
              <a:t>24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1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C13B8-EC17-4804-85FC-42CFFF58C9E5}" type="slidenum">
              <a:rPr lang="en-US" altLang="zh-CN"/>
            </a:fld>
            <a:endParaRPr lang="en-US" altLang="zh-CN"/>
          </a:p>
        </p:txBody>
      </p:sp>
      <p:sp>
        <p:nvSpPr>
          <p:cNvPr id="1208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12460" cy="4607024"/>
          </a:xfrm>
        </p:spPr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公式法化简逻辑函数</a:t>
            </a:r>
            <a:endParaRPr lang="zh-CN" altLang="en-US" dirty="0"/>
          </a:p>
          <a:p>
            <a:pPr lvl="1"/>
            <a:r>
              <a:rPr lang="zh-CN" altLang="en-US" dirty="0"/>
              <a:t>化简的目的</a:t>
            </a:r>
            <a:endParaRPr lang="zh-CN" altLang="en-US" dirty="0"/>
          </a:p>
          <a:p>
            <a:pPr lvl="2">
              <a:spcBef>
                <a:spcPct val="0"/>
              </a:spcBef>
            </a:pPr>
            <a:endParaRPr lang="zh-CN" altLang="en-US" dirty="0"/>
          </a:p>
          <a:p>
            <a:pPr lvl="2">
              <a:spcBef>
                <a:spcPct val="0"/>
              </a:spcBef>
            </a:pPr>
            <a:endParaRPr lang="zh-CN" altLang="en-US" dirty="0"/>
          </a:p>
          <a:p>
            <a:pPr lvl="2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20852" name="Rectangle 20"/>
          <p:cNvSpPr>
            <a:spLocks noChangeArrowheads="1"/>
          </p:cNvSpPr>
          <p:nvPr/>
        </p:nvSpPr>
        <p:spPr bwMode="auto">
          <a:xfrm>
            <a:off x="251520" y="2712223"/>
            <a:ext cx="7920880" cy="22467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lvl="2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让逻辑函数表达式的含义更清楚。</a:t>
            </a:r>
            <a:endParaRPr lang="zh-CN" altLang="en-US" sz="2800" i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2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节省资源：用最少的电路、器件，器件的输入也最少。</a:t>
            </a:r>
            <a:endParaRPr lang="en-US" altLang="zh-CN" sz="2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2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化简目的不同，表达式结果会不同。</a:t>
            </a:r>
            <a:endParaRPr lang="zh-CN" altLang="en-US" sz="2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0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52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逻辑代数（</a:t>
            </a:r>
            <a:r>
              <a:rPr lang="en-US" altLang="zh-CN" dirty="0"/>
              <a:t>25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76AF4-8551-4DF0-8315-69DA594AF10F}" type="slidenum">
              <a:rPr lang="en-US" altLang="zh-CN"/>
            </a:fld>
            <a:endParaRPr lang="en-US" altLang="zh-CN"/>
          </a:p>
        </p:txBody>
      </p:sp>
      <p:sp>
        <p:nvSpPr>
          <p:cNvPr id="1239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84468" cy="4607024"/>
          </a:xfrm>
        </p:spPr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公式法化简逻辑函数</a:t>
            </a:r>
            <a:endParaRPr lang="zh-CN" altLang="en-US" dirty="0"/>
          </a:p>
          <a:p>
            <a:pPr lvl="1"/>
            <a:r>
              <a:rPr lang="zh-CN" altLang="en-US" dirty="0">
                <a:solidFill>
                  <a:srgbClr val="00B0F0"/>
                </a:solidFill>
              </a:rPr>
              <a:t>与或表达式化简</a:t>
            </a:r>
            <a:endParaRPr lang="zh-CN" altLang="en-US" dirty="0">
              <a:solidFill>
                <a:srgbClr val="00B0F0"/>
              </a:solidFill>
            </a:endParaRPr>
          </a:p>
          <a:p>
            <a:pPr lvl="1"/>
            <a:r>
              <a:rPr lang="zh-CN" altLang="en-US" dirty="0"/>
              <a:t>或与表达式化简</a:t>
            </a:r>
            <a:endParaRPr lang="zh-CN" altLang="en-US" dirty="0"/>
          </a:p>
          <a:p>
            <a:pPr lvl="1"/>
            <a:r>
              <a:rPr lang="zh-CN" altLang="en-US" dirty="0"/>
              <a:t>其他形式逻辑函数化简</a:t>
            </a:r>
            <a:endParaRPr lang="zh-CN" altLang="en-US" dirty="0"/>
          </a:p>
        </p:txBody>
      </p:sp>
    </p:spTree>
  </p:cSld>
  <p:clrMapOvr>
    <a:masterClrMapping/>
  </p:clrMapOvr>
  <p:transition spd="slow">
    <p:pull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逻辑代数（</a:t>
            </a:r>
            <a:r>
              <a:rPr lang="en-US" altLang="zh-CN" dirty="0"/>
              <a:t>26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5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ACC91-948C-4B65-A3D4-DDE4A1905BFD}" type="slidenum">
              <a:rPr lang="en-US" altLang="zh-CN"/>
            </a:fld>
            <a:endParaRPr lang="en-US" altLang="zh-CN"/>
          </a:p>
        </p:txBody>
      </p:sp>
      <p:sp>
        <p:nvSpPr>
          <p:cNvPr id="1228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84468" cy="4607024"/>
          </a:xfrm>
        </p:spPr>
        <p:txBody>
          <a:bodyPr/>
          <a:lstStyle/>
          <a:p>
            <a:r>
              <a:rPr lang="zh-CN" altLang="en-US" dirty="0"/>
              <a:t>与或表达式化简</a:t>
            </a:r>
            <a:endParaRPr lang="zh-CN" altLang="en-US" dirty="0"/>
          </a:p>
          <a:p>
            <a:pPr lvl="1"/>
            <a:r>
              <a:rPr lang="zh-CN" altLang="en-US" dirty="0"/>
              <a:t>最简与或表达式：</a:t>
            </a:r>
            <a:endParaRPr lang="zh-CN" altLang="en-US" dirty="0"/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sz="2400" dirty="0"/>
              <a:t>1</a:t>
            </a:r>
            <a:r>
              <a:rPr lang="zh-CN" altLang="en-US" sz="2400" dirty="0"/>
              <a:t>、乘积的个数最少</a:t>
            </a:r>
            <a:r>
              <a:rPr lang="en-US" altLang="zh-CN" sz="2400" dirty="0"/>
              <a:t>(</a:t>
            </a:r>
            <a:r>
              <a:rPr lang="zh-CN" altLang="en-US" sz="2400" dirty="0"/>
              <a:t>用门电路实现，用的与门数最少）</a:t>
            </a:r>
            <a:endParaRPr lang="zh-CN" altLang="en-US" sz="2400" dirty="0"/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sz="2400" dirty="0"/>
              <a:t>2</a:t>
            </a:r>
            <a:r>
              <a:rPr lang="zh-CN" altLang="en-US" sz="2400" dirty="0"/>
              <a:t>、在满足</a:t>
            </a:r>
            <a:r>
              <a:rPr lang="en-US" altLang="zh-CN" sz="2400" dirty="0"/>
              <a:t>1</a:t>
            </a:r>
            <a:r>
              <a:rPr lang="zh-CN" altLang="en-US" sz="2400" dirty="0"/>
              <a:t>的条件下，乘积项中的变量最少</a:t>
            </a:r>
            <a:r>
              <a:rPr lang="en-US" altLang="zh-CN" sz="2400" dirty="0"/>
              <a:t>(</a:t>
            </a:r>
            <a:r>
              <a:rPr lang="zh-CN" altLang="en-US" sz="2400" dirty="0"/>
              <a:t>与门的输入端最少</a:t>
            </a:r>
            <a:r>
              <a:rPr lang="en-US" altLang="zh-CN" sz="2400" dirty="0"/>
              <a:t>)</a:t>
            </a:r>
            <a:endParaRPr lang="en-US" altLang="zh-CN" sz="2400" dirty="0"/>
          </a:p>
        </p:txBody>
      </p:sp>
      <p:sp>
        <p:nvSpPr>
          <p:cNvPr id="122886" name="Rectangle 6"/>
          <p:cNvSpPr>
            <a:spLocks noChangeArrowheads="1"/>
          </p:cNvSpPr>
          <p:nvPr/>
        </p:nvSpPr>
        <p:spPr bwMode="auto">
          <a:xfrm>
            <a:off x="4045183" y="3638694"/>
            <a:ext cx="3983201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表达式是否为最简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?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" name="Group 54"/>
          <p:cNvGrpSpPr/>
          <p:nvPr/>
        </p:nvGrpSpPr>
        <p:grpSpPr bwMode="auto">
          <a:xfrm>
            <a:off x="1109709" y="4352441"/>
            <a:ext cx="4052607" cy="2133600"/>
            <a:chOff x="576" y="2928"/>
            <a:chExt cx="2579" cy="1344"/>
          </a:xfrm>
        </p:grpSpPr>
        <p:sp>
          <p:nvSpPr>
            <p:cNvPr id="122888" name="Rectangle 8"/>
            <p:cNvSpPr>
              <a:spLocks noChangeArrowheads="1"/>
            </p:cNvSpPr>
            <p:nvPr/>
          </p:nvSpPr>
          <p:spPr bwMode="auto">
            <a:xfrm>
              <a:off x="1076" y="3010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889" name="Line 9"/>
            <p:cNvSpPr>
              <a:spLocks noChangeShapeType="1"/>
            </p:cNvSpPr>
            <p:nvPr/>
          </p:nvSpPr>
          <p:spPr bwMode="auto">
            <a:xfrm flipH="1">
              <a:off x="803" y="3101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890" name="Line 10"/>
            <p:cNvSpPr>
              <a:spLocks noChangeShapeType="1"/>
            </p:cNvSpPr>
            <p:nvPr/>
          </p:nvSpPr>
          <p:spPr bwMode="auto">
            <a:xfrm flipH="1">
              <a:off x="804" y="3283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891" name="Line 11"/>
            <p:cNvSpPr>
              <a:spLocks noChangeShapeType="1"/>
            </p:cNvSpPr>
            <p:nvPr/>
          </p:nvSpPr>
          <p:spPr bwMode="auto">
            <a:xfrm flipH="1">
              <a:off x="1303" y="3192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892" name="Text Box 12"/>
            <p:cNvSpPr txBox="1">
              <a:spLocks noChangeArrowheads="1"/>
            </p:cNvSpPr>
            <p:nvPr/>
          </p:nvSpPr>
          <p:spPr bwMode="auto">
            <a:xfrm>
              <a:off x="576" y="3160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B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22893" name="Text Box 13"/>
            <p:cNvSpPr txBox="1">
              <a:spLocks noChangeArrowheads="1"/>
            </p:cNvSpPr>
            <p:nvPr/>
          </p:nvSpPr>
          <p:spPr bwMode="auto">
            <a:xfrm>
              <a:off x="576" y="2928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A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22895" name="Rectangle 15"/>
            <p:cNvSpPr>
              <a:spLocks noChangeArrowheads="1"/>
            </p:cNvSpPr>
            <p:nvPr/>
          </p:nvSpPr>
          <p:spPr bwMode="auto">
            <a:xfrm>
              <a:off x="1776" y="3285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896" name="Line 16"/>
            <p:cNvSpPr>
              <a:spLocks noChangeShapeType="1"/>
            </p:cNvSpPr>
            <p:nvPr/>
          </p:nvSpPr>
          <p:spPr bwMode="auto">
            <a:xfrm>
              <a:off x="1584" y="3189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897" name="Line 17"/>
            <p:cNvSpPr>
              <a:spLocks noChangeShapeType="1"/>
            </p:cNvSpPr>
            <p:nvPr/>
          </p:nvSpPr>
          <p:spPr bwMode="auto">
            <a:xfrm>
              <a:off x="1584" y="3381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898" name="Line 18"/>
            <p:cNvSpPr>
              <a:spLocks noChangeShapeType="1"/>
            </p:cNvSpPr>
            <p:nvPr/>
          </p:nvSpPr>
          <p:spPr bwMode="auto">
            <a:xfrm flipH="1">
              <a:off x="768" y="3573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899" name="Text Box 19"/>
            <p:cNvSpPr txBox="1">
              <a:spLocks noChangeArrowheads="1"/>
            </p:cNvSpPr>
            <p:nvPr/>
          </p:nvSpPr>
          <p:spPr bwMode="auto">
            <a:xfrm>
              <a:off x="576" y="3456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C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grpSp>
          <p:nvGrpSpPr>
            <p:cNvPr id="3" name="Group 27"/>
            <p:cNvGrpSpPr/>
            <p:nvPr/>
          </p:nvGrpSpPr>
          <p:grpSpPr bwMode="auto">
            <a:xfrm>
              <a:off x="1104" y="3909"/>
              <a:ext cx="317" cy="363"/>
              <a:chOff x="1747" y="3696"/>
              <a:chExt cx="317" cy="363"/>
            </a:xfrm>
          </p:grpSpPr>
          <p:sp>
            <p:nvSpPr>
              <p:cNvPr id="122901" name="Rectangle 21"/>
              <p:cNvSpPr>
                <a:spLocks noChangeArrowheads="1"/>
              </p:cNvSpPr>
              <p:nvPr/>
            </p:nvSpPr>
            <p:spPr bwMode="auto">
              <a:xfrm>
                <a:off x="1747" y="3696"/>
                <a:ext cx="226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2902" name="Oval 22"/>
              <p:cNvSpPr>
                <a:spLocks noChangeArrowheads="1"/>
              </p:cNvSpPr>
              <p:nvPr/>
            </p:nvSpPr>
            <p:spPr bwMode="auto">
              <a:xfrm>
                <a:off x="1973" y="3832"/>
                <a:ext cx="91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22908" name="Line 28"/>
            <p:cNvSpPr>
              <a:spLocks noChangeShapeType="1"/>
            </p:cNvSpPr>
            <p:nvPr/>
          </p:nvSpPr>
          <p:spPr bwMode="auto">
            <a:xfrm>
              <a:off x="960" y="3573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09" name="Line 29"/>
            <p:cNvSpPr>
              <a:spLocks noChangeShapeType="1"/>
            </p:cNvSpPr>
            <p:nvPr/>
          </p:nvSpPr>
          <p:spPr bwMode="auto">
            <a:xfrm>
              <a:off x="960" y="4101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10" name="Line 30"/>
            <p:cNvSpPr>
              <a:spLocks noChangeShapeType="1"/>
            </p:cNvSpPr>
            <p:nvPr/>
          </p:nvSpPr>
          <p:spPr bwMode="auto">
            <a:xfrm>
              <a:off x="960" y="4101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11" name="Oval 31"/>
            <p:cNvSpPr>
              <a:spLocks noChangeArrowheads="1"/>
            </p:cNvSpPr>
            <p:nvPr/>
          </p:nvSpPr>
          <p:spPr bwMode="auto">
            <a:xfrm>
              <a:off x="912" y="3525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12" name="Rectangle 32"/>
            <p:cNvSpPr>
              <a:spLocks noChangeArrowheads="1"/>
            </p:cNvSpPr>
            <p:nvPr/>
          </p:nvSpPr>
          <p:spPr bwMode="auto">
            <a:xfrm>
              <a:off x="1776" y="3813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13" name="Line 33"/>
            <p:cNvSpPr>
              <a:spLocks noChangeShapeType="1"/>
            </p:cNvSpPr>
            <p:nvPr/>
          </p:nvSpPr>
          <p:spPr bwMode="auto">
            <a:xfrm>
              <a:off x="1584" y="3909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14" name="Line 34"/>
            <p:cNvSpPr>
              <a:spLocks noChangeShapeType="1"/>
            </p:cNvSpPr>
            <p:nvPr/>
          </p:nvSpPr>
          <p:spPr bwMode="auto">
            <a:xfrm>
              <a:off x="1440" y="4101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15" name="Oval 35"/>
            <p:cNvSpPr>
              <a:spLocks noChangeArrowheads="1"/>
            </p:cNvSpPr>
            <p:nvPr/>
          </p:nvSpPr>
          <p:spPr bwMode="auto">
            <a:xfrm>
              <a:off x="1536" y="3333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17" name="Rectangle 37"/>
            <p:cNvSpPr>
              <a:spLocks noChangeArrowheads="1"/>
            </p:cNvSpPr>
            <p:nvPr/>
          </p:nvSpPr>
          <p:spPr bwMode="auto">
            <a:xfrm>
              <a:off x="2592" y="3477"/>
              <a:ext cx="254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18" name="Line 38"/>
            <p:cNvSpPr>
              <a:spLocks noChangeShapeType="1"/>
            </p:cNvSpPr>
            <p:nvPr/>
          </p:nvSpPr>
          <p:spPr bwMode="auto">
            <a:xfrm flipH="1">
              <a:off x="2304" y="3568"/>
              <a:ext cx="296" cy="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19" name="Line 39"/>
            <p:cNvSpPr>
              <a:spLocks noChangeShapeType="1"/>
            </p:cNvSpPr>
            <p:nvPr/>
          </p:nvSpPr>
          <p:spPr bwMode="auto">
            <a:xfrm flipH="1">
              <a:off x="2304" y="3765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20" name="Line 40"/>
            <p:cNvSpPr>
              <a:spLocks noChangeShapeType="1"/>
            </p:cNvSpPr>
            <p:nvPr/>
          </p:nvSpPr>
          <p:spPr bwMode="auto">
            <a:xfrm flipH="1">
              <a:off x="2847" y="3659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24" name="Text Box 44"/>
            <p:cNvSpPr txBox="1">
              <a:spLocks noChangeArrowheads="1"/>
            </p:cNvSpPr>
            <p:nvPr/>
          </p:nvSpPr>
          <p:spPr bwMode="auto">
            <a:xfrm>
              <a:off x="2620" y="3523"/>
              <a:ext cx="227" cy="25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000">
                  <a:latin typeface="Tahoma" panose="020B0604030504040204" pitchFamily="34" charset="0"/>
                </a:rPr>
                <a:t>+</a:t>
              </a:r>
              <a:endParaRPr kumimoji="0" lang="en-US" altLang="zh-CN" sz="2000">
                <a:latin typeface="Tahoma" panose="020B0604030504040204" pitchFamily="34" charset="0"/>
              </a:endParaRPr>
            </a:p>
          </p:txBody>
        </p:sp>
        <p:sp>
          <p:nvSpPr>
            <p:cNvPr id="122925" name="Line 45"/>
            <p:cNvSpPr>
              <a:spLocks noChangeShapeType="1"/>
            </p:cNvSpPr>
            <p:nvPr/>
          </p:nvSpPr>
          <p:spPr bwMode="auto">
            <a:xfrm>
              <a:off x="2016" y="3477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26" name="Line 46"/>
            <p:cNvSpPr>
              <a:spLocks noChangeShapeType="1"/>
            </p:cNvSpPr>
            <p:nvPr/>
          </p:nvSpPr>
          <p:spPr bwMode="auto">
            <a:xfrm>
              <a:off x="2304" y="3477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27" name="Line 47"/>
            <p:cNvSpPr>
              <a:spLocks noChangeShapeType="1"/>
            </p:cNvSpPr>
            <p:nvPr/>
          </p:nvSpPr>
          <p:spPr bwMode="auto">
            <a:xfrm>
              <a:off x="2016" y="4005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28" name="Line 48"/>
            <p:cNvSpPr>
              <a:spLocks noChangeShapeType="1"/>
            </p:cNvSpPr>
            <p:nvPr/>
          </p:nvSpPr>
          <p:spPr bwMode="auto">
            <a:xfrm>
              <a:off x="2304" y="3765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30" name="Text Box 50"/>
            <p:cNvSpPr txBox="1">
              <a:spLocks noChangeArrowheads="1"/>
            </p:cNvSpPr>
            <p:nvPr/>
          </p:nvSpPr>
          <p:spPr bwMode="auto">
            <a:xfrm>
              <a:off x="2928" y="3360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F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4" name="Group 63"/>
          <p:cNvGrpSpPr/>
          <p:nvPr/>
        </p:nvGrpSpPr>
        <p:grpSpPr bwMode="auto">
          <a:xfrm>
            <a:off x="5841497" y="4408003"/>
            <a:ext cx="1997234" cy="1327151"/>
            <a:chOff x="3696" y="3026"/>
            <a:chExt cx="1271" cy="836"/>
          </a:xfrm>
        </p:grpSpPr>
        <p:graphicFrame>
          <p:nvGraphicFramePr>
            <p:cNvPr id="122933" name="Object 53"/>
            <p:cNvGraphicFramePr>
              <a:graphicFrameLocks noChangeAspect="1"/>
            </p:cNvGraphicFramePr>
            <p:nvPr/>
          </p:nvGraphicFramePr>
          <p:xfrm>
            <a:off x="3754" y="3026"/>
            <a:ext cx="986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42" name="Equation" r:id="rId1" imgW="13716000" imgH="3962400" progId="Equation.DSMT4">
                    <p:embed/>
                  </p:oleObj>
                </mc:Choice>
                <mc:Fallback>
                  <p:oleObj name="Equation" r:id="rId1" imgW="13716000" imgH="3962400" progId="Equation.DSMT4">
                    <p:embed/>
                    <p:pic>
                      <p:nvPicPr>
                        <p:cNvPr id="0" name="图片 247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4" y="3026"/>
                          <a:ext cx="986" cy="28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" name="Group 55"/>
            <p:cNvGrpSpPr/>
            <p:nvPr/>
          </p:nvGrpSpPr>
          <p:grpSpPr bwMode="auto">
            <a:xfrm>
              <a:off x="3696" y="3360"/>
              <a:ext cx="1271" cy="502"/>
              <a:chOff x="3877" y="2053"/>
              <a:chExt cx="1271" cy="502"/>
            </a:xfrm>
          </p:grpSpPr>
          <p:sp>
            <p:nvSpPr>
              <p:cNvPr id="122936" name="Rectangle 56"/>
              <p:cNvSpPr>
                <a:spLocks noChangeArrowheads="1"/>
              </p:cNvSpPr>
              <p:nvPr/>
            </p:nvSpPr>
            <p:spPr bwMode="auto">
              <a:xfrm>
                <a:off x="4377" y="2114"/>
                <a:ext cx="226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2937" name="Line 57"/>
              <p:cNvSpPr>
                <a:spLocks noChangeShapeType="1"/>
              </p:cNvSpPr>
              <p:nvPr/>
            </p:nvSpPr>
            <p:spPr bwMode="auto">
              <a:xfrm flipH="1">
                <a:off x="4104" y="2205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938" name="Line 58"/>
              <p:cNvSpPr>
                <a:spLocks noChangeShapeType="1"/>
              </p:cNvSpPr>
              <p:nvPr/>
            </p:nvSpPr>
            <p:spPr bwMode="auto">
              <a:xfrm flipH="1">
                <a:off x="4105" y="2387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939" name="Line 59"/>
              <p:cNvSpPr>
                <a:spLocks noChangeShapeType="1"/>
              </p:cNvSpPr>
              <p:nvPr/>
            </p:nvSpPr>
            <p:spPr bwMode="auto">
              <a:xfrm flipH="1">
                <a:off x="4604" y="2296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940" name="Text Box 60"/>
              <p:cNvSpPr txBox="1">
                <a:spLocks noChangeArrowheads="1"/>
              </p:cNvSpPr>
              <p:nvPr/>
            </p:nvSpPr>
            <p:spPr bwMode="auto">
              <a:xfrm>
                <a:off x="3877" y="2264"/>
                <a:ext cx="227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B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122941" name="Text Box 61"/>
              <p:cNvSpPr txBox="1">
                <a:spLocks noChangeArrowheads="1"/>
              </p:cNvSpPr>
              <p:nvPr/>
            </p:nvSpPr>
            <p:spPr bwMode="auto">
              <a:xfrm>
                <a:off x="3878" y="2053"/>
                <a:ext cx="227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A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122942" name="Text Box 62"/>
              <p:cNvSpPr txBox="1">
                <a:spLocks noChangeArrowheads="1"/>
              </p:cNvSpPr>
              <p:nvPr/>
            </p:nvSpPr>
            <p:spPr bwMode="auto">
              <a:xfrm>
                <a:off x="4921" y="2144"/>
                <a:ext cx="227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F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</p:grp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151083" y="3573016"/>
          <a:ext cx="2894100" cy="5853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43" name="Equation" r:id="rId3" imgW="27127200" imgH="5181600" progId="Equation.DSMT4">
                  <p:embed/>
                </p:oleObj>
              </mc:Choice>
              <mc:Fallback>
                <p:oleObj name="Equation" r:id="rId3" imgW="27127200" imgH="5181600" progId="Equation.DSMT4">
                  <p:embed/>
                  <p:pic>
                    <p:nvPicPr>
                      <p:cNvPr id="0" name="图片 2474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51083" y="3573016"/>
                        <a:ext cx="2894100" cy="5853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2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6" grpId="0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逻辑代数（</a:t>
            </a:r>
            <a:r>
              <a:rPr lang="en-US" altLang="zh-CN" dirty="0"/>
              <a:t>27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1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F3FB3-2D61-4335-88A7-88195D0037AA}" type="slidenum">
              <a:rPr lang="en-US" altLang="zh-CN"/>
            </a:fld>
            <a:endParaRPr lang="en-US" altLang="zh-CN"/>
          </a:p>
        </p:txBody>
      </p:sp>
      <p:sp>
        <p:nvSpPr>
          <p:cNvPr id="1249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3538" y="1447813"/>
            <a:ext cx="5821542" cy="4943475"/>
          </a:xfrm>
        </p:spPr>
        <p:txBody>
          <a:bodyPr/>
          <a:lstStyle/>
          <a:p>
            <a:r>
              <a:rPr lang="zh-CN" altLang="en-US" dirty="0"/>
              <a:t>与或表达式化简</a:t>
            </a:r>
            <a:endParaRPr lang="zh-CN" altLang="en-US" dirty="0"/>
          </a:p>
          <a:p>
            <a:pPr lvl="1"/>
            <a:r>
              <a:rPr lang="zh-CN" altLang="en-US" dirty="0"/>
              <a:t>例</a:t>
            </a:r>
            <a:r>
              <a:rPr lang="en-US" altLang="zh-CN" dirty="0"/>
              <a:t>1</a:t>
            </a:r>
            <a:endParaRPr lang="en-US" altLang="zh-CN" dirty="0"/>
          </a:p>
        </p:txBody>
      </p:sp>
      <p:graphicFrame>
        <p:nvGraphicFramePr>
          <p:cNvPr id="124932" name="Object 4"/>
          <p:cNvGraphicFramePr>
            <a:graphicFrameLocks noChangeAspect="1"/>
          </p:cNvGraphicFramePr>
          <p:nvPr/>
        </p:nvGraphicFramePr>
        <p:xfrm>
          <a:off x="1980288" y="2667000"/>
          <a:ext cx="5976088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2" name="公式" r:id="rId1" imgW="2108200" imgH="241300" progId="Equation.3">
                  <p:embed/>
                </p:oleObj>
              </mc:Choice>
              <mc:Fallback>
                <p:oleObj name="公式" r:id="rId1" imgW="2108200" imgH="241300" progId="Equation.3">
                  <p:embed/>
                  <p:pic>
                    <p:nvPicPr>
                      <p:cNvPr id="0" name="图片 260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0288" y="2667000"/>
                        <a:ext cx="5976088" cy="6873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/>
          <p:nvPr/>
        </p:nvGrpSpPr>
        <p:grpSpPr bwMode="auto">
          <a:xfrm>
            <a:off x="900515" y="3500441"/>
            <a:ext cx="6623447" cy="614362"/>
            <a:chOff x="283" y="2205"/>
            <a:chExt cx="5563" cy="387"/>
          </a:xfrm>
        </p:grpSpPr>
        <p:graphicFrame>
          <p:nvGraphicFramePr>
            <p:cNvPr id="124933" name="Object 5"/>
            <p:cNvGraphicFramePr>
              <a:graphicFrameLocks noChangeAspect="1"/>
            </p:cNvGraphicFramePr>
            <p:nvPr/>
          </p:nvGraphicFramePr>
          <p:xfrm>
            <a:off x="1507" y="2205"/>
            <a:ext cx="4339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13" name="公式" r:id="rId3" imgW="1904365" imgH="215900" progId="Equation.3">
                    <p:embed/>
                  </p:oleObj>
                </mc:Choice>
                <mc:Fallback>
                  <p:oleObj name="公式" r:id="rId3" imgW="1904365" imgH="215900" progId="Equation.3">
                    <p:embed/>
                    <p:pic>
                      <p:nvPicPr>
                        <p:cNvPr id="0" name="图片 260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7" y="2205"/>
                          <a:ext cx="4339" cy="38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4935" name="Rectangle 7"/>
            <p:cNvSpPr>
              <a:spLocks noChangeArrowheads="1"/>
            </p:cNvSpPr>
            <p:nvPr/>
          </p:nvSpPr>
          <p:spPr bwMode="auto">
            <a:xfrm>
              <a:off x="283" y="2221"/>
              <a:ext cx="1060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kumimoji="0" lang="zh-CN" altLang="en-US" sz="28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展开：</a:t>
              </a:r>
              <a:endParaRPr kumimoji="0" lang="zh-CN" altLang="en-US" sz="28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3" name="Group 14"/>
          <p:cNvGrpSpPr/>
          <p:nvPr/>
        </p:nvGrpSpPr>
        <p:grpSpPr bwMode="auto">
          <a:xfrm>
            <a:off x="900038" y="4237038"/>
            <a:ext cx="7272338" cy="715962"/>
            <a:chOff x="303" y="2669"/>
            <a:chExt cx="6108" cy="451"/>
          </a:xfrm>
        </p:grpSpPr>
        <p:graphicFrame>
          <p:nvGraphicFramePr>
            <p:cNvPr id="124934" name="Object 6"/>
            <p:cNvGraphicFramePr>
              <a:graphicFrameLocks noChangeAspect="1"/>
            </p:cNvGraphicFramePr>
            <p:nvPr/>
          </p:nvGraphicFramePr>
          <p:xfrm>
            <a:off x="1527" y="2669"/>
            <a:ext cx="4884" cy="4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14" name="公式" r:id="rId5" imgW="2095500" imgH="241300" progId="Equation.3">
                    <p:embed/>
                  </p:oleObj>
                </mc:Choice>
                <mc:Fallback>
                  <p:oleObj name="公式" r:id="rId5" imgW="2095500" imgH="241300" progId="Equation.3">
                    <p:embed/>
                    <p:pic>
                      <p:nvPicPr>
                        <p:cNvPr id="0" name="图片 260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7" y="2669"/>
                          <a:ext cx="4884" cy="45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4936" name="Rectangle 8"/>
            <p:cNvSpPr>
              <a:spLocks noChangeArrowheads="1"/>
            </p:cNvSpPr>
            <p:nvPr/>
          </p:nvSpPr>
          <p:spPr bwMode="auto">
            <a:xfrm>
              <a:off x="303" y="2733"/>
              <a:ext cx="1060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120000"/>
              </a:pPr>
              <a:r>
                <a:rPr kumimoji="0" lang="zh-CN" altLang="en-US" sz="28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合并：</a:t>
              </a:r>
              <a:endParaRPr kumimoji="0" lang="zh-CN" altLang="en-US" sz="28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4" name="Group 15"/>
          <p:cNvGrpSpPr/>
          <p:nvPr/>
        </p:nvGrpSpPr>
        <p:grpSpPr bwMode="auto">
          <a:xfrm>
            <a:off x="900180" y="5029200"/>
            <a:ext cx="6768703" cy="742950"/>
            <a:chOff x="190" y="3168"/>
            <a:chExt cx="5685" cy="468"/>
          </a:xfrm>
        </p:grpSpPr>
        <p:sp>
          <p:nvSpPr>
            <p:cNvPr id="124937" name="Rectangle 9"/>
            <p:cNvSpPr>
              <a:spLocks noChangeArrowheads="1"/>
            </p:cNvSpPr>
            <p:nvPr/>
          </p:nvSpPr>
          <p:spPr bwMode="auto">
            <a:xfrm>
              <a:off x="190" y="3225"/>
              <a:ext cx="1361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120000"/>
              </a:pPr>
              <a:r>
                <a:rPr kumimoji="0" lang="zh-CN" altLang="en-US" sz="28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分配律：</a:t>
              </a:r>
              <a:endParaRPr kumimoji="0" lang="zh-CN" altLang="en-US" sz="28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124939" name="Object 11"/>
            <p:cNvGraphicFramePr>
              <a:graphicFrameLocks noChangeAspect="1"/>
            </p:cNvGraphicFramePr>
            <p:nvPr/>
          </p:nvGraphicFramePr>
          <p:xfrm>
            <a:off x="1440" y="3168"/>
            <a:ext cx="4435" cy="4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15" name="公式" r:id="rId7" imgW="1778000" imgH="241300" progId="Equation.3">
                    <p:embed/>
                  </p:oleObj>
                </mc:Choice>
                <mc:Fallback>
                  <p:oleObj name="公式" r:id="rId7" imgW="1778000" imgH="241300" progId="Equation.3">
                    <p:embed/>
                    <p:pic>
                      <p:nvPicPr>
                        <p:cNvPr id="0" name="图片 260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3168"/>
                          <a:ext cx="4435" cy="46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6"/>
          <p:cNvGrpSpPr/>
          <p:nvPr/>
        </p:nvGrpSpPr>
        <p:grpSpPr bwMode="auto">
          <a:xfrm>
            <a:off x="899592" y="5791203"/>
            <a:ext cx="4392217" cy="630238"/>
            <a:chOff x="231" y="3648"/>
            <a:chExt cx="3689" cy="397"/>
          </a:xfrm>
        </p:grpSpPr>
        <p:sp>
          <p:nvSpPr>
            <p:cNvPr id="124938" name="Rectangle 10"/>
            <p:cNvSpPr>
              <a:spLocks noChangeArrowheads="1"/>
            </p:cNvSpPr>
            <p:nvPr/>
          </p:nvSpPr>
          <p:spPr bwMode="auto">
            <a:xfrm>
              <a:off x="231" y="3696"/>
              <a:ext cx="1361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120000"/>
              </a:pPr>
              <a:r>
                <a:rPr kumimoji="0" lang="zh-CN" altLang="en-US" sz="28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互补律：</a:t>
              </a:r>
              <a:endParaRPr kumimoji="0" lang="zh-CN" altLang="en-US" sz="28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124940" name="Object 12"/>
            <p:cNvGraphicFramePr>
              <a:graphicFrameLocks noChangeAspect="1"/>
            </p:cNvGraphicFramePr>
            <p:nvPr/>
          </p:nvGraphicFramePr>
          <p:xfrm>
            <a:off x="1493" y="3648"/>
            <a:ext cx="2427" cy="3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16" name="公式" r:id="rId9" imgW="1091565" imgH="215900" progId="Equation.3">
                    <p:embed/>
                  </p:oleObj>
                </mc:Choice>
                <mc:Fallback>
                  <p:oleObj name="公式" r:id="rId9" imgW="1091565" imgH="215900" progId="Equation.3">
                    <p:embed/>
                    <p:pic>
                      <p:nvPicPr>
                        <p:cNvPr id="0" name="图片 260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3" y="3648"/>
                          <a:ext cx="2427" cy="39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7" name="直接箭头连接符 6"/>
          <p:cNvCxnSpPr/>
          <p:nvPr/>
        </p:nvCxnSpPr>
        <p:spPr>
          <a:xfrm flipH="1">
            <a:off x="4932040" y="4116403"/>
            <a:ext cx="2088233" cy="2222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4653586" y="4116403"/>
            <a:ext cx="1186123" cy="2222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5839709" y="4065618"/>
            <a:ext cx="1540603" cy="2730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4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逻辑代数（</a:t>
            </a:r>
            <a:r>
              <a:rPr lang="en-US" altLang="zh-CN" dirty="0"/>
              <a:t>28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6863-762A-4B80-8DA1-76CC316D48BE}" type="slidenum">
              <a:rPr lang="en-US" altLang="zh-CN"/>
            </a:fld>
            <a:endParaRPr lang="en-US" altLang="zh-CN"/>
          </a:p>
        </p:txBody>
      </p:sp>
      <p:sp>
        <p:nvSpPr>
          <p:cNvPr id="12595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与或表达式化简</a:t>
            </a:r>
            <a:endParaRPr lang="zh-CN" altLang="en-US" dirty="0"/>
          </a:p>
          <a:p>
            <a:pPr lvl="1"/>
            <a:r>
              <a:rPr lang="zh-CN" altLang="en-US" dirty="0"/>
              <a:t>例</a:t>
            </a:r>
            <a:r>
              <a:rPr lang="en-US" altLang="zh-CN" dirty="0"/>
              <a:t>2</a:t>
            </a:r>
            <a:endParaRPr lang="en-US" altLang="zh-CN" dirty="0"/>
          </a:p>
          <a:p>
            <a:endParaRPr lang="en-US" altLang="zh-CN" dirty="0"/>
          </a:p>
        </p:txBody>
      </p:sp>
      <p:graphicFrame>
        <p:nvGraphicFramePr>
          <p:cNvPr id="125956" name="Object 4"/>
          <p:cNvGraphicFramePr>
            <a:graphicFrameLocks noChangeAspect="1"/>
          </p:cNvGraphicFramePr>
          <p:nvPr/>
        </p:nvGraphicFramePr>
        <p:xfrm>
          <a:off x="4670734" y="2921688"/>
          <a:ext cx="3837986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36" name="公式" r:id="rId1" imgW="1371600" imgH="241300" progId="Equation.3">
                  <p:embed/>
                </p:oleObj>
              </mc:Choice>
              <mc:Fallback>
                <p:oleObj name="公式" r:id="rId1" imgW="1371600" imgH="241300" progId="Equation.3">
                  <p:embed/>
                  <p:pic>
                    <p:nvPicPr>
                      <p:cNvPr id="0" name="图片 270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0734" y="2921688"/>
                        <a:ext cx="3837986" cy="638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57" name="Object 5"/>
          <p:cNvGraphicFramePr>
            <a:graphicFrameLocks noChangeAspect="1"/>
          </p:cNvGraphicFramePr>
          <p:nvPr/>
        </p:nvGraphicFramePr>
        <p:xfrm>
          <a:off x="4923135" y="3883714"/>
          <a:ext cx="2984703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37" name="公式" r:id="rId3" imgW="1066800" imgH="241300" progId="Equation.3">
                  <p:embed/>
                </p:oleObj>
              </mc:Choice>
              <mc:Fallback>
                <p:oleObj name="公式" r:id="rId3" imgW="1066800" imgH="241300" progId="Equation.3">
                  <p:embed/>
                  <p:pic>
                    <p:nvPicPr>
                      <p:cNvPr id="0" name="图片 270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3135" y="3883714"/>
                        <a:ext cx="2984703" cy="638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58" name="Object 6"/>
          <p:cNvGraphicFramePr>
            <a:graphicFrameLocks noChangeAspect="1"/>
          </p:cNvGraphicFramePr>
          <p:nvPr/>
        </p:nvGraphicFramePr>
        <p:xfrm>
          <a:off x="4970771" y="4902889"/>
          <a:ext cx="1952911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38" name="公式" r:id="rId5" imgW="698500" imgH="215900" progId="Equation.3">
                  <p:embed/>
                </p:oleObj>
              </mc:Choice>
              <mc:Fallback>
                <p:oleObj name="公式" r:id="rId5" imgW="698500" imgH="215900" progId="Equation.3">
                  <p:embed/>
                  <p:pic>
                    <p:nvPicPr>
                      <p:cNvPr id="0" name="图片 270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0771" y="4902889"/>
                        <a:ext cx="1952911" cy="5699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"/>
          <p:cNvGrpSpPr/>
          <p:nvPr/>
        </p:nvGrpSpPr>
        <p:grpSpPr bwMode="auto">
          <a:xfrm>
            <a:off x="467544" y="3726542"/>
            <a:ext cx="4008838" cy="776287"/>
            <a:chOff x="65" y="1899"/>
            <a:chExt cx="3367" cy="489"/>
          </a:xfrm>
        </p:grpSpPr>
        <p:sp>
          <p:nvSpPr>
            <p:cNvPr id="125960" name="Rectangle 8"/>
            <p:cNvSpPr>
              <a:spLocks noChangeArrowheads="1"/>
            </p:cNvSpPr>
            <p:nvPr/>
          </p:nvSpPr>
          <p:spPr bwMode="auto">
            <a:xfrm>
              <a:off x="65" y="2051"/>
              <a:ext cx="1060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kumimoji="0" lang="zh-CN" altLang="en-US" sz="28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反演律</a:t>
              </a:r>
              <a:endParaRPr kumimoji="0"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125961" name="Object 9"/>
            <p:cNvGraphicFramePr>
              <a:graphicFrameLocks noChangeAspect="1"/>
            </p:cNvGraphicFramePr>
            <p:nvPr/>
          </p:nvGraphicFramePr>
          <p:xfrm>
            <a:off x="1204" y="1899"/>
            <a:ext cx="2228" cy="4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39" name="公式" r:id="rId7" imgW="989965" imgH="292100" progId="Equation.3">
                    <p:embed/>
                  </p:oleObj>
                </mc:Choice>
                <mc:Fallback>
                  <p:oleObj name="公式" r:id="rId7" imgW="989965" imgH="292100" progId="Equation.3">
                    <p:embed/>
                    <p:pic>
                      <p:nvPicPr>
                        <p:cNvPr id="0" name="图片 270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4" y="1899"/>
                          <a:ext cx="2228" cy="48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2"/>
          <p:cNvGrpSpPr/>
          <p:nvPr/>
        </p:nvGrpSpPr>
        <p:grpSpPr bwMode="auto">
          <a:xfrm>
            <a:off x="467544" y="4901284"/>
            <a:ext cx="4237437" cy="615948"/>
            <a:chOff x="61" y="2966"/>
            <a:chExt cx="3559" cy="388"/>
          </a:xfrm>
        </p:grpSpPr>
        <p:sp>
          <p:nvSpPr>
            <p:cNvPr id="125959" name="Rectangle 7"/>
            <p:cNvSpPr>
              <a:spLocks noChangeArrowheads="1"/>
            </p:cNvSpPr>
            <p:nvPr/>
          </p:nvSpPr>
          <p:spPr bwMode="auto">
            <a:xfrm>
              <a:off x="61" y="3024"/>
              <a:ext cx="1060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kumimoji="0" lang="zh-CN" altLang="en-US" sz="28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吸收律</a:t>
              </a:r>
              <a:endParaRPr kumimoji="0" lang="zh-CN" altLang="en-US" sz="28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125963" name="Object 11"/>
            <p:cNvGraphicFramePr>
              <a:graphicFrameLocks noChangeAspect="1"/>
            </p:cNvGraphicFramePr>
            <p:nvPr/>
          </p:nvGraphicFramePr>
          <p:xfrm>
            <a:off x="1190" y="2966"/>
            <a:ext cx="2430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40" name="公式" r:id="rId9" imgW="1129665" imgH="215900" progId="Equation.3">
                    <p:embed/>
                  </p:oleObj>
                </mc:Choice>
                <mc:Fallback>
                  <p:oleObj name="公式" r:id="rId9" imgW="1129665" imgH="215900" progId="Equation.3">
                    <p:embed/>
                    <p:pic>
                      <p:nvPicPr>
                        <p:cNvPr id="0" name="图片 270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0" y="2966"/>
                          <a:ext cx="2430" cy="35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5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5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5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逻辑代数（</a:t>
            </a:r>
            <a:r>
              <a:rPr lang="en-US" altLang="zh-CN" dirty="0"/>
              <a:t>29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688E6-1309-4790-8CD6-7092553E006C}" type="slidenum">
              <a:rPr lang="en-US" altLang="zh-CN"/>
            </a:fld>
            <a:endParaRPr lang="en-US" altLang="zh-CN"/>
          </a:p>
        </p:txBody>
      </p:sp>
      <p:sp>
        <p:nvSpPr>
          <p:cNvPr id="27443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与或表达式化简</a:t>
            </a:r>
            <a:endParaRPr lang="zh-CN" altLang="en-US" dirty="0"/>
          </a:p>
          <a:p>
            <a:pPr lvl="1"/>
            <a:r>
              <a:rPr lang="zh-CN" altLang="en-US" dirty="0"/>
              <a:t>例</a:t>
            </a:r>
            <a:r>
              <a:rPr lang="en-US" altLang="zh-CN" dirty="0"/>
              <a:t>3</a:t>
            </a:r>
            <a:endParaRPr lang="en-US" altLang="zh-CN" dirty="0"/>
          </a:p>
        </p:txBody>
      </p:sp>
      <p:graphicFrame>
        <p:nvGraphicFramePr>
          <p:cNvPr id="274436" name="Object 4"/>
          <p:cNvGraphicFramePr>
            <a:graphicFrameLocks noChangeAspect="1"/>
          </p:cNvGraphicFramePr>
          <p:nvPr/>
        </p:nvGraphicFramePr>
        <p:xfrm>
          <a:off x="2049038" y="2743200"/>
          <a:ext cx="6123362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56" name="公式" r:id="rId1" imgW="44196000" imgH="5181600" progId="Equation.3">
                  <p:embed/>
                </p:oleObj>
              </mc:Choice>
              <mc:Fallback>
                <p:oleObj name="公式" r:id="rId1" imgW="44196000" imgH="5181600" progId="Equation.3">
                  <p:embed/>
                  <p:pic>
                    <p:nvPicPr>
                      <p:cNvPr id="0" name="图片 280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9038" y="2743200"/>
                        <a:ext cx="6123362" cy="6159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37" name="Rectangle 5"/>
          <p:cNvSpPr>
            <a:spLocks noChangeArrowheads="1"/>
          </p:cNvSpPr>
          <p:nvPr/>
        </p:nvSpPr>
        <p:spPr bwMode="auto">
          <a:xfrm>
            <a:off x="875077" y="3352801"/>
            <a:ext cx="1261884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kumimoji="0" lang="zh-CN" altLang="en-US" sz="2800" b="1">
                <a:latin typeface="华文新魏" panose="02010800040101010101" pitchFamily="2" charset="-122"/>
                <a:ea typeface="华文新魏" panose="02010800040101010101" pitchFamily="2" charset="-122"/>
              </a:rPr>
              <a:t>合并：</a:t>
            </a:r>
            <a:endParaRPr kumimoji="0" lang="zh-CN" altLang="en-US" sz="28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274438" name="Object 6"/>
          <p:cNvGraphicFramePr>
            <a:graphicFrameLocks noChangeAspect="1"/>
          </p:cNvGraphicFramePr>
          <p:nvPr/>
        </p:nvGraphicFramePr>
        <p:xfrm>
          <a:off x="2442043" y="3316303"/>
          <a:ext cx="5870285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57" name="公式" r:id="rId3" imgW="1765300" imgH="241300" progId="Equation.3">
                  <p:embed/>
                </p:oleObj>
              </mc:Choice>
              <mc:Fallback>
                <p:oleObj name="公式" r:id="rId3" imgW="1765300" imgH="241300" progId="Equation.3">
                  <p:embed/>
                  <p:pic>
                    <p:nvPicPr>
                      <p:cNvPr id="0" name="图片 280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2043" y="3316303"/>
                        <a:ext cx="5870285" cy="6889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39" name="Object 7"/>
          <p:cNvGraphicFramePr>
            <a:graphicFrameLocks noChangeAspect="1"/>
          </p:cNvGraphicFramePr>
          <p:nvPr/>
        </p:nvGraphicFramePr>
        <p:xfrm>
          <a:off x="2439152" y="3959240"/>
          <a:ext cx="5529673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58" name="公式" r:id="rId5" imgW="1663700" imgH="241300" progId="Equation.3">
                  <p:embed/>
                </p:oleObj>
              </mc:Choice>
              <mc:Fallback>
                <p:oleObj name="公式" r:id="rId5" imgW="1663700" imgH="241300" progId="Equation.3">
                  <p:embed/>
                  <p:pic>
                    <p:nvPicPr>
                      <p:cNvPr id="0" name="图片 280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9152" y="3959240"/>
                        <a:ext cx="5529673" cy="6889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40" name="Rectangle 8"/>
          <p:cNvSpPr>
            <a:spLocks noChangeArrowheads="1"/>
          </p:cNvSpPr>
          <p:nvPr/>
        </p:nvSpPr>
        <p:spPr bwMode="auto">
          <a:xfrm>
            <a:off x="875082" y="4038601"/>
            <a:ext cx="1620957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kumimoji="0" lang="zh-CN" altLang="en-US" sz="2800" b="1">
                <a:latin typeface="华文新魏" panose="02010800040101010101" pitchFamily="2" charset="-122"/>
                <a:ea typeface="华文新魏" panose="02010800040101010101" pitchFamily="2" charset="-122"/>
              </a:rPr>
              <a:t>分配律：</a:t>
            </a:r>
            <a:endParaRPr kumimoji="0" lang="zh-CN" altLang="en-US" sz="28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274441" name="Object 9"/>
          <p:cNvGraphicFramePr>
            <a:graphicFrameLocks noChangeAspect="1"/>
          </p:cNvGraphicFramePr>
          <p:nvPr/>
        </p:nvGraphicFramePr>
        <p:xfrm>
          <a:off x="2432407" y="4648200"/>
          <a:ext cx="4011203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59" name="公式" r:id="rId7" imgW="1205865" imgH="215900" progId="Equation.3">
                  <p:embed/>
                </p:oleObj>
              </mc:Choice>
              <mc:Fallback>
                <p:oleObj name="公式" r:id="rId7" imgW="1205865" imgH="215900" progId="Equation.3">
                  <p:embed/>
                  <p:pic>
                    <p:nvPicPr>
                      <p:cNvPr id="0" name="图片 280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407" y="4648200"/>
                        <a:ext cx="4011203" cy="6159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42" name="Rectangle 10"/>
          <p:cNvSpPr>
            <a:spLocks noChangeArrowheads="1"/>
          </p:cNvSpPr>
          <p:nvPr/>
        </p:nvSpPr>
        <p:spPr bwMode="auto">
          <a:xfrm>
            <a:off x="875082" y="5334001"/>
            <a:ext cx="1620957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kumimoji="0" lang="zh-CN" altLang="en-US" sz="2800" b="1">
                <a:latin typeface="华文新魏" panose="02010800040101010101" pitchFamily="2" charset="-122"/>
                <a:ea typeface="华文新魏" panose="02010800040101010101" pitchFamily="2" charset="-122"/>
              </a:rPr>
              <a:t>吸收律：</a:t>
            </a:r>
            <a:endParaRPr kumimoji="0" lang="zh-CN" altLang="en-US" sz="28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274443" name="Object 11"/>
          <p:cNvGraphicFramePr>
            <a:graphicFrameLocks noChangeAspect="1"/>
          </p:cNvGraphicFramePr>
          <p:nvPr/>
        </p:nvGraphicFramePr>
        <p:xfrm>
          <a:off x="2441932" y="5257800"/>
          <a:ext cx="2534593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60" name="公式" r:id="rId9" imgW="761365" imgH="215900" progId="Equation.3">
                  <p:embed/>
                </p:oleObj>
              </mc:Choice>
              <mc:Fallback>
                <p:oleObj name="公式" r:id="rId9" imgW="761365" imgH="215900" progId="Equation.3">
                  <p:embed/>
                  <p:pic>
                    <p:nvPicPr>
                      <p:cNvPr id="0" name="图片 280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1932" y="5257800"/>
                        <a:ext cx="2534593" cy="6159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44" name="Rectangle 12"/>
          <p:cNvSpPr>
            <a:spLocks noChangeArrowheads="1"/>
          </p:cNvSpPr>
          <p:nvPr/>
        </p:nvSpPr>
        <p:spPr bwMode="auto">
          <a:xfrm>
            <a:off x="875071" y="4737101"/>
            <a:ext cx="1133644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2800" b="1"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kumimoji="0" lang="zh-CN" altLang="en-US" sz="2800" b="1">
                <a:latin typeface="华文新魏" panose="02010800040101010101" pitchFamily="2" charset="-122"/>
                <a:ea typeface="华文新魏" panose="02010800040101010101" pitchFamily="2" charset="-122"/>
              </a:rPr>
              <a:t>律：</a:t>
            </a:r>
            <a:endParaRPr kumimoji="0" lang="zh-CN" altLang="en-US" sz="28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4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74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4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4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74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4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4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74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74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74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74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7" grpId="0" autoUpdateAnimBg="0"/>
      <p:bldP spid="274440" grpId="0" autoUpdateAnimBg="0"/>
      <p:bldP spid="274442" grpId="0" autoUpdateAnimBg="0"/>
      <p:bldP spid="274444" grpId="0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5E2-CB68-42E6-A5AF-574D39E186A5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21550" y="1700227"/>
          <a:ext cx="8298922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2" name="公式" r:id="rId1" imgW="64922400" imgH="5791200" progId="Equation.3">
                  <p:embed/>
                </p:oleObj>
              </mc:Choice>
              <mc:Fallback>
                <p:oleObj name="公式" r:id="rId1" imgW="64922400" imgH="5791200" progId="Equation.3">
                  <p:embed/>
                  <p:pic>
                    <p:nvPicPr>
                      <p:cNvPr id="0" name="图片 318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550" y="1700227"/>
                        <a:ext cx="8298922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59269" y="4292600"/>
          <a:ext cx="2500563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3" name="公式" r:id="rId3" imgW="20726400" imgH="3962400" progId="Equation.3">
                  <p:embed/>
                </p:oleObj>
              </mc:Choice>
              <mc:Fallback>
                <p:oleObj name="公式" r:id="rId3" imgW="20726400" imgH="3962400" progId="Equation.3">
                  <p:embed/>
                  <p:pic>
                    <p:nvPicPr>
                      <p:cNvPr id="0" name="图片 318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269" y="4292600"/>
                        <a:ext cx="2500563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标题 1"/>
          <p:cNvSpPr txBox="1"/>
          <p:nvPr/>
        </p:nvSpPr>
        <p:spPr>
          <a:xfrm>
            <a:off x="670619" y="3140969"/>
            <a:ext cx="1454814" cy="985738"/>
          </a:xfrm>
          <a:prstGeom prst="rect">
            <a:avLst/>
          </a:prstGeom>
        </p:spPr>
        <p:txBody>
          <a:bodyPr bIns="91440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b="1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defRPr>
            </a:lvl1pPr>
          </a:lstStyle>
          <a:p>
            <a:r>
              <a:rPr lang="zh-CN" altLang="en-US" dirty="0"/>
              <a:t>答案：</a:t>
            </a:r>
            <a:endParaRPr lang="zh-CN" altLang="en-US" dirty="0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逻辑代数（</a:t>
            </a:r>
            <a:r>
              <a:rPr lang="en-US" altLang="zh-CN" dirty="0"/>
              <a:t>28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87B13-363F-4F92-995A-87E0162AE83E}" type="slidenum">
              <a:rPr lang="en-US" altLang="zh-CN"/>
            </a:fld>
            <a:endParaRPr lang="en-US" altLang="zh-CN"/>
          </a:p>
        </p:txBody>
      </p:sp>
      <p:sp>
        <p:nvSpPr>
          <p:cNvPr id="1280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84468" cy="4607024"/>
          </a:xfrm>
        </p:spPr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公式法化简逻辑函数</a:t>
            </a:r>
            <a:endParaRPr lang="zh-CN" altLang="en-US" dirty="0"/>
          </a:p>
          <a:p>
            <a:pPr lvl="1"/>
            <a:r>
              <a:rPr lang="zh-CN" altLang="en-US" dirty="0"/>
              <a:t>与或表达式化简</a:t>
            </a:r>
            <a:endParaRPr lang="zh-CN" altLang="en-US" dirty="0"/>
          </a:p>
          <a:p>
            <a:pPr lvl="1"/>
            <a:r>
              <a:rPr lang="zh-CN" altLang="en-US" dirty="0">
                <a:solidFill>
                  <a:srgbClr val="00B0F0"/>
                </a:solidFill>
              </a:rPr>
              <a:t>或与表达式化简</a:t>
            </a:r>
            <a:endParaRPr lang="zh-CN" altLang="en-US" dirty="0">
              <a:solidFill>
                <a:srgbClr val="00B0F0"/>
              </a:solidFill>
            </a:endParaRPr>
          </a:p>
          <a:p>
            <a:pPr lvl="1"/>
            <a:r>
              <a:rPr lang="zh-CN" altLang="en-US" dirty="0"/>
              <a:t>其他形式逻辑函数化简</a:t>
            </a:r>
            <a:endParaRPr lang="zh-CN" altLang="en-US" dirty="0"/>
          </a:p>
        </p:txBody>
      </p:sp>
    </p:spTree>
  </p:cSld>
  <p:clrMapOvr>
    <a:masterClrMapping/>
  </p:clrMapOvr>
  <p:transition spd="slow">
    <p:pull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86" name="Rectangle 10"/>
          <p:cNvSpPr>
            <a:spLocks noChangeArrowheads="1"/>
          </p:cNvSpPr>
          <p:nvPr/>
        </p:nvSpPr>
        <p:spPr bwMode="auto">
          <a:xfrm>
            <a:off x="467544" y="2819414"/>
            <a:ext cx="7272808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lvl="1">
              <a:spcBef>
                <a:spcPct val="50000"/>
              </a:spcBef>
              <a:buClr>
                <a:schemeClr val="folHlink"/>
              </a:buClr>
            </a:pPr>
            <a:endParaRPr lang="en-US" altLang="zh-CN" sz="2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>
              <a:spcBef>
                <a:spcPct val="50000"/>
              </a:spcBef>
              <a:buClr>
                <a:schemeClr val="folHlink"/>
              </a:buClr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结果要求：化简结果仍为或与表达式</a:t>
            </a:r>
            <a:endParaRPr lang="zh-CN" altLang="en-US" sz="2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逻辑代数（</a:t>
            </a:r>
            <a:r>
              <a:rPr lang="en-US" altLang="zh-CN" dirty="0"/>
              <a:t>29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70EC5-C1E6-4626-AF22-23CF2CB891FB}" type="slidenum">
              <a:rPr lang="en-US" altLang="zh-CN"/>
            </a:fld>
            <a:endParaRPr lang="en-US" altLang="zh-CN"/>
          </a:p>
        </p:txBody>
      </p:sp>
      <p:sp>
        <p:nvSpPr>
          <p:cNvPr id="1269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84468" cy="4607024"/>
          </a:xfrm>
        </p:spPr>
        <p:txBody>
          <a:bodyPr/>
          <a:lstStyle/>
          <a:p>
            <a:r>
              <a:rPr lang="zh-CN" altLang="en-US" dirty="0"/>
              <a:t>或与表达式化简</a:t>
            </a:r>
            <a:endParaRPr lang="zh-CN" altLang="en-US" dirty="0"/>
          </a:p>
          <a:p>
            <a:pPr lvl="1"/>
            <a:r>
              <a:rPr lang="zh-CN" altLang="en-US" dirty="0"/>
              <a:t>或与表达式：</a:t>
            </a:r>
            <a:endParaRPr lang="zh-CN" altLang="en-US" dirty="0"/>
          </a:p>
        </p:txBody>
      </p:sp>
      <p:graphicFrame>
        <p:nvGraphicFramePr>
          <p:cNvPr id="126980" name="Object 4"/>
          <p:cNvGraphicFramePr>
            <a:graphicFrameLocks noChangeAspect="1"/>
          </p:cNvGraphicFramePr>
          <p:nvPr/>
        </p:nvGraphicFramePr>
        <p:xfrm>
          <a:off x="2013421" y="2708920"/>
          <a:ext cx="5510907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6" name="公式" r:id="rId1" imgW="2044700" imgH="241300" progId="Equation.3">
                  <p:embed/>
                </p:oleObj>
              </mc:Choice>
              <mc:Fallback>
                <p:oleObj name="公式" r:id="rId1" imgW="2044700" imgH="241300" progId="Equation.3">
                  <p:embed/>
                  <p:pic>
                    <p:nvPicPr>
                      <p:cNvPr id="0" name="图片 287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3421" y="2708920"/>
                        <a:ext cx="5510907" cy="6365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985" name="Rectangle 9"/>
          <p:cNvSpPr>
            <a:spLocks noChangeArrowheads="1"/>
          </p:cNvSpPr>
          <p:nvPr/>
        </p:nvSpPr>
        <p:spPr bwMode="auto">
          <a:xfrm>
            <a:off x="467544" y="3425840"/>
            <a:ext cx="8136904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lvl="1">
              <a:spcBef>
                <a:spcPct val="50000"/>
              </a:spcBef>
              <a:buClr>
                <a:schemeClr val="folHlink"/>
              </a:buClr>
            </a:pPr>
            <a:endParaRPr lang="en-US" altLang="zh-CN" sz="2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>
              <a:spcBef>
                <a:spcPct val="50000"/>
              </a:spcBef>
              <a:buClr>
                <a:schemeClr val="folHlink"/>
              </a:buClr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最简条件：</a:t>
            </a:r>
            <a:endParaRPr lang="zh-CN" altLang="en-US" sz="2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(1)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、或项个数最少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或门用的最少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endParaRPr lang="en-US" altLang="zh-CN" sz="2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	(2)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、在满足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的条件下，或项中变量数最少</a:t>
            </a:r>
            <a:endParaRPr lang="zh-CN" altLang="en-US" sz="2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6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6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6" grpId="0" autoUpdateAnimBg="0"/>
      <p:bldP spid="126985" grpId="0" autoUpdateAnimBg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5E2-CB68-42E6-A5AF-574D39E186A5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95536" y="1628800"/>
          <a:ext cx="8496944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2" name="公式" r:id="rId1" imgW="75285600" imgH="5791200" progId="Equation.3">
                  <p:embed/>
                </p:oleObj>
              </mc:Choice>
              <mc:Fallback>
                <p:oleObj name="公式" r:id="rId1" imgW="75285600" imgH="579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1628800"/>
                        <a:ext cx="8496944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标题 1"/>
          <p:cNvSpPr txBox="1"/>
          <p:nvPr/>
        </p:nvSpPr>
        <p:spPr>
          <a:xfrm>
            <a:off x="1118964" y="3893171"/>
            <a:ext cx="1454814" cy="985738"/>
          </a:xfrm>
          <a:prstGeom prst="rect">
            <a:avLst/>
          </a:prstGeom>
        </p:spPr>
        <p:txBody>
          <a:bodyPr bIns="91440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b="1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defRPr>
            </a:lvl1pPr>
          </a:lstStyle>
          <a:p>
            <a:r>
              <a:rPr lang="zh-CN" altLang="en-US" dirty="0"/>
              <a:t>答案：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114426" y="5008563"/>
          <a:ext cx="5401790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3" name="公式" r:id="rId3" imgW="1778000" imgH="228600" progId="Equation.3">
                  <p:embed/>
                </p:oleObj>
              </mc:Choice>
              <mc:Fallback>
                <p:oleObj name="公式" r:id="rId3" imgW="1778000" imgH="228600" progId="Equation.3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4426" y="5008563"/>
                        <a:ext cx="5401790" cy="652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逻辑代数（</a:t>
            </a:r>
            <a:r>
              <a:rPr lang="en-US" altLang="zh-CN" dirty="0"/>
              <a:t>30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5401D-3A86-457E-809D-6B790E888828}" type="slidenum">
              <a:rPr lang="en-US" altLang="zh-CN"/>
            </a:fld>
            <a:endParaRPr lang="en-US" altLang="zh-CN"/>
          </a:p>
        </p:txBody>
      </p:sp>
      <p:sp>
        <p:nvSpPr>
          <p:cNvPr id="1341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84468" cy="4607024"/>
          </a:xfrm>
        </p:spPr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公式法化简逻辑函数</a:t>
            </a:r>
            <a:endParaRPr lang="zh-CN" altLang="en-US" dirty="0"/>
          </a:p>
          <a:p>
            <a:pPr lvl="1"/>
            <a:r>
              <a:rPr lang="zh-CN" altLang="en-US" dirty="0"/>
              <a:t>与或表达式化简</a:t>
            </a:r>
            <a:endParaRPr lang="zh-CN" altLang="en-US" dirty="0"/>
          </a:p>
          <a:p>
            <a:pPr lvl="1"/>
            <a:r>
              <a:rPr lang="zh-CN" altLang="en-US" dirty="0"/>
              <a:t>或与表达式化简</a:t>
            </a:r>
            <a:endParaRPr lang="zh-CN" altLang="en-US" dirty="0"/>
          </a:p>
          <a:p>
            <a:pPr lvl="1"/>
            <a:r>
              <a:rPr lang="zh-CN" altLang="en-US" dirty="0">
                <a:solidFill>
                  <a:srgbClr val="00B0F0"/>
                </a:solidFill>
              </a:rPr>
              <a:t>其他形式逻辑函数化简</a:t>
            </a:r>
            <a:endParaRPr lang="zh-CN" altLang="en-US" dirty="0">
              <a:solidFill>
                <a:srgbClr val="00B0F0"/>
              </a:solidFill>
            </a:endParaRPr>
          </a:p>
          <a:p>
            <a:endParaRPr lang="en-US" altLang="zh-CN" sz="2600" dirty="0">
              <a:solidFill>
                <a:schemeClr val="folHlink"/>
              </a:solidFill>
            </a:endParaRPr>
          </a:p>
        </p:txBody>
      </p:sp>
    </p:spTree>
  </p:cSld>
  <p:clrMapOvr>
    <a:masterClrMapping/>
  </p:clrMapOvr>
  <p:transition spd="slow">
    <p:pull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逻辑代数（</a:t>
            </a:r>
            <a:r>
              <a:rPr lang="en-US" altLang="zh-CN" dirty="0"/>
              <a:t>31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DD476-B98B-4463-A154-EBB565DEDDCA}" type="slidenum">
              <a:rPr lang="en-US" altLang="zh-CN"/>
            </a:fld>
            <a:endParaRPr lang="en-US" altLang="zh-CN"/>
          </a:p>
        </p:txBody>
      </p:sp>
      <p:sp>
        <p:nvSpPr>
          <p:cNvPr id="1351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84468" cy="4607024"/>
          </a:xfrm>
        </p:spPr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公式法化简逻辑函数</a:t>
            </a:r>
            <a:endParaRPr lang="zh-CN" altLang="en-US" dirty="0"/>
          </a:p>
          <a:p>
            <a:pPr lvl="1"/>
            <a:r>
              <a:rPr lang="zh-CN" altLang="en-US" dirty="0"/>
              <a:t>其他形式逻辑函数化简</a:t>
            </a:r>
            <a:endParaRPr lang="zh-CN" altLang="en-US" dirty="0"/>
          </a:p>
          <a:p>
            <a:pPr lvl="2">
              <a:buNone/>
            </a:pPr>
            <a:r>
              <a:rPr lang="zh-CN" altLang="en-US" dirty="0"/>
              <a:t>转换为与或表达式，再化简</a:t>
            </a:r>
            <a:endParaRPr lang="zh-CN" altLang="en-US" dirty="0"/>
          </a:p>
        </p:txBody>
      </p:sp>
      <p:graphicFrame>
        <p:nvGraphicFramePr>
          <p:cNvPr id="135172" name="Object 4"/>
          <p:cNvGraphicFramePr>
            <a:graphicFrameLocks noChangeAspect="1"/>
          </p:cNvGraphicFramePr>
          <p:nvPr/>
        </p:nvGraphicFramePr>
        <p:xfrm>
          <a:off x="1316153" y="5638800"/>
          <a:ext cx="2825735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84" name="公式" r:id="rId1" imgW="1167765" imgH="215900" progId="Equation.3">
                  <p:embed/>
                </p:oleObj>
              </mc:Choice>
              <mc:Fallback>
                <p:oleObj name="公式" r:id="rId1" imgW="1167765" imgH="215900" progId="Equation.3">
                  <p:embed/>
                  <p:pic>
                    <p:nvPicPr>
                      <p:cNvPr id="0" name="图片 301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153" y="5638800"/>
                        <a:ext cx="2825735" cy="4460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3" name="Object 5"/>
          <p:cNvGraphicFramePr>
            <a:graphicFrameLocks noChangeAspect="1"/>
          </p:cNvGraphicFramePr>
          <p:nvPr/>
        </p:nvGraphicFramePr>
        <p:xfrm>
          <a:off x="1014981" y="3187714"/>
          <a:ext cx="346794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85" name="公式" r:id="rId3" imgW="1435100" imgH="228600" progId="Equation.3">
                  <p:embed/>
                </p:oleObj>
              </mc:Choice>
              <mc:Fallback>
                <p:oleObj name="公式" r:id="rId3" imgW="1435100" imgH="228600" progId="Equation.3">
                  <p:embed/>
                  <p:pic>
                    <p:nvPicPr>
                      <p:cNvPr id="0" name="图片 301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4981" y="3187714"/>
                        <a:ext cx="3467948" cy="4730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4" name="Object 6"/>
          <p:cNvGraphicFramePr>
            <a:graphicFrameLocks noChangeAspect="1"/>
          </p:cNvGraphicFramePr>
          <p:nvPr/>
        </p:nvGraphicFramePr>
        <p:xfrm>
          <a:off x="1316143" y="3657615"/>
          <a:ext cx="377729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86" name="公式" r:id="rId5" imgW="1562100" imgH="215900" progId="Equation.3">
                  <p:embed/>
                </p:oleObj>
              </mc:Choice>
              <mc:Fallback>
                <p:oleObj name="公式" r:id="rId5" imgW="1562100" imgH="215900" progId="Equation.3">
                  <p:embed/>
                  <p:pic>
                    <p:nvPicPr>
                      <p:cNvPr id="0" name="图片 301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143" y="3657615"/>
                        <a:ext cx="3777295" cy="4476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5" name="Object 7"/>
          <p:cNvGraphicFramePr>
            <a:graphicFrameLocks noChangeAspect="1"/>
          </p:cNvGraphicFramePr>
          <p:nvPr/>
        </p:nvGraphicFramePr>
        <p:xfrm>
          <a:off x="1316143" y="4114814"/>
          <a:ext cx="610916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87" name="公式" r:id="rId7" imgW="2527300" imgH="241300" progId="Equation.3">
                  <p:embed/>
                </p:oleObj>
              </mc:Choice>
              <mc:Fallback>
                <p:oleObj name="公式" r:id="rId7" imgW="2527300" imgH="241300" progId="Equation.3">
                  <p:embed/>
                  <p:pic>
                    <p:nvPicPr>
                      <p:cNvPr id="0" name="图片 301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143" y="4114814"/>
                        <a:ext cx="6109160" cy="4984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6" name="Object 8"/>
          <p:cNvGraphicFramePr>
            <a:graphicFrameLocks noChangeAspect="1"/>
          </p:cNvGraphicFramePr>
          <p:nvPr/>
        </p:nvGraphicFramePr>
        <p:xfrm>
          <a:off x="1316142" y="4648200"/>
          <a:ext cx="6507152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88" name="公式" r:id="rId9" imgW="2692400" imgH="215900" progId="Equation.3">
                  <p:embed/>
                </p:oleObj>
              </mc:Choice>
              <mc:Fallback>
                <p:oleObj name="公式" r:id="rId9" imgW="2692400" imgH="215900" progId="Equation.3">
                  <p:embed/>
                  <p:pic>
                    <p:nvPicPr>
                      <p:cNvPr id="0" name="图片 301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142" y="4648200"/>
                        <a:ext cx="6507152" cy="4460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7" name="Object 9"/>
          <p:cNvGraphicFramePr>
            <a:graphicFrameLocks noChangeAspect="1"/>
          </p:cNvGraphicFramePr>
          <p:nvPr/>
        </p:nvGraphicFramePr>
        <p:xfrm>
          <a:off x="1316141" y="5105415"/>
          <a:ext cx="7216299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89" name="公式" r:id="rId11" imgW="2984500" imgH="241300" progId="Equation.3">
                  <p:embed/>
                </p:oleObj>
              </mc:Choice>
              <mc:Fallback>
                <p:oleObj name="公式" r:id="rId11" imgW="2984500" imgH="241300" progId="Equation.3">
                  <p:embed/>
                  <p:pic>
                    <p:nvPicPr>
                      <p:cNvPr id="0" name="图片 301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141" y="5105415"/>
                        <a:ext cx="7216299" cy="4984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5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5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5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5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35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逻辑代数（</a:t>
            </a:r>
            <a:r>
              <a:rPr lang="en-US" altLang="zh-CN" dirty="0"/>
              <a:t>32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A5744-6DD2-43DE-94E0-6B6750F6F054}" type="slidenum">
              <a:rPr lang="en-US" altLang="zh-CN"/>
            </a:fld>
            <a:endParaRPr lang="en-US" altLang="zh-CN"/>
          </a:p>
        </p:txBody>
      </p:sp>
      <p:sp>
        <p:nvSpPr>
          <p:cNvPr id="27955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84468" cy="4607024"/>
          </a:xfrm>
        </p:spPr>
        <p:txBody>
          <a:bodyPr>
            <a:normAutofit/>
          </a:bodyPr>
          <a:lstStyle/>
          <a:p>
            <a:pPr marL="609600" indent="-609600"/>
            <a:r>
              <a:rPr lang="en-US" altLang="zh-CN" dirty="0"/>
              <a:t>2.2 </a:t>
            </a:r>
            <a:r>
              <a:rPr lang="zh-CN" altLang="en-US" dirty="0"/>
              <a:t>公式法化简逻辑函数</a:t>
            </a:r>
            <a:br>
              <a:rPr lang="en-US" altLang="zh-CN" dirty="0"/>
            </a:br>
            <a:r>
              <a:rPr lang="en-US" altLang="zh-CN" dirty="0"/>
              <a:t>——</a:t>
            </a:r>
            <a:r>
              <a:rPr lang="zh-CN" altLang="en-US" dirty="0"/>
              <a:t>小结</a:t>
            </a:r>
            <a:endParaRPr lang="en-US" altLang="zh-CN" dirty="0"/>
          </a:p>
          <a:p>
            <a:pPr marL="609600" indent="-609600"/>
            <a:endParaRPr lang="zh-CN" altLang="en-US" dirty="0"/>
          </a:p>
          <a:p>
            <a:pPr marL="952500" lvl="1" indent="-495300">
              <a:buClr>
                <a:schemeClr val="tx1"/>
              </a:buClr>
              <a:buFont typeface="Wingdings" panose="05000000000000000000" pitchFamily="2" charset="2"/>
              <a:buAutoNum type="arabicParenR"/>
            </a:pPr>
            <a:r>
              <a:rPr lang="zh-CN" altLang="en-US" dirty="0"/>
              <a:t>与或表达式化简：利用基本公式化简</a:t>
            </a:r>
            <a:endParaRPr lang="zh-CN" altLang="en-US" dirty="0"/>
          </a:p>
          <a:p>
            <a:pPr marL="952500" lvl="1" indent="-495300">
              <a:buClr>
                <a:schemeClr val="tx1"/>
              </a:buClr>
              <a:buFont typeface="Wingdings" panose="05000000000000000000" pitchFamily="2" charset="2"/>
              <a:buAutoNum type="arabicParenR"/>
            </a:pPr>
            <a:r>
              <a:rPr lang="zh-CN" altLang="en-US" dirty="0"/>
              <a:t>其他形式逻辑函数化简：转换为“与或”表达式，再化简</a:t>
            </a:r>
            <a:endParaRPr lang="zh-CN" altLang="en-US" dirty="0"/>
          </a:p>
        </p:txBody>
      </p:sp>
    </p:spTree>
  </p:cSld>
  <p:clrMapOvr>
    <a:masterClrMapping/>
  </p:clrMapOvr>
  <p:transition spd="slow">
    <p:pull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5E2-CB68-42E6-A5AF-574D39E186A5}" type="slidenum">
              <a:rPr lang="en-US" altLang="zh-CN" smtClean="0"/>
            </a:fld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21550" y="1460579"/>
            <a:ext cx="3114346" cy="864096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zh-CN" sz="2800" dirty="0"/>
              <a:t>2.6</a:t>
            </a: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）～（</a:t>
            </a:r>
            <a:r>
              <a:rPr lang="en-US" altLang="zh-CN" sz="2800" dirty="0"/>
              <a:t>6</a:t>
            </a:r>
            <a:r>
              <a:rPr lang="zh-CN" altLang="en-US" sz="2800" dirty="0"/>
              <a:t>）</a:t>
            </a:r>
            <a:endParaRPr lang="zh-CN" altLang="en-US" sz="28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endParaRPr lang="zh-CN" alt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165"/>
          <a:stretch>
            <a:fillRect/>
          </a:stretch>
        </p:blipFill>
        <p:spPr bwMode="auto">
          <a:xfrm>
            <a:off x="809581" y="2095936"/>
            <a:ext cx="6070499" cy="356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ll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模板</Template>
  <TotalTime>0</TotalTime>
  <Words>7193</Words>
  <Application>WPS 演示</Application>
  <PresentationFormat>全屏显示(4:3)</PresentationFormat>
  <Paragraphs>1655</Paragraphs>
  <Slides>74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71</vt:i4>
      </vt:variant>
      <vt:variant>
        <vt:lpstr>幻灯片标题</vt:lpstr>
      </vt:variant>
      <vt:variant>
        <vt:i4>74</vt:i4>
      </vt:variant>
    </vt:vector>
  </HeadingPairs>
  <TitlesOfParts>
    <vt:vector size="167" baseType="lpstr">
      <vt:lpstr>Arial</vt:lpstr>
      <vt:lpstr>宋体</vt:lpstr>
      <vt:lpstr>Wingdings</vt:lpstr>
      <vt:lpstr>Times New Roman</vt:lpstr>
      <vt:lpstr>华文新魏</vt:lpstr>
      <vt:lpstr>Wingdings 2</vt:lpstr>
      <vt:lpstr>华文楷体</vt:lpstr>
      <vt:lpstr>Symbol</vt:lpstr>
      <vt:lpstr>Perpetua</vt:lpstr>
      <vt:lpstr>微软雅黑</vt:lpstr>
      <vt:lpstr>Arial Unicode MS</vt:lpstr>
      <vt:lpstr>Franklin Gothic Book</vt:lpstr>
      <vt:lpstr>方正姚体</vt:lpstr>
      <vt:lpstr>华文中宋</vt:lpstr>
      <vt:lpstr>Courier New</vt:lpstr>
      <vt:lpstr>Times New Roman</vt:lpstr>
      <vt:lpstr>Tahoma</vt:lpstr>
      <vt:lpstr>Tahoma</vt:lpstr>
      <vt:lpstr>Arial</vt:lpstr>
      <vt:lpstr>Cambria Math</vt:lpstr>
      <vt:lpstr>Cambria Math</vt:lpstr>
      <vt:lpstr>平衡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Equation.DSMT4</vt:lpstr>
      <vt:lpstr>Equation.DSMT4</vt:lpstr>
      <vt:lpstr>数字逻辑电路</vt:lpstr>
      <vt:lpstr>课程基本情况（5）</vt:lpstr>
      <vt:lpstr>作业</vt:lpstr>
      <vt:lpstr>作业</vt:lpstr>
      <vt:lpstr>第一章 数制和码制</vt:lpstr>
      <vt:lpstr>数制和码制（1）</vt:lpstr>
      <vt:lpstr>数制和码制（2）</vt:lpstr>
      <vt:lpstr>数制和码制（3）</vt:lpstr>
      <vt:lpstr>数制和码制（4）</vt:lpstr>
      <vt:lpstr>数制和码制（5）</vt:lpstr>
      <vt:lpstr>数制和码制（6）</vt:lpstr>
      <vt:lpstr>数制和码制（7）</vt:lpstr>
      <vt:lpstr>数制和码制（8）</vt:lpstr>
      <vt:lpstr>数制和码制（9）</vt:lpstr>
      <vt:lpstr>数制和码制（10）</vt:lpstr>
      <vt:lpstr>基数转换中常用的数</vt:lpstr>
      <vt:lpstr>数制和码制（11）</vt:lpstr>
      <vt:lpstr>数制和码制（12）</vt:lpstr>
      <vt:lpstr>PowerPoint 演示文稿</vt:lpstr>
      <vt:lpstr>数制和码制（13）</vt:lpstr>
      <vt:lpstr>数制和码制（14）</vt:lpstr>
      <vt:lpstr>数制和码制（15）</vt:lpstr>
      <vt:lpstr>数制和码制（16）</vt:lpstr>
      <vt:lpstr>数制和码制（17）</vt:lpstr>
      <vt:lpstr>数制和码制（18）</vt:lpstr>
      <vt:lpstr>数制和码制（19）</vt:lpstr>
      <vt:lpstr>数制和码制（20）</vt:lpstr>
      <vt:lpstr>数制和码制（21）</vt:lpstr>
      <vt:lpstr>数制和码制（22）</vt:lpstr>
      <vt:lpstr>数制和码制（23）</vt:lpstr>
      <vt:lpstr>数制和码制（24）</vt:lpstr>
      <vt:lpstr>数制和码制（25）</vt:lpstr>
      <vt:lpstr>数制和码制——小结</vt:lpstr>
      <vt:lpstr>第二章 逻辑代数（1）</vt:lpstr>
      <vt:lpstr>第二章 逻辑代数（2）</vt:lpstr>
      <vt:lpstr>第二章 逻辑代数（3）</vt:lpstr>
      <vt:lpstr>第二章 逻辑代数（4）</vt:lpstr>
      <vt:lpstr>第二章 逻辑代数（4）</vt:lpstr>
      <vt:lpstr>第二章 逻辑代数（5）</vt:lpstr>
      <vt:lpstr>第二章 逻辑代数（6）</vt:lpstr>
      <vt:lpstr>第二章 逻辑代数（7）</vt:lpstr>
      <vt:lpstr>第二章 逻辑代数（8）</vt:lpstr>
      <vt:lpstr>第二章 逻辑代数（9）</vt:lpstr>
      <vt:lpstr>第二章 逻辑代数（10）</vt:lpstr>
      <vt:lpstr>第二章 逻辑代数（11）</vt:lpstr>
      <vt:lpstr>第二章 逻辑代数（12）</vt:lpstr>
      <vt:lpstr>第二章 逻辑代数（13）</vt:lpstr>
      <vt:lpstr>第二章 逻辑代数（14）</vt:lpstr>
      <vt:lpstr>第二章 逻辑代数（15）</vt:lpstr>
      <vt:lpstr>第二章 逻辑代数（13）</vt:lpstr>
      <vt:lpstr>第二章 逻辑代数（14）</vt:lpstr>
      <vt:lpstr>第二章 逻辑代数（15）</vt:lpstr>
      <vt:lpstr>第二章 逻辑代数（16）</vt:lpstr>
      <vt:lpstr>第二章 逻辑代数（17）</vt:lpstr>
      <vt:lpstr>第二章 逻辑代数（18）</vt:lpstr>
      <vt:lpstr>第二章 逻辑代数（19）</vt:lpstr>
      <vt:lpstr>第二章 逻辑代数（20）</vt:lpstr>
      <vt:lpstr>第二章 逻辑代数（21）</vt:lpstr>
      <vt:lpstr>第二章 逻辑代数（22）</vt:lpstr>
      <vt:lpstr>第二章 逻辑代数（23）</vt:lpstr>
      <vt:lpstr>第二章 逻辑代数（24）</vt:lpstr>
      <vt:lpstr>第二章 逻辑代数（25）</vt:lpstr>
      <vt:lpstr>第二章 逻辑代数（26）</vt:lpstr>
      <vt:lpstr>第二章 逻辑代数（27）</vt:lpstr>
      <vt:lpstr>第二章 逻辑代数（28）</vt:lpstr>
      <vt:lpstr>第二章 逻辑代数（29）</vt:lpstr>
      <vt:lpstr>例题</vt:lpstr>
      <vt:lpstr>第二章 逻辑代数（28）</vt:lpstr>
      <vt:lpstr>第二章 逻辑代数（29）</vt:lpstr>
      <vt:lpstr>例题</vt:lpstr>
      <vt:lpstr>第二章 逻辑代数（30）</vt:lpstr>
      <vt:lpstr>第二章 逻辑代数（31）</vt:lpstr>
      <vt:lpstr>第二章 逻辑代数（32）</vt:lpstr>
      <vt:lpstr>作业</vt:lpstr>
    </vt:vector>
  </TitlesOfParts>
  <Company>cs-lab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 逻辑代数及逻辑函数的化简</dc:title>
  <dc:creator>cs-lab23</dc:creator>
  <cp:lastModifiedBy>张芝源(2024010701)</cp:lastModifiedBy>
  <cp:revision>313</cp:revision>
  <dcterms:created xsi:type="dcterms:W3CDTF">2002-01-07T08:53:00Z</dcterms:created>
  <dcterms:modified xsi:type="dcterms:W3CDTF">2026-03-09T04:14:35Z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40A3C2210B0B4A2E8E364AB1D49BEA7E_12</vt:lpwstr>
  </property>
  <property fmtid="{D5CDD505-2E9C-101B-9397-08002B2CF9AE}" pid="3" name="KSOProductBuildVer">
    <vt:lpwstr>2052-12.1.0.25225</vt:lpwstr>
  </property>
</Properties>
</file>